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75" r:id="rId3"/>
    <p:sldId id="276" r:id="rId4"/>
    <p:sldId id="259" r:id="rId5"/>
    <p:sldId id="282" r:id="rId6"/>
    <p:sldId id="278" r:id="rId7"/>
    <p:sldId id="261" r:id="rId8"/>
    <p:sldId id="295" r:id="rId9"/>
    <p:sldId id="280" r:id="rId10"/>
    <p:sldId id="264" r:id="rId11"/>
    <p:sldId id="283" r:id="rId12"/>
    <p:sldId id="285" r:id="rId13"/>
    <p:sldId id="297" r:id="rId14"/>
    <p:sldId id="290" r:id="rId15"/>
    <p:sldId id="292" r:id="rId16"/>
    <p:sldId id="300" r:id="rId17"/>
    <p:sldId id="294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029" autoAdjust="0"/>
  </p:normalViewPr>
  <p:slideViewPr>
    <p:cSldViewPr snapToGrid="0" snapToObjects="1">
      <p:cViewPr varScale="1">
        <p:scale>
          <a:sx n="66" d="100"/>
          <a:sy n="66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99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đầu. Nêu rõ: đây là buổi báo cáo tuần 1, trọng tâm là đặt vấn đề và trình bày tổng quan đề tài (chưa phải kết quả code). Đề tài kéo dài 2 tháng, nhóm 2 người.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gốc rễ vấn đề: LLM vô trạng thái (stateless) giữa các lần gọi; context window hữu hạn. Dùng ví dụ dị ứng để mentor thấy hậu quả thực tế: sai sót, mâu thuẫn, không cá nhân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Định nghĩa rõ từng thuật ngữ cho mentor. Điểm mấu chốt cần chốt: LLM là stateless, và context window = bộ nhớ ngắn hạn. Đề tài chính là bổ sung phần bộ nhớ DÀI HẠN còn thiếu.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là kỹ thuật trung tâm của đề tài: bộ nhớ dài hạn thực chất là 'truy xuất đúng ký ức cũ rồi đưa vào ngữ cảnh'. Embedding + Vector DB là hạ tầng cho việc tìm kiếm theo nghĩa. Knowledge Graph là hướng nâng cao (Zep, Mem0g).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thuật ngữ để mentor và nhóm dùng chung một ngôn ngữ khi bàn kỹ thuật.</a:t>
            </a:r>
          </a:p>
          <a:p>
            <a:r>
              <a:rPr lang="en-US" dirty="0"/>
              <a:t>Ba tham số sẽ xuất hiện lại ở phần đánh giá: L (cửa sổ ngữ cảnh), k và τ (độ rộng truy xuất), c/o (kích thước chunk).</a:t>
            </a:r>
          </a:p>
          <a:p>
            <a:r>
              <a:rPr lang="en-US" dirty="0"/>
              <a:t>Nhấn: mọi so sánh cấu hình bộ nhớ chỉ hợp lệ khi cố định cùng LLM – cùng k – cùng ngân sách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phân loại kinh điển (Tulving). Giúp mentor thấy nhóm hiểu bản chất: đề tài tập trung xây Episodic + Semantic (nhớ hội thoại và facts người dùng) trên nền Working memory sẵn có của LLM. Procedural là hướng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định nghĩa bài toán một cách hình thức: input gồm câu hỏi hiện tại + ký ức tích lũy; output gồm câu trả lời dùng ký ức + hành động cập nhật bộ nhớ. Ví dụ N5 cho thấy hai năng lực: lưu đúng và truy xuất đúng lúc.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câu trả lời cho tiêu chí Kiến trúc: 3 thành phần (giao diện, agent, quản lý bộ nhớ) + kho lưu trữ, thiết kế module để dễ thay thế/thử nghiệm. Vòng lặp 4 bước là cơ chế vận hành bộ nhớ, lấy cảm hứng từ Mem0 (ADD/UPDATE/DELETE) và MemGPT.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rõ vì sao đi từ input đến output là khó: bốn thách thức này cũng chính là bốn trục để đánh giá hệ thống sau này. Ví dụ N5-&gt;N4 minh họa bài toán cập nhật/xung đột rất trực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Khoanh vùng rõ ràng để mentor và nhóm cùng kỳ vọng đúng. Thông điệp: không phát minh mô hình mới; giá trị nằm ở LỚP BỘ NHỚ và kiến trúc quanh LLM. Phạm vi gói gọn để hoàn thành trong 2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5425" y="1524000"/>
            <a:ext cx="7308850" cy="4113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5813"/>
            <a:ext cx="5486400" cy="47990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29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Slide này trả lời trực tiếp câu hỏi tuần trước của mentor.</a:t>
            </a:r>
          </a:p>
          <a:p>
            <a:r>
              <a:rPr lang="vi-VN" dirty="0"/>
              <a:t>Thông điệp 3 ý: (1) đã kiểm chứng lại từng benchmark, mentor đúng với LoCoMo; (2) LongMemEval có nhóm KU nên vẫn dùng được, và nhóm đã bổ sung 2 benchmark ICLR 2026 mới hơn đo đúng trọng tâm; (3) vì các hệ SOTA vẫn kém ở trục này, nhóm chọn cập nhật/xung đột làm đóng góp chính thay vì chỉ làm lại RAG bộ nhớ.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để mentor kiểm chứng được cách nhóm sẽ đo.</a:t>
            </a:r>
          </a:p>
          <a:p>
            <a:r>
              <a:rPr lang="en-US" dirty="0"/>
              <a:t>Nhấn 3 ý: (1) Accuracy dùng LLM-as-a-Judge nên phải cố định model chấm và công bố prompt chấm, vì có nghiên cứu chỉ ra kết quả rất nhạy với bộ chấm. (2) p50/p95 phải tách pha tìm kiếm và tổng đầu–cuối, nếu không sẽ không biết chậm ở đâu. (3) Mọi so sánh chỉ hợp lệ khi cùng LLM – cùng k – cùng ngân sách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 chia 8 tuần khớp cơ chế báo cáo hàng tuần. Nhấn: tuần 1 (hiện tại) là nền tảng &amp; thiết kế; tuần 2-5 xây dựng; tuần 6-7 đánh giá &amp; tối ưu; tuần 8 tổng kết. Có thể điều chỉnh khi phát sinh.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kết: neo cụ thể vào công nghệ và nguồn tài liệu để mentor thấy nhóm đã khảo sát nghiêm túc. Nhấn: sẽ dùng benchmark chuẩn (LoCoMo/LongMemEval) hoặc bộ test tự xây để đánh giá khách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-914400"/>
            <a:ext cx="3108960" cy="310896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0" y="5120640"/>
            <a:ext cx="2377440" cy="237744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TUẦN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nhớ dài hạn cho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 / LLM Agent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ghi nhớ và sử dụng thông tin xuyên suốt nhiều phiên tương tác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892040"/>
            <a:ext cx="3840480" cy="0"/>
          </a:xfrm>
          <a:prstGeom prst="line">
            <a:avLst/>
          </a:prstGeom>
          <a:noFill/>
          <a:ln w="25400">
            <a:solidFill>
              <a:srgbClr val="1F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nhóm 2 thành viên</a:t>
            </a:r>
            <a:r>
              <a:rPr lang="en-US" sz="1350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Thời gian: Tháng 9 – Tháng 10 / 2026   ·   Nội dung: Đặt vấn đề &amp; Tổng quan đề tài</a:t>
            </a:r>
            <a:endParaRPr lang="en-US" sz="1350" dirty="0"/>
          </a:p>
        </p:txBody>
      </p:sp>
      <p:sp>
        <p:nvSpPr>
          <p:cNvPr id="10" name="Citation">
            <a:extLst>
              <a:ext uri="{FF2B5EF4-FFF2-40B4-BE49-F238E27FC236}">
                <a16:creationId xmlns:a16="http://schemas.microsoft.com/office/drawing/2014/main" id="{6894846E-F5A8-4E4D-A5A3-3C15CA2424A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 tham chiếu: các công trình bình duyệt ACL 2024 · NeurIPS 2023 · ICLR 2025 · ECAI 2025 · ICLR 2026 và survey ACM TOIS (DOI 10.1145/3748302) — liệt kê đầy đủ ở slide cuối.</a:t>
            </a:r>
          </a:p>
        </p:txBody>
      </p:sp>
    </p:spTree>
    <p:extLst>
      <p:ext uri="{BB962C8B-B14F-4D97-AF65-F5344CB8AC3E}">
        <p14:creationId xmlns:p14="http://schemas.microsoft.com/office/powerpoint/2010/main" val="299084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AI cần bộ nhớ dài hạn?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9293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trí nhớ sau mỗi phiên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2585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chỉ “nhớ” trong phạm vi cửa sổ ngữ cảnh của một phiên. Kết thúc phiên hội thoại là quên sạch.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3154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34472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6137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4208" y="33009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ngữ cảnh hữu hạn &amp; tốn kém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64208" y="36301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nhồi toàn bộ lịch sử hàng trăm lượt / nhiều tháng vào mỗi lời nhắc (prompt).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5262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8188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46725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rời rạc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64208" y="50017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hỏi lại điều đã biết, tự mâu thuẫn, và không thể cá nhân hóa theo người dùng.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35424" cy="4023360"/>
          </a:xfrm>
          <a:prstGeom prst="roundRect">
            <a:avLst>
              <a:gd name="adj" fmla="val 2045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7406640" y="20116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HỌA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377440"/>
            <a:ext cx="3895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1  </a:t>
            </a:r>
            <a:r>
              <a:rPr lang="en-US" sz="1400" i="1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(hôm nay)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dùng: “Tôi bị dị ứng đậu phộng.”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406640" y="3310128"/>
            <a:ext cx="3895344" cy="0"/>
          </a:xfrm>
          <a:prstGeom prst="line">
            <a:avLst/>
          </a:prstGeom>
          <a:noFill/>
          <a:ln w="12700">
            <a:solidFill>
              <a:srgbClr val="3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7406640" y="3456432"/>
            <a:ext cx="3895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5  </a:t>
            </a:r>
            <a:r>
              <a:rPr lang="en-US" sz="1400" i="1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tuần sau)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dùng: “Gợi ý cho tôi vài món ăn nhẹ.”
</a:t>
            </a:r>
            <a:r>
              <a:rPr lang="en-US" sz="1400" dirty="0">
                <a:solidFill>
                  <a:srgbClr val="F2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lý: gợi ý bánh có đậu phộng — vì đã “quên”.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406640" y="5074920"/>
            <a:ext cx="3895344" cy="566928"/>
          </a:xfrm>
          <a:prstGeom prst="roundRect">
            <a:avLst>
              <a:gd name="adj" fmla="val 1290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7406640" y="5074920"/>
            <a:ext cx="3895344" cy="5669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một lớp bộ nhớ tồn tại XUYÊN các phiên.</a:t>
            </a:r>
            <a:endParaRPr lang="en-US" sz="1300" dirty="0"/>
          </a:p>
        </p:txBody>
      </p:sp>
      <p:sp>
        <p:nvSpPr>
          <p:cNvPr id="26" name="Citation">
            <a:extLst>
              <a:ext uri="{FF2B5EF4-FFF2-40B4-BE49-F238E27FC236}">
                <a16:creationId xmlns:a16="http://schemas.microsoft.com/office/drawing/2014/main" id="{7C7B30EB-795A-43DA-BC8B-9E5E97DAFC54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Zhang et al., survey cơ chế bộ nhớ của LLM agent, ACM TOIS 2025 (bình duyệt, DOI 10.1145/3748302) · Hu et al., Memory in the Age of AI Agents, arXiv:2512.13564 (survey, bản sửa 01/2026).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00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1/2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khái niệm cốt lõi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– Mô hình ngôn ngữ lớn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dự đoán văn bản. Vô trạng thái: không tự lưu gì giữa các lần gọi.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dùng LLM làm “bộ não”, có thêm khả năng lập kế hoạch, gọi công cụ và truy cập bộ nhớ.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– Cửa sổ ngữ cảnh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token tối đa mô hình “nhìn thấy” mỗi lần gọi — chính là bộ nhớ làm việc tạm thời.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ngắn hạn vs. dài hạn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 = trong phiên (context). Dài hạn = lưu bên ngoài, tồn tại xuyên nhiều phiên.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3103E5A9-AC8F-4D75-8300-BB0E929876E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theo: Zhang et al., ACM TOIS 2025 (survey bình duyệt) · Hu et al., Memory in the Age of AI Agents, arXiv:2512.13564 (2026) — phân loại theo 3 trục: hình thái (token / tham số / ẩn), chức năng (sự thật / kinh nghiệm / làm việc), động học.</a:t>
            </a:r>
          </a:p>
        </p:txBody>
      </p:sp>
    </p:spTree>
    <p:extLst>
      <p:ext uri="{BB962C8B-B14F-4D97-AF65-F5344CB8AC3E}">
        <p14:creationId xmlns:p14="http://schemas.microsoft.com/office/powerpoint/2010/main" val="266857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2/2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 để “nhớ” và “truy xuất”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– Vector nhúng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văn bản thành vector số. Câu gần nghĩa → vector nằm gần nhau.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lưu embedding, cho phép tìm kiếm theo độ tương đồng ngữ nghĩa (semantic search).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– Truy xuất &amp; Tăng cường sinh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thông tin liên quan rồi chèn vào prompt, giúp LLM trả lời có căn cứ thay vì bịa.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(tùy chọn)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thực thể &amp; quan hệ; hỗ trợ suy luận nhiều bước và theo dòng thời gian.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4BADFAFD-DE81-4C17-BFBB-8513FAC95A71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theo: Lewis et al., RAG (NeurIPS 2020) · Johnson et al., FAISS, IEEE Trans. Big Data 7(3), 2021 · Rasmussen et al., Zep (arXiv:2501.13956, 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THUẬT NGỮ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ngữ, tham số &amp; công thức cần nắm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Context window (L)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đơn vị văn bản mô hình xử lý (1 token ≈ 0,75 từ tiếng Anh). L = số token tối đa mỗi lần gọi; phần vượt quá L bị cắt bỏ.</a:t>
            </a:r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độ tương đồng cosine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E(x) ∈ R^d. Độ tương đồng: sim(a,b) = (a·b) / (‖a‖·‖b‖) ∈ [−1, 1]; càng gần 1 thì hai đoạn càng gần nghĩa.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&amp; ngưỡng τ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k ký ức có sim cao nhất, chỉ giữ ký ức có sim ≥ τ. k hoặc τ nới rộng → nhớ nhiều hơn nhưng nhiễu và tốn token hơn.</a:t>
            </a:r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chi phí token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đoạn văn bản c token, chồng lấp o token giữa hai đoạn. Chi phí ≈ (token vào + token ra) × đơn giá / 1.000 token.</a:t>
            </a:r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3A862F0F-63CE-4DA0-92AE-8D1506D418A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&amp; công thức theo: Zhang et al., ACM TOIS 2025 (DOI 10.1145/3748302) · Johnson et al., FAISS, IEEE Trans. Big Data 7(3), 2021 · Hu et al., arXiv:2512.13564 (2026).</a:t>
            </a:r>
          </a:p>
        </p:txBody>
      </p:sp>
    </p:spTree>
    <p:extLst>
      <p:ext uri="{BB962C8B-B14F-4D97-AF65-F5344CB8AC3E}">
        <p14:creationId xmlns:p14="http://schemas.microsoft.com/office/powerpoint/2010/main" val="336393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bộ nhớ: từ nhận thức con người →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18488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BỘ NHỚ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THỰC HÓA TRONG HỆ THỐNG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2313432"/>
            <a:ext cx="603504" cy="603504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470343"/>
            <a:ext cx="289682" cy="28968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18488" y="214884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việc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(Working)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14884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cảnh của phiên hiện tại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48840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của LLM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" y="3300984"/>
            <a:ext cx="603504" cy="603504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19" y="3457895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18488" y="313639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tiết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(Episodic)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13639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/ hội thoại đã diễn ra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313639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hội thoại, tóm tắt từng phiên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123944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49808" y="4288536"/>
            <a:ext cx="603504" cy="603504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19" y="4445447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18488" y="4123944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nghĩa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709160" y="4123944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thật &amp; sở thích người dùng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4123944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người dùng, kho facts (vector DB)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49808" y="5276088"/>
            <a:ext cx="603504" cy="603504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19" y="5432999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18488" y="5111496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(Procedural)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709160" y="5111496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thực hiện tác vụ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275320" y="5111496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dẫn hệ thống / luật cập nhật được</a:t>
            </a:r>
            <a:endParaRPr lang="en-US" sz="1300" dirty="0"/>
          </a:p>
        </p:txBody>
      </p:sp>
      <p:sp>
        <p:nvSpPr>
          <p:cNvPr id="29" name="Citation">
            <a:extLst>
              <a:ext uri="{FF2B5EF4-FFF2-40B4-BE49-F238E27FC236}">
                <a16:creationId xmlns:a16="http://schemas.microsoft.com/office/drawing/2014/main" id="{896D8D46-4142-45CF-B71C-98B328A8648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Phân loại theo: Tulving (1972) episodic/semantic · Zhang et al., ACM TOIS 2025 (DOI 10.1145/3748302) (bình duyệt) · tài liệu LangMem (nhà phát triển).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720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bài toán: Đầu vào → Đầu 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2148840"/>
          </a:xfrm>
          <a:prstGeom prst="roundRect">
            <a:avLst>
              <a:gd name="adj" fmla="val 383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11680"/>
            <a:ext cx="658368" cy="65836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21828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084832"/>
            <a:ext cx="4064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697480"/>
            <a:ext cx="4704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Tin nhắn hiện tại của người dùng.
2. Lịch sử tương tác tích lũy qua nhiều phiên, đã được lưu trong bộ nhớ dài hạn.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2148840"/>
          </a:xfrm>
          <a:prstGeom prst="roundRect">
            <a:avLst>
              <a:gd name="adj" fmla="val 383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11680"/>
            <a:ext cx="658368" cy="65836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852" y="218285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4636" y="2084832"/>
            <a:ext cx="4064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97396" y="2697480"/>
            <a:ext cx="4704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Phản hồi chính xác &amp; nhất quán, có sử dụng thông tin đã ghi nhớ.
2. Cập nhật bộ nhớ: thêm / sửa / xóa thông tin sau tương tác.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" y="4160520"/>
            <a:ext cx="11055096" cy="1737360"/>
          </a:xfrm>
          <a:prstGeom prst="roundRect">
            <a:avLst>
              <a:gd name="adj" fmla="val 4737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86968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709160"/>
            <a:ext cx="1041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1: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đang học tiếng Nhật, trình độ N5.”  </a:t>
            </a:r>
            <a:r>
              <a:rPr lang="en-US" sz="1400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hệ thống trích xuất &amp; lưu fact “trình độ = N5”.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523036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8 (3 tuần sau):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“Gợi ý tài liệu luyện đọc cho tôi.”  </a:t>
            </a:r>
            <a:r>
              <a:rPr lang="en-US" sz="140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truy xuất “N5” → gợi ý đúng trình độ, không hỏi lại.</a:t>
            </a:r>
            <a:endParaRPr lang="en-US" sz="1400" dirty="0"/>
          </a:p>
        </p:txBody>
      </p:sp>
      <p:sp>
        <p:nvSpPr>
          <p:cNvPr id="18" name="Citation">
            <a:extLst>
              <a:ext uri="{FF2B5EF4-FFF2-40B4-BE49-F238E27FC236}">
                <a16:creationId xmlns:a16="http://schemas.microsoft.com/office/drawing/2014/main" id="{DC55C9C5-D725-4CF7-BF5B-9B817A55F3A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Khung đầu vào – đầu ra tham chiếu: Chhikara et al., Mem0 (ECAI 2025, arXiv:2504.19413) · Wu et al., LongMemEval (ICLR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quan hệ thống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1328" y="2020824"/>
            <a:ext cx="658368" cy="65836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04" y="2192000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3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3054096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22904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37304" y="2020824"/>
            <a:ext cx="658368" cy="65836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80" y="219200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4344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910072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278880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93280" y="2020824"/>
            <a:ext cx="658368" cy="65836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456" y="2192000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0320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quản lý</a:t>
            </a:r>
            <a:endParaRPr lang="en-US" sz="13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766048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49256" y="2020824"/>
            <a:ext cx="658368" cy="658368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432" y="2192000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lưu trữ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12648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nhập &amp; nhận phản hồi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3468624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phối: hiểu, quyết định, sinh phản hồi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324600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· cập nhật · truy xuất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Knowledge Graph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66928" y="4114800"/>
            <a:ext cx="11055096" cy="1874520"/>
          </a:xfrm>
          <a:prstGeom prst="roundRect">
            <a:avLst>
              <a:gd name="adj" fmla="val 4390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932688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BỘ NHỚ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32688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1069848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Trích xuất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1069848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thông tin quan trọng từ hội thoại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582162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3719322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Lưu / Cập nhật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3719322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· Sửa · Xóa (ADD / UPDATE / DELETE)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231636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368796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Truy xuất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6368796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ký ức liên quan tới câu hỏi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881110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9018270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Sinh phản hồi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9018270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ký ức vào prompt → trả lời</a:t>
            </a:r>
            <a:endParaRPr lang="en-US" sz="1100" dirty="0"/>
          </a:p>
        </p:txBody>
      </p:sp>
      <p:sp>
        <p:nvSpPr>
          <p:cNvPr id="41" name="Citation">
            <a:extLst>
              <a:ext uri="{FF2B5EF4-FFF2-40B4-BE49-F238E27FC236}">
                <a16:creationId xmlns:a16="http://schemas.microsoft.com/office/drawing/2014/main" id="{5AF951CA-9B7D-45FC-B2C3-0F886D8AC60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Kiến trúc &amp; vòng lặp bộ nhớ tham chiếu: MemGPT (2023, mốc lịch sử) · Mem0 (ECAI 2025) · Zep (2025) · survey ACM TOIS 2025 (DOI 10.1145/3748302).</a:t>
            </a:r>
          </a:p>
        </p:txBody>
      </p:sp>
    </p:spTree>
    <p:extLst>
      <p:ext uri="{BB962C8B-B14F-4D97-AF65-F5344CB8AC3E}">
        <p14:creationId xmlns:p14="http://schemas.microsoft.com/office/powerpoint/2010/main" val="20319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Thách thức: vì sao khó?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cái gì để nhớ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lưu tất cả. Phải trích xuất thông tin quan trọng và loại bỏ nhiễu.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đúng lúc, đúng chỗ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theo tương đồng dễ trượt với câu hỏi đa bước, mơ hồ, hoặc theo thời gian.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&amp; giải quyết xung đột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thay đổi (“N5 → N4”). Cần ghi đè/sửa, tránh để bộ nhớ tự mâu thuẫn.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hiệu năng – chi phí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càng lớn, truy xuất càng chậm và tốn kém. Phải đánh đổi với độ chính xác.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50D17BDB-93C7-42C9-8623-5A9CEEC4F0D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Thách thức tổng hợp từ: survey ACM TOIS 2025 (DOI 10.1145/3748302) · phân tích lỗi trong LongMemEval (ICLR 2025) và Mem0 (ECAI 2025).</a:t>
            </a:r>
          </a:p>
        </p:txBody>
      </p:sp>
    </p:spTree>
    <p:extLst>
      <p:ext uri="{BB962C8B-B14F-4D97-AF65-F5344CB8AC3E}">
        <p14:creationId xmlns:p14="http://schemas.microsoft.com/office/powerpoint/2010/main" val="223515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 đề tài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000"/>
            </a:avLst>
          </a:prstGeom>
          <a:ln w="19050">
            <a:solidFill>
              <a:srgbClr val="1F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2011680"/>
            <a:ext cx="603504" cy="603504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47" y="21685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18488" y="2084832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GỒM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743200"/>
            <a:ext cx="46131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bộ nhớ dài hạn: lưu · cập nhật · truy xuất qua nhiều phiên.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module (Agent · Quản lý bộ nhớ · Giao diện), dễ mở rộng &amp; thử nghiệm.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≥ 1 LLM; bản demo minh họa khả năng ghi nhớ dài hạn.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 chính xác, tính nhất quán, hiệu năng; kèm mã nguồn, tài liệu &amp; báo cáo.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83080"/>
            <a:ext cx="5344668" cy="4114800"/>
          </a:xfrm>
          <a:prstGeom prst="roundRect">
            <a:avLst>
              <a:gd name="adj" fmla="val 200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69964" y="2011680"/>
            <a:ext cx="603504" cy="603504"/>
          </a:xfrm>
          <a:prstGeom prst="ellipse">
            <a:avLst/>
          </a:prstGeom>
          <a:solidFill>
            <a:srgbClr val="8A8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75" y="21685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28916" y="2084832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GỒM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643116" y="2743200"/>
            <a:ext cx="46131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/ fine-tune một LLM mới (dùng mô hình có sẵn qua API hoặc nguồn mở).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đa phương thức (hình ảnh, âm thanh) — tập trung vào văn bản.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quy mô sản xuất, đa người dùng lớn — tập trung nguyên mẫu chứng minh khái niệm.</a:t>
            </a:r>
            <a:endParaRPr lang="en-US" sz="1350" dirty="0"/>
          </a:p>
        </p:txBody>
      </p:sp>
      <p:sp>
        <p:nvSpPr>
          <p:cNvPr id="15" name="Citation">
            <a:extLst>
              <a:ext uri="{FF2B5EF4-FFF2-40B4-BE49-F238E27FC236}">
                <a16:creationId xmlns:a16="http://schemas.microsoft.com/office/drawing/2014/main" id="{EF1228CB-EFDF-49B8-8602-B0B13E38353B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Mục tiêu &amp; phạm vi do nhóm tự xác định; tham chiếu thực hành từ Mem0 (ECAI 2025) và tài liệu Letta/MemGPT (nhà phát triển).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59ADA-808C-4C75-B960-D0663F77F552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CÔNG TRÌNH LIÊN QUAN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83F39-5F7A-47E1-B507-EAE3452257E9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Năm hệ thống bộ nhớ tiêu biểu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0251D-0DCC-4DAB-8F48-B1F16F5CB163}"/>
              </a:ext>
            </a:extLst>
          </p:cNvPr>
          <p:cNvSpPr txBox="1"/>
          <p:nvPr/>
        </p:nvSpPr>
        <p:spPr>
          <a:xfrm>
            <a:off x="571500" y="16764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HỆ THỐNG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1ADBA-4956-413F-A78C-551EA61DDCF1}"/>
              </a:ext>
            </a:extLst>
          </p:cNvPr>
          <p:cNvSpPr txBox="1"/>
          <p:nvPr/>
        </p:nvSpPr>
        <p:spPr>
          <a:xfrm>
            <a:off x="2603500" y="1676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Ý TƯỞNG CỐT LÕI</a:t>
            </a:r>
            <a:endParaRPr lang="en-US" sz="1100" b="1">
              <a:solidFill>
                <a:srgbClr val="3A36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6FDE4-BCD3-4C6A-9753-5C25DEB87AAD}"/>
              </a:ext>
            </a:extLst>
          </p:cNvPr>
          <p:cNvSpPr txBox="1"/>
          <p:nvPr/>
        </p:nvSpPr>
        <p:spPr>
          <a:xfrm>
            <a:off x="6604000" y="1676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ĐIỂM MẠNH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1AF1-4EE4-428B-AB57-D5B605AEF1F1}"/>
              </a:ext>
            </a:extLst>
          </p:cNvPr>
          <p:cNvSpPr txBox="1"/>
          <p:nvPr/>
        </p:nvSpPr>
        <p:spPr>
          <a:xfrm>
            <a:off x="9321800" y="1676400"/>
            <a:ext cx="21209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ĐÁNH ĐỔI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77B1-CFAA-41E3-A10B-ADD60DAE918B}"/>
              </a:ext>
            </a:extLst>
          </p:cNvPr>
          <p:cNvSpPr/>
          <p:nvPr/>
        </p:nvSpPr>
        <p:spPr>
          <a:xfrm>
            <a:off x="571500" y="20066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00C06-E986-46F8-A765-0BD5DB569AE5}"/>
              </a:ext>
            </a:extLst>
          </p:cNvPr>
          <p:cNvSpPr txBox="1"/>
          <p:nvPr/>
        </p:nvSpPr>
        <p:spPr>
          <a:xfrm>
            <a:off x="749300" y="20828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MemGPT (2023) — mốc lịch sử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0604C-DE88-43FE-B26F-34F821CA7DA1}"/>
              </a:ext>
            </a:extLst>
          </p:cNvPr>
          <p:cNvSpPr txBox="1"/>
          <p:nvPr/>
        </p:nvSpPr>
        <p:spPr>
          <a:xfrm>
            <a:off x="2603500" y="20828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LLM như hệ điều hành: main context (RAM) ↔ external context (đĩa), tự “phân trang” bằng function call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36C48-6F75-4E17-9CA4-5AA072D9941C}"/>
              </a:ext>
            </a:extLst>
          </p:cNvPr>
          <p:cNvSpPr txBox="1"/>
          <p:nvPr/>
        </p:nvSpPr>
        <p:spPr>
          <a:xfrm>
            <a:off x="6604000" y="20828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Agent tự quyết định lục lại ký ức nào; tóm tắt đệ quy khi context đầy ~70%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7CCC9-33E3-4D24-83CA-D57CFB273EF9}"/>
              </a:ext>
            </a:extLst>
          </p:cNvPr>
          <p:cNvSpPr txBox="1"/>
          <p:nvPr/>
        </p:nvSpPr>
        <p:spPr>
          <a:xfrm>
            <a:off x="9321800" y="20828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Tóm tắt chồng tóm tắt → mất chi tiết; mỗi thao tác tốn 1 lượt LLM. Nay chỉ dùng làm mốc tham chiếu, không dùng làm nguồn định nghĩa.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D8E621-F7C7-431E-91F2-E7C0C4270CEB}"/>
              </a:ext>
            </a:extLst>
          </p:cNvPr>
          <p:cNvSpPr/>
          <p:nvPr/>
        </p:nvSpPr>
        <p:spPr>
          <a:xfrm>
            <a:off x="571500" y="28829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1D0C4-086D-4D07-A26A-C95F33DF8998}"/>
              </a:ext>
            </a:extLst>
          </p:cNvPr>
          <p:cNvSpPr txBox="1"/>
          <p:nvPr/>
        </p:nvSpPr>
        <p:spPr>
          <a:xfrm>
            <a:off x="749300" y="29591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Mem0 (2025)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FA2FF-5F4B-4603-85F7-0B85C0A91049}"/>
              </a:ext>
            </a:extLst>
          </p:cNvPr>
          <p:cNvSpPr txBox="1"/>
          <p:nvPr/>
        </p:nvSpPr>
        <p:spPr>
          <a:xfrm>
            <a:off x="2603500" y="29591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Pipeline 2 pha: Extraction (rút fact) → Update chọn ADD / UPDATE / DELETE / NOOP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8F1F3-D92E-4BEC-806F-E1A30273B305}"/>
              </a:ext>
            </a:extLst>
          </p:cNvPr>
          <p:cNvSpPr txBox="1"/>
          <p:nvPr/>
        </p:nvSpPr>
        <p:spPr>
          <a:xfrm>
            <a:off x="6604000" y="29591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66,9% vs 52,9% (OpenAI memory) trên LOCOMO; −91% p95; ~1,7k token/hội thoại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C1ED8-9956-4D9A-BF3B-2A47ABE7D130}"/>
              </a:ext>
            </a:extLst>
          </p:cNvPr>
          <p:cNvSpPr txBox="1"/>
          <p:nvPr/>
        </p:nvSpPr>
        <p:spPr>
          <a:xfrm>
            <a:off x="9321800" y="29591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Fact rời rạc, quan hệ yếu; số liệu tự công bố còn bị phản bác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98FCCF-6842-42D8-B156-6E0D68E5A1C2}"/>
              </a:ext>
            </a:extLst>
          </p:cNvPr>
          <p:cNvSpPr/>
          <p:nvPr/>
        </p:nvSpPr>
        <p:spPr>
          <a:xfrm>
            <a:off x="571500" y="37592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82A5D-B9BF-4088-852B-98AD690AAE8F}"/>
              </a:ext>
            </a:extLst>
          </p:cNvPr>
          <p:cNvSpPr txBox="1"/>
          <p:nvPr/>
        </p:nvSpPr>
        <p:spPr>
          <a:xfrm>
            <a:off x="749300" y="38354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Zep (2025)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9D934-9957-4B0D-BBB5-4D5BC34F67A5}"/>
              </a:ext>
            </a:extLst>
          </p:cNvPr>
          <p:cNvSpPr txBox="1"/>
          <p:nvPr/>
        </p:nvSpPr>
        <p:spPr>
          <a:xfrm>
            <a:off x="2603500" y="38354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Đồ thị tri thức có thời gian: thực thể – quan hệ – dấu thời gian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55245-A20A-4D75-94E8-EBF169D8908B}"/>
              </a:ext>
            </a:extLst>
          </p:cNvPr>
          <p:cNvSpPr txBox="1"/>
          <p:nvPr/>
        </p:nvSpPr>
        <p:spPr>
          <a:xfrm>
            <a:off x="6604000" y="38354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Mạnh nhất ở suy luận thời gian và đa bước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69D7E-5B89-4A9A-B5F7-D0482FBA33D0}"/>
              </a:ext>
            </a:extLst>
          </p:cNvPr>
          <p:cNvSpPr txBox="1"/>
          <p:nvPr/>
        </p:nvSpPr>
        <p:spPr>
          <a:xfrm>
            <a:off x="9321800" y="38354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~600k token/hội thoại; xây nền hàng giờ ở chế độ nền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304AD-2618-421C-B652-5A1AD8F8EE85}"/>
              </a:ext>
            </a:extLst>
          </p:cNvPr>
          <p:cNvSpPr/>
          <p:nvPr/>
        </p:nvSpPr>
        <p:spPr>
          <a:xfrm>
            <a:off x="571500" y="46355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E533F-6FA1-46F9-B825-183F92CB2880}"/>
              </a:ext>
            </a:extLst>
          </p:cNvPr>
          <p:cNvSpPr txBox="1"/>
          <p:nvPr/>
        </p:nvSpPr>
        <p:spPr>
          <a:xfrm>
            <a:off x="749300" y="47117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A-MEM · LangMem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AA5B4-1E6F-4410-80B7-C8EB8D3E9A19}"/>
              </a:ext>
            </a:extLst>
          </p:cNvPr>
          <p:cNvSpPr txBox="1"/>
          <p:nvPr/>
        </p:nvSpPr>
        <p:spPr>
          <a:xfrm>
            <a:off x="2603500" y="47117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Ký ức tự liên kết (A-MEM); ba loại episodic / semantic / procedural (LangMem)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1FE503-81E4-4FEF-B018-CF12C98159BE}"/>
              </a:ext>
            </a:extLst>
          </p:cNvPr>
          <p:cNvSpPr txBox="1"/>
          <p:nvPr/>
        </p:nvSpPr>
        <p:spPr>
          <a:xfrm>
            <a:off x="6604000" y="47117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Linh hoạt; agent tự sửa chỉ dẫn của chính nó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FC4FD-A1A9-40E9-898D-091B262A7F61}"/>
              </a:ext>
            </a:extLst>
          </p:cNvPr>
          <p:cNvSpPr txBox="1"/>
          <p:nvPr/>
        </p:nvSpPr>
        <p:spPr>
          <a:xfrm>
            <a:off x="9321800" y="47117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Trễ cao: A-MEM ~1,41s; LangMem p50 ~18s, p95 ~60s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C09713-DA20-4355-B94D-1935A288F1F3}"/>
              </a:ext>
            </a:extLst>
          </p:cNvPr>
          <p:cNvSpPr/>
          <p:nvPr/>
        </p:nvSpPr>
        <p:spPr>
          <a:xfrm>
            <a:off x="571500" y="55118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2E5FF-69A0-4F31-BCCE-CF9CE14CED4C}"/>
              </a:ext>
            </a:extLst>
          </p:cNvPr>
          <p:cNvSpPr txBox="1"/>
          <p:nvPr/>
        </p:nvSpPr>
        <p:spPr>
          <a:xfrm>
            <a:off x="749300" y="55880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4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SimpleMem (2026)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D8A03-03AA-4924-8538-6D9D7487894A}"/>
              </a:ext>
            </a:extLst>
          </p:cNvPr>
          <p:cNvSpPr txBox="1"/>
          <p:nvPr/>
        </p:nvSpPr>
        <p:spPr>
          <a:xfrm>
            <a:off x="2603500" y="55880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Nén ngữ nghĩa không mất mát 3 pha: cô đọng tương tác → hợp nhất ngữ cảnh trong phiên → suy luận ý định để chọn phạm vi truy xuất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A8090E-88CE-456D-84F2-8EA1895C7BA5}"/>
              </a:ext>
            </a:extLst>
          </p:cNvPr>
          <p:cNvSpPr txBox="1"/>
          <p:nvPr/>
        </p:nvSpPr>
        <p:spPr>
          <a:xfrm>
            <a:off x="6604000" y="55880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+26,4% F1 trung bình trên LoCoMo; giảm tới 30× token lúc suy luận; không cần vòng lặp suy luận lặp lại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57D389-4A73-4DA2-8D76-C34898DF250B}"/>
              </a:ext>
            </a:extLst>
          </p:cNvPr>
          <p:cNvSpPr txBox="1"/>
          <p:nvPr/>
        </p:nvSpPr>
        <p:spPr>
          <a:xfrm>
            <a:off x="9321800" y="55880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Vẫn là fact rời rạc; chưa đánh giá trên trục cập nhật/xung đột</a:t>
            </a:r>
          </a:p>
        </p:txBody>
      </p:sp>
      <p:sp>
        <p:nvSpPr>
          <p:cNvPr id="33" name="Citation">
            <a:extLst>
              <a:ext uri="{FF2B5EF4-FFF2-40B4-BE49-F238E27FC236}">
                <a16:creationId xmlns:a16="http://schemas.microsoft.com/office/drawing/2014/main" id="{251432E1-2731-4B74-BECE-DAD150A4681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Mem0 arXiv:2504.19413 (ECAI 2025) · Zep arXiv:2501.13956 · A-MEM arXiv:2502.12110 · SimpleMem arXiv:2601.02553 (2026) · Hindsight arXiv:2512.12818 (2025) · MemGPT arXiv:2310.08560 (2023, tham chiếu lịch sử) — số liệu do tác giả tự công bố, cần đọc kèm phần cảnh báo ở slide sau.</a:t>
            </a:r>
          </a:p>
        </p:txBody>
      </p:sp>
    </p:spTree>
    <p:extLst>
      <p:ext uri="{BB962C8B-B14F-4D97-AF65-F5344CB8AC3E}">
        <p14:creationId xmlns:p14="http://schemas.microsoft.com/office/powerpoint/2010/main" val="343157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17CE6-0795-4B70-B16D-B9D7BB4FE449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PHƯƠNG PHÁP ĐÁNH GIÁ</a:t>
            </a:r>
            <a:endParaRPr lang="en-US" sz="12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F4AE-3EC0-498B-BA85-EF9ACEF38EE1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Ba trục đo và bộ benchmark đã rà soát lại theo góp ý mentor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EFBE15-D453-4C01-B358-C575723462CF}"/>
              </a:ext>
            </a:extLst>
          </p:cNvPr>
          <p:cNvSpPr/>
          <p:nvPr/>
        </p:nvSpPr>
        <p:spPr>
          <a:xfrm>
            <a:off x="5715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9D388F-112A-4ED5-82AA-060C3AB0ACC2}"/>
              </a:ext>
            </a:extLst>
          </p:cNvPr>
          <p:cNvSpPr/>
          <p:nvPr/>
        </p:nvSpPr>
        <p:spPr>
          <a:xfrm>
            <a:off x="8255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DF43B-1178-49DA-9285-335046F1E132}"/>
              </a:ext>
            </a:extLst>
          </p:cNvPr>
          <p:cNvSpPr txBox="1"/>
          <p:nvPr/>
        </p:nvSpPr>
        <p:spPr>
          <a:xfrm>
            <a:off x="13843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Độ chính xác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AFDCF-2CCA-44C4-BC5E-E615CBB601CF}"/>
              </a:ext>
            </a:extLst>
          </p:cNvPr>
          <p:cNvSpPr txBox="1"/>
          <p:nvPr/>
        </p:nvSpPr>
        <p:spPr>
          <a:xfrm>
            <a:off x="8255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Tỉ lệ trả lời đúng theo từng loại câu hỏi · F1 · LLM-as-a-Judge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A46E70-2F57-4332-B8A8-15DDB1B1AB2F}"/>
              </a:ext>
            </a:extLst>
          </p:cNvPr>
          <p:cNvSpPr/>
          <p:nvPr/>
        </p:nvSpPr>
        <p:spPr>
          <a:xfrm>
            <a:off x="43561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576D18-A783-4D1B-9696-AEA9BBCBAD30}"/>
              </a:ext>
            </a:extLst>
          </p:cNvPr>
          <p:cNvSpPr/>
          <p:nvPr/>
        </p:nvSpPr>
        <p:spPr>
          <a:xfrm>
            <a:off x="46101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D7038-315C-42A0-8DBE-9A290E242EAF}"/>
              </a:ext>
            </a:extLst>
          </p:cNvPr>
          <p:cNvSpPr txBox="1"/>
          <p:nvPr/>
        </p:nvSpPr>
        <p:spPr>
          <a:xfrm>
            <a:off x="51689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Tính nhất quán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2E058-4ABE-49A9-AFC1-A07BAB09322C}"/>
              </a:ext>
            </a:extLst>
          </p:cNvPr>
          <p:cNvSpPr txBox="1"/>
          <p:nvPr/>
        </p:nvSpPr>
        <p:spPr>
          <a:xfrm>
            <a:off x="46101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Tỉ lệ dùng đúng fact sau cập nhật · tỉ lệ tự mâu thuẫn · biết từ chối khi thiếu dữ liệu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FD8200-3ED6-4BFC-995C-104767B44218}"/>
              </a:ext>
            </a:extLst>
          </p:cNvPr>
          <p:cNvSpPr/>
          <p:nvPr/>
        </p:nvSpPr>
        <p:spPr>
          <a:xfrm>
            <a:off x="81407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371934-D513-422B-82CC-14D7F708E45A}"/>
              </a:ext>
            </a:extLst>
          </p:cNvPr>
          <p:cNvSpPr/>
          <p:nvPr/>
        </p:nvSpPr>
        <p:spPr>
          <a:xfrm>
            <a:off x="83947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5CAC1-041D-41AB-BB07-E8E051FAF6F0}"/>
              </a:ext>
            </a:extLst>
          </p:cNvPr>
          <p:cNvSpPr txBox="1"/>
          <p:nvPr/>
        </p:nvSpPr>
        <p:spPr>
          <a:xfrm>
            <a:off x="89535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Hiệu năng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FFE4C-5F04-4E91-8B52-C87115BE6F05}"/>
              </a:ext>
            </a:extLst>
          </p:cNvPr>
          <p:cNvSpPr txBox="1"/>
          <p:nvPr/>
        </p:nvSpPr>
        <p:spPr>
          <a:xfrm>
            <a:off x="83947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Độ trễ p50/p95 (tách pha tìm kiếm vs. tổng) · token mỗi truy vấn · kích thước kho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8934F5-3A4D-4C54-B197-6A3F21F870CE}"/>
              </a:ext>
            </a:extLst>
          </p:cNvPr>
          <p:cNvSpPr/>
          <p:nvPr/>
        </p:nvSpPr>
        <p:spPr>
          <a:xfrm>
            <a:off x="571500" y="3403600"/>
            <a:ext cx="5359400" cy="16256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956D3-3C8E-484B-90F0-B711CC4638B6}"/>
              </a:ext>
            </a:extLst>
          </p:cNvPr>
          <p:cNvSpPr txBox="1"/>
          <p:nvPr/>
        </p:nvSpPr>
        <p:spPr>
          <a:xfrm>
            <a:off x="825500" y="3606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5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LoCoMo (ACL 2024) — KHÔNG có test cập nhật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941B7-8EC1-4AF7-8B7D-1C512CA8EBC8}"/>
              </a:ext>
            </a:extLst>
          </p:cNvPr>
          <p:cNvSpPr txBox="1"/>
          <p:nvPr/>
        </p:nvSpPr>
        <p:spPr>
          <a:xfrm>
            <a:off x="825500" y="3962400"/>
            <a:ext cx="48514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50 hội thoại · tới 35 phiên · ~300 lượt. 5 loại câu hỏi: single-hop, multi-hop, temporal, open-domain, adversarial. Không có loại câu hỏi nào chấm việc cập nhật kiến thức → đúng như mentor nhận định. Chỉ dùng để so sánh tham khảo với các công trình đã công bố.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C73736-DDAC-4CFE-A5B4-5959B7BF70AF}"/>
              </a:ext>
            </a:extLst>
          </p:cNvPr>
          <p:cNvSpPr/>
          <p:nvPr/>
        </p:nvSpPr>
        <p:spPr>
          <a:xfrm>
            <a:off x="6261100" y="3403600"/>
            <a:ext cx="5359400" cy="16256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7E8357-E8C8-4A95-B715-BD245C4527E6}"/>
              </a:ext>
            </a:extLst>
          </p:cNvPr>
          <p:cNvSpPr txBox="1"/>
          <p:nvPr/>
        </p:nvSpPr>
        <p:spPr>
          <a:xfrm>
            <a:off x="6515100" y="3606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5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LongMemEval (ICLR 2025) — CÓ test cập nhật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3134EF-524E-40C8-B96E-1E25D06A2100}"/>
              </a:ext>
            </a:extLst>
          </p:cNvPr>
          <p:cNvSpPr txBox="1"/>
          <p:nvPr/>
        </p:nvSpPr>
        <p:spPr>
          <a:xfrm>
            <a:off x="6515100" y="3962400"/>
            <a:ext cx="48514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500 câu hỏi / 7 loại, cài vào lịch sử co giãn (bản S ~115K token/câu, ~40 phiên; bản M ~500 phiên, ~1,5M token). Knowledge-update (KU) là 1 trong 5 năng lực cốt lõi — đúng tình huống N5 → N4. Đây là benchmark chính của nhóm.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92D554-5B4D-4D8C-96B0-B3FC5089BF85}"/>
              </a:ext>
            </a:extLst>
          </p:cNvPr>
          <p:cNvSpPr/>
          <p:nvPr/>
        </p:nvSpPr>
        <p:spPr>
          <a:xfrm>
            <a:off x="571500" y="5232400"/>
            <a:ext cx="11049000" cy="1092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371DD7-FF1E-40D8-A6CE-83E0DAC2512C}"/>
              </a:ext>
            </a:extLst>
          </p:cNvPr>
          <p:cNvSpPr txBox="1"/>
          <p:nvPr/>
        </p:nvSpPr>
        <p:spPr>
          <a:xfrm>
            <a:off x="825500" y="5435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CHỐT PHƯƠNG ÁN</a:t>
            </a:r>
            <a:endParaRPr lang="en-US" sz="11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4D499-C5DC-458F-93A9-D4B212FDB0BD}"/>
              </a:ext>
            </a:extLst>
          </p:cNvPr>
          <p:cNvSpPr txBox="1"/>
          <p:nvPr/>
        </p:nvSpPr>
        <p:spPr>
          <a:xfrm>
            <a:off x="825500" y="5715000"/>
            <a:ext cx="105410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>
                <a:solidFill>
                  <a:srgbClr val="EFEFFA"/>
                </a:solidFill>
                <a:latin typeface="Calibri"/>
                <a:ea typeface="Calibri"/>
                <a:cs typeface="Calibri"/>
              </a:rPr>
              <a:t>Phương án sau rà soát: (1) LongMemEval-S làm benchmark chính — có sẵn nhóm câu hỏi knowledge-update. (2) FactConsolidation (thuộc MemoryAgentBench, ICLR 2026) làm bài kiểm tra chuyên biệt cho trục cập nhật/xung đột: fact_sh (1 bước) và fact_mh (đa bước), ở 4 mức ngữ cảnh 6K/32K/64K/262K token. (3) LoCoMo chỉ giữ để đối chiếu với số liệu đã công bố. (4) Tự xây bộ test tiếng Việt theo đúng khuôn FactConsolidation (ví dụ N5→N4→N3). Mọi so sánh cấu hình phải cố định cùng LLM – cùng k – cùng ngân sách token.</a:t>
            </a:r>
          </a:p>
        </p:txBody>
      </p:sp>
      <p:sp>
        <p:nvSpPr>
          <p:cNvPr id="25" name="Citation">
            <a:extLst>
              <a:ext uri="{FF2B5EF4-FFF2-40B4-BE49-F238E27FC236}">
                <a16:creationId xmlns:a16="http://schemas.microsoft.com/office/drawing/2014/main" id="{D170DDA1-0B14-40AE-9C37-9DC8704D5B1D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LoCoMo: Maharana et al., ACL 2024 (arXiv:2402.17753) · LongMemEval: Wu et al., ICLR 2025 (arXiv:2410.10813) · MemoryAgentBench: Hu et al., ICLR 2026 (arXiv:2507.05257) · BEAM: Tavakoli et al., ICLR 2026 (arXiv:2510.27246) — tất cả đều là hội nghị bình duyệt.</a:t>
            </a:r>
          </a:p>
        </p:txBody>
      </p:sp>
    </p:spTree>
    <p:extLst>
      <p:ext uri="{BB962C8B-B14F-4D97-AF65-F5344CB8AC3E}">
        <p14:creationId xmlns:p14="http://schemas.microsoft.com/office/powerpoint/2010/main" val="292382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59ADA-808C-4C75-B960-D0663F77F552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50" b="1">
                <a:solidFill>
                  <a:srgbClr val="5B5BD6"/>
                </a:solidFill>
                <a:latin typeface="Calibri"/>
                <a:ea typeface="Calibri"/>
                <a:cs typeface="Calibri"/>
              </a:rPr>
              <a:t>PHƯƠNG PHÁP ĐÁNH GIÁ · PHẢN HỒI MENTOR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83F39-5F7A-47E1-B507-EAE3452257E9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26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Bài toán cập nhật kiến thức: benchmark nào thật sự đo?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0251D-0DCC-4DAB-8F48-B1F16F5CB163}"/>
              </a:ext>
            </a:extLst>
          </p:cNvPr>
          <p:cNvSpPr txBox="1"/>
          <p:nvPr/>
        </p:nvSpPr>
        <p:spPr>
          <a:xfrm>
            <a:off x="571500" y="1676400"/>
            <a:ext cx="184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BENCHMARK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1ADBA-4956-413F-A78C-551EA61DDCF1}"/>
              </a:ext>
            </a:extLst>
          </p:cNvPr>
          <p:cNvSpPr txBox="1"/>
          <p:nvPr/>
        </p:nvSpPr>
        <p:spPr>
          <a:xfrm>
            <a:off x="2540000" y="16764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NĂM / HỘI NGHỊ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6FDE4-BCD3-4C6A-9753-5C25DEB87AAD}"/>
              </a:ext>
            </a:extLst>
          </p:cNvPr>
          <p:cNvSpPr txBox="1"/>
          <p:nvPr/>
        </p:nvSpPr>
        <p:spPr>
          <a:xfrm>
            <a:off x="4064000" y="16764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CÓ ĐO CẬP NHẬT?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1AF1-4EE4-428B-AB57-D5B605AEF1F1}"/>
              </a:ext>
            </a:extLst>
          </p:cNvPr>
          <p:cNvSpPr txBox="1"/>
          <p:nvPr/>
        </p:nvSpPr>
        <p:spPr>
          <a:xfrm>
            <a:off x="6096000" y="1676400"/>
            <a:ext cx="53467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CÁCH ĐO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77B1-CFAA-41E3-A10B-ADD60DAE918B}"/>
              </a:ext>
            </a:extLst>
          </p:cNvPr>
          <p:cNvSpPr/>
          <p:nvPr/>
        </p:nvSpPr>
        <p:spPr>
          <a:xfrm>
            <a:off x="571500" y="20066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00C06-E986-46F8-A765-0BD5DB569AE5}"/>
              </a:ext>
            </a:extLst>
          </p:cNvPr>
          <p:cNvSpPr txBox="1"/>
          <p:nvPr/>
        </p:nvSpPr>
        <p:spPr>
          <a:xfrm>
            <a:off x="749300" y="20828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LoCoMo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0604C-DE88-43FE-B26F-34F821CA7DA1}"/>
              </a:ext>
            </a:extLst>
          </p:cNvPr>
          <p:cNvSpPr txBox="1"/>
          <p:nvPr/>
        </p:nvSpPr>
        <p:spPr>
          <a:xfrm>
            <a:off x="2540000" y="20828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ACL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36C48-6F75-4E17-9CA4-5AA072D9941C}"/>
              </a:ext>
            </a:extLst>
          </p:cNvPr>
          <p:cNvSpPr txBox="1"/>
          <p:nvPr/>
        </p:nvSpPr>
        <p:spPr>
          <a:xfrm>
            <a:off x="4064000" y="20828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B4453C"/>
                </a:solidFill>
                <a:latin typeface="Calibri"/>
                <a:ea typeface="Calibri"/>
                <a:cs typeface="Calibri"/>
              </a:rPr>
              <a:t>Không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7CCC9-33E3-4D24-83CA-D57CFB273EF9}"/>
              </a:ext>
            </a:extLst>
          </p:cNvPr>
          <p:cNvSpPr txBox="1"/>
          <p:nvPr/>
        </p:nvSpPr>
        <p:spPr>
          <a:xfrm>
            <a:off x="6096000" y="20828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 loại câu hỏi, không loại nào chấm việc ghi đè thông tin cũ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D8E621-F7C7-431E-91F2-E7C0C4270CEB}"/>
              </a:ext>
            </a:extLst>
          </p:cNvPr>
          <p:cNvSpPr/>
          <p:nvPr/>
        </p:nvSpPr>
        <p:spPr>
          <a:xfrm>
            <a:off x="571500" y="28829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1D0C4-086D-4D07-A26A-C95F33DF8998}"/>
              </a:ext>
            </a:extLst>
          </p:cNvPr>
          <p:cNvSpPr txBox="1"/>
          <p:nvPr/>
        </p:nvSpPr>
        <p:spPr>
          <a:xfrm>
            <a:off x="749300" y="29591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LongMemEval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FA2FF-5F4B-4603-85F7-0B85C0A91049}"/>
              </a:ext>
            </a:extLst>
          </p:cNvPr>
          <p:cNvSpPr txBox="1"/>
          <p:nvPr/>
        </p:nvSpPr>
        <p:spPr>
          <a:xfrm>
            <a:off x="2540000" y="29591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8F1F3-D92E-4BEC-806F-E1A30273B305}"/>
              </a:ext>
            </a:extLst>
          </p:cNvPr>
          <p:cNvSpPr txBox="1"/>
          <p:nvPr/>
        </p:nvSpPr>
        <p:spPr>
          <a:xfrm>
            <a:off x="4064000" y="29591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C1ED8-9956-4D9A-BF3B-2A47ABE7D130}"/>
              </a:ext>
            </a:extLst>
          </p:cNvPr>
          <p:cNvSpPr txBox="1"/>
          <p:nvPr/>
        </p:nvSpPr>
        <p:spPr>
          <a:xfrm>
            <a:off x="6096000" y="29591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Nhóm knowledge-update (KU) — 1 trong 5 năng lực cốt lõi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98FCCF-6842-42D8-B156-6E0D68E5A1C2}"/>
              </a:ext>
            </a:extLst>
          </p:cNvPr>
          <p:cNvSpPr/>
          <p:nvPr/>
        </p:nvSpPr>
        <p:spPr>
          <a:xfrm>
            <a:off x="571500" y="37592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82A5D-B9BF-4088-852B-98AD690AAE8F}"/>
              </a:ext>
            </a:extLst>
          </p:cNvPr>
          <p:cNvSpPr txBox="1"/>
          <p:nvPr/>
        </p:nvSpPr>
        <p:spPr>
          <a:xfrm>
            <a:off x="749300" y="38354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MemoryAgentBench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9D934-9957-4B0D-BBB5-4D5BC34F67A5}"/>
              </a:ext>
            </a:extLst>
          </p:cNvPr>
          <p:cNvSpPr txBox="1"/>
          <p:nvPr/>
        </p:nvSpPr>
        <p:spPr>
          <a:xfrm>
            <a:off x="2540000" y="38354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55245-A20A-4D75-94E8-EBF169D8908B}"/>
              </a:ext>
            </a:extLst>
          </p:cNvPr>
          <p:cNvSpPr txBox="1"/>
          <p:nvPr/>
        </p:nvSpPr>
        <p:spPr>
          <a:xfrm>
            <a:off x="4064000" y="38354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 (chuyên biệt)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69D7E-5B89-4A9A-B5F7-D0482FBA33D0}"/>
              </a:ext>
            </a:extLst>
          </p:cNvPr>
          <p:cNvSpPr txBox="1"/>
          <p:nvPr/>
        </p:nvSpPr>
        <p:spPr>
          <a:xfrm>
            <a:off x="6096000" y="38354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Năng lực Conflict Resolution, bộ FactConsolidation: 1 fact nhiều phiên bản đánh số, phải trả về bản mới nhất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304AD-2618-421C-B652-5A1AD8F8EE85}"/>
              </a:ext>
            </a:extLst>
          </p:cNvPr>
          <p:cNvSpPr/>
          <p:nvPr/>
        </p:nvSpPr>
        <p:spPr>
          <a:xfrm>
            <a:off x="571500" y="46355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E533F-6FA1-46F9-B825-183F92CB2880}"/>
              </a:ext>
            </a:extLst>
          </p:cNvPr>
          <p:cNvSpPr txBox="1"/>
          <p:nvPr/>
        </p:nvSpPr>
        <p:spPr>
          <a:xfrm>
            <a:off x="749300" y="47117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BEAM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AA5B4-1E6F-4410-80B7-C8EB8D3E9A19}"/>
              </a:ext>
            </a:extLst>
          </p:cNvPr>
          <p:cNvSpPr txBox="1"/>
          <p:nvPr/>
        </p:nvSpPr>
        <p:spPr>
          <a:xfrm>
            <a:off x="2540000" y="47117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1FE503-81E4-4FEF-B018-CF12C98159BE}"/>
              </a:ext>
            </a:extLst>
          </p:cNvPr>
          <p:cNvSpPr txBox="1"/>
          <p:nvPr/>
        </p:nvSpPr>
        <p:spPr>
          <a:xfrm>
            <a:off x="4064000" y="47117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 (2 trục riêng)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FC4FD-A1A9-40E9-898D-091B262A7F61}"/>
              </a:ext>
            </a:extLst>
          </p:cNvPr>
          <p:cNvSpPr txBox="1"/>
          <p:nvPr/>
        </p:nvSpPr>
        <p:spPr>
          <a:xfrm>
            <a:off x="6096000" y="47117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Knowledge Update và Contradiction Resolution tách riêng; 100 hội thoại tới 10M token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C09713-DA20-4355-B94D-1935A288F1F3}"/>
              </a:ext>
            </a:extLst>
          </p:cNvPr>
          <p:cNvSpPr/>
          <p:nvPr/>
        </p:nvSpPr>
        <p:spPr>
          <a:xfrm>
            <a:off x="571500" y="5511800"/>
            <a:ext cx="11049000" cy="8128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2E5FF-69A0-4F31-BCCE-CF9CE14CED4C}"/>
              </a:ext>
            </a:extLst>
          </p:cNvPr>
          <p:cNvSpPr txBox="1"/>
          <p:nvPr/>
        </p:nvSpPr>
        <p:spPr>
          <a:xfrm>
            <a:off x="749300" y="55880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 LUẬN CHO ĐỀ TÀI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D8A03-03AA-4924-8538-6D9D7487894A}"/>
              </a:ext>
            </a:extLst>
          </p:cNvPr>
          <p:cNvSpPr txBox="1"/>
          <p:nvPr/>
        </p:nvSpPr>
        <p:spPr>
          <a:xfrm>
            <a:off x="749300" y="5816600"/>
            <a:ext cx="106934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>
                <a:solidFill>
                  <a:srgbClr val="EFEFFA"/>
                </a:solidFill>
                <a:latin typeface="Calibri"/>
                <a:ea typeface="Calibri"/>
                <a:cs typeface="Calibri"/>
              </a:rPr>
              <a:t>Mentor đúng với LoCoMo, nhưng LongMemEval có nhóm câu hỏi cập nhật. Dù vậy, hai benchmark chuyên biệt hơn (MemoryAgentBench, BEAM — đều ICLR 2026) mới đo trực tiếp tình huống N5 → N4. Trên FactConsolidation, các hệ mạnh vẫn kém: Zep/Graphiti ~7%, HippoRAG-v2 ~54%, GPT-4o full-context ~60%. → Cập nhật &amp; giải quyết xung đột bộ nhớ là khoảng trống mở, và nhóm chọn đây làm điểm nhấn đóng góp của đồ án.</a:t>
            </a:r>
          </a:p>
        </p:txBody>
      </p:sp>
      <p:sp>
        <p:nvSpPr>
          <p:cNvPr id="33" name="Citation">
            <a:extLst>
              <a:ext uri="{FF2B5EF4-FFF2-40B4-BE49-F238E27FC236}">
                <a16:creationId xmlns:a16="http://schemas.microsoft.com/office/drawing/2014/main" id="{251432E1-2731-4B74-BECE-DAD150A4681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Maharana et al., ACL 2024 (arXiv:2402.17753) · Wu et al., ICLR 2025 (arXiv:2410.10813) · Hu et al., ICLR 2026 (arXiv:2507.05257) · Tavakoli et al., ICLR 2026 (arXiv:2510.27246) · Reddy &amp; Challaram, arXiv:2606.01435 (2026).</a:t>
            </a:r>
          </a:p>
        </p:txBody>
      </p:sp>
    </p:spTree>
    <p:extLst>
      <p:ext uri="{BB962C8B-B14F-4D97-AF65-F5344CB8AC3E}">
        <p14:creationId xmlns:p14="http://schemas.microsoft.com/office/powerpoint/2010/main" val="6817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ĐÁNH GIÁ · ĐỊNH NGHĨA THANG ĐO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thang đo: công thức và cách đọc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LLM-as-a-Judge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số câu đúng / tổng số câu. LLM-as-a-Judge: dùng một LLM khác chấm đúng/sai so với đáp án tham chiếu (Zheng et al., NeurIPS 2023).</a:t>
            </a:r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TP/(TP+FP); R = TP/(TP+FN); F1 = 2·P·R/(P+R). Dùng khi so khớp các fact truy xuất được với tập fact đúng.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p50 / p95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vị độ trễ: p95 = mốc thời gian mà 95% truy vấn nhanh hơn. Đo tách riêng pha tìm kiếm và tổng đầu–cuối (end-to-end).</a:t>
            </a:r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token &amp; kích thước kho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Token/truy vấn = tổng token nạp vào prompt; |M| = số bản ghi ký ức. So sánh chỉ hợp lệ khi cùng LLM – cùng k – cùng ngân sách token.</a:t>
            </a:r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182D8D68-946E-43D1-9DFB-0F0EA70A8200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thang đo theo: Zheng et al., LLM-as-a-Judge (NeurIPS 2023, arXiv:2306.05685) · LongMemEval (ICLR 2025) · Mem0 (ECAI 2025) cho cách đo p50/p95 và token.</a:t>
            </a:r>
          </a:p>
        </p:txBody>
      </p:sp>
    </p:spTree>
    <p:extLst>
      <p:ext uri="{BB962C8B-B14F-4D97-AF65-F5344CB8AC3E}">
        <p14:creationId xmlns:p14="http://schemas.microsoft.com/office/powerpoint/2010/main" val="323709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DEE15-6BC6-4EB5-A4B2-3D71F572DFDB}"/>
              </a:ext>
            </a:extLst>
          </p:cNvPr>
          <p:cNvSpPr txBox="1"/>
          <p:nvPr/>
        </p:nvSpPr>
        <p:spPr>
          <a:xfrm>
            <a:off x="571500" y="508000"/>
            <a:ext cx="660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PHƯƠNG PHÁP ĐÁNH GIÁ · SỐ LIỆU</a:t>
            </a:r>
            <a:endParaRPr lang="en-US" sz="12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9EF5-CAB0-42A4-B15D-C8BFF09B446A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Ba con số dựng nên mạch lập luận của đề tài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5EB906-D4FE-4F6B-A6DF-D79204282E70}"/>
              </a:ext>
            </a:extLst>
          </p:cNvPr>
          <p:cNvSpPr/>
          <p:nvPr/>
        </p:nvSpPr>
        <p:spPr>
          <a:xfrm>
            <a:off x="5715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49D9-D29C-4C27-9194-150702BFB82E}"/>
              </a:ext>
            </a:extLst>
          </p:cNvPr>
          <p:cNvSpPr txBox="1"/>
          <p:nvPr/>
        </p:nvSpPr>
        <p:spPr>
          <a:xfrm>
            <a:off x="8255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400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~7%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C7817-A3D9-4543-8737-4DD4A1FF7EBB}"/>
              </a:ext>
            </a:extLst>
          </p:cNvPr>
          <p:cNvSpPr txBox="1"/>
          <p:nvPr/>
        </p:nvSpPr>
        <p:spPr>
          <a:xfrm>
            <a:off x="825500" y="25400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điểm của Zep/Graphiti khi phải chọn fact mới nhất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72A50-6401-4247-A642-4C222A829DE5}"/>
              </a:ext>
            </a:extLst>
          </p:cNvPr>
          <p:cNvSpPr txBox="1"/>
          <p:nvPr/>
        </p:nvSpPr>
        <p:spPr>
          <a:xfrm>
            <a:off x="825500" y="2971800"/>
            <a:ext cx="29718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Trên FactConsolidation (MemoryAgentBench, ICLR 2026): Zep/Graphiti ~7%, HippoRAG-v2 ~54%, GPT-4o full-context ~60%.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30318A-1AAE-4DDC-AB6B-C25EDECF233B}"/>
              </a:ext>
            </a:extLst>
          </p:cNvPr>
          <p:cNvSpPr/>
          <p:nvPr/>
        </p:nvSpPr>
        <p:spPr>
          <a:xfrm>
            <a:off x="8255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vi-VN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Cập nhật bộ nhớ là khoảng trống thật sự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85806A-A2BC-4F0B-A604-ABEC5556DD65}"/>
              </a:ext>
            </a:extLst>
          </p:cNvPr>
          <p:cNvSpPr/>
          <p:nvPr/>
        </p:nvSpPr>
        <p:spPr>
          <a:xfrm>
            <a:off x="43053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D18D8-D1B7-4A06-8F9E-22E33603AFFD}"/>
              </a:ext>
            </a:extLst>
          </p:cNvPr>
          <p:cNvSpPr txBox="1"/>
          <p:nvPr/>
        </p:nvSpPr>
        <p:spPr>
          <a:xfrm>
            <a:off x="45593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3A36A0"/>
                </a:solidFill>
                <a:latin typeface="Cambria"/>
                <a:ea typeface="Cambria"/>
              </a:rPr>
              <a:t>30–60%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EA83B-16A0-4126-A89B-8AE972F2A7C8}"/>
              </a:ext>
            </a:extLst>
          </p:cNvPr>
          <p:cNvSpPr txBox="1"/>
          <p:nvPr/>
        </p:nvSpPr>
        <p:spPr>
          <a:xfrm>
            <a:off x="4559300" y="2590800"/>
            <a:ext cx="297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hiệu năng giảm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423C3-9BA3-4171-977F-FA1672C71CA5}"/>
              </a:ext>
            </a:extLst>
          </p:cNvPr>
          <p:cNvSpPr txBox="1"/>
          <p:nvPr/>
        </p:nvSpPr>
        <p:spPr>
          <a:xfrm>
            <a:off x="4559300" y="2946400"/>
            <a:ext cx="29718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Trong LongMemEval, LLM ngữ cảnh dài giảm 30–60% khi đọc toàn bộ lịch sử — mà mới chỉ ~50 phiên.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EDCFF5-B634-463A-9167-C662CB496F77}"/>
              </a:ext>
            </a:extLst>
          </p:cNvPr>
          <p:cNvSpPr/>
          <p:nvPr/>
        </p:nvSpPr>
        <p:spPr>
          <a:xfrm>
            <a:off x="45593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Nhồi hết vào context không phải lời giải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123B40-A1A6-4450-BFAA-0FEB58DB2B4F}"/>
              </a:ext>
            </a:extLst>
          </p:cNvPr>
          <p:cNvSpPr/>
          <p:nvPr/>
        </p:nvSpPr>
        <p:spPr>
          <a:xfrm>
            <a:off x="80391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609B0-D3EE-4AF2-B9B8-F8EC56460FBD}"/>
              </a:ext>
            </a:extLst>
          </p:cNvPr>
          <p:cNvSpPr txBox="1"/>
          <p:nvPr/>
        </p:nvSpPr>
        <p:spPr>
          <a:xfrm>
            <a:off x="82931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3A36A0"/>
                </a:solidFill>
                <a:latin typeface="Cambria"/>
                <a:ea typeface="Cambria"/>
              </a:rPr>
              <a:t>−91%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FB4936-808A-47B0-BF09-0198C267E199}"/>
              </a:ext>
            </a:extLst>
          </p:cNvPr>
          <p:cNvSpPr txBox="1"/>
          <p:nvPr/>
        </p:nvSpPr>
        <p:spPr>
          <a:xfrm>
            <a:off x="8293100" y="2590800"/>
            <a:ext cx="297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độ trễ p95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E00AF2-24C1-47C4-9C3C-5086ACCD224A}"/>
              </a:ext>
            </a:extLst>
          </p:cNvPr>
          <p:cNvSpPr txBox="1"/>
          <p:nvPr/>
        </p:nvSpPr>
        <p:spPr>
          <a:xfrm>
            <a:off x="8293100" y="2946400"/>
            <a:ext cx="29718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Mem0 giảm 91% p95 và hơn 90% chi phí token so với full-context (~1,7k vs ~26k token).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4D9F38-E698-4C4A-B447-E877DEEA3C03}"/>
              </a:ext>
            </a:extLst>
          </p:cNvPr>
          <p:cNvSpPr/>
          <p:nvPr/>
        </p:nvSpPr>
        <p:spPr>
          <a:xfrm>
            <a:off x="82931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vi-VN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Bộ nhớ chọn lọc là hướng đúng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16BB1D-FB68-4CEB-BF5E-4D09BF3DEEA2}"/>
              </a:ext>
            </a:extLst>
          </p:cNvPr>
          <p:cNvSpPr/>
          <p:nvPr/>
        </p:nvSpPr>
        <p:spPr>
          <a:xfrm>
            <a:off x="571500" y="4648200"/>
            <a:ext cx="11049000" cy="1676400"/>
          </a:xfrm>
          <a:prstGeom prst="roundRect">
            <a:avLst/>
          </a:prstGeom>
          <a:solidFill>
            <a:srgbClr val="FFF6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398D62-D6D6-48A4-B3E7-8DF1CD5F315E}"/>
              </a:ext>
            </a:extLst>
          </p:cNvPr>
          <p:cNvSpPr txBox="1"/>
          <p:nvPr/>
        </p:nvSpPr>
        <p:spPr>
          <a:xfrm>
            <a:off x="876300" y="4876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4670A"/>
                </a:solidFill>
                <a:latin typeface="Calibri"/>
                <a:ea typeface="Calibri"/>
                <a:cs typeface="Calibri"/>
              </a:rPr>
              <a:t>CẢNH BÁO KHI TRÍCH SỐ LIỆU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AE7B5-5BD9-4D6F-8ED1-276041BF1A73}"/>
              </a:ext>
            </a:extLst>
          </p:cNvPr>
          <p:cNvSpPr txBox="1"/>
          <p:nvPr/>
        </p:nvSpPr>
        <p:spPr>
          <a:xfrm>
            <a:off x="876300" y="5207000"/>
            <a:ext cx="104394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50">
                <a:solidFill>
                  <a:srgbClr val="5A4526"/>
                </a:solidFill>
                <a:latin typeface="Calibri"/>
                <a:ea typeface="Calibri"/>
                <a:cs typeface="Calibri"/>
              </a:rPr>
              <a:t>• Benchmark nhỏ (LoCoMo, LongMemEval) có thể tăng điểm chỉ nhờ truy xuất mạnh tay, context lớn hơn hoặc LLM mạnh hơn — không đồng nghĩa hệ bộ nhớ tốt hơn. Phải cố định điều kiện thí nghiệm khi so cấu hình.</a:t>
            </a:r>
          </a:p>
          <a:p>
            <a:pPr algn="l"/>
            <a:r>
              <a:rPr lang="vi-VN" sz="1250">
                <a:solidFill>
                  <a:srgbClr val="5A4526"/>
                </a:solidFill>
                <a:latin typeface="Calibri"/>
                <a:ea typeface="Calibri"/>
                <a:cs typeface="Calibri"/>
              </a:rPr>
              <a:t>• Khảo sát Anatomy of Agentic Memory (arXiv:2602.19320, 02/2026) chỉ ra 4 lỗi hệ thống của mảng đánh giá này: benchmark bị bão hòa, thang đo lệch khỏi giá trị thực, kết quả nhạy với bộ chấm LLM, và phương sai lớn theo LLM nền. → Mọi số liệu tự công bố đều phải ghi rõ “theo công bố của tác giả”.</a:t>
            </a:r>
          </a:p>
        </p:txBody>
      </p:sp>
      <p:sp>
        <p:nvSpPr>
          <p:cNvPr id="22" name="Citation">
            <a:extLst>
              <a:ext uri="{FF2B5EF4-FFF2-40B4-BE49-F238E27FC236}">
                <a16:creationId xmlns:a16="http://schemas.microsoft.com/office/drawing/2014/main" id="{82EF8FAA-5DB4-47AD-9CAA-2693137A8B02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Số liệu: MemoryAgentBench / FactConsolidation (ICLR 2026, arXiv:2507.05257) và Reddy &amp; Challaram, arXiv:2606.01435 (05/2026) · Mem0 (ECAI 2025, arXiv:2504.19413 – tác giả tự công bố) · LongMemEval (ICLR 2025) · Anatomy of Agentic Memory (arXiv:2602.19320, 2026).</a:t>
            </a:r>
          </a:p>
        </p:txBody>
      </p:sp>
    </p:spTree>
    <p:extLst>
      <p:ext uri="{BB962C8B-B14F-4D97-AF65-F5344CB8AC3E}">
        <p14:creationId xmlns:p14="http://schemas.microsoft.com/office/powerpoint/2010/main" val="320088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F43A9552-97B0-4875-D1FB-E03DCE753BFB}"/>
              </a:ext>
            </a:extLst>
          </p:cNvPr>
          <p:cNvSpPr txBox="1"/>
          <p:nvPr/>
        </p:nvSpPr>
        <p:spPr>
          <a:xfrm>
            <a:off x="566928" y="502920"/>
            <a:ext cx="6345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THỰC HIỆN</a:t>
            </a:r>
            <a:endParaRPr lang="en-US" sz="12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0B104923-5E8F-B18F-6995-FE1B22C31A33}"/>
              </a:ext>
            </a:extLst>
          </p:cNvPr>
          <p:cNvSpPr txBox="1"/>
          <p:nvPr/>
        </p:nvSpPr>
        <p:spPr>
          <a:xfrm>
            <a:off x="566928" y="822960"/>
            <a:ext cx="11045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</a:t>
            </a:r>
            <a:r>
              <a:rPr lang="en-US" sz="3000" b="1" dirty="0" err="1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</a:t>
            </a: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7 </a:t>
            </a:r>
            <a:r>
              <a:rPr lang="en-US" sz="3000" b="1" dirty="0" err="1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</a:t>
            </a:r>
            <a:endParaRPr lang="en-US" sz="30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0F2CA633-77DA-219A-DD15-46D22E752EBA}"/>
              </a:ext>
            </a:extLst>
          </p:cNvPr>
          <p:cNvSpPr/>
          <p:nvPr/>
        </p:nvSpPr>
        <p:spPr>
          <a:xfrm>
            <a:off x="566928" y="1783080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3CB8E1B6-031E-3BCA-5798-D1DEC8DFEAE2}"/>
              </a:ext>
            </a:extLst>
          </p:cNvPr>
          <p:cNvSpPr/>
          <p:nvPr/>
        </p:nvSpPr>
        <p:spPr>
          <a:xfrm>
            <a:off x="749808" y="196596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82EEBF93-1F6B-CD75-5BF7-F5D4E586D63F}"/>
              </a:ext>
            </a:extLst>
          </p:cNvPr>
          <p:cNvSpPr txBox="1"/>
          <p:nvPr/>
        </p:nvSpPr>
        <p:spPr>
          <a:xfrm>
            <a:off x="749808" y="19659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14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5CC48880-4416-A0FB-28BA-1F1386FC26C4}"/>
              </a:ext>
            </a:extLst>
          </p:cNvPr>
          <p:cNvSpPr txBox="1"/>
          <p:nvPr/>
        </p:nvSpPr>
        <p:spPr>
          <a:xfrm>
            <a:off x="1865376" y="19019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nền tảng &amp; khảo sát liên quan; đặt vấn đề, phạm vi.</a:t>
            </a:r>
            <a:endParaRPr lang="en-US" sz="118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F22DCBA2-B893-4CCD-473C-EB54663DE811}"/>
              </a:ext>
            </a:extLst>
          </p:cNvPr>
          <p:cNvSpPr/>
          <p:nvPr/>
        </p:nvSpPr>
        <p:spPr>
          <a:xfrm>
            <a:off x="587114" y="3835908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13123A"/>
          </a:solidFill>
          <a:ln w="12700">
            <a:solidFill>
              <a:srgbClr val="13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4CE6AD18-68BA-07F7-3CF2-23598F98BE48}"/>
              </a:ext>
            </a:extLst>
          </p:cNvPr>
          <p:cNvSpPr/>
          <p:nvPr/>
        </p:nvSpPr>
        <p:spPr>
          <a:xfrm>
            <a:off x="769994" y="401878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9970B"/>
          </a:solidFill>
          <a:ln w="12700">
            <a:solidFill>
              <a:srgbClr val="E997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58E11447-D3AC-B0C9-6768-5349C565B9B7}"/>
              </a:ext>
            </a:extLst>
          </p:cNvPr>
          <p:cNvSpPr txBox="1"/>
          <p:nvPr/>
        </p:nvSpPr>
        <p:spPr>
          <a:xfrm>
            <a:off x="769994" y="40187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4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CA154B1-4D42-5FC5-A46B-BCF854993914}"/>
              </a:ext>
            </a:extLst>
          </p:cNvPr>
          <p:cNvSpPr txBox="1"/>
          <p:nvPr/>
        </p:nvSpPr>
        <p:spPr>
          <a:xfrm>
            <a:off x="1885562" y="39547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SQLite, schema, pipeline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18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</a:t>
            </a:r>
            <a:endParaRPr lang="en-US" sz="118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3A859D15-1956-E7AB-6917-5E9EE745608E}"/>
              </a:ext>
            </a:extLst>
          </p:cNvPr>
          <p:cNvSpPr txBox="1"/>
          <p:nvPr/>
        </p:nvSpPr>
        <p:spPr>
          <a:xfrm>
            <a:off x="4747634" y="41650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đang ở đây</a:t>
            </a:r>
            <a:endParaRPr lang="en-US" sz="950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960D3812-8B56-3265-D569-14827143257B}"/>
              </a:ext>
            </a:extLst>
          </p:cNvPr>
          <p:cNvSpPr/>
          <p:nvPr/>
        </p:nvSpPr>
        <p:spPr>
          <a:xfrm>
            <a:off x="566928" y="2839816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773A72CC-5230-28A0-EF77-E7BEAE5EAFFE}"/>
              </a:ext>
            </a:extLst>
          </p:cNvPr>
          <p:cNvSpPr/>
          <p:nvPr/>
        </p:nvSpPr>
        <p:spPr>
          <a:xfrm>
            <a:off x="749808" y="3022696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4714818F-BF67-B4B9-233B-6CA7C5AF5F66}"/>
              </a:ext>
            </a:extLst>
          </p:cNvPr>
          <p:cNvSpPr txBox="1"/>
          <p:nvPr/>
        </p:nvSpPr>
        <p:spPr>
          <a:xfrm>
            <a:off x="749808" y="302269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400" dirty="0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7B5A61A4-A8CD-6950-CB36-BA0CFDE84B2A}"/>
              </a:ext>
            </a:extLst>
          </p:cNvPr>
          <p:cNvSpPr txBox="1"/>
          <p:nvPr/>
        </p:nvSpPr>
        <p:spPr>
          <a:xfrm>
            <a:off x="1865376" y="29586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Rà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benchmark;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khung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lực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chốt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8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18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12E0F201-AEA6-548C-C3B6-0850FB02623A}"/>
              </a:ext>
            </a:extLst>
          </p:cNvPr>
          <p:cNvSpPr/>
          <p:nvPr/>
        </p:nvSpPr>
        <p:spPr>
          <a:xfrm>
            <a:off x="566928" y="4855464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7952E798-6E38-A82C-3255-0A45FE9BB15F}"/>
              </a:ext>
            </a:extLst>
          </p:cNvPr>
          <p:cNvSpPr/>
          <p:nvPr/>
        </p:nvSpPr>
        <p:spPr>
          <a:xfrm>
            <a:off x="749808" y="5038344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603F888F-0432-D3CE-88AD-79EDCBFD9ECA}"/>
              </a:ext>
            </a:extLst>
          </p:cNvPr>
          <p:cNvSpPr txBox="1"/>
          <p:nvPr/>
        </p:nvSpPr>
        <p:spPr>
          <a:xfrm>
            <a:off x="749808" y="503834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</a:t>
            </a:r>
            <a:endParaRPr lang="en-US" sz="14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BF176796-6DF4-50EE-0975-B09FDB1B641D}"/>
              </a:ext>
            </a:extLst>
          </p:cNvPr>
          <p:cNvSpPr txBox="1"/>
          <p:nvPr/>
        </p:nvSpPr>
        <p:spPr>
          <a:xfrm>
            <a:off x="1865376" y="497433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 dirty="0"/>
              <a:t>Implement vector </a:t>
            </a:r>
            <a:r>
              <a:rPr lang="en-US" sz="1180" dirty="0" err="1"/>
              <a:t>db</a:t>
            </a:r>
            <a:r>
              <a:rPr lang="en-US" sz="1180" dirty="0"/>
              <a:t> </a:t>
            </a:r>
            <a:r>
              <a:rPr lang="en-US" sz="1180" dirty="0" err="1"/>
              <a:t>và</a:t>
            </a:r>
            <a:r>
              <a:rPr lang="en-US" sz="1180" dirty="0"/>
              <a:t> </a:t>
            </a:r>
            <a:r>
              <a:rPr lang="en-US" sz="1180" dirty="0" err="1"/>
              <a:t>các</a:t>
            </a:r>
            <a:r>
              <a:rPr lang="en-US" sz="1180" dirty="0"/>
              <a:t> tools </a:t>
            </a:r>
            <a:r>
              <a:rPr lang="en-US" sz="1180" dirty="0" err="1"/>
              <a:t>cho</a:t>
            </a:r>
            <a:r>
              <a:rPr lang="en-US" sz="1180" dirty="0"/>
              <a:t> agent, </a:t>
            </a:r>
            <a:r>
              <a:rPr lang="en-US" sz="1180" dirty="0" err="1"/>
              <a:t>chạy</a:t>
            </a:r>
            <a:r>
              <a:rPr lang="en-US" sz="1180" dirty="0"/>
              <a:t> </a:t>
            </a:r>
            <a:r>
              <a:rPr lang="en-US" sz="1180" dirty="0" err="1"/>
              <a:t>thử</a:t>
            </a:r>
            <a:r>
              <a:rPr lang="en-US" sz="1180" dirty="0"/>
              <a:t> </a:t>
            </a:r>
            <a:r>
              <a:rPr lang="en-US" sz="1180" dirty="0" err="1"/>
              <a:t>nghiệm</a:t>
            </a:r>
            <a:r>
              <a:rPr lang="en-US" sz="1180" dirty="0"/>
              <a:t> </a:t>
            </a:r>
            <a:r>
              <a:rPr lang="en-US" sz="1180" dirty="0" err="1"/>
              <a:t>các</a:t>
            </a:r>
            <a:r>
              <a:rPr lang="en-US" sz="1180" dirty="0"/>
              <a:t> paper </a:t>
            </a:r>
            <a:r>
              <a:rPr lang="en-US" sz="1180" dirty="0" err="1"/>
              <a:t>và</a:t>
            </a:r>
            <a:r>
              <a:rPr lang="en-US" sz="1180" dirty="0"/>
              <a:t> baseline </a:t>
            </a:r>
            <a:r>
              <a:rPr lang="en-US" sz="1180" dirty="0" err="1"/>
              <a:t>có</a:t>
            </a:r>
            <a:r>
              <a:rPr lang="en-US" sz="1180" dirty="0"/>
              <a:t> </a:t>
            </a:r>
            <a:r>
              <a:rPr lang="en-US" sz="1180" dirty="0" err="1"/>
              <a:t>sẵn</a:t>
            </a:r>
            <a:r>
              <a:rPr lang="en-US" sz="1180" dirty="0"/>
              <a:t>.</a:t>
            </a:r>
          </a:p>
        </p:txBody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BC499C32-0832-0271-E145-23D1014D7617}"/>
              </a:ext>
            </a:extLst>
          </p:cNvPr>
          <p:cNvSpPr/>
          <p:nvPr/>
        </p:nvSpPr>
        <p:spPr>
          <a:xfrm>
            <a:off x="6281928" y="1783080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20">
            <a:extLst>
              <a:ext uri="{FF2B5EF4-FFF2-40B4-BE49-F238E27FC236}">
                <a16:creationId xmlns:a16="http://schemas.microsoft.com/office/drawing/2014/main" id="{161310D6-94AC-FB58-27CD-4935AD429877}"/>
              </a:ext>
            </a:extLst>
          </p:cNvPr>
          <p:cNvSpPr/>
          <p:nvPr/>
        </p:nvSpPr>
        <p:spPr>
          <a:xfrm>
            <a:off x="6464808" y="196596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2747C79F-20E3-4767-D49F-BA5A8A9A5A6D}"/>
              </a:ext>
            </a:extLst>
          </p:cNvPr>
          <p:cNvSpPr txBox="1"/>
          <p:nvPr/>
        </p:nvSpPr>
        <p:spPr>
          <a:xfrm>
            <a:off x="6464808" y="19659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</a:t>
            </a:r>
            <a:endParaRPr lang="en-US" sz="14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CE39BA7-1325-1CC3-AE17-EDC7BAFBD810}"/>
              </a:ext>
            </a:extLst>
          </p:cNvPr>
          <p:cNvSpPr txBox="1"/>
          <p:nvPr/>
        </p:nvSpPr>
        <p:spPr>
          <a:xfrm>
            <a:off x="7580376" y="19019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 dirty="0"/>
              <a:t>Hoàn </a:t>
            </a:r>
            <a:r>
              <a:rPr lang="en-US" sz="1180" dirty="0" err="1"/>
              <a:t>thiện</a:t>
            </a:r>
            <a:r>
              <a:rPr lang="en-US" sz="1180" dirty="0"/>
              <a:t> </a:t>
            </a:r>
            <a:r>
              <a:rPr lang="en-US" sz="1180" dirty="0" err="1"/>
              <a:t>hệ</a:t>
            </a:r>
            <a:r>
              <a:rPr lang="en-US" sz="1180" dirty="0"/>
              <a:t> </a:t>
            </a:r>
            <a:r>
              <a:rPr lang="en-US" sz="1180" dirty="0" err="1"/>
              <a:t>thống</a:t>
            </a:r>
            <a:r>
              <a:rPr lang="en-US" sz="1180" dirty="0"/>
              <a:t>, </a:t>
            </a:r>
            <a:r>
              <a:rPr lang="en-US" sz="1180" dirty="0" err="1"/>
              <a:t>thử</a:t>
            </a:r>
            <a:r>
              <a:rPr lang="en-US" sz="1180" dirty="0"/>
              <a:t> benchmark </a:t>
            </a:r>
            <a:r>
              <a:rPr lang="en-US" sz="1180" dirty="0" err="1"/>
              <a:t>trên</a:t>
            </a:r>
            <a:r>
              <a:rPr lang="en-US" sz="1180" dirty="0"/>
              <a:t> </a:t>
            </a:r>
            <a:r>
              <a:rPr lang="en-US" sz="1180" dirty="0" err="1"/>
              <a:t>bộ</a:t>
            </a:r>
            <a:r>
              <a:rPr lang="en-US" sz="1180" dirty="0"/>
              <a:t> dev </a:t>
            </a:r>
            <a:r>
              <a:rPr lang="en-US" sz="1180" dirty="0" err="1"/>
              <a:t>để</a:t>
            </a:r>
            <a:r>
              <a:rPr lang="en-US" sz="1180" dirty="0"/>
              <a:t> </a:t>
            </a:r>
            <a:r>
              <a:rPr lang="en-US" sz="1180" dirty="0" err="1"/>
              <a:t>tối</a:t>
            </a:r>
            <a:r>
              <a:rPr lang="en-US" sz="1180" dirty="0"/>
              <a:t> </a:t>
            </a:r>
            <a:r>
              <a:rPr lang="vi-VN" sz="1180" dirty="0"/>
              <a:t>ư</a:t>
            </a:r>
            <a:r>
              <a:rPr lang="en-US" sz="1180" dirty="0"/>
              <a:t>u </a:t>
            </a:r>
            <a:r>
              <a:rPr lang="en-US" sz="1180" dirty="0" err="1"/>
              <a:t>tham</a:t>
            </a:r>
            <a:r>
              <a:rPr lang="en-US" sz="1180" dirty="0"/>
              <a:t> </a:t>
            </a:r>
            <a:r>
              <a:rPr lang="en-US" sz="1180" dirty="0" err="1"/>
              <a:t>số</a:t>
            </a:r>
            <a:r>
              <a:rPr lang="en-US" sz="1180" dirty="0"/>
              <a:t> </a:t>
            </a:r>
            <a:r>
              <a:rPr lang="en-US" sz="1180" dirty="0" err="1"/>
              <a:t>và</a:t>
            </a:r>
            <a:r>
              <a:rPr lang="en-US" sz="1180" dirty="0"/>
              <a:t> </a:t>
            </a:r>
            <a:r>
              <a:rPr lang="en-US" sz="1180" dirty="0" err="1"/>
              <a:t>độ</a:t>
            </a:r>
            <a:r>
              <a:rPr lang="en-US" sz="1180" dirty="0"/>
              <a:t> </a:t>
            </a:r>
            <a:r>
              <a:rPr lang="en-US" sz="1180" dirty="0" err="1"/>
              <a:t>chính</a:t>
            </a:r>
            <a:r>
              <a:rPr lang="en-US" sz="1180" dirty="0"/>
              <a:t> </a:t>
            </a:r>
            <a:r>
              <a:rPr lang="en-US" sz="1180" dirty="0" err="1"/>
              <a:t>xác</a:t>
            </a:r>
            <a:r>
              <a:rPr lang="en-US" sz="1180"/>
              <a:t>.</a:t>
            </a:r>
            <a:endParaRPr lang="en-US" sz="1180" dirty="0"/>
          </a:p>
        </p:txBody>
      </p:sp>
      <p:sp>
        <p:nvSpPr>
          <p:cNvPr id="87" name="Shape 23">
            <a:extLst>
              <a:ext uri="{FF2B5EF4-FFF2-40B4-BE49-F238E27FC236}">
                <a16:creationId xmlns:a16="http://schemas.microsoft.com/office/drawing/2014/main" id="{A530D16D-5B88-31DA-366E-17242DD5C0A0}"/>
              </a:ext>
            </a:extLst>
          </p:cNvPr>
          <p:cNvSpPr/>
          <p:nvPr/>
        </p:nvSpPr>
        <p:spPr>
          <a:xfrm>
            <a:off x="6281928" y="2807208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24">
            <a:extLst>
              <a:ext uri="{FF2B5EF4-FFF2-40B4-BE49-F238E27FC236}">
                <a16:creationId xmlns:a16="http://schemas.microsoft.com/office/drawing/2014/main" id="{612B006E-DF3E-85D8-F95A-AB1D4C1B10F4}"/>
              </a:ext>
            </a:extLst>
          </p:cNvPr>
          <p:cNvSpPr/>
          <p:nvPr/>
        </p:nvSpPr>
        <p:spPr>
          <a:xfrm>
            <a:off x="6464808" y="299008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5">
            <a:extLst>
              <a:ext uri="{FF2B5EF4-FFF2-40B4-BE49-F238E27FC236}">
                <a16:creationId xmlns:a16="http://schemas.microsoft.com/office/drawing/2014/main" id="{6F698577-220F-3185-0370-94F4EC949A32}"/>
              </a:ext>
            </a:extLst>
          </p:cNvPr>
          <p:cNvSpPr txBox="1"/>
          <p:nvPr/>
        </p:nvSpPr>
        <p:spPr>
          <a:xfrm>
            <a:off x="6464808" y="29900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6</a:t>
            </a:r>
            <a:endParaRPr lang="en-US" sz="1400" dirty="0"/>
          </a:p>
        </p:txBody>
      </p:sp>
      <p:sp>
        <p:nvSpPr>
          <p:cNvPr id="93" name="Text 26">
            <a:extLst>
              <a:ext uri="{FF2B5EF4-FFF2-40B4-BE49-F238E27FC236}">
                <a16:creationId xmlns:a16="http://schemas.microsoft.com/office/drawing/2014/main" id="{8DFB2BEB-4681-5A72-C04C-5790CA56C7D6}"/>
              </a:ext>
            </a:extLst>
          </p:cNvPr>
          <p:cNvSpPr txBox="1"/>
          <p:nvPr/>
        </p:nvSpPr>
        <p:spPr>
          <a:xfrm>
            <a:off x="7580376" y="2926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 dirty="0"/>
              <a:t>So </a:t>
            </a:r>
            <a:r>
              <a:rPr lang="en-US" sz="1180" dirty="0" err="1"/>
              <a:t>sánh</a:t>
            </a:r>
            <a:r>
              <a:rPr lang="en-US" sz="1180" dirty="0"/>
              <a:t> </a:t>
            </a:r>
            <a:r>
              <a:rPr lang="en-US" sz="1180" dirty="0" err="1"/>
              <a:t>kết</a:t>
            </a:r>
            <a:r>
              <a:rPr lang="en-US" sz="1180" dirty="0"/>
              <a:t> </a:t>
            </a:r>
            <a:r>
              <a:rPr lang="en-US" sz="1180" dirty="0" err="1"/>
              <a:t>quả</a:t>
            </a:r>
            <a:r>
              <a:rPr lang="en-US" sz="1180" dirty="0"/>
              <a:t> </a:t>
            </a:r>
            <a:r>
              <a:rPr lang="en-US" sz="1180" dirty="0" err="1"/>
              <a:t>giữa</a:t>
            </a:r>
            <a:r>
              <a:rPr lang="en-US" sz="1180" dirty="0"/>
              <a:t> </a:t>
            </a:r>
            <a:r>
              <a:rPr lang="en-US" sz="1180" dirty="0" err="1"/>
              <a:t>hệ</a:t>
            </a:r>
            <a:r>
              <a:rPr lang="en-US" sz="1180" dirty="0"/>
              <a:t> </a:t>
            </a:r>
            <a:r>
              <a:rPr lang="en-US" sz="1180" dirty="0" err="1"/>
              <a:t>thống</a:t>
            </a:r>
            <a:r>
              <a:rPr lang="en-US" sz="1180" dirty="0"/>
              <a:t> </a:t>
            </a:r>
            <a:r>
              <a:rPr lang="en-US" sz="1180" dirty="0" err="1"/>
              <a:t>thiết</a:t>
            </a:r>
            <a:r>
              <a:rPr lang="en-US" sz="1180" dirty="0"/>
              <a:t> </a:t>
            </a:r>
            <a:r>
              <a:rPr lang="en-US" sz="1180" dirty="0" err="1"/>
              <a:t>kế</a:t>
            </a:r>
            <a:r>
              <a:rPr lang="en-US" sz="1180" dirty="0"/>
              <a:t> </a:t>
            </a:r>
            <a:r>
              <a:rPr lang="en-US" sz="1180" dirty="0" err="1"/>
              <a:t>và</a:t>
            </a:r>
            <a:r>
              <a:rPr lang="en-US" sz="1180" dirty="0"/>
              <a:t> </a:t>
            </a:r>
            <a:r>
              <a:rPr lang="en-US" sz="1180" dirty="0" err="1"/>
              <a:t>các</a:t>
            </a:r>
            <a:r>
              <a:rPr lang="en-US" sz="1180" dirty="0"/>
              <a:t> paper </a:t>
            </a:r>
            <a:r>
              <a:rPr lang="en-US" sz="1180" dirty="0" err="1"/>
              <a:t>gốc</a:t>
            </a:r>
            <a:r>
              <a:rPr lang="en-US" sz="1180" dirty="0"/>
              <a:t> </a:t>
            </a:r>
            <a:r>
              <a:rPr lang="en-US" sz="1180" dirty="0" err="1"/>
              <a:t>cũng</a:t>
            </a:r>
            <a:r>
              <a:rPr lang="en-US" sz="1180" dirty="0"/>
              <a:t> </a:t>
            </a:r>
            <a:r>
              <a:rPr lang="en-US" sz="1180" dirty="0" err="1"/>
              <a:t>nh</a:t>
            </a:r>
            <a:r>
              <a:rPr lang="vi-VN" sz="1180" dirty="0"/>
              <a:t>ư</a:t>
            </a:r>
            <a:r>
              <a:rPr lang="en-US" sz="1180" dirty="0"/>
              <a:t> baseline </a:t>
            </a:r>
            <a:r>
              <a:rPr lang="en-US" sz="1180" dirty="0" err="1"/>
              <a:t>trên</a:t>
            </a:r>
            <a:r>
              <a:rPr lang="en-US" sz="1180" dirty="0"/>
              <a:t> </a:t>
            </a:r>
            <a:r>
              <a:rPr lang="en-US" sz="1180" dirty="0" err="1"/>
              <a:t>tập</a:t>
            </a:r>
            <a:r>
              <a:rPr lang="en-US" sz="1180" dirty="0"/>
              <a:t> test</a:t>
            </a:r>
          </a:p>
        </p:txBody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1FED39D8-5787-9431-3A85-0C2CEB8A9442}"/>
              </a:ext>
            </a:extLst>
          </p:cNvPr>
          <p:cNvSpPr/>
          <p:nvPr/>
        </p:nvSpPr>
        <p:spPr>
          <a:xfrm>
            <a:off x="6281928" y="3831336"/>
            <a:ext cx="5340096" cy="932688"/>
          </a:xfrm>
          <a:prstGeom prst="roundRect">
            <a:avLst>
              <a:gd name="adj" fmla="val 4902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D814BC4B-45B2-2E05-442F-201B0B6633B7}"/>
              </a:ext>
            </a:extLst>
          </p:cNvPr>
          <p:cNvSpPr/>
          <p:nvPr/>
        </p:nvSpPr>
        <p:spPr>
          <a:xfrm>
            <a:off x="6464808" y="4014216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A36A0"/>
          </a:solidFill>
          <a:ln w="12700">
            <a:solidFill>
              <a:srgbClr val="3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D4AB39F0-EA19-2BEF-58EC-185B782DC8AA}"/>
              </a:ext>
            </a:extLst>
          </p:cNvPr>
          <p:cNvSpPr txBox="1"/>
          <p:nvPr/>
        </p:nvSpPr>
        <p:spPr>
          <a:xfrm>
            <a:off x="6464808" y="40142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7</a:t>
            </a:r>
            <a:endParaRPr lang="en-US" sz="1400" dirty="0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506B65CB-D672-FEFF-C4A9-32DDCDD98A6E}"/>
              </a:ext>
            </a:extLst>
          </p:cNvPr>
          <p:cNvSpPr txBox="1"/>
          <p:nvPr/>
        </p:nvSpPr>
        <p:spPr>
          <a:xfrm>
            <a:off x="7580376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8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báo cáo &amp; tài liệu; đóng gói mã nguồn; chuẩn bị trình bày cuối.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2123949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846320"/>
            <a:ext cx="2743200" cy="274320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· TÀI LIỆU THAM KHẢO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dự kiến &amp; nguồn đọc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60520"/>
          </a:xfrm>
          <a:prstGeom prst="roundRect">
            <a:avLst>
              <a:gd name="adj" fmla="val 1978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1993392"/>
            <a:ext cx="566928" cy="56692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2140793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048256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69748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33756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(Gemini / OpenAI / Claude) hoặc mô hình nguồn mở qua Ollama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97764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FAISS · Qdrant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61772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tham khảo: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· Letta (MemGPT) · Zep · LangMem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525780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(tùy chọn)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77356" y="1783080"/>
            <a:ext cx="5344668" cy="4160520"/>
          </a:xfrm>
          <a:prstGeom prst="roundRect">
            <a:avLst>
              <a:gd name="adj" fmla="val 1978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69964" y="1993392"/>
            <a:ext cx="566928" cy="56692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365" y="2140793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83196" y="2048256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TÀI LIỆU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643116" y="2697480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LongMemEval (ICLR 2025, chính) · MemoryAgentBench / FactConsolidation (ICLR 2026) · BEAM (ICLR 2026) · LoCoMo (ACL 2024, đối chiếu)</a:t>
            </a:r>
          </a:p>
        </p:txBody>
      </p:sp>
      <p:sp>
        <p:nvSpPr>
          <p:cNvPr id="19" name="Text 15"/>
          <p:cNvSpPr txBox="1"/>
          <p:nvPr/>
        </p:nvSpPr>
        <p:spPr>
          <a:xfrm>
            <a:off x="6643116" y="3447288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nền tảng: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(ECAI 2025) · Zep (2025) · A-MEM (2025) · SimpleMem (2026) · Hindsight (2025) — MemGPT (2023) chỉ là mốc lịch sử</a:t>
            </a:r>
          </a:p>
        </p:txBody>
      </p:sp>
      <p:sp>
        <p:nvSpPr>
          <p:cNvPr id="20" name="Text 16"/>
          <p:cNvSpPr txBox="1"/>
          <p:nvPr/>
        </p:nvSpPr>
        <p:spPr>
          <a:xfrm>
            <a:off x="6643116" y="4197096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the Age of AI Agents (arXiv:2512.13564, bản 01/2026) · Zhang et al., ACM TOIS 2025 · Anatomy of Agentic Memory (arXiv:2602.19320, 2026)</a:t>
            </a:r>
          </a:p>
        </p:txBody>
      </p:sp>
      <p:sp>
        <p:nvSpPr>
          <p:cNvPr id="21" name="Text 17"/>
          <p:cNvSpPr txBox="1"/>
          <p:nvPr/>
        </p:nvSpPr>
        <p:spPr>
          <a:xfrm>
            <a:off x="6643116" y="4946904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đo: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· Tính nhất quán · Hiệu năng (độ trễ, chi phí)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61722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3" name="Citation">
            <a:extLst>
              <a:ext uri="{FF2B5EF4-FFF2-40B4-BE49-F238E27FC236}">
                <a16:creationId xmlns:a16="http://schemas.microsoft.com/office/drawing/2014/main" id="{F4A2515B-0AD1-4565-8652-4D40FC2649FB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Bản đầy đủ tra cứu tại arxiv.org / aclanthology.org; ưu tiên bản hội nghị bình duyệt (ACL, ICLR, ECAI, NeurIPS) hơn bản preprint.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127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D5D3E0-BC26-42C6-B918-9FA5E076C8D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4122995-3ffc-4722-b99c-7d85b1fc04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4608</Words>
  <Application>Microsoft Office PowerPoint</Application>
  <PresentationFormat>Custom</PresentationFormat>
  <Paragraphs>293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Phong Đặng Tuấn</cp:lastModifiedBy>
  <cp:revision>5</cp:revision>
  <dcterms:created xsi:type="dcterms:W3CDTF">2026-09-06T14:29:17Z</dcterms:created>
  <dcterms:modified xsi:type="dcterms:W3CDTF">2026-09-28T04:26:39Z</dcterms:modified>
</cp:coreProperties>
</file>