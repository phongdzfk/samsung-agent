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 r:id="rId3"/>
    <p:sldId id="269" r:id="rId5"/>
    <p:sldId id="270" r:id="rId6"/>
    <p:sldId id="271" r:id="rId7"/>
    <p:sldId id="261" r:id="rId8"/>
    <p:sldId id="272" r:id="rId9"/>
    <p:sldId id="273" r:id="rId10"/>
    <p:sldId id="274" r:id="rId11"/>
    <p:sldId id="265" r:id="rId12"/>
    <p:sldId id="275"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82"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07B61-793E-4CB1-B77C-BC525310C40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FE7F9-F3F2-4502-93B4-BA72CF8D592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Buổi này có 3 phần: (1) trả lời phản hồi của mentor về benchmark và tài liệu tham khảo, (2) thiết kế kiến trúc chi tiết, (3) demo khung dự án đã chạy được. Nhấn ngay từ đầu: sau khi rà soát lại, nhóm đã đổi trọng tâm đề tài sang bài toán cập nhật bộ nhớ.</a:t>
            </a:r>
            <a:endParaRPr lang="vi-V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Đây là slide trả lời trực tiếp câu hỏi tuần trước. Nói rõ nhóm đã tra lại từng benchmark chứ không trả lời cảm tính. Chốt: LoCoMo tụt xuống vai trò đối chiếu, LongMemEval-S lên làm chính, FactConsolidation là bài kiểm tra chuyên biệt cho trục cập nhật.</a:t>
            </a:r>
            <a:endParaRPr lang="vi-V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Slide này biện minh cho việc đổi trọng tâm đề tài. Thông điệp: nhóm không đi làm lại RAG bộ nhớ như trăm hệ khác, mà chọn đúng chỗ mà các hệ SOTA còn hỏng. Con số 7% của Zep gây ấn tượng mạnh nhất — nên dừng lại ở đó vài giây.</a:t>
            </a:r>
            <a:endParaRPr lang="vi-V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Đây là câu trả lời cho "đóng góp của đồ án là gì". Nhấn: ý tưởng đơn giản, nhưng đơn giản là ưu điểm — nó khiến hệ thống kiểm chứng được và lặp lại được, hai thứ mà mảng này đang thiếu.</a:t>
            </a:r>
            <a:endParaRPr lang="vi-V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Giải thích vì sao không lưu fact dạng câu tự do như Mem0: khóa slot biến việc phát hiện xung đột thành một phép tra khóa, nhanh và không sai. Nếu mentor hỏi "thế thông tin không có cấu trúc thì sao" — trả lời: loại episodic vẫn lưu dạng câu, slot chỉ áp cho fact semantic.</a:t>
            </a:r>
            <a:endParaRPr lang="vi-V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Chi tiết dễ bị bỏ qua nhất là hai lớp lọc ở pha 3. Nếu chỉ lọc status mà không gom theo slot thì vẫn lọt bản cũ trong trường hợp bản cũ chưa kịp đánh dấu superseded. Nếu mentor hỏi sâu, mở code retriever.py ra chỉ.</a:t>
            </a:r>
            <a:endParaRPr lang="vi-V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Chạy live nếu kịp: LTM_LLM_PROVIDER=mock python scripts/demo_n5_n4.py. Nhấn: bản N5 không mất, vẫn tra được lịch sử. Nếu mentor hỏi "sao không xóa luôn" — vì câu hỏi suy luận thời gian cần nó.</a:t>
            </a:r>
            <a:endParaRPr lang="vi-V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Cấu hình llm-judge-freshness là quan trọng nhất — nếu không có nó thì không chứng minh được cách tất định tốt hơn ở đâu. Nói rõ với mentor đây là thiết kế thí nghiệm có đối chứng, không phải chỉ khoe số.</a:t>
            </a:r>
            <a:endParaRPr lang="vi-V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Chốt buổi: tuần 2 đã đóng được cả phần thiết kế lẫn phần code khung, và quan trọng hơn là đã khoanh được đóng góp cụ thể của đề tài thay vì làm chung chung. Xin ý kiến mentor về 2 điểm: (1) bộ test tiếng Việt 150-200 câu có đủ không, (2) có nên thêm knowledge graph hay giữ phạm vi hiện tại.</a:t>
            </a:r>
            <a:endParaRPr lang="vi-V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07B303A-E976-44C0-B731-8A64F572601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07B303A-E976-44C0-B731-8A64F572601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07B303A-E976-44C0-B731-8A64F572601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07B303A-E976-44C0-B731-8A64F572601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07B303A-E976-44C0-B731-8A64F572601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07B303A-E976-44C0-B731-8A64F572601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7B303A-E976-44C0-B731-8A64F572601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07B303A-E976-44C0-B731-8A64F572601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07B303A-E976-44C0-B731-8A64F572601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07B303A-E976-44C0-B731-8A64F572601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07B303A-E976-44C0-B731-8A64F572601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C5D8A-82AC-449D-8A6C-7225156354F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7B303A-E976-44C0-B731-8A64F572601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C5D8A-82AC-449D-8A6C-7225156354F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13123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123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23A">
            <a:alpha val="100000"/>
          </a:srgbClr>
        </a:solidFill>
        <a:effectLst/>
      </p:bgPr>
    </p:bg>
    <p:spTree>
      <p:nvGrpSpPr>
        <p:cNvPr id="1" name=""/>
        <p:cNvGrpSpPr/>
        <p:nvPr/>
      </p:nvGrpSpPr>
      <p:grpSpPr>
        <a:xfrm>
          <a:off x="0" y="0"/>
          <a:ext cx="0" cy="0"/>
          <a:chOff x="0" y="0"/>
          <a:chExt cx="0" cy="0"/>
        </a:xfrm>
      </p:grpSpPr>
      <p:sp>
        <p:nvSpPr>
          <p:cNvPr id="3" name="Oval 2"/>
          <p:cNvSpPr/>
          <p:nvPr/>
        </p:nvSpPr>
        <p:spPr>
          <a:xfrm>
            <a:off x="11150600" y="5118100"/>
            <a:ext cx="2374900" cy="2374900"/>
          </a:xfrm>
          <a:prstGeom prst="ellipse">
            <a:avLst/>
          </a:prstGeom>
          <a:solidFill>
            <a:srgbClr val="1E1C5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Oval 1"/>
          <p:cNvSpPr/>
          <p:nvPr/>
        </p:nvSpPr>
        <p:spPr>
          <a:xfrm>
            <a:off x="10198100" y="-914400"/>
            <a:ext cx="3111500" cy="3111500"/>
          </a:xfrm>
          <a:prstGeom prst="ellipse">
            <a:avLst/>
          </a:prstGeom>
          <a:solidFill>
            <a:srgbClr val="1E1C5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p:cNvSpPr txBox="1"/>
          <p:nvPr/>
        </p:nvSpPr>
        <p:spPr>
          <a:xfrm>
            <a:off x="571500" y="1968500"/>
            <a:ext cx="9690100" cy="1828800"/>
          </a:xfrm>
          <a:prstGeom prst="rect">
            <a:avLst/>
          </a:prstGeom>
          <a:noFill/>
        </p:spPr>
        <p:txBody>
          <a:bodyPr vertOverflow="overflow" vert="horz" wrap="square" rtlCol="0" anchor="t" anchorCtr="0">
            <a:noAutofit/>
          </a:bodyPr>
          <a:lstStyle/>
          <a:p>
            <a:pPr algn="l"/>
            <a:r>
              <a:rPr lang="en-US" sz="4600" b="1">
                <a:solidFill>
                  <a:srgbClr val="FFFFFF"/>
                </a:solidFill>
                <a:latin typeface="Cambria" panose="02040503050406030204"/>
                <a:ea typeface="Cambria" panose="02040503050406030204"/>
              </a:rPr>
              <a:t>Thiết kế kiến trúc
&amp; Khung dự án</a:t>
            </a:r>
            <a:endParaRPr lang="en-US" sz="4600" b="1">
              <a:solidFill>
                <a:srgbClr val="FFFFFF"/>
              </a:solidFill>
              <a:latin typeface="Cambria" panose="02040503050406030204"/>
              <a:ea typeface="Cambria" panose="02040503050406030204"/>
            </a:endParaRPr>
          </a:p>
        </p:txBody>
      </p:sp>
      <p:sp>
        <p:nvSpPr>
          <p:cNvPr id="6" name="Rectangle 5"/>
          <p:cNvSpPr/>
          <p:nvPr/>
        </p:nvSpPr>
        <p:spPr>
          <a:xfrm>
            <a:off x="571500" y="4889500"/>
            <a:ext cx="3835400" cy="38100"/>
          </a:xfrm>
          <a:prstGeom prst="rect">
            <a:avLst/>
          </a:prstGeom>
          <a:solidFill>
            <a:srgbClr val="1FA6A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p:cNvSpPr txBox="1"/>
          <p:nvPr/>
        </p:nvSpPr>
        <p:spPr>
          <a:xfrm>
            <a:off x="571500" y="3886200"/>
            <a:ext cx="9690100" cy="546100"/>
          </a:xfrm>
          <a:prstGeom prst="rect">
            <a:avLst/>
          </a:prstGeom>
          <a:noFill/>
        </p:spPr>
        <p:txBody>
          <a:bodyPr vertOverflow="overflow" vert="horz" wrap="square" rtlCol="0" anchor="t" anchorCtr="0">
            <a:noAutofit/>
          </a:bodyPr>
          <a:lstStyle/>
          <a:p>
            <a:pPr algn="l"/>
            <a:r>
              <a:rPr lang="vi-VN">
                <a:solidFill>
                  <a:srgbClr val="C7C9E6"/>
                </a:solidFill>
                <a:latin typeface="Calibri" panose="020F0502020204030204"/>
                <a:ea typeface="Calibri" panose="020F0502020204030204"/>
                <a:cs typeface="Calibri" panose="020F0502020204030204"/>
              </a:rPr>
              <a:t>Cơ chế cập nhật bộ nhớ tất định cho LLM Agent</a:t>
            </a:r>
            <a:endParaRPr lang="en-US">
              <a:solidFill>
                <a:srgbClr val="C7C9E6"/>
              </a:solidFill>
              <a:latin typeface="Calibri" panose="020F0502020204030204"/>
              <a:ea typeface="Calibri" panose="020F0502020204030204"/>
              <a:cs typeface="Calibri" panose="020F0502020204030204"/>
            </a:endParaRPr>
          </a:p>
        </p:txBody>
      </p:sp>
      <p:sp>
        <p:nvSpPr>
          <p:cNvPr id="8" name="TextBox 7"/>
          <p:cNvSpPr txBox="1"/>
          <p:nvPr/>
        </p:nvSpPr>
        <p:spPr>
          <a:xfrm>
            <a:off x="571500" y="5080000"/>
            <a:ext cx="10515600" cy="368300"/>
          </a:xfrm>
          <a:prstGeom prst="rect">
            <a:avLst/>
          </a:prstGeom>
          <a:noFill/>
        </p:spPr>
        <p:txBody>
          <a:bodyPr vertOverflow="overflow" vert="horz" wrap="square" rtlCol="0" anchor="t" anchorCtr="0">
            <a:noAutofit/>
          </a:bodyPr>
          <a:lstStyle/>
          <a:p>
            <a:pPr algn="l"/>
            <a:r>
              <a:rPr lang="en-US" sz="1350">
                <a:solidFill>
                  <a:srgbClr val="9FA2C8"/>
                </a:solidFill>
                <a:latin typeface="Calibri" panose="020F0502020204030204"/>
                <a:ea typeface="Calibri" panose="020F0502020204030204"/>
                <a:cs typeface="Calibri" panose="020F0502020204030204"/>
              </a:rPr>
              <a:t>Đồ án nhóm 2 thành viên  ·  Tuần 2/8  ·  Nội dung: Rà soát benchmark · Thiết kế chi tiết · Code khung</a:t>
            </a:r>
            <a:endParaRPr lang="en-US" sz="1350">
              <a:solidFill>
                <a:srgbClr val="9FA2C8"/>
              </a:solidFill>
              <a:latin typeface="Calibri" panose="020F0502020204030204"/>
              <a:ea typeface="Calibri" panose="020F0502020204030204"/>
              <a:cs typeface="Calibri" panose="020F0502020204030204"/>
            </a:endParaRPr>
          </a:p>
        </p:txBody>
      </p:sp>
      <p:sp>
        <p:nvSpPr>
          <p:cNvPr id="9" name="Rectangle 8"/>
          <p:cNvSpPr/>
          <p:nvPr/>
        </p:nvSpPr>
        <p:spPr>
          <a:xfrm>
            <a:off x="571500" y="1422400"/>
            <a:ext cx="1930400" cy="381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p:cNvSpPr txBox="1"/>
          <p:nvPr/>
        </p:nvSpPr>
        <p:spPr>
          <a:xfrm>
            <a:off x="698500" y="1511300"/>
            <a:ext cx="1778000" cy="228600"/>
          </a:xfrm>
          <a:prstGeom prst="rect">
            <a:avLst/>
          </a:prstGeom>
          <a:noFill/>
        </p:spPr>
        <p:txBody>
          <a:bodyPr vertOverflow="overflow" vert="horz" wrap="square" rtlCol="0" anchor="t" anchorCtr="0">
            <a:noAutofit/>
          </a:bodyPr>
          <a:lstStyle/>
          <a:p>
            <a:pPr algn="l"/>
            <a:r>
              <a:rPr lang="en-US" sz="1150" b="1">
                <a:solidFill>
                  <a:srgbClr val="13123A"/>
                </a:solidFill>
                <a:latin typeface="Calibri" panose="020F0502020204030204"/>
                <a:ea typeface="Calibri" panose="020F0502020204030204"/>
                <a:cs typeface="Calibri" panose="020F0502020204030204"/>
              </a:rPr>
              <a:t>BÁO CÁO TUẦN 2</a:t>
            </a:r>
            <a:endParaRPr lang="en-US" sz="1150" b="1">
              <a:solidFill>
                <a:srgbClr val="13123A"/>
              </a:solidFill>
              <a:latin typeface="Calibri" panose="020F0502020204030204"/>
              <a:ea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PHẢN HỒI TUẦN 1</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Benchmark nào thật sự đo việc cập nhật kiến thức?</a:t>
            </a:r>
            <a:endParaRPr lang="en-US" sz="3000" b="1">
              <a:solidFill>
                <a:srgbClr val="13123A"/>
              </a:solidFill>
              <a:latin typeface="Cambria" panose="02040503050406030204"/>
              <a:ea typeface="Cambria" panose="02040503050406030204"/>
            </a:endParaRPr>
          </a:p>
        </p:txBody>
      </p:sp>
      <p:graphicFrame>
        <p:nvGraphicFramePr>
          <p:cNvPr id="5" name="Table 4"/>
          <p:cNvGraphicFramePr>
            <a:graphicFrameLocks noGrp="1"/>
          </p:cNvGraphicFramePr>
          <p:nvPr/>
        </p:nvGraphicFramePr>
        <p:xfrm>
          <a:off x="571500" y="1727200"/>
          <a:ext cx="11049076" cy="2616200"/>
        </p:xfrm>
        <a:graphic>
          <a:graphicData uri="http://schemas.openxmlformats.org/drawingml/2006/table">
            <a:tbl>
              <a:tblPr firstRow="1" bandRow="1">
                <a:tableStyleId>{5C22544A-7EE6-4342-B048-85BDC9FD1C3A}</a:tableStyleId>
              </a:tblPr>
              <a:tblGrid>
                <a:gridCol w="2263063"/>
                <a:gridCol w="1730578"/>
                <a:gridCol w="1863699"/>
                <a:gridCol w="5191736"/>
              </a:tblGrid>
              <a:tr h="381000">
                <a:tc>
                  <a:txBody>
                    <a:bodyPr/>
                    <a:lstStyle/>
                    <a:p>
                      <a:pPr algn="l"/>
                      <a:r>
                        <a:rPr lang="en-US" sz="1200" b="1">
                          <a:solidFill>
                            <a:srgbClr val="FFFFFF"/>
                          </a:solidFill>
                          <a:latin typeface="Calibri" panose="020F0502020204030204"/>
                          <a:ea typeface="Calibri" panose="020F0502020204030204"/>
                          <a:cs typeface="Calibri" panose="020F0502020204030204"/>
                        </a:rPr>
                        <a:t>BENCHMARK</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NĂM / HỘI NGHỊ</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ĐO CẬP NHẬT?</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CÁCH ĐO</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r>
              <a:tr h="558800">
                <a:tc>
                  <a:txBody>
                    <a:bodyPr/>
                    <a:lstStyle/>
                    <a:p>
                      <a:pPr algn="l"/>
                      <a:r>
                        <a:rPr lang="en-US" sz="1300" b="1">
                          <a:solidFill>
                            <a:srgbClr val="13123A"/>
                          </a:solidFill>
                          <a:latin typeface="Calibri" panose="020F0502020204030204"/>
                          <a:ea typeface="Calibri" panose="020F0502020204030204"/>
                          <a:cs typeface="Calibri" panose="020F0502020204030204"/>
                        </a:rPr>
                        <a:t>LoCoMo</a:t>
                      </a:r>
                      <a:endParaRPr lang="en-US" sz="1300" b="1">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ACL 2024</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6A6E85"/>
                          </a:solidFill>
                          <a:latin typeface="Calibri" panose="020F0502020204030204"/>
                          <a:ea typeface="Calibri" panose="020F0502020204030204"/>
                          <a:cs typeface="Calibri" panose="020F0502020204030204"/>
                        </a:rPr>
                        <a:t>Không</a:t>
                      </a:r>
                      <a:endParaRPr lang="en-US" sz="1300">
                        <a:solidFill>
                          <a:srgbClr val="6A6E85"/>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5 loại câu hỏi, không loại nào chấm việc ghi đè thông tin cũ</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r h="558800">
                <a:tc>
                  <a:txBody>
                    <a:bodyPr/>
                    <a:lstStyle/>
                    <a:p>
                      <a:pPr algn="l"/>
                      <a:r>
                        <a:rPr lang="en-US" sz="1300" b="1">
                          <a:solidFill>
                            <a:srgbClr val="13123A"/>
                          </a:solidFill>
                          <a:latin typeface="Calibri" panose="020F0502020204030204"/>
                          <a:ea typeface="Calibri" panose="020F0502020204030204"/>
                          <a:cs typeface="Calibri" panose="020F0502020204030204"/>
                        </a:rPr>
                        <a:t>LongMemEval</a:t>
                      </a:r>
                      <a:endParaRPr lang="en-US" sz="1300" b="1">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ICLR 2025</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FA6A6"/>
                          </a:solidFill>
                          <a:latin typeface="Calibri" panose="020F0502020204030204"/>
                          <a:ea typeface="Calibri" panose="020F0502020204030204"/>
                          <a:cs typeface="Calibri" panose="020F0502020204030204"/>
                        </a:rPr>
                        <a:t>Có</a:t>
                      </a:r>
                      <a:endParaRPr lang="en-US" sz="1300">
                        <a:solidFill>
                          <a:srgbClr val="1FA6A6"/>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knowledge-update là 1 trong 5 năng lực cốt lõi</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r>
              <a:tr h="558800">
                <a:tc>
                  <a:txBody>
                    <a:bodyPr/>
                    <a:lstStyle/>
                    <a:p>
                      <a:pPr algn="l"/>
                      <a:r>
                        <a:rPr lang="en-US" sz="1300" b="1">
                          <a:solidFill>
                            <a:srgbClr val="13123A"/>
                          </a:solidFill>
                          <a:latin typeface="Calibri" panose="020F0502020204030204"/>
                          <a:ea typeface="Calibri" panose="020F0502020204030204"/>
                          <a:cs typeface="Calibri" panose="020F0502020204030204"/>
                        </a:rPr>
                        <a:t>MemoryAgentBench</a:t>
                      </a:r>
                      <a:endParaRPr lang="en-US" sz="1300" b="1">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ICLR 2026</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FA6A6"/>
                          </a:solidFill>
                          <a:latin typeface="Calibri" panose="020F0502020204030204"/>
                          <a:ea typeface="Calibri" panose="020F0502020204030204"/>
                          <a:cs typeface="Calibri" panose="020F0502020204030204"/>
                        </a:rPr>
                        <a:t>Có (chuyên biệt)</a:t>
                      </a:r>
                      <a:endParaRPr lang="en-US" sz="1300">
                        <a:solidFill>
                          <a:srgbClr val="1FA6A6"/>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Conflict Resolution — bộ FactConsolidation: 1 fact nhiều phiên bản đánh số, phải trả bản mới nhất</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r h="558800">
                <a:tc>
                  <a:txBody>
                    <a:bodyPr/>
                    <a:lstStyle/>
                    <a:p>
                      <a:pPr algn="l"/>
                      <a:r>
                        <a:rPr lang="en-US" sz="1300" b="1">
                          <a:solidFill>
                            <a:srgbClr val="13123A"/>
                          </a:solidFill>
                          <a:latin typeface="Calibri" panose="020F0502020204030204"/>
                          <a:ea typeface="Calibri" panose="020F0502020204030204"/>
                          <a:cs typeface="Calibri" panose="020F0502020204030204"/>
                        </a:rPr>
                        <a:t>BEAM</a:t>
                      </a:r>
                      <a:endParaRPr lang="en-US" sz="1300" b="1">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ICLR 2026</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FA6A6"/>
                          </a:solidFill>
                          <a:latin typeface="Calibri" panose="020F0502020204030204"/>
                          <a:ea typeface="Calibri" panose="020F0502020204030204"/>
                          <a:cs typeface="Calibri" panose="020F0502020204030204"/>
                        </a:rPr>
                        <a:t>Có (2 trục riêng)</a:t>
                      </a:r>
                      <a:endParaRPr lang="en-US" sz="1300">
                        <a:solidFill>
                          <a:srgbClr val="1FA6A6"/>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Knowledge Update và Contradiction Resolution tách riêng; 100 hội thoại tới 10M token</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r>
            </a:tbl>
          </a:graphicData>
        </a:graphic>
      </p:graphicFrame>
      <p:sp>
        <p:nvSpPr>
          <p:cNvPr id="6" name="Rectangle 5"/>
          <p:cNvSpPr/>
          <p:nvPr/>
        </p:nvSpPr>
        <p:spPr>
          <a:xfrm>
            <a:off x="571500" y="4724400"/>
            <a:ext cx="11049076" cy="939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p:cNvSpPr/>
          <p:nvPr/>
        </p:nvSpPr>
        <p:spPr>
          <a:xfrm>
            <a:off x="571500" y="4724400"/>
            <a:ext cx="66560" cy="939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8" name="TextBox 7"/>
          <p:cNvSpPr txBox="1"/>
          <p:nvPr/>
        </p:nvSpPr>
        <p:spPr>
          <a:xfrm>
            <a:off x="864367" y="4927600"/>
            <a:ext cx="10516590" cy="584200"/>
          </a:xfrm>
          <a:prstGeom prst="rect">
            <a:avLst/>
          </a:prstGeom>
          <a:noFill/>
        </p:spPr>
        <p:txBody>
          <a:bodyPr vertOverflow="overflow" vert="horz" wrap="square" rtlCol="0" anchor="t">
            <a:noAutofit/>
          </a:bodyPr>
          <a:lstStyle/>
          <a:p>
            <a:pPr algn="l"/>
            <a:r>
              <a:rPr lang="vi-VN" sz="1500" b="1">
                <a:solidFill>
                  <a:srgbClr val="3A36A0"/>
                </a:solidFill>
                <a:latin typeface="Calibri" panose="020F0502020204030204"/>
                <a:ea typeface="Calibri" panose="020F0502020204030204"/>
                <a:cs typeface="Calibri" panose="020F0502020204030204"/>
              </a:rPr>
              <a:t>Thầy/cô đúng với LoCoMo. Nhưng LongMemEval có nhóm câu hỏi cập nhật, và nhóm đã tìm thêm
2 benchmark ICLR 2026 đo trực tiếp tình huống N5 → N4.</a:t>
            </a:r>
            <a:endParaRPr lang="en-US" sz="1500" b="1">
              <a:solidFill>
                <a:srgbClr val="3A36A0"/>
              </a:solidFill>
              <a:latin typeface="Calibri" panose="020F0502020204030204"/>
              <a:ea typeface="Calibri" panose="020F0502020204030204"/>
              <a:cs typeface="Calibri" panose="020F0502020204030204"/>
            </a:endParaRPr>
          </a:p>
        </p:txBody>
      </p:sp>
      <p:sp>
        <p:nvSpPr>
          <p:cNvPr id="9" name="TextBox 8"/>
          <p:cNvSpPr txBox="1"/>
          <p:nvPr/>
        </p:nvSpPr>
        <p:spPr>
          <a:xfrm>
            <a:off x="571500" y="6324600"/>
            <a:ext cx="11049076" cy="4064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Nguồn: Maharana et al., ACL 2024 (arXiv:2402.17753) · Wu et al., ICLR 2025 (arXiv:2410.10813) · Hu et al., ICLR 2026 (arXiv:2507.05257) · Tavakoli et al., ICLR 2026 (arXiv:2510.27246).</a:t>
            </a:r>
            <a:endParaRPr lang="en-US" sz="1050">
              <a:solidFill>
                <a:srgbClr val="6A6E85"/>
              </a:solidFill>
              <a:latin typeface="Calibri" panose="020F0502020204030204"/>
              <a:ea typeface="Calibri" panose="020F0502020204030204"/>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KHOẢNG TRỐNG NGHIÊN CỨU</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Vì sao cập nhật bộ nhớ vẫn là bài toán mở?</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778000"/>
            <a:ext cx="3381283" cy="26670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p:cNvSpPr/>
          <p:nvPr/>
        </p:nvSpPr>
        <p:spPr>
          <a:xfrm>
            <a:off x="571500" y="1778000"/>
            <a:ext cx="3381283" cy="635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6" name="TextBox 5"/>
          <p:cNvSpPr txBox="1"/>
          <p:nvPr/>
        </p:nvSpPr>
        <p:spPr>
          <a:xfrm>
            <a:off x="864367" y="2133600"/>
            <a:ext cx="2822173" cy="812800"/>
          </a:xfrm>
          <a:prstGeom prst="rect">
            <a:avLst/>
          </a:prstGeom>
          <a:noFill/>
        </p:spPr>
        <p:txBody>
          <a:bodyPr vertOverflow="overflow" vert="horz" wrap="square" rtlCol="0" anchor="t">
            <a:noAutofit/>
          </a:bodyPr>
          <a:lstStyle/>
          <a:p>
            <a:pPr algn="l"/>
            <a:r>
              <a:rPr lang="en-US" sz="4600" b="1">
                <a:solidFill>
                  <a:srgbClr val="0F6E6E"/>
                </a:solidFill>
                <a:latin typeface="Cambria" panose="02040503050406030204"/>
                <a:ea typeface="Cambria" panose="02040503050406030204"/>
              </a:rPr>
              <a:t>~7%</a:t>
            </a:r>
            <a:endParaRPr lang="en-US" sz="4600" b="1">
              <a:solidFill>
                <a:srgbClr val="0F6E6E"/>
              </a:solidFill>
              <a:latin typeface="Cambria" panose="02040503050406030204"/>
              <a:ea typeface="Cambria" panose="02040503050406030204"/>
            </a:endParaRPr>
          </a:p>
        </p:txBody>
      </p:sp>
      <p:sp>
        <p:nvSpPr>
          <p:cNvPr id="7" name="TextBox 6"/>
          <p:cNvSpPr txBox="1"/>
          <p:nvPr/>
        </p:nvSpPr>
        <p:spPr>
          <a:xfrm>
            <a:off x="864367" y="3022600"/>
            <a:ext cx="2822173" cy="304800"/>
          </a:xfrm>
          <a:prstGeom prst="rect">
            <a:avLst/>
          </a:prstGeom>
          <a:noFill/>
        </p:spPr>
        <p:txBody>
          <a:bodyPr vertOverflow="overflow" vert="horz" wrap="square" rtlCol="0" anchor="t">
            <a:noAutofit/>
          </a:bodyPr>
          <a:lstStyle/>
          <a:p>
            <a:pPr algn="l"/>
            <a:r>
              <a:rPr lang="en-US" sz="1500" b="1">
                <a:solidFill>
                  <a:srgbClr val="13123A"/>
                </a:solidFill>
                <a:latin typeface="Calibri" panose="020F0502020204030204"/>
                <a:ea typeface="Calibri" panose="020F0502020204030204"/>
                <a:cs typeface="Calibri" panose="020F0502020204030204"/>
              </a:rPr>
              <a:t>Zep / Graphiti</a:t>
            </a:r>
            <a:endParaRPr lang="en-US" sz="1500" b="1">
              <a:solidFill>
                <a:srgbClr val="13123A"/>
              </a:solidFill>
              <a:latin typeface="Calibri" panose="020F0502020204030204"/>
              <a:ea typeface="Calibri" panose="020F0502020204030204"/>
              <a:cs typeface="Calibri" panose="020F0502020204030204"/>
            </a:endParaRPr>
          </a:p>
        </p:txBody>
      </p:sp>
      <p:sp>
        <p:nvSpPr>
          <p:cNvPr id="8" name="TextBox 7"/>
          <p:cNvSpPr txBox="1"/>
          <p:nvPr/>
        </p:nvSpPr>
        <p:spPr>
          <a:xfrm>
            <a:off x="864367" y="3378200"/>
            <a:ext cx="2822173" cy="939800"/>
          </a:xfrm>
          <a:prstGeom prst="rect">
            <a:avLst/>
          </a:prstGeom>
          <a:noFill/>
        </p:spPr>
        <p:txBody>
          <a:bodyPr vertOverflow="overflow" vert="horz" wrap="square" rtlCol="0" anchor="t">
            <a:noAutofit/>
          </a:bodyPr>
          <a:lstStyle/>
          <a:p>
            <a:pPr algn="l"/>
            <a:r>
              <a:rPr lang="vi-VN" sz="1300">
                <a:solidFill>
                  <a:srgbClr val="6A6E85"/>
                </a:solidFill>
                <a:latin typeface="Calibri" panose="020F0502020204030204"/>
                <a:ea typeface="Calibri" panose="020F0502020204030204"/>
                <a:cs typeface="Calibri" panose="020F0502020204030204"/>
              </a:rPr>
              <a:t>Đồ thị tri thức có dấu thời gian, vậy mà gần như hỏng hoàn toàn khi phải chọn fact mới nhất</a:t>
            </a:r>
            <a:endParaRPr lang="en-US" sz="1300">
              <a:solidFill>
                <a:srgbClr val="6A6E85"/>
              </a:solidFill>
              <a:latin typeface="Calibri" panose="020F0502020204030204"/>
              <a:ea typeface="Calibri" panose="020F0502020204030204"/>
              <a:cs typeface="Calibri" panose="020F0502020204030204"/>
            </a:endParaRPr>
          </a:p>
        </p:txBody>
      </p:sp>
      <p:sp>
        <p:nvSpPr>
          <p:cNvPr id="9" name="Rectangle 8"/>
          <p:cNvSpPr/>
          <p:nvPr/>
        </p:nvSpPr>
        <p:spPr>
          <a:xfrm>
            <a:off x="4338835" y="1778000"/>
            <a:ext cx="3381283" cy="26670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p:cNvSpPr/>
          <p:nvPr/>
        </p:nvSpPr>
        <p:spPr>
          <a:xfrm>
            <a:off x="4338835" y="1778000"/>
            <a:ext cx="3381283" cy="635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p:cNvSpPr txBox="1"/>
          <p:nvPr/>
        </p:nvSpPr>
        <p:spPr>
          <a:xfrm>
            <a:off x="4631702" y="2133600"/>
            <a:ext cx="2822173" cy="812800"/>
          </a:xfrm>
          <a:prstGeom prst="rect">
            <a:avLst/>
          </a:prstGeom>
          <a:noFill/>
        </p:spPr>
        <p:txBody>
          <a:bodyPr vertOverflow="overflow" vert="horz" wrap="square" rtlCol="0" anchor="t">
            <a:noAutofit/>
          </a:bodyPr>
          <a:lstStyle/>
          <a:p>
            <a:pPr algn="l"/>
            <a:r>
              <a:rPr lang="en-US" sz="4600" b="1">
                <a:solidFill>
                  <a:srgbClr val="3A36A0"/>
                </a:solidFill>
                <a:latin typeface="Cambria" panose="02040503050406030204"/>
                <a:ea typeface="Cambria" panose="02040503050406030204"/>
              </a:rPr>
              <a:t>~54%</a:t>
            </a:r>
            <a:endParaRPr lang="en-US" sz="4600" b="1">
              <a:solidFill>
                <a:srgbClr val="3A36A0"/>
              </a:solidFill>
              <a:latin typeface="Cambria" panose="02040503050406030204"/>
              <a:ea typeface="Cambria" panose="02040503050406030204"/>
            </a:endParaRPr>
          </a:p>
        </p:txBody>
      </p:sp>
      <p:sp>
        <p:nvSpPr>
          <p:cNvPr id="12" name="TextBox 11"/>
          <p:cNvSpPr txBox="1"/>
          <p:nvPr/>
        </p:nvSpPr>
        <p:spPr>
          <a:xfrm>
            <a:off x="4631702" y="3022600"/>
            <a:ext cx="2822173" cy="304800"/>
          </a:xfrm>
          <a:prstGeom prst="rect">
            <a:avLst/>
          </a:prstGeom>
          <a:noFill/>
        </p:spPr>
        <p:txBody>
          <a:bodyPr vertOverflow="overflow" vert="horz" wrap="square" rtlCol="0" anchor="t">
            <a:noAutofit/>
          </a:bodyPr>
          <a:lstStyle/>
          <a:p>
            <a:pPr algn="l"/>
            <a:r>
              <a:rPr lang="en-US" sz="1500" b="1">
                <a:solidFill>
                  <a:srgbClr val="13123A"/>
                </a:solidFill>
                <a:latin typeface="Calibri" panose="020F0502020204030204"/>
                <a:ea typeface="Calibri" panose="020F0502020204030204"/>
                <a:cs typeface="Calibri" panose="020F0502020204030204"/>
              </a:rPr>
              <a:t>HippoRAG-v2</a:t>
            </a:r>
            <a:endParaRPr lang="en-US" sz="1500" b="1">
              <a:solidFill>
                <a:srgbClr val="13123A"/>
              </a:solidFill>
              <a:latin typeface="Calibri" panose="020F0502020204030204"/>
              <a:ea typeface="Calibri" panose="020F0502020204030204"/>
              <a:cs typeface="Calibri" panose="020F0502020204030204"/>
            </a:endParaRPr>
          </a:p>
        </p:txBody>
      </p:sp>
      <p:sp>
        <p:nvSpPr>
          <p:cNvPr id="13" name="TextBox 12"/>
          <p:cNvSpPr txBox="1"/>
          <p:nvPr/>
        </p:nvSpPr>
        <p:spPr>
          <a:xfrm>
            <a:off x="4631702" y="3378200"/>
            <a:ext cx="2822173" cy="939800"/>
          </a:xfrm>
          <a:prstGeom prst="rect">
            <a:avLst/>
          </a:prstGeom>
          <a:noFill/>
        </p:spPr>
        <p:txBody>
          <a:bodyPr vertOverflow="overflow" vert="horz" wrap="square" rtlCol="0" anchor="t">
            <a:noAutofit/>
          </a:bodyPr>
          <a:lstStyle/>
          <a:p>
            <a:pPr algn="l"/>
            <a:r>
              <a:rPr lang="en-US" sz="1300">
                <a:solidFill>
                  <a:srgbClr val="6A6E85"/>
                </a:solidFill>
                <a:latin typeface="Calibri" panose="020F0502020204030204"/>
                <a:ea typeface="Calibri" panose="020F0502020204030204"/>
                <a:cs typeface="Calibri" panose="020F0502020204030204"/>
              </a:rPr>
              <a:t>Truy xuất mạnh vẫn sai gần một nửa</a:t>
            </a:r>
            <a:endParaRPr lang="en-US" sz="1300">
              <a:solidFill>
                <a:srgbClr val="6A6E85"/>
              </a:solidFill>
              <a:latin typeface="Calibri" panose="020F0502020204030204"/>
              <a:ea typeface="Calibri" panose="020F0502020204030204"/>
              <a:cs typeface="Calibri" panose="020F0502020204030204"/>
            </a:endParaRPr>
          </a:p>
        </p:txBody>
      </p:sp>
      <p:sp>
        <p:nvSpPr>
          <p:cNvPr id="14" name="Rectangle 13"/>
          <p:cNvSpPr/>
          <p:nvPr/>
        </p:nvSpPr>
        <p:spPr>
          <a:xfrm>
            <a:off x="8106171" y="1778000"/>
            <a:ext cx="3381283" cy="26670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p:cNvSpPr/>
          <p:nvPr/>
        </p:nvSpPr>
        <p:spPr>
          <a:xfrm>
            <a:off x="8106171" y="1778000"/>
            <a:ext cx="3381283" cy="635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p:cNvSpPr txBox="1"/>
          <p:nvPr/>
        </p:nvSpPr>
        <p:spPr>
          <a:xfrm>
            <a:off x="8399038" y="2133600"/>
            <a:ext cx="2822173" cy="812800"/>
          </a:xfrm>
          <a:prstGeom prst="rect">
            <a:avLst/>
          </a:prstGeom>
          <a:noFill/>
        </p:spPr>
        <p:txBody>
          <a:bodyPr vertOverflow="overflow" vert="horz" wrap="square" rtlCol="0" anchor="t">
            <a:noAutofit/>
          </a:bodyPr>
          <a:lstStyle/>
          <a:p>
            <a:pPr algn="l"/>
            <a:r>
              <a:rPr lang="en-US" sz="4600" b="1">
                <a:solidFill>
                  <a:srgbClr val="3A36A0"/>
                </a:solidFill>
                <a:latin typeface="Cambria" panose="02040503050406030204"/>
                <a:ea typeface="Cambria" panose="02040503050406030204"/>
              </a:rPr>
              <a:t>~60%</a:t>
            </a:r>
            <a:endParaRPr lang="en-US" sz="4600" b="1">
              <a:solidFill>
                <a:srgbClr val="3A36A0"/>
              </a:solidFill>
              <a:latin typeface="Cambria" panose="02040503050406030204"/>
              <a:ea typeface="Cambria" panose="02040503050406030204"/>
            </a:endParaRPr>
          </a:p>
        </p:txBody>
      </p:sp>
      <p:sp>
        <p:nvSpPr>
          <p:cNvPr id="17" name="TextBox 16"/>
          <p:cNvSpPr txBox="1"/>
          <p:nvPr/>
        </p:nvSpPr>
        <p:spPr>
          <a:xfrm>
            <a:off x="8399038" y="3022600"/>
            <a:ext cx="2822173" cy="304800"/>
          </a:xfrm>
          <a:prstGeom prst="rect">
            <a:avLst/>
          </a:prstGeom>
          <a:noFill/>
        </p:spPr>
        <p:txBody>
          <a:bodyPr vertOverflow="overflow" vert="horz" wrap="square" rtlCol="0" anchor="t">
            <a:noAutofit/>
          </a:bodyPr>
          <a:lstStyle/>
          <a:p>
            <a:pPr algn="l"/>
            <a:r>
              <a:rPr lang="en-US" sz="1500" b="1">
                <a:solidFill>
                  <a:srgbClr val="13123A"/>
                </a:solidFill>
                <a:latin typeface="Calibri" panose="020F0502020204030204"/>
                <a:ea typeface="Calibri" panose="020F0502020204030204"/>
                <a:cs typeface="Calibri" panose="020F0502020204030204"/>
              </a:rPr>
              <a:t>GPT-4o full-context</a:t>
            </a:r>
            <a:endParaRPr lang="en-US" sz="1500" b="1">
              <a:solidFill>
                <a:srgbClr val="13123A"/>
              </a:solidFill>
              <a:latin typeface="Calibri" panose="020F0502020204030204"/>
              <a:ea typeface="Calibri" panose="020F0502020204030204"/>
              <a:cs typeface="Calibri" panose="020F0502020204030204"/>
            </a:endParaRPr>
          </a:p>
        </p:txBody>
      </p:sp>
      <p:sp>
        <p:nvSpPr>
          <p:cNvPr id="18" name="TextBox 17"/>
          <p:cNvSpPr txBox="1"/>
          <p:nvPr/>
        </p:nvSpPr>
        <p:spPr>
          <a:xfrm>
            <a:off x="8399038" y="3378200"/>
            <a:ext cx="2822173" cy="939800"/>
          </a:xfrm>
          <a:prstGeom prst="rect">
            <a:avLst/>
          </a:prstGeom>
          <a:noFill/>
        </p:spPr>
        <p:txBody>
          <a:bodyPr vertOverflow="overflow" vert="horz" wrap="square" rtlCol="0" anchor="t">
            <a:noAutofit/>
          </a:bodyPr>
          <a:lstStyle/>
          <a:p>
            <a:pPr algn="l"/>
            <a:r>
              <a:rPr lang="vi-VN" sz="1300">
                <a:solidFill>
                  <a:srgbClr val="6A6E85"/>
                </a:solidFill>
                <a:latin typeface="Calibri" panose="020F0502020204030204"/>
                <a:ea typeface="Calibri" panose="020F0502020204030204"/>
                <a:cs typeface="Calibri" panose="020F0502020204030204"/>
              </a:rPr>
              <a:t>Nhồi hết lịch sử vào context cũng không giải được</a:t>
            </a:r>
            <a:endParaRPr lang="en-US" sz="1300">
              <a:solidFill>
                <a:srgbClr val="6A6E85"/>
              </a:solidFill>
              <a:latin typeface="Calibri" panose="020F0502020204030204"/>
              <a:ea typeface="Calibri" panose="020F0502020204030204"/>
              <a:cs typeface="Calibri" panose="020F0502020204030204"/>
            </a:endParaRPr>
          </a:p>
        </p:txBody>
      </p:sp>
      <p:sp>
        <p:nvSpPr>
          <p:cNvPr id="19" name="Rectangle 18"/>
          <p:cNvSpPr/>
          <p:nvPr/>
        </p:nvSpPr>
        <p:spPr>
          <a:xfrm>
            <a:off x="571500" y="4724400"/>
            <a:ext cx="11049076" cy="939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p:cNvSpPr/>
          <p:nvPr/>
        </p:nvSpPr>
        <p:spPr>
          <a:xfrm>
            <a:off x="571500" y="4724400"/>
            <a:ext cx="66560" cy="939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21" name="TextBox 20"/>
          <p:cNvSpPr txBox="1"/>
          <p:nvPr/>
        </p:nvSpPr>
        <p:spPr>
          <a:xfrm>
            <a:off x="864367" y="4927600"/>
            <a:ext cx="10516590" cy="584200"/>
          </a:xfrm>
          <a:prstGeom prst="rect">
            <a:avLst/>
          </a:prstGeom>
          <a:noFill/>
        </p:spPr>
        <p:txBody>
          <a:bodyPr vertOverflow="overflow" vert="horz" wrap="square" rtlCol="0" anchor="t">
            <a:noAutofit/>
          </a:bodyPr>
          <a:lstStyle/>
          <a:p>
            <a:pPr algn="l"/>
            <a:r>
              <a:rPr lang="vi-VN" sz="1500" b="1">
                <a:solidFill>
                  <a:srgbClr val="3A36A0"/>
                </a:solidFill>
                <a:latin typeface="Calibri" panose="020F0502020204030204"/>
                <a:ea typeface="Calibri" panose="020F0502020204030204"/>
                <a:cs typeface="Calibri" panose="020F0502020204030204"/>
              </a:rPr>
              <a:t>Cả ba đều được chỉ dẫn rõ ràng rằng fact mới có số thứ tự lớn hơn — và vẫn sai.
</a:t>
            </a:r>
            <a:r>
              <a:rPr lang="en-US" altLang="en-US" sz="1500" b="1">
                <a:solidFill>
                  <a:srgbClr val="3A36A0"/>
                </a:solidFill>
                <a:latin typeface="Calibri" panose="020F0502020204030204"/>
                <a:ea typeface="Calibri" panose="020F0502020204030204"/>
                <a:cs typeface="Calibri" panose="020F0502020204030204"/>
              </a:rPr>
              <a:t>Kết quả cho thấy truy xuất tốt hoặc context dài vẫn ch</a:t>
            </a:r>
            <a:r>
              <a:rPr lang="" altLang="en-US" sz="1500" b="1">
                <a:solidFill>
                  <a:srgbClr val="3A36A0"/>
                </a:solidFill>
                <a:latin typeface="Calibri" panose="020F0502020204030204"/>
                <a:ea typeface="Calibri" panose="020F0502020204030204"/>
                <a:cs typeface="Calibri" panose="020F0502020204030204"/>
              </a:rPr>
              <a:t>ư</a:t>
            </a:r>
            <a:r>
              <a:rPr lang="en-US" altLang="en-US" sz="1500" b="1">
                <a:solidFill>
                  <a:srgbClr val="3A36A0"/>
                </a:solidFill>
                <a:latin typeface="Calibri" panose="020F0502020204030204"/>
                <a:ea typeface="Calibri" panose="020F0502020204030204"/>
                <a:cs typeface="Calibri" panose="020F0502020204030204"/>
              </a:rPr>
              <a:t>a </a:t>
            </a:r>
            <a:r>
              <a:rPr lang="" altLang="en-US" sz="1500" b="1">
                <a:solidFill>
                  <a:srgbClr val="3A36A0"/>
                </a:solidFill>
                <a:latin typeface="Calibri" panose="020F0502020204030204"/>
                <a:ea typeface="Calibri" panose="020F0502020204030204"/>
                <a:cs typeface="Calibri" panose="020F0502020204030204"/>
              </a:rPr>
              <a:t>đ</a:t>
            </a:r>
            <a:r>
              <a:rPr lang="en-US" altLang="en-US" sz="1500" b="1">
                <a:solidFill>
                  <a:srgbClr val="3A36A0"/>
                </a:solidFill>
                <a:latin typeface="Calibri" panose="020F0502020204030204"/>
                <a:ea typeface="Calibri" panose="020F0502020204030204"/>
                <a:cs typeface="Calibri" panose="020F0502020204030204"/>
              </a:rPr>
              <a:t>ủ; phán </a:t>
            </a:r>
            <a:r>
              <a:rPr lang="" altLang="en-US" sz="1500" b="1">
                <a:solidFill>
                  <a:srgbClr val="3A36A0"/>
                </a:solidFill>
                <a:latin typeface="Calibri" panose="020F0502020204030204"/>
                <a:ea typeface="Calibri" panose="020F0502020204030204"/>
                <a:cs typeface="Calibri" panose="020F0502020204030204"/>
              </a:rPr>
              <a:t>đ</a:t>
            </a:r>
            <a:r>
              <a:rPr lang="en-US" altLang="en-US" sz="1500" b="1">
                <a:solidFill>
                  <a:srgbClr val="3A36A0"/>
                </a:solidFill>
                <a:latin typeface="Calibri" panose="020F0502020204030204"/>
                <a:ea typeface="Calibri" panose="020F0502020204030204"/>
                <a:cs typeface="Calibri" panose="020F0502020204030204"/>
              </a:rPr>
              <a:t>oán </a:t>
            </a:r>
            <a:r>
              <a:rPr lang="" altLang="en-US" sz="1500" b="1">
                <a:solidFill>
                  <a:srgbClr val="3A36A0"/>
                </a:solidFill>
                <a:latin typeface="Calibri" panose="020F0502020204030204"/>
                <a:ea typeface="Calibri" panose="020F0502020204030204"/>
                <a:cs typeface="Calibri" panose="020F0502020204030204"/>
              </a:rPr>
              <a:t>đ</a:t>
            </a:r>
            <a:r>
              <a:rPr lang="en-US" altLang="en-US" sz="1500" b="1">
                <a:solidFill>
                  <a:srgbClr val="3A36A0"/>
                </a:solidFill>
                <a:latin typeface="Calibri" panose="020F0502020204030204"/>
                <a:ea typeface="Calibri" panose="020F0502020204030204"/>
                <a:cs typeface="Calibri" panose="020F0502020204030204"/>
              </a:rPr>
              <a:t>ộ mới là một bottleneck quan trọng.</a:t>
            </a:r>
            <a:endParaRPr lang="en-US" altLang="en-US" sz="1500" b="1">
              <a:solidFill>
                <a:srgbClr val="3A36A0"/>
              </a:solidFill>
              <a:latin typeface="Calibri" panose="020F0502020204030204"/>
              <a:ea typeface="Calibri" panose="020F0502020204030204"/>
              <a:cs typeface="Calibri" panose="020F0502020204030204"/>
            </a:endParaRPr>
          </a:p>
        </p:txBody>
      </p:sp>
      <p:sp>
        <p:nvSpPr>
          <p:cNvPr id="22" name="TextBox 21"/>
          <p:cNvSpPr txBox="1"/>
          <p:nvPr/>
        </p:nvSpPr>
        <p:spPr>
          <a:xfrm>
            <a:off x="571500" y="6324600"/>
            <a:ext cx="11049076" cy="4064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Nguồn: Số liệu trên FactConsolidation (MemoryAgentBench, ICLR 2026), báo cáo bởi Reddy &amp; Challaram, arXiv:2606.01435 (2026).</a:t>
            </a:r>
            <a:endParaRPr lang="en-US" sz="1050">
              <a:solidFill>
                <a:srgbClr val="6A6E85"/>
              </a:solidFill>
              <a:latin typeface="Calibri" panose="020F0502020204030204"/>
              <a:ea typeface="Calibri" panose="020F05020202040302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chorCtr="0">
            <a:noAutofit/>
          </a:bodyPr>
          <a:lstStyle/>
          <a:p>
            <a:pPr algn="l"/>
            <a:r>
              <a:rPr lang="en-US" sz="1200" b="1">
                <a:solidFill>
                  <a:srgbClr val="1FA6A6"/>
                </a:solidFill>
                <a:latin typeface="Calibri" panose="020F0502020204030204"/>
                <a:ea typeface="Calibri" panose="020F0502020204030204"/>
                <a:cs typeface="Calibri" panose="020F0502020204030204"/>
              </a:rPr>
              <a:t>ĐỀ XUẤT</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chorCtr="0">
            <a:noAutofit/>
          </a:bodyPr>
          <a:lstStyle/>
          <a:p>
            <a:pPr algn="l"/>
            <a:r>
              <a:rPr lang="en-US" sz="3000" b="1">
                <a:solidFill>
                  <a:srgbClr val="13123A"/>
                </a:solidFill>
                <a:latin typeface="Cambria" panose="02040503050406030204"/>
                <a:ea typeface="Cambria" panose="02040503050406030204"/>
              </a:rPr>
              <a:t>Tách “ghép cặp ngữ nghĩa” khỏi “phán đoán độ mới”</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778000"/>
            <a:ext cx="5391416" cy="2717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p:cNvSpPr/>
          <p:nvPr/>
        </p:nvSpPr>
        <p:spPr>
          <a:xfrm>
            <a:off x="571500" y="1778000"/>
            <a:ext cx="5391416" cy="406400"/>
          </a:xfrm>
          <a:prstGeom prst="rect">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p:cNvSpPr txBox="1"/>
          <p:nvPr/>
        </p:nvSpPr>
        <p:spPr>
          <a:xfrm>
            <a:off x="811118" y="1879600"/>
            <a:ext cx="4925491" cy="254000"/>
          </a:xfrm>
          <a:prstGeom prst="rect">
            <a:avLst/>
          </a:prstGeom>
          <a:noFill/>
        </p:spPr>
        <p:txBody>
          <a:bodyPr vertOverflow="overflow" vert="horz" wrap="square" rtlCol="0" anchor="t" anchorCtr="0">
            <a:noAutofit/>
          </a:bodyPr>
          <a:lstStyle/>
          <a:p>
            <a:pPr algn="l"/>
            <a:r>
              <a:rPr lang="en-US" sz="1300" b="1">
                <a:solidFill>
                  <a:srgbClr val="FFFFFF"/>
                </a:solidFill>
                <a:latin typeface="Calibri" panose="020F0502020204030204"/>
                <a:ea typeface="Calibri" panose="020F0502020204030204"/>
                <a:cs typeface="Calibri" panose="020F0502020204030204"/>
              </a:rPr>
              <a:t>CÁCH LÀM PHỔ BIẾN</a:t>
            </a:r>
            <a:endParaRPr lang="en-US" sz="1300" b="1">
              <a:solidFill>
                <a:srgbClr val="FFFFFF"/>
              </a:solidFill>
              <a:latin typeface="Calibri" panose="020F0502020204030204"/>
              <a:ea typeface="Calibri" panose="020F0502020204030204"/>
              <a:cs typeface="Calibri" panose="020F0502020204030204"/>
            </a:endParaRPr>
          </a:p>
        </p:txBody>
      </p:sp>
      <p:sp>
        <p:nvSpPr>
          <p:cNvPr id="7" name="Oval 6"/>
          <p:cNvSpPr/>
          <p:nvPr/>
        </p:nvSpPr>
        <p:spPr>
          <a:xfrm>
            <a:off x="811118" y="24130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p:cNvSpPr txBox="1"/>
          <p:nvPr/>
        </p:nvSpPr>
        <p:spPr>
          <a:xfrm>
            <a:off x="1024112" y="2336800"/>
            <a:ext cx="4712497" cy="508000"/>
          </a:xfrm>
          <a:prstGeom prst="rect">
            <a:avLst/>
          </a:prstGeom>
          <a:noFill/>
        </p:spPr>
        <p:txBody>
          <a:bodyPr vertOverflow="overflow" vert="horz" wrap="square" rtlCol="0" anchor="t" anchorCtr="0">
            <a:noAutofit/>
          </a:bodyPr>
          <a:lstStyle/>
          <a:p>
            <a:pPr algn="l"/>
            <a:r>
              <a:rPr lang="vi-VN" sz="1300">
                <a:solidFill>
                  <a:srgbClr val="13123A"/>
                </a:solidFill>
                <a:latin typeface="Calibri" panose="020F0502020204030204"/>
                <a:ea typeface="Calibri" panose="020F0502020204030204"/>
                <a:cs typeface="Calibri" panose="020F0502020204030204"/>
              </a:rPr>
              <a:t>Đưa cả kho ký ức vào prompt, hỏi LLM: “fact nào mới nhất?”</a:t>
            </a:r>
            <a:endParaRPr lang="en-US" sz="1300">
              <a:solidFill>
                <a:srgbClr val="13123A"/>
              </a:solidFill>
              <a:latin typeface="Calibri" panose="020F0502020204030204"/>
              <a:ea typeface="Calibri" panose="020F0502020204030204"/>
              <a:cs typeface="Calibri" panose="020F0502020204030204"/>
            </a:endParaRPr>
          </a:p>
        </p:txBody>
      </p:sp>
      <p:sp>
        <p:nvSpPr>
          <p:cNvPr id="9" name="Oval 8"/>
          <p:cNvSpPr/>
          <p:nvPr/>
        </p:nvSpPr>
        <p:spPr>
          <a:xfrm>
            <a:off x="811118" y="29591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p:cNvSpPr txBox="1"/>
          <p:nvPr/>
        </p:nvSpPr>
        <p:spPr>
          <a:xfrm>
            <a:off x="1024112" y="28829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panose="020F0502020204030204"/>
                <a:ea typeface="Calibri" panose="020F0502020204030204"/>
                <a:cs typeface="Calibri" panose="020F0502020204030204"/>
              </a:rPr>
              <a:t>LLM vừa phải hiểu ngữ nghĩa, vừa phải so sánh thời gian</a:t>
            </a:r>
            <a:endParaRPr lang="en-US" sz="1300">
              <a:solidFill>
                <a:srgbClr val="13123A"/>
              </a:solidFill>
              <a:latin typeface="Calibri" panose="020F0502020204030204"/>
              <a:ea typeface="Calibri" panose="020F0502020204030204"/>
              <a:cs typeface="Calibri" panose="020F0502020204030204"/>
            </a:endParaRPr>
          </a:p>
        </p:txBody>
      </p:sp>
      <p:sp>
        <p:nvSpPr>
          <p:cNvPr id="11" name="Oval 10"/>
          <p:cNvSpPr/>
          <p:nvPr/>
        </p:nvSpPr>
        <p:spPr>
          <a:xfrm>
            <a:off x="811118" y="35052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p:cNvSpPr txBox="1"/>
          <p:nvPr/>
        </p:nvSpPr>
        <p:spPr>
          <a:xfrm>
            <a:off x="1024112" y="3429000"/>
            <a:ext cx="4712497" cy="508000"/>
          </a:xfrm>
          <a:prstGeom prst="rect">
            <a:avLst/>
          </a:prstGeom>
          <a:noFill/>
        </p:spPr>
        <p:txBody>
          <a:bodyPr vertOverflow="overflow" vert="horz" wrap="square" rtlCol="0" anchor="t" anchorCtr="0">
            <a:noAutofit/>
          </a:bodyPr>
          <a:lstStyle/>
          <a:p>
            <a:pPr algn="l"/>
            <a:r>
              <a:rPr lang="vi-VN" sz="1300">
                <a:solidFill>
                  <a:srgbClr val="13123A"/>
                </a:solidFill>
                <a:latin typeface="Calibri" panose="020F0502020204030204"/>
                <a:ea typeface="Calibri" panose="020F0502020204030204"/>
                <a:cs typeface="Calibri" panose="020F0502020204030204"/>
              </a:rPr>
              <a:t>Kết quả phụ thuộc model, không lặp lại được</a:t>
            </a:r>
            <a:endParaRPr lang="en-US" sz="1300">
              <a:solidFill>
                <a:srgbClr val="13123A"/>
              </a:solidFill>
              <a:latin typeface="Calibri" panose="020F0502020204030204"/>
              <a:ea typeface="Calibri" panose="020F0502020204030204"/>
              <a:cs typeface="Calibri" panose="020F0502020204030204"/>
            </a:endParaRPr>
          </a:p>
        </p:txBody>
      </p:sp>
      <p:sp>
        <p:nvSpPr>
          <p:cNvPr id="13" name="Oval 12"/>
          <p:cNvSpPr/>
          <p:nvPr/>
        </p:nvSpPr>
        <p:spPr>
          <a:xfrm>
            <a:off x="811118" y="40513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p:cNvSpPr txBox="1"/>
          <p:nvPr/>
        </p:nvSpPr>
        <p:spPr>
          <a:xfrm>
            <a:off x="1024112" y="39751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panose="020F0502020204030204"/>
                <a:ea typeface="Calibri" panose="020F0502020204030204"/>
                <a:cs typeface="Calibri" panose="020F0502020204030204"/>
              </a:rPr>
              <a:t>Sai số tăng theo độ dài lịch sử</a:t>
            </a:r>
            <a:endParaRPr lang="en-US" sz="1300">
              <a:solidFill>
                <a:srgbClr val="13123A"/>
              </a:solidFill>
              <a:latin typeface="Calibri" panose="020F0502020204030204"/>
              <a:ea typeface="Calibri" panose="020F0502020204030204"/>
              <a:cs typeface="Calibri" panose="020F0502020204030204"/>
            </a:endParaRPr>
          </a:p>
        </p:txBody>
      </p:sp>
      <p:sp>
        <p:nvSpPr>
          <p:cNvPr id="15" name="Rectangle 14"/>
          <p:cNvSpPr/>
          <p:nvPr/>
        </p:nvSpPr>
        <p:spPr>
          <a:xfrm>
            <a:off x="6229159" y="1778000"/>
            <a:ext cx="5391416" cy="2717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p:cNvSpPr/>
          <p:nvPr/>
        </p:nvSpPr>
        <p:spPr>
          <a:xfrm>
            <a:off x="6229159" y="1778000"/>
            <a:ext cx="5391416" cy="4064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p:cNvSpPr txBox="1"/>
          <p:nvPr/>
        </p:nvSpPr>
        <p:spPr>
          <a:xfrm>
            <a:off x="6468778" y="1879600"/>
            <a:ext cx="4925491" cy="254000"/>
          </a:xfrm>
          <a:prstGeom prst="rect">
            <a:avLst/>
          </a:prstGeom>
          <a:noFill/>
        </p:spPr>
        <p:txBody>
          <a:bodyPr vertOverflow="overflow" vert="horz" wrap="square" rtlCol="0" anchor="t" anchorCtr="0">
            <a:noAutofit/>
          </a:bodyPr>
          <a:lstStyle/>
          <a:p>
            <a:pPr algn="l"/>
            <a:r>
              <a:rPr lang="en-US" sz="1300" b="1">
                <a:solidFill>
                  <a:srgbClr val="FFFFFF"/>
                </a:solidFill>
                <a:latin typeface="Calibri" panose="020F0502020204030204"/>
                <a:ea typeface="Calibri" panose="020F0502020204030204"/>
                <a:cs typeface="Calibri" panose="020F0502020204030204"/>
              </a:rPr>
              <a:t>CÁCH LÀM CỦA NHÓM</a:t>
            </a:r>
            <a:endParaRPr lang="en-US" sz="1300" b="1">
              <a:solidFill>
                <a:srgbClr val="FFFFFF"/>
              </a:solidFill>
              <a:latin typeface="Calibri" panose="020F0502020204030204"/>
              <a:ea typeface="Calibri" panose="020F0502020204030204"/>
              <a:cs typeface="Calibri" panose="020F0502020204030204"/>
            </a:endParaRPr>
          </a:p>
        </p:txBody>
      </p:sp>
      <p:sp>
        <p:nvSpPr>
          <p:cNvPr id="18" name="Oval 17"/>
          <p:cNvSpPr/>
          <p:nvPr/>
        </p:nvSpPr>
        <p:spPr>
          <a:xfrm>
            <a:off x="6468778" y="24130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p:cNvSpPr txBox="1"/>
          <p:nvPr/>
        </p:nvSpPr>
        <p:spPr>
          <a:xfrm>
            <a:off x="6681772" y="23368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panose="020F0502020204030204"/>
                <a:ea typeface="Calibri" panose="020F0502020204030204"/>
                <a:cs typeface="Calibri" panose="020F0502020204030204"/>
              </a:rPr>
              <a:t>LLM chỉ trích fact và ghép thuộc tính vào slot đã có</a:t>
            </a:r>
            <a:endParaRPr lang="en-US" sz="1300">
              <a:solidFill>
                <a:srgbClr val="13123A"/>
              </a:solidFill>
              <a:latin typeface="Calibri" panose="020F0502020204030204"/>
              <a:ea typeface="Calibri" panose="020F0502020204030204"/>
              <a:cs typeface="Calibri" panose="020F0502020204030204"/>
            </a:endParaRPr>
          </a:p>
        </p:txBody>
      </p:sp>
      <p:sp>
        <p:nvSpPr>
          <p:cNvPr id="20" name="Oval 19"/>
          <p:cNvSpPr/>
          <p:nvPr/>
        </p:nvSpPr>
        <p:spPr>
          <a:xfrm>
            <a:off x="6468778" y="29591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p:cNvSpPr txBox="1"/>
          <p:nvPr/>
        </p:nvSpPr>
        <p:spPr>
          <a:xfrm>
            <a:off x="6681772" y="28829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panose="020F0502020204030204"/>
                <a:ea typeface="Calibri" panose="020F0502020204030204"/>
                <a:cs typeface="Calibri" panose="020F0502020204030204"/>
              </a:rPr>
              <a:t>Độ mới do Python quyết: max(seq)</a:t>
            </a:r>
            <a:endParaRPr lang="en-US" sz="1300">
              <a:solidFill>
                <a:srgbClr val="13123A"/>
              </a:solidFill>
              <a:latin typeface="Calibri" panose="020F0502020204030204"/>
              <a:ea typeface="Calibri" panose="020F0502020204030204"/>
              <a:cs typeface="Calibri" panose="020F0502020204030204"/>
            </a:endParaRPr>
          </a:p>
        </p:txBody>
      </p:sp>
      <p:sp>
        <p:nvSpPr>
          <p:cNvPr id="22" name="Oval 21"/>
          <p:cNvSpPr/>
          <p:nvPr/>
        </p:nvSpPr>
        <p:spPr>
          <a:xfrm>
            <a:off x="6468778" y="35052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p:cNvSpPr txBox="1"/>
          <p:nvPr/>
        </p:nvSpPr>
        <p:spPr>
          <a:xfrm>
            <a:off x="6681772" y="34290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panose="020F0502020204030204"/>
                <a:ea typeface="Calibri" panose="020F0502020204030204"/>
                <a:cs typeface="Calibri" panose="020F0502020204030204"/>
              </a:rPr>
              <a:t>Tất định — cùng đầu vào luôn cho cùng đầu ra</a:t>
            </a:r>
            <a:endParaRPr lang="en-US" sz="1300">
              <a:solidFill>
                <a:srgbClr val="13123A"/>
              </a:solidFill>
              <a:latin typeface="Calibri" panose="020F0502020204030204"/>
              <a:ea typeface="Calibri" panose="020F0502020204030204"/>
              <a:cs typeface="Calibri" panose="020F0502020204030204"/>
            </a:endParaRPr>
          </a:p>
        </p:txBody>
      </p:sp>
      <p:sp>
        <p:nvSpPr>
          <p:cNvPr id="24" name="Oval 23"/>
          <p:cNvSpPr/>
          <p:nvPr/>
        </p:nvSpPr>
        <p:spPr>
          <a:xfrm>
            <a:off x="6468778" y="40513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p:cNvSpPr txBox="1"/>
          <p:nvPr/>
        </p:nvSpPr>
        <p:spPr>
          <a:xfrm>
            <a:off x="6681772" y="3975100"/>
            <a:ext cx="4712497" cy="508000"/>
          </a:xfrm>
          <a:prstGeom prst="rect">
            <a:avLst/>
          </a:prstGeom>
          <a:noFill/>
        </p:spPr>
        <p:txBody>
          <a:bodyPr vertOverflow="overflow" vert="horz" wrap="square" rtlCol="0" anchor="t" anchorCtr="0">
            <a:noAutofit/>
          </a:bodyPr>
          <a:lstStyle/>
          <a:p>
            <a:pPr algn="l"/>
            <a:r>
              <a:rPr lang="en-US" altLang="en-US" sz="1300">
                <a:solidFill>
                  <a:srgbClr val="13123A"/>
                </a:solidFill>
                <a:latin typeface="Calibri" panose="020F0502020204030204"/>
                <a:ea typeface="Calibri" panose="020F0502020204030204"/>
                <a:cs typeface="Calibri" panose="020F0502020204030204"/>
              </a:rPr>
              <a:t>Quyết </a:t>
            </a:r>
            <a:r>
              <a:rPr lang="" altLang="en-US" sz="1300">
                <a:solidFill>
                  <a:srgbClr val="13123A"/>
                </a:solidFill>
                <a:latin typeface="Calibri" panose="020F0502020204030204"/>
                <a:ea typeface="Calibri" panose="020F0502020204030204"/>
                <a:cs typeface="Calibri" panose="020F0502020204030204"/>
              </a:rPr>
              <a:t>đ</a:t>
            </a:r>
            <a:r>
              <a:rPr lang="en-US" altLang="en-US" sz="1300">
                <a:solidFill>
                  <a:srgbClr val="13123A"/>
                </a:solidFill>
                <a:latin typeface="Calibri" panose="020F0502020204030204"/>
                <a:ea typeface="Calibri" panose="020F0502020204030204"/>
                <a:cs typeface="Calibri" panose="020F0502020204030204"/>
              </a:rPr>
              <a:t>ịnh </a:t>
            </a:r>
            <a:r>
              <a:rPr lang="" altLang="en-US" sz="1300">
                <a:solidFill>
                  <a:srgbClr val="13123A"/>
                </a:solidFill>
                <a:latin typeface="Calibri" panose="020F0502020204030204"/>
                <a:ea typeface="Calibri" panose="020F0502020204030204"/>
                <a:cs typeface="Calibri" panose="020F0502020204030204"/>
              </a:rPr>
              <a:t>đ</a:t>
            </a:r>
            <a:r>
              <a:rPr lang="en-US" altLang="en-US" sz="1300">
                <a:solidFill>
                  <a:srgbClr val="13123A"/>
                </a:solidFill>
                <a:latin typeface="Calibri" panose="020F0502020204030204"/>
                <a:ea typeface="Calibri" panose="020F0502020204030204"/>
                <a:cs typeface="Calibri" panose="020F0502020204030204"/>
              </a:rPr>
              <a:t>ộ mới không phụ thuộc vào việc LLM phải </a:t>
            </a:r>
            <a:r>
              <a:rPr lang="" altLang="en-US" sz="1300">
                <a:solidFill>
                  <a:srgbClr val="13123A"/>
                </a:solidFill>
                <a:latin typeface="Calibri" panose="020F0502020204030204"/>
                <a:ea typeface="Calibri" panose="020F0502020204030204"/>
                <a:cs typeface="Calibri" panose="020F0502020204030204"/>
              </a:rPr>
              <a:t>đ</a:t>
            </a:r>
            <a:r>
              <a:rPr lang="en-US" altLang="en-US" sz="1300">
                <a:solidFill>
                  <a:srgbClr val="13123A"/>
                </a:solidFill>
                <a:latin typeface="Calibri" panose="020F0502020204030204"/>
                <a:ea typeface="Calibri" panose="020F0502020204030204"/>
                <a:cs typeface="Calibri" panose="020F0502020204030204"/>
              </a:rPr>
              <a:t>ọc toàn bộ lịch sử.</a:t>
            </a:r>
            <a:endParaRPr lang="en-US" altLang="en-US" sz="1300">
              <a:solidFill>
                <a:srgbClr val="13123A"/>
              </a:solidFill>
              <a:latin typeface="Calibri" panose="020F0502020204030204"/>
              <a:ea typeface="Calibri" panose="020F0502020204030204"/>
              <a:cs typeface="Calibri" panose="020F0502020204030204"/>
            </a:endParaRPr>
          </a:p>
        </p:txBody>
      </p:sp>
      <p:sp>
        <p:nvSpPr>
          <p:cNvPr id="26" name="Rectangle 25"/>
          <p:cNvSpPr/>
          <p:nvPr/>
        </p:nvSpPr>
        <p:spPr>
          <a:xfrm>
            <a:off x="571500" y="4724400"/>
            <a:ext cx="11049076" cy="9906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p:cNvSpPr txBox="1"/>
          <p:nvPr/>
        </p:nvSpPr>
        <p:spPr>
          <a:xfrm>
            <a:off x="890991" y="4902200"/>
            <a:ext cx="10383469" cy="330200"/>
          </a:xfrm>
          <a:prstGeom prst="rect">
            <a:avLst/>
          </a:prstGeom>
          <a:noFill/>
        </p:spPr>
        <p:txBody>
          <a:bodyPr vertOverflow="overflow" vert="horz" wrap="square" rtlCol="0" anchor="t" anchorCtr="0">
            <a:noAutofit/>
          </a:bodyPr>
          <a:lstStyle/>
          <a:p>
            <a:pPr algn="l"/>
            <a:r>
              <a:rPr lang="vi-VN" sz="1600" b="1">
                <a:solidFill>
                  <a:srgbClr val="FFFFFF"/>
                </a:solidFill>
                <a:latin typeface="Consolas" panose="020B0609020204030204"/>
              </a:rPr>
              <a:t>(subject, attribute) → value  +  số thứ tự đơn điệu seq</a:t>
            </a:r>
            <a:endParaRPr lang="en-US" sz="1600" b="1">
              <a:solidFill>
                <a:srgbClr val="FFFFFF"/>
              </a:solidFill>
              <a:latin typeface="Consolas" panose="020B0609020204030204"/>
            </a:endParaRPr>
          </a:p>
        </p:txBody>
      </p:sp>
      <p:sp>
        <p:nvSpPr>
          <p:cNvPr id="28" name="TextBox 27"/>
          <p:cNvSpPr txBox="1"/>
          <p:nvPr/>
        </p:nvSpPr>
        <p:spPr>
          <a:xfrm>
            <a:off x="890991" y="5283200"/>
            <a:ext cx="10383469" cy="304800"/>
          </a:xfrm>
          <a:prstGeom prst="rect">
            <a:avLst/>
          </a:prstGeom>
          <a:noFill/>
        </p:spPr>
        <p:txBody>
          <a:bodyPr vertOverflow="overflow" vert="horz" wrap="square" rtlCol="0" anchor="t" anchorCtr="0">
            <a:noAutofit/>
          </a:bodyPr>
          <a:lstStyle/>
          <a:p>
            <a:pPr algn="l"/>
            <a:r>
              <a:rPr lang="en-US" sz="1400">
                <a:solidFill>
                  <a:srgbClr val="E7E6E6"/>
                </a:solidFill>
                <a:latin typeface="Calibri" panose="020F0502020204030204"/>
                <a:ea typeface="Calibri" panose="020F0502020204030204"/>
                <a:cs typeface="Calibri" panose="020F0502020204030204"/>
              </a:rPr>
              <a:t>Câu hỏi “giá trị hiện tại là gì?” trở thành một phép max(), không phải một lời nhắc.</a:t>
            </a:r>
            <a:endParaRPr lang="en-US" sz="1400">
              <a:solidFill>
                <a:srgbClr val="E7E6E6"/>
              </a:solidFill>
              <a:latin typeface="Calibri" panose="020F0502020204030204"/>
              <a:ea typeface="Calibri" panose="020F0502020204030204"/>
              <a:cs typeface="Calibri" panose="020F0502020204030204"/>
            </a:endParaRPr>
          </a:p>
        </p:txBody>
      </p:sp>
      <p:sp>
        <p:nvSpPr>
          <p:cNvPr id="29" name="TextBox 28"/>
          <p:cNvSpPr txBox="1"/>
          <p:nvPr/>
        </p:nvSpPr>
        <p:spPr>
          <a:xfrm>
            <a:off x="571500" y="6324600"/>
            <a:ext cx="11049076" cy="406400"/>
          </a:xfrm>
          <a:prstGeom prst="rect">
            <a:avLst/>
          </a:prstGeom>
          <a:noFill/>
        </p:spPr>
        <p:txBody>
          <a:bodyPr vertOverflow="overflow" vert="horz" wrap="square" rtlCol="0" anchor="t" anchorCtr="0">
            <a:noAutofit/>
          </a:bodyPr>
          <a:lstStyle/>
          <a:p>
            <a:pPr algn="l"/>
            <a:r>
              <a:rPr lang="en-US" sz="1050">
                <a:solidFill>
                  <a:srgbClr val="6A6E85"/>
                </a:solidFill>
                <a:latin typeface="Calibri" panose="020F0502020204030204"/>
                <a:ea typeface="Calibri" panose="020F0502020204030204"/>
                <a:cs typeface="Calibri" panose="020F0502020204030204"/>
              </a:rPr>
              <a:t>Nguồn: Công thức tham chiếu: Reddy &amp; Challaram, arXiv:2606.01435 (2026) · Khung thao tác ADD/UPDATE/DELETE/NOOP: Chhikara et al., Mem0, ECAI 2025.</a:t>
            </a:r>
            <a:endParaRPr lang="en-US" sz="1050">
              <a:solidFill>
                <a:srgbClr val="6A6E85"/>
              </a:solidFill>
              <a:latin typeface="Calibri" panose="020F0502020204030204"/>
              <a:ea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THIẾT KẾ · 1/3</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Kiến trúc module</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879600"/>
            <a:ext cx="2356248" cy="8128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panose="020F0502020204030204"/>
                <a:ea typeface="Calibri" panose="020F0502020204030204"/>
                <a:cs typeface="Calibri" panose="020F0502020204030204"/>
              </a:rPr>
              <a:t>Giao diện (CLI)</a:t>
            </a:r>
            <a:endParaRPr lang="en-US" sz="1400" b="1">
              <a:solidFill>
                <a:srgbClr val="FFFFFF"/>
              </a:solidFill>
              <a:latin typeface="Calibri" panose="020F0502020204030204"/>
              <a:ea typeface="Calibri" panose="020F0502020204030204"/>
              <a:cs typeface="Calibri" panose="020F0502020204030204"/>
            </a:endParaRPr>
          </a:p>
        </p:txBody>
      </p:sp>
      <p:sp>
        <p:nvSpPr>
          <p:cNvPr id="5" name="Arrow: Left-Right 4"/>
          <p:cNvSpPr/>
          <p:nvPr/>
        </p:nvSpPr>
        <p:spPr>
          <a:xfrm>
            <a:off x="3100806" y="2159000"/>
            <a:ext cx="346115" cy="254000"/>
          </a:xfrm>
          <a:prstGeom prst="leftRightArrow">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p:cNvSpPr/>
          <p:nvPr/>
        </p:nvSpPr>
        <p:spPr>
          <a:xfrm>
            <a:off x="3460234" y="1879600"/>
            <a:ext cx="2356248" cy="8128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panose="020F0502020204030204"/>
                <a:ea typeface="Calibri" panose="020F0502020204030204"/>
                <a:cs typeface="Calibri" panose="020F0502020204030204"/>
              </a:rPr>
              <a:t>LTM Agent</a:t>
            </a:r>
            <a:endParaRPr lang="en-US" sz="1400" b="1">
              <a:solidFill>
                <a:srgbClr val="FFFFFF"/>
              </a:solidFill>
              <a:latin typeface="Calibri" panose="020F0502020204030204"/>
              <a:ea typeface="Calibri" panose="020F0502020204030204"/>
              <a:cs typeface="Calibri" panose="020F0502020204030204"/>
            </a:endParaRPr>
          </a:p>
        </p:txBody>
      </p:sp>
      <p:sp>
        <p:nvSpPr>
          <p:cNvPr id="7" name="Arrow: Left-Right 6"/>
          <p:cNvSpPr/>
          <p:nvPr/>
        </p:nvSpPr>
        <p:spPr>
          <a:xfrm>
            <a:off x="5989540" y="2159000"/>
            <a:ext cx="346115" cy="254000"/>
          </a:xfrm>
          <a:prstGeom prst="leftRightArrow">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p:cNvSpPr/>
          <p:nvPr/>
        </p:nvSpPr>
        <p:spPr>
          <a:xfrm>
            <a:off x="6348968" y="1879600"/>
            <a:ext cx="2356248" cy="812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13123A"/>
                </a:solidFill>
                <a:latin typeface="Calibri" panose="020F0502020204030204"/>
                <a:ea typeface="Calibri" panose="020F0502020204030204"/>
                <a:cs typeface="Calibri" panose="020F0502020204030204"/>
              </a:rPr>
              <a:t>Memory Manager</a:t>
            </a:r>
            <a:endParaRPr lang="en-US" sz="1400" b="1">
              <a:solidFill>
                <a:srgbClr val="13123A"/>
              </a:solidFill>
              <a:latin typeface="Calibri" panose="020F0502020204030204"/>
              <a:ea typeface="Calibri" panose="020F0502020204030204"/>
              <a:cs typeface="Calibri" panose="020F0502020204030204"/>
            </a:endParaRPr>
          </a:p>
        </p:txBody>
      </p:sp>
      <p:sp>
        <p:nvSpPr>
          <p:cNvPr id="9" name="Arrow: Left-Right 8"/>
          <p:cNvSpPr/>
          <p:nvPr/>
        </p:nvSpPr>
        <p:spPr>
          <a:xfrm>
            <a:off x="8878275" y="2159000"/>
            <a:ext cx="346115" cy="254000"/>
          </a:xfrm>
          <a:prstGeom prst="leftRightArrow">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p:cNvSpPr/>
          <p:nvPr/>
        </p:nvSpPr>
        <p:spPr>
          <a:xfrm>
            <a:off x="9237703" y="1879600"/>
            <a:ext cx="2356248" cy="8128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panose="020F0502020204030204"/>
                <a:ea typeface="Calibri" panose="020F0502020204030204"/>
                <a:cs typeface="Calibri" panose="020F0502020204030204"/>
              </a:rPr>
              <a:t>Vector DB (Chroma)</a:t>
            </a:r>
            <a:endParaRPr lang="en-US" sz="1400" b="1">
              <a:solidFill>
                <a:srgbClr val="FFFFFF"/>
              </a:solidFill>
              <a:latin typeface="Calibri" panose="020F0502020204030204"/>
              <a:ea typeface="Calibri" panose="020F0502020204030204"/>
              <a:cs typeface="Calibri" panose="020F0502020204030204"/>
            </a:endParaRPr>
          </a:p>
        </p:txBody>
      </p:sp>
      <p:sp>
        <p:nvSpPr>
          <p:cNvPr id="11" name="Rectangle 10"/>
          <p:cNvSpPr/>
          <p:nvPr/>
        </p:nvSpPr>
        <p:spPr>
          <a:xfrm>
            <a:off x="7507124" y="2692400"/>
            <a:ext cx="26624" cy="254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2" name="Rectangle 11"/>
          <p:cNvSpPr/>
          <p:nvPr/>
        </p:nvSpPr>
        <p:spPr>
          <a:xfrm>
            <a:off x="2262141" y="2946400"/>
            <a:ext cx="7481422" cy="254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3" name="Rectangle 12"/>
          <p:cNvSpPr/>
          <p:nvPr/>
        </p:nvSpPr>
        <p:spPr>
          <a:xfrm>
            <a:off x="2248829" y="2971800"/>
            <a:ext cx="26624" cy="203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4" name="Rectangle 13"/>
          <p:cNvSpPr/>
          <p:nvPr/>
        </p:nvSpPr>
        <p:spPr>
          <a:xfrm>
            <a:off x="664684" y="3175000"/>
            <a:ext cx="3194913" cy="685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13123A"/>
                </a:solidFill>
                <a:latin typeface="Calibri" panose="020F0502020204030204"/>
                <a:ea typeface="Calibri" panose="020F0502020204030204"/>
                <a:cs typeface="Calibri" panose="020F0502020204030204"/>
              </a:rPr>
              <a:t>FactExtractor
(pha 1)</a:t>
            </a:r>
            <a:endParaRPr lang="en-US" sz="1300" b="1">
              <a:solidFill>
                <a:srgbClr val="13123A"/>
              </a:solidFill>
              <a:latin typeface="Calibri" panose="020F0502020204030204"/>
              <a:ea typeface="Calibri" panose="020F0502020204030204"/>
              <a:cs typeface="Calibri" panose="020F0502020204030204"/>
            </a:endParaRPr>
          </a:p>
        </p:txBody>
      </p:sp>
      <p:sp>
        <p:nvSpPr>
          <p:cNvPr id="15" name="Rectangle 14"/>
          <p:cNvSpPr/>
          <p:nvPr/>
        </p:nvSpPr>
        <p:spPr>
          <a:xfrm>
            <a:off x="5989540" y="2971800"/>
            <a:ext cx="26624" cy="203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6" name="Rectangle 15"/>
          <p:cNvSpPr/>
          <p:nvPr/>
        </p:nvSpPr>
        <p:spPr>
          <a:xfrm>
            <a:off x="4405396" y="3175000"/>
            <a:ext cx="3194913" cy="685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13123A"/>
                </a:solidFill>
                <a:latin typeface="Calibri" panose="020F0502020204030204"/>
                <a:ea typeface="Calibri" panose="020F0502020204030204"/>
                <a:cs typeface="Calibri" panose="020F0502020204030204"/>
              </a:rPr>
              <a:t>MemoryUpdater
(pha 2)</a:t>
            </a:r>
            <a:endParaRPr lang="en-US" sz="1300" b="1">
              <a:solidFill>
                <a:srgbClr val="13123A"/>
              </a:solidFill>
              <a:latin typeface="Calibri" panose="020F0502020204030204"/>
              <a:ea typeface="Calibri" panose="020F0502020204030204"/>
              <a:cs typeface="Calibri" panose="020F0502020204030204"/>
            </a:endParaRPr>
          </a:p>
        </p:txBody>
      </p:sp>
      <p:sp>
        <p:nvSpPr>
          <p:cNvPr id="17" name="Rectangle 16"/>
          <p:cNvSpPr/>
          <p:nvPr/>
        </p:nvSpPr>
        <p:spPr>
          <a:xfrm>
            <a:off x="9730252" y="2971800"/>
            <a:ext cx="26624" cy="203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8" name="Rectangle 17"/>
          <p:cNvSpPr/>
          <p:nvPr/>
        </p:nvSpPr>
        <p:spPr>
          <a:xfrm>
            <a:off x="8146107" y="3175000"/>
            <a:ext cx="3194913" cy="685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13123A"/>
                </a:solidFill>
                <a:latin typeface="Calibri" panose="020F0502020204030204"/>
                <a:ea typeface="Calibri" panose="020F0502020204030204"/>
                <a:cs typeface="Calibri" panose="020F0502020204030204"/>
              </a:rPr>
              <a:t>MemoryRetriever
(pha 3)</a:t>
            </a:r>
            <a:endParaRPr lang="en-US" sz="1300" b="1">
              <a:solidFill>
                <a:srgbClr val="13123A"/>
              </a:solidFill>
              <a:latin typeface="Calibri" panose="020F0502020204030204"/>
              <a:ea typeface="Calibri" panose="020F0502020204030204"/>
              <a:cs typeface="Calibri" panose="020F0502020204030204"/>
            </a:endParaRPr>
          </a:p>
        </p:txBody>
      </p:sp>
      <p:sp>
        <p:nvSpPr>
          <p:cNvPr id="19" name="Rectangle 18"/>
          <p:cNvSpPr/>
          <p:nvPr/>
        </p:nvSpPr>
        <p:spPr>
          <a:xfrm>
            <a:off x="571500" y="4089400"/>
            <a:ext cx="11049076" cy="14986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p:cNvSpPr/>
          <p:nvPr/>
        </p:nvSpPr>
        <p:spPr>
          <a:xfrm>
            <a:off x="571500" y="4089400"/>
            <a:ext cx="66560" cy="14986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21" name="TextBox 20"/>
          <p:cNvSpPr txBox="1"/>
          <p:nvPr/>
        </p:nvSpPr>
        <p:spPr>
          <a:xfrm>
            <a:off x="864367" y="4267200"/>
            <a:ext cx="5324856" cy="254000"/>
          </a:xfrm>
          <a:prstGeom prst="rect">
            <a:avLst/>
          </a:prstGeom>
          <a:noFill/>
        </p:spPr>
        <p:txBody>
          <a:bodyPr vertOverflow="overflow" vert="horz" wrap="square" rtlCol="0" anchor="t">
            <a:noAutofit/>
          </a:bodyPr>
          <a:lstStyle/>
          <a:p>
            <a:pPr algn="l"/>
            <a:r>
              <a:rPr lang="en-US" sz="1300" b="1">
                <a:solidFill>
                  <a:srgbClr val="0F6E6E"/>
                </a:solidFill>
                <a:latin typeface="Calibri" panose="020F0502020204030204"/>
                <a:ea typeface="Calibri" panose="020F0502020204030204"/>
                <a:cs typeface="Calibri" panose="020F0502020204030204"/>
              </a:rPr>
              <a:t>NGUYÊN TẮC TÁCH LỚP</a:t>
            </a:r>
            <a:endParaRPr lang="en-US" sz="1300" b="1">
              <a:solidFill>
                <a:srgbClr val="0F6E6E"/>
              </a:solidFill>
              <a:latin typeface="Calibri" panose="020F0502020204030204"/>
              <a:ea typeface="Calibri" panose="020F0502020204030204"/>
              <a:cs typeface="Calibri" panose="020F0502020204030204"/>
            </a:endParaRPr>
          </a:p>
        </p:txBody>
      </p:sp>
      <p:sp>
        <p:nvSpPr>
          <p:cNvPr id="22" name="TextBox 21"/>
          <p:cNvSpPr txBox="1"/>
          <p:nvPr/>
        </p:nvSpPr>
        <p:spPr>
          <a:xfrm>
            <a:off x="864367" y="4572000"/>
            <a:ext cx="10516590" cy="914400"/>
          </a:xfrm>
          <a:prstGeom prst="rect">
            <a:avLst/>
          </a:prstGeom>
          <a:noFill/>
        </p:spPr>
        <p:txBody>
          <a:bodyPr vertOverflow="overflow" vert="horz" wrap="square" rtlCol="0" anchor="t">
            <a:noAutofit/>
          </a:bodyPr>
          <a:lstStyle/>
          <a:p>
            <a:pPr algn="l"/>
            <a:r>
              <a:rPr lang="vi-VN" sz="1400">
                <a:solidFill>
                  <a:srgbClr val="13123A"/>
                </a:solidFill>
                <a:latin typeface="Calibri" panose="020F0502020204030204"/>
                <a:ea typeface="Calibri" panose="020F0502020204030204"/>
                <a:cs typeface="Calibri" panose="020F0502020204030204"/>
              </a:rPr>
              <a:t>LLM và Vector DB đều nằm sau interface trừu tượng. Đổi OpenAI → Gemini, hay Chroma → Qdrant, chỉ là thêm một file adapter, không đụng vào lõi. Cần thiết vì phần đánh giá phải chạy cùng một cơ chế trên nhiều LLM nền để kiểm soát phương sai theo backbone.</a:t>
            </a:r>
            <a:endParaRPr lang="en-US" sz="1400">
              <a:solidFill>
                <a:srgbClr val="13123A"/>
              </a:solidFill>
              <a:latin typeface="Calibri" panose="020F0502020204030204"/>
              <a:ea typeface="Calibri" panose="020F0502020204030204"/>
              <a:cs typeface="Calibri" panose="020F0502020204030204"/>
            </a:endParaRPr>
          </a:p>
        </p:txBody>
      </p:sp>
      <p:sp>
        <p:nvSpPr>
          <p:cNvPr id="23" name="TextBox 22"/>
          <p:cNvSpPr txBox="1"/>
          <p:nvPr/>
        </p:nvSpPr>
        <p:spPr>
          <a:xfrm>
            <a:off x="571500" y="6413500"/>
            <a:ext cx="11049076" cy="304800"/>
          </a:xfrm>
          <a:prstGeom prst="rect">
            <a:avLst/>
          </a:prstGeom>
          <a:noFill/>
        </p:spPr>
        <p:txBody>
          <a:bodyPr vertOverflow="overflow" vert="horz" wrap="square" rtlCol="0" anchor="t">
            <a:noAutofit/>
          </a:bodyPr>
          <a:lstStyle/>
          <a:p>
            <a:pPr algn="l"/>
            <a:r>
              <a:rPr lang="vi-VN" sz="1050">
                <a:solidFill>
                  <a:srgbClr val="6A6E85"/>
                </a:solidFill>
                <a:latin typeface="Calibri" panose="020F0502020204030204"/>
                <a:ea typeface="Calibri" panose="020F0502020204030204"/>
                <a:cs typeface="Calibri" panose="020F0502020204030204"/>
              </a:rPr>
              <a:t>Nguồn: Cảnh báo về phương sai theo LLM nền: Jiang et al., Anatomy of Agentic Memory, arXiv:2602.19320 (2026).</a:t>
            </a:r>
            <a:endParaRPr lang="en-US" sz="1050">
              <a:solidFill>
                <a:srgbClr val="6A6E85"/>
              </a:solidFill>
              <a:latin typeface="Calibri" panose="020F0502020204030204"/>
              <a:ea typeface="Calibri" panose="020F0502020204030204"/>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THIẾT KẾ · 2/3</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Mỗi ký ức là một slot, không phải một câu rời</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676400"/>
            <a:ext cx="11049076" cy="8636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p:cNvSpPr txBox="1"/>
          <p:nvPr/>
        </p:nvSpPr>
        <p:spPr>
          <a:xfrm>
            <a:off x="571500" y="1828800"/>
            <a:ext cx="11049076" cy="304800"/>
          </a:xfrm>
          <a:prstGeom prst="rect">
            <a:avLst/>
          </a:prstGeom>
          <a:noFill/>
        </p:spPr>
        <p:txBody>
          <a:bodyPr vertOverflow="overflow" vert="horz" wrap="square" rtlCol="0" anchor="t">
            <a:noAutofit/>
          </a:bodyPr>
          <a:lstStyle/>
          <a:p>
            <a:pPr algn="l"/>
            <a:r>
              <a:rPr lang="en-US" sz="1600" b="1">
                <a:solidFill>
                  <a:srgbClr val="FFFFFF"/>
                </a:solidFill>
                <a:latin typeface="Consolas" panose="020B0609020204030204"/>
              </a:rPr>
              <a:t>(subject, attribute)  ──&gt;  value        +  seq</a:t>
            </a:r>
            <a:endParaRPr lang="en-US" sz="1600" b="1">
              <a:solidFill>
                <a:srgbClr val="FFFFFF"/>
              </a:solidFill>
              <a:latin typeface="Consolas" panose="020B0609020204030204"/>
            </a:endParaRPr>
          </a:p>
        </p:txBody>
      </p:sp>
      <p:sp>
        <p:nvSpPr>
          <p:cNvPr id="6" name="TextBox 5"/>
          <p:cNvSpPr txBox="1"/>
          <p:nvPr/>
        </p:nvSpPr>
        <p:spPr>
          <a:xfrm>
            <a:off x="571500" y="2159000"/>
            <a:ext cx="11049076" cy="279400"/>
          </a:xfrm>
          <a:prstGeom prst="rect">
            <a:avLst/>
          </a:prstGeom>
          <a:noFill/>
        </p:spPr>
        <p:txBody>
          <a:bodyPr vertOverflow="overflow" vert="horz" wrap="square" rtlCol="0" anchor="t">
            <a:noAutofit/>
          </a:bodyPr>
          <a:lstStyle/>
          <a:p>
            <a:pPr algn="l"/>
            <a:r>
              <a:rPr lang="pt-BR" sz="1400">
                <a:solidFill>
                  <a:srgbClr val="FCEFD5"/>
                </a:solidFill>
                <a:latin typeface="Consolas" panose="020B0609020204030204"/>
              </a:rPr>
              <a:t>  "user"  "trinh_do_tieng_nhat"      "N4"         #4</a:t>
            </a:r>
            <a:endParaRPr lang="en-US" sz="1400">
              <a:solidFill>
                <a:srgbClr val="FCEFD5"/>
              </a:solidFill>
              <a:latin typeface="Consolas" panose="020B0609020204030204"/>
            </a:endParaRPr>
          </a:p>
        </p:txBody>
      </p:sp>
      <p:graphicFrame>
        <p:nvGraphicFramePr>
          <p:cNvPr id="8" name="Table 7"/>
          <p:cNvGraphicFramePr>
            <a:graphicFrameLocks noGrp="1"/>
          </p:cNvGraphicFramePr>
          <p:nvPr/>
        </p:nvGraphicFramePr>
        <p:xfrm>
          <a:off x="571500" y="2692400"/>
          <a:ext cx="11049076" cy="2171700"/>
        </p:xfrm>
        <a:graphic>
          <a:graphicData uri="http://schemas.openxmlformats.org/drawingml/2006/table">
            <a:tbl>
              <a:tblPr firstRow="1" bandRow="1">
                <a:tableStyleId>{5C22544A-7EE6-4342-B048-85BDC9FD1C3A}</a:tableStyleId>
              </a:tblPr>
              <a:tblGrid>
                <a:gridCol w="3328034"/>
                <a:gridCol w="7721042"/>
              </a:tblGrid>
              <a:tr h="330200">
                <a:tc>
                  <a:txBody>
                    <a:bodyPr/>
                    <a:lstStyle/>
                    <a:p>
                      <a:pPr algn="l"/>
                      <a:r>
                        <a:rPr lang="en-US" sz="1200" b="1">
                          <a:solidFill>
                            <a:srgbClr val="FFFFFF"/>
                          </a:solidFill>
                          <a:latin typeface="Calibri" panose="020F0502020204030204"/>
                          <a:ea typeface="Calibri" panose="020F0502020204030204"/>
                          <a:cs typeface="Calibri" panose="020F0502020204030204"/>
                        </a:rPr>
                        <a:t>TRƯỜNG</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VAI TRÒ</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r>
              <a:tr h="368300">
                <a:tc>
                  <a:txBody>
                    <a:bodyPr/>
                    <a:lstStyle/>
                    <a:p>
                      <a:pPr algn="l"/>
                      <a:r>
                        <a:rPr lang="en-US" sz="1300" b="1">
                          <a:solidFill>
                            <a:srgbClr val="3A36A0"/>
                          </a:solidFill>
                          <a:latin typeface="Consolas" panose="020B0609020204030204"/>
                        </a:rPr>
                        <a:t>seq</a:t>
                      </a:r>
                      <a:endParaRPr lang="en-US" sz="1300" b="1">
                        <a:solidFill>
                          <a:srgbClr val="3A36A0"/>
                        </a:solidFill>
                        <a:latin typeface="Consolas" panose="020B0609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Số thứ tự đơn điệu — nguồn sự thật duy nhất về độ mới</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r h="368300">
                <a:tc>
                  <a:txBody>
                    <a:bodyPr/>
                    <a:lstStyle/>
                    <a:p>
                      <a:pPr algn="l"/>
                      <a:r>
                        <a:rPr lang="en-US" sz="1300" b="1">
                          <a:solidFill>
                            <a:srgbClr val="3A36A0"/>
                          </a:solidFill>
                          <a:latin typeface="Consolas" panose="020B0609020204030204"/>
                        </a:rPr>
                        <a:t>status</a:t>
                      </a:r>
                      <a:endParaRPr lang="en-US" sz="1300" b="1">
                        <a:solidFill>
                          <a:srgbClr val="3A36A0"/>
                        </a:solidFill>
                        <a:latin typeface="Consolas" panose="020B0609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active / superseded / deleted</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r>
              <a:tr h="368300">
                <a:tc>
                  <a:txBody>
                    <a:bodyPr/>
                    <a:lstStyle/>
                    <a:p>
                      <a:pPr algn="l"/>
                      <a:r>
                        <a:rPr lang="en-US" sz="1300" b="1">
                          <a:solidFill>
                            <a:srgbClr val="3A36A0"/>
                          </a:solidFill>
                          <a:latin typeface="Consolas" panose="020B0609020204030204"/>
                        </a:rPr>
                        <a:t>superseded_by</a:t>
                      </a:r>
                      <a:endParaRPr lang="en-US" sz="1300" b="1">
                        <a:solidFill>
                          <a:srgbClr val="3A36A0"/>
                        </a:solidFill>
                        <a:latin typeface="Consolas" panose="020B0609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Trỏ tới bản đã thay thế nó → dựng lại được dòng lịch sử</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r h="368300">
                <a:tc>
                  <a:txBody>
                    <a:bodyPr/>
                    <a:lstStyle/>
                    <a:p>
                      <a:pPr algn="l"/>
                      <a:r>
                        <a:rPr lang="en-US" sz="1300" b="1">
                          <a:solidFill>
                            <a:srgbClr val="3A36A0"/>
                          </a:solidFill>
                          <a:latin typeface="Consolas" panose="020B0609020204030204"/>
                        </a:rPr>
                        <a:t>valid_from / invalidated_at</a:t>
                      </a:r>
                      <a:endParaRPr lang="en-US" sz="1300" b="1">
                        <a:solidFill>
                          <a:srgbClr val="3A36A0"/>
                        </a:solidFill>
                        <a:latin typeface="Consolas" panose="020B0609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Khoảng hiệu lực → phục vụ câu hỏi suy luận thời gian</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r>
              <a:tr h="368300">
                <a:tc>
                  <a:txBody>
                    <a:bodyPr/>
                    <a:lstStyle/>
                    <a:p>
                      <a:pPr algn="l"/>
                      <a:r>
                        <a:rPr lang="en-US" sz="1300" b="1">
                          <a:solidFill>
                            <a:srgbClr val="3A36A0"/>
                          </a:solidFill>
                          <a:latin typeface="Consolas" panose="020B0609020204030204"/>
                        </a:rPr>
                        <a:t>text</a:t>
                      </a:r>
                      <a:endParaRPr lang="en-US" sz="1300" b="1">
                        <a:solidFill>
                          <a:srgbClr val="3A36A0"/>
                        </a:solidFill>
                        <a:latin typeface="Consolas" panose="020B0609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Câu tự nhiên — đây là thứ được nhúng embedding</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bl>
          </a:graphicData>
        </a:graphic>
      </p:graphicFrame>
      <p:sp>
        <p:nvSpPr>
          <p:cNvPr id="9" name="Rectangle 8"/>
          <p:cNvSpPr/>
          <p:nvPr/>
        </p:nvSpPr>
        <p:spPr>
          <a:xfrm>
            <a:off x="571500" y="5029200"/>
            <a:ext cx="11049076" cy="8382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p:cNvSpPr/>
          <p:nvPr/>
        </p:nvSpPr>
        <p:spPr>
          <a:xfrm>
            <a:off x="571500" y="5029200"/>
            <a:ext cx="66560" cy="838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1" name="TextBox 10"/>
          <p:cNvSpPr txBox="1"/>
          <p:nvPr/>
        </p:nvSpPr>
        <p:spPr>
          <a:xfrm>
            <a:off x="864367" y="5207000"/>
            <a:ext cx="10516590" cy="584200"/>
          </a:xfrm>
          <a:prstGeom prst="rect">
            <a:avLst/>
          </a:prstGeom>
          <a:noFill/>
        </p:spPr>
        <p:txBody>
          <a:bodyPr vertOverflow="overflow" vert="horz" wrap="square" rtlCol="0" anchor="t">
            <a:noAutofit/>
          </a:bodyPr>
          <a:lstStyle/>
          <a:p>
            <a:pPr algn="l"/>
            <a:r>
              <a:rPr lang="vi-VN" sz="1400" b="1">
                <a:solidFill>
                  <a:srgbClr val="3A36A0"/>
                </a:solidFill>
                <a:latin typeface="Calibri" panose="020F0502020204030204"/>
                <a:ea typeface="Calibri" panose="020F0502020204030204"/>
                <a:cs typeface="Calibri" panose="020F0502020204030204"/>
              </a:rPr>
              <a:t>Bản cũ không bị xóa, chỉ chuyển sang superseded. Giữ lại để (a) trả lời được “hồi tháng 5 trình độ tôi là gì?”,
(b) truy vết khi debug.</a:t>
            </a:r>
            <a:endParaRPr lang="en-US" sz="1400" b="1">
              <a:solidFill>
                <a:srgbClr val="3A36A0"/>
              </a:solidFill>
              <a:latin typeface="Calibri" panose="020F0502020204030204"/>
              <a:ea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THIẾT KẾ · 3/3</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vi-VN" sz="3000" b="1">
                <a:solidFill>
                  <a:srgbClr val="13123A"/>
                </a:solidFill>
                <a:latin typeface="Cambria" panose="02040503050406030204"/>
                <a:ea typeface="Cambria" panose="02040503050406030204"/>
              </a:rPr>
              <a:t>Luồng xử lý một lượt hội thoại</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7526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p:cNvSpPr/>
          <p:nvPr/>
        </p:nvSpPr>
        <p:spPr>
          <a:xfrm>
            <a:off x="784494" y="20574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panose="020F0502020204030204"/>
                <a:ea typeface="Calibri" panose="020F0502020204030204"/>
                <a:cs typeface="Calibri" panose="020F0502020204030204"/>
              </a:rPr>
              <a:t>1</a:t>
            </a:r>
            <a:endParaRPr lang="en-US" sz="1600" b="1">
              <a:solidFill>
                <a:srgbClr val="FFFFFF"/>
              </a:solidFill>
              <a:latin typeface="Calibri" panose="020F0502020204030204"/>
              <a:ea typeface="Calibri" panose="020F0502020204030204"/>
              <a:cs typeface="Calibri" panose="020F0502020204030204"/>
            </a:endParaRPr>
          </a:p>
        </p:txBody>
      </p:sp>
      <p:sp>
        <p:nvSpPr>
          <p:cNvPr id="6" name="TextBox 5"/>
          <p:cNvSpPr txBox="1"/>
          <p:nvPr/>
        </p:nvSpPr>
        <p:spPr>
          <a:xfrm>
            <a:off x="1423476" y="19304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panose="02040503050406030204"/>
                <a:ea typeface="Cambria" panose="02040503050406030204"/>
              </a:rPr>
              <a:t>Trích xuất</a:t>
            </a:r>
            <a:endParaRPr lang="en-US" sz="1600" b="1">
              <a:solidFill>
                <a:srgbClr val="13123A"/>
              </a:solidFill>
              <a:latin typeface="Cambria" panose="02040503050406030204"/>
              <a:ea typeface="Cambria" panose="02040503050406030204"/>
            </a:endParaRPr>
          </a:p>
        </p:txBody>
      </p:sp>
      <p:sp>
        <p:nvSpPr>
          <p:cNvPr id="7" name="TextBox 6"/>
          <p:cNvSpPr txBox="1"/>
          <p:nvPr/>
        </p:nvSpPr>
        <p:spPr>
          <a:xfrm>
            <a:off x="1423476" y="22606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panose="020F0502020204030204"/>
                <a:ea typeface="Calibri" panose="020F0502020204030204"/>
                <a:cs typeface="Calibri" panose="020F0502020204030204"/>
              </a:rPr>
              <a:t>LLM</a:t>
            </a:r>
            <a:endParaRPr lang="en-US" sz="1200" b="1">
              <a:solidFill>
                <a:srgbClr val="0F6E6E"/>
              </a:solidFill>
              <a:latin typeface="Calibri" panose="020F0502020204030204"/>
              <a:ea typeface="Calibri" panose="020F0502020204030204"/>
              <a:cs typeface="Calibri" panose="020F0502020204030204"/>
            </a:endParaRPr>
          </a:p>
        </p:txBody>
      </p:sp>
      <p:sp>
        <p:nvSpPr>
          <p:cNvPr id="8" name="TextBox 7"/>
          <p:cNvSpPr txBox="1"/>
          <p:nvPr/>
        </p:nvSpPr>
        <p:spPr>
          <a:xfrm>
            <a:off x="1423476" y="2489200"/>
            <a:ext cx="4526127" cy="381000"/>
          </a:xfrm>
          <a:prstGeom prst="rect">
            <a:avLst/>
          </a:prstGeom>
          <a:noFill/>
        </p:spPr>
        <p:txBody>
          <a:bodyPr vertOverflow="overflow" vert="horz" wrap="square" rtlCol="0" anchor="t">
            <a:noAutofit/>
          </a:bodyPr>
          <a:lstStyle/>
          <a:p>
            <a:pPr algn="l"/>
            <a:r>
              <a:rPr lang="vi-VN" sz="1200">
                <a:solidFill>
                  <a:srgbClr val="6A6E85"/>
                </a:solidFill>
                <a:latin typeface="Calibri" panose="020F0502020204030204"/>
                <a:ea typeface="Calibri" panose="020F0502020204030204"/>
                <a:cs typeface="Calibri" panose="020F0502020204030204"/>
              </a:rPr>
              <a:t>Lượt hội thoại → danh sách {attribute, value, text, negated}</a:t>
            </a:r>
            <a:endParaRPr lang="en-US" sz="1200">
              <a:solidFill>
                <a:srgbClr val="6A6E85"/>
              </a:solidFill>
              <a:latin typeface="Calibri" panose="020F0502020204030204"/>
              <a:ea typeface="Calibri" panose="020F0502020204030204"/>
              <a:cs typeface="Calibri" panose="020F0502020204030204"/>
            </a:endParaRPr>
          </a:p>
        </p:txBody>
      </p:sp>
      <p:sp>
        <p:nvSpPr>
          <p:cNvPr id="9" name="Rectangle 8"/>
          <p:cNvSpPr/>
          <p:nvPr/>
        </p:nvSpPr>
        <p:spPr>
          <a:xfrm>
            <a:off x="6229159" y="17526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Oval 9"/>
          <p:cNvSpPr/>
          <p:nvPr/>
        </p:nvSpPr>
        <p:spPr>
          <a:xfrm>
            <a:off x="6442153" y="20574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panose="020F0502020204030204"/>
                <a:ea typeface="Calibri" panose="020F0502020204030204"/>
                <a:cs typeface="Calibri" panose="020F0502020204030204"/>
              </a:rPr>
              <a:t>2</a:t>
            </a:r>
            <a:endParaRPr lang="en-US" sz="1600" b="1">
              <a:solidFill>
                <a:srgbClr val="FFFFFF"/>
              </a:solidFill>
              <a:latin typeface="Calibri" panose="020F0502020204030204"/>
              <a:ea typeface="Calibri" panose="020F0502020204030204"/>
              <a:cs typeface="Calibri" panose="020F0502020204030204"/>
            </a:endParaRPr>
          </a:p>
        </p:txBody>
      </p:sp>
      <p:sp>
        <p:nvSpPr>
          <p:cNvPr id="11" name="TextBox 10"/>
          <p:cNvSpPr txBox="1"/>
          <p:nvPr/>
        </p:nvSpPr>
        <p:spPr>
          <a:xfrm>
            <a:off x="7081136" y="19304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panose="02040503050406030204"/>
                <a:ea typeface="Cambria" panose="02040503050406030204"/>
              </a:rPr>
              <a:t>Cập nhật</a:t>
            </a:r>
            <a:endParaRPr lang="en-US" sz="1600" b="1">
              <a:solidFill>
                <a:srgbClr val="13123A"/>
              </a:solidFill>
              <a:latin typeface="Cambria" panose="02040503050406030204"/>
              <a:ea typeface="Cambria" panose="02040503050406030204"/>
            </a:endParaRPr>
          </a:p>
        </p:txBody>
      </p:sp>
      <p:sp>
        <p:nvSpPr>
          <p:cNvPr id="12" name="TextBox 11"/>
          <p:cNvSpPr txBox="1"/>
          <p:nvPr/>
        </p:nvSpPr>
        <p:spPr>
          <a:xfrm>
            <a:off x="7081136" y="22606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panose="020F0502020204030204"/>
                <a:ea typeface="Calibri" panose="020F0502020204030204"/>
                <a:cs typeface="Calibri" panose="020F0502020204030204"/>
              </a:rPr>
              <a:t>Python</a:t>
            </a:r>
            <a:endParaRPr lang="en-US" sz="1200" b="1">
              <a:solidFill>
                <a:srgbClr val="0F6E6E"/>
              </a:solidFill>
              <a:latin typeface="Calibri" panose="020F0502020204030204"/>
              <a:ea typeface="Calibri" panose="020F0502020204030204"/>
              <a:cs typeface="Calibri" panose="020F0502020204030204"/>
            </a:endParaRPr>
          </a:p>
        </p:txBody>
      </p:sp>
      <p:sp>
        <p:nvSpPr>
          <p:cNvPr id="13" name="TextBox 12"/>
          <p:cNvSpPr txBox="1"/>
          <p:nvPr/>
        </p:nvSpPr>
        <p:spPr>
          <a:xfrm>
            <a:off x="7081136" y="2489200"/>
            <a:ext cx="4526127" cy="381000"/>
          </a:xfrm>
          <a:prstGeom prst="rect">
            <a:avLst/>
          </a:prstGeom>
          <a:noFill/>
        </p:spPr>
        <p:txBody>
          <a:bodyPr vertOverflow="overflow" vert="horz" wrap="square" rtlCol="0" anchor="t">
            <a:noAutofit/>
          </a:bodyPr>
          <a:lstStyle/>
          <a:p>
            <a:pPr algn="l"/>
            <a:r>
              <a:rPr lang="nb-NO" sz="1200">
                <a:solidFill>
                  <a:srgbClr val="6A6E85"/>
                </a:solidFill>
                <a:latin typeface="Calibri" panose="020F0502020204030204"/>
                <a:ea typeface="Calibri" panose="020F0502020204030204"/>
                <a:cs typeface="Calibri" panose="020F0502020204030204"/>
              </a:rPr>
              <a:t>Ghép slot → ADD / UPDATE / DELETE / NOOP</a:t>
            </a:r>
            <a:endParaRPr lang="en-US" sz="1200">
              <a:solidFill>
                <a:srgbClr val="6A6E85"/>
              </a:solidFill>
              <a:latin typeface="Calibri" panose="020F0502020204030204"/>
              <a:ea typeface="Calibri" panose="020F0502020204030204"/>
              <a:cs typeface="Calibri" panose="020F0502020204030204"/>
            </a:endParaRPr>
          </a:p>
        </p:txBody>
      </p:sp>
      <p:sp>
        <p:nvSpPr>
          <p:cNvPr id="14" name="Rectangle 13"/>
          <p:cNvSpPr/>
          <p:nvPr/>
        </p:nvSpPr>
        <p:spPr>
          <a:xfrm>
            <a:off x="571500" y="29718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val 14"/>
          <p:cNvSpPr/>
          <p:nvPr/>
        </p:nvSpPr>
        <p:spPr>
          <a:xfrm>
            <a:off x="784494" y="32766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panose="020F0502020204030204"/>
                <a:ea typeface="Calibri" panose="020F0502020204030204"/>
                <a:cs typeface="Calibri" panose="020F0502020204030204"/>
              </a:rPr>
              <a:t>3</a:t>
            </a:r>
            <a:endParaRPr lang="en-US" sz="1600" b="1">
              <a:solidFill>
                <a:srgbClr val="FFFFFF"/>
              </a:solidFill>
              <a:latin typeface="Calibri" panose="020F0502020204030204"/>
              <a:ea typeface="Calibri" panose="020F0502020204030204"/>
              <a:cs typeface="Calibri" panose="020F0502020204030204"/>
            </a:endParaRPr>
          </a:p>
        </p:txBody>
      </p:sp>
      <p:sp>
        <p:nvSpPr>
          <p:cNvPr id="16" name="TextBox 15"/>
          <p:cNvSpPr txBox="1"/>
          <p:nvPr/>
        </p:nvSpPr>
        <p:spPr>
          <a:xfrm>
            <a:off x="1423476" y="31496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panose="02040503050406030204"/>
                <a:ea typeface="Cambria" panose="02040503050406030204"/>
              </a:rPr>
              <a:t>Truy xuất</a:t>
            </a:r>
            <a:endParaRPr lang="en-US" sz="1600" b="1">
              <a:solidFill>
                <a:srgbClr val="13123A"/>
              </a:solidFill>
              <a:latin typeface="Cambria" panose="02040503050406030204"/>
              <a:ea typeface="Cambria" panose="02040503050406030204"/>
            </a:endParaRPr>
          </a:p>
        </p:txBody>
      </p:sp>
      <p:sp>
        <p:nvSpPr>
          <p:cNvPr id="17" name="TextBox 16"/>
          <p:cNvSpPr txBox="1"/>
          <p:nvPr/>
        </p:nvSpPr>
        <p:spPr>
          <a:xfrm>
            <a:off x="1423476" y="34798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panose="020F0502020204030204"/>
                <a:ea typeface="Calibri" panose="020F0502020204030204"/>
                <a:cs typeface="Calibri" panose="020F0502020204030204"/>
              </a:rPr>
              <a:t>Embedding + Python</a:t>
            </a:r>
            <a:endParaRPr lang="en-US" sz="1200" b="1">
              <a:solidFill>
                <a:srgbClr val="0F6E6E"/>
              </a:solidFill>
              <a:latin typeface="Calibri" panose="020F0502020204030204"/>
              <a:ea typeface="Calibri" panose="020F0502020204030204"/>
              <a:cs typeface="Calibri" panose="020F0502020204030204"/>
            </a:endParaRPr>
          </a:p>
        </p:txBody>
      </p:sp>
      <p:sp>
        <p:nvSpPr>
          <p:cNvPr id="18" name="TextBox 17"/>
          <p:cNvSpPr txBox="1"/>
          <p:nvPr/>
        </p:nvSpPr>
        <p:spPr>
          <a:xfrm>
            <a:off x="1423476" y="3708400"/>
            <a:ext cx="4526127" cy="3810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Top-k trên status=active, rồi gom theo slot giữ max(seq)</a:t>
            </a:r>
            <a:endParaRPr lang="en-US" sz="1200">
              <a:solidFill>
                <a:srgbClr val="6A6E85"/>
              </a:solidFill>
              <a:latin typeface="Calibri" panose="020F0502020204030204"/>
              <a:ea typeface="Calibri" panose="020F0502020204030204"/>
              <a:cs typeface="Calibri" panose="020F0502020204030204"/>
            </a:endParaRPr>
          </a:p>
        </p:txBody>
      </p:sp>
      <p:sp>
        <p:nvSpPr>
          <p:cNvPr id="19" name="Rectangle 18"/>
          <p:cNvSpPr/>
          <p:nvPr/>
        </p:nvSpPr>
        <p:spPr>
          <a:xfrm>
            <a:off x="6229159" y="29718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Oval 19"/>
          <p:cNvSpPr/>
          <p:nvPr/>
        </p:nvSpPr>
        <p:spPr>
          <a:xfrm>
            <a:off x="6442153" y="32766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panose="020F0502020204030204"/>
                <a:ea typeface="Calibri" panose="020F0502020204030204"/>
                <a:cs typeface="Calibri" panose="020F0502020204030204"/>
              </a:rPr>
              <a:t>4</a:t>
            </a:r>
            <a:endParaRPr lang="en-US" sz="1600" b="1">
              <a:solidFill>
                <a:srgbClr val="FFFFFF"/>
              </a:solidFill>
              <a:latin typeface="Calibri" panose="020F0502020204030204"/>
              <a:ea typeface="Calibri" panose="020F0502020204030204"/>
              <a:cs typeface="Calibri" panose="020F0502020204030204"/>
            </a:endParaRPr>
          </a:p>
        </p:txBody>
      </p:sp>
      <p:sp>
        <p:nvSpPr>
          <p:cNvPr id="21" name="TextBox 20"/>
          <p:cNvSpPr txBox="1"/>
          <p:nvPr/>
        </p:nvSpPr>
        <p:spPr>
          <a:xfrm>
            <a:off x="7081136" y="31496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panose="02040503050406030204"/>
                <a:ea typeface="Cambria" panose="02040503050406030204"/>
              </a:rPr>
              <a:t>Sinh phản hồi</a:t>
            </a:r>
            <a:endParaRPr lang="en-US" sz="1600" b="1">
              <a:solidFill>
                <a:srgbClr val="13123A"/>
              </a:solidFill>
              <a:latin typeface="Cambria" panose="02040503050406030204"/>
              <a:ea typeface="Cambria" panose="02040503050406030204"/>
            </a:endParaRPr>
          </a:p>
        </p:txBody>
      </p:sp>
      <p:sp>
        <p:nvSpPr>
          <p:cNvPr id="22" name="TextBox 21"/>
          <p:cNvSpPr txBox="1"/>
          <p:nvPr/>
        </p:nvSpPr>
        <p:spPr>
          <a:xfrm>
            <a:off x="7081136" y="34798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panose="020F0502020204030204"/>
                <a:ea typeface="Calibri" panose="020F0502020204030204"/>
                <a:cs typeface="Calibri" panose="020F0502020204030204"/>
              </a:rPr>
              <a:t>LLM</a:t>
            </a:r>
            <a:endParaRPr lang="en-US" sz="1200" b="1">
              <a:solidFill>
                <a:srgbClr val="0F6E6E"/>
              </a:solidFill>
              <a:latin typeface="Calibri" panose="020F0502020204030204"/>
              <a:ea typeface="Calibri" panose="020F0502020204030204"/>
              <a:cs typeface="Calibri" panose="020F0502020204030204"/>
            </a:endParaRPr>
          </a:p>
        </p:txBody>
      </p:sp>
      <p:sp>
        <p:nvSpPr>
          <p:cNvPr id="23" name="TextBox 22"/>
          <p:cNvSpPr txBox="1"/>
          <p:nvPr/>
        </p:nvSpPr>
        <p:spPr>
          <a:xfrm>
            <a:off x="7081136" y="3708400"/>
            <a:ext cx="4526127" cy="3810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Chèn ký ức vào prompt kèm số seq</a:t>
            </a:r>
            <a:endParaRPr lang="en-US" sz="1200">
              <a:solidFill>
                <a:srgbClr val="6A6E85"/>
              </a:solidFill>
              <a:latin typeface="Calibri" panose="020F0502020204030204"/>
              <a:ea typeface="Calibri" panose="020F0502020204030204"/>
              <a:cs typeface="Calibri" panose="020F0502020204030204"/>
            </a:endParaRPr>
          </a:p>
        </p:txBody>
      </p:sp>
      <p:sp>
        <p:nvSpPr>
          <p:cNvPr id="24" name="Rectangle 23"/>
          <p:cNvSpPr/>
          <p:nvPr/>
        </p:nvSpPr>
        <p:spPr>
          <a:xfrm>
            <a:off x="571500" y="4343400"/>
            <a:ext cx="11049076" cy="1524000"/>
          </a:xfrm>
          <a:prstGeom prst="rect">
            <a:avLst/>
          </a:prstGeom>
          <a:solidFill>
            <a:srgbClr val="FCEF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p:cNvSpPr/>
          <p:nvPr/>
        </p:nvSpPr>
        <p:spPr>
          <a:xfrm>
            <a:off x="571500" y="4343400"/>
            <a:ext cx="66560" cy="1524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26" name="TextBox 25"/>
          <p:cNvSpPr txBox="1"/>
          <p:nvPr/>
        </p:nvSpPr>
        <p:spPr>
          <a:xfrm>
            <a:off x="864367" y="4521200"/>
            <a:ext cx="6656070" cy="254000"/>
          </a:xfrm>
          <a:prstGeom prst="rect">
            <a:avLst/>
          </a:prstGeom>
          <a:noFill/>
        </p:spPr>
        <p:txBody>
          <a:bodyPr vertOverflow="overflow" vert="horz" wrap="square" rtlCol="0" anchor="t">
            <a:noAutofit/>
          </a:bodyPr>
          <a:lstStyle/>
          <a:p>
            <a:pPr algn="l"/>
            <a:r>
              <a:rPr lang="en-US" sz="1300" b="1">
                <a:solidFill>
                  <a:srgbClr val="0F6E6E"/>
                </a:solidFill>
                <a:latin typeface="Calibri" panose="020F0502020204030204"/>
                <a:ea typeface="Calibri" panose="020F0502020204030204"/>
                <a:cs typeface="Calibri" panose="020F0502020204030204"/>
              </a:rPr>
              <a:t>CẢNH BÁO KỸ THUẬT</a:t>
            </a:r>
            <a:endParaRPr lang="en-US" sz="1300" b="1">
              <a:solidFill>
                <a:srgbClr val="0F6E6E"/>
              </a:solidFill>
              <a:latin typeface="Calibri" panose="020F0502020204030204"/>
              <a:ea typeface="Calibri" panose="020F0502020204030204"/>
              <a:cs typeface="Calibri" panose="020F0502020204030204"/>
            </a:endParaRPr>
          </a:p>
        </p:txBody>
      </p:sp>
      <p:sp>
        <p:nvSpPr>
          <p:cNvPr id="27" name="TextBox 26"/>
          <p:cNvSpPr txBox="1"/>
          <p:nvPr/>
        </p:nvSpPr>
        <p:spPr>
          <a:xfrm>
            <a:off x="864367" y="4826000"/>
            <a:ext cx="10516590" cy="939800"/>
          </a:xfrm>
          <a:prstGeom prst="rect">
            <a:avLst/>
          </a:prstGeom>
          <a:noFill/>
        </p:spPr>
        <p:txBody>
          <a:bodyPr vertOverflow="overflow" vert="horz" wrap="square" rtlCol="0" anchor="t">
            <a:noAutofit/>
          </a:bodyPr>
          <a:lstStyle/>
          <a:p>
            <a:pPr algn="l"/>
            <a:r>
              <a:rPr lang="vi-VN" sz="1400">
                <a:solidFill>
                  <a:srgbClr val="13123A"/>
                </a:solidFill>
                <a:latin typeface="Calibri" panose="020F0502020204030204"/>
                <a:ea typeface="Calibri" panose="020F0502020204030204"/>
                <a:cs typeface="Calibri" panose="020F0502020204030204"/>
              </a:rPr>
              <a:t>Bước 3 có hai lớp lọc bản cũ, không phải một. Lý do: embedding của “trình độ tiếng Nhật N5” và “…N4” gần như trùng nhau → top-k rất dễ trả về cả hai, và khi prompt chứa hai fact mâu thuẫn thì LLM đoán bừa. Đây đúng là kiểu lỗi FactConsolidation nhắm vào.</a:t>
            </a:r>
            <a:endParaRPr lang="en-US" sz="1400">
              <a:solidFill>
                <a:srgbClr val="13123A"/>
              </a:solidFill>
              <a:latin typeface="Calibri" panose="020F0502020204030204"/>
              <a:ea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KẾT QUẢ TUẦN 2</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Demo: bộ nhớ tự cập nhật qua các phiên</a:t>
            </a:r>
            <a:endParaRPr lang="en-US" sz="3000" b="1">
              <a:solidFill>
                <a:srgbClr val="13123A"/>
              </a:solidFill>
              <a:latin typeface="Cambria" panose="02040503050406030204"/>
              <a:ea typeface="Cambria" panose="02040503050406030204"/>
            </a:endParaRPr>
          </a:p>
        </p:txBody>
      </p:sp>
      <p:graphicFrame>
        <p:nvGraphicFramePr>
          <p:cNvPr id="5" name="Table 4"/>
          <p:cNvGraphicFramePr>
            <a:graphicFrameLocks noGrp="1"/>
          </p:cNvGraphicFramePr>
          <p:nvPr/>
        </p:nvGraphicFramePr>
        <p:xfrm>
          <a:off x="571500" y="1727200"/>
          <a:ext cx="11049076" cy="2387600"/>
        </p:xfrm>
        <a:graphic>
          <a:graphicData uri="http://schemas.openxmlformats.org/drawingml/2006/table">
            <a:tbl>
              <a:tblPr firstRow="1" bandRow="1">
                <a:tableStyleId>{5C22544A-7EE6-4342-B048-85BDC9FD1C3A}</a:tableStyleId>
              </a:tblPr>
              <a:tblGrid>
                <a:gridCol w="1171468"/>
                <a:gridCol w="3993641"/>
                <a:gridCol w="3088416"/>
                <a:gridCol w="2795551"/>
              </a:tblGrid>
              <a:tr h="355600">
                <a:tc>
                  <a:txBody>
                    <a:bodyPr/>
                    <a:lstStyle/>
                    <a:p>
                      <a:pPr algn="l"/>
                      <a:r>
                        <a:rPr lang="en-US" sz="1200" b="1">
                          <a:solidFill>
                            <a:srgbClr val="FFFFFF"/>
                          </a:solidFill>
                          <a:latin typeface="Calibri" panose="020F0502020204030204"/>
                          <a:ea typeface="Calibri" panose="020F0502020204030204"/>
                          <a:cs typeface="Calibri" panose="020F0502020204030204"/>
                        </a:rPr>
                        <a:t>PHIÊN</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NGƯỜI DÙNG NÓI</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THAO TÁC BỘ NHỚ</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TRẠNG THÁI SLOT</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r>
              <a:tr h="508000">
                <a:tc>
                  <a:txBody>
                    <a:bodyPr/>
                    <a:lstStyle/>
                    <a:p>
                      <a:pPr algn="l"/>
                      <a:r>
                        <a:rPr lang="en-US" sz="1300" b="0">
                          <a:solidFill>
                            <a:srgbClr val="13123A"/>
                          </a:solidFill>
                          <a:latin typeface="Consolas" panose="020B0609020204030204"/>
                        </a:rPr>
                        <a:t>phien-1</a:t>
                      </a:r>
                      <a:endParaRPr lang="en-US" sz="1300" b="0">
                        <a:solidFill>
                          <a:srgbClr val="13123A"/>
                        </a:solidFill>
                        <a:latin typeface="Consolas" panose="020B0609020204030204"/>
                      </a:endParaRPr>
                    </a:p>
                  </a:txBody>
                  <a:tcPr anchor="ctr">
                    <a:solidFill>
                      <a:srgbClr val="FFFFFF"/>
                    </a:solidFill>
                  </a:tcPr>
                </a:tc>
                <a:tc>
                  <a:txBody>
                    <a:bodyPr/>
                    <a:lstStyle/>
                    <a:p>
                      <a:pPr algn="l"/>
                      <a:r>
                        <a:rPr lang="en-US" sz="1300" b="0">
                          <a:solidFill>
                            <a:srgbClr val="13123A"/>
                          </a:solidFill>
                          <a:latin typeface="Calibri" panose="020F0502020204030204"/>
                          <a:ea typeface="Calibri" panose="020F0502020204030204"/>
                          <a:cs typeface="Calibri" panose="020F0502020204030204"/>
                        </a:rPr>
                        <a:t>“Mình học tiếng Nhật, trình độ N5.”</a:t>
                      </a:r>
                      <a:endParaRPr lang="en-US" sz="1300" b="0">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b="1">
                          <a:solidFill>
                            <a:srgbClr val="6A6E85"/>
                          </a:solidFill>
                          <a:latin typeface="Consolas" panose="020B0609020204030204"/>
                        </a:rPr>
                        <a:t>ADD user::trinh_do_tieng_nhat</a:t>
                      </a:r>
                      <a:endParaRPr lang="en-US" sz="1300" b="1">
                        <a:solidFill>
                          <a:srgbClr val="6A6E85"/>
                        </a:solidFill>
                        <a:latin typeface="Consolas" panose="020B0609020204030204"/>
                      </a:endParaRPr>
                    </a:p>
                  </a:txBody>
                  <a:tcPr anchor="ctr">
                    <a:solidFill>
                      <a:srgbClr val="FFFFFF"/>
                    </a:solidFill>
                  </a:tcPr>
                </a:tc>
                <a:tc>
                  <a:txBody>
                    <a:bodyPr/>
                    <a:lstStyle/>
                    <a:p>
                      <a:pPr algn="l"/>
                      <a:r>
                        <a:rPr lang="en-US" sz="1300" b="1">
                          <a:solidFill>
                            <a:srgbClr val="3A36A0"/>
                          </a:solidFill>
                          <a:latin typeface="Consolas" panose="020B0609020204030204"/>
                        </a:rPr>
                        <a:t>#1 N5 active</a:t>
                      </a:r>
                      <a:endParaRPr lang="en-US" sz="1300" b="1">
                        <a:solidFill>
                          <a:srgbClr val="3A36A0"/>
                        </a:solidFill>
                        <a:latin typeface="Consolas" panose="020B0609020204030204"/>
                      </a:endParaRPr>
                    </a:p>
                  </a:txBody>
                  <a:tcPr anchor="ctr">
                    <a:solidFill>
                      <a:srgbClr val="FFFFFF"/>
                    </a:solidFill>
                  </a:tcPr>
                </a:tc>
              </a:tr>
              <a:tr h="508000">
                <a:tc>
                  <a:txBody>
                    <a:bodyPr/>
                    <a:lstStyle/>
                    <a:p>
                      <a:pPr algn="l"/>
                      <a:r>
                        <a:rPr lang="en-US" sz="1300" b="0">
                          <a:solidFill>
                            <a:srgbClr val="13123A"/>
                          </a:solidFill>
                          <a:latin typeface="Consolas" panose="020B0609020204030204"/>
                        </a:rPr>
                        <a:t>phien-1</a:t>
                      </a:r>
                      <a:endParaRPr lang="en-US" sz="1300" b="0">
                        <a:solidFill>
                          <a:srgbClr val="13123A"/>
                        </a:solidFill>
                        <a:latin typeface="Consolas" panose="020B0609020204030204"/>
                      </a:endParaRPr>
                    </a:p>
                  </a:txBody>
                  <a:tcPr anchor="ctr">
                    <a:solidFill>
                      <a:srgbClr val="F4F4FA"/>
                    </a:solidFill>
                  </a:tcPr>
                </a:tc>
                <a:tc>
                  <a:txBody>
                    <a:bodyPr/>
                    <a:lstStyle/>
                    <a:p>
                      <a:pPr algn="l"/>
                      <a:r>
                        <a:rPr lang="en-US" sz="1300" b="0">
                          <a:solidFill>
                            <a:srgbClr val="13123A"/>
                          </a:solidFill>
                          <a:latin typeface="Calibri" panose="020F0502020204030204"/>
                          <a:ea typeface="Calibri" panose="020F0502020204030204"/>
                          <a:cs typeface="Calibri" panose="020F0502020204030204"/>
                        </a:rPr>
                        <a:t>“Mình bị dị ứng đậu phộng.”</a:t>
                      </a:r>
                      <a:endParaRPr lang="en-US" sz="1300" b="0">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b="1">
                          <a:solidFill>
                            <a:srgbClr val="6A6E85"/>
                          </a:solidFill>
                          <a:latin typeface="Consolas" panose="020B0609020204030204"/>
                        </a:rPr>
                        <a:t>ADD user::di_ung</a:t>
                      </a:r>
                      <a:endParaRPr lang="en-US" sz="1300" b="1">
                        <a:solidFill>
                          <a:srgbClr val="6A6E85"/>
                        </a:solidFill>
                        <a:latin typeface="Consolas" panose="020B0609020204030204"/>
                      </a:endParaRPr>
                    </a:p>
                  </a:txBody>
                  <a:tcPr anchor="ctr">
                    <a:solidFill>
                      <a:srgbClr val="F4F4FA"/>
                    </a:solidFill>
                  </a:tcPr>
                </a:tc>
                <a:tc>
                  <a:txBody>
                    <a:bodyPr/>
                    <a:lstStyle/>
                    <a:p>
                      <a:pPr algn="l"/>
                      <a:r>
                        <a:rPr lang="en-US" sz="1300" b="1">
                          <a:solidFill>
                            <a:srgbClr val="3A36A0"/>
                          </a:solidFill>
                          <a:latin typeface="Consolas" panose="020B0609020204030204"/>
                        </a:rPr>
                        <a:t>#3 đậu phộng active</a:t>
                      </a:r>
                      <a:endParaRPr lang="en-US" sz="1300" b="1">
                        <a:solidFill>
                          <a:srgbClr val="3A36A0"/>
                        </a:solidFill>
                        <a:latin typeface="Consolas" panose="020B0609020204030204"/>
                      </a:endParaRPr>
                    </a:p>
                  </a:txBody>
                  <a:tcPr anchor="ctr">
                    <a:solidFill>
                      <a:srgbClr val="F4F4FA"/>
                    </a:solidFill>
                  </a:tcPr>
                </a:tc>
              </a:tr>
              <a:tr h="508000">
                <a:tc>
                  <a:txBody>
                    <a:bodyPr/>
                    <a:lstStyle/>
                    <a:p>
                      <a:pPr algn="l"/>
                      <a:r>
                        <a:rPr lang="en-US" sz="1300" b="0">
                          <a:solidFill>
                            <a:srgbClr val="13123A"/>
                          </a:solidFill>
                          <a:latin typeface="Consolas" panose="020B0609020204030204"/>
                        </a:rPr>
                        <a:t>phien-4</a:t>
                      </a:r>
                      <a:endParaRPr lang="en-US" sz="1300" b="0">
                        <a:solidFill>
                          <a:srgbClr val="13123A"/>
                        </a:solidFill>
                        <a:latin typeface="Consolas" panose="020B0609020204030204"/>
                      </a:endParaRPr>
                    </a:p>
                  </a:txBody>
                  <a:tcPr anchor="ctr">
                    <a:solidFill>
                      <a:srgbClr val="FFFFFF"/>
                    </a:solidFill>
                  </a:tcPr>
                </a:tc>
                <a:tc>
                  <a:txBody>
                    <a:bodyPr/>
                    <a:lstStyle/>
                    <a:p>
                      <a:pPr algn="l"/>
                      <a:r>
                        <a:rPr lang="en-US" sz="1300" b="0">
                          <a:solidFill>
                            <a:srgbClr val="13123A"/>
                          </a:solidFill>
                          <a:latin typeface="Calibri" panose="020F0502020204030204"/>
                          <a:ea typeface="Calibri" panose="020F0502020204030204"/>
                          <a:cs typeface="Calibri" panose="020F0502020204030204"/>
                        </a:rPr>
                        <a:t>“Gợi ý tài liệu luyện đọc phù hợp trình độ.”</a:t>
                      </a:r>
                      <a:endParaRPr lang="en-US" sz="1300" b="0">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b="1">
                          <a:solidFill>
                            <a:srgbClr val="6A6E85"/>
                          </a:solidFill>
                          <a:latin typeface="Consolas" panose="020B0609020204030204"/>
                        </a:rPr>
                        <a:t>— (truy xuất)</a:t>
                      </a:r>
                      <a:endParaRPr lang="en-US" sz="1300" b="1">
                        <a:solidFill>
                          <a:srgbClr val="6A6E85"/>
                        </a:solidFill>
                        <a:latin typeface="Consolas" panose="020B0609020204030204"/>
                      </a:endParaRPr>
                    </a:p>
                  </a:txBody>
                  <a:tcPr anchor="ctr">
                    <a:solidFill>
                      <a:srgbClr val="FFFFFF"/>
                    </a:solidFill>
                  </a:tcPr>
                </a:tc>
                <a:tc>
                  <a:txBody>
                    <a:bodyPr/>
                    <a:lstStyle/>
                    <a:p>
                      <a:pPr algn="l"/>
                      <a:r>
                        <a:rPr lang="en-US" sz="1300" b="1">
                          <a:solidFill>
                            <a:srgbClr val="3A36A0"/>
                          </a:solidFill>
                          <a:latin typeface="Consolas" panose="020B0609020204030204"/>
                        </a:rPr>
                        <a:t>dùng #1 N5</a:t>
                      </a:r>
                      <a:endParaRPr lang="en-US" sz="1300" b="1">
                        <a:solidFill>
                          <a:srgbClr val="3A36A0"/>
                        </a:solidFill>
                        <a:latin typeface="Consolas" panose="020B0609020204030204"/>
                      </a:endParaRPr>
                    </a:p>
                  </a:txBody>
                  <a:tcPr anchor="ctr">
                    <a:solidFill>
                      <a:srgbClr val="FFFFFF"/>
                    </a:solidFill>
                  </a:tcPr>
                </a:tc>
              </a:tr>
              <a:tr h="508000">
                <a:tc>
                  <a:txBody>
                    <a:bodyPr/>
                    <a:lstStyle/>
                    <a:p>
                      <a:pPr algn="l"/>
                      <a:r>
                        <a:rPr lang="en-US" sz="1300" b="0">
                          <a:solidFill>
                            <a:srgbClr val="13123A"/>
                          </a:solidFill>
                          <a:latin typeface="Consolas" panose="020B0609020204030204"/>
                        </a:rPr>
                        <a:t>phien-7</a:t>
                      </a:r>
                      <a:endParaRPr lang="en-US" sz="1300" b="0">
                        <a:solidFill>
                          <a:srgbClr val="13123A"/>
                        </a:solidFill>
                        <a:latin typeface="Consolas" panose="020B0609020204030204"/>
                      </a:endParaRPr>
                    </a:p>
                  </a:txBody>
                  <a:tcPr anchor="ctr">
                    <a:solidFill>
                      <a:srgbClr val="F4F4FA"/>
                    </a:solidFill>
                  </a:tcPr>
                </a:tc>
                <a:tc>
                  <a:txBody>
                    <a:bodyPr/>
                    <a:lstStyle/>
                    <a:p>
                      <a:pPr algn="l"/>
                      <a:r>
                        <a:rPr lang="en-US" sz="1300" b="0">
                          <a:solidFill>
                            <a:srgbClr val="13123A"/>
                          </a:solidFill>
                          <a:latin typeface="Calibri" panose="020F0502020204030204"/>
                          <a:ea typeface="Calibri" panose="020F0502020204030204"/>
                          <a:cs typeface="Calibri" panose="020F0502020204030204"/>
                        </a:rPr>
                        <a:t>“Mình vừa thi đỗ N4 rồi!”</a:t>
                      </a:r>
                      <a:endParaRPr lang="en-US" sz="1300" b="0">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b="1">
                          <a:solidFill>
                            <a:srgbClr val="6A6E85"/>
                          </a:solidFill>
                          <a:latin typeface="Consolas" panose="020B0609020204030204"/>
                        </a:rPr>
                        <a:t>UPDATE user::trinh_do_tieng_nhat</a:t>
                      </a:r>
                      <a:endParaRPr lang="en-US" sz="1300" b="1">
                        <a:solidFill>
                          <a:srgbClr val="6A6E85"/>
                        </a:solidFill>
                        <a:latin typeface="Consolas" panose="020B0609020204030204"/>
                      </a:endParaRPr>
                    </a:p>
                  </a:txBody>
                  <a:tcPr anchor="ctr">
                    <a:solidFill>
                      <a:srgbClr val="F4F4FA"/>
                    </a:solidFill>
                  </a:tcPr>
                </a:tc>
                <a:tc>
                  <a:txBody>
                    <a:bodyPr/>
                    <a:lstStyle/>
                    <a:p>
                      <a:pPr algn="l"/>
                      <a:r>
                        <a:rPr lang="en-US" sz="1300" b="1">
                          <a:solidFill>
                            <a:srgbClr val="3A36A0"/>
                          </a:solidFill>
                          <a:latin typeface="Consolas" panose="020B0609020204030204"/>
                        </a:rPr>
                        <a:t>#1 N5 superseded · #4 N4 active</a:t>
                      </a:r>
                      <a:endParaRPr lang="en-US" sz="1300" b="1">
                        <a:solidFill>
                          <a:srgbClr val="3A36A0"/>
                        </a:solidFill>
                        <a:latin typeface="Consolas" panose="020B0609020204030204"/>
                      </a:endParaRPr>
                    </a:p>
                  </a:txBody>
                  <a:tcPr anchor="ctr">
                    <a:solidFill>
                      <a:srgbClr val="F4F4FA"/>
                    </a:solidFill>
                  </a:tcPr>
                </a:tc>
              </a:tr>
            </a:tbl>
          </a:graphicData>
        </a:graphic>
      </p:graphicFrame>
      <p:sp>
        <p:nvSpPr>
          <p:cNvPr id="6" name="Rectangle 5"/>
          <p:cNvSpPr/>
          <p:nvPr/>
        </p:nvSpPr>
        <p:spPr>
          <a:xfrm>
            <a:off x="571500" y="4318000"/>
            <a:ext cx="11049076" cy="14224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p:cNvSpPr txBox="1"/>
          <p:nvPr/>
        </p:nvSpPr>
        <p:spPr>
          <a:xfrm>
            <a:off x="890991" y="4495800"/>
            <a:ext cx="10383469" cy="330200"/>
          </a:xfrm>
          <a:prstGeom prst="rect">
            <a:avLst/>
          </a:prstGeom>
          <a:noFill/>
        </p:spPr>
        <p:txBody>
          <a:bodyPr vertOverflow="overflow" vert="horz" wrap="square" rtlCol="0" anchor="t">
            <a:noAutofit/>
          </a:bodyPr>
          <a:lstStyle/>
          <a:p>
            <a:pPr algn="l"/>
            <a:r>
              <a:rPr lang="pt-BR" sz="1600" b="1">
                <a:solidFill>
                  <a:srgbClr val="FFFFFF"/>
                </a:solidFill>
                <a:latin typeface="Consolas" panose="020B0609020204030204"/>
              </a:rPr>
              <a:t>current_value("trinh_do_tieng_nhat")  →  N4</a:t>
            </a:r>
            <a:endParaRPr lang="en-US" sz="1600" b="1">
              <a:solidFill>
                <a:srgbClr val="FFFFFF"/>
              </a:solidFill>
              <a:latin typeface="Consolas" panose="020B0609020204030204"/>
            </a:endParaRPr>
          </a:p>
        </p:txBody>
      </p:sp>
      <p:sp>
        <p:nvSpPr>
          <p:cNvPr id="8" name="TextBox 7"/>
          <p:cNvSpPr txBox="1"/>
          <p:nvPr/>
        </p:nvSpPr>
        <p:spPr>
          <a:xfrm>
            <a:off x="890991" y="4876800"/>
            <a:ext cx="10383469" cy="304800"/>
          </a:xfrm>
          <a:prstGeom prst="rect">
            <a:avLst/>
          </a:prstGeom>
          <a:noFill/>
        </p:spPr>
        <p:txBody>
          <a:bodyPr vertOverflow="overflow" vert="horz" wrap="square" rtlCol="0" anchor="t">
            <a:noAutofit/>
          </a:bodyPr>
          <a:lstStyle/>
          <a:p>
            <a:pPr algn="l"/>
            <a:r>
              <a:rPr lang="pt-BR" sz="1400">
                <a:solidFill>
                  <a:srgbClr val="FCEFD5"/>
                </a:solidFill>
                <a:latin typeface="Consolas" panose="020B0609020204030204"/>
              </a:rPr>
              <a:t>Lịch sử slot:  #1 N5 (superseded)  →  #4 N4 (active)</a:t>
            </a:r>
            <a:endParaRPr lang="en-US" sz="1400">
              <a:solidFill>
                <a:srgbClr val="FCEFD5"/>
              </a:solidFill>
              <a:latin typeface="Consolas" panose="020B0609020204030204"/>
            </a:endParaRPr>
          </a:p>
        </p:txBody>
      </p:sp>
      <p:sp>
        <p:nvSpPr>
          <p:cNvPr id="9" name="TextBox 8"/>
          <p:cNvSpPr txBox="1"/>
          <p:nvPr/>
        </p:nvSpPr>
        <p:spPr>
          <a:xfrm>
            <a:off x="890991" y="5232400"/>
            <a:ext cx="10383469" cy="304800"/>
          </a:xfrm>
          <a:prstGeom prst="rect">
            <a:avLst/>
          </a:prstGeom>
          <a:noFill/>
        </p:spPr>
        <p:txBody>
          <a:bodyPr vertOverflow="overflow" vert="horz" wrap="square" rtlCol="0" anchor="t">
            <a:noAutofit/>
          </a:bodyPr>
          <a:lstStyle/>
          <a:p>
            <a:pPr algn="l"/>
            <a:r>
              <a:rPr lang="en-US" sz="1400">
                <a:solidFill>
                  <a:srgbClr val="E7E6E6"/>
                </a:solidFill>
                <a:latin typeface="Consolas" panose="020B0609020204030204"/>
              </a:rPr>
              <a:t>Kho: 4 bản ghi · 3 active · 1 superseded · 0 deleted</a:t>
            </a:r>
            <a:endParaRPr lang="en-US" sz="1400">
              <a:solidFill>
                <a:srgbClr val="E7E6E6"/>
              </a:solidFill>
              <a:latin typeface="Consolas" panose="020B0609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KẾT QUẢ TUẦN 2</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8 test tự động — chạy offline, không tốn API</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70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p:cNvSpPr/>
          <p:nvPr/>
        </p:nvSpPr>
        <p:spPr>
          <a:xfrm>
            <a:off x="731245" y="185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6" name="TextBox 5"/>
          <p:cNvSpPr txBox="1"/>
          <p:nvPr/>
        </p:nvSpPr>
        <p:spPr>
          <a:xfrm>
            <a:off x="1130609" y="176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test_add_fact_moi</a:t>
            </a:r>
            <a:endParaRPr lang="en-US" sz="1200" b="1">
              <a:solidFill>
                <a:srgbClr val="3A36A0"/>
              </a:solidFill>
              <a:latin typeface="Consolas" panose="020B0609020204030204"/>
            </a:endParaRPr>
          </a:p>
        </p:txBody>
      </p:sp>
      <p:sp>
        <p:nvSpPr>
          <p:cNvPr id="7" name="TextBox 6"/>
          <p:cNvSpPr txBox="1"/>
          <p:nvPr/>
        </p:nvSpPr>
        <p:spPr>
          <a:xfrm>
            <a:off x="1130609" y="1993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fact mới tạo slot mới</a:t>
            </a:r>
            <a:endParaRPr lang="en-US" sz="1200">
              <a:solidFill>
                <a:srgbClr val="6A6E85"/>
              </a:solidFill>
              <a:latin typeface="Calibri" panose="020F0502020204030204"/>
              <a:ea typeface="Calibri" panose="020F0502020204030204"/>
              <a:cs typeface="Calibri" panose="020F0502020204030204"/>
            </a:endParaRPr>
          </a:p>
        </p:txBody>
      </p:sp>
      <p:sp>
        <p:nvSpPr>
          <p:cNvPr id="8" name="Rectangle 7"/>
          <p:cNvSpPr/>
          <p:nvPr/>
        </p:nvSpPr>
        <p:spPr>
          <a:xfrm>
            <a:off x="6229159" y="170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p:cNvSpPr/>
          <p:nvPr/>
        </p:nvSpPr>
        <p:spPr>
          <a:xfrm>
            <a:off x="6388905" y="185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10" name="TextBox 9"/>
          <p:cNvSpPr txBox="1"/>
          <p:nvPr/>
        </p:nvSpPr>
        <p:spPr>
          <a:xfrm>
            <a:off x="6788269" y="176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test_noop_khi_lap_lai_cung_gia_tri</a:t>
            </a:r>
            <a:endParaRPr lang="en-US" sz="1200" b="1">
              <a:solidFill>
                <a:srgbClr val="3A36A0"/>
              </a:solidFill>
              <a:latin typeface="Consolas" panose="020B0609020204030204"/>
            </a:endParaRPr>
          </a:p>
        </p:txBody>
      </p:sp>
      <p:sp>
        <p:nvSpPr>
          <p:cNvPr id="11" name="TextBox 10"/>
          <p:cNvSpPr txBox="1"/>
          <p:nvPr/>
        </p:nvSpPr>
        <p:spPr>
          <a:xfrm>
            <a:off x="6788269" y="1993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nhắc lại cùng giá trị không sinh bản ghi thừa</a:t>
            </a:r>
            <a:endParaRPr lang="en-US" sz="1200">
              <a:solidFill>
                <a:srgbClr val="6A6E85"/>
              </a:solidFill>
              <a:latin typeface="Calibri" panose="020F0502020204030204"/>
              <a:ea typeface="Calibri" panose="020F0502020204030204"/>
              <a:cs typeface="Calibri" panose="020F0502020204030204"/>
            </a:endParaRPr>
          </a:p>
        </p:txBody>
      </p:sp>
      <p:sp>
        <p:nvSpPr>
          <p:cNvPr id="12" name="Rectangle 11"/>
          <p:cNvSpPr/>
          <p:nvPr/>
        </p:nvSpPr>
        <p:spPr>
          <a:xfrm>
            <a:off x="571500" y="233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p:cNvSpPr/>
          <p:nvPr/>
        </p:nvSpPr>
        <p:spPr>
          <a:xfrm>
            <a:off x="731245" y="248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14" name="TextBox 13"/>
          <p:cNvSpPr txBox="1"/>
          <p:nvPr/>
        </p:nvSpPr>
        <p:spPr>
          <a:xfrm>
            <a:off x="1130609" y="2400300"/>
            <a:ext cx="4685873" cy="228600"/>
          </a:xfrm>
          <a:prstGeom prst="rect">
            <a:avLst/>
          </a:prstGeom>
          <a:noFill/>
        </p:spPr>
        <p:txBody>
          <a:bodyPr vertOverflow="overflow" vert="horz" wrap="square" rtlCol="0" anchor="t">
            <a:noAutofit/>
          </a:bodyPr>
          <a:lstStyle/>
          <a:p>
            <a:pPr algn="l"/>
            <a:r>
              <a:rPr lang="pt-BR" sz="1200" b="1">
                <a:solidFill>
                  <a:srgbClr val="3A36A0"/>
                </a:solidFill>
                <a:latin typeface="Consolas" panose="020B0609020204030204"/>
              </a:rPr>
              <a:t>test_update_n5_sang_n4</a:t>
            </a:r>
            <a:endParaRPr lang="en-US" sz="1200" b="1">
              <a:solidFill>
                <a:srgbClr val="3A36A0"/>
              </a:solidFill>
              <a:latin typeface="Consolas" panose="020B0609020204030204"/>
            </a:endParaRPr>
          </a:p>
        </p:txBody>
      </p:sp>
      <p:sp>
        <p:nvSpPr>
          <p:cNvPr id="15" name="TextBox 14"/>
          <p:cNvSpPr txBox="1"/>
          <p:nvPr/>
        </p:nvSpPr>
        <p:spPr>
          <a:xfrm>
            <a:off x="1130609" y="2628900"/>
            <a:ext cx="4685873" cy="228600"/>
          </a:xfrm>
          <a:prstGeom prst="rect">
            <a:avLst/>
          </a:prstGeom>
          <a:noFill/>
        </p:spPr>
        <p:txBody>
          <a:bodyPr vertOverflow="overflow" vert="horz" wrap="square" rtlCol="0" anchor="t">
            <a:noAutofit/>
          </a:bodyPr>
          <a:lstStyle/>
          <a:p>
            <a:pPr algn="l"/>
            <a:r>
              <a:rPr lang="vi-VN" sz="1200">
                <a:solidFill>
                  <a:srgbClr val="6A6E85"/>
                </a:solidFill>
                <a:latin typeface="Calibri" panose="020F0502020204030204"/>
                <a:ea typeface="Calibri" panose="020F0502020204030204"/>
                <a:cs typeface="Calibri" panose="020F0502020204030204"/>
              </a:rPr>
              <a:t>đổi giá trị, bản cũ thành superseded, seq mới lớn hơn</a:t>
            </a:r>
            <a:endParaRPr lang="en-US" sz="1200">
              <a:solidFill>
                <a:srgbClr val="6A6E85"/>
              </a:solidFill>
              <a:latin typeface="Calibri" panose="020F0502020204030204"/>
              <a:ea typeface="Calibri" panose="020F0502020204030204"/>
              <a:cs typeface="Calibri" panose="020F0502020204030204"/>
            </a:endParaRPr>
          </a:p>
        </p:txBody>
      </p:sp>
      <p:sp>
        <p:nvSpPr>
          <p:cNvPr id="16" name="Rectangle 15"/>
          <p:cNvSpPr/>
          <p:nvPr/>
        </p:nvSpPr>
        <p:spPr>
          <a:xfrm>
            <a:off x="6229159" y="233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p:cNvSpPr/>
          <p:nvPr/>
        </p:nvSpPr>
        <p:spPr>
          <a:xfrm>
            <a:off x="6388905" y="248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18" name="TextBox 17"/>
          <p:cNvSpPr txBox="1"/>
          <p:nvPr/>
        </p:nvSpPr>
        <p:spPr>
          <a:xfrm>
            <a:off x="6788269" y="2400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test_chuoi_cap_nhat_nhieu_buoc</a:t>
            </a:r>
            <a:endParaRPr lang="en-US" sz="1200" b="1">
              <a:solidFill>
                <a:srgbClr val="3A36A0"/>
              </a:solidFill>
              <a:latin typeface="Consolas" panose="020B0609020204030204"/>
            </a:endParaRPr>
          </a:p>
        </p:txBody>
      </p:sp>
      <p:sp>
        <p:nvSpPr>
          <p:cNvPr id="19" name="TextBox 18"/>
          <p:cNvSpPr txBox="1"/>
          <p:nvPr/>
        </p:nvSpPr>
        <p:spPr>
          <a:xfrm>
            <a:off x="6788269" y="2628900"/>
            <a:ext cx="4685873" cy="228600"/>
          </a:xfrm>
          <a:prstGeom prst="rect">
            <a:avLst/>
          </a:prstGeom>
          <a:noFill/>
        </p:spPr>
        <p:txBody>
          <a:bodyPr vertOverflow="overflow" vert="horz" wrap="square" rtlCol="0" anchor="t">
            <a:noAutofit/>
          </a:bodyPr>
          <a:lstStyle/>
          <a:p>
            <a:pPr algn="l"/>
            <a:r>
              <a:rPr lang="pt-BR" sz="1200">
                <a:solidFill>
                  <a:srgbClr val="6A6E85"/>
                </a:solidFill>
                <a:latin typeface="Calibri" panose="020F0502020204030204"/>
                <a:ea typeface="Calibri" panose="020F0502020204030204"/>
                <a:cs typeface="Calibri" panose="020F0502020204030204"/>
              </a:rPr>
              <a:t>N5 → N4 → N3, luôn trả bản cuối</a:t>
            </a:r>
            <a:endParaRPr lang="en-US" sz="1200">
              <a:solidFill>
                <a:srgbClr val="6A6E85"/>
              </a:solidFill>
              <a:latin typeface="Calibri" panose="020F0502020204030204"/>
              <a:ea typeface="Calibri" panose="020F0502020204030204"/>
              <a:cs typeface="Calibri" panose="020F0502020204030204"/>
            </a:endParaRPr>
          </a:p>
        </p:txBody>
      </p:sp>
      <p:sp>
        <p:nvSpPr>
          <p:cNvPr id="20" name="Rectangle 19"/>
          <p:cNvSpPr/>
          <p:nvPr/>
        </p:nvSpPr>
        <p:spPr>
          <a:xfrm>
            <a:off x="571500" y="297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p:cNvSpPr/>
          <p:nvPr/>
        </p:nvSpPr>
        <p:spPr>
          <a:xfrm>
            <a:off x="731245" y="312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22" name="TextBox 21"/>
          <p:cNvSpPr txBox="1"/>
          <p:nvPr/>
        </p:nvSpPr>
        <p:spPr>
          <a:xfrm>
            <a:off x="1130609" y="303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test_delete_khi_phu_dinh</a:t>
            </a:r>
            <a:endParaRPr lang="en-US" sz="1200" b="1">
              <a:solidFill>
                <a:srgbClr val="3A36A0"/>
              </a:solidFill>
              <a:latin typeface="Consolas" panose="020B0609020204030204"/>
            </a:endParaRPr>
          </a:p>
        </p:txBody>
      </p:sp>
      <p:sp>
        <p:nvSpPr>
          <p:cNvPr id="23" name="TextBox 22"/>
          <p:cNvSpPr txBox="1"/>
          <p:nvPr/>
        </p:nvSpPr>
        <p:spPr>
          <a:xfrm>
            <a:off x="1130609" y="3263900"/>
            <a:ext cx="4685873" cy="228600"/>
          </a:xfrm>
          <a:prstGeom prst="rect">
            <a:avLst/>
          </a:prstGeom>
          <a:noFill/>
        </p:spPr>
        <p:txBody>
          <a:bodyPr vertOverflow="overflow" vert="horz" wrap="square" rtlCol="0" anchor="t">
            <a:noAutofit/>
          </a:bodyPr>
          <a:lstStyle/>
          <a:p>
            <a:pPr algn="l"/>
            <a:r>
              <a:rPr lang="vi-VN" sz="1200">
                <a:solidFill>
                  <a:srgbClr val="6A6E85"/>
                </a:solidFill>
                <a:latin typeface="Calibri" panose="020F0502020204030204"/>
                <a:ea typeface="Calibri" panose="020F0502020204030204"/>
                <a:cs typeface="Calibri" panose="020F0502020204030204"/>
              </a:rPr>
              <a:t>người dùng phủ định thì fact bị vô hiệu</a:t>
            </a:r>
            <a:endParaRPr lang="en-US" sz="1200">
              <a:solidFill>
                <a:srgbClr val="6A6E85"/>
              </a:solidFill>
              <a:latin typeface="Calibri" panose="020F0502020204030204"/>
              <a:ea typeface="Calibri" panose="020F0502020204030204"/>
              <a:cs typeface="Calibri" panose="020F0502020204030204"/>
            </a:endParaRPr>
          </a:p>
        </p:txBody>
      </p:sp>
      <p:sp>
        <p:nvSpPr>
          <p:cNvPr id="24" name="Rectangle 23"/>
          <p:cNvSpPr/>
          <p:nvPr/>
        </p:nvSpPr>
        <p:spPr>
          <a:xfrm>
            <a:off x="6229159" y="297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p:cNvSpPr/>
          <p:nvPr/>
        </p:nvSpPr>
        <p:spPr>
          <a:xfrm>
            <a:off x="6388905" y="312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26" name="TextBox 25"/>
          <p:cNvSpPr txBox="1"/>
          <p:nvPr/>
        </p:nvSpPr>
        <p:spPr>
          <a:xfrm>
            <a:off x="6788269" y="303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test_truy_xuat_khong_tra_ve_ban_cu</a:t>
            </a:r>
            <a:endParaRPr lang="en-US" sz="1200" b="1">
              <a:solidFill>
                <a:srgbClr val="3A36A0"/>
              </a:solidFill>
              <a:latin typeface="Consolas" panose="020B0609020204030204"/>
            </a:endParaRPr>
          </a:p>
        </p:txBody>
      </p:sp>
      <p:sp>
        <p:nvSpPr>
          <p:cNvPr id="27" name="TextBox 26"/>
          <p:cNvSpPr txBox="1"/>
          <p:nvPr/>
        </p:nvSpPr>
        <p:spPr>
          <a:xfrm>
            <a:off x="6788269" y="3263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bản superseded không lọt vào kết quả</a:t>
            </a:r>
            <a:endParaRPr lang="en-US" sz="1200">
              <a:solidFill>
                <a:srgbClr val="6A6E85"/>
              </a:solidFill>
              <a:latin typeface="Calibri" panose="020F0502020204030204"/>
              <a:ea typeface="Calibri" panose="020F0502020204030204"/>
              <a:cs typeface="Calibri" panose="020F0502020204030204"/>
            </a:endParaRPr>
          </a:p>
        </p:txBody>
      </p:sp>
      <p:sp>
        <p:nvSpPr>
          <p:cNvPr id="28" name="Rectangle 27"/>
          <p:cNvSpPr/>
          <p:nvPr/>
        </p:nvSpPr>
        <p:spPr>
          <a:xfrm>
            <a:off x="571500" y="360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Oval 28"/>
          <p:cNvSpPr/>
          <p:nvPr/>
        </p:nvSpPr>
        <p:spPr>
          <a:xfrm>
            <a:off x="731245" y="375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30" name="TextBox 29"/>
          <p:cNvSpPr txBox="1"/>
          <p:nvPr/>
        </p:nvSpPr>
        <p:spPr>
          <a:xfrm>
            <a:off x="1130609" y="3670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test_bo_nho_ton_tai_xuyen_phien</a:t>
            </a:r>
            <a:endParaRPr lang="en-US" sz="1200" b="1">
              <a:solidFill>
                <a:srgbClr val="3A36A0"/>
              </a:solidFill>
              <a:latin typeface="Consolas" panose="020B0609020204030204"/>
            </a:endParaRPr>
          </a:p>
        </p:txBody>
      </p:sp>
      <p:sp>
        <p:nvSpPr>
          <p:cNvPr id="31" name="TextBox 30"/>
          <p:cNvSpPr txBox="1"/>
          <p:nvPr/>
        </p:nvSpPr>
        <p:spPr>
          <a:xfrm>
            <a:off x="1130609" y="3898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ghi ở phiên 1, dùng lại ở phiên 12</a:t>
            </a:r>
            <a:endParaRPr lang="en-US" sz="1200">
              <a:solidFill>
                <a:srgbClr val="6A6E85"/>
              </a:solidFill>
              <a:latin typeface="Calibri" panose="020F0502020204030204"/>
              <a:ea typeface="Calibri" panose="020F0502020204030204"/>
              <a:cs typeface="Calibri" panose="020F0502020204030204"/>
            </a:endParaRPr>
          </a:p>
        </p:txBody>
      </p:sp>
      <p:sp>
        <p:nvSpPr>
          <p:cNvPr id="32" name="Rectangle 31"/>
          <p:cNvSpPr/>
          <p:nvPr/>
        </p:nvSpPr>
        <p:spPr>
          <a:xfrm>
            <a:off x="6229159" y="360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Oval 32"/>
          <p:cNvSpPr/>
          <p:nvPr/>
        </p:nvSpPr>
        <p:spPr>
          <a:xfrm>
            <a:off x="6388905" y="375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panose="020F0502020204030204"/>
                <a:ea typeface="Calibri" panose="020F0502020204030204"/>
                <a:cs typeface="Calibri" panose="020F0502020204030204"/>
              </a:rPr>
              <a:t>✓</a:t>
            </a:r>
            <a:endParaRPr lang="en-US" sz="1050" b="1">
              <a:solidFill>
                <a:srgbClr val="FFFFFF"/>
              </a:solidFill>
              <a:latin typeface="Calibri" panose="020F0502020204030204"/>
              <a:ea typeface="Calibri" panose="020F0502020204030204"/>
              <a:cs typeface="Calibri" panose="020F0502020204030204"/>
            </a:endParaRPr>
          </a:p>
        </p:txBody>
      </p:sp>
      <p:sp>
        <p:nvSpPr>
          <p:cNvPr id="34" name="TextBox 33"/>
          <p:cNvSpPr txBox="1"/>
          <p:nvPr/>
        </p:nvSpPr>
        <p:spPr>
          <a:xfrm>
            <a:off x="6788269" y="3670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panose="020B0609020204030204"/>
              </a:rPr>
              <a:t>test_seq_don_dieu</a:t>
            </a:r>
            <a:endParaRPr lang="en-US" sz="1200" b="1">
              <a:solidFill>
                <a:srgbClr val="3A36A0"/>
              </a:solidFill>
              <a:latin typeface="Consolas" panose="020B0609020204030204"/>
            </a:endParaRPr>
          </a:p>
        </p:txBody>
      </p:sp>
      <p:sp>
        <p:nvSpPr>
          <p:cNvPr id="35" name="TextBox 34"/>
          <p:cNvSpPr txBox="1"/>
          <p:nvPr/>
        </p:nvSpPr>
        <p:spPr>
          <a:xfrm>
            <a:off x="6788269" y="3898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panose="020F0502020204030204"/>
                <a:ea typeface="Calibri" panose="020F0502020204030204"/>
                <a:cs typeface="Calibri" panose="020F0502020204030204"/>
              </a:rPr>
              <a:t>số thứ tự luôn tăng, không trùng</a:t>
            </a:r>
            <a:endParaRPr lang="en-US" sz="1200">
              <a:solidFill>
                <a:srgbClr val="6A6E85"/>
              </a:solidFill>
              <a:latin typeface="Calibri" panose="020F0502020204030204"/>
              <a:ea typeface="Calibri" panose="020F0502020204030204"/>
              <a:cs typeface="Calibri" panose="020F0502020204030204"/>
            </a:endParaRPr>
          </a:p>
        </p:txBody>
      </p:sp>
      <p:sp>
        <p:nvSpPr>
          <p:cNvPr id="36" name="Rectangle 35"/>
          <p:cNvSpPr/>
          <p:nvPr/>
        </p:nvSpPr>
        <p:spPr>
          <a:xfrm>
            <a:off x="571500" y="4368800"/>
            <a:ext cx="11049076" cy="12700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p:cNvSpPr/>
          <p:nvPr/>
        </p:nvSpPr>
        <p:spPr>
          <a:xfrm>
            <a:off x="571500" y="4368800"/>
            <a:ext cx="66560" cy="1270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38" name="TextBox 37"/>
          <p:cNvSpPr txBox="1"/>
          <p:nvPr/>
        </p:nvSpPr>
        <p:spPr>
          <a:xfrm>
            <a:off x="864367" y="4648200"/>
            <a:ext cx="10516590" cy="762000"/>
          </a:xfrm>
          <a:prstGeom prst="rect">
            <a:avLst/>
          </a:prstGeom>
          <a:noFill/>
        </p:spPr>
        <p:txBody>
          <a:bodyPr vertOverflow="overflow" vert="horz" wrap="square" rtlCol="0" anchor="t">
            <a:noAutofit/>
          </a:bodyPr>
          <a:lstStyle/>
          <a:p>
            <a:pPr algn="l"/>
            <a:r>
              <a:rPr lang="vi-VN" sz="1400" b="1">
                <a:solidFill>
                  <a:srgbClr val="3A36A0"/>
                </a:solidFill>
                <a:latin typeface="Calibri" panose="020F0502020204030204"/>
                <a:ea typeface="Calibri" panose="020F0502020204030204"/>
                <a:cs typeface="Calibri" panose="020F0502020204030204"/>
              </a:rPr>
              <a:t>Toàn bộ test chạy với LLM giả lập → không cần API key, không tốn tiền, kết quả lặp lại được.
Đây cũng là baseline “no-LLM” để tách bạch: phần nào của kết quả đến từ mô hình, phần nào đến từ cơ chế bộ nhớ.</a:t>
            </a:r>
            <a:endParaRPr lang="en-US" sz="1400" b="1">
              <a:solidFill>
                <a:srgbClr val="3A36A0"/>
              </a:solidFill>
              <a:latin typeface="Calibri" panose="020F0502020204030204"/>
              <a:ea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KẾ HOẠCH</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Bốn cấu hình sẽ đem ra so sánh</a:t>
            </a:r>
            <a:endParaRPr lang="en-US" sz="3000" b="1">
              <a:solidFill>
                <a:srgbClr val="13123A"/>
              </a:solidFill>
              <a:latin typeface="Cambria" panose="02040503050406030204"/>
              <a:ea typeface="Cambria" panose="02040503050406030204"/>
            </a:endParaRPr>
          </a:p>
        </p:txBody>
      </p:sp>
      <p:graphicFrame>
        <p:nvGraphicFramePr>
          <p:cNvPr id="5" name="Table 4"/>
          <p:cNvGraphicFramePr>
            <a:graphicFrameLocks noGrp="1"/>
          </p:cNvGraphicFramePr>
          <p:nvPr/>
        </p:nvGraphicFramePr>
        <p:xfrm>
          <a:off x="571500" y="1727200"/>
          <a:ext cx="11049076" cy="2387600"/>
        </p:xfrm>
        <a:graphic>
          <a:graphicData uri="http://schemas.openxmlformats.org/drawingml/2006/table">
            <a:tbl>
              <a:tblPr firstRow="1" bandRow="1">
                <a:tableStyleId>{5C22544A-7EE6-4342-B048-85BDC9FD1C3A}</a:tableStyleId>
              </a:tblPr>
              <a:tblGrid>
                <a:gridCol w="2662427"/>
                <a:gridCol w="3860520"/>
                <a:gridCol w="4526129"/>
              </a:tblGrid>
              <a:tr h="355600">
                <a:tc>
                  <a:txBody>
                    <a:bodyPr/>
                    <a:lstStyle/>
                    <a:p>
                      <a:pPr algn="l"/>
                      <a:r>
                        <a:rPr lang="en-US" sz="1200" b="1">
                          <a:solidFill>
                            <a:srgbClr val="FFFFFF"/>
                          </a:solidFill>
                          <a:latin typeface="Calibri" panose="020F0502020204030204"/>
                          <a:ea typeface="Calibri" panose="020F0502020204030204"/>
                          <a:cs typeface="Calibri" panose="020F0502020204030204"/>
                        </a:rPr>
                        <a:t>CẤU HÌNH</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MÔ TẢ</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c>
                  <a:txBody>
                    <a:bodyPr/>
                    <a:lstStyle/>
                    <a:p>
                      <a:pPr algn="l"/>
                      <a:r>
                        <a:rPr lang="en-US" sz="1200" b="1">
                          <a:solidFill>
                            <a:srgbClr val="FFFFFF"/>
                          </a:solidFill>
                          <a:latin typeface="Calibri" panose="020F0502020204030204"/>
                          <a:ea typeface="Calibri" panose="020F0502020204030204"/>
                          <a:cs typeface="Calibri" panose="020F0502020204030204"/>
                        </a:rPr>
                        <a:t>DÙNG ĐỂ CHỨNG MINH</a:t>
                      </a:r>
                      <a:endParaRPr lang="en-US" sz="1200" b="1">
                        <a:solidFill>
                          <a:srgbClr val="FFFFFF"/>
                        </a:solidFill>
                        <a:latin typeface="Calibri" panose="020F0502020204030204"/>
                        <a:ea typeface="Calibri" panose="020F0502020204030204"/>
                        <a:cs typeface="Calibri" panose="020F0502020204030204"/>
                      </a:endParaRPr>
                    </a:p>
                  </a:txBody>
                  <a:tcPr anchor="ctr">
                    <a:solidFill>
                      <a:srgbClr val="13123A"/>
                    </a:solidFill>
                  </a:tcPr>
                </a:tc>
              </a:tr>
              <a:tr h="508000">
                <a:tc>
                  <a:txBody>
                    <a:bodyPr/>
                    <a:lstStyle/>
                    <a:p>
                      <a:pPr algn="l"/>
                      <a:r>
                        <a:rPr lang="en-US" sz="1300" b="1">
                          <a:solidFill>
                            <a:srgbClr val="3A36A0"/>
                          </a:solidFill>
                          <a:latin typeface="Consolas" panose="020B0609020204030204"/>
                        </a:rPr>
                        <a:t>full-context</a:t>
                      </a:r>
                      <a:endParaRPr lang="en-US" sz="1300" b="1">
                        <a:solidFill>
                          <a:srgbClr val="3A36A0"/>
                        </a:solidFill>
                        <a:latin typeface="Consolas" panose="020B0609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Nhồi toàn bộ lịch sử vào prompt</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Baseline trên — cho thấy chi phí token</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r h="508000">
                <a:tc>
                  <a:txBody>
                    <a:bodyPr/>
                    <a:lstStyle/>
                    <a:p>
                      <a:pPr algn="l"/>
                      <a:r>
                        <a:rPr lang="en-US" sz="1300" b="1">
                          <a:solidFill>
                            <a:srgbClr val="3A36A0"/>
                          </a:solidFill>
                          <a:latin typeface="Consolas" panose="020B0609020204030204"/>
                        </a:rPr>
                        <a:t>rag-only</a:t>
                      </a:r>
                      <a:endParaRPr lang="en-US" sz="1300" b="1">
                        <a:solidFill>
                          <a:srgbClr val="3A36A0"/>
                        </a:solidFill>
                        <a:latin typeface="Consolas" panose="020B0609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RAG thuần, không có ADD/UPDATE/DELETE</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Truy xuất đơn thuần không giải được bài toán cập nhật</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4F4FA"/>
                    </a:solidFill>
                  </a:tcPr>
                </a:tc>
              </a:tr>
              <a:tr h="508000">
                <a:tc>
                  <a:txBody>
                    <a:bodyPr/>
                    <a:lstStyle/>
                    <a:p>
                      <a:pPr algn="l"/>
                      <a:r>
                        <a:rPr lang="en-US" sz="1300" b="1">
                          <a:solidFill>
                            <a:srgbClr val="3A36A0"/>
                          </a:solidFill>
                          <a:latin typeface="Consolas" panose="020B0609020204030204"/>
                        </a:rPr>
                        <a:t>llm-judge-freshness</a:t>
                      </a:r>
                      <a:endParaRPr lang="en-US" sz="1300" b="1">
                        <a:solidFill>
                          <a:srgbClr val="3A36A0"/>
                        </a:solidFill>
                        <a:latin typeface="Consolas" panose="020B0609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Có slot, nhưng để LLM tự chọn bản mới</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c>
                  <a:txBody>
                    <a:bodyPr/>
                    <a:lstStyle/>
                    <a:p>
                      <a:pPr algn="l"/>
                      <a:r>
                        <a:rPr lang="en-US" sz="1300">
                          <a:solidFill>
                            <a:srgbClr val="13123A"/>
                          </a:solidFill>
                          <a:latin typeface="Calibri" panose="020F0502020204030204"/>
                          <a:ea typeface="Calibri" panose="020F0502020204030204"/>
                          <a:cs typeface="Calibri" panose="020F0502020204030204"/>
                        </a:rPr>
                        <a:t>Đối chứng trực tiếp cho đóng góp chính</a:t>
                      </a:r>
                      <a:endParaRPr lang="en-US" sz="1300">
                        <a:solidFill>
                          <a:srgbClr val="13123A"/>
                        </a:solidFill>
                        <a:latin typeface="Calibri" panose="020F0502020204030204"/>
                        <a:ea typeface="Calibri" panose="020F0502020204030204"/>
                        <a:cs typeface="Calibri" panose="020F0502020204030204"/>
                      </a:endParaRPr>
                    </a:p>
                  </a:txBody>
                  <a:tcPr anchor="ctr">
                    <a:solidFill>
                      <a:srgbClr val="FFFFFF"/>
                    </a:solidFill>
                  </a:tcPr>
                </a:tc>
              </a:tr>
              <a:tr h="508000">
                <a:tc>
                  <a:txBody>
                    <a:bodyPr/>
                    <a:lstStyle/>
                    <a:p>
                      <a:pPr algn="l"/>
                      <a:r>
                        <a:rPr lang="en-US" sz="1300" b="1">
                          <a:solidFill>
                            <a:srgbClr val="13123A"/>
                          </a:solidFill>
                          <a:latin typeface="Consolas" panose="020B0609020204030204"/>
                        </a:rPr>
                        <a:t>ours</a:t>
                      </a:r>
                      <a:endParaRPr lang="en-US" sz="1300" b="1">
                        <a:solidFill>
                          <a:srgbClr val="13123A"/>
                        </a:solidFill>
                        <a:latin typeface="Consolas" panose="020B0609020204030204"/>
                      </a:endParaRPr>
                    </a:p>
                  </a:txBody>
                  <a:tcPr anchor="ctr">
                    <a:solidFill>
                      <a:srgbClr val="ECEBF7"/>
                    </a:solidFill>
                  </a:tcPr>
                </a:tc>
                <a:tc>
                  <a:txBody>
                    <a:bodyPr/>
                    <a:lstStyle/>
                    <a:p>
                      <a:pPr algn="l"/>
                      <a:r>
                        <a:rPr lang="en-US" sz="1300" b="1">
                          <a:solidFill>
                            <a:srgbClr val="13123A"/>
                          </a:solidFill>
                          <a:latin typeface="Calibri" panose="020F0502020204030204"/>
                          <a:ea typeface="Calibri" panose="020F0502020204030204"/>
                          <a:cs typeface="Calibri" panose="020F0502020204030204"/>
                        </a:rPr>
                        <a:t>Slot + max(seq) tất định</a:t>
                      </a:r>
                      <a:endParaRPr lang="en-US" sz="1300" b="1">
                        <a:solidFill>
                          <a:srgbClr val="13123A"/>
                        </a:solidFill>
                        <a:latin typeface="Calibri" panose="020F0502020204030204"/>
                        <a:ea typeface="Calibri" panose="020F0502020204030204"/>
                        <a:cs typeface="Calibri" panose="020F0502020204030204"/>
                      </a:endParaRPr>
                    </a:p>
                  </a:txBody>
                  <a:tcPr anchor="ctr">
                    <a:solidFill>
                      <a:srgbClr val="ECEBF7"/>
                    </a:solidFill>
                  </a:tcPr>
                </a:tc>
                <a:tc>
                  <a:txBody>
                    <a:bodyPr/>
                    <a:lstStyle/>
                    <a:p>
                      <a:pPr algn="l"/>
                      <a:r>
                        <a:rPr lang="en-US" sz="1300" b="1">
                          <a:solidFill>
                            <a:srgbClr val="13123A"/>
                          </a:solidFill>
                          <a:latin typeface="Calibri" panose="020F0502020204030204"/>
                          <a:ea typeface="Calibri" panose="020F0502020204030204"/>
                          <a:cs typeface="Calibri" panose="020F0502020204030204"/>
                        </a:rPr>
                        <a:t>Cấu hình đề xuất</a:t>
                      </a:r>
                      <a:endParaRPr lang="en-US" sz="1300" b="1">
                        <a:solidFill>
                          <a:srgbClr val="13123A"/>
                        </a:solidFill>
                        <a:latin typeface="Calibri" panose="020F0502020204030204"/>
                        <a:ea typeface="Calibri" panose="020F0502020204030204"/>
                        <a:cs typeface="Calibri" panose="020F0502020204030204"/>
                      </a:endParaRPr>
                    </a:p>
                  </a:txBody>
                  <a:tcPr anchor="ctr">
                    <a:solidFill>
                      <a:srgbClr val="ECEBF7"/>
                    </a:solidFill>
                  </a:tcPr>
                </a:tc>
              </a:tr>
            </a:tbl>
          </a:graphicData>
        </a:graphic>
      </p:graphicFrame>
      <p:sp>
        <p:nvSpPr>
          <p:cNvPr id="6" name="Rectangle 5"/>
          <p:cNvSpPr/>
          <p:nvPr/>
        </p:nvSpPr>
        <p:spPr>
          <a:xfrm>
            <a:off x="571500" y="4318000"/>
            <a:ext cx="11049076" cy="1320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p:cNvSpPr/>
          <p:nvPr/>
        </p:nvSpPr>
        <p:spPr>
          <a:xfrm>
            <a:off x="571500" y="4318000"/>
            <a:ext cx="66560" cy="1320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8" name="TextBox 7"/>
          <p:cNvSpPr txBox="1"/>
          <p:nvPr/>
        </p:nvSpPr>
        <p:spPr>
          <a:xfrm>
            <a:off x="864367" y="4495800"/>
            <a:ext cx="6656070" cy="254000"/>
          </a:xfrm>
          <a:prstGeom prst="rect">
            <a:avLst/>
          </a:prstGeom>
          <a:noFill/>
        </p:spPr>
        <p:txBody>
          <a:bodyPr vertOverflow="overflow" vert="horz" wrap="square" rtlCol="0" anchor="t">
            <a:noAutofit/>
          </a:bodyPr>
          <a:lstStyle/>
          <a:p>
            <a:pPr algn="l"/>
            <a:r>
              <a:rPr lang="en-US" sz="1300" b="1">
                <a:solidFill>
                  <a:srgbClr val="0F6E6E"/>
                </a:solidFill>
                <a:latin typeface="Calibri" panose="020F0502020204030204"/>
                <a:ea typeface="Calibri" panose="020F0502020204030204"/>
                <a:cs typeface="Calibri" panose="020F0502020204030204"/>
              </a:rPr>
              <a:t>ĐIỀU KIỆN THÍ NGHIỆM</a:t>
            </a:r>
            <a:endParaRPr lang="en-US" sz="1300" b="1">
              <a:solidFill>
                <a:srgbClr val="0F6E6E"/>
              </a:solidFill>
              <a:latin typeface="Calibri" panose="020F0502020204030204"/>
              <a:ea typeface="Calibri" panose="020F0502020204030204"/>
              <a:cs typeface="Calibri" panose="020F0502020204030204"/>
            </a:endParaRPr>
          </a:p>
        </p:txBody>
      </p:sp>
      <p:sp>
        <p:nvSpPr>
          <p:cNvPr id="9" name="TextBox 8"/>
          <p:cNvSpPr txBox="1"/>
          <p:nvPr/>
        </p:nvSpPr>
        <p:spPr>
          <a:xfrm>
            <a:off x="864367" y="4800600"/>
            <a:ext cx="10516590" cy="711200"/>
          </a:xfrm>
          <a:prstGeom prst="rect">
            <a:avLst/>
          </a:prstGeom>
          <a:noFill/>
        </p:spPr>
        <p:txBody>
          <a:bodyPr vertOverflow="overflow" vert="horz" wrap="square" rtlCol="0" anchor="t">
            <a:noAutofit/>
          </a:bodyPr>
          <a:lstStyle/>
          <a:p>
            <a:pPr algn="l"/>
            <a:r>
              <a:rPr lang="en-US" sz="1400">
                <a:solidFill>
                  <a:srgbClr val="13123A"/>
                </a:solidFill>
                <a:latin typeface="Calibri" panose="020F0502020204030204"/>
                <a:ea typeface="Calibri" panose="020F0502020204030204"/>
                <a:cs typeface="Calibri" panose="020F0502020204030204"/>
              </a:rPr>
              <a:t>Mọi cấu hình cố định cùng LLM – cùng k – cùng ngân sách token. Đo trên LongMemEval-S (nhóm knowledge-update) + FactConsolidation + bộ test tiếng Việt tự xây theo đúng khuôn đó (150–200 câu, nhiễu 6K/32K/64K token).</a:t>
            </a:r>
            <a:endParaRPr lang="en-US" sz="1400">
              <a:solidFill>
                <a:srgbClr val="13123A"/>
              </a:solidFill>
              <a:latin typeface="Calibri" panose="020F0502020204030204"/>
              <a:ea typeface="Calibri" panose="020F0502020204030204"/>
              <a:cs typeface="Calibri" panose="020F0502020204030204"/>
            </a:endParaRPr>
          </a:p>
        </p:txBody>
      </p:sp>
      <p:sp>
        <p:nvSpPr>
          <p:cNvPr id="10" name="TextBox 9"/>
          <p:cNvSpPr txBox="1"/>
          <p:nvPr/>
        </p:nvSpPr>
        <p:spPr>
          <a:xfrm>
            <a:off x="571500" y="6324600"/>
            <a:ext cx="11049076" cy="4064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Nguồn: Wu et al., ICLR 2025 · Hu et al., ICLR 2026 (arXiv:2507.05257) · nguyên tắc cố định điều kiện: Jiang et al., arXiv:2602.19320 (2026).</a:t>
            </a:r>
            <a:endParaRPr lang="en-US" sz="1050">
              <a:solidFill>
                <a:srgbClr val="6A6E85"/>
              </a:solidFill>
              <a:latin typeface="Calibri" panose="020F0502020204030204"/>
              <a:ea typeface="Calibri" panose="020F0502020204030204"/>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TIẾN ĐỘ</a:t>
            </a:r>
            <a:endParaRPr lang="en-US" sz="1200" b="1">
              <a:solidFill>
                <a:srgbClr val="1FA6A6"/>
              </a:solidFill>
              <a:latin typeface="Calibri" panose="020F0502020204030204"/>
              <a:ea typeface="Calibri" panose="020F0502020204030204"/>
              <a:cs typeface="Calibri" panose="020F0502020204030204"/>
            </a:endParaRPr>
          </a:p>
        </p:txBody>
      </p:sp>
      <p:sp>
        <p:nvSpPr>
          <p:cNvPr id="3" name="TextBox 2"/>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panose="02040503050406030204"/>
                <a:ea typeface="Cambria" panose="02040503050406030204"/>
              </a:rPr>
              <a:t>Đã xong tuần 2 · Việc tuần 3</a:t>
            </a:r>
            <a:endParaRPr lang="en-US" sz="3000" b="1">
              <a:solidFill>
                <a:srgbClr val="13123A"/>
              </a:solidFill>
              <a:latin typeface="Cambria" panose="02040503050406030204"/>
              <a:ea typeface="Cambria" panose="02040503050406030204"/>
            </a:endParaRPr>
          </a:p>
        </p:txBody>
      </p:sp>
      <p:sp>
        <p:nvSpPr>
          <p:cNvPr id="4" name="Rectangle 3"/>
          <p:cNvSpPr/>
          <p:nvPr/>
        </p:nvSpPr>
        <p:spPr>
          <a:xfrm>
            <a:off x="571500" y="1676400"/>
            <a:ext cx="5391416" cy="2946400"/>
          </a:xfrm>
          <a:prstGeom prst="rect">
            <a:avLst/>
          </a:prstGeom>
          <a:solidFill>
            <a:srgbClr val="E4F5F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p:cNvSpPr/>
          <p:nvPr/>
        </p:nvSpPr>
        <p:spPr>
          <a:xfrm>
            <a:off x="571500" y="1676400"/>
            <a:ext cx="5391416" cy="381000"/>
          </a:xfrm>
          <a:prstGeom prst="rect">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p:cNvSpPr txBox="1"/>
          <p:nvPr/>
        </p:nvSpPr>
        <p:spPr>
          <a:xfrm>
            <a:off x="811118" y="1765300"/>
            <a:ext cx="4925491" cy="254000"/>
          </a:xfrm>
          <a:prstGeom prst="rect">
            <a:avLst/>
          </a:prstGeom>
          <a:noFill/>
        </p:spPr>
        <p:txBody>
          <a:bodyPr vertOverflow="overflow" vert="horz" wrap="square" rtlCol="0" anchor="t">
            <a:noAutofit/>
          </a:bodyPr>
          <a:lstStyle/>
          <a:p>
            <a:pPr algn="l"/>
            <a:r>
              <a:rPr lang="en-US" sz="1300" b="1">
                <a:solidFill>
                  <a:srgbClr val="FFFFFF"/>
                </a:solidFill>
                <a:latin typeface="Calibri" panose="020F0502020204030204"/>
                <a:ea typeface="Calibri" panose="020F0502020204030204"/>
                <a:cs typeface="Calibri" panose="020F0502020204030204"/>
              </a:rPr>
              <a:t>ĐÃ XONG (TUẦN 2)</a:t>
            </a:r>
            <a:endParaRPr lang="en-US" sz="1300" b="1">
              <a:solidFill>
                <a:srgbClr val="FFFFFF"/>
              </a:solidFill>
              <a:latin typeface="Calibri" panose="020F0502020204030204"/>
              <a:ea typeface="Calibri" panose="020F0502020204030204"/>
              <a:cs typeface="Calibri" panose="020F0502020204030204"/>
            </a:endParaRPr>
          </a:p>
        </p:txBody>
      </p:sp>
      <p:sp>
        <p:nvSpPr>
          <p:cNvPr id="7" name="Oval 6"/>
          <p:cNvSpPr/>
          <p:nvPr/>
        </p:nvSpPr>
        <p:spPr>
          <a:xfrm>
            <a:off x="811118" y="22606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p:cNvSpPr txBox="1"/>
          <p:nvPr/>
        </p:nvSpPr>
        <p:spPr>
          <a:xfrm>
            <a:off x="1024112" y="21844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Rà soát lại benchmark theo góp ý mentor</a:t>
            </a:r>
            <a:endParaRPr lang="en-US" sz="1300">
              <a:solidFill>
                <a:srgbClr val="13123A"/>
              </a:solidFill>
              <a:latin typeface="Calibri" panose="020F0502020204030204"/>
              <a:ea typeface="Calibri" panose="020F0502020204030204"/>
              <a:cs typeface="Calibri" panose="020F0502020204030204"/>
            </a:endParaRPr>
          </a:p>
        </p:txBody>
      </p:sp>
      <p:sp>
        <p:nvSpPr>
          <p:cNvPr id="9" name="Oval 8"/>
          <p:cNvSpPr/>
          <p:nvPr/>
        </p:nvSpPr>
        <p:spPr>
          <a:xfrm>
            <a:off x="811118" y="26670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p:cNvSpPr txBox="1"/>
          <p:nvPr/>
        </p:nvSpPr>
        <p:spPr>
          <a:xfrm>
            <a:off x="1024112" y="25908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Chốt công nghệ: Python · OpenAI · ChromaDB</a:t>
            </a:r>
            <a:endParaRPr lang="en-US" sz="1300">
              <a:solidFill>
                <a:srgbClr val="13123A"/>
              </a:solidFill>
              <a:latin typeface="Calibri" panose="020F0502020204030204"/>
              <a:ea typeface="Calibri" panose="020F0502020204030204"/>
              <a:cs typeface="Calibri" panose="020F0502020204030204"/>
            </a:endParaRPr>
          </a:p>
        </p:txBody>
      </p:sp>
      <p:sp>
        <p:nvSpPr>
          <p:cNvPr id="11" name="Oval 10"/>
          <p:cNvSpPr/>
          <p:nvPr/>
        </p:nvSpPr>
        <p:spPr>
          <a:xfrm>
            <a:off x="811118" y="30734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p:cNvSpPr txBox="1"/>
          <p:nvPr/>
        </p:nvSpPr>
        <p:spPr>
          <a:xfrm>
            <a:off x="1024112" y="2997200"/>
            <a:ext cx="4712497" cy="355600"/>
          </a:xfrm>
          <a:prstGeom prst="rect">
            <a:avLst/>
          </a:prstGeom>
          <a:noFill/>
        </p:spPr>
        <p:txBody>
          <a:bodyPr vertOverflow="overflow" vert="horz" wrap="square" rtlCol="0" anchor="t">
            <a:noAutofit/>
          </a:bodyPr>
          <a:lstStyle/>
          <a:p>
            <a:pPr algn="l"/>
            <a:r>
              <a:rPr lang="vi-VN" sz="1300">
                <a:solidFill>
                  <a:srgbClr val="13123A"/>
                </a:solidFill>
                <a:latin typeface="Calibri" panose="020F0502020204030204"/>
                <a:ea typeface="Calibri" panose="020F0502020204030204"/>
                <a:cs typeface="Calibri" panose="020F0502020204030204"/>
              </a:rPr>
              <a:t>Lược đồ slot + seq; kiến trúc module</a:t>
            </a:r>
            <a:endParaRPr lang="en-US" sz="1300">
              <a:solidFill>
                <a:srgbClr val="13123A"/>
              </a:solidFill>
              <a:latin typeface="Calibri" panose="020F0502020204030204"/>
              <a:ea typeface="Calibri" panose="020F0502020204030204"/>
              <a:cs typeface="Calibri" panose="020F0502020204030204"/>
            </a:endParaRPr>
          </a:p>
        </p:txBody>
      </p:sp>
      <p:sp>
        <p:nvSpPr>
          <p:cNvPr id="13" name="Oval 12"/>
          <p:cNvSpPr/>
          <p:nvPr/>
        </p:nvSpPr>
        <p:spPr>
          <a:xfrm>
            <a:off x="811118" y="34798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p:cNvSpPr txBox="1"/>
          <p:nvPr/>
        </p:nvSpPr>
        <p:spPr>
          <a:xfrm>
            <a:off x="1024112" y="34036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Vòng lặp 4 pha chạy đầu–cuối</a:t>
            </a:r>
            <a:endParaRPr lang="en-US" sz="1300">
              <a:solidFill>
                <a:srgbClr val="13123A"/>
              </a:solidFill>
              <a:latin typeface="Calibri" panose="020F0502020204030204"/>
              <a:ea typeface="Calibri" panose="020F0502020204030204"/>
              <a:cs typeface="Calibri" panose="020F0502020204030204"/>
            </a:endParaRPr>
          </a:p>
        </p:txBody>
      </p:sp>
      <p:sp>
        <p:nvSpPr>
          <p:cNvPr id="15" name="Oval 14"/>
          <p:cNvSpPr/>
          <p:nvPr/>
        </p:nvSpPr>
        <p:spPr>
          <a:xfrm>
            <a:off x="811118" y="38862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p:cNvSpPr txBox="1"/>
          <p:nvPr/>
        </p:nvSpPr>
        <p:spPr>
          <a:xfrm>
            <a:off x="1024112" y="3810000"/>
            <a:ext cx="4712497" cy="355600"/>
          </a:xfrm>
          <a:prstGeom prst="rect">
            <a:avLst/>
          </a:prstGeom>
          <a:noFill/>
        </p:spPr>
        <p:txBody>
          <a:bodyPr vertOverflow="overflow" vert="horz" wrap="square" rtlCol="0" anchor="t">
            <a:noAutofit/>
          </a:bodyPr>
          <a:lstStyle/>
          <a:p>
            <a:pPr algn="l"/>
            <a:r>
              <a:rPr lang="nl-NL" sz="1300">
                <a:solidFill>
                  <a:srgbClr val="13123A"/>
                </a:solidFill>
                <a:latin typeface="Calibri" panose="020F0502020204030204"/>
                <a:ea typeface="Calibri" panose="020F0502020204030204"/>
                <a:cs typeface="Calibri" panose="020F0502020204030204"/>
              </a:rPr>
              <a:t>ADD/UPDATE/DELETE/NOOP + lịch sử slot</a:t>
            </a:r>
            <a:endParaRPr lang="en-US" sz="1300">
              <a:solidFill>
                <a:srgbClr val="13123A"/>
              </a:solidFill>
              <a:latin typeface="Calibri" panose="020F0502020204030204"/>
              <a:ea typeface="Calibri" panose="020F0502020204030204"/>
              <a:cs typeface="Calibri" panose="020F0502020204030204"/>
            </a:endParaRPr>
          </a:p>
        </p:txBody>
      </p:sp>
      <p:sp>
        <p:nvSpPr>
          <p:cNvPr id="17" name="Oval 16"/>
          <p:cNvSpPr/>
          <p:nvPr/>
        </p:nvSpPr>
        <p:spPr>
          <a:xfrm>
            <a:off x="811118" y="42926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p:cNvSpPr txBox="1"/>
          <p:nvPr/>
        </p:nvSpPr>
        <p:spPr>
          <a:xfrm>
            <a:off x="1024112" y="42164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CLI tối thiểu · 8 test đều đạt</a:t>
            </a:r>
            <a:endParaRPr lang="en-US" sz="1300">
              <a:solidFill>
                <a:srgbClr val="13123A"/>
              </a:solidFill>
              <a:latin typeface="Calibri" panose="020F0502020204030204"/>
              <a:ea typeface="Calibri" panose="020F0502020204030204"/>
              <a:cs typeface="Calibri" panose="020F0502020204030204"/>
            </a:endParaRPr>
          </a:p>
        </p:txBody>
      </p:sp>
      <p:sp>
        <p:nvSpPr>
          <p:cNvPr id="19" name="Rectangle 18"/>
          <p:cNvSpPr/>
          <p:nvPr/>
        </p:nvSpPr>
        <p:spPr>
          <a:xfrm>
            <a:off x="6229159" y="1676400"/>
            <a:ext cx="5391416" cy="29464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p:cNvSpPr/>
          <p:nvPr/>
        </p:nvSpPr>
        <p:spPr>
          <a:xfrm>
            <a:off x="6229159" y="1676400"/>
            <a:ext cx="5391416" cy="3810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p:cNvSpPr txBox="1"/>
          <p:nvPr/>
        </p:nvSpPr>
        <p:spPr>
          <a:xfrm>
            <a:off x="6468778" y="1765300"/>
            <a:ext cx="4925491" cy="254000"/>
          </a:xfrm>
          <a:prstGeom prst="rect">
            <a:avLst/>
          </a:prstGeom>
          <a:noFill/>
        </p:spPr>
        <p:txBody>
          <a:bodyPr vertOverflow="overflow" vert="horz" wrap="square" rtlCol="0" anchor="t">
            <a:noAutofit/>
          </a:bodyPr>
          <a:lstStyle/>
          <a:p>
            <a:pPr algn="l"/>
            <a:r>
              <a:rPr lang="en-US" sz="1300" b="1">
                <a:solidFill>
                  <a:srgbClr val="FFFFFF"/>
                </a:solidFill>
                <a:latin typeface="Calibri" panose="020F0502020204030204"/>
                <a:ea typeface="Calibri" panose="020F0502020204030204"/>
                <a:cs typeface="Calibri" panose="020F0502020204030204"/>
              </a:rPr>
              <a:t>TUẦN 3</a:t>
            </a:r>
            <a:endParaRPr lang="en-US" sz="1300" b="1">
              <a:solidFill>
                <a:srgbClr val="FFFFFF"/>
              </a:solidFill>
              <a:latin typeface="Calibri" panose="020F0502020204030204"/>
              <a:ea typeface="Calibri" panose="020F0502020204030204"/>
              <a:cs typeface="Calibri" panose="020F0502020204030204"/>
            </a:endParaRPr>
          </a:p>
        </p:txBody>
      </p:sp>
      <p:sp>
        <p:nvSpPr>
          <p:cNvPr id="22" name="Oval 21"/>
          <p:cNvSpPr/>
          <p:nvPr/>
        </p:nvSpPr>
        <p:spPr>
          <a:xfrm>
            <a:off x="6468778" y="22606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p:cNvSpPr txBox="1"/>
          <p:nvPr/>
        </p:nvSpPr>
        <p:spPr>
          <a:xfrm>
            <a:off x="6681772" y="21844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Thay LLM giả lập bằng gpt-4o-mini thật</a:t>
            </a:r>
            <a:endParaRPr lang="en-US" sz="1300">
              <a:solidFill>
                <a:srgbClr val="13123A"/>
              </a:solidFill>
              <a:latin typeface="Calibri" panose="020F0502020204030204"/>
              <a:ea typeface="Calibri" panose="020F0502020204030204"/>
              <a:cs typeface="Calibri" panose="020F0502020204030204"/>
            </a:endParaRPr>
          </a:p>
        </p:txBody>
      </p:sp>
      <p:sp>
        <p:nvSpPr>
          <p:cNvPr id="24" name="Oval 23"/>
          <p:cNvSpPr/>
          <p:nvPr/>
        </p:nvSpPr>
        <p:spPr>
          <a:xfrm>
            <a:off x="6468778" y="26670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p:cNvSpPr txBox="1"/>
          <p:nvPr/>
        </p:nvSpPr>
        <p:spPr>
          <a:xfrm>
            <a:off x="6681772" y="25908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Đo p50/p95 và token/truy vấn</a:t>
            </a:r>
            <a:endParaRPr lang="en-US" sz="1300">
              <a:solidFill>
                <a:srgbClr val="13123A"/>
              </a:solidFill>
              <a:latin typeface="Calibri" panose="020F0502020204030204"/>
              <a:ea typeface="Calibri" panose="020F0502020204030204"/>
              <a:cs typeface="Calibri" panose="020F0502020204030204"/>
            </a:endParaRPr>
          </a:p>
        </p:txBody>
      </p:sp>
      <p:sp>
        <p:nvSpPr>
          <p:cNvPr id="26" name="Oval 25"/>
          <p:cNvSpPr/>
          <p:nvPr/>
        </p:nvSpPr>
        <p:spPr>
          <a:xfrm>
            <a:off x="6468778" y="30734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p:cNvSpPr txBox="1"/>
          <p:nvPr/>
        </p:nvSpPr>
        <p:spPr>
          <a:xfrm>
            <a:off x="6681772" y="29972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Chạy LongMemEval-S, lấy số nhóm knowledge-update</a:t>
            </a:r>
            <a:endParaRPr lang="en-US" sz="1300">
              <a:solidFill>
                <a:srgbClr val="13123A"/>
              </a:solidFill>
              <a:latin typeface="Calibri" panose="020F0502020204030204"/>
              <a:ea typeface="Calibri" panose="020F0502020204030204"/>
              <a:cs typeface="Calibri" panose="020F0502020204030204"/>
            </a:endParaRPr>
          </a:p>
        </p:txBody>
      </p:sp>
      <p:sp>
        <p:nvSpPr>
          <p:cNvPr id="28" name="Oval 27"/>
          <p:cNvSpPr/>
          <p:nvPr/>
        </p:nvSpPr>
        <p:spPr>
          <a:xfrm>
            <a:off x="6468778" y="34798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p:cNvSpPr txBox="1"/>
          <p:nvPr/>
        </p:nvSpPr>
        <p:spPr>
          <a:xfrm>
            <a:off x="6681772" y="34036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Dựng cấu hình đối chứng llm-judge-freshness</a:t>
            </a:r>
            <a:endParaRPr lang="en-US" sz="1300">
              <a:solidFill>
                <a:srgbClr val="13123A"/>
              </a:solidFill>
              <a:latin typeface="Calibri" panose="020F0502020204030204"/>
              <a:ea typeface="Calibri" panose="020F0502020204030204"/>
              <a:cs typeface="Calibri" panose="020F0502020204030204"/>
            </a:endParaRPr>
          </a:p>
        </p:txBody>
      </p:sp>
      <p:sp>
        <p:nvSpPr>
          <p:cNvPr id="30" name="Oval 29"/>
          <p:cNvSpPr/>
          <p:nvPr/>
        </p:nvSpPr>
        <p:spPr>
          <a:xfrm>
            <a:off x="6468778" y="38862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p:cNvSpPr txBox="1"/>
          <p:nvPr/>
        </p:nvSpPr>
        <p:spPr>
          <a:xfrm>
            <a:off x="6681772" y="38100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panose="020F0502020204030204"/>
                <a:ea typeface="Calibri" panose="020F0502020204030204"/>
                <a:cs typeface="Calibri" panose="020F0502020204030204"/>
              </a:rPr>
              <a:t>Cache embedding ra đĩa để chạy lại không tốn tiền</a:t>
            </a:r>
            <a:endParaRPr lang="en-US" sz="1300">
              <a:solidFill>
                <a:srgbClr val="13123A"/>
              </a:solidFill>
              <a:latin typeface="Calibri" panose="020F0502020204030204"/>
              <a:ea typeface="Calibri" panose="020F0502020204030204"/>
              <a:cs typeface="Calibri" panose="020F0502020204030204"/>
            </a:endParaRPr>
          </a:p>
        </p:txBody>
      </p:sp>
      <p:sp>
        <p:nvSpPr>
          <p:cNvPr id="32" name="TextBox 31"/>
          <p:cNvSpPr txBox="1"/>
          <p:nvPr/>
        </p:nvSpPr>
        <p:spPr>
          <a:xfrm>
            <a:off x="1716344" y="4851400"/>
            <a:ext cx="2129942" cy="254000"/>
          </a:xfrm>
          <a:prstGeom prst="rect">
            <a:avLst/>
          </a:prstGeom>
          <a:noFill/>
        </p:spPr>
        <p:txBody>
          <a:bodyPr vertOverflow="overflow" vert="horz" wrap="square" rtlCol="0" anchor="t">
            <a:noAutofit/>
          </a:bodyPr>
          <a:lstStyle/>
          <a:p>
            <a:pPr algn="l"/>
            <a:r>
              <a:rPr lang="en-US" sz="1200" b="1">
                <a:solidFill>
                  <a:srgbClr val="1FA6A6"/>
                </a:solidFill>
                <a:latin typeface="Calibri" panose="020F0502020204030204"/>
                <a:ea typeface="Calibri" panose="020F0502020204030204"/>
                <a:cs typeface="Calibri" panose="020F0502020204030204"/>
              </a:rPr>
              <a:t>◀ đang ở đây</a:t>
            </a:r>
            <a:endParaRPr lang="en-US" sz="1200" b="1">
              <a:solidFill>
                <a:srgbClr val="1FA6A6"/>
              </a:solidFill>
              <a:latin typeface="Calibri" panose="020F0502020204030204"/>
              <a:ea typeface="Calibri" panose="020F0502020204030204"/>
              <a:cs typeface="Calibri" panose="020F0502020204030204"/>
            </a:endParaRPr>
          </a:p>
        </p:txBody>
      </p:sp>
      <p:sp>
        <p:nvSpPr>
          <p:cNvPr id="33" name="Rectangle 32"/>
          <p:cNvSpPr/>
          <p:nvPr/>
        </p:nvSpPr>
        <p:spPr>
          <a:xfrm>
            <a:off x="571500" y="5156200"/>
            <a:ext cx="1304589" cy="177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34" name="TextBox 33"/>
          <p:cNvSpPr txBox="1"/>
          <p:nvPr/>
        </p:nvSpPr>
        <p:spPr>
          <a:xfrm>
            <a:off x="571500"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1</a:t>
            </a:r>
            <a:endParaRPr lang="en-US" sz="1050">
              <a:solidFill>
                <a:srgbClr val="6A6E85"/>
              </a:solidFill>
              <a:latin typeface="Calibri" panose="020F0502020204030204"/>
              <a:ea typeface="Calibri" panose="020F0502020204030204"/>
              <a:cs typeface="Calibri" panose="020F0502020204030204"/>
            </a:endParaRPr>
          </a:p>
        </p:txBody>
      </p:sp>
      <p:sp>
        <p:nvSpPr>
          <p:cNvPr id="35" name="Rectangle 34"/>
          <p:cNvSpPr/>
          <p:nvPr/>
        </p:nvSpPr>
        <p:spPr>
          <a:xfrm>
            <a:off x="1955962" y="5156200"/>
            <a:ext cx="1304589" cy="177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36" name="TextBox 35"/>
          <p:cNvSpPr txBox="1"/>
          <p:nvPr/>
        </p:nvSpPr>
        <p:spPr>
          <a:xfrm>
            <a:off x="1955962" y="5384800"/>
            <a:ext cx="1304589" cy="228600"/>
          </a:xfrm>
          <a:prstGeom prst="rect">
            <a:avLst/>
          </a:prstGeom>
          <a:noFill/>
        </p:spPr>
        <p:txBody>
          <a:bodyPr vertOverflow="overflow" vert="horz" wrap="square" rtlCol="0" anchor="t">
            <a:noAutofit/>
          </a:bodyPr>
          <a:lstStyle/>
          <a:p>
            <a:pPr algn="l"/>
            <a:r>
              <a:rPr lang="en-US" sz="1050" b="1">
                <a:solidFill>
                  <a:srgbClr val="1FA6A6"/>
                </a:solidFill>
                <a:latin typeface="Calibri" panose="020F0502020204030204"/>
                <a:ea typeface="Calibri" panose="020F0502020204030204"/>
                <a:cs typeface="Calibri" panose="020F0502020204030204"/>
              </a:rPr>
              <a:t>Tuần 2</a:t>
            </a:r>
            <a:endParaRPr lang="en-US" sz="1050" b="1">
              <a:solidFill>
                <a:srgbClr val="1FA6A6"/>
              </a:solidFill>
              <a:latin typeface="Calibri" panose="020F0502020204030204"/>
              <a:ea typeface="Calibri" panose="020F0502020204030204"/>
              <a:cs typeface="Calibri" panose="020F0502020204030204"/>
            </a:endParaRPr>
          </a:p>
        </p:txBody>
      </p:sp>
      <p:sp>
        <p:nvSpPr>
          <p:cNvPr id="37" name="Rectangle 36"/>
          <p:cNvSpPr/>
          <p:nvPr/>
        </p:nvSpPr>
        <p:spPr>
          <a:xfrm>
            <a:off x="3340425"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TextBox 37"/>
          <p:cNvSpPr txBox="1"/>
          <p:nvPr/>
        </p:nvSpPr>
        <p:spPr>
          <a:xfrm>
            <a:off x="3340425"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3</a:t>
            </a:r>
            <a:endParaRPr lang="en-US" sz="1050">
              <a:solidFill>
                <a:srgbClr val="6A6E85"/>
              </a:solidFill>
              <a:latin typeface="Calibri" panose="020F0502020204030204"/>
              <a:ea typeface="Calibri" panose="020F0502020204030204"/>
              <a:cs typeface="Calibri" panose="020F0502020204030204"/>
            </a:endParaRPr>
          </a:p>
        </p:txBody>
      </p:sp>
      <p:sp>
        <p:nvSpPr>
          <p:cNvPr id="39" name="Rectangle 38"/>
          <p:cNvSpPr/>
          <p:nvPr/>
        </p:nvSpPr>
        <p:spPr>
          <a:xfrm>
            <a:off x="4724887"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TextBox 39"/>
          <p:cNvSpPr txBox="1"/>
          <p:nvPr/>
        </p:nvSpPr>
        <p:spPr>
          <a:xfrm>
            <a:off x="4724887"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4</a:t>
            </a:r>
            <a:endParaRPr lang="en-US" sz="1050">
              <a:solidFill>
                <a:srgbClr val="6A6E85"/>
              </a:solidFill>
              <a:latin typeface="Calibri" panose="020F0502020204030204"/>
              <a:ea typeface="Calibri" panose="020F0502020204030204"/>
              <a:cs typeface="Calibri" panose="020F0502020204030204"/>
            </a:endParaRPr>
          </a:p>
        </p:txBody>
      </p:sp>
      <p:sp>
        <p:nvSpPr>
          <p:cNvPr id="41" name="Rectangle 40"/>
          <p:cNvSpPr/>
          <p:nvPr/>
        </p:nvSpPr>
        <p:spPr>
          <a:xfrm>
            <a:off x="6109350"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p:cNvSpPr txBox="1"/>
          <p:nvPr/>
        </p:nvSpPr>
        <p:spPr>
          <a:xfrm>
            <a:off x="6109350"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5</a:t>
            </a:r>
            <a:endParaRPr lang="en-US" sz="1050">
              <a:solidFill>
                <a:srgbClr val="6A6E85"/>
              </a:solidFill>
              <a:latin typeface="Calibri" panose="020F0502020204030204"/>
              <a:ea typeface="Calibri" panose="020F0502020204030204"/>
              <a:cs typeface="Calibri" panose="020F0502020204030204"/>
            </a:endParaRPr>
          </a:p>
        </p:txBody>
      </p:sp>
      <p:sp>
        <p:nvSpPr>
          <p:cNvPr id="43" name="Rectangle 42"/>
          <p:cNvSpPr/>
          <p:nvPr/>
        </p:nvSpPr>
        <p:spPr>
          <a:xfrm>
            <a:off x="7493812"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TextBox 43"/>
          <p:cNvSpPr txBox="1"/>
          <p:nvPr/>
        </p:nvSpPr>
        <p:spPr>
          <a:xfrm>
            <a:off x="7493812"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6</a:t>
            </a:r>
            <a:endParaRPr lang="en-US" sz="1050">
              <a:solidFill>
                <a:srgbClr val="6A6E85"/>
              </a:solidFill>
              <a:latin typeface="Calibri" panose="020F0502020204030204"/>
              <a:ea typeface="Calibri" panose="020F0502020204030204"/>
              <a:cs typeface="Calibri" panose="020F0502020204030204"/>
            </a:endParaRPr>
          </a:p>
        </p:txBody>
      </p:sp>
      <p:sp>
        <p:nvSpPr>
          <p:cNvPr id="45" name="Rectangle 44"/>
          <p:cNvSpPr/>
          <p:nvPr/>
        </p:nvSpPr>
        <p:spPr>
          <a:xfrm>
            <a:off x="8878275"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p:cNvSpPr txBox="1"/>
          <p:nvPr/>
        </p:nvSpPr>
        <p:spPr>
          <a:xfrm>
            <a:off x="8878275"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7</a:t>
            </a:r>
            <a:endParaRPr lang="en-US" sz="1050">
              <a:solidFill>
                <a:srgbClr val="6A6E85"/>
              </a:solidFill>
              <a:latin typeface="Calibri" panose="020F0502020204030204"/>
              <a:ea typeface="Calibri" panose="020F0502020204030204"/>
              <a:cs typeface="Calibri" panose="020F0502020204030204"/>
            </a:endParaRPr>
          </a:p>
        </p:txBody>
      </p:sp>
      <p:sp>
        <p:nvSpPr>
          <p:cNvPr id="47" name="Rectangle 46"/>
          <p:cNvSpPr/>
          <p:nvPr/>
        </p:nvSpPr>
        <p:spPr>
          <a:xfrm>
            <a:off x="10262737"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p:cNvSpPr txBox="1"/>
          <p:nvPr/>
        </p:nvSpPr>
        <p:spPr>
          <a:xfrm>
            <a:off x="10262737"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panose="020F0502020204030204"/>
                <a:ea typeface="Calibri" panose="020F0502020204030204"/>
                <a:cs typeface="Calibri" panose="020F0502020204030204"/>
              </a:rPr>
              <a:t>Tuần 8</a:t>
            </a:r>
            <a:endParaRPr lang="en-US" sz="1050">
              <a:solidFill>
                <a:srgbClr val="6A6E85"/>
              </a:solidFill>
              <a:latin typeface="Calibri" panose="020F0502020204030204"/>
              <a:ea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1789388949979]">
  <a:themeElements>
    <a:clrScheme name="Office">
      <a:dk1>
        <a:srgbClr val="13123A"/>
      </a:dk1>
      <a:lt1>
        <a:srgbClr val="FFFFFF"/>
      </a:lt1>
      <a:dk2>
        <a:srgbClr val="3A36A0"/>
      </a:dk2>
      <a:lt2>
        <a:srgbClr val="E7E6E6"/>
      </a:lt2>
      <a:accent1>
        <a:srgbClr val="3A36A0"/>
      </a:accent1>
      <a:accent2>
        <a:srgbClr val="1FA6A6"/>
      </a:accent2>
      <a:accent3>
        <a:srgbClr val="E9970B"/>
      </a:accent3>
      <a:accent4>
        <a:srgbClr val="6A6E85"/>
      </a:accent4>
      <a:accent5>
        <a:srgbClr val="ECEBF7"/>
      </a:accent5>
      <a:accent6>
        <a:srgbClr val="13123A"/>
      </a:accent6>
      <a:hlink>
        <a:srgbClr val="467886"/>
      </a:hlink>
      <a:folHlink>
        <a:srgbClr val="96607D"/>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6727</Words>
  <Application>WPS Presentation</Application>
  <PresentationFormat>Widescreen</PresentationFormat>
  <Paragraphs>402</Paragraphs>
  <Slides>11</Slides>
  <Notes>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Cambria</vt:lpstr>
      <vt:lpstr>Calibri</vt:lpstr>
      <vt:lpstr>Consolas</vt:lpstr>
      <vt:lpstr>Microsoft YaHei</vt:lpstr>
      <vt:lpstr>Arial Unicode MS</vt:lpstr>
      <vt:lpstr>Aptos</vt:lpstr>
      <vt:lpstr>Segoe UI</vt:lpstr>
      <vt:lpstr>Calibri</vt:lpstr>
      <vt:lpstr>Office Theme [1789388949979]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Phong Đặng Tuấn</dc:creator>
  <cp:lastModifiedBy>Dũng Nguyễn</cp:lastModifiedBy>
  <cp:revision>4</cp:revision>
  <dcterms:created xsi:type="dcterms:W3CDTF">2026-09-14T11:55:00Z</dcterms:created>
  <dcterms:modified xsi:type="dcterms:W3CDTF">2026-09-14T14:16:45Z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7E514A2BBFB04B59ABC405E6A9E3468F_12</vt:lpwstr>
  </property>
</Properties>
</file>