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3"/>
  </p:notesMasterIdLst>
  <p:sldIdLst>
    <p:sldId id="277" r:id="rId2"/>
    <p:sldId id="269" r:id="rId3"/>
    <p:sldId id="270" r:id="rId4"/>
    <p:sldId id="271" r:id="rId5"/>
    <p:sldId id="261" r:id="rId6"/>
    <p:sldId id="272" r:id="rId7"/>
    <p:sldId id="273" r:id="rId8"/>
    <p:sldId id="274" r:id="rId9"/>
    <p:sldId id="265" r:id="rId10"/>
    <p:sldId id="275" r:id="rId11"/>
    <p:sldId id="2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82"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07B61-793E-4CB1-B77C-BC525310C40A}"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FE7F9-F3F2-4502-93B4-BA72CF8D592E}" type="slidenum">
              <a:rPr lang="en-US" smtClean="0"/>
              <a:t>‹#›</a:t>
            </a:fld>
            <a:endParaRPr lang="en-US"/>
          </a:p>
        </p:txBody>
      </p:sp>
    </p:spTree>
    <p:extLst>
      <p:ext uri="{BB962C8B-B14F-4D97-AF65-F5344CB8AC3E}">
        <p14:creationId xmlns:p14="http://schemas.microsoft.com/office/powerpoint/2010/main" val="1406566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Buổi này có 3 phần: (1) trả lời phản hồi của mentor về benchmark và tài liệu tham khảo, (2) thiết kế kiến trúc chi tiết, (3) demo khung dự án đã chạy được. Nhấn ngay từ đầu: sau khi rà soát lại, nhóm đã đổi trọng tâm đề tài sang bài toán cập nhật bộ nhớ.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Đây là slide trả lời trực tiếp câu hỏi tuần trước. Nói rõ nhóm đã tra lại từng benchmark chứ không trả lời cảm tính. Chốt: LoCoMo tụt xuống vai trò đối chiếu, LongMemEval-S lên làm chính, FactConsolidation là bài kiểm tra chuyên biệt cho trục cập nhật.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Slide này biện minh cho việc đổi trọng tâm đề tài. Thông điệp: nhóm không đi làm lại RAG bộ nhớ như trăm hệ khác, mà chọn đúng chỗ mà các hệ SOTA còn hỏng. Con số 7% của Zep gây ấn tượng mạnh nhất — nên dừng lại ở đó vài giây.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Đây là câu trả lời cho "đóng góp của đồ án là gì". Nhấn: ý tưởng đơn giản, nhưng đơn giản là ưu điểm — nó khiến hệ thống kiểm chứng được và lặp lại được, hai thứ mà mảng này đang thiếu.</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Giải thích vì sao không lưu fact dạng câu tự do như Mem0: khóa slot biến việc phát hiện xung đột thành một phép tra khóa, nhanh và không sai. Nếu mentor hỏi "thế thông tin không có cấu trúc thì sao" — trả lời: loại episodic vẫn lưu dạng câu, slot chỉ áp cho fact semantic.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Chi tiết dễ bị bỏ qua nhất là hai lớp lọc ở pha 3. Nếu chỉ lọc status mà không gom theo slot thì vẫn lọt bản cũ trong trường hợp bản cũ chưa kịp đánh dấu superseded. Nếu mentor hỏi sâu, mở code retriever.py ra chỉ.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Chạy live nếu kịp: LTM_LLM_PROVIDER=mock python scripts/demo_n5_n4.py. Nhấn: bản N5 không mất, vẫn tra được lịch sử. Nếu mentor hỏi "sao không xóa luôn" — vì câu hỏi suy luận thời gian cần nó.</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Cấu hình llm-judge-freshness là quan trọng nhất — nếu không có nó thì không chứng minh được cách tất định tốt hơn ở đâu. Nói rõ với mentor đây là thiết kế thí nghiệm có đối chứng, không phải chỉ khoe số.</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Chốt buổi: tuần 2 đã đóng được cả phần thiết kế lẫn phần code khung, và quan trọng hơn là đã khoanh được đóng góp cụ thể của đề tài thay vì làm chung chung. Xin ý kiến mentor về 2 điểm: (1) bộ test tiếng Việt 150-200 câu có đủ không, (2) có nên thêm knowledge graph hay giữ phạm vi hiện tại.</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1572-F3EC-32B7-BB99-4406020CAE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D0297A-5A99-3420-800D-A791CF1D46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6E3111-462B-1F56-6026-E0B602071DD8}"/>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5" name="Footer Placeholder 4">
            <a:extLst>
              <a:ext uri="{FF2B5EF4-FFF2-40B4-BE49-F238E27FC236}">
                <a16:creationId xmlns:a16="http://schemas.microsoft.com/office/drawing/2014/main" id="{7AEE757A-C74C-4EEE-711D-0F45632D6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227F4-5051-02CA-9CEC-C8E82830DE66}"/>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1151267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CAD9-70C6-DF87-5E62-6F9FB4BB19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B62B04-8A13-48A7-6178-F84451E213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65157-6BCA-A331-AAB1-6066F9890106}"/>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5" name="Footer Placeholder 4">
            <a:extLst>
              <a:ext uri="{FF2B5EF4-FFF2-40B4-BE49-F238E27FC236}">
                <a16:creationId xmlns:a16="http://schemas.microsoft.com/office/drawing/2014/main" id="{21A2760D-BDE0-CFE9-60CF-9F1121F2A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B676E-6312-1739-6793-EBB85C1874DF}"/>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3667980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593CC-E574-025F-9CEB-CAFA9C4AF7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6FABA7-3490-383C-B2E3-8C7392418D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6B09A6-8C5F-3E3E-7708-2999349545DC}"/>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5" name="Footer Placeholder 4">
            <a:extLst>
              <a:ext uri="{FF2B5EF4-FFF2-40B4-BE49-F238E27FC236}">
                <a16:creationId xmlns:a16="http://schemas.microsoft.com/office/drawing/2014/main" id="{9980F638-0035-4B37-3ED3-69D8C754AB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D880CC-C790-28F7-017F-D2D7B9C5050A}"/>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3909283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5F49-3C49-AB4E-C083-BCEE5D5AE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A6A7E2-1CF5-CE29-FE19-8C4F1BF820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FFEC4C-90E5-64A1-1910-151B0FAD74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F9EC73-57EE-8715-E0F8-F5E3258ECF73}"/>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6" name="Footer Placeholder 5">
            <a:extLst>
              <a:ext uri="{FF2B5EF4-FFF2-40B4-BE49-F238E27FC236}">
                <a16:creationId xmlns:a16="http://schemas.microsoft.com/office/drawing/2014/main" id="{3923A9DB-5CD1-30B8-7D91-8F1D680912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104BD0-937E-6F6C-246C-D0BDD8676EB2}"/>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2247536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098-0E35-4859-85CD-10DBA355CF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D6D865-660B-D5A0-948A-7CEE2FE067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59D078-FF9A-043B-A6C4-CACB382E58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B50ADA-2ED2-612A-D22C-111651A691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E83BB6-7BC5-F66C-55CA-08F12C4D17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286200-7A79-EFC2-5109-340718055426}"/>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8" name="Footer Placeholder 7">
            <a:extLst>
              <a:ext uri="{FF2B5EF4-FFF2-40B4-BE49-F238E27FC236}">
                <a16:creationId xmlns:a16="http://schemas.microsoft.com/office/drawing/2014/main" id="{8D91A95A-D27C-74B1-E22F-75210888EBB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9273EF-F8BC-3813-C662-0FDB6AF0AA7C}"/>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47138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64246-34EF-C0C3-AC16-41D77F35CA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14E20F-BC83-FC28-027C-B26F6C1576BC}"/>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4" name="Footer Placeholder 3">
            <a:extLst>
              <a:ext uri="{FF2B5EF4-FFF2-40B4-BE49-F238E27FC236}">
                <a16:creationId xmlns:a16="http://schemas.microsoft.com/office/drawing/2014/main" id="{F9B78305-B70B-F867-6E4E-E229CB377B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CD1F44-EC1E-F1F0-340C-C241FE3C6F16}"/>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4208652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F14B98-55F1-EC87-78A2-46C11845EEB7}"/>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3" name="Footer Placeholder 2">
            <a:extLst>
              <a:ext uri="{FF2B5EF4-FFF2-40B4-BE49-F238E27FC236}">
                <a16:creationId xmlns:a16="http://schemas.microsoft.com/office/drawing/2014/main" id="{C674609F-8753-7079-CE0A-045F9622CC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BFF58D-E16E-94C8-E398-1318691767D8}"/>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1706728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C52-8805-21A4-067F-F706970B89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8AEFBD-0C96-E52A-70D6-984DA03916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E69E1E-4968-75C2-CBDB-B28A8048AE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20CF9-D495-67F7-1C92-A31FFD0F7AED}"/>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6" name="Footer Placeholder 5">
            <a:extLst>
              <a:ext uri="{FF2B5EF4-FFF2-40B4-BE49-F238E27FC236}">
                <a16:creationId xmlns:a16="http://schemas.microsoft.com/office/drawing/2014/main" id="{DD3D326B-F0DC-23DE-94C2-FD83E40C74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8B193-1FD4-BD21-B267-AC6333F67BDC}"/>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53389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29C05-47E0-5C1D-8A2E-D05BFAADF2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DE44A2-A32F-9D25-5350-6546F8C183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10FD57-D0A7-7620-1CB5-8A3F816A3F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51F35B-11CE-8598-0D0E-A96A0E724A67}"/>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6" name="Footer Placeholder 5">
            <a:extLst>
              <a:ext uri="{FF2B5EF4-FFF2-40B4-BE49-F238E27FC236}">
                <a16:creationId xmlns:a16="http://schemas.microsoft.com/office/drawing/2014/main" id="{32CA1CA6-E7E6-C7D5-27CA-B7C89C343A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921DF-7C71-668D-2D99-94D2AF538B79}"/>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655301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1237C-DE40-89EE-3FFE-3A511834E1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F36695-DAE9-01CE-7E17-17977566DB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5AC9E9-B248-4914-77AF-AB9F52ECE024}"/>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5" name="Footer Placeholder 4">
            <a:extLst>
              <a:ext uri="{FF2B5EF4-FFF2-40B4-BE49-F238E27FC236}">
                <a16:creationId xmlns:a16="http://schemas.microsoft.com/office/drawing/2014/main" id="{EBEF0AAA-FA6D-C4D5-474D-029E76402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38AFC-C4F2-0C82-A593-8AFADDE807C1}"/>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1299033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F881EB-B924-5B0D-E919-29AA068FBC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32B2EF-2E30-D931-8FAD-7B5E5FB68D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449ED-885D-CE9B-C0C4-31CF10E2866D}"/>
              </a:ext>
            </a:extLst>
          </p:cNvPr>
          <p:cNvSpPr>
            <a:spLocks noGrp="1"/>
          </p:cNvSpPr>
          <p:nvPr>
            <p:ph type="dt" sz="half" idx="10"/>
          </p:nvPr>
        </p:nvSpPr>
        <p:spPr/>
        <p:txBody>
          <a:bodyPr/>
          <a:lstStyle/>
          <a:p>
            <a:fld id="{F07B303A-E976-44C0-B731-8A64F5726012}" type="datetimeFigureOut">
              <a:rPr lang="en-US" smtClean="0"/>
              <a:t>9/14/2026</a:t>
            </a:fld>
            <a:endParaRPr lang="en-US"/>
          </a:p>
        </p:txBody>
      </p:sp>
      <p:sp>
        <p:nvSpPr>
          <p:cNvPr id="5" name="Footer Placeholder 4">
            <a:extLst>
              <a:ext uri="{FF2B5EF4-FFF2-40B4-BE49-F238E27FC236}">
                <a16:creationId xmlns:a16="http://schemas.microsoft.com/office/drawing/2014/main" id="{69D59C5D-BA7F-4668-C5A0-B16ECEC7E5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59886-2083-09A2-7DCB-4B5E7E974807}"/>
              </a:ext>
            </a:extLst>
          </p:cNvPr>
          <p:cNvSpPr>
            <a:spLocks noGrp="1"/>
          </p:cNvSpPr>
          <p:nvPr>
            <p:ph type="sldNum" sz="quarter" idx="12"/>
          </p:nvPr>
        </p:nvSpPr>
        <p:spPr/>
        <p:txBody>
          <a:bodyPr/>
          <a:lstStyle/>
          <a:p>
            <a:fld id="{B12C5D8A-82AC-449D-8A6C-7225156354F5}" type="slidenum">
              <a:rPr lang="en-US" smtClean="0"/>
              <a:t>‹#›</a:t>
            </a:fld>
            <a:endParaRPr lang="en-US"/>
          </a:p>
        </p:txBody>
      </p:sp>
    </p:spTree>
    <p:extLst>
      <p:ext uri="{BB962C8B-B14F-4D97-AF65-F5344CB8AC3E}">
        <p14:creationId xmlns:p14="http://schemas.microsoft.com/office/powerpoint/2010/main" val="108415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D1F179-BD96-4F2D-2DE7-A1A999C7B5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A6176D-C525-A89B-2302-F4FDE278E5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8FDC4E-C4D8-B80E-A27D-E097002654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7B303A-E976-44C0-B731-8A64F5726012}" type="datetimeFigureOut">
              <a:rPr lang="en-US" smtClean="0"/>
              <a:t>9/14/2026</a:t>
            </a:fld>
            <a:endParaRPr lang="en-US"/>
          </a:p>
        </p:txBody>
      </p:sp>
      <p:sp>
        <p:nvSpPr>
          <p:cNvPr id="5" name="Footer Placeholder 4">
            <a:extLst>
              <a:ext uri="{FF2B5EF4-FFF2-40B4-BE49-F238E27FC236}">
                <a16:creationId xmlns:a16="http://schemas.microsoft.com/office/drawing/2014/main" id="{814C8930-47BD-57D3-3B33-47A855CC86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8BCA24-D1B0-BCB9-A3A3-5324FCA21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C5D8A-82AC-449D-8A6C-7225156354F5}" type="slidenum">
              <a:rPr lang="en-US" smtClean="0"/>
              <a:t>‹#›</a:t>
            </a:fld>
            <a:endParaRPr lang="en-US"/>
          </a:p>
        </p:txBody>
      </p:sp>
    </p:spTree>
    <p:extLst>
      <p:ext uri="{BB962C8B-B14F-4D97-AF65-F5344CB8AC3E}">
        <p14:creationId xmlns:p14="http://schemas.microsoft.com/office/powerpoint/2010/main" val="27196964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rgbClr val="13123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123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23A">
            <a:alpha val="100000"/>
          </a:srgbClr>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D7174A98-438C-422E-9981-EDCD0F0CFFF2}"/>
              </a:ext>
            </a:extLst>
          </p:cNvPr>
          <p:cNvSpPr/>
          <p:nvPr/>
        </p:nvSpPr>
        <p:spPr>
          <a:xfrm>
            <a:off x="11150600" y="5118100"/>
            <a:ext cx="2374900" cy="2374900"/>
          </a:xfrm>
          <a:prstGeom prst="ellipse">
            <a:avLst/>
          </a:prstGeom>
          <a:solidFill>
            <a:srgbClr val="1E1C5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Oval 1">
            <a:extLst>
              <a:ext uri="{FF2B5EF4-FFF2-40B4-BE49-F238E27FC236}">
                <a16:creationId xmlns:a16="http://schemas.microsoft.com/office/drawing/2014/main" id="{0FC7DB95-1126-4C3C-9320-3A56942176C4}"/>
              </a:ext>
            </a:extLst>
          </p:cNvPr>
          <p:cNvSpPr/>
          <p:nvPr/>
        </p:nvSpPr>
        <p:spPr>
          <a:xfrm>
            <a:off x="10198100" y="-914400"/>
            <a:ext cx="3111500" cy="3111500"/>
          </a:xfrm>
          <a:prstGeom prst="ellipse">
            <a:avLst/>
          </a:prstGeom>
          <a:solidFill>
            <a:srgbClr val="1E1C5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79EB8A6C-1895-411F-BEDD-62CCBC697309}"/>
              </a:ext>
            </a:extLst>
          </p:cNvPr>
          <p:cNvSpPr txBox="1"/>
          <p:nvPr/>
        </p:nvSpPr>
        <p:spPr>
          <a:xfrm>
            <a:off x="571500" y="1968500"/>
            <a:ext cx="9690100" cy="1828800"/>
          </a:xfrm>
          <a:prstGeom prst="rect">
            <a:avLst/>
          </a:prstGeom>
          <a:noFill/>
        </p:spPr>
        <p:txBody>
          <a:bodyPr vertOverflow="overflow" vert="horz" wrap="square" rtlCol="0" anchor="t" anchorCtr="0">
            <a:noAutofit/>
          </a:bodyPr>
          <a:lstStyle/>
          <a:p>
            <a:pPr algn="l"/>
            <a:r>
              <a:rPr lang="en-US" sz="4600" b="1">
                <a:solidFill>
                  <a:srgbClr val="FFFFFF"/>
                </a:solidFill>
                <a:latin typeface="Cambria"/>
                <a:ea typeface="Cambria"/>
              </a:rPr>
              <a:t>Thiết kế kiến trúc
&amp; Khung dự án</a:t>
            </a:r>
          </a:p>
        </p:txBody>
      </p:sp>
      <p:sp>
        <p:nvSpPr>
          <p:cNvPr id="6" name="Rectangle 5">
            <a:extLst>
              <a:ext uri="{FF2B5EF4-FFF2-40B4-BE49-F238E27FC236}">
                <a16:creationId xmlns:a16="http://schemas.microsoft.com/office/drawing/2014/main" id="{8B915270-75BE-4A7D-B622-D76F487BFB25}"/>
              </a:ext>
            </a:extLst>
          </p:cNvPr>
          <p:cNvSpPr/>
          <p:nvPr/>
        </p:nvSpPr>
        <p:spPr>
          <a:xfrm>
            <a:off x="571500" y="4889500"/>
            <a:ext cx="3835400" cy="38100"/>
          </a:xfrm>
          <a:prstGeom prst="rect">
            <a:avLst/>
          </a:prstGeom>
          <a:solidFill>
            <a:srgbClr val="1FA6A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8AF92285-3750-4360-B027-B02029BBAA4F}"/>
              </a:ext>
            </a:extLst>
          </p:cNvPr>
          <p:cNvSpPr txBox="1"/>
          <p:nvPr/>
        </p:nvSpPr>
        <p:spPr>
          <a:xfrm>
            <a:off x="571500" y="3886200"/>
            <a:ext cx="9690100" cy="546100"/>
          </a:xfrm>
          <a:prstGeom prst="rect">
            <a:avLst/>
          </a:prstGeom>
          <a:noFill/>
        </p:spPr>
        <p:txBody>
          <a:bodyPr vertOverflow="overflow" vert="horz" wrap="square" rtlCol="0" anchor="t" anchorCtr="0">
            <a:noAutofit/>
          </a:bodyPr>
          <a:lstStyle/>
          <a:p>
            <a:pPr algn="l"/>
            <a:r>
              <a:rPr lang="vi-VN">
                <a:solidFill>
                  <a:srgbClr val="C7C9E6"/>
                </a:solidFill>
                <a:latin typeface="Calibri"/>
                <a:ea typeface="Calibri"/>
                <a:cs typeface="Calibri"/>
              </a:rPr>
              <a:t>Cơ chế cập nhật bộ nhớ tất định cho LLM Agent</a:t>
            </a:r>
            <a:endParaRPr lang="en-US">
              <a:solidFill>
                <a:srgbClr val="C7C9E6"/>
              </a:solidFill>
              <a:latin typeface="Calibri"/>
              <a:ea typeface="Calibri"/>
              <a:cs typeface="Calibri"/>
            </a:endParaRPr>
          </a:p>
        </p:txBody>
      </p:sp>
      <p:sp>
        <p:nvSpPr>
          <p:cNvPr id="8" name="TextBox 7">
            <a:extLst>
              <a:ext uri="{FF2B5EF4-FFF2-40B4-BE49-F238E27FC236}">
                <a16:creationId xmlns:a16="http://schemas.microsoft.com/office/drawing/2014/main" id="{5F16186F-2032-486D-A7FE-EC168E2F138E}"/>
              </a:ext>
            </a:extLst>
          </p:cNvPr>
          <p:cNvSpPr txBox="1"/>
          <p:nvPr/>
        </p:nvSpPr>
        <p:spPr>
          <a:xfrm>
            <a:off x="571500" y="5080000"/>
            <a:ext cx="10515600" cy="368300"/>
          </a:xfrm>
          <a:prstGeom prst="rect">
            <a:avLst/>
          </a:prstGeom>
          <a:noFill/>
        </p:spPr>
        <p:txBody>
          <a:bodyPr vertOverflow="overflow" vert="horz" wrap="square" rtlCol="0" anchor="t" anchorCtr="0">
            <a:noAutofit/>
          </a:bodyPr>
          <a:lstStyle/>
          <a:p>
            <a:pPr algn="l"/>
            <a:r>
              <a:rPr lang="en-US" sz="1350">
                <a:solidFill>
                  <a:srgbClr val="9FA2C8"/>
                </a:solidFill>
                <a:latin typeface="Calibri"/>
                <a:ea typeface="Calibri"/>
                <a:cs typeface="Calibri"/>
              </a:rPr>
              <a:t>Đồ án nhóm 2 thành viên  ·  Tuần 2/8  ·  Nội dung: Rà soát benchmark · Thiết kế chi tiết · Code khung</a:t>
            </a:r>
          </a:p>
        </p:txBody>
      </p:sp>
      <p:sp>
        <p:nvSpPr>
          <p:cNvPr id="9" name="Rectangle 8">
            <a:extLst>
              <a:ext uri="{FF2B5EF4-FFF2-40B4-BE49-F238E27FC236}">
                <a16:creationId xmlns:a16="http://schemas.microsoft.com/office/drawing/2014/main" id="{BDF67ED8-2C51-493A-AD5C-0A2609F83626}"/>
              </a:ext>
            </a:extLst>
          </p:cNvPr>
          <p:cNvSpPr/>
          <p:nvPr/>
        </p:nvSpPr>
        <p:spPr>
          <a:xfrm>
            <a:off x="571500" y="1422400"/>
            <a:ext cx="1930400" cy="381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92A5FC7-DED7-4839-B44E-1E88FDCADD49}"/>
              </a:ext>
            </a:extLst>
          </p:cNvPr>
          <p:cNvSpPr txBox="1"/>
          <p:nvPr/>
        </p:nvSpPr>
        <p:spPr>
          <a:xfrm>
            <a:off x="698500" y="1511300"/>
            <a:ext cx="1778000" cy="228600"/>
          </a:xfrm>
          <a:prstGeom prst="rect">
            <a:avLst/>
          </a:prstGeom>
          <a:noFill/>
        </p:spPr>
        <p:txBody>
          <a:bodyPr vertOverflow="overflow" vert="horz" wrap="square" rtlCol="0" anchor="t" anchorCtr="0">
            <a:noAutofit/>
          </a:bodyPr>
          <a:lstStyle/>
          <a:p>
            <a:pPr algn="l"/>
            <a:r>
              <a:rPr lang="en-US" sz="1150" b="1">
                <a:solidFill>
                  <a:srgbClr val="13123A"/>
                </a:solidFill>
                <a:latin typeface="Calibri"/>
                <a:ea typeface="Calibri"/>
                <a:cs typeface="Calibri"/>
              </a:rPr>
              <a:t>BÁO CÁO TUẦN 2</a:t>
            </a:r>
          </a:p>
        </p:txBody>
      </p:sp>
    </p:spTree>
    <p:extLst>
      <p:ext uri="{BB962C8B-B14F-4D97-AF65-F5344CB8AC3E}">
        <p14:creationId xmlns:p14="http://schemas.microsoft.com/office/powerpoint/2010/main" val="1139227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0487B3-EDCC-4445-AFC1-205BFB4CDE6F}"/>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PHẢN HỒI TUẦN 1</a:t>
            </a:r>
          </a:p>
        </p:txBody>
      </p:sp>
      <p:sp>
        <p:nvSpPr>
          <p:cNvPr id="3" name="TextBox 2">
            <a:extLst>
              <a:ext uri="{FF2B5EF4-FFF2-40B4-BE49-F238E27FC236}">
                <a16:creationId xmlns:a16="http://schemas.microsoft.com/office/drawing/2014/main" id="{63453FC5-C3E2-4E18-8008-62AF20A07662}"/>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Benchmark nào thật sự đo việc cập nhật kiến thức?</a:t>
            </a:r>
          </a:p>
        </p:txBody>
      </p:sp>
      <p:graphicFrame>
        <p:nvGraphicFramePr>
          <p:cNvPr id="5" name="Table 4">
            <a:extLst>
              <a:ext uri="{FF2B5EF4-FFF2-40B4-BE49-F238E27FC236}">
                <a16:creationId xmlns:a16="http://schemas.microsoft.com/office/drawing/2014/main" id="{2E3FE31E-D380-4DFB-83EE-9EC0C81D2829}"/>
              </a:ext>
            </a:extLst>
          </p:cNvPr>
          <p:cNvGraphicFramePr>
            <a:graphicFrameLocks noGrp="1"/>
          </p:cNvGraphicFramePr>
          <p:nvPr>
            <p:extLst>
              <p:ext uri="{D42A27DB-BD31-4B8C-83A1-F6EECF244321}">
                <p14:modId xmlns:p14="http://schemas.microsoft.com/office/powerpoint/2010/main" val="3153793045"/>
              </p:ext>
            </p:extLst>
          </p:nvPr>
        </p:nvGraphicFramePr>
        <p:xfrm>
          <a:off x="571500" y="1727200"/>
          <a:ext cx="11049076" cy="2616200"/>
        </p:xfrm>
        <a:graphic>
          <a:graphicData uri="http://schemas.openxmlformats.org/drawingml/2006/table">
            <a:tbl>
              <a:tblPr firstRow="1" bandRow="1">
                <a:tableStyleId>{5C22544A-7EE6-4342-B048-85BDC9FD1C3A}</a:tableStyleId>
              </a:tblPr>
              <a:tblGrid>
                <a:gridCol w="2263063">
                  <a:extLst>
                    <a:ext uri="{9D8B030D-6E8A-4147-A177-3AD203B41FA5}">
                      <a16:colId xmlns:a16="http://schemas.microsoft.com/office/drawing/2014/main" val="1633429571"/>
                    </a:ext>
                  </a:extLst>
                </a:gridCol>
                <a:gridCol w="1730578">
                  <a:extLst>
                    <a:ext uri="{9D8B030D-6E8A-4147-A177-3AD203B41FA5}">
                      <a16:colId xmlns:a16="http://schemas.microsoft.com/office/drawing/2014/main" val="1053950649"/>
                    </a:ext>
                  </a:extLst>
                </a:gridCol>
                <a:gridCol w="1863699">
                  <a:extLst>
                    <a:ext uri="{9D8B030D-6E8A-4147-A177-3AD203B41FA5}">
                      <a16:colId xmlns:a16="http://schemas.microsoft.com/office/drawing/2014/main" val="4185412898"/>
                    </a:ext>
                  </a:extLst>
                </a:gridCol>
                <a:gridCol w="5191736">
                  <a:extLst>
                    <a:ext uri="{9D8B030D-6E8A-4147-A177-3AD203B41FA5}">
                      <a16:colId xmlns:a16="http://schemas.microsoft.com/office/drawing/2014/main" val="2617976600"/>
                    </a:ext>
                  </a:extLst>
                </a:gridCol>
              </a:tblGrid>
              <a:tr h="381000">
                <a:tc>
                  <a:txBody>
                    <a:bodyPr/>
                    <a:lstStyle/>
                    <a:p>
                      <a:pPr algn="l"/>
                      <a:r>
                        <a:rPr lang="en-US" sz="1200" b="1">
                          <a:solidFill>
                            <a:srgbClr val="FFFFFF"/>
                          </a:solidFill>
                          <a:latin typeface="Calibri"/>
                          <a:ea typeface="Calibri"/>
                          <a:cs typeface="Calibri"/>
                        </a:rPr>
                        <a:t>BENCHMARK</a:t>
                      </a:r>
                    </a:p>
                  </a:txBody>
                  <a:tcPr anchor="ctr">
                    <a:solidFill>
                      <a:srgbClr val="13123A"/>
                    </a:solidFill>
                  </a:tcPr>
                </a:tc>
                <a:tc>
                  <a:txBody>
                    <a:bodyPr/>
                    <a:lstStyle/>
                    <a:p>
                      <a:pPr algn="l"/>
                      <a:r>
                        <a:rPr lang="en-US" sz="1200" b="1">
                          <a:solidFill>
                            <a:srgbClr val="FFFFFF"/>
                          </a:solidFill>
                          <a:latin typeface="Calibri"/>
                          <a:ea typeface="Calibri"/>
                          <a:cs typeface="Calibri"/>
                        </a:rPr>
                        <a:t>NĂM / HỘI NGHỊ</a:t>
                      </a:r>
                    </a:p>
                  </a:txBody>
                  <a:tcPr anchor="ctr">
                    <a:solidFill>
                      <a:srgbClr val="13123A"/>
                    </a:solidFill>
                  </a:tcPr>
                </a:tc>
                <a:tc>
                  <a:txBody>
                    <a:bodyPr/>
                    <a:lstStyle/>
                    <a:p>
                      <a:pPr algn="l"/>
                      <a:r>
                        <a:rPr lang="en-US" sz="1200" b="1">
                          <a:solidFill>
                            <a:srgbClr val="FFFFFF"/>
                          </a:solidFill>
                          <a:latin typeface="Calibri"/>
                          <a:ea typeface="Calibri"/>
                          <a:cs typeface="Calibri"/>
                        </a:rPr>
                        <a:t>ĐO CẬP NHẬT?</a:t>
                      </a:r>
                    </a:p>
                  </a:txBody>
                  <a:tcPr anchor="ctr">
                    <a:solidFill>
                      <a:srgbClr val="13123A"/>
                    </a:solidFill>
                  </a:tcPr>
                </a:tc>
                <a:tc>
                  <a:txBody>
                    <a:bodyPr/>
                    <a:lstStyle/>
                    <a:p>
                      <a:pPr algn="l"/>
                      <a:r>
                        <a:rPr lang="en-US" sz="1200" b="1">
                          <a:solidFill>
                            <a:srgbClr val="FFFFFF"/>
                          </a:solidFill>
                          <a:latin typeface="Calibri"/>
                          <a:ea typeface="Calibri"/>
                          <a:cs typeface="Calibri"/>
                        </a:rPr>
                        <a:t>CÁCH ĐO</a:t>
                      </a:r>
                    </a:p>
                  </a:txBody>
                  <a:tcPr anchor="ctr">
                    <a:solidFill>
                      <a:srgbClr val="13123A"/>
                    </a:solidFill>
                  </a:tcPr>
                </a:tc>
                <a:extLst>
                  <a:ext uri="{0D108BD9-81ED-4DB2-BD59-A6C34878D82A}">
                    <a16:rowId xmlns:a16="http://schemas.microsoft.com/office/drawing/2014/main" val="2813289211"/>
                  </a:ext>
                </a:extLst>
              </a:tr>
              <a:tr h="558800">
                <a:tc>
                  <a:txBody>
                    <a:bodyPr/>
                    <a:lstStyle/>
                    <a:p>
                      <a:pPr algn="l"/>
                      <a:r>
                        <a:rPr lang="en-US" sz="1300" b="1">
                          <a:solidFill>
                            <a:srgbClr val="13123A"/>
                          </a:solidFill>
                          <a:latin typeface="Calibri"/>
                          <a:ea typeface="Calibri"/>
                          <a:cs typeface="Calibri"/>
                        </a:rPr>
                        <a:t>LoCoMo</a:t>
                      </a:r>
                    </a:p>
                  </a:txBody>
                  <a:tcPr anchor="ctr">
                    <a:solidFill>
                      <a:srgbClr val="FFFFFF"/>
                    </a:solidFill>
                  </a:tcPr>
                </a:tc>
                <a:tc>
                  <a:txBody>
                    <a:bodyPr/>
                    <a:lstStyle/>
                    <a:p>
                      <a:pPr algn="l"/>
                      <a:r>
                        <a:rPr lang="en-US" sz="1300">
                          <a:solidFill>
                            <a:srgbClr val="13123A"/>
                          </a:solidFill>
                          <a:latin typeface="Calibri"/>
                          <a:ea typeface="Calibri"/>
                          <a:cs typeface="Calibri"/>
                        </a:rPr>
                        <a:t>ACL 2024</a:t>
                      </a:r>
                    </a:p>
                  </a:txBody>
                  <a:tcPr anchor="ctr">
                    <a:solidFill>
                      <a:srgbClr val="FFFFFF"/>
                    </a:solidFill>
                  </a:tcPr>
                </a:tc>
                <a:tc>
                  <a:txBody>
                    <a:bodyPr/>
                    <a:lstStyle/>
                    <a:p>
                      <a:pPr algn="l"/>
                      <a:r>
                        <a:rPr lang="en-US" sz="1300">
                          <a:solidFill>
                            <a:srgbClr val="6A6E85"/>
                          </a:solidFill>
                          <a:latin typeface="Calibri"/>
                          <a:ea typeface="Calibri"/>
                          <a:cs typeface="Calibri"/>
                        </a:rPr>
                        <a:t>Không</a:t>
                      </a:r>
                    </a:p>
                  </a:txBody>
                  <a:tcPr anchor="ctr">
                    <a:solidFill>
                      <a:srgbClr val="FFFFFF"/>
                    </a:solidFill>
                  </a:tcPr>
                </a:tc>
                <a:tc>
                  <a:txBody>
                    <a:bodyPr/>
                    <a:lstStyle/>
                    <a:p>
                      <a:pPr algn="l"/>
                      <a:r>
                        <a:rPr lang="en-US" sz="1300">
                          <a:solidFill>
                            <a:srgbClr val="13123A"/>
                          </a:solidFill>
                          <a:latin typeface="Calibri"/>
                          <a:ea typeface="Calibri"/>
                          <a:cs typeface="Calibri"/>
                        </a:rPr>
                        <a:t>5 loại câu hỏi, không loại nào chấm việc ghi đè thông tin cũ</a:t>
                      </a:r>
                    </a:p>
                  </a:txBody>
                  <a:tcPr anchor="ctr">
                    <a:solidFill>
                      <a:srgbClr val="FFFFFF"/>
                    </a:solidFill>
                  </a:tcPr>
                </a:tc>
                <a:extLst>
                  <a:ext uri="{0D108BD9-81ED-4DB2-BD59-A6C34878D82A}">
                    <a16:rowId xmlns:a16="http://schemas.microsoft.com/office/drawing/2014/main" val="3782865600"/>
                  </a:ext>
                </a:extLst>
              </a:tr>
              <a:tr h="558800">
                <a:tc>
                  <a:txBody>
                    <a:bodyPr/>
                    <a:lstStyle/>
                    <a:p>
                      <a:pPr algn="l"/>
                      <a:r>
                        <a:rPr lang="en-US" sz="1300" b="1">
                          <a:solidFill>
                            <a:srgbClr val="13123A"/>
                          </a:solidFill>
                          <a:latin typeface="Calibri"/>
                          <a:ea typeface="Calibri"/>
                          <a:cs typeface="Calibri"/>
                        </a:rPr>
                        <a:t>LongMemEval</a:t>
                      </a:r>
                    </a:p>
                  </a:txBody>
                  <a:tcPr anchor="ctr">
                    <a:solidFill>
                      <a:srgbClr val="F4F4FA"/>
                    </a:solidFill>
                  </a:tcPr>
                </a:tc>
                <a:tc>
                  <a:txBody>
                    <a:bodyPr/>
                    <a:lstStyle/>
                    <a:p>
                      <a:pPr algn="l"/>
                      <a:r>
                        <a:rPr lang="en-US" sz="1300">
                          <a:solidFill>
                            <a:srgbClr val="13123A"/>
                          </a:solidFill>
                          <a:latin typeface="Calibri"/>
                          <a:ea typeface="Calibri"/>
                          <a:cs typeface="Calibri"/>
                        </a:rPr>
                        <a:t>ICLR 2025</a:t>
                      </a:r>
                    </a:p>
                  </a:txBody>
                  <a:tcPr anchor="ctr">
                    <a:solidFill>
                      <a:srgbClr val="F4F4FA"/>
                    </a:solidFill>
                  </a:tcPr>
                </a:tc>
                <a:tc>
                  <a:txBody>
                    <a:bodyPr/>
                    <a:lstStyle/>
                    <a:p>
                      <a:pPr algn="l"/>
                      <a:r>
                        <a:rPr lang="en-US" sz="1300">
                          <a:solidFill>
                            <a:srgbClr val="1FA6A6"/>
                          </a:solidFill>
                          <a:latin typeface="Calibri"/>
                          <a:ea typeface="Calibri"/>
                          <a:cs typeface="Calibri"/>
                        </a:rPr>
                        <a:t>Có</a:t>
                      </a:r>
                    </a:p>
                  </a:txBody>
                  <a:tcPr anchor="ctr">
                    <a:solidFill>
                      <a:srgbClr val="F4F4FA"/>
                    </a:solidFill>
                  </a:tcPr>
                </a:tc>
                <a:tc>
                  <a:txBody>
                    <a:bodyPr/>
                    <a:lstStyle/>
                    <a:p>
                      <a:pPr algn="l"/>
                      <a:r>
                        <a:rPr lang="en-US" sz="1300">
                          <a:solidFill>
                            <a:srgbClr val="13123A"/>
                          </a:solidFill>
                          <a:latin typeface="Calibri"/>
                          <a:ea typeface="Calibri"/>
                          <a:cs typeface="Calibri"/>
                        </a:rPr>
                        <a:t>knowledge-update là 1 trong 5 năng lực cốt lõi</a:t>
                      </a:r>
                    </a:p>
                  </a:txBody>
                  <a:tcPr anchor="ctr">
                    <a:solidFill>
                      <a:srgbClr val="F4F4FA"/>
                    </a:solidFill>
                  </a:tcPr>
                </a:tc>
                <a:extLst>
                  <a:ext uri="{0D108BD9-81ED-4DB2-BD59-A6C34878D82A}">
                    <a16:rowId xmlns:a16="http://schemas.microsoft.com/office/drawing/2014/main" val="1312593138"/>
                  </a:ext>
                </a:extLst>
              </a:tr>
              <a:tr h="558800">
                <a:tc>
                  <a:txBody>
                    <a:bodyPr/>
                    <a:lstStyle/>
                    <a:p>
                      <a:pPr algn="l"/>
                      <a:r>
                        <a:rPr lang="en-US" sz="1300" b="1">
                          <a:solidFill>
                            <a:srgbClr val="13123A"/>
                          </a:solidFill>
                          <a:latin typeface="Calibri"/>
                          <a:ea typeface="Calibri"/>
                          <a:cs typeface="Calibri"/>
                        </a:rPr>
                        <a:t>MemoryAgentBench</a:t>
                      </a:r>
                    </a:p>
                  </a:txBody>
                  <a:tcPr anchor="ctr">
                    <a:solidFill>
                      <a:srgbClr val="FFFFFF"/>
                    </a:solidFill>
                  </a:tcPr>
                </a:tc>
                <a:tc>
                  <a:txBody>
                    <a:bodyPr/>
                    <a:lstStyle/>
                    <a:p>
                      <a:pPr algn="l"/>
                      <a:r>
                        <a:rPr lang="en-US" sz="1300">
                          <a:solidFill>
                            <a:srgbClr val="13123A"/>
                          </a:solidFill>
                          <a:latin typeface="Calibri"/>
                          <a:ea typeface="Calibri"/>
                          <a:cs typeface="Calibri"/>
                        </a:rPr>
                        <a:t>ICLR 2026</a:t>
                      </a:r>
                    </a:p>
                  </a:txBody>
                  <a:tcPr anchor="ctr">
                    <a:solidFill>
                      <a:srgbClr val="FFFFFF"/>
                    </a:solidFill>
                  </a:tcPr>
                </a:tc>
                <a:tc>
                  <a:txBody>
                    <a:bodyPr/>
                    <a:lstStyle/>
                    <a:p>
                      <a:pPr algn="l"/>
                      <a:r>
                        <a:rPr lang="en-US" sz="1300">
                          <a:solidFill>
                            <a:srgbClr val="1FA6A6"/>
                          </a:solidFill>
                          <a:latin typeface="Calibri"/>
                          <a:ea typeface="Calibri"/>
                          <a:cs typeface="Calibri"/>
                        </a:rPr>
                        <a:t>Có (chuyên biệt)</a:t>
                      </a:r>
                    </a:p>
                  </a:txBody>
                  <a:tcPr anchor="ctr">
                    <a:solidFill>
                      <a:srgbClr val="FFFFFF"/>
                    </a:solidFill>
                  </a:tcPr>
                </a:tc>
                <a:tc>
                  <a:txBody>
                    <a:bodyPr/>
                    <a:lstStyle/>
                    <a:p>
                      <a:pPr algn="l"/>
                      <a:r>
                        <a:rPr lang="en-US" sz="1300">
                          <a:solidFill>
                            <a:srgbClr val="13123A"/>
                          </a:solidFill>
                          <a:latin typeface="Calibri"/>
                          <a:ea typeface="Calibri"/>
                          <a:cs typeface="Calibri"/>
                        </a:rPr>
                        <a:t>Conflict Resolution — bộ FactConsolidation: 1 fact nhiều phiên bản đánh số, phải trả bản mới nhất</a:t>
                      </a:r>
                    </a:p>
                  </a:txBody>
                  <a:tcPr anchor="ctr">
                    <a:solidFill>
                      <a:srgbClr val="FFFFFF"/>
                    </a:solidFill>
                  </a:tcPr>
                </a:tc>
                <a:extLst>
                  <a:ext uri="{0D108BD9-81ED-4DB2-BD59-A6C34878D82A}">
                    <a16:rowId xmlns:a16="http://schemas.microsoft.com/office/drawing/2014/main" val="3992094395"/>
                  </a:ext>
                </a:extLst>
              </a:tr>
              <a:tr h="558800">
                <a:tc>
                  <a:txBody>
                    <a:bodyPr/>
                    <a:lstStyle/>
                    <a:p>
                      <a:pPr algn="l"/>
                      <a:r>
                        <a:rPr lang="en-US" sz="1300" b="1">
                          <a:solidFill>
                            <a:srgbClr val="13123A"/>
                          </a:solidFill>
                          <a:latin typeface="Calibri"/>
                          <a:ea typeface="Calibri"/>
                          <a:cs typeface="Calibri"/>
                        </a:rPr>
                        <a:t>BEAM</a:t>
                      </a:r>
                    </a:p>
                  </a:txBody>
                  <a:tcPr anchor="ctr">
                    <a:solidFill>
                      <a:srgbClr val="F4F4FA"/>
                    </a:solidFill>
                  </a:tcPr>
                </a:tc>
                <a:tc>
                  <a:txBody>
                    <a:bodyPr/>
                    <a:lstStyle/>
                    <a:p>
                      <a:pPr algn="l"/>
                      <a:r>
                        <a:rPr lang="en-US" sz="1300">
                          <a:solidFill>
                            <a:srgbClr val="13123A"/>
                          </a:solidFill>
                          <a:latin typeface="Calibri"/>
                          <a:ea typeface="Calibri"/>
                          <a:cs typeface="Calibri"/>
                        </a:rPr>
                        <a:t>ICLR 2026</a:t>
                      </a:r>
                    </a:p>
                  </a:txBody>
                  <a:tcPr anchor="ctr">
                    <a:solidFill>
                      <a:srgbClr val="F4F4FA"/>
                    </a:solidFill>
                  </a:tcPr>
                </a:tc>
                <a:tc>
                  <a:txBody>
                    <a:bodyPr/>
                    <a:lstStyle/>
                    <a:p>
                      <a:pPr algn="l"/>
                      <a:r>
                        <a:rPr lang="en-US" sz="1300">
                          <a:solidFill>
                            <a:srgbClr val="1FA6A6"/>
                          </a:solidFill>
                          <a:latin typeface="Calibri"/>
                          <a:ea typeface="Calibri"/>
                          <a:cs typeface="Calibri"/>
                        </a:rPr>
                        <a:t>Có (2 trục riêng)</a:t>
                      </a:r>
                    </a:p>
                  </a:txBody>
                  <a:tcPr anchor="ctr">
                    <a:solidFill>
                      <a:srgbClr val="F4F4FA"/>
                    </a:solidFill>
                  </a:tcPr>
                </a:tc>
                <a:tc>
                  <a:txBody>
                    <a:bodyPr/>
                    <a:lstStyle/>
                    <a:p>
                      <a:pPr algn="l"/>
                      <a:r>
                        <a:rPr lang="en-US" sz="1300">
                          <a:solidFill>
                            <a:srgbClr val="13123A"/>
                          </a:solidFill>
                          <a:latin typeface="Calibri"/>
                          <a:ea typeface="Calibri"/>
                          <a:cs typeface="Calibri"/>
                        </a:rPr>
                        <a:t>Knowledge Update và Contradiction Resolution tách riêng; 100 hội thoại tới 10M token</a:t>
                      </a:r>
                    </a:p>
                  </a:txBody>
                  <a:tcPr anchor="ctr">
                    <a:solidFill>
                      <a:srgbClr val="F4F4FA"/>
                    </a:solidFill>
                  </a:tcPr>
                </a:tc>
                <a:extLst>
                  <a:ext uri="{0D108BD9-81ED-4DB2-BD59-A6C34878D82A}">
                    <a16:rowId xmlns:a16="http://schemas.microsoft.com/office/drawing/2014/main" val="2671591634"/>
                  </a:ext>
                </a:extLst>
              </a:tr>
            </a:tbl>
          </a:graphicData>
        </a:graphic>
      </p:graphicFrame>
      <p:sp>
        <p:nvSpPr>
          <p:cNvPr id="6" name="Rectangle 5">
            <a:extLst>
              <a:ext uri="{FF2B5EF4-FFF2-40B4-BE49-F238E27FC236}">
                <a16:creationId xmlns:a16="http://schemas.microsoft.com/office/drawing/2014/main" id="{39DEEDD9-5604-4B34-BFDF-C920B006B9C8}"/>
              </a:ext>
            </a:extLst>
          </p:cNvPr>
          <p:cNvSpPr/>
          <p:nvPr/>
        </p:nvSpPr>
        <p:spPr>
          <a:xfrm>
            <a:off x="571500" y="4724400"/>
            <a:ext cx="11049076" cy="939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DB0D5840-5F96-40C6-8B3A-F0DE2A14AD5A}"/>
              </a:ext>
            </a:extLst>
          </p:cNvPr>
          <p:cNvSpPr/>
          <p:nvPr/>
        </p:nvSpPr>
        <p:spPr>
          <a:xfrm>
            <a:off x="571500" y="4724400"/>
            <a:ext cx="66560" cy="939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8" name="TextBox 7">
            <a:extLst>
              <a:ext uri="{FF2B5EF4-FFF2-40B4-BE49-F238E27FC236}">
                <a16:creationId xmlns:a16="http://schemas.microsoft.com/office/drawing/2014/main" id="{6F48B102-14B3-4D51-B84E-0B4ED5097E83}"/>
              </a:ext>
            </a:extLst>
          </p:cNvPr>
          <p:cNvSpPr txBox="1"/>
          <p:nvPr/>
        </p:nvSpPr>
        <p:spPr>
          <a:xfrm>
            <a:off x="864367" y="4927600"/>
            <a:ext cx="10516590" cy="584200"/>
          </a:xfrm>
          <a:prstGeom prst="rect">
            <a:avLst/>
          </a:prstGeom>
          <a:noFill/>
        </p:spPr>
        <p:txBody>
          <a:bodyPr vertOverflow="overflow" vert="horz" wrap="square" rtlCol="0" anchor="t">
            <a:noAutofit/>
          </a:bodyPr>
          <a:lstStyle/>
          <a:p>
            <a:pPr algn="l"/>
            <a:r>
              <a:rPr lang="vi-VN" sz="1500" b="1">
                <a:solidFill>
                  <a:srgbClr val="3A36A0"/>
                </a:solidFill>
                <a:latin typeface="Calibri"/>
                <a:ea typeface="Calibri"/>
                <a:cs typeface="Calibri"/>
              </a:rPr>
              <a:t>Thầy/cô đúng với LoCoMo. Nhưng LongMemEval có nhóm câu hỏi cập nhật, và nhóm đã tìm thêm
2 benchmark ICLR 2026 đo trực tiếp tình huống N5 → N4.</a:t>
            </a:r>
            <a:endParaRPr lang="en-US" sz="1500" b="1">
              <a:solidFill>
                <a:srgbClr val="3A36A0"/>
              </a:solidFill>
              <a:latin typeface="Calibri"/>
              <a:ea typeface="Calibri"/>
              <a:cs typeface="Calibri"/>
            </a:endParaRPr>
          </a:p>
        </p:txBody>
      </p:sp>
      <p:sp>
        <p:nvSpPr>
          <p:cNvPr id="9" name="TextBox 8">
            <a:extLst>
              <a:ext uri="{FF2B5EF4-FFF2-40B4-BE49-F238E27FC236}">
                <a16:creationId xmlns:a16="http://schemas.microsoft.com/office/drawing/2014/main" id="{313104AF-B23A-4C06-A621-029818775D28}"/>
              </a:ext>
            </a:extLst>
          </p:cNvPr>
          <p:cNvSpPr txBox="1"/>
          <p:nvPr/>
        </p:nvSpPr>
        <p:spPr>
          <a:xfrm>
            <a:off x="571500" y="6324600"/>
            <a:ext cx="11049076" cy="4064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Nguồn: Maharana et al., ACL 2024 (arXiv:2402.17753) · Wu et al., ICLR 2025 (arXiv:2410.10813) · Hu et al., ICLR 2026 (arXiv:2507.05257) · Tavakoli et al., ICLR 2026 (arXiv:2510.27246).</a:t>
            </a:r>
          </a:p>
        </p:txBody>
      </p:sp>
    </p:spTree>
    <p:extLst>
      <p:ext uri="{BB962C8B-B14F-4D97-AF65-F5344CB8AC3E}">
        <p14:creationId xmlns:p14="http://schemas.microsoft.com/office/powerpoint/2010/main" val="25204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99BA67-E76E-4E44-B0D2-8BE8690241B4}"/>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KHOẢNG TRỐNG NGHIÊN CỨU</a:t>
            </a:r>
          </a:p>
        </p:txBody>
      </p:sp>
      <p:sp>
        <p:nvSpPr>
          <p:cNvPr id="3" name="TextBox 2">
            <a:extLst>
              <a:ext uri="{FF2B5EF4-FFF2-40B4-BE49-F238E27FC236}">
                <a16:creationId xmlns:a16="http://schemas.microsoft.com/office/drawing/2014/main" id="{090FDA42-D059-414A-BA97-2C63E42842A3}"/>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Vì sao cập nhật bộ nhớ vẫn là bài toán mở?</a:t>
            </a:r>
          </a:p>
        </p:txBody>
      </p:sp>
      <p:sp>
        <p:nvSpPr>
          <p:cNvPr id="4" name="Rectangle 3">
            <a:extLst>
              <a:ext uri="{FF2B5EF4-FFF2-40B4-BE49-F238E27FC236}">
                <a16:creationId xmlns:a16="http://schemas.microsoft.com/office/drawing/2014/main" id="{E97729F4-3874-4851-A47B-AC608996C733}"/>
              </a:ext>
            </a:extLst>
          </p:cNvPr>
          <p:cNvSpPr/>
          <p:nvPr/>
        </p:nvSpPr>
        <p:spPr>
          <a:xfrm>
            <a:off x="571500" y="1778000"/>
            <a:ext cx="3381283" cy="26670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9DB87BB7-1F26-4C11-AC9A-F5458E603080}"/>
              </a:ext>
            </a:extLst>
          </p:cNvPr>
          <p:cNvSpPr/>
          <p:nvPr/>
        </p:nvSpPr>
        <p:spPr>
          <a:xfrm>
            <a:off x="571500" y="1778000"/>
            <a:ext cx="3381283" cy="635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6" name="TextBox 5">
            <a:extLst>
              <a:ext uri="{FF2B5EF4-FFF2-40B4-BE49-F238E27FC236}">
                <a16:creationId xmlns:a16="http://schemas.microsoft.com/office/drawing/2014/main" id="{9F452C34-29E6-4784-909F-585B01DAE419}"/>
              </a:ext>
            </a:extLst>
          </p:cNvPr>
          <p:cNvSpPr txBox="1"/>
          <p:nvPr/>
        </p:nvSpPr>
        <p:spPr>
          <a:xfrm>
            <a:off x="864367" y="2133600"/>
            <a:ext cx="2822173" cy="812800"/>
          </a:xfrm>
          <a:prstGeom prst="rect">
            <a:avLst/>
          </a:prstGeom>
          <a:noFill/>
        </p:spPr>
        <p:txBody>
          <a:bodyPr vertOverflow="overflow" vert="horz" wrap="square" rtlCol="0" anchor="t">
            <a:noAutofit/>
          </a:bodyPr>
          <a:lstStyle/>
          <a:p>
            <a:pPr algn="l"/>
            <a:r>
              <a:rPr lang="en-US" sz="4600" b="1">
                <a:solidFill>
                  <a:srgbClr val="0F6E6E"/>
                </a:solidFill>
                <a:latin typeface="Cambria"/>
                <a:ea typeface="Cambria"/>
              </a:rPr>
              <a:t>~7%</a:t>
            </a:r>
          </a:p>
        </p:txBody>
      </p:sp>
      <p:sp>
        <p:nvSpPr>
          <p:cNvPr id="7" name="TextBox 6">
            <a:extLst>
              <a:ext uri="{FF2B5EF4-FFF2-40B4-BE49-F238E27FC236}">
                <a16:creationId xmlns:a16="http://schemas.microsoft.com/office/drawing/2014/main" id="{62DAFE05-9907-4AC5-A69F-DE54EB30ED12}"/>
              </a:ext>
            </a:extLst>
          </p:cNvPr>
          <p:cNvSpPr txBox="1"/>
          <p:nvPr/>
        </p:nvSpPr>
        <p:spPr>
          <a:xfrm>
            <a:off x="864367" y="3022600"/>
            <a:ext cx="2822173" cy="304800"/>
          </a:xfrm>
          <a:prstGeom prst="rect">
            <a:avLst/>
          </a:prstGeom>
          <a:noFill/>
        </p:spPr>
        <p:txBody>
          <a:bodyPr vertOverflow="overflow" vert="horz" wrap="square" rtlCol="0" anchor="t">
            <a:noAutofit/>
          </a:bodyPr>
          <a:lstStyle/>
          <a:p>
            <a:pPr algn="l"/>
            <a:r>
              <a:rPr lang="en-US" sz="1500" b="1">
                <a:solidFill>
                  <a:srgbClr val="13123A"/>
                </a:solidFill>
                <a:latin typeface="Calibri"/>
                <a:ea typeface="Calibri"/>
                <a:cs typeface="Calibri"/>
              </a:rPr>
              <a:t>Zep / Graphiti</a:t>
            </a:r>
          </a:p>
        </p:txBody>
      </p:sp>
      <p:sp>
        <p:nvSpPr>
          <p:cNvPr id="8" name="TextBox 7">
            <a:extLst>
              <a:ext uri="{FF2B5EF4-FFF2-40B4-BE49-F238E27FC236}">
                <a16:creationId xmlns:a16="http://schemas.microsoft.com/office/drawing/2014/main" id="{3053F46D-CA18-476C-AB0B-2B50320C6AF6}"/>
              </a:ext>
            </a:extLst>
          </p:cNvPr>
          <p:cNvSpPr txBox="1"/>
          <p:nvPr/>
        </p:nvSpPr>
        <p:spPr>
          <a:xfrm>
            <a:off x="864367" y="3378200"/>
            <a:ext cx="2822173" cy="939800"/>
          </a:xfrm>
          <a:prstGeom prst="rect">
            <a:avLst/>
          </a:prstGeom>
          <a:noFill/>
        </p:spPr>
        <p:txBody>
          <a:bodyPr vertOverflow="overflow" vert="horz" wrap="square" rtlCol="0" anchor="t">
            <a:noAutofit/>
          </a:bodyPr>
          <a:lstStyle/>
          <a:p>
            <a:pPr algn="l"/>
            <a:r>
              <a:rPr lang="vi-VN" sz="1300">
                <a:solidFill>
                  <a:srgbClr val="6A6E85"/>
                </a:solidFill>
                <a:latin typeface="Calibri"/>
                <a:ea typeface="Calibri"/>
                <a:cs typeface="Calibri"/>
              </a:rPr>
              <a:t>Đồ thị tri thức có dấu thời gian, vậy mà gần như hỏng hoàn toàn khi phải chọn fact mới nhất</a:t>
            </a:r>
            <a:endParaRPr lang="en-US" sz="1300">
              <a:solidFill>
                <a:srgbClr val="6A6E85"/>
              </a:solidFill>
              <a:latin typeface="Calibri"/>
              <a:ea typeface="Calibri"/>
              <a:cs typeface="Calibri"/>
            </a:endParaRPr>
          </a:p>
        </p:txBody>
      </p:sp>
      <p:sp>
        <p:nvSpPr>
          <p:cNvPr id="9" name="Rectangle 8">
            <a:extLst>
              <a:ext uri="{FF2B5EF4-FFF2-40B4-BE49-F238E27FC236}">
                <a16:creationId xmlns:a16="http://schemas.microsoft.com/office/drawing/2014/main" id="{4B5EBD5A-17C9-45BD-8C09-BAB17FD0AB1D}"/>
              </a:ext>
            </a:extLst>
          </p:cNvPr>
          <p:cNvSpPr/>
          <p:nvPr/>
        </p:nvSpPr>
        <p:spPr>
          <a:xfrm>
            <a:off x="4338835" y="1778000"/>
            <a:ext cx="3381283" cy="26670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C9F05BEA-C0B1-467D-A107-6A208202D7A0}"/>
              </a:ext>
            </a:extLst>
          </p:cNvPr>
          <p:cNvSpPr/>
          <p:nvPr/>
        </p:nvSpPr>
        <p:spPr>
          <a:xfrm>
            <a:off x="4338835" y="1778000"/>
            <a:ext cx="3381283" cy="635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3865DCF5-0322-4A5A-9719-2AF0DC7D0EC7}"/>
              </a:ext>
            </a:extLst>
          </p:cNvPr>
          <p:cNvSpPr txBox="1"/>
          <p:nvPr/>
        </p:nvSpPr>
        <p:spPr>
          <a:xfrm>
            <a:off x="4631702" y="2133600"/>
            <a:ext cx="2822173" cy="812800"/>
          </a:xfrm>
          <a:prstGeom prst="rect">
            <a:avLst/>
          </a:prstGeom>
          <a:noFill/>
        </p:spPr>
        <p:txBody>
          <a:bodyPr vertOverflow="overflow" vert="horz" wrap="square" rtlCol="0" anchor="t">
            <a:noAutofit/>
          </a:bodyPr>
          <a:lstStyle/>
          <a:p>
            <a:pPr algn="l"/>
            <a:r>
              <a:rPr lang="en-US" sz="4600" b="1">
                <a:solidFill>
                  <a:srgbClr val="3A36A0"/>
                </a:solidFill>
                <a:latin typeface="Cambria"/>
                <a:ea typeface="Cambria"/>
              </a:rPr>
              <a:t>~54%</a:t>
            </a:r>
          </a:p>
        </p:txBody>
      </p:sp>
      <p:sp>
        <p:nvSpPr>
          <p:cNvPr id="12" name="TextBox 11">
            <a:extLst>
              <a:ext uri="{FF2B5EF4-FFF2-40B4-BE49-F238E27FC236}">
                <a16:creationId xmlns:a16="http://schemas.microsoft.com/office/drawing/2014/main" id="{52C7CF3E-1D00-4303-97B9-1BE1F496724E}"/>
              </a:ext>
            </a:extLst>
          </p:cNvPr>
          <p:cNvSpPr txBox="1"/>
          <p:nvPr/>
        </p:nvSpPr>
        <p:spPr>
          <a:xfrm>
            <a:off x="4631702" y="3022600"/>
            <a:ext cx="2822173" cy="304800"/>
          </a:xfrm>
          <a:prstGeom prst="rect">
            <a:avLst/>
          </a:prstGeom>
          <a:noFill/>
        </p:spPr>
        <p:txBody>
          <a:bodyPr vertOverflow="overflow" vert="horz" wrap="square" rtlCol="0" anchor="t">
            <a:noAutofit/>
          </a:bodyPr>
          <a:lstStyle/>
          <a:p>
            <a:pPr algn="l"/>
            <a:r>
              <a:rPr lang="en-US" sz="1500" b="1">
                <a:solidFill>
                  <a:srgbClr val="13123A"/>
                </a:solidFill>
                <a:latin typeface="Calibri"/>
                <a:ea typeface="Calibri"/>
                <a:cs typeface="Calibri"/>
              </a:rPr>
              <a:t>HippoRAG-v2</a:t>
            </a:r>
          </a:p>
        </p:txBody>
      </p:sp>
      <p:sp>
        <p:nvSpPr>
          <p:cNvPr id="13" name="TextBox 12">
            <a:extLst>
              <a:ext uri="{FF2B5EF4-FFF2-40B4-BE49-F238E27FC236}">
                <a16:creationId xmlns:a16="http://schemas.microsoft.com/office/drawing/2014/main" id="{050D0D0D-5CAD-4AD8-967C-68D66797EA52}"/>
              </a:ext>
            </a:extLst>
          </p:cNvPr>
          <p:cNvSpPr txBox="1"/>
          <p:nvPr/>
        </p:nvSpPr>
        <p:spPr>
          <a:xfrm>
            <a:off x="4631702" y="3378200"/>
            <a:ext cx="2822173" cy="939800"/>
          </a:xfrm>
          <a:prstGeom prst="rect">
            <a:avLst/>
          </a:prstGeom>
          <a:noFill/>
        </p:spPr>
        <p:txBody>
          <a:bodyPr vertOverflow="overflow" vert="horz" wrap="square" rtlCol="0" anchor="t">
            <a:noAutofit/>
          </a:bodyPr>
          <a:lstStyle/>
          <a:p>
            <a:pPr algn="l"/>
            <a:r>
              <a:rPr lang="en-US" sz="1300">
                <a:solidFill>
                  <a:srgbClr val="6A6E85"/>
                </a:solidFill>
                <a:latin typeface="Calibri"/>
                <a:ea typeface="Calibri"/>
                <a:cs typeface="Calibri"/>
              </a:rPr>
              <a:t>Truy xuất mạnh vẫn sai gần một nửa</a:t>
            </a:r>
          </a:p>
        </p:txBody>
      </p:sp>
      <p:sp>
        <p:nvSpPr>
          <p:cNvPr id="14" name="Rectangle 13">
            <a:extLst>
              <a:ext uri="{FF2B5EF4-FFF2-40B4-BE49-F238E27FC236}">
                <a16:creationId xmlns:a16="http://schemas.microsoft.com/office/drawing/2014/main" id="{01383F48-9963-4F78-92B5-C7DE67FB0996}"/>
              </a:ext>
            </a:extLst>
          </p:cNvPr>
          <p:cNvSpPr/>
          <p:nvPr/>
        </p:nvSpPr>
        <p:spPr>
          <a:xfrm>
            <a:off x="8106171" y="1778000"/>
            <a:ext cx="3381283" cy="26670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D671117B-9D2B-41C9-86AE-A5999CA16685}"/>
              </a:ext>
            </a:extLst>
          </p:cNvPr>
          <p:cNvSpPr/>
          <p:nvPr/>
        </p:nvSpPr>
        <p:spPr>
          <a:xfrm>
            <a:off x="8106171" y="1778000"/>
            <a:ext cx="3381283" cy="635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5D92C302-5EBC-46E2-8655-479767F13A70}"/>
              </a:ext>
            </a:extLst>
          </p:cNvPr>
          <p:cNvSpPr txBox="1"/>
          <p:nvPr/>
        </p:nvSpPr>
        <p:spPr>
          <a:xfrm>
            <a:off x="8399038" y="2133600"/>
            <a:ext cx="2822173" cy="812800"/>
          </a:xfrm>
          <a:prstGeom prst="rect">
            <a:avLst/>
          </a:prstGeom>
          <a:noFill/>
        </p:spPr>
        <p:txBody>
          <a:bodyPr vertOverflow="overflow" vert="horz" wrap="square" rtlCol="0" anchor="t">
            <a:noAutofit/>
          </a:bodyPr>
          <a:lstStyle/>
          <a:p>
            <a:pPr algn="l"/>
            <a:r>
              <a:rPr lang="en-US" sz="4600" b="1">
                <a:solidFill>
                  <a:srgbClr val="3A36A0"/>
                </a:solidFill>
                <a:latin typeface="Cambria"/>
                <a:ea typeface="Cambria"/>
              </a:rPr>
              <a:t>~60%</a:t>
            </a:r>
          </a:p>
        </p:txBody>
      </p:sp>
      <p:sp>
        <p:nvSpPr>
          <p:cNvPr id="17" name="TextBox 16">
            <a:extLst>
              <a:ext uri="{FF2B5EF4-FFF2-40B4-BE49-F238E27FC236}">
                <a16:creationId xmlns:a16="http://schemas.microsoft.com/office/drawing/2014/main" id="{F18C76B7-5B7C-4A10-8AAB-CA4A68338CF6}"/>
              </a:ext>
            </a:extLst>
          </p:cNvPr>
          <p:cNvSpPr txBox="1"/>
          <p:nvPr/>
        </p:nvSpPr>
        <p:spPr>
          <a:xfrm>
            <a:off x="8399038" y="3022600"/>
            <a:ext cx="2822173" cy="304800"/>
          </a:xfrm>
          <a:prstGeom prst="rect">
            <a:avLst/>
          </a:prstGeom>
          <a:noFill/>
        </p:spPr>
        <p:txBody>
          <a:bodyPr vertOverflow="overflow" vert="horz" wrap="square" rtlCol="0" anchor="t">
            <a:noAutofit/>
          </a:bodyPr>
          <a:lstStyle/>
          <a:p>
            <a:pPr algn="l"/>
            <a:r>
              <a:rPr lang="en-US" sz="1500" b="1">
                <a:solidFill>
                  <a:srgbClr val="13123A"/>
                </a:solidFill>
                <a:latin typeface="Calibri"/>
                <a:ea typeface="Calibri"/>
                <a:cs typeface="Calibri"/>
              </a:rPr>
              <a:t>GPT-4o full-context</a:t>
            </a:r>
          </a:p>
        </p:txBody>
      </p:sp>
      <p:sp>
        <p:nvSpPr>
          <p:cNvPr id="18" name="TextBox 17">
            <a:extLst>
              <a:ext uri="{FF2B5EF4-FFF2-40B4-BE49-F238E27FC236}">
                <a16:creationId xmlns:a16="http://schemas.microsoft.com/office/drawing/2014/main" id="{CBD243D8-5C12-443A-9F79-D2D3EBA02269}"/>
              </a:ext>
            </a:extLst>
          </p:cNvPr>
          <p:cNvSpPr txBox="1"/>
          <p:nvPr/>
        </p:nvSpPr>
        <p:spPr>
          <a:xfrm>
            <a:off x="8399038" y="3378200"/>
            <a:ext cx="2822173" cy="939800"/>
          </a:xfrm>
          <a:prstGeom prst="rect">
            <a:avLst/>
          </a:prstGeom>
          <a:noFill/>
        </p:spPr>
        <p:txBody>
          <a:bodyPr vertOverflow="overflow" vert="horz" wrap="square" rtlCol="0" anchor="t">
            <a:noAutofit/>
          </a:bodyPr>
          <a:lstStyle/>
          <a:p>
            <a:pPr algn="l"/>
            <a:r>
              <a:rPr lang="vi-VN" sz="1300">
                <a:solidFill>
                  <a:srgbClr val="6A6E85"/>
                </a:solidFill>
                <a:latin typeface="Calibri"/>
                <a:ea typeface="Calibri"/>
                <a:cs typeface="Calibri"/>
              </a:rPr>
              <a:t>Nhồi hết lịch sử vào context cũng không giải được</a:t>
            </a:r>
            <a:endParaRPr lang="en-US" sz="1300">
              <a:solidFill>
                <a:srgbClr val="6A6E85"/>
              </a:solidFill>
              <a:latin typeface="Calibri"/>
              <a:ea typeface="Calibri"/>
              <a:cs typeface="Calibri"/>
            </a:endParaRPr>
          </a:p>
        </p:txBody>
      </p:sp>
      <p:sp>
        <p:nvSpPr>
          <p:cNvPr id="19" name="Rectangle 18">
            <a:extLst>
              <a:ext uri="{FF2B5EF4-FFF2-40B4-BE49-F238E27FC236}">
                <a16:creationId xmlns:a16="http://schemas.microsoft.com/office/drawing/2014/main" id="{775766BA-8AF3-496B-8418-B72136002456}"/>
              </a:ext>
            </a:extLst>
          </p:cNvPr>
          <p:cNvSpPr/>
          <p:nvPr/>
        </p:nvSpPr>
        <p:spPr>
          <a:xfrm>
            <a:off x="571500" y="4724400"/>
            <a:ext cx="11049076" cy="939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E42A13DE-829E-4318-8ADF-C1A5B2ACB139}"/>
              </a:ext>
            </a:extLst>
          </p:cNvPr>
          <p:cNvSpPr/>
          <p:nvPr/>
        </p:nvSpPr>
        <p:spPr>
          <a:xfrm>
            <a:off x="571500" y="4724400"/>
            <a:ext cx="66560" cy="939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21" name="TextBox 20">
            <a:extLst>
              <a:ext uri="{FF2B5EF4-FFF2-40B4-BE49-F238E27FC236}">
                <a16:creationId xmlns:a16="http://schemas.microsoft.com/office/drawing/2014/main" id="{8433DB0D-D023-4CEA-812C-E6F7F0E5D293}"/>
              </a:ext>
            </a:extLst>
          </p:cNvPr>
          <p:cNvSpPr txBox="1"/>
          <p:nvPr/>
        </p:nvSpPr>
        <p:spPr>
          <a:xfrm>
            <a:off x="864367" y="4927600"/>
            <a:ext cx="10516590" cy="584200"/>
          </a:xfrm>
          <a:prstGeom prst="rect">
            <a:avLst/>
          </a:prstGeom>
          <a:noFill/>
        </p:spPr>
        <p:txBody>
          <a:bodyPr vertOverflow="overflow" vert="horz" wrap="square" rtlCol="0" anchor="t">
            <a:noAutofit/>
          </a:bodyPr>
          <a:lstStyle/>
          <a:p>
            <a:pPr algn="l"/>
            <a:r>
              <a:rPr lang="vi-VN" sz="1500" b="1">
                <a:solidFill>
                  <a:srgbClr val="3A36A0"/>
                </a:solidFill>
                <a:latin typeface="Calibri"/>
                <a:ea typeface="Calibri"/>
                <a:cs typeface="Calibri"/>
              </a:rPr>
              <a:t>Cả ba đều được chỉ dẫn rõ ràng rằng fact mới có số thứ tự lớn hơn — và vẫn sai.
Vấn đề không nằm ở truy xuất, mà ở chỗ giao cho LLM việc phán đoán độ mới.</a:t>
            </a:r>
            <a:endParaRPr lang="en-US" sz="1500" b="1">
              <a:solidFill>
                <a:srgbClr val="3A36A0"/>
              </a:solidFill>
              <a:latin typeface="Calibri"/>
              <a:ea typeface="Calibri"/>
              <a:cs typeface="Calibri"/>
            </a:endParaRPr>
          </a:p>
        </p:txBody>
      </p:sp>
      <p:sp>
        <p:nvSpPr>
          <p:cNvPr id="22" name="TextBox 21">
            <a:extLst>
              <a:ext uri="{FF2B5EF4-FFF2-40B4-BE49-F238E27FC236}">
                <a16:creationId xmlns:a16="http://schemas.microsoft.com/office/drawing/2014/main" id="{097E7B9F-C6ED-4884-9F38-C22B9DB816C3}"/>
              </a:ext>
            </a:extLst>
          </p:cNvPr>
          <p:cNvSpPr txBox="1"/>
          <p:nvPr/>
        </p:nvSpPr>
        <p:spPr>
          <a:xfrm>
            <a:off x="571500" y="6324600"/>
            <a:ext cx="11049076" cy="4064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Nguồn: Số liệu trên FactConsolidation (MemoryAgentBench, ICLR 2026), báo cáo bởi Reddy &amp; Challaram, arXiv:2606.01435 (2026).</a:t>
            </a:r>
          </a:p>
        </p:txBody>
      </p:sp>
    </p:spTree>
    <p:extLst>
      <p:ext uri="{BB962C8B-B14F-4D97-AF65-F5344CB8AC3E}">
        <p14:creationId xmlns:p14="http://schemas.microsoft.com/office/powerpoint/2010/main" val="1024454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C83B09-ADD4-4168-9235-9BC55DDE6619}"/>
              </a:ext>
            </a:extLst>
          </p:cNvPr>
          <p:cNvSpPr txBox="1"/>
          <p:nvPr/>
        </p:nvSpPr>
        <p:spPr>
          <a:xfrm>
            <a:off x="571500" y="508000"/>
            <a:ext cx="7987283" cy="279400"/>
          </a:xfrm>
          <a:prstGeom prst="rect">
            <a:avLst/>
          </a:prstGeom>
          <a:noFill/>
        </p:spPr>
        <p:txBody>
          <a:bodyPr vertOverflow="overflow" vert="horz" wrap="square" rtlCol="0" anchor="t" anchorCtr="0">
            <a:noAutofit/>
          </a:bodyPr>
          <a:lstStyle/>
          <a:p>
            <a:pPr algn="l"/>
            <a:r>
              <a:rPr lang="en-US" sz="1200" b="1">
                <a:solidFill>
                  <a:srgbClr val="1FA6A6"/>
                </a:solidFill>
                <a:latin typeface="Calibri"/>
                <a:ea typeface="Calibri"/>
                <a:cs typeface="Calibri"/>
              </a:rPr>
              <a:t>ĐỀ XUẤT</a:t>
            </a:r>
          </a:p>
        </p:txBody>
      </p:sp>
      <p:sp>
        <p:nvSpPr>
          <p:cNvPr id="3" name="TextBox 2">
            <a:extLst>
              <a:ext uri="{FF2B5EF4-FFF2-40B4-BE49-F238E27FC236}">
                <a16:creationId xmlns:a16="http://schemas.microsoft.com/office/drawing/2014/main" id="{6C39C16B-B070-44EB-91AF-D17E8B5E3918}"/>
              </a:ext>
            </a:extLst>
          </p:cNvPr>
          <p:cNvSpPr txBox="1"/>
          <p:nvPr/>
        </p:nvSpPr>
        <p:spPr>
          <a:xfrm>
            <a:off x="571500" y="825500"/>
            <a:ext cx="11049076" cy="558800"/>
          </a:xfrm>
          <a:prstGeom prst="rect">
            <a:avLst/>
          </a:prstGeom>
          <a:noFill/>
        </p:spPr>
        <p:txBody>
          <a:bodyPr vertOverflow="overflow" vert="horz" wrap="square" rtlCol="0" anchor="t" anchorCtr="0">
            <a:noAutofit/>
          </a:bodyPr>
          <a:lstStyle/>
          <a:p>
            <a:pPr algn="l"/>
            <a:r>
              <a:rPr lang="en-US" sz="3000" b="1">
                <a:solidFill>
                  <a:srgbClr val="13123A"/>
                </a:solidFill>
                <a:latin typeface="Cambria"/>
                <a:ea typeface="Cambria"/>
              </a:rPr>
              <a:t>Tách “ghép cặp ngữ nghĩa” khỏi “phán đoán độ mới”</a:t>
            </a:r>
          </a:p>
        </p:txBody>
      </p:sp>
      <p:sp>
        <p:nvSpPr>
          <p:cNvPr id="4" name="Rectangle 3">
            <a:extLst>
              <a:ext uri="{FF2B5EF4-FFF2-40B4-BE49-F238E27FC236}">
                <a16:creationId xmlns:a16="http://schemas.microsoft.com/office/drawing/2014/main" id="{282A4AA6-8802-4F89-917B-8541A4460722}"/>
              </a:ext>
            </a:extLst>
          </p:cNvPr>
          <p:cNvSpPr/>
          <p:nvPr/>
        </p:nvSpPr>
        <p:spPr>
          <a:xfrm>
            <a:off x="571500" y="1778000"/>
            <a:ext cx="5391416" cy="2717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84CFB142-29F3-46C4-BFB1-D327F26591A2}"/>
              </a:ext>
            </a:extLst>
          </p:cNvPr>
          <p:cNvSpPr/>
          <p:nvPr/>
        </p:nvSpPr>
        <p:spPr>
          <a:xfrm>
            <a:off x="571500" y="1778000"/>
            <a:ext cx="5391416" cy="406400"/>
          </a:xfrm>
          <a:prstGeom prst="rect">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B103C619-5DA9-447D-94BE-C5C3DB8CF9A6}"/>
              </a:ext>
            </a:extLst>
          </p:cNvPr>
          <p:cNvSpPr txBox="1"/>
          <p:nvPr/>
        </p:nvSpPr>
        <p:spPr>
          <a:xfrm>
            <a:off x="811118" y="1879600"/>
            <a:ext cx="4925491" cy="254000"/>
          </a:xfrm>
          <a:prstGeom prst="rect">
            <a:avLst/>
          </a:prstGeom>
          <a:noFill/>
        </p:spPr>
        <p:txBody>
          <a:bodyPr vertOverflow="overflow" vert="horz" wrap="square" rtlCol="0" anchor="t" anchorCtr="0">
            <a:noAutofit/>
          </a:bodyPr>
          <a:lstStyle/>
          <a:p>
            <a:pPr algn="l"/>
            <a:r>
              <a:rPr lang="en-US" sz="1300" b="1">
                <a:solidFill>
                  <a:srgbClr val="FFFFFF"/>
                </a:solidFill>
                <a:latin typeface="Calibri"/>
                <a:ea typeface="Calibri"/>
                <a:cs typeface="Calibri"/>
              </a:rPr>
              <a:t>CÁCH LÀM PHỔ BIẾN</a:t>
            </a:r>
          </a:p>
        </p:txBody>
      </p:sp>
      <p:sp>
        <p:nvSpPr>
          <p:cNvPr id="7" name="Oval 6">
            <a:extLst>
              <a:ext uri="{FF2B5EF4-FFF2-40B4-BE49-F238E27FC236}">
                <a16:creationId xmlns:a16="http://schemas.microsoft.com/office/drawing/2014/main" id="{DB4A3AFC-CB2B-4103-87F9-569840D851C6}"/>
              </a:ext>
            </a:extLst>
          </p:cNvPr>
          <p:cNvSpPr/>
          <p:nvPr/>
        </p:nvSpPr>
        <p:spPr>
          <a:xfrm>
            <a:off x="811118" y="24130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004CD25-DBEF-409B-B8CE-1793BEDCFB52}"/>
              </a:ext>
            </a:extLst>
          </p:cNvPr>
          <p:cNvSpPr txBox="1"/>
          <p:nvPr/>
        </p:nvSpPr>
        <p:spPr>
          <a:xfrm>
            <a:off x="1024112" y="2336800"/>
            <a:ext cx="4712497" cy="508000"/>
          </a:xfrm>
          <a:prstGeom prst="rect">
            <a:avLst/>
          </a:prstGeom>
          <a:noFill/>
        </p:spPr>
        <p:txBody>
          <a:bodyPr vertOverflow="overflow" vert="horz" wrap="square" rtlCol="0" anchor="t" anchorCtr="0">
            <a:noAutofit/>
          </a:bodyPr>
          <a:lstStyle/>
          <a:p>
            <a:pPr algn="l"/>
            <a:r>
              <a:rPr lang="vi-VN" sz="1300">
                <a:solidFill>
                  <a:srgbClr val="13123A"/>
                </a:solidFill>
                <a:latin typeface="Calibri"/>
                <a:ea typeface="Calibri"/>
                <a:cs typeface="Calibri"/>
              </a:rPr>
              <a:t>Đưa cả kho ký ức vào prompt, hỏi LLM: “fact nào mới nhất?”</a:t>
            </a:r>
            <a:endParaRPr lang="en-US" sz="1300">
              <a:solidFill>
                <a:srgbClr val="13123A"/>
              </a:solidFill>
              <a:latin typeface="Calibri"/>
              <a:ea typeface="Calibri"/>
              <a:cs typeface="Calibri"/>
            </a:endParaRPr>
          </a:p>
        </p:txBody>
      </p:sp>
      <p:sp>
        <p:nvSpPr>
          <p:cNvPr id="9" name="Oval 8">
            <a:extLst>
              <a:ext uri="{FF2B5EF4-FFF2-40B4-BE49-F238E27FC236}">
                <a16:creationId xmlns:a16="http://schemas.microsoft.com/office/drawing/2014/main" id="{8E4EE9E3-8574-4400-ACBF-A7D7F230FD71}"/>
              </a:ext>
            </a:extLst>
          </p:cNvPr>
          <p:cNvSpPr/>
          <p:nvPr/>
        </p:nvSpPr>
        <p:spPr>
          <a:xfrm>
            <a:off x="811118" y="29591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5670E4D-2A2C-43C9-8782-FB5995F6AC5E}"/>
              </a:ext>
            </a:extLst>
          </p:cNvPr>
          <p:cNvSpPr txBox="1"/>
          <p:nvPr/>
        </p:nvSpPr>
        <p:spPr>
          <a:xfrm>
            <a:off x="1024112" y="28829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a:ea typeface="Calibri"/>
                <a:cs typeface="Calibri"/>
              </a:rPr>
              <a:t>LLM vừa phải hiểu ngữ nghĩa, vừa phải so sánh thời gian</a:t>
            </a:r>
          </a:p>
        </p:txBody>
      </p:sp>
      <p:sp>
        <p:nvSpPr>
          <p:cNvPr id="11" name="Oval 10">
            <a:extLst>
              <a:ext uri="{FF2B5EF4-FFF2-40B4-BE49-F238E27FC236}">
                <a16:creationId xmlns:a16="http://schemas.microsoft.com/office/drawing/2014/main" id="{15BF445B-AF69-440A-8E9B-7563995EBFD1}"/>
              </a:ext>
            </a:extLst>
          </p:cNvPr>
          <p:cNvSpPr/>
          <p:nvPr/>
        </p:nvSpPr>
        <p:spPr>
          <a:xfrm>
            <a:off x="811118" y="35052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E9FFD9D1-0D22-4B8C-A910-3F324567F533}"/>
              </a:ext>
            </a:extLst>
          </p:cNvPr>
          <p:cNvSpPr txBox="1"/>
          <p:nvPr/>
        </p:nvSpPr>
        <p:spPr>
          <a:xfrm>
            <a:off x="1024112" y="3429000"/>
            <a:ext cx="4712497" cy="508000"/>
          </a:xfrm>
          <a:prstGeom prst="rect">
            <a:avLst/>
          </a:prstGeom>
          <a:noFill/>
        </p:spPr>
        <p:txBody>
          <a:bodyPr vertOverflow="overflow" vert="horz" wrap="square" rtlCol="0" anchor="t" anchorCtr="0">
            <a:noAutofit/>
          </a:bodyPr>
          <a:lstStyle/>
          <a:p>
            <a:pPr algn="l"/>
            <a:r>
              <a:rPr lang="vi-VN" sz="1300">
                <a:solidFill>
                  <a:srgbClr val="13123A"/>
                </a:solidFill>
                <a:latin typeface="Calibri"/>
                <a:ea typeface="Calibri"/>
                <a:cs typeface="Calibri"/>
              </a:rPr>
              <a:t>Kết quả phụ thuộc model, không lặp lại được</a:t>
            </a:r>
            <a:endParaRPr lang="en-US" sz="1300">
              <a:solidFill>
                <a:srgbClr val="13123A"/>
              </a:solidFill>
              <a:latin typeface="Calibri"/>
              <a:ea typeface="Calibri"/>
              <a:cs typeface="Calibri"/>
            </a:endParaRPr>
          </a:p>
        </p:txBody>
      </p:sp>
      <p:sp>
        <p:nvSpPr>
          <p:cNvPr id="13" name="Oval 12">
            <a:extLst>
              <a:ext uri="{FF2B5EF4-FFF2-40B4-BE49-F238E27FC236}">
                <a16:creationId xmlns:a16="http://schemas.microsoft.com/office/drawing/2014/main" id="{52AE297C-F0E9-41A3-9C7A-ADE816128BE0}"/>
              </a:ext>
            </a:extLst>
          </p:cNvPr>
          <p:cNvSpPr/>
          <p:nvPr/>
        </p:nvSpPr>
        <p:spPr>
          <a:xfrm>
            <a:off x="811118" y="40513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9619F736-847F-4E19-9E05-4AA22EDD1597}"/>
              </a:ext>
            </a:extLst>
          </p:cNvPr>
          <p:cNvSpPr txBox="1"/>
          <p:nvPr/>
        </p:nvSpPr>
        <p:spPr>
          <a:xfrm>
            <a:off x="1024112" y="39751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a:ea typeface="Calibri"/>
                <a:cs typeface="Calibri"/>
              </a:rPr>
              <a:t>Sai số tăng theo độ dài lịch sử</a:t>
            </a:r>
          </a:p>
        </p:txBody>
      </p:sp>
      <p:sp>
        <p:nvSpPr>
          <p:cNvPr id="15" name="Rectangle 14">
            <a:extLst>
              <a:ext uri="{FF2B5EF4-FFF2-40B4-BE49-F238E27FC236}">
                <a16:creationId xmlns:a16="http://schemas.microsoft.com/office/drawing/2014/main" id="{5E8788BA-1EE9-431A-BFA2-CD96CD87E4D7}"/>
              </a:ext>
            </a:extLst>
          </p:cNvPr>
          <p:cNvSpPr/>
          <p:nvPr/>
        </p:nvSpPr>
        <p:spPr>
          <a:xfrm>
            <a:off x="6229159" y="1778000"/>
            <a:ext cx="5391416" cy="2717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79EC870C-0831-498B-8D75-5EC6D564675B}"/>
              </a:ext>
            </a:extLst>
          </p:cNvPr>
          <p:cNvSpPr/>
          <p:nvPr/>
        </p:nvSpPr>
        <p:spPr>
          <a:xfrm>
            <a:off x="6229159" y="1778000"/>
            <a:ext cx="5391416" cy="4064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72E659B4-A5E1-4AF6-A536-1C1AA179D14F}"/>
              </a:ext>
            </a:extLst>
          </p:cNvPr>
          <p:cNvSpPr txBox="1"/>
          <p:nvPr/>
        </p:nvSpPr>
        <p:spPr>
          <a:xfrm>
            <a:off x="6468778" y="1879600"/>
            <a:ext cx="4925491" cy="254000"/>
          </a:xfrm>
          <a:prstGeom prst="rect">
            <a:avLst/>
          </a:prstGeom>
          <a:noFill/>
        </p:spPr>
        <p:txBody>
          <a:bodyPr vertOverflow="overflow" vert="horz" wrap="square" rtlCol="0" anchor="t" anchorCtr="0">
            <a:noAutofit/>
          </a:bodyPr>
          <a:lstStyle/>
          <a:p>
            <a:pPr algn="l"/>
            <a:r>
              <a:rPr lang="en-US" sz="1300" b="1">
                <a:solidFill>
                  <a:srgbClr val="FFFFFF"/>
                </a:solidFill>
                <a:latin typeface="Calibri"/>
                <a:ea typeface="Calibri"/>
                <a:cs typeface="Calibri"/>
              </a:rPr>
              <a:t>CÁCH LÀM CỦA NHÓM</a:t>
            </a:r>
          </a:p>
        </p:txBody>
      </p:sp>
      <p:sp>
        <p:nvSpPr>
          <p:cNvPr id="18" name="Oval 17">
            <a:extLst>
              <a:ext uri="{FF2B5EF4-FFF2-40B4-BE49-F238E27FC236}">
                <a16:creationId xmlns:a16="http://schemas.microsoft.com/office/drawing/2014/main" id="{2E143549-AD2B-4B8E-BFE4-205AA90C13A8}"/>
              </a:ext>
            </a:extLst>
          </p:cNvPr>
          <p:cNvSpPr/>
          <p:nvPr/>
        </p:nvSpPr>
        <p:spPr>
          <a:xfrm>
            <a:off x="6468778" y="24130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F3F39EB7-3F2B-4960-81DC-AB6675E0F31A}"/>
              </a:ext>
            </a:extLst>
          </p:cNvPr>
          <p:cNvSpPr txBox="1"/>
          <p:nvPr/>
        </p:nvSpPr>
        <p:spPr>
          <a:xfrm>
            <a:off x="6681772" y="23368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a:ea typeface="Calibri"/>
                <a:cs typeface="Calibri"/>
              </a:rPr>
              <a:t>LLM chỉ trích fact và ghép thuộc tính vào slot đã có</a:t>
            </a:r>
          </a:p>
        </p:txBody>
      </p:sp>
      <p:sp>
        <p:nvSpPr>
          <p:cNvPr id="20" name="Oval 19">
            <a:extLst>
              <a:ext uri="{FF2B5EF4-FFF2-40B4-BE49-F238E27FC236}">
                <a16:creationId xmlns:a16="http://schemas.microsoft.com/office/drawing/2014/main" id="{64C025E8-D7BE-4E01-A6C8-2B572201B2AD}"/>
              </a:ext>
            </a:extLst>
          </p:cNvPr>
          <p:cNvSpPr/>
          <p:nvPr/>
        </p:nvSpPr>
        <p:spPr>
          <a:xfrm>
            <a:off x="6468778" y="29591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959BF5D0-2905-46E5-9FCB-C9470A0FE4F8}"/>
              </a:ext>
            </a:extLst>
          </p:cNvPr>
          <p:cNvSpPr txBox="1"/>
          <p:nvPr/>
        </p:nvSpPr>
        <p:spPr>
          <a:xfrm>
            <a:off x="6681772" y="28829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a:ea typeface="Calibri"/>
                <a:cs typeface="Calibri"/>
              </a:rPr>
              <a:t>Độ mới do Python quyết: max(seq)</a:t>
            </a:r>
          </a:p>
        </p:txBody>
      </p:sp>
      <p:sp>
        <p:nvSpPr>
          <p:cNvPr id="22" name="Oval 21">
            <a:extLst>
              <a:ext uri="{FF2B5EF4-FFF2-40B4-BE49-F238E27FC236}">
                <a16:creationId xmlns:a16="http://schemas.microsoft.com/office/drawing/2014/main" id="{F599F705-C5C4-4D78-9CBC-1ED88853B610}"/>
              </a:ext>
            </a:extLst>
          </p:cNvPr>
          <p:cNvSpPr/>
          <p:nvPr/>
        </p:nvSpPr>
        <p:spPr>
          <a:xfrm>
            <a:off x="6468778" y="35052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DE45CCC6-5A73-4750-8E29-EA75CDCF8E49}"/>
              </a:ext>
            </a:extLst>
          </p:cNvPr>
          <p:cNvSpPr txBox="1"/>
          <p:nvPr/>
        </p:nvSpPr>
        <p:spPr>
          <a:xfrm>
            <a:off x="6681772" y="34290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a:ea typeface="Calibri"/>
                <a:cs typeface="Calibri"/>
              </a:rPr>
              <a:t>Tất định — cùng đầu vào luôn cho cùng đầu ra</a:t>
            </a:r>
          </a:p>
        </p:txBody>
      </p:sp>
      <p:sp>
        <p:nvSpPr>
          <p:cNvPr id="24" name="Oval 23">
            <a:extLst>
              <a:ext uri="{FF2B5EF4-FFF2-40B4-BE49-F238E27FC236}">
                <a16:creationId xmlns:a16="http://schemas.microsoft.com/office/drawing/2014/main" id="{7F433EE4-B0EC-4514-80AE-964DA1B99431}"/>
              </a:ext>
            </a:extLst>
          </p:cNvPr>
          <p:cNvSpPr/>
          <p:nvPr/>
        </p:nvSpPr>
        <p:spPr>
          <a:xfrm>
            <a:off x="6468778" y="40513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8DEFCFCD-3AFB-42FC-86C1-910A6D9EDDF3}"/>
              </a:ext>
            </a:extLst>
          </p:cNvPr>
          <p:cNvSpPr txBox="1"/>
          <p:nvPr/>
        </p:nvSpPr>
        <p:spPr>
          <a:xfrm>
            <a:off x="6681772" y="3975100"/>
            <a:ext cx="4712497" cy="508000"/>
          </a:xfrm>
          <a:prstGeom prst="rect">
            <a:avLst/>
          </a:prstGeom>
          <a:noFill/>
        </p:spPr>
        <p:txBody>
          <a:bodyPr vertOverflow="overflow" vert="horz" wrap="square" rtlCol="0" anchor="t" anchorCtr="0">
            <a:noAutofit/>
          </a:bodyPr>
          <a:lstStyle/>
          <a:p>
            <a:pPr algn="l"/>
            <a:r>
              <a:rPr lang="en-US" sz="1300">
                <a:solidFill>
                  <a:srgbClr val="13123A"/>
                </a:solidFill>
                <a:latin typeface="Calibri"/>
                <a:ea typeface="Calibri"/>
                <a:cs typeface="Calibri"/>
              </a:rPr>
              <a:t>Không phụ thuộc độ dài lịch sử</a:t>
            </a:r>
          </a:p>
        </p:txBody>
      </p:sp>
      <p:sp>
        <p:nvSpPr>
          <p:cNvPr id="26" name="Rectangle 25">
            <a:extLst>
              <a:ext uri="{FF2B5EF4-FFF2-40B4-BE49-F238E27FC236}">
                <a16:creationId xmlns:a16="http://schemas.microsoft.com/office/drawing/2014/main" id="{C5E9421C-57DF-4B89-8EC9-37A282B83E00}"/>
              </a:ext>
            </a:extLst>
          </p:cNvPr>
          <p:cNvSpPr/>
          <p:nvPr/>
        </p:nvSpPr>
        <p:spPr>
          <a:xfrm>
            <a:off x="571500" y="4724400"/>
            <a:ext cx="11049076" cy="9906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D190C35B-6D95-44EE-9925-835A4C3B4E7F}"/>
              </a:ext>
            </a:extLst>
          </p:cNvPr>
          <p:cNvSpPr txBox="1"/>
          <p:nvPr/>
        </p:nvSpPr>
        <p:spPr>
          <a:xfrm>
            <a:off x="890991" y="4902200"/>
            <a:ext cx="10383469" cy="330200"/>
          </a:xfrm>
          <a:prstGeom prst="rect">
            <a:avLst/>
          </a:prstGeom>
          <a:noFill/>
        </p:spPr>
        <p:txBody>
          <a:bodyPr vertOverflow="overflow" vert="horz" wrap="square" rtlCol="0" anchor="t" anchorCtr="0">
            <a:noAutofit/>
          </a:bodyPr>
          <a:lstStyle/>
          <a:p>
            <a:pPr algn="l"/>
            <a:r>
              <a:rPr lang="vi-VN" sz="1600" b="1">
                <a:solidFill>
                  <a:srgbClr val="FFFFFF"/>
                </a:solidFill>
                <a:latin typeface="Consolas"/>
              </a:rPr>
              <a:t>(subject, attribute) → value  +  số thứ tự đơn điệu  seq</a:t>
            </a:r>
            <a:endParaRPr lang="en-US" sz="1600" b="1">
              <a:solidFill>
                <a:srgbClr val="FFFFFF"/>
              </a:solidFill>
              <a:latin typeface="Consolas"/>
            </a:endParaRPr>
          </a:p>
        </p:txBody>
      </p:sp>
      <p:sp>
        <p:nvSpPr>
          <p:cNvPr id="28" name="TextBox 27">
            <a:extLst>
              <a:ext uri="{FF2B5EF4-FFF2-40B4-BE49-F238E27FC236}">
                <a16:creationId xmlns:a16="http://schemas.microsoft.com/office/drawing/2014/main" id="{877BBF4D-EEF2-4079-97D4-85E2A37BB756}"/>
              </a:ext>
            </a:extLst>
          </p:cNvPr>
          <p:cNvSpPr txBox="1"/>
          <p:nvPr/>
        </p:nvSpPr>
        <p:spPr>
          <a:xfrm>
            <a:off x="890991" y="5283200"/>
            <a:ext cx="10383469" cy="304800"/>
          </a:xfrm>
          <a:prstGeom prst="rect">
            <a:avLst/>
          </a:prstGeom>
          <a:noFill/>
        </p:spPr>
        <p:txBody>
          <a:bodyPr vertOverflow="overflow" vert="horz" wrap="square" rtlCol="0" anchor="t" anchorCtr="0">
            <a:noAutofit/>
          </a:bodyPr>
          <a:lstStyle/>
          <a:p>
            <a:pPr algn="l"/>
            <a:r>
              <a:rPr lang="en-US" sz="1400">
                <a:solidFill>
                  <a:srgbClr val="E7E6E6"/>
                </a:solidFill>
                <a:latin typeface="Calibri"/>
                <a:ea typeface="Calibri"/>
                <a:cs typeface="Calibri"/>
              </a:rPr>
              <a:t>Câu hỏi “giá trị hiện tại là gì?” trở thành một phép max(), không phải một lời nhắc.</a:t>
            </a:r>
          </a:p>
        </p:txBody>
      </p:sp>
      <p:sp>
        <p:nvSpPr>
          <p:cNvPr id="29" name="TextBox 28">
            <a:extLst>
              <a:ext uri="{FF2B5EF4-FFF2-40B4-BE49-F238E27FC236}">
                <a16:creationId xmlns:a16="http://schemas.microsoft.com/office/drawing/2014/main" id="{59A50D8B-93E5-4991-9FA7-2D15C54D124E}"/>
              </a:ext>
            </a:extLst>
          </p:cNvPr>
          <p:cNvSpPr txBox="1"/>
          <p:nvPr/>
        </p:nvSpPr>
        <p:spPr>
          <a:xfrm>
            <a:off x="571500" y="6324600"/>
            <a:ext cx="11049076" cy="406400"/>
          </a:xfrm>
          <a:prstGeom prst="rect">
            <a:avLst/>
          </a:prstGeom>
          <a:noFill/>
        </p:spPr>
        <p:txBody>
          <a:bodyPr vertOverflow="overflow" vert="horz" wrap="square" rtlCol="0" anchor="t" anchorCtr="0">
            <a:noAutofit/>
          </a:bodyPr>
          <a:lstStyle/>
          <a:p>
            <a:pPr algn="l"/>
            <a:r>
              <a:rPr lang="en-US" sz="1050">
                <a:solidFill>
                  <a:srgbClr val="6A6E85"/>
                </a:solidFill>
                <a:latin typeface="Calibri"/>
                <a:ea typeface="Calibri"/>
                <a:cs typeface="Calibri"/>
              </a:rPr>
              <a:t>Nguồn: Công thức tham chiếu: Reddy &amp; Challaram, arXiv:2606.01435 (2026) · Khung thao tác ADD/UPDATE/DELETE/NOOP: Chhikara et al., Mem0, ECAI 2025.</a:t>
            </a:r>
          </a:p>
        </p:txBody>
      </p:sp>
    </p:spTree>
    <p:extLst>
      <p:ext uri="{BB962C8B-B14F-4D97-AF65-F5344CB8AC3E}">
        <p14:creationId xmlns:p14="http://schemas.microsoft.com/office/powerpoint/2010/main" val="188426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2DFA5-2B02-47E2-8B63-EBA7007A0D63}"/>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THIẾT KẾ · 1/3</a:t>
            </a:r>
          </a:p>
        </p:txBody>
      </p:sp>
      <p:sp>
        <p:nvSpPr>
          <p:cNvPr id="3" name="TextBox 2">
            <a:extLst>
              <a:ext uri="{FF2B5EF4-FFF2-40B4-BE49-F238E27FC236}">
                <a16:creationId xmlns:a16="http://schemas.microsoft.com/office/drawing/2014/main" id="{FD3536EE-DB0F-4E81-8ADF-BAADC6971584}"/>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Kiến trúc module</a:t>
            </a:r>
          </a:p>
        </p:txBody>
      </p:sp>
      <p:sp>
        <p:nvSpPr>
          <p:cNvPr id="4" name="Rectangle 3">
            <a:extLst>
              <a:ext uri="{FF2B5EF4-FFF2-40B4-BE49-F238E27FC236}">
                <a16:creationId xmlns:a16="http://schemas.microsoft.com/office/drawing/2014/main" id="{415A5326-F1FF-4558-8ABE-0D7FB05288B2}"/>
              </a:ext>
            </a:extLst>
          </p:cNvPr>
          <p:cNvSpPr/>
          <p:nvPr/>
        </p:nvSpPr>
        <p:spPr>
          <a:xfrm>
            <a:off x="571500" y="1879600"/>
            <a:ext cx="2356248" cy="8128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Giao diện (CLI)</a:t>
            </a:r>
          </a:p>
        </p:txBody>
      </p:sp>
      <p:sp>
        <p:nvSpPr>
          <p:cNvPr id="5" name="Arrow: Left-Right 4">
            <a:extLst>
              <a:ext uri="{FF2B5EF4-FFF2-40B4-BE49-F238E27FC236}">
                <a16:creationId xmlns:a16="http://schemas.microsoft.com/office/drawing/2014/main" id="{61E0F183-FABB-4E6E-8245-93C4380DB869}"/>
              </a:ext>
            </a:extLst>
          </p:cNvPr>
          <p:cNvSpPr/>
          <p:nvPr/>
        </p:nvSpPr>
        <p:spPr>
          <a:xfrm>
            <a:off x="3100806" y="2159000"/>
            <a:ext cx="346115" cy="254000"/>
          </a:xfrm>
          <a:prstGeom prst="leftRightArrow">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D6345111-D07E-4725-9476-CDCCA8221127}"/>
              </a:ext>
            </a:extLst>
          </p:cNvPr>
          <p:cNvSpPr/>
          <p:nvPr/>
        </p:nvSpPr>
        <p:spPr>
          <a:xfrm>
            <a:off x="3460234" y="1879600"/>
            <a:ext cx="2356248" cy="8128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LTM Agent</a:t>
            </a:r>
          </a:p>
        </p:txBody>
      </p:sp>
      <p:sp>
        <p:nvSpPr>
          <p:cNvPr id="7" name="Arrow: Left-Right 6">
            <a:extLst>
              <a:ext uri="{FF2B5EF4-FFF2-40B4-BE49-F238E27FC236}">
                <a16:creationId xmlns:a16="http://schemas.microsoft.com/office/drawing/2014/main" id="{D7BB6428-451E-40F1-A893-4ADC2A6D249A}"/>
              </a:ext>
            </a:extLst>
          </p:cNvPr>
          <p:cNvSpPr/>
          <p:nvPr/>
        </p:nvSpPr>
        <p:spPr>
          <a:xfrm>
            <a:off x="5989540" y="2159000"/>
            <a:ext cx="346115" cy="254000"/>
          </a:xfrm>
          <a:prstGeom prst="leftRightArrow">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213C002C-E179-486C-8A6D-13E580B6A2AD}"/>
              </a:ext>
            </a:extLst>
          </p:cNvPr>
          <p:cNvSpPr/>
          <p:nvPr/>
        </p:nvSpPr>
        <p:spPr>
          <a:xfrm>
            <a:off x="6348968" y="1879600"/>
            <a:ext cx="2356248" cy="812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13123A"/>
                </a:solidFill>
                <a:latin typeface="Calibri"/>
                <a:ea typeface="Calibri"/>
                <a:cs typeface="Calibri"/>
              </a:rPr>
              <a:t>Memory Manager</a:t>
            </a:r>
          </a:p>
        </p:txBody>
      </p:sp>
      <p:sp>
        <p:nvSpPr>
          <p:cNvPr id="9" name="Arrow: Left-Right 8">
            <a:extLst>
              <a:ext uri="{FF2B5EF4-FFF2-40B4-BE49-F238E27FC236}">
                <a16:creationId xmlns:a16="http://schemas.microsoft.com/office/drawing/2014/main" id="{5E0133F1-5CCF-4FA4-BC55-7F0B7B386103}"/>
              </a:ext>
            </a:extLst>
          </p:cNvPr>
          <p:cNvSpPr/>
          <p:nvPr/>
        </p:nvSpPr>
        <p:spPr>
          <a:xfrm>
            <a:off x="8878275" y="2159000"/>
            <a:ext cx="346115" cy="254000"/>
          </a:xfrm>
          <a:prstGeom prst="leftRightArrow">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5191619D-CE04-4F4A-8E69-5FF9BB5168C0}"/>
              </a:ext>
            </a:extLst>
          </p:cNvPr>
          <p:cNvSpPr/>
          <p:nvPr/>
        </p:nvSpPr>
        <p:spPr>
          <a:xfrm>
            <a:off x="9237703" y="1879600"/>
            <a:ext cx="2356248" cy="8128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b="1">
                <a:solidFill>
                  <a:srgbClr val="FFFFFF"/>
                </a:solidFill>
                <a:latin typeface="Calibri"/>
                <a:ea typeface="Calibri"/>
                <a:cs typeface="Calibri"/>
              </a:rPr>
              <a:t>Vector DB (Chroma)</a:t>
            </a:r>
          </a:p>
        </p:txBody>
      </p:sp>
      <p:sp>
        <p:nvSpPr>
          <p:cNvPr id="11" name="Rectangle 10">
            <a:extLst>
              <a:ext uri="{FF2B5EF4-FFF2-40B4-BE49-F238E27FC236}">
                <a16:creationId xmlns:a16="http://schemas.microsoft.com/office/drawing/2014/main" id="{A422E27A-B4D4-4268-80F8-E516F42A16AD}"/>
              </a:ext>
            </a:extLst>
          </p:cNvPr>
          <p:cNvSpPr/>
          <p:nvPr/>
        </p:nvSpPr>
        <p:spPr>
          <a:xfrm>
            <a:off x="7507124" y="2692400"/>
            <a:ext cx="26624" cy="254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2" name="Rectangle 11">
            <a:extLst>
              <a:ext uri="{FF2B5EF4-FFF2-40B4-BE49-F238E27FC236}">
                <a16:creationId xmlns:a16="http://schemas.microsoft.com/office/drawing/2014/main" id="{F3986826-A8B8-4F65-8117-9FEFDF64E94E}"/>
              </a:ext>
            </a:extLst>
          </p:cNvPr>
          <p:cNvSpPr/>
          <p:nvPr/>
        </p:nvSpPr>
        <p:spPr>
          <a:xfrm>
            <a:off x="2262141" y="2946400"/>
            <a:ext cx="7481422" cy="254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3" name="Rectangle 12">
            <a:extLst>
              <a:ext uri="{FF2B5EF4-FFF2-40B4-BE49-F238E27FC236}">
                <a16:creationId xmlns:a16="http://schemas.microsoft.com/office/drawing/2014/main" id="{1DA8BC85-3A25-4003-8C8F-2D7B1F75957F}"/>
              </a:ext>
            </a:extLst>
          </p:cNvPr>
          <p:cNvSpPr/>
          <p:nvPr/>
        </p:nvSpPr>
        <p:spPr>
          <a:xfrm>
            <a:off x="2248829" y="2971800"/>
            <a:ext cx="26624" cy="203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4" name="Rectangle 13">
            <a:extLst>
              <a:ext uri="{FF2B5EF4-FFF2-40B4-BE49-F238E27FC236}">
                <a16:creationId xmlns:a16="http://schemas.microsoft.com/office/drawing/2014/main" id="{28ACD524-55E6-4FA3-90D7-2B4736833481}"/>
              </a:ext>
            </a:extLst>
          </p:cNvPr>
          <p:cNvSpPr/>
          <p:nvPr/>
        </p:nvSpPr>
        <p:spPr>
          <a:xfrm>
            <a:off x="664684" y="3175000"/>
            <a:ext cx="3194913" cy="685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13123A"/>
                </a:solidFill>
                <a:latin typeface="Calibri"/>
                <a:ea typeface="Calibri"/>
                <a:cs typeface="Calibri"/>
              </a:rPr>
              <a:t>FactExtractor
(pha 1)</a:t>
            </a:r>
          </a:p>
        </p:txBody>
      </p:sp>
      <p:sp>
        <p:nvSpPr>
          <p:cNvPr id="15" name="Rectangle 14">
            <a:extLst>
              <a:ext uri="{FF2B5EF4-FFF2-40B4-BE49-F238E27FC236}">
                <a16:creationId xmlns:a16="http://schemas.microsoft.com/office/drawing/2014/main" id="{559E084B-109A-470D-A622-B3745DA1C36A}"/>
              </a:ext>
            </a:extLst>
          </p:cNvPr>
          <p:cNvSpPr/>
          <p:nvPr/>
        </p:nvSpPr>
        <p:spPr>
          <a:xfrm>
            <a:off x="5989540" y="2971800"/>
            <a:ext cx="26624" cy="203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6" name="Rectangle 15">
            <a:extLst>
              <a:ext uri="{FF2B5EF4-FFF2-40B4-BE49-F238E27FC236}">
                <a16:creationId xmlns:a16="http://schemas.microsoft.com/office/drawing/2014/main" id="{9FFE8F8D-A083-43AD-BAF9-51368B1F91DF}"/>
              </a:ext>
            </a:extLst>
          </p:cNvPr>
          <p:cNvSpPr/>
          <p:nvPr/>
        </p:nvSpPr>
        <p:spPr>
          <a:xfrm>
            <a:off x="4405396" y="3175000"/>
            <a:ext cx="3194913" cy="685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13123A"/>
                </a:solidFill>
                <a:latin typeface="Calibri"/>
                <a:ea typeface="Calibri"/>
                <a:cs typeface="Calibri"/>
              </a:rPr>
              <a:t>MemoryUpdater
(pha 2)</a:t>
            </a:r>
          </a:p>
        </p:txBody>
      </p:sp>
      <p:sp>
        <p:nvSpPr>
          <p:cNvPr id="17" name="Rectangle 16">
            <a:extLst>
              <a:ext uri="{FF2B5EF4-FFF2-40B4-BE49-F238E27FC236}">
                <a16:creationId xmlns:a16="http://schemas.microsoft.com/office/drawing/2014/main" id="{31E26809-F1A8-4D8C-848E-35C9AD53E952}"/>
              </a:ext>
            </a:extLst>
          </p:cNvPr>
          <p:cNvSpPr/>
          <p:nvPr/>
        </p:nvSpPr>
        <p:spPr>
          <a:xfrm>
            <a:off x="9730252" y="2971800"/>
            <a:ext cx="26624" cy="203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8" name="Rectangle 17">
            <a:extLst>
              <a:ext uri="{FF2B5EF4-FFF2-40B4-BE49-F238E27FC236}">
                <a16:creationId xmlns:a16="http://schemas.microsoft.com/office/drawing/2014/main" id="{4538108F-CE40-47D7-8167-47EADA3AC90C}"/>
              </a:ext>
            </a:extLst>
          </p:cNvPr>
          <p:cNvSpPr/>
          <p:nvPr/>
        </p:nvSpPr>
        <p:spPr>
          <a:xfrm>
            <a:off x="8146107" y="3175000"/>
            <a:ext cx="3194913" cy="685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b="1">
                <a:solidFill>
                  <a:srgbClr val="13123A"/>
                </a:solidFill>
                <a:latin typeface="Calibri"/>
                <a:ea typeface="Calibri"/>
                <a:cs typeface="Calibri"/>
              </a:rPr>
              <a:t>MemoryRetriever
(pha 3)</a:t>
            </a:r>
          </a:p>
        </p:txBody>
      </p:sp>
      <p:sp>
        <p:nvSpPr>
          <p:cNvPr id="19" name="Rectangle 18">
            <a:extLst>
              <a:ext uri="{FF2B5EF4-FFF2-40B4-BE49-F238E27FC236}">
                <a16:creationId xmlns:a16="http://schemas.microsoft.com/office/drawing/2014/main" id="{48BBFB2B-8377-419A-9CB1-C332F4994FBE}"/>
              </a:ext>
            </a:extLst>
          </p:cNvPr>
          <p:cNvSpPr/>
          <p:nvPr/>
        </p:nvSpPr>
        <p:spPr>
          <a:xfrm>
            <a:off x="571500" y="4089400"/>
            <a:ext cx="11049076" cy="14986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58F40942-2787-46F4-BC32-DEEAD3B348DE}"/>
              </a:ext>
            </a:extLst>
          </p:cNvPr>
          <p:cNvSpPr/>
          <p:nvPr/>
        </p:nvSpPr>
        <p:spPr>
          <a:xfrm>
            <a:off x="571500" y="4089400"/>
            <a:ext cx="66560" cy="14986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21" name="TextBox 20">
            <a:extLst>
              <a:ext uri="{FF2B5EF4-FFF2-40B4-BE49-F238E27FC236}">
                <a16:creationId xmlns:a16="http://schemas.microsoft.com/office/drawing/2014/main" id="{2EC48A49-D039-461B-8117-62602BF68018}"/>
              </a:ext>
            </a:extLst>
          </p:cNvPr>
          <p:cNvSpPr txBox="1"/>
          <p:nvPr/>
        </p:nvSpPr>
        <p:spPr>
          <a:xfrm>
            <a:off x="864367" y="4267200"/>
            <a:ext cx="5324856" cy="254000"/>
          </a:xfrm>
          <a:prstGeom prst="rect">
            <a:avLst/>
          </a:prstGeom>
          <a:noFill/>
        </p:spPr>
        <p:txBody>
          <a:bodyPr vertOverflow="overflow" vert="horz" wrap="square" rtlCol="0" anchor="t">
            <a:noAutofit/>
          </a:bodyPr>
          <a:lstStyle/>
          <a:p>
            <a:pPr algn="l"/>
            <a:r>
              <a:rPr lang="en-US" sz="1300" b="1">
                <a:solidFill>
                  <a:srgbClr val="0F6E6E"/>
                </a:solidFill>
                <a:latin typeface="Calibri"/>
                <a:ea typeface="Calibri"/>
                <a:cs typeface="Calibri"/>
              </a:rPr>
              <a:t>NGUYÊN TẮC TÁCH LỚP</a:t>
            </a:r>
          </a:p>
        </p:txBody>
      </p:sp>
      <p:sp>
        <p:nvSpPr>
          <p:cNvPr id="22" name="TextBox 21">
            <a:extLst>
              <a:ext uri="{FF2B5EF4-FFF2-40B4-BE49-F238E27FC236}">
                <a16:creationId xmlns:a16="http://schemas.microsoft.com/office/drawing/2014/main" id="{804B6DE2-68DD-4304-BFFB-0F89A1E6AA07}"/>
              </a:ext>
            </a:extLst>
          </p:cNvPr>
          <p:cNvSpPr txBox="1"/>
          <p:nvPr/>
        </p:nvSpPr>
        <p:spPr>
          <a:xfrm>
            <a:off x="864367" y="4572000"/>
            <a:ext cx="10516590" cy="914400"/>
          </a:xfrm>
          <a:prstGeom prst="rect">
            <a:avLst/>
          </a:prstGeom>
          <a:noFill/>
        </p:spPr>
        <p:txBody>
          <a:bodyPr vertOverflow="overflow" vert="horz" wrap="square" rtlCol="0" anchor="t">
            <a:noAutofit/>
          </a:bodyPr>
          <a:lstStyle/>
          <a:p>
            <a:pPr algn="l"/>
            <a:r>
              <a:rPr lang="vi-VN" sz="1400">
                <a:solidFill>
                  <a:srgbClr val="13123A"/>
                </a:solidFill>
                <a:latin typeface="Calibri"/>
                <a:ea typeface="Calibri"/>
                <a:cs typeface="Calibri"/>
              </a:rPr>
              <a:t>LLM và Vector DB đều nằm sau interface trừu tượng. Đổi OpenAI → Gemini, hay Chroma → Qdrant, chỉ là thêm một file adapter, không đụng vào lõi. Cần thiết vì phần đánh giá phải chạy cùng một cơ chế trên nhiều LLM nền để kiểm soát phương sai theo backbone.</a:t>
            </a:r>
            <a:endParaRPr lang="en-US" sz="1400">
              <a:solidFill>
                <a:srgbClr val="13123A"/>
              </a:solidFill>
              <a:latin typeface="Calibri"/>
              <a:ea typeface="Calibri"/>
              <a:cs typeface="Calibri"/>
            </a:endParaRPr>
          </a:p>
        </p:txBody>
      </p:sp>
      <p:sp>
        <p:nvSpPr>
          <p:cNvPr id="23" name="TextBox 22">
            <a:extLst>
              <a:ext uri="{FF2B5EF4-FFF2-40B4-BE49-F238E27FC236}">
                <a16:creationId xmlns:a16="http://schemas.microsoft.com/office/drawing/2014/main" id="{8B753D77-9F50-4756-8DBE-7F6CF8507FA5}"/>
              </a:ext>
            </a:extLst>
          </p:cNvPr>
          <p:cNvSpPr txBox="1"/>
          <p:nvPr/>
        </p:nvSpPr>
        <p:spPr>
          <a:xfrm>
            <a:off x="571500" y="6413500"/>
            <a:ext cx="11049076" cy="304800"/>
          </a:xfrm>
          <a:prstGeom prst="rect">
            <a:avLst/>
          </a:prstGeom>
          <a:noFill/>
        </p:spPr>
        <p:txBody>
          <a:bodyPr vertOverflow="overflow" vert="horz" wrap="square" rtlCol="0" anchor="t">
            <a:noAutofit/>
          </a:bodyPr>
          <a:lstStyle/>
          <a:p>
            <a:pPr algn="l"/>
            <a:r>
              <a:rPr lang="vi-VN" sz="1050">
                <a:solidFill>
                  <a:srgbClr val="6A6E85"/>
                </a:solidFill>
                <a:latin typeface="Calibri"/>
                <a:ea typeface="Calibri"/>
                <a:cs typeface="Calibri"/>
              </a:rPr>
              <a:t>Nguồn: Cảnh báo về phương sai theo LLM nền: Jiang et al., Anatomy of Agentic Memory, arXiv:2602.19320 (2026).</a:t>
            </a:r>
            <a:endParaRPr lang="en-US" sz="1050">
              <a:solidFill>
                <a:srgbClr val="6A6E85"/>
              </a:solidFill>
              <a:latin typeface="Calibri"/>
              <a:ea typeface="Calibri"/>
              <a:cs typeface="Calibri"/>
            </a:endParaRPr>
          </a:p>
        </p:txBody>
      </p:sp>
    </p:spTree>
    <p:extLst>
      <p:ext uri="{BB962C8B-B14F-4D97-AF65-F5344CB8AC3E}">
        <p14:creationId xmlns:p14="http://schemas.microsoft.com/office/powerpoint/2010/main" val="1309602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BD0093-647A-41EB-81A7-687724B1B40C}"/>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THIẾT KẾ · 2/3</a:t>
            </a:r>
          </a:p>
        </p:txBody>
      </p:sp>
      <p:sp>
        <p:nvSpPr>
          <p:cNvPr id="3" name="TextBox 2">
            <a:extLst>
              <a:ext uri="{FF2B5EF4-FFF2-40B4-BE49-F238E27FC236}">
                <a16:creationId xmlns:a16="http://schemas.microsoft.com/office/drawing/2014/main" id="{979D7B1B-1EAE-49DB-869D-CDB5CD2FA299}"/>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Mỗi ký ức là một slot, không phải một câu rời</a:t>
            </a:r>
          </a:p>
        </p:txBody>
      </p:sp>
      <p:sp>
        <p:nvSpPr>
          <p:cNvPr id="4" name="Rectangle 3">
            <a:extLst>
              <a:ext uri="{FF2B5EF4-FFF2-40B4-BE49-F238E27FC236}">
                <a16:creationId xmlns:a16="http://schemas.microsoft.com/office/drawing/2014/main" id="{B5A990D9-943B-4852-844C-3B91C907FDDC}"/>
              </a:ext>
            </a:extLst>
          </p:cNvPr>
          <p:cNvSpPr/>
          <p:nvPr/>
        </p:nvSpPr>
        <p:spPr>
          <a:xfrm>
            <a:off x="571500" y="1676400"/>
            <a:ext cx="11049076" cy="8636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773997E4-2F70-407E-9129-F9CE31039800}"/>
              </a:ext>
            </a:extLst>
          </p:cNvPr>
          <p:cNvSpPr txBox="1"/>
          <p:nvPr/>
        </p:nvSpPr>
        <p:spPr>
          <a:xfrm>
            <a:off x="571500" y="1828800"/>
            <a:ext cx="11049076" cy="304800"/>
          </a:xfrm>
          <a:prstGeom prst="rect">
            <a:avLst/>
          </a:prstGeom>
          <a:noFill/>
        </p:spPr>
        <p:txBody>
          <a:bodyPr vertOverflow="overflow" vert="horz" wrap="square" rtlCol="0" anchor="t">
            <a:noAutofit/>
          </a:bodyPr>
          <a:lstStyle/>
          <a:p>
            <a:pPr algn="l"/>
            <a:r>
              <a:rPr lang="en-US" sz="1600" b="1">
                <a:solidFill>
                  <a:srgbClr val="FFFFFF"/>
                </a:solidFill>
                <a:latin typeface="Consolas"/>
              </a:rPr>
              <a:t>(subject, attribute)  ──&gt;  value        +  seq</a:t>
            </a:r>
          </a:p>
        </p:txBody>
      </p:sp>
      <p:sp>
        <p:nvSpPr>
          <p:cNvPr id="6" name="TextBox 5">
            <a:extLst>
              <a:ext uri="{FF2B5EF4-FFF2-40B4-BE49-F238E27FC236}">
                <a16:creationId xmlns:a16="http://schemas.microsoft.com/office/drawing/2014/main" id="{8A7658BD-9C07-4FD9-86D2-AF5D4E634FA3}"/>
              </a:ext>
            </a:extLst>
          </p:cNvPr>
          <p:cNvSpPr txBox="1"/>
          <p:nvPr/>
        </p:nvSpPr>
        <p:spPr>
          <a:xfrm>
            <a:off x="571500" y="2159000"/>
            <a:ext cx="11049076" cy="279400"/>
          </a:xfrm>
          <a:prstGeom prst="rect">
            <a:avLst/>
          </a:prstGeom>
          <a:noFill/>
        </p:spPr>
        <p:txBody>
          <a:bodyPr vertOverflow="overflow" vert="horz" wrap="square" rtlCol="0" anchor="t">
            <a:noAutofit/>
          </a:bodyPr>
          <a:lstStyle/>
          <a:p>
            <a:pPr algn="l"/>
            <a:r>
              <a:rPr lang="pt-BR" sz="1400">
                <a:solidFill>
                  <a:srgbClr val="FCEFD5"/>
                </a:solidFill>
                <a:latin typeface="Consolas"/>
              </a:rPr>
              <a:t>  "user"  "trinh_do_tieng_nhat"      "N4"         #4</a:t>
            </a:r>
            <a:endParaRPr lang="en-US" sz="1400">
              <a:solidFill>
                <a:srgbClr val="FCEFD5"/>
              </a:solidFill>
              <a:latin typeface="Consolas"/>
            </a:endParaRPr>
          </a:p>
        </p:txBody>
      </p:sp>
      <p:graphicFrame>
        <p:nvGraphicFramePr>
          <p:cNvPr id="8" name="Table 7">
            <a:extLst>
              <a:ext uri="{FF2B5EF4-FFF2-40B4-BE49-F238E27FC236}">
                <a16:creationId xmlns:a16="http://schemas.microsoft.com/office/drawing/2014/main" id="{8CAFE79F-78A7-4384-9BEC-01D311BF6D67}"/>
              </a:ext>
            </a:extLst>
          </p:cNvPr>
          <p:cNvGraphicFramePr>
            <a:graphicFrameLocks noGrp="1"/>
          </p:cNvGraphicFramePr>
          <p:nvPr>
            <p:extLst>
              <p:ext uri="{D42A27DB-BD31-4B8C-83A1-F6EECF244321}">
                <p14:modId xmlns:p14="http://schemas.microsoft.com/office/powerpoint/2010/main" val="2744186734"/>
              </p:ext>
            </p:extLst>
          </p:nvPr>
        </p:nvGraphicFramePr>
        <p:xfrm>
          <a:off x="571500" y="2692400"/>
          <a:ext cx="11049076" cy="2171700"/>
        </p:xfrm>
        <a:graphic>
          <a:graphicData uri="http://schemas.openxmlformats.org/drawingml/2006/table">
            <a:tbl>
              <a:tblPr firstRow="1" bandRow="1">
                <a:tableStyleId>{5C22544A-7EE6-4342-B048-85BDC9FD1C3A}</a:tableStyleId>
              </a:tblPr>
              <a:tblGrid>
                <a:gridCol w="3328034">
                  <a:extLst>
                    <a:ext uri="{9D8B030D-6E8A-4147-A177-3AD203B41FA5}">
                      <a16:colId xmlns:a16="http://schemas.microsoft.com/office/drawing/2014/main" val="2894933526"/>
                    </a:ext>
                  </a:extLst>
                </a:gridCol>
                <a:gridCol w="7721042">
                  <a:extLst>
                    <a:ext uri="{9D8B030D-6E8A-4147-A177-3AD203B41FA5}">
                      <a16:colId xmlns:a16="http://schemas.microsoft.com/office/drawing/2014/main" val="3942401158"/>
                    </a:ext>
                  </a:extLst>
                </a:gridCol>
              </a:tblGrid>
              <a:tr h="330200">
                <a:tc>
                  <a:txBody>
                    <a:bodyPr/>
                    <a:lstStyle/>
                    <a:p>
                      <a:pPr algn="l"/>
                      <a:r>
                        <a:rPr lang="en-US" sz="1200" b="1">
                          <a:solidFill>
                            <a:srgbClr val="FFFFFF"/>
                          </a:solidFill>
                          <a:latin typeface="Calibri"/>
                          <a:ea typeface="Calibri"/>
                          <a:cs typeface="Calibri"/>
                        </a:rPr>
                        <a:t>TRƯỜNG</a:t>
                      </a:r>
                    </a:p>
                  </a:txBody>
                  <a:tcPr anchor="ctr">
                    <a:solidFill>
                      <a:srgbClr val="13123A"/>
                    </a:solidFill>
                  </a:tcPr>
                </a:tc>
                <a:tc>
                  <a:txBody>
                    <a:bodyPr/>
                    <a:lstStyle/>
                    <a:p>
                      <a:pPr algn="l"/>
                      <a:r>
                        <a:rPr lang="en-US" sz="1200" b="1">
                          <a:solidFill>
                            <a:srgbClr val="FFFFFF"/>
                          </a:solidFill>
                          <a:latin typeface="Calibri"/>
                          <a:ea typeface="Calibri"/>
                          <a:cs typeface="Calibri"/>
                        </a:rPr>
                        <a:t>VAI TRÒ</a:t>
                      </a:r>
                    </a:p>
                  </a:txBody>
                  <a:tcPr anchor="ctr">
                    <a:solidFill>
                      <a:srgbClr val="13123A"/>
                    </a:solidFill>
                  </a:tcPr>
                </a:tc>
                <a:extLst>
                  <a:ext uri="{0D108BD9-81ED-4DB2-BD59-A6C34878D82A}">
                    <a16:rowId xmlns:a16="http://schemas.microsoft.com/office/drawing/2014/main" val="2401597937"/>
                  </a:ext>
                </a:extLst>
              </a:tr>
              <a:tr h="368300">
                <a:tc>
                  <a:txBody>
                    <a:bodyPr/>
                    <a:lstStyle/>
                    <a:p>
                      <a:pPr algn="l"/>
                      <a:r>
                        <a:rPr lang="en-US" sz="1300" b="1">
                          <a:solidFill>
                            <a:srgbClr val="3A36A0"/>
                          </a:solidFill>
                          <a:latin typeface="Consolas"/>
                        </a:rPr>
                        <a:t>seq</a:t>
                      </a:r>
                    </a:p>
                  </a:txBody>
                  <a:tcPr anchor="ctr">
                    <a:solidFill>
                      <a:srgbClr val="FFFFFF"/>
                    </a:solidFill>
                  </a:tcPr>
                </a:tc>
                <a:tc>
                  <a:txBody>
                    <a:bodyPr/>
                    <a:lstStyle/>
                    <a:p>
                      <a:pPr algn="l"/>
                      <a:r>
                        <a:rPr lang="en-US" sz="1300">
                          <a:solidFill>
                            <a:srgbClr val="13123A"/>
                          </a:solidFill>
                          <a:latin typeface="Calibri"/>
                          <a:ea typeface="Calibri"/>
                          <a:cs typeface="Calibri"/>
                        </a:rPr>
                        <a:t>Số thứ tự đơn điệu — nguồn sự thật duy nhất về độ mới</a:t>
                      </a:r>
                    </a:p>
                  </a:txBody>
                  <a:tcPr anchor="ctr">
                    <a:solidFill>
                      <a:srgbClr val="FFFFFF"/>
                    </a:solidFill>
                  </a:tcPr>
                </a:tc>
                <a:extLst>
                  <a:ext uri="{0D108BD9-81ED-4DB2-BD59-A6C34878D82A}">
                    <a16:rowId xmlns:a16="http://schemas.microsoft.com/office/drawing/2014/main" val="2179215732"/>
                  </a:ext>
                </a:extLst>
              </a:tr>
              <a:tr h="368300">
                <a:tc>
                  <a:txBody>
                    <a:bodyPr/>
                    <a:lstStyle/>
                    <a:p>
                      <a:pPr algn="l"/>
                      <a:r>
                        <a:rPr lang="en-US" sz="1300" b="1">
                          <a:solidFill>
                            <a:srgbClr val="3A36A0"/>
                          </a:solidFill>
                          <a:latin typeface="Consolas"/>
                        </a:rPr>
                        <a:t>status</a:t>
                      </a:r>
                    </a:p>
                  </a:txBody>
                  <a:tcPr anchor="ctr">
                    <a:solidFill>
                      <a:srgbClr val="F4F4FA"/>
                    </a:solidFill>
                  </a:tcPr>
                </a:tc>
                <a:tc>
                  <a:txBody>
                    <a:bodyPr/>
                    <a:lstStyle/>
                    <a:p>
                      <a:pPr algn="l"/>
                      <a:r>
                        <a:rPr lang="en-US" sz="1300">
                          <a:solidFill>
                            <a:srgbClr val="13123A"/>
                          </a:solidFill>
                          <a:latin typeface="Calibri"/>
                          <a:ea typeface="Calibri"/>
                          <a:cs typeface="Calibri"/>
                        </a:rPr>
                        <a:t>active / superseded / deleted</a:t>
                      </a:r>
                    </a:p>
                  </a:txBody>
                  <a:tcPr anchor="ctr">
                    <a:solidFill>
                      <a:srgbClr val="F4F4FA"/>
                    </a:solidFill>
                  </a:tcPr>
                </a:tc>
                <a:extLst>
                  <a:ext uri="{0D108BD9-81ED-4DB2-BD59-A6C34878D82A}">
                    <a16:rowId xmlns:a16="http://schemas.microsoft.com/office/drawing/2014/main" val="1099606196"/>
                  </a:ext>
                </a:extLst>
              </a:tr>
              <a:tr h="368300">
                <a:tc>
                  <a:txBody>
                    <a:bodyPr/>
                    <a:lstStyle/>
                    <a:p>
                      <a:pPr algn="l"/>
                      <a:r>
                        <a:rPr lang="en-US" sz="1300" b="1">
                          <a:solidFill>
                            <a:srgbClr val="3A36A0"/>
                          </a:solidFill>
                          <a:latin typeface="Consolas"/>
                        </a:rPr>
                        <a:t>superseded_by</a:t>
                      </a:r>
                    </a:p>
                  </a:txBody>
                  <a:tcPr anchor="ctr">
                    <a:solidFill>
                      <a:srgbClr val="FFFFFF"/>
                    </a:solidFill>
                  </a:tcPr>
                </a:tc>
                <a:tc>
                  <a:txBody>
                    <a:bodyPr/>
                    <a:lstStyle/>
                    <a:p>
                      <a:pPr algn="l"/>
                      <a:r>
                        <a:rPr lang="en-US" sz="1300">
                          <a:solidFill>
                            <a:srgbClr val="13123A"/>
                          </a:solidFill>
                          <a:latin typeface="Calibri"/>
                          <a:ea typeface="Calibri"/>
                          <a:cs typeface="Calibri"/>
                        </a:rPr>
                        <a:t>Trỏ tới bản đã thay thế nó → dựng lại được dòng lịch sử</a:t>
                      </a:r>
                    </a:p>
                  </a:txBody>
                  <a:tcPr anchor="ctr">
                    <a:solidFill>
                      <a:srgbClr val="FFFFFF"/>
                    </a:solidFill>
                  </a:tcPr>
                </a:tc>
                <a:extLst>
                  <a:ext uri="{0D108BD9-81ED-4DB2-BD59-A6C34878D82A}">
                    <a16:rowId xmlns:a16="http://schemas.microsoft.com/office/drawing/2014/main" val="777271076"/>
                  </a:ext>
                </a:extLst>
              </a:tr>
              <a:tr h="368300">
                <a:tc>
                  <a:txBody>
                    <a:bodyPr/>
                    <a:lstStyle/>
                    <a:p>
                      <a:pPr algn="l"/>
                      <a:r>
                        <a:rPr lang="en-US" sz="1300" b="1">
                          <a:solidFill>
                            <a:srgbClr val="3A36A0"/>
                          </a:solidFill>
                          <a:latin typeface="Consolas"/>
                        </a:rPr>
                        <a:t>valid_from / invalidated_at</a:t>
                      </a:r>
                    </a:p>
                  </a:txBody>
                  <a:tcPr anchor="ctr">
                    <a:solidFill>
                      <a:srgbClr val="F4F4FA"/>
                    </a:solidFill>
                  </a:tcPr>
                </a:tc>
                <a:tc>
                  <a:txBody>
                    <a:bodyPr/>
                    <a:lstStyle/>
                    <a:p>
                      <a:pPr algn="l"/>
                      <a:r>
                        <a:rPr lang="en-US" sz="1300">
                          <a:solidFill>
                            <a:srgbClr val="13123A"/>
                          </a:solidFill>
                          <a:latin typeface="Calibri"/>
                          <a:ea typeface="Calibri"/>
                          <a:cs typeface="Calibri"/>
                        </a:rPr>
                        <a:t>Khoảng hiệu lực → phục vụ câu hỏi suy luận thời gian</a:t>
                      </a:r>
                    </a:p>
                  </a:txBody>
                  <a:tcPr anchor="ctr">
                    <a:solidFill>
                      <a:srgbClr val="F4F4FA"/>
                    </a:solidFill>
                  </a:tcPr>
                </a:tc>
                <a:extLst>
                  <a:ext uri="{0D108BD9-81ED-4DB2-BD59-A6C34878D82A}">
                    <a16:rowId xmlns:a16="http://schemas.microsoft.com/office/drawing/2014/main" val="215982986"/>
                  </a:ext>
                </a:extLst>
              </a:tr>
              <a:tr h="368300">
                <a:tc>
                  <a:txBody>
                    <a:bodyPr/>
                    <a:lstStyle/>
                    <a:p>
                      <a:pPr algn="l"/>
                      <a:r>
                        <a:rPr lang="en-US" sz="1300" b="1">
                          <a:solidFill>
                            <a:srgbClr val="3A36A0"/>
                          </a:solidFill>
                          <a:latin typeface="Consolas"/>
                        </a:rPr>
                        <a:t>text</a:t>
                      </a:r>
                    </a:p>
                  </a:txBody>
                  <a:tcPr anchor="ctr">
                    <a:solidFill>
                      <a:srgbClr val="FFFFFF"/>
                    </a:solidFill>
                  </a:tcPr>
                </a:tc>
                <a:tc>
                  <a:txBody>
                    <a:bodyPr/>
                    <a:lstStyle/>
                    <a:p>
                      <a:pPr algn="l"/>
                      <a:r>
                        <a:rPr lang="en-US" sz="1300">
                          <a:solidFill>
                            <a:srgbClr val="13123A"/>
                          </a:solidFill>
                          <a:latin typeface="Calibri"/>
                          <a:ea typeface="Calibri"/>
                          <a:cs typeface="Calibri"/>
                        </a:rPr>
                        <a:t>Câu tự nhiên — đây là thứ được nhúng embedding</a:t>
                      </a:r>
                    </a:p>
                  </a:txBody>
                  <a:tcPr anchor="ctr">
                    <a:solidFill>
                      <a:srgbClr val="FFFFFF"/>
                    </a:solidFill>
                  </a:tcPr>
                </a:tc>
                <a:extLst>
                  <a:ext uri="{0D108BD9-81ED-4DB2-BD59-A6C34878D82A}">
                    <a16:rowId xmlns:a16="http://schemas.microsoft.com/office/drawing/2014/main" val="4026970702"/>
                  </a:ext>
                </a:extLst>
              </a:tr>
            </a:tbl>
          </a:graphicData>
        </a:graphic>
      </p:graphicFrame>
      <p:sp>
        <p:nvSpPr>
          <p:cNvPr id="9" name="Rectangle 8">
            <a:extLst>
              <a:ext uri="{FF2B5EF4-FFF2-40B4-BE49-F238E27FC236}">
                <a16:creationId xmlns:a16="http://schemas.microsoft.com/office/drawing/2014/main" id="{AF10703C-4BF8-46BB-B4DC-93ECE5D1A2F5}"/>
              </a:ext>
            </a:extLst>
          </p:cNvPr>
          <p:cNvSpPr/>
          <p:nvPr/>
        </p:nvSpPr>
        <p:spPr>
          <a:xfrm>
            <a:off x="571500" y="5029200"/>
            <a:ext cx="11049076" cy="8382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790A38C1-3651-4CF3-BE72-A756FCF5A434}"/>
              </a:ext>
            </a:extLst>
          </p:cNvPr>
          <p:cNvSpPr/>
          <p:nvPr/>
        </p:nvSpPr>
        <p:spPr>
          <a:xfrm>
            <a:off x="571500" y="5029200"/>
            <a:ext cx="66560" cy="8382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11" name="TextBox 10">
            <a:extLst>
              <a:ext uri="{FF2B5EF4-FFF2-40B4-BE49-F238E27FC236}">
                <a16:creationId xmlns:a16="http://schemas.microsoft.com/office/drawing/2014/main" id="{82B4B09E-83FF-4A48-A28F-33510B938470}"/>
              </a:ext>
            </a:extLst>
          </p:cNvPr>
          <p:cNvSpPr txBox="1"/>
          <p:nvPr/>
        </p:nvSpPr>
        <p:spPr>
          <a:xfrm>
            <a:off x="864367" y="5207000"/>
            <a:ext cx="10516590" cy="584200"/>
          </a:xfrm>
          <a:prstGeom prst="rect">
            <a:avLst/>
          </a:prstGeom>
          <a:noFill/>
        </p:spPr>
        <p:txBody>
          <a:bodyPr vertOverflow="overflow" vert="horz" wrap="square" rtlCol="0" anchor="t">
            <a:noAutofit/>
          </a:bodyPr>
          <a:lstStyle/>
          <a:p>
            <a:pPr algn="l"/>
            <a:r>
              <a:rPr lang="vi-VN" sz="1400" b="1">
                <a:solidFill>
                  <a:srgbClr val="3A36A0"/>
                </a:solidFill>
                <a:latin typeface="Calibri"/>
                <a:ea typeface="Calibri"/>
                <a:cs typeface="Calibri"/>
              </a:rPr>
              <a:t>Bản cũ không bị xóa, chỉ chuyển sang superseded. Giữ lại để (a) trả lời được “hồi tháng 5 trình độ tôi là gì?”,
(b) truy vết khi debug.</a:t>
            </a:r>
            <a:endParaRPr lang="en-US" sz="1400" b="1">
              <a:solidFill>
                <a:srgbClr val="3A36A0"/>
              </a:solidFill>
              <a:latin typeface="Calibri"/>
              <a:ea typeface="Calibri"/>
              <a:cs typeface="Calibri"/>
            </a:endParaRPr>
          </a:p>
        </p:txBody>
      </p:sp>
    </p:spTree>
    <p:extLst>
      <p:ext uri="{BB962C8B-B14F-4D97-AF65-F5344CB8AC3E}">
        <p14:creationId xmlns:p14="http://schemas.microsoft.com/office/powerpoint/2010/main" val="3781312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55EF86-4FDA-496B-872A-105C77678824}"/>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THIẾT KẾ · 3/3</a:t>
            </a:r>
          </a:p>
        </p:txBody>
      </p:sp>
      <p:sp>
        <p:nvSpPr>
          <p:cNvPr id="3" name="TextBox 2">
            <a:extLst>
              <a:ext uri="{FF2B5EF4-FFF2-40B4-BE49-F238E27FC236}">
                <a16:creationId xmlns:a16="http://schemas.microsoft.com/office/drawing/2014/main" id="{1FCB5CE6-F1BD-48EF-A279-FF33752AB072}"/>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vi-VN" sz="3000" b="1">
                <a:solidFill>
                  <a:srgbClr val="13123A"/>
                </a:solidFill>
                <a:latin typeface="Cambria"/>
                <a:ea typeface="Cambria"/>
              </a:rPr>
              <a:t>Luồng xử lý một lượt hội thoại</a:t>
            </a:r>
            <a:endParaRPr lang="en-US" sz="3000" b="1">
              <a:solidFill>
                <a:srgbClr val="13123A"/>
              </a:solidFill>
              <a:latin typeface="Cambria"/>
              <a:ea typeface="Cambria"/>
            </a:endParaRPr>
          </a:p>
        </p:txBody>
      </p:sp>
      <p:sp>
        <p:nvSpPr>
          <p:cNvPr id="4" name="Rectangle 3">
            <a:extLst>
              <a:ext uri="{FF2B5EF4-FFF2-40B4-BE49-F238E27FC236}">
                <a16:creationId xmlns:a16="http://schemas.microsoft.com/office/drawing/2014/main" id="{65271BD8-9731-45D2-B558-B7F4E73FCC1B}"/>
              </a:ext>
            </a:extLst>
          </p:cNvPr>
          <p:cNvSpPr/>
          <p:nvPr/>
        </p:nvSpPr>
        <p:spPr>
          <a:xfrm>
            <a:off x="571500" y="17526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96956BF5-E7A9-415E-A960-5E3158745214}"/>
              </a:ext>
            </a:extLst>
          </p:cNvPr>
          <p:cNvSpPr/>
          <p:nvPr/>
        </p:nvSpPr>
        <p:spPr>
          <a:xfrm>
            <a:off x="784494" y="20574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a:ea typeface="Calibri"/>
                <a:cs typeface="Calibri"/>
              </a:rPr>
              <a:t>1</a:t>
            </a:r>
          </a:p>
        </p:txBody>
      </p:sp>
      <p:sp>
        <p:nvSpPr>
          <p:cNvPr id="6" name="TextBox 5">
            <a:extLst>
              <a:ext uri="{FF2B5EF4-FFF2-40B4-BE49-F238E27FC236}">
                <a16:creationId xmlns:a16="http://schemas.microsoft.com/office/drawing/2014/main" id="{A9A7B10A-8786-4005-BE22-6D0CA0E79B24}"/>
              </a:ext>
            </a:extLst>
          </p:cNvPr>
          <p:cNvSpPr txBox="1"/>
          <p:nvPr/>
        </p:nvSpPr>
        <p:spPr>
          <a:xfrm>
            <a:off x="1423476" y="19304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a:ea typeface="Cambria"/>
              </a:rPr>
              <a:t>Trích xuất</a:t>
            </a:r>
          </a:p>
        </p:txBody>
      </p:sp>
      <p:sp>
        <p:nvSpPr>
          <p:cNvPr id="7" name="TextBox 6">
            <a:extLst>
              <a:ext uri="{FF2B5EF4-FFF2-40B4-BE49-F238E27FC236}">
                <a16:creationId xmlns:a16="http://schemas.microsoft.com/office/drawing/2014/main" id="{60947B3A-8C14-4971-8EDC-1C37310D2551}"/>
              </a:ext>
            </a:extLst>
          </p:cNvPr>
          <p:cNvSpPr txBox="1"/>
          <p:nvPr/>
        </p:nvSpPr>
        <p:spPr>
          <a:xfrm>
            <a:off x="1423476" y="22606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a:ea typeface="Calibri"/>
                <a:cs typeface="Calibri"/>
              </a:rPr>
              <a:t>LLM</a:t>
            </a:r>
          </a:p>
        </p:txBody>
      </p:sp>
      <p:sp>
        <p:nvSpPr>
          <p:cNvPr id="8" name="TextBox 7">
            <a:extLst>
              <a:ext uri="{FF2B5EF4-FFF2-40B4-BE49-F238E27FC236}">
                <a16:creationId xmlns:a16="http://schemas.microsoft.com/office/drawing/2014/main" id="{0B515AE7-6A5A-410C-9E1F-1FADA1ADA031}"/>
              </a:ext>
            </a:extLst>
          </p:cNvPr>
          <p:cNvSpPr txBox="1"/>
          <p:nvPr/>
        </p:nvSpPr>
        <p:spPr>
          <a:xfrm>
            <a:off x="1423476" y="2489200"/>
            <a:ext cx="4526127" cy="381000"/>
          </a:xfrm>
          <a:prstGeom prst="rect">
            <a:avLst/>
          </a:prstGeom>
          <a:noFill/>
        </p:spPr>
        <p:txBody>
          <a:bodyPr vertOverflow="overflow" vert="horz" wrap="square" rtlCol="0" anchor="t">
            <a:noAutofit/>
          </a:bodyPr>
          <a:lstStyle/>
          <a:p>
            <a:pPr algn="l"/>
            <a:r>
              <a:rPr lang="vi-VN" sz="1200">
                <a:solidFill>
                  <a:srgbClr val="6A6E85"/>
                </a:solidFill>
                <a:latin typeface="Calibri"/>
                <a:ea typeface="Calibri"/>
                <a:cs typeface="Calibri"/>
              </a:rPr>
              <a:t>Lượt hội thoại → danh sách {attribute, value, text, negated}</a:t>
            </a:r>
            <a:endParaRPr lang="en-US" sz="1200">
              <a:solidFill>
                <a:srgbClr val="6A6E85"/>
              </a:solidFill>
              <a:latin typeface="Calibri"/>
              <a:ea typeface="Calibri"/>
              <a:cs typeface="Calibri"/>
            </a:endParaRPr>
          </a:p>
        </p:txBody>
      </p:sp>
      <p:sp>
        <p:nvSpPr>
          <p:cNvPr id="9" name="Rectangle 8">
            <a:extLst>
              <a:ext uri="{FF2B5EF4-FFF2-40B4-BE49-F238E27FC236}">
                <a16:creationId xmlns:a16="http://schemas.microsoft.com/office/drawing/2014/main" id="{D59CE618-8D57-4DA6-8F6F-7DC8786AE24A}"/>
              </a:ext>
            </a:extLst>
          </p:cNvPr>
          <p:cNvSpPr/>
          <p:nvPr/>
        </p:nvSpPr>
        <p:spPr>
          <a:xfrm>
            <a:off x="6229159" y="17526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Oval 9">
            <a:extLst>
              <a:ext uri="{FF2B5EF4-FFF2-40B4-BE49-F238E27FC236}">
                <a16:creationId xmlns:a16="http://schemas.microsoft.com/office/drawing/2014/main" id="{18583B54-66CB-412C-B619-B6CEA41CB1C8}"/>
              </a:ext>
            </a:extLst>
          </p:cNvPr>
          <p:cNvSpPr/>
          <p:nvPr/>
        </p:nvSpPr>
        <p:spPr>
          <a:xfrm>
            <a:off x="6442153" y="20574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a:ea typeface="Calibri"/>
                <a:cs typeface="Calibri"/>
              </a:rPr>
              <a:t>2</a:t>
            </a:r>
          </a:p>
        </p:txBody>
      </p:sp>
      <p:sp>
        <p:nvSpPr>
          <p:cNvPr id="11" name="TextBox 10">
            <a:extLst>
              <a:ext uri="{FF2B5EF4-FFF2-40B4-BE49-F238E27FC236}">
                <a16:creationId xmlns:a16="http://schemas.microsoft.com/office/drawing/2014/main" id="{3A3E5C5F-E90E-48B8-9271-4274F5CB2290}"/>
              </a:ext>
            </a:extLst>
          </p:cNvPr>
          <p:cNvSpPr txBox="1"/>
          <p:nvPr/>
        </p:nvSpPr>
        <p:spPr>
          <a:xfrm>
            <a:off x="7081136" y="19304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a:ea typeface="Cambria"/>
              </a:rPr>
              <a:t>Cập nhật</a:t>
            </a:r>
          </a:p>
        </p:txBody>
      </p:sp>
      <p:sp>
        <p:nvSpPr>
          <p:cNvPr id="12" name="TextBox 11">
            <a:extLst>
              <a:ext uri="{FF2B5EF4-FFF2-40B4-BE49-F238E27FC236}">
                <a16:creationId xmlns:a16="http://schemas.microsoft.com/office/drawing/2014/main" id="{CD41D21B-29E0-4853-A3F7-23DEF89D9341}"/>
              </a:ext>
            </a:extLst>
          </p:cNvPr>
          <p:cNvSpPr txBox="1"/>
          <p:nvPr/>
        </p:nvSpPr>
        <p:spPr>
          <a:xfrm>
            <a:off x="7081136" y="22606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a:ea typeface="Calibri"/>
                <a:cs typeface="Calibri"/>
              </a:rPr>
              <a:t>Python</a:t>
            </a:r>
          </a:p>
        </p:txBody>
      </p:sp>
      <p:sp>
        <p:nvSpPr>
          <p:cNvPr id="13" name="TextBox 12">
            <a:extLst>
              <a:ext uri="{FF2B5EF4-FFF2-40B4-BE49-F238E27FC236}">
                <a16:creationId xmlns:a16="http://schemas.microsoft.com/office/drawing/2014/main" id="{6E931AF2-268C-42FE-960E-3B9626ED7DB1}"/>
              </a:ext>
            </a:extLst>
          </p:cNvPr>
          <p:cNvSpPr txBox="1"/>
          <p:nvPr/>
        </p:nvSpPr>
        <p:spPr>
          <a:xfrm>
            <a:off x="7081136" y="2489200"/>
            <a:ext cx="4526127" cy="381000"/>
          </a:xfrm>
          <a:prstGeom prst="rect">
            <a:avLst/>
          </a:prstGeom>
          <a:noFill/>
        </p:spPr>
        <p:txBody>
          <a:bodyPr vertOverflow="overflow" vert="horz" wrap="square" rtlCol="0" anchor="t">
            <a:noAutofit/>
          </a:bodyPr>
          <a:lstStyle/>
          <a:p>
            <a:pPr algn="l"/>
            <a:r>
              <a:rPr lang="nb-NO" sz="1200">
                <a:solidFill>
                  <a:srgbClr val="6A6E85"/>
                </a:solidFill>
                <a:latin typeface="Calibri"/>
                <a:ea typeface="Calibri"/>
                <a:cs typeface="Calibri"/>
              </a:rPr>
              <a:t>Ghép slot → ADD / UPDATE / DELETE / NOOP</a:t>
            </a:r>
            <a:endParaRPr lang="en-US" sz="1200">
              <a:solidFill>
                <a:srgbClr val="6A6E85"/>
              </a:solidFill>
              <a:latin typeface="Calibri"/>
              <a:ea typeface="Calibri"/>
              <a:cs typeface="Calibri"/>
            </a:endParaRPr>
          </a:p>
        </p:txBody>
      </p:sp>
      <p:sp>
        <p:nvSpPr>
          <p:cNvPr id="14" name="Rectangle 13">
            <a:extLst>
              <a:ext uri="{FF2B5EF4-FFF2-40B4-BE49-F238E27FC236}">
                <a16:creationId xmlns:a16="http://schemas.microsoft.com/office/drawing/2014/main" id="{B9AB843F-8F22-4CC9-8A64-38321531E5A6}"/>
              </a:ext>
            </a:extLst>
          </p:cNvPr>
          <p:cNvSpPr/>
          <p:nvPr/>
        </p:nvSpPr>
        <p:spPr>
          <a:xfrm>
            <a:off x="571500" y="29718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Oval 14">
            <a:extLst>
              <a:ext uri="{FF2B5EF4-FFF2-40B4-BE49-F238E27FC236}">
                <a16:creationId xmlns:a16="http://schemas.microsoft.com/office/drawing/2014/main" id="{C7FAEBEC-8458-4A48-8E93-89A2A30EFA9E}"/>
              </a:ext>
            </a:extLst>
          </p:cNvPr>
          <p:cNvSpPr/>
          <p:nvPr/>
        </p:nvSpPr>
        <p:spPr>
          <a:xfrm>
            <a:off x="784494" y="32766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a:ea typeface="Calibri"/>
                <a:cs typeface="Calibri"/>
              </a:rPr>
              <a:t>3</a:t>
            </a:r>
          </a:p>
        </p:txBody>
      </p:sp>
      <p:sp>
        <p:nvSpPr>
          <p:cNvPr id="16" name="TextBox 15">
            <a:extLst>
              <a:ext uri="{FF2B5EF4-FFF2-40B4-BE49-F238E27FC236}">
                <a16:creationId xmlns:a16="http://schemas.microsoft.com/office/drawing/2014/main" id="{B4770DC6-1B8F-4F9C-A320-F3E3697B5BA0}"/>
              </a:ext>
            </a:extLst>
          </p:cNvPr>
          <p:cNvSpPr txBox="1"/>
          <p:nvPr/>
        </p:nvSpPr>
        <p:spPr>
          <a:xfrm>
            <a:off x="1423476" y="31496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a:ea typeface="Cambria"/>
              </a:rPr>
              <a:t>Truy xuất</a:t>
            </a:r>
          </a:p>
        </p:txBody>
      </p:sp>
      <p:sp>
        <p:nvSpPr>
          <p:cNvPr id="17" name="TextBox 16">
            <a:extLst>
              <a:ext uri="{FF2B5EF4-FFF2-40B4-BE49-F238E27FC236}">
                <a16:creationId xmlns:a16="http://schemas.microsoft.com/office/drawing/2014/main" id="{1A138E5D-3F43-4827-94E1-7E4BF0EF8D88}"/>
              </a:ext>
            </a:extLst>
          </p:cNvPr>
          <p:cNvSpPr txBox="1"/>
          <p:nvPr/>
        </p:nvSpPr>
        <p:spPr>
          <a:xfrm>
            <a:off x="1423476" y="34798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a:ea typeface="Calibri"/>
                <a:cs typeface="Calibri"/>
              </a:rPr>
              <a:t>Embedding + Python</a:t>
            </a:r>
          </a:p>
        </p:txBody>
      </p:sp>
      <p:sp>
        <p:nvSpPr>
          <p:cNvPr id="18" name="TextBox 17">
            <a:extLst>
              <a:ext uri="{FF2B5EF4-FFF2-40B4-BE49-F238E27FC236}">
                <a16:creationId xmlns:a16="http://schemas.microsoft.com/office/drawing/2014/main" id="{1808E726-C43A-49A1-BB71-FA64388107C1}"/>
              </a:ext>
            </a:extLst>
          </p:cNvPr>
          <p:cNvSpPr txBox="1"/>
          <p:nvPr/>
        </p:nvSpPr>
        <p:spPr>
          <a:xfrm>
            <a:off x="1423476" y="3708400"/>
            <a:ext cx="4526127" cy="3810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Top-k trên status=active, rồi gom theo slot giữ max(seq)</a:t>
            </a:r>
          </a:p>
        </p:txBody>
      </p:sp>
      <p:sp>
        <p:nvSpPr>
          <p:cNvPr id="19" name="Rectangle 18">
            <a:extLst>
              <a:ext uri="{FF2B5EF4-FFF2-40B4-BE49-F238E27FC236}">
                <a16:creationId xmlns:a16="http://schemas.microsoft.com/office/drawing/2014/main" id="{0752A251-6B32-44AA-9021-51FDCD29E879}"/>
              </a:ext>
            </a:extLst>
          </p:cNvPr>
          <p:cNvSpPr/>
          <p:nvPr/>
        </p:nvSpPr>
        <p:spPr>
          <a:xfrm>
            <a:off x="6229159" y="2971800"/>
            <a:ext cx="5391416" cy="11176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Oval 19">
            <a:extLst>
              <a:ext uri="{FF2B5EF4-FFF2-40B4-BE49-F238E27FC236}">
                <a16:creationId xmlns:a16="http://schemas.microsoft.com/office/drawing/2014/main" id="{542E3FA2-3576-42A2-BABB-E7FF56725EEA}"/>
              </a:ext>
            </a:extLst>
          </p:cNvPr>
          <p:cNvSpPr/>
          <p:nvPr/>
        </p:nvSpPr>
        <p:spPr>
          <a:xfrm>
            <a:off x="6442153" y="3276600"/>
            <a:ext cx="479237" cy="4572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Calibri"/>
                <a:ea typeface="Calibri"/>
                <a:cs typeface="Calibri"/>
              </a:rPr>
              <a:t>4</a:t>
            </a:r>
          </a:p>
        </p:txBody>
      </p:sp>
      <p:sp>
        <p:nvSpPr>
          <p:cNvPr id="21" name="TextBox 20">
            <a:extLst>
              <a:ext uri="{FF2B5EF4-FFF2-40B4-BE49-F238E27FC236}">
                <a16:creationId xmlns:a16="http://schemas.microsoft.com/office/drawing/2014/main" id="{6E9DC90D-B88D-478B-91E4-4F0E225B9CD3}"/>
              </a:ext>
            </a:extLst>
          </p:cNvPr>
          <p:cNvSpPr txBox="1"/>
          <p:nvPr/>
        </p:nvSpPr>
        <p:spPr>
          <a:xfrm>
            <a:off x="7081136" y="3149600"/>
            <a:ext cx="2662428" cy="304800"/>
          </a:xfrm>
          <a:prstGeom prst="rect">
            <a:avLst/>
          </a:prstGeom>
          <a:noFill/>
        </p:spPr>
        <p:txBody>
          <a:bodyPr vertOverflow="overflow" vert="horz" wrap="square" rtlCol="0" anchor="t">
            <a:noAutofit/>
          </a:bodyPr>
          <a:lstStyle/>
          <a:p>
            <a:pPr algn="l"/>
            <a:r>
              <a:rPr lang="en-US" sz="1600" b="1">
                <a:solidFill>
                  <a:srgbClr val="13123A"/>
                </a:solidFill>
                <a:latin typeface="Cambria"/>
                <a:ea typeface="Cambria"/>
              </a:rPr>
              <a:t>Sinh phản hồi</a:t>
            </a:r>
          </a:p>
        </p:txBody>
      </p:sp>
      <p:sp>
        <p:nvSpPr>
          <p:cNvPr id="22" name="TextBox 21">
            <a:extLst>
              <a:ext uri="{FF2B5EF4-FFF2-40B4-BE49-F238E27FC236}">
                <a16:creationId xmlns:a16="http://schemas.microsoft.com/office/drawing/2014/main" id="{0AFE88CE-854F-4126-91B0-AA70AB753218}"/>
              </a:ext>
            </a:extLst>
          </p:cNvPr>
          <p:cNvSpPr txBox="1"/>
          <p:nvPr/>
        </p:nvSpPr>
        <p:spPr>
          <a:xfrm>
            <a:off x="7081136" y="3479800"/>
            <a:ext cx="2396185" cy="228600"/>
          </a:xfrm>
          <a:prstGeom prst="rect">
            <a:avLst/>
          </a:prstGeom>
          <a:noFill/>
        </p:spPr>
        <p:txBody>
          <a:bodyPr vertOverflow="overflow" vert="horz" wrap="square" rtlCol="0" anchor="t">
            <a:noAutofit/>
          </a:bodyPr>
          <a:lstStyle/>
          <a:p>
            <a:pPr algn="l"/>
            <a:r>
              <a:rPr lang="en-US" sz="1200" b="1">
                <a:solidFill>
                  <a:srgbClr val="0F6E6E"/>
                </a:solidFill>
                <a:latin typeface="Calibri"/>
                <a:ea typeface="Calibri"/>
                <a:cs typeface="Calibri"/>
              </a:rPr>
              <a:t>LLM</a:t>
            </a:r>
          </a:p>
        </p:txBody>
      </p:sp>
      <p:sp>
        <p:nvSpPr>
          <p:cNvPr id="23" name="TextBox 22">
            <a:extLst>
              <a:ext uri="{FF2B5EF4-FFF2-40B4-BE49-F238E27FC236}">
                <a16:creationId xmlns:a16="http://schemas.microsoft.com/office/drawing/2014/main" id="{9C735197-6CA8-4879-B26E-9B52AFC811C0}"/>
              </a:ext>
            </a:extLst>
          </p:cNvPr>
          <p:cNvSpPr txBox="1"/>
          <p:nvPr/>
        </p:nvSpPr>
        <p:spPr>
          <a:xfrm>
            <a:off x="7081136" y="3708400"/>
            <a:ext cx="4526127" cy="3810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Chèn ký ức vào prompt kèm số seq</a:t>
            </a:r>
          </a:p>
        </p:txBody>
      </p:sp>
      <p:sp>
        <p:nvSpPr>
          <p:cNvPr id="24" name="Rectangle 23">
            <a:extLst>
              <a:ext uri="{FF2B5EF4-FFF2-40B4-BE49-F238E27FC236}">
                <a16:creationId xmlns:a16="http://schemas.microsoft.com/office/drawing/2014/main" id="{9ED1499C-ED0E-4B34-8070-87AEBDC01B3E}"/>
              </a:ext>
            </a:extLst>
          </p:cNvPr>
          <p:cNvSpPr/>
          <p:nvPr/>
        </p:nvSpPr>
        <p:spPr>
          <a:xfrm>
            <a:off x="571500" y="4343400"/>
            <a:ext cx="11049076" cy="1524000"/>
          </a:xfrm>
          <a:prstGeom prst="rect">
            <a:avLst/>
          </a:prstGeom>
          <a:solidFill>
            <a:srgbClr val="FCEFD5"/>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413388DC-AC0D-4E5D-B365-56B96C6013AC}"/>
              </a:ext>
            </a:extLst>
          </p:cNvPr>
          <p:cNvSpPr/>
          <p:nvPr/>
        </p:nvSpPr>
        <p:spPr>
          <a:xfrm>
            <a:off x="571500" y="4343400"/>
            <a:ext cx="66560" cy="1524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26" name="TextBox 25">
            <a:extLst>
              <a:ext uri="{FF2B5EF4-FFF2-40B4-BE49-F238E27FC236}">
                <a16:creationId xmlns:a16="http://schemas.microsoft.com/office/drawing/2014/main" id="{408BCFD1-9D62-40C6-9421-B071E2A729A4}"/>
              </a:ext>
            </a:extLst>
          </p:cNvPr>
          <p:cNvSpPr txBox="1"/>
          <p:nvPr/>
        </p:nvSpPr>
        <p:spPr>
          <a:xfrm>
            <a:off x="864367" y="4521200"/>
            <a:ext cx="6656070" cy="254000"/>
          </a:xfrm>
          <a:prstGeom prst="rect">
            <a:avLst/>
          </a:prstGeom>
          <a:noFill/>
        </p:spPr>
        <p:txBody>
          <a:bodyPr vertOverflow="overflow" vert="horz" wrap="square" rtlCol="0" anchor="t">
            <a:noAutofit/>
          </a:bodyPr>
          <a:lstStyle/>
          <a:p>
            <a:pPr algn="l"/>
            <a:r>
              <a:rPr lang="en-US" sz="1300" b="1">
                <a:solidFill>
                  <a:srgbClr val="0F6E6E"/>
                </a:solidFill>
                <a:latin typeface="Calibri"/>
                <a:ea typeface="Calibri"/>
                <a:cs typeface="Calibri"/>
              </a:rPr>
              <a:t>CẢNH BÁO KỸ THUẬT</a:t>
            </a:r>
          </a:p>
        </p:txBody>
      </p:sp>
      <p:sp>
        <p:nvSpPr>
          <p:cNvPr id="27" name="TextBox 26">
            <a:extLst>
              <a:ext uri="{FF2B5EF4-FFF2-40B4-BE49-F238E27FC236}">
                <a16:creationId xmlns:a16="http://schemas.microsoft.com/office/drawing/2014/main" id="{E8F6921B-1CFF-4923-88E0-4C87E6EA4AC0}"/>
              </a:ext>
            </a:extLst>
          </p:cNvPr>
          <p:cNvSpPr txBox="1"/>
          <p:nvPr/>
        </p:nvSpPr>
        <p:spPr>
          <a:xfrm>
            <a:off x="864367" y="4826000"/>
            <a:ext cx="10516590" cy="939800"/>
          </a:xfrm>
          <a:prstGeom prst="rect">
            <a:avLst/>
          </a:prstGeom>
          <a:noFill/>
        </p:spPr>
        <p:txBody>
          <a:bodyPr vertOverflow="overflow" vert="horz" wrap="square" rtlCol="0" anchor="t">
            <a:noAutofit/>
          </a:bodyPr>
          <a:lstStyle/>
          <a:p>
            <a:pPr algn="l"/>
            <a:r>
              <a:rPr lang="vi-VN" sz="1400">
                <a:solidFill>
                  <a:srgbClr val="13123A"/>
                </a:solidFill>
                <a:latin typeface="Calibri"/>
                <a:ea typeface="Calibri"/>
                <a:cs typeface="Calibri"/>
              </a:rPr>
              <a:t>Bước 3 có hai lớp lọc bản cũ, không phải một. Lý do: embedding của “trình độ tiếng Nhật N5” và “…N4” gần như trùng nhau → top-k rất dễ trả về cả hai, và khi prompt chứa hai fact mâu thuẫn thì LLM đoán bừa. Đây đúng là kiểu lỗi FactConsolidation nhắm vào.</a:t>
            </a:r>
            <a:endParaRPr lang="en-US" sz="1400">
              <a:solidFill>
                <a:srgbClr val="13123A"/>
              </a:solidFill>
              <a:latin typeface="Calibri"/>
              <a:ea typeface="Calibri"/>
              <a:cs typeface="Calibri"/>
            </a:endParaRPr>
          </a:p>
        </p:txBody>
      </p:sp>
    </p:spTree>
    <p:extLst>
      <p:ext uri="{BB962C8B-B14F-4D97-AF65-F5344CB8AC3E}">
        <p14:creationId xmlns:p14="http://schemas.microsoft.com/office/powerpoint/2010/main" val="4170234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CE85F5-F2AF-4F17-8C69-513EC703F7CC}"/>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KẾT QUẢ TUẦN 2</a:t>
            </a:r>
          </a:p>
        </p:txBody>
      </p:sp>
      <p:sp>
        <p:nvSpPr>
          <p:cNvPr id="3" name="TextBox 2">
            <a:extLst>
              <a:ext uri="{FF2B5EF4-FFF2-40B4-BE49-F238E27FC236}">
                <a16:creationId xmlns:a16="http://schemas.microsoft.com/office/drawing/2014/main" id="{E7184A28-300B-446B-B96D-CDC30326AFEE}"/>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Demo: bộ nhớ tự cập nhật qua các phiên</a:t>
            </a:r>
          </a:p>
        </p:txBody>
      </p:sp>
      <p:graphicFrame>
        <p:nvGraphicFramePr>
          <p:cNvPr id="5" name="Table 4">
            <a:extLst>
              <a:ext uri="{FF2B5EF4-FFF2-40B4-BE49-F238E27FC236}">
                <a16:creationId xmlns:a16="http://schemas.microsoft.com/office/drawing/2014/main" id="{780818CB-A673-4B34-AD73-BB7B7DDB59E7}"/>
              </a:ext>
            </a:extLst>
          </p:cNvPr>
          <p:cNvGraphicFramePr>
            <a:graphicFrameLocks noGrp="1"/>
          </p:cNvGraphicFramePr>
          <p:nvPr>
            <p:extLst>
              <p:ext uri="{D42A27DB-BD31-4B8C-83A1-F6EECF244321}">
                <p14:modId xmlns:p14="http://schemas.microsoft.com/office/powerpoint/2010/main" val="2907028014"/>
              </p:ext>
            </p:extLst>
          </p:nvPr>
        </p:nvGraphicFramePr>
        <p:xfrm>
          <a:off x="571500" y="1727200"/>
          <a:ext cx="11049076" cy="2387600"/>
        </p:xfrm>
        <a:graphic>
          <a:graphicData uri="http://schemas.openxmlformats.org/drawingml/2006/table">
            <a:tbl>
              <a:tblPr firstRow="1" bandRow="1">
                <a:tableStyleId>{5C22544A-7EE6-4342-B048-85BDC9FD1C3A}</a:tableStyleId>
              </a:tblPr>
              <a:tblGrid>
                <a:gridCol w="1171468">
                  <a:extLst>
                    <a:ext uri="{9D8B030D-6E8A-4147-A177-3AD203B41FA5}">
                      <a16:colId xmlns:a16="http://schemas.microsoft.com/office/drawing/2014/main" val="479192103"/>
                    </a:ext>
                  </a:extLst>
                </a:gridCol>
                <a:gridCol w="3993641">
                  <a:extLst>
                    <a:ext uri="{9D8B030D-6E8A-4147-A177-3AD203B41FA5}">
                      <a16:colId xmlns:a16="http://schemas.microsoft.com/office/drawing/2014/main" val="1651618483"/>
                    </a:ext>
                  </a:extLst>
                </a:gridCol>
                <a:gridCol w="3088416">
                  <a:extLst>
                    <a:ext uri="{9D8B030D-6E8A-4147-A177-3AD203B41FA5}">
                      <a16:colId xmlns:a16="http://schemas.microsoft.com/office/drawing/2014/main" val="1356658602"/>
                    </a:ext>
                  </a:extLst>
                </a:gridCol>
                <a:gridCol w="2795551">
                  <a:extLst>
                    <a:ext uri="{9D8B030D-6E8A-4147-A177-3AD203B41FA5}">
                      <a16:colId xmlns:a16="http://schemas.microsoft.com/office/drawing/2014/main" val="4118589217"/>
                    </a:ext>
                  </a:extLst>
                </a:gridCol>
              </a:tblGrid>
              <a:tr h="355600">
                <a:tc>
                  <a:txBody>
                    <a:bodyPr/>
                    <a:lstStyle/>
                    <a:p>
                      <a:pPr algn="l"/>
                      <a:r>
                        <a:rPr lang="en-US" sz="1200" b="1">
                          <a:solidFill>
                            <a:srgbClr val="FFFFFF"/>
                          </a:solidFill>
                          <a:latin typeface="Calibri"/>
                          <a:ea typeface="Calibri"/>
                          <a:cs typeface="Calibri"/>
                        </a:rPr>
                        <a:t>PHIÊN</a:t>
                      </a:r>
                    </a:p>
                  </a:txBody>
                  <a:tcPr anchor="ctr">
                    <a:solidFill>
                      <a:srgbClr val="13123A"/>
                    </a:solidFill>
                  </a:tcPr>
                </a:tc>
                <a:tc>
                  <a:txBody>
                    <a:bodyPr/>
                    <a:lstStyle/>
                    <a:p>
                      <a:pPr algn="l"/>
                      <a:r>
                        <a:rPr lang="en-US" sz="1200" b="1">
                          <a:solidFill>
                            <a:srgbClr val="FFFFFF"/>
                          </a:solidFill>
                          <a:latin typeface="Calibri"/>
                          <a:ea typeface="Calibri"/>
                          <a:cs typeface="Calibri"/>
                        </a:rPr>
                        <a:t>NGƯỜI DÙNG NÓI</a:t>
                      </a:r>
                    </a:p>
                  </a:txBody>
                  <a:tcPr anchor="ctr">
                    <a:solidFill>
                      <a:srgbClr val="13123A"/>
                    </a:solidFill>
                  </a:tcPr>
                </a:tc>
                <a:tc>
                  <a:txBody>
                    <a:bodyPr/>
                    <a:lstStyle/>
                    <a:p>
                      <a:pPr algn="l"/>
                      <a:r>
                        <a:rPr lang="en-US" sz="1200" b="1">
                          <a:solidFill>
                            <a:srgbClr val="FFFFFF"/>
                          </a:solidFill>
                          <a:latin typeface="Calibri"/>
                          <a:ea typeface="Calibri"/>
                          <a:cs typeface="Calibri"/>
                        </a:rPr>
                        <a:t>THAO TÁC BỘ NHỚ</a:t>
                      </a:r>
                    </a:p>
                  </a:txBody>
                  <a:tcPr anchor="ctr">
                    <a:solidFill>
                      <a:srgbClr val="13123A"/>
                    </a:solidFill>
                  </a:tcPr>
                </a:tc>
                <a:tc>
                  <a:txBody>
                    <a:bodyPr/>
                    <a:lstStyle/>
                    <a:p>
                      <a:pPr algn="l"/>
                      <a:r>
                        <a:rPr lang="en-US" sz="1200" b="1">
                          <a:solidFill>
                            <a:srgbClr val="FFFFFF"/>
                          </a:solidFill>
                          <a:latin typeface="Calibri"/>
                          <a:ea typeface="Calibri"/>
                          <a:cs typeface="Calibri"/>
                        </a:rPr>
                        <a:t>TRẠNG THÁI SLOT</a:t>
                      </a:r>
                    </a:p>
                  </a:txBody>
                  <a:tcPr anchor="ctr">
                    <a:solidFill>
                      <a:srgbClr val="13123A"/>
                    </a:solidFill>
                  </a:tcPr>
                </a:tc>
                <a:extLst>
                  <a:ext uri="{0D108BD9-81ED-4DB2-BD59-A6C34878D82A}">
                    <a16:rowId xmlns:a16="http://schemas.microsoft.com/office/drawing/2014/main" val="1116341614"/>
                  </a:ext>
                </a:extLst>
              </a:tr>
              <a:tr h="508000">
                <a:tc>
                  <a:txBody>
                    <a:bodyPr/>
                    <a:lstStyle/>
                    <a:p>
                      <a:pPr algn="l"/>
                      <a:r>
                        <a:rPr lang="en-US" sz="1300" b="0">
                          <a:solidFill>
                            <a:srgbClr val="13123A"/>
                          </a:solidFill>
                          <a:latin typeface="Consolas"/>
                        </a:rPr>
                        <a:t>phien-1</a:t>
                      </a:r>
                    </a:p>
                  </a:txBody>
                  <a:tcPr anchor="ctr">
                    <a:solidFill>
                      <a:srgbClr val="FFFFFF"/>
                    </a:solidFill>
                  </a:tcPr>
                </a:tc>
                <a:tc>
                  <a:txBody>
                    <a:bodyPr/>
                    <a:lstStyle/>
                    <a:p>
                      <a:pPr algn="l"/>
                      <a:r>
                        <a:rPr lang="en-US" sz="1300" b="0">
                          <a:solidFill>
                            <a:srgbClr val="13123A"/>
                          </a:solidFill>
                          <a:latin typeface="Calibri"/>
                          <a:ea typeface="Calibri"/>
                          <a:cs typeface="Calibri"/>
                        </a:rPr>
                        <a:t>“Mình học tiếng Nhật, trình độ N5.”</a:t>
                      </a:r>
                    </a:p>
                  </a:txBody>
                  <a:tcPr anchor="ctr">
                    <a:solidFill>
                      <a:srgbClr val="FFFFFF"/>
                    </a:solidFill>
                  </a:tcPr>
                </a:tc>
                <a:tc>
                  <a:txBody>
                    <a:bodyPr/>
                    <a:lstStyle/>
                    <a:p>
                      <a:pPr algn="l"/>
                      <a:r>
                        <a:rPr lang="en-US" sz="1300" b="1">
                          <a:solidFill>
                            <a:srgbClr val="6A6E85"/>
                          </a:solidFill>
                          <a:latin typeface="Consolas"/>
                        </a:rPr>
                        <a:t>ADD user::trinh_do_tieng_nhat</a:t>
                      </a:r>
                    </a:p>
                  </a:txBody>
                  <a:tcPr anchor="ctr">
                    <a:solidFill>
                      <a:srgbClr val="FFFFFF"/>
                    </a:solidFill>
                  </a:tcPr>
                </a:tc>
                <a:tc>
                  <a:txBody>
                    <a:bodyPr/>
                    <a:lstStyle/>
                    <a:p>
                      <a:pPr algn="l"/>
                      <a:r>
                        <a:rPr lang="en-US" sz="1300" b="1">
                          <a:solidFill>
                            <a:srgbClr val="3A36A0"/>
                          </a:solidFill>
                          <a:latin typeface="Consolas"/>
                        </a:rPr>
                        <a:t>#1 N5 active</a:t>
                      </a:r>
                    </a:p>
                  </a:txBody>
                  <a:tcPr anchor="ctr">
                    <a:solidFill>
                      <a:srgbClr val="FFFFFF"/>
                    </a:solidFill>
                  </a:tcPr>
                </a:tc>
                <a:extLst>
                  <a:ext uri="{0D108BD9-81ED-4DB2-BD59-A6C34878D82A}">
                    <a16:rowId xmlns:a16="http://schemas.microsoft.com/office/drawing/2014/main" val="1924330727"/>
                  </a:ext>
                </a:extLst>
              </a:tr>
              <a:tr h="508000">
                <a:tc>
                  <a:txBody>
                    <a:bodyPr/>
                    <a:lstStyle/>
                    <a:p>
                      <a:pPr algn="l"/>
                      <a:r>
                        <a:rPr lang="en-US" sz="1300" b="0">
                          <a:solidFill>
                            <a:srgbClr val="13123A"/>
                          </a:solidFill>
                          <a:latin typeface="Consolas"/>
                        </a:rPr>
                        <a:t>phien-1</a:t>
                      </a:r>
                    </a:p>
                  </a:txBody>
                  <a:tcPr anchor="ctr">
                    <a:solidFill>
                      <a:srgbClr val="F4F4FA"/>
                    </a:solidFill>
                  </a:tcPr>
                </a:tc>
                <a:tc>
                  <a:txBody>
                    <a:bodyPr/>
                    <a:lstStyle/>
                    <a:p>
                      <a:pPr algn="l"/>
                      <a:r>
                        <a:rPr lang="en-US" sz="1300" b="0">
                          <a:solidFill>
                            <a:srgbClr val="13123A"/>
                          </a:solidFill>
                          <a:latin typeface="Calibri"/>
                          <a:ea typeface="Calibri"/>
                          <a:cs typeface="Calibri"/>
                        </a:rPr>
                        <a:t>“Mình bị dị ứng đậu phộng.”</a:t>
                      </a:r>
                    </a:p>
                  </a:txBody>
                  <a:tcPr anchor="ctr">
                    <a:solidFill>
                      <a:srgbClr val="F4F4FA"/>
                    </a:solidFill>
                  </a:tcPr>
                </a:tc>
                <a:tc>
                  <a:txBody>
                    <a:bodyPr/>
                    <a:lstStyle/>
                    <a:p>
                      <a:pPr algn="l"/>
                      <a:r>
                        <a:rPr lang="en-US" sz="1300" b="1">
                          <a:solidFill>
                            <a:srgbClr val="6A6E85"/>
                          </a:solidFill>
                          <a:latin typeface="Consolas"/>
                        </a:rPr>
                        <a:t>ADD user::di_ung</a:t>
                      </a:r>
                    </a:p>
                  </a:txBody>
                  <a:tcPr anchor="ctr">
                    <a:solidFill>
                      <a:srgbClr val="F4F4FA"/>
                    </a:solidFill>
                  </a:tcPr>
                </a:tc>
                <a:tc>
                  <a:txBody>
                    <a:bodyPr/>
                    <a:lstStyle/>
                    <a:p>
                      <a:pPr algn="l"/>
                      <a:r>
                        <a:rPr lang="en-US" sz="1300" b="1">
                          <a:solidFill>
                            <a:srgbClr val="3A36A0"/>
                          </a:solidFill>
                          <a:latin typeface="Consolas"/>
                        </a:rPr>
                        <a:t>#3 đậu phộng active</a:t>
                      </a:r>
                    </a:p>
                  </a:txBody>
                  <a:tcPr anchor="ctr">
                    <a:solidFill>
                      <a:srgbClr val="F4F4FA"/>
                    </a:solidFill>
                  </a:tcPr>
                </a:tc>
                <a:extLst>
                  <a:ext uri="{0D108BD9-81ED-4DB2-BD59-A6C34878D82A}">
                    <a16:rowId xmlns:a16="http://schemas.microsoft.com/office/drawing/2014/main" val="2339286281"/>
                  </a:ext>
                </a:extLst>
              </a:tr>
              <a:tr h="508000">
                <a:tc>
                  <a:txBody>
                    <a:bodyPr/>
                    <a:lstStyle/>
                    <a:p>
                      <a:pPr algn="l"/>
                      <a:r>
                        <a:rPr lang="en-US" sz="1300" b="0">
                          <a:solidFill>
                            <a:srgbClr val="13123A"/>
                          </a:solidFill>
                          <a:latin typeface="Consolas"/>
                        </a:rPr>
                        <a:t>phien-4</a:t>
                      </a:r>
                    </a:p>
                  </a:txBody>
                  <a:tcPr anchor="ctr">
                    <a:solidFill>
                      <a:srgbClr val="FFFFFF"/>
                    </a:solidFill>
                  </a:tcPr>
                </a:tc>
                <a:tc>
                  <a:txBody>
                    <a:bodyPr/>
                    <a:lstStyle/>
                    <a:p>
                      <a:pPr algn="l"/>
                      <a:r>
                        <a:rPr lang="en-US" sz="1300" b="0">
                          <a:solidFill>
                            <a:srgbClr val="13123A"/>
                          </a:solidFill>
                          <a:latin typeface="Calibri"/>
                          <a:ea typeface="Calibri"/>
                          <a:cs typeface="Calibri"/>
                        </a:rPr>
                        <a:t>“Gợi ý tài liệu luyện đọc phù hợp trình độ.”</a:t>
                      </a:r>
                    </a:p>
                  </a:txBody>
                  <a:tcPr anchor="ctr">
                    <a:solidFill>
                      <a:srgbClr val="FFFFFF"/>
                    </a:solidFill>
                  </a:tcPr>
                </a:tc>
                <a:tc>
                  <a:txBody>
                    <a:bodyPr/>
                    <a:lstStyle/>
                    <a:p>
                      <a:pPr algn="l"/>
                      <a:r>
                        <a:rPr lang="en-US" sz="1300" b="1">
                          <a:solidFill>
                            <a:srgbClr val="6A6E85"/>
                          </a:solidFill>
                          <a:latin typeface="Consolas"/>
                        </a:rPr>
                        <a:t>— (truy xuất)</a:t>
                      </a:r>
                    </a:p>
                  </a:txBody>
                  <a:tcPr anchor="ctr">
                    <a:solidFill>
                      <a:srgbClr val="FFFFFF"/>
                    </a:solidFill>
                  </a:tcPr>
                </a:tc>
                <a:tc>
                  <a:txBody>
                    <a:bodyPr/>
                    <a:lstStyle/>
                    <a:p>
                      <a:pPr algn="l"/>
                      <a:r>
                        <a:rPr lang="en-US" sz="1300" b="1">
                          <a:solidFill>
                            <a:srgbClr val="3A36A0"/>
                          </a:solidFill>
                          <a:latin typeface="Consolas"/>
                        </a:rPr>
                        <a:t>dùng #1 N5</a:t>
                      </a:r>
                    </a:p>
                  </a:txBody>
                  <a:tcPr anchor="ctr">
                    <a:solidFill>
                      <a:srgbClr val="FFFFFF"/>
                    </a:solidFill>
                  </a:tcPr>
                </a:tc>
                <a:extLst>
                  <a:ext uri="{0D108BD9-81ED-4DB2-BD59-A6C34878D82A}">
                    <a16:rowId xmlns:a16="http://schemas.microsoft.com/office/drawing/2014/main" val="3890237740"/>
                  </a:ext>
                </a:extLst>
              </a:tr>
              <a:tr h="508000">
                <a:tc>
                  <a:txBody>
                    <a:bodyPr/>
                    <a:lstStyle/>
                    <a:p>
                      <a:pPr algn="l"/>
                      <a:r>
                        <a:rPr lang="en-US" sz="1300" b="0">
                          <a:solidFill>
                            <a:srgbClr val="13123A"/>
                          </a:solidFill>
                          <a:latin typeface="Consolas"/>
                        </a:rPr>
                        <a:t>phien-7</a:t>
                      </a:r>
                    </a:p>
                  </a:txBody>
                  <a:tcPr anchor="ctr">
                    <a:solidFill>
                      <a:srgbClr val="F4F4FA"/>
                    </a:solidFill>
                  </a:tcPr>
                </a:tc>
                <a:tc>
                  <a:txBody>
                    <a:bodyPr/>
                    <a:lstStyle/>
                    <a:p>
                      <a:pPr algn="l"/>
                      <a:r>
                        <a:rPr lang="en-US" sz="1300" b="0">
                          <a:solidFill>
                            <a:srgbClr val="13123A"/>
                          </a:solidFill>
                          <a:latin typeface="Calibri"/>
                          <a:ea typeface="Calibri"/>
                          <a:cs typeface="Calibri"/>
                        </a:rPr>
                        <a:t>“Mình vừa thi đỗ N4 rồi!”</a:t>
                      </a:r>
                    </a:p>
                  </a:txBody>
                  <a:tcPr anchor="ctr">
                    <a:solidFill>
                      <a:srgbClr val="F4F4FA"/>
                    </a:solidFill>
                  </a:tcPr>
                </a:tc>
                <a:tc>
                  <a:txBody>
                    <a:bodyPr/>
                    <a:lstStyle/>
                    <a:p>
                      <a:pPr algn="l"/>
                      <a:r>
                        <a:rPr lang="en-US" sz="1300" b="1">
                          <a:solidFill>
                            <a:srgbClr val="6A6E85"/>
                          </a:solidFill>
                          <a:latin typeface="Consolas"/>
                        </a:rPr>
                        <a:t>UPDATE user::trinh_do_tieng_nhat</a:t>
                      </a:r>
                    </a:p>
                  </a:txBody>
                  <a:tcPr anchor="ctr">
                    <a:solidFill>
                      <a:srgbClr val="F4F4FA"/>
                    </a:solidFill>
                  </a:tcPr>
                </a:tc>
                <a:tc>
                  <a:txBody>
                    <a:bodyPr/>
                    <a:lstStyle/>
                    <a:p>
                      <a:pPr algn="l"/>
                      <a:r>
                        <a:rPr lang="en-US" sz="1300" b="1">
                          <a:solidFill>
                            <a:srgbClr val="3A36A0"/>
                          </a:solidFill>
                          <a:latin typeface="Consolas"/>
                        </a:rPr>
                        <a:t>#1 N5 superseded · #4 N4 active</a:t>
                      </a:r>
                    </a:p>
                  </a:txBody>
                  <a:tcPr anchor="ctr">
                    <a:solidFill>
                      <a:srgbClr val="F4F4FA"/>
                    </a:solidFill>
                  </a:tcPr>
                </a:tc>
                <a:extLst>
                  <a:ext uri="{0D108BD9-81ED-4DB2-BD59-A6C34878D82A}">
                    <a16:rowId xmlns:a16="http://schemas.microsoft.com/office/drawing/2014/main" val="3747153285"/>
                  </a:ext>
                </a:extLst>
              </a:tr>
            </a:tbl>
          </a:graphicData>
        </a:graphic>
      </p:graphicFrame>
      <p:sp>
        <p:nvSpPr>
          <p:cNvPr id="6" name="Rectangle 5">
            <a:extLst>
              <a:ext uri="{FF2B5EF4-FFF2-40B4-BE49-F238E27FC236}">
                <a16:creationId xmlns:a16="http://schemas.microsoft.com/office/drawing/2014/main" id="{317D9492-7036-4BB9-944E-441C1463267F}"/>
              </a:ext>
            </a:extLst>
          </p:cNvPr>
          <p:cNvSpPr/>
          <p:nvPr/>
        </p:nvSpPr>
        <p:spPr>
          <a:xfrm>
            <a:off x="571500" y="4318000"/>
            <a:ext cx="11049076" cy="14224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7A7E89FE-B7CA-4CB6-8122-4C3D1C517ADF}"/>
              </a:ext>
            </a:extLst>
          </p:cNvPr>
          <p:cNvSpPr txBox="1"/>
          <p:nvPr/>
        </p:nvSpPr>
        <p:spPr>
          <a:xfrm>
            <a:off x="890991" y="4495800"/>
            <a:ext cx="10383469" cy="330200"/>
          </a:xfrm>
          <a:prstGeom prst="rect">
            <a:avLst/>
          </a:prstGeom>
          <a:noFill/>
        </p:spPr>
        <p:txBody>
          <a:bodyPr vertOverflow="overflow" vert="horz" wrap="square" rtlCol="0" anchor="t">
            <a:noAutofit/>
          </a:bodyPr>
          <a:lstStyle/>
          <a:p>
            <a:pPr algn="l"/>
            <a:r>
              <a:rPr lang="pt-BR" sz="1600" b="1">
                <a:solidFill>
                  <a:srgbClr val="FFFFFF"/>
                </a:solidFill>
                <a:latin typeface="Consolas"/>
              </a:rPr>
              <a:t>current_value("trinh_do_tieng_nhat")  →  N4</a:t>
            </a:r>
            <a:endParaRPr lang="en-US" sz="1600" b="1">
              <a:solidFill>
                <a:srgbClr val="FFFFFF"/>
              </a:solidFill>
              <a:latin typeface="Consolas"/>
            </a:endParaRPr>
          </a:p>
        </p:txBody>
      </p:sp>
      <p:sp>
        <p:nvSpPr>
          <p:cNvPr id="8" name="TextBox 7">
            <a:extLst>
              <a:ext uri="{FF2B5EF4-FFF2-40B4-BE49-F238E27FC236}">
                <a16:creationId xmlns:a16="http://schemas.microsoft.com/office/drawing/2014/main" id="{A55F766C-D77F-44F4-8821-CBB1AE9034E4}"/>
              </a:ext>
            </a:extLst>
          </p:cNvPr>
          <p:cNvSpPr txBox="1"/>
          <p:nvPr/>
        </p:nvSpPr>
        <p:spPr>
          <a:xfrm>
            <a:off x="890991" y="4876800"/>
            <a:ext cx="10383469" cy="304800"/>
          </a:xfrm>
          <a:prstGeom prst="rect">
            <a:avLst/>
          </a:prstGeom>
          <a:noFill/>
        </p:spPr>
        <p:txBody>
          <a:bodyPr vertOverflow="overflow" vert="horz" wrap="square" rtlCol="0" anchor="t">
            <a:noAutofit/>
          </a:bodyPr>
          <a:lstStyle/>
          <a:p>
            <a:pPr algn="l"/>
            <a:r>
              <a:rPr lang="pt-BR" sz="1400">
                <a:solidFill>
                  <a:srgbClr val="FCEFD5"/>
                </a:solidFill>
                <a:latin typeface="Consolas"/>
              </a:rPr>
              <a:t>Lịch sử slot:  #1 N5 (superseded)  →  #4 N4 (active)</a:t>
            </a:r>
            <a:endParaRPr lang="en-US" sz="1400">
              <a:solidFill>
                <a:srgbClr val="FCEFD5"/>
              </a:solidFill>
              <a:latin typeface="Consolas"/>
            </a:endParaRPr>
          </a:p>
        </p:txBody>
      </p:sp>
      <p:sp>
        <p:nvSpPr>
          <p:cNvPr id="9" name="TextBox 8">
            <a:extLst>
              <a:ext uri="{FF2B5EF4-FFF2-40B4-BE49-F238E27FC236}">
                <a16:creationId xmlns:a16="http://schemas.microsoft.com/office/drawing/2014/main" id="{C082CCB3-78E1-4003-A805-1AB06069D82D}"/>
              </a:ext>
            </a:extLst>
          </p:cNvPr>
          <p:cNvSpPr txBox="1"/>
          <p:nvPr/>
        </p:nvSpPr>
        <p:spPr>
          <a:xfrm>
            <a:off x="890991" y="5232400"/>
            <a:ext cx="10383469" cy="304800"/>
          </a:xfrm>
          <a:prstGeom prst="rect">
            <a:avLst/>
          </a:prstGeom>
          <a:noFill/>
        </p:spPr>
        <p:txBody>
          <a:bodyPr vertOverflow="overflow" vert="horz" wrap="square" rtlCol="0" anchor="t">
            <a:noAutofit/>
          </a:bodyPr>
          <a:lstStyle/>
          <a:p>
            <a:pPr algn="l"/>
            <a:r>
              <a:rPr lang="en-US" sz="1400">
                <a:solidFill>
                  <a:srgbClr val="E7E6E6"/>
                </a:solidFill>
                <a:latin typeface="Consolas"/>
              </a:rPr>
              <a:t>Kho: 4 bản ghi · 3 active · 1 superseded · 0 deleted</a:t>
            </a:r>
          </a:p>
        </p:txBody>
      </p:sp>
    </p:spTree>
    <p:extLst>
      <p:ext uri="{BB962C8B-B14F-4D97-AF65-F5344CB8AC3E}">
        <p14:creationId xmlns:p14="http://schemas.microsoft.com/office/powerpoint/2010/main" val="504536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3DBD82-10B1-400A-A332-0AC04D5FCCCC}"/>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KẾT QUẢ TUẦN 2</a:t>
            </a:r>
          </a:p>
        </p:txBody>
      </p:sp>
      <p:sp>
        <p:nvSpPr>
          <p:cNvPr id="3" name="TextBox 2">
            <a:extLst>
              <a:ext uri="{FF2B5EF4-FFF2-40B4-BE49-F238E27FC236}">
                <a16:creationId xmlns:a16="http://schemas.microsoft.com/office/drawing/2014/main" id="{39441AC8-68D2-43F3-9B13-5F136F4024B4}"/>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8 test tự động — chạy offline, không tốn API</a:t>
            </a:r>
          </a:p>
        </p:txBody>
      </p:sp>
      <p:sp>
        <p:nvSpPr>
          <p:cNvPr id="4" name="Rectangle 3">
            <a:extLst>
              <a:ext uri="{FF2B5EF4-FFF2-40B4-BE49-F238E27FC236}">
                <a16:creationId xmlns:a16="http://schemas.microsoft.com/office/drawing/2014/main" id="{4F98664D-91EC-41EC-B9D6-89678BA60F7D}"/>
              </a:ext>
            </a:extLst>
          </p:cNvPr>
          <p:cNvSpPr/>
          <p:nvPr/>
        </p:nvSpPr>
        <p:spPr>
          <a:xfrm>
            <a:off x="571500" y="170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BEB0B8AF-D010-4A55-BDCA-981587B5BC1C}"/>
              </a:ext>
            </a:extLst>
          </p:cNvPr>
          <p:cNvSpPr/>
          <p:nvPr/>
        </p:nvSpPr>
        <p:spPr>
          <a:xfrm>
            <a:off x="731245" y="185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6" name="TextBox 5">
            <a:extLst>
              <a:ext uri="{FF2B5EF4-FFF2-40B4-BE49-F238E27FC236}">
                <a16:creationId xmlns:a16="http://schemas.microsoft.com/office/drawing/2014/main" id="{4BC40EA1-951A-4030-AC89-887E06827AC1}"/>
              </a:ext>
            </a:extLst>
          </p:cNvPr>
          <p:cNvSpPr txBox="1"/>
          <p:nvPr/>
        </p:nvSpPr>
        <p:spPr>
          <a:xfrm>
            <a:off x="1130609" y="176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test_add_fact_moi</a:t>
            </a:r>
          </a:p>
        </p:txBody>
      </p:sp>
      <p:sp>
        <p:nvSpPr>
          <p:cNvPr id="7" name="TextBox 6">
            <a:extLst>
              <a:ext uri="{FF2B5EF4-FFF2-40B4-BE49-F238E27FC236}">
                <a16:creationId xmlns:a16="http://schemas.microsoft.com/office/drawing/2014/main" id="{971AF79F-ED27-40B4-8C9D-67C3130E2A6D}"/>
              </a:ext>
            </a:extLst>
          </p:cNvPr>
          <p:cNvSpPr txBox="1"/>
          <p:nvPr/>
        </p:nvSpPr>
        <p:spPr>
          <a:xfrm>
            <a:off x="1130609" y="1993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fact mới tạo slot mới</a:t>
            </a:r>
          </a:p>
        </p:txBody>
      </p:sp>
      <p:sp>
        <p:nvSpPr>
          <p:cNvPr id="8" name="Rectangle 7">
            <a:extLst>
              <a:ext uri="{FF2B5EF4-FFF2-40B4-BE49-F238E27FC236}">
                <a16:creationId xmlns:a16="http://schemas.microsoft.com/office/drawing/2014/main" id="{B5D978A6-4D3E-466E-82B3-ED6F797D1A5D}"/>
              </a:ext>
            </a:extLst>
          </p:cNvPr>
          <p:cNvSpPr/>
          <p:nvPr/>
        </p:nvSpPr>
        <p:spPr>
          <a:xfrm>
            <a:off x="6229159" y="170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1A26F581-D27B-42AF-BC6A-50FF19A04D86}"/>
              </a:ext>
            </a:extLst>
          </p:cNvPr>
          <p:cNvSpPr/>
          <p:nvPr/>
        </p:nvSpPr>
        <p:spPr>
          <a:xfrm>
            <a:off x="6388905" y="185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10" name="TextBox 9">
            <a:extLst>
              <a:ext uri="{FF2B5EF4-FFF2-40B4-BE49-F238E27FC236}">
                <a16:creationId xmlns:a16="http://schemas.microsoft.com/office/drawing/2014/main" id="{2F0C2088-9D30-47A6-A805-9FB6C1807191}"/>
              </a:ext>
            </a:extLst>
          </p:cNvPr>
          <p:cNvSpPr txBox="1"/>
          <p:nvPr/>
        </p:nvSpPr>
        <p:spPr>
          <a:xfrm>
            <a:off x="6788269" y="176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test_noop_khi_lap_lai_cung_gia_tri</a:t>
            </a:r>
          </a:p>
        </p:txBody>
      </p:sp>
      <p:sp>
        <p:nvSpPr>
          <p:cNvPr id="11" name="TextBox 10">
            <a:extLst>
              <a:ext uri="{FF2B5EF4-FFF2-40B4-BE49-F238E27FC236}">
                <a16:creationId xmlns:a16="http://schemas.microsoft.com/office/drawing/2014/main" id="{18A2958D-2F9C-4B91-90EA-6711E2B76703}"/>
              </a:ext>
            </a:extLst>
          </p:cNvPr>
          <p:cNvSpPr txBox="1"/>
          <p:nvPr/>
        </p:nvSpPr>
        <p:spPr>
          <a:xfrm>
            <a:off x="6788269" y="1993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nhắc lại cùng giá trị không sinh bản ghi thừa</a:t>
            </a:r>
          </a:p>
        </p:txBody>
      </p:sp>
      <p:sp>
        <p:nvSpPr>
          <p:cNvPr id="12" name="Rectangle 11">
            <a:extLst>
              <a:ext uri="{FF2B5EF4-FFF2-40B4-BE49-F238E27FC236}">
                <a16:creationId xmlns:a16="http://schemas.microsoft.com/office/drawing/2014/main" id="{45D87744-04C2-4F1C-ADC7-A539DD5F5053}"/>
              </a:ext>
            </a:extLst>
          </p:cNvPr>
          <p:cNvSpPr/>
          <p:nvPr/>
        </p:nvSpPr>
        <p:spPr>
          <a:xfrm>
            <a:off x="571500" y="233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24DF5EFA-E2C9-431C-848B-CDDF60BE4A25}"/>
              </a:ext>
            </a:extLst>
          </p:cNvPr>
          <p:cNvSpPr/>
          <p:nvPr/>
        </p:nvSpPr>
        <p:spPr>
          <a:xfrm>
            <a:off x="731245" y="248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14" name="TextBox 13">
            <a:extLst>
              <a:ext uri="{FF2B5EF4-FFF2-40B4-BE49-F238E27FC236}">
                <a16:creationId xmlns:a16="http://schemas.microsoft.com/office/drawing/2014/main" id="{38F38F70-C85F-41BE-A705-D2C5BBAE2F78}"/>
              </a:ext>
            </a:extLst>
          </p:cNvPr>
          <p:cNvSpPr txBox="1"/>
          <p:nvPr/>
        </p:nvSpPr>
        <p:spPr>
          <a:xfrm>
            <a:off x="1130609" y="2400300"/>
            <a:ext cx="4685873" cy="228600"/>
          </a:xfrm>
          <a:prstGeom prst="rect">
            <a:avLst/>
          </a:prstGeom>
          <a:noFill/>
        </p:spPr>
        <p:txBody>
          <a:bodyPr vertOverflow="overflow" vert="horz" wrap="square" rtlCol="0" anchor="t">
            <a:noAutofit/>
          </a:bodyPr>
          <a:lstStyle/>
          <a:p>
            <a:pPr algn="l"/>
            <a:r>
              <a:rPr lang="pt-BR" sz="1200" b="1">
                <a:solidFill>
                  <a:srgbClr val="3A36A0"/>
                </a:solidFill>
                <a:latin typeface="Consolas"/>
              </a:rPr>
              <a:t>test_update_n5_sang_n4</a:t>
            </a:r>
            <a:endParaRPr lang="en-US" sz="1200" b="1">
              <a:solidFill>
                <a:srgbClr val="3A36A0"/>
              </a:solidFill>
              <a:latin typeface="Consolas"/>
            </a:endParaRPr>
          </a:p>
        </p:txBody>
      </p:sp>
      <p:sp>
        <p:nvSpPr>
          <p:cNvPr id="15" name="TextBox 14">
            <a:extLst>
              <a:ext uri="{FF2B5EF4-FFF2-40B4-BE49-F238E27FC236}">
                <a16:creationId xmlns:a16="http://schemas.microsoft.com/office/drawing/2014/main" id="{75900082-0845-4835-B22F-45D8849CF3D4}"/>
              </a:ext>
            </a:extLst>
          </p:cNvPr>
          <p:cNvSpPr txBox="1"/>
          <p:nvPr/>
        </p:nvSpPr>
        <p:spPr>
          <a:xfrm>
            <a:off x="1130609" y="2628900"/>
            <a:ext cx="4685873" cy="228600"/>
          </a:xfrm>
          <a:prstGeom prst="rect">
            <a:avLst/>
          </a:prstGeom>
          <a:noFill/>
        </p:spPr>
        <p:txBody>
          <a:bodyPr vertOverflow="overflow" vert="horz" wrap="square" rtlCol="0" anchor="t">
            <a:noAutofit/>
          </a:bodyPr>
          <a:lstStyle/>
          <a:p>
            <a:pPr algn="l"/>
            <a:r>
              <a:rPr lang="vi-VN" sz="1200">
                <a:solidFill>
                  <a:srgbClr val="6A6E85"/>
                </a:solidFill>
                <a:latin typeface="Calibri"/>
                <a:ea typeface="Calibri"/>
                <a:cs typeface="Calibri"/>
              </a:rPr>
              <a:t>đổi giá trị, bản cũ thành superseded, seq mới lớn hơn</a:t>
            </a:r>
            <a:endParaRPr lang="en-US" sz="1200">
              <a:solidFill>
                <a:srgbClr val="6A6E85"/>
              </a:solidFill>
              <a:latin typeface="Calibri"/>
              <a:ea typeface="Calibri"/>
              <a:cs typeface="Calibri"/>
            </a:endParaRPr>
          </a:p>
        </p:txBody>
      </p:sp>
      <p:sp>
        <p:nvSpPr>
          <p:cNvPr id="16" name="Rectangle 15">
            <a:extLst>
              <a:ext uri="{FF2B5EF4-FFF2-40B4-BE49-F238E27FC236}">
                <a16:creationId xmlns:a16="http://schemas.microsoft.com/office/drawing/2014/main" id="{9857A42F-00A2-4D63-95C4-52D0C006E87B}"/>
              </a:ext>
            </a:extLst>
          </p:cNvPr>
          <p:cNvSpPr/>
          <p:nvPr/>
        </p:nvSpPr>
        <p:spPr>
          <a:xfrm>
            <a:off x="6229159" y="233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B817C2D9-C239-4714-A449-CC4A38054D7D}"/>
              </a:ext>
            </a:extLst>
          </p:cNvPr>
          <p:cNvSpPr/>
          <p:nvPr/>
        </p:nvSpPr>
        <p:spPr>
          <a:xfrm>
            <a:off x="6388905" y="248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18" name="TextBox 17">
            <a:extLst>
              <a:ext uri="{FF2B5EF4-FFF2-40B4-BE49-F238E27FC236}">
                <a16:creationId xmlns:a16="http://schemas.microsoft.com/office/drawing/2014/main" id="{29CF7E5E-916A-4B66-9B3C-44263A3C3C9D}"/>
              </a:ext>
            </a:extLst>
          </p:cNvPr>
          <p:cNvSpPr txBox="1"/>
          <p:nvPr/>
        </p:nvSpPr>
        <p:spPr>
          <a:xfrm>
            <a:off x="6788269" y="2400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test_chuoi_cap_nhat_nhieu_buoc</a:t>
            </a:r>
          </a:p>
        </p:txBody>
      </p:sp>
      <p:sp>
        <p:nvSpPr>
          <p:cNvPr id="19" name="TextBox 18">
            <a:extLst>
              <a:ext uri="{FF2B5EF4-FFF2-40B4-BE49-F238E27FC236}">
                <a16:creationId xmlns:a16="http://schemas.microsoft.com/office/drawing/2014/main" id="{7B3DE488-5BAF-479E-A873-E9B308EFE18A}"/>
              </a:ext>
            </a:extLst>
          </p:cNvPr>
          <p:cNvSpPr txBox="1"/>
          <p:nvPr/>
        </p:nvSpPr>
        <p:spPr>
          <a:xfrm>
            <a:off x="6788269" y="2628900"/>
            <a:ext cx="4685873" cy="228600"/>
          </a:xfrm>
          <a:prstGeom prst="rect">
            <a:avLst/>
          </a:prstGeom>
          <a:noFill/>
        </p:spPr>
        <p:txBody>
          <a:bodyPr vertOverflow="overflow" vert="horz" wrap="square" rtlCol="0" anchor="t">
            <a:noAutofit/>
          </a:bodyPr>
          <a:lstStyle/>
          <a:p>
            <a:pPr algn="l"/>
            <a:r>
              <a:rPr lang="pt-BR" sz="1200">
                <a:solidFill>
                  <a:srgbClr val="6A6E85"/>
                </a:solidFill>
                <a:latin typeface="Calibri"/>
                <a:ea typeface="Calibri"/>
                <a:cs typeface="Calibri"/>
              </a:rPr>
              <a:t>N5 → N4 → N3, luôn trả bản cuối</a:t>
            </a:r>
            <a:endParaRPr lang="en-US" sz="1200">
              <a:solidFill>
                <a:srgbClr val="6A6E85"/>
              </a:solidFill>
              <a:latin typeface="Calibri"/>
              <a:ea typeface="Calibri"/>
              <a:cs typeface="Calibri"/>
            </a:endParaRPr>
          </a:p>
        </p:txBody>
      </p:sp>
      <p:sp>
        <p:nvSpPr>
          <p:cNvPr id="20" name="Rectangle 19">
            <a:extLst>
              <a:ext uri="{FF2B5EF4-FFF2-40B4-BE49-F238E27FC236}">
                <a16:creationId xmlns:a16="http://schemas.microsoft.com/office/drawing/2014/main" id="{D6070341-0FE0-4C47-93C5-ABE98FC3F2AE}"/>
              </a:ext>
            </a:extLst>
          </p:cNvPr>
          <p:cNvSpPr/>
          <p:nvPr/>
        </p:nvSpPr>
        <p:spPr>
          <a:xfrm>
            <a:off x="571500" y="297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38F42629-B729-4ED2-AF36-62CFD2458BA9}"/>
              </a:ext>
            </a:extLst>
          </p:cNvPr>
          <p:cNvSpPr/>
          <p:nvPr/>
        </p:nvSpPr>
        <p:spPr>
          <a:xfrm>
            <a:off x="731245" y="312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22" name="TextBox 21">
            <a:extLst>
              <a:ext uri="{FF2B5EF4-FFF2-40B4-BE49-F238E27FC236}">
                <a16:creationId xmlns:a16="http://schemas.microsoft.com/office/drawing/2014/main" id="{162707A5-E1D8-4CDA-ABA3-8DAC26B36B66}"/>
              </a:ext>
            </a:extLst>
          </p:cNvPr>
          <p:cNvSpPr txBox="1"/>
          <p:nvPr/>
        </p:nvSpPr>
        <p:spPr>
          <a:xfrm>
            <a:off x="1130609" y="303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test_delete_khi_phu_dinh</a:t>
            </a:r>
          </a:p>
        </p:txBody>
      </p:sp>
      <p:sp>
        <p:nvSpPr>
          <p:cNvPr id="23" name="TextBox 22">
            <a:extLst>
              <a:ext uri="{FF2B5EF4-FFF2-40B4-BE49-F238E27FC236}">
                <a16:creationId xmlns:a16="http://schemas.microsoft.com/office/drawing/2014/main" id="{7A77F02D-299D-4090-B54A-04B4016CD5D9}"/>
              </a:ext>
            </a:extLst>
          </p:cNvPr>
          <p:cNvSpPr txBox="1"/>
          <p:nvPr/>
        </p:nvSpPr>
        <p:spPr>
          <a:xfrm>
            <a:off x="1130609" y="3263900"/>
            <a:ext cx="4685873" cy="228600"/>
          </a:xfrm>
          <a:prstGeom prst="rect">
            <a:avLst/>
          </a:prstGeom>
          <a:noFill/>
        </p:spPr>
        <p:txBody>
          <a:bodyPr vertOverflow="overflow" vert="horz" wrap="square" rtlCol="0" anchor="t">
            <a:noAutofit/>
          </a:bodyPr>
          <a:lstStyle/>
          <a:p>
            <a:pPr algn="l"/>
            <a:r>
              <a:rPr lang="vi-VN" sz="1200">
                <a:solidFill>
                  <a:srgbClr val="6A6E85"/>
                </a:solidFill>
                <a:latin typeface="Calibri"/>
                <a:ea typeface="Calibri"/>
                <a:cs typeface="Calibri"/>
              </a:rPr>
              <a:t>người dùng phủ định thì fact bị vô hiệu</a:t>
            </a:r>
            <a:endParaRPr lang="en-US" sz="1200">
              <a:solidFill>
                <a:srgbClr val="6A6E85"/>
              </a:solidFill>
              <a:latin typeface="Calibri"/>
              <a:ea typeface="Calibri"/>
              <a:cs typeface="Calibri"/>
            </a:endParaRPr>
          </a:p>
        </p:txBody>
      </p:sp>
      <p:sp>
        <p:nvSpPr>
          <p:cNvPr id="24" name="Rectangle 23">
            <a:extLst>
              <a:ext uri="{FF2B5EF4-FFF2-40B4-BE49-F238E27FC236}">
                <a16:creationId xmlns:a16="http://schemas.microsoft.com/office/drawing/2014/main" id="{F8AEADAA-ECB1-48EA-9880-FB328E80AB3C}"/>
              </a:ext>
            </a:extLst>
          </p:cNvPr>
          <p:cNvSpPr/>
          <p:nvPr/>
        </p:nvSpPr>
        <p:spPr>
          <a:xfrm>
            <a:off x="6229159" y="2971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Oval 24">
            <a:extLst>
              <a:ext uri="{FF2B5EF4-FFF2-40B4-BE49-F238E27FC236}">
                <a16:creationId xmlns:a16="http://schemas.microsoft.com/office/drawing/2014/main" id="{F1DB2471-57BC-4347-9A5E-244C7E93E1EA}"/>
              </a:ext>
            </a:extLst>
          </p:cNvPr>
          <p:cNvSpPr/>
          <p:nvPr/>
        </p:nvSpPr>
        <p:spPr>
          <a:xfrm>
            <a:off x="6388905" y="3124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26" name="TextBox 25">
            <a:extLst>
              <a:ext uri="{FF2B5EF4-FFF2-40B4-BE49-F238E27FC236}">
                <a16:creationId xmlns:a16="http://schemas.microsoft.com/office/drawing/2014/main" id="{3517877B-46A0-4242-BC20-9B51816AF787}"/>
              </a:ext>
            </a:extLst>
          </p:cNvPr>
          <p:cNvSpPr txBox="1"/>
          <p:nvPr/>
        </p:nvSpPr>
        <p:spPr>
          <a:xfrm>
            <a:off x="6788269" y="3035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test_truy_xuat_khong_tra_ve_ban_cu</a:t>
            </a:r>
          </a:p>
        </p:txBody>
      </p:sp>
      <p:sp>
        <p:nvSpPr>
          <p:cNvPr id="27" name="TextBox 26">
            <a:extLst>
              <a:ext uri="{FF2B5EF4-FFF2-40B4-BE49-F238E27FC236}">
                <a16:creationId xmlns:a16="http://schemas.microsoft.com/office/drawing/2014/main" id="{E9C237F0-1C09-4AFF-8277-A0976EF682C3}"/>
              </a:ext>
            </a:extLst>
          </p:cNvPr>
          <p:cNvSpPr txBox="1"/>
          <p:nvPr/>
        </p:nvSpPr>
        <p:spPr>
          <a:xfrm>
            <a:off x="6788269" y="3263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bản superseded không lọt vào kết quả</a:t>
            </a:r>
          </a:p>
        </p:txBody>
      </p:sp>
      <p:sp>
        <p:nvSpPr>
          <p:cNvPr id="28" name="Rectangle 27">
            <a:extLst>
              <a:ext uri="{FF2B5EF4-FFF2-40B4-BE49-F238E27FC236}">
                <a16:creationId xmlns:a16="http://schemas.microsoft.com/office/drawing/2014/main" id="{06BED9E2-34FF-4286-A1D0-5950ACF5214B}"/>
              </a:ext>
            </a:extLst>
          </p:cNvPr>
          <p:cNvSpPr/>
          <p:nvPr/>
        </p:nvSpPr>
        <p:spPr>
          <a:xfrm>
            <a:off x="571500" y="360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Oval 28">
            <a:extLst>
              <a:ext uri="{FF2B5EF4-FFF2-40B4-BE49-F238E27FC236}">
                <a16:creationId xmlns:a16="http://schemas.microsoft.com/office/drawing/2014/main" id="{3BA2B9B7-4CBB-44A3-8DFB-93EE97FBD25C}"/>
              </a:ext>
            </a:extLst>
          </p:cNvPr>
          <p:cNvSpPr/>
          <p:nvPr/>
        </p:nvSpPr>
        <p:spPr>
          <a:xfrm>
            <a:off x="731245" y="375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30" name="TextBox 29">
            <a:extLst>
              <a:ext uri="{FF2B5EF4-FFF2-40B4-BE49-F238E27FC236}">
                <a16:creationId xmlns:a16="http://schemas.microsoft.com/office/drawing/2014/main" id="{E34F4532-4A41-4E95-B805-D1BA52641D10}"/>
              </a:ext>
            </a:extLst>
          </p:cNvPr>
          <p:cNvSpPr txBox="1"/>
          <p:nvPr/>
        </p:nvSpPr>
        <p:spPr>
          <a:xfrm>
            <a:off x="1130609" y="3670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test_bo_nho_ton_tai_xuyen_phien</a:t>
            </a:r>
          </a:p>
        </p:txBody>
      </p:sp>
      <p:sp>
        <p:nvSpPr>
          <p:cNvPr id="31" name="TextBox 30">
            <a:extLst>
              <a:ext uri="{FF2B5EF4-FFF2-40B4-BE49-F238E27FC236}">
                <a16:creationId xmlns:a16="http://schemas.microsoft.com/office/drawing/2014/main" id="{F442B57D-7AD9-4EDC-A1ED-66FEA37A0E8C}"/>
              </a:ext>
            </a:extLst>
          </p:cNvPr>
          <p:cNvSpPr txBox="1"/>
          <p:nvPr/>
        </p:nvSpPr>
        <p:spPr>
          <a:xfrm>
            <a:off x="1130609" y="3898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ghi ở phiên 1, dùng lại ở phiên 12</a:t>
            </a:r>
          </a:p>
        </p:txBody>
      </p:sp>
      <p:sp>
        <p:nvSpPr>
          <p:cNvPr id="32" name="Rectangle 31">
            <a:extLst>
              <a:ext uri="{FF2B5EF4-FFF2-40B4-BE49-F238E27FC236}">
                <a16:creationId xmlns:a16="http://schemas.microsoft.com/office/drawing/2014/main" id="{E432BA64-DC5F-466A-95FF-913BF66127CA}"/>
              </a:ext>
            </a:extLst>
          </p:cNvPr>
          <p:cNvSpPr/>
          <p:nvPr/>
        </p:nvSpPr>
        <p:spPr>
          <a:xfrm>
            <a:off x="6229159" y="3606800"/>
            <a:ext cx="5391416" cy="558800"/>
          </a:xfrm>
          <a:prstGeom prst="rect">
            <a:avLst/>
          </a:prstGeom>
          <a:solidFill>
            <a:srgbClr val="F4F4F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Oval 32">
            <a:extLst>
              <a:ext uri="{FF2B5EF4-FFF2-40B4-BE49-F238E27FC236}">
                <a16:creationId xmlns:a16="http://schemas.microsoft.com/office/drawing/2014/main" id="{827A2E75-E0B3-4268-BF49-FED3AAE8FF65}"/>
              </a:ext>
            </a:extLst>
          </p:cNvPr>
          <p:cNvSpPr/>
          <p:nvPr/>
        </p:nvSpPr>
        <p:spPr>
          <a:xfrm>
            <a:off x="6388905" y="3759200"/>
            <a:ext cx="266242" cy="2540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50" b="1">
                <a:solidFill>
                  <a:srgbClr val="FFFFFF"/>
                </a:solidFill>
                <a:latin typeface="Calibri"/>
                <a:ea typeface="Calibri"/>
                <a:cs typeface="Calibri"/>
              </a:rPr>
              <a:t>✓</a:t>
            </a:r>
          </a:p>
        </p:txBody>
      </p:sp>
      <p:sp>
        <p:nvSpPr>
          <p:cNvPr id="34" name="TextBox 33">
            <a:extLst>
              <a:ext uri="{FF2B5EF4-FFF2-40B4-BE49-F238E27FC236}">
                <a16:creationId xmlns:a16="http://schemas.microsoft.com/office/drawing/2014/main" id="{C9D35651-9AFE-435F-A8DB-DF1C28D3A284}"/>
              </a:ext>
            </a:extLst>
          </p:cNvPr>
          <p:cNvSpPr txBox="1"/>
          <p:nvPr/>
        </p:nvSpPr>
        <p:spPr>
          <a:xfrm>
            <a:off x="6788269" y="3670300"/>
            <a:ext cx="4685873" cy="228600"/>
          </a:xfrm>
          <a:prstGeom prst="rect">
            <a:avLst/>
          </a:prstGeom>
          <a:noFill/>
        </p:spPr>
        <p:txBody>
          <a:bodyPr vertOverflow="overflow" vert="horz" wrap="square" rtlCol="0" anchor="t">
            <a:noAutofit/>
          </a:bodyPr>
          <a:lstStyle/>
          <a:p>
            <a:pPr algn="l"/>
            <a:r>
              <a:rPr lang="en-US" sz="1200" b="1">
                <a:solidFill>
                  <a:srgbClr val="3A36A0"/>
                </a:solidFill>
                <a:latin typeface="Consolas"/>
              </a:rPr>
              <a:t>test_seq_don_dieu</a:t>
            </a:r>
          </a:p>
        </p:txBody>
      </p:sp>
      <p:sp>
        <p:nvSpPr>
          <p:cNvPr id="35" name="TextBox 34">
            <a:extLst>
              <a:ext uri="{FF2B5EF4-FFF2-40B4-BE49-F238E27FC236}">
                <a16:creationId xmlns:a16="http://schemas.microsoft.com/office/drawing/2014/main" id="{B314F0A9-DA38-4ABA-9AEB-AD9835EA9B0A}"/>
              </a:ext>
            </a:extLst>
          </p:cNvPr>
          <p:cNvSpPr txBox="1"/>
          <p:nvPr/>
        </p:nvSpPr>
        <p:spPr>
          <a:xfrm>
            <a:off x="6788269" y="3898900"/>
            <a:ext cx="4685873" cy="228600"/>
          </a:xfrm>
          <a:prstGeom prst="rect">
            <a:avLst/>
          </a:prstGeom>
          <a:noFill/>
        </p:spPr>
        <p:txBody>
          <a:bodyPr vertOverflow="overflow" vert="horz" wrap="square" rtlCol="0" anchor="t">
            <a:noAutofit/>
          </a:bodyPr>
          <a:lstStyle/>
          <a:p>
            <a:pPr algn="l"/>
            <a:r>
              <a:rPr lang="en-US" sz="1200">
                <a:solidFill>
                  <a:srgbClr val="6A6E85"/>
                </a:solidFill>
                <a:latin typeface="Calibri"/>
                <a:ea typeface="Calibri"/>
                <a:cs typeface="Calibri"/>
              </a:rPr>
              <a:t>số thứ tự luôn tăng, không trùng</a:t>
            </a:r>
          </a:p>
        </p:txBody>
      </p:sp>
      <p:sp>
        <p:nvSpPr>
          <p:cNvPr id="36" name="Rectangle 35">
            <a:extLst>
              <a:ext uri="{FF2B5EF4-FFF2-40B4-BE49-F238E27FC236}">
                <a16:creationId xmlns:a16="http://schemas.microsoft.com/office/drawing/2014/main" id="{C6CCBA84-BCAA-4686-9D73-71D7A9EED97E}"/>
              </a:ext>
            </a:extLst>
          </p:cNvPr>
          <p:cNvSpPr/>
          <p:nvPr/>
        </p:nvSpPr>
        <p:spPr>
          <a:xfrm>
            <a:off x="571500" y="4368800"/>
            <a:ext cx="11049076" cy="12700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a:extLst>
              <a:ext uri="{FF2B5EF4-FFF2-40B4-BE49-F238E27FC236}">
                <a16:creationId xmlns:a16="http://schemas.microsoft.com/office/drawing/2014/main" id="{CCB1F23E-3466-4F78-B0F0-FFD8994C89CE}"/>
              </a:ext>
            </a:extLst>
          </p:cNvPr>
          <p:cNvSpPr/>
          <p:nvPr/>
        </p:nvSpPr>
        <p:spPr>
          <a:xfrm>
            <a:off x="571500" y="4368800"/>
            <a:ext cx="66560" cy="12700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38" name="TextBox 37">
            <a:extLst>
              <a:ext uri="{FF2B5EF4-FFF2-40B4-BE49-F238E27FC236}">
                <a16:creationId xmlns:a16="http://schemas.microsoft.com/office/drawing/2014/main" id="{C7E72B7C-2318-428C-94A2-73EF863114E8}"/>
              </a:ext>
            </a:extLst>
          </p:cNvPr>
          <p:cNvSpPr txBox="1"/>
          <p:nvPr/>
        </p:nvSpPr>
        <p:spPr>
          <a:xfrm>
            <a:off x="864367" y="4648200"/>
            <a:ext cx="10516590" cy="762000"/>
          </a:xfrm>
          <a:prstGeom prst="rect">
            <a:avLst/>
          </a:prstGeom>
          <a:noFill/>
        </p:spPr>
        <p:txBody>
          <a:bodyPr vertOverflow="overflow" vert="horz" wrap="square" rtlCol="0" anchor="t">
            <a:noAutofit/>
          </a:bodyPr>
          <a:lstStyle/>
          <a:p>
            <a:pPr algn="l"/>
            <a:r>
              <a:rPr lang="vi-VN" sz="1400" b="1">
                <a:solidFill>
                  <a:srgbClr val="3A36A0"/>
                </a:solidFill>
                <a:latin typeface="Calibri"/>
                <a:ea typeface="Calibri"/>
                <a:cs typeface="Calibri"/>
              </a:rPr>
              <a:t>Toàn bộ test chạy với LLM giả lập → không cần API key, không tốn tiền, kết quả lặp lại được.
Đây cũng là baseline “no-LLM” để tách bạch: phần nào của kết quả đến từ mô hình, phần nào đến từ cơ chế bộ nhớ.</a:t>
            </a:r>
            <a:endParaRPr lang="en-US" sz="1400" b="1">
              <a:solidFill>
                <a:srgbClr val="3A36A0"/>
              </a:solidFill>
              <a:latin typeface="Calibri"/>
              <a:ea typeface="Calibri"/>
              <a:cs typeface="Calibri"/>
            </a:endParaRPr>
          </a:p>
        </p:txBody>
      </p:sp>
    </p:spTree>
    <p:extLst>
      <p:ext uri="{BB962C8B-B14F-4D97-AF65-F5344CB8AC3E}">
        <p14:creationId xmlns:p14="http://schemas.microsoft.com/office/powerpoint/2010/main" val="873690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30AEFE-FA84-46A5-A777-64E745A1C085}"/>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KẾ HOẠCH</a:t>
            </a:r>
          </a:p>
        </p:txBody>
      </p:sp>
      <p:sp>
        <p:nvSpPr>
          <p:cNvPr id="3" name="TextBox 2">
            <a:extLst>
              <a:ext uri="{FF2B5EF4-FFF2-40B4-BE49-F238E27FC236}">
                <a16:creationId xmlns:a16="http://schemas.microsoft.com/office/drawing/2014/main" id="{41C322EB-329B-4FA3-A332-E3EA4B61A223}"/>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Bốn cấu hình sẽ đem ra so sánh</a:t>
            </a:r>
          </a:p>
        </p:txBody>
      </p:sp>
      <p:graphicFrame>
        <p:nvGraphicFramePr>
          <p:cNvPr id="5" name="Table 4">
            <a:extLst>
              <a:ext uri="{FF2B5EF4-FFF2-40B4-BE49-F238E27FC236}">
                <a16:creationId xmlns:a16="http://schemas.microsoft.com/office/drawing/2014/main" id="{949417E6-6EE5-41D1-8504-F6A9F2061964}"/>
              </a:ext>
            </a:extLst>
          </p:cNvPr>
          <p:cNvGraphicFramePr>
            <a:graphicFrameLocks noGrp="1"/>
          </p:cNvGraphicFramePr>
          <p:nvPr>
            <p:extLst>
              <p:ext uri="{D42A27DB-BD31-4B8C-83A1-F6EECF244321}">
                <p14:modId xmlns:p14="http://schemas.microsoft.com/office/powerpoint/2010/main" val="3748417566"/>
              </p:ext>
            </p:extLst>
          </p:nvPr>
        </p:nvGraphicFramePr>
        <p:xfrm>
          <a:off x="571500" y="1727200"/>
          <a:ext cx="11049076" cy="2387600"/>
        </p:xfrm>
        <a:graphic>
          <a:graphicData uri="http://schemas.openxmlformats.org/drawingml/2006/table">
            <a:tbl>
              <a:tblPr firstRow="1" bandRow="1">
                <a:tableStyleId>{5C22544A-7EE6-4342-B048-85BDC9FD1C3A}</a:tableStyleId>
              </a:tblPr>
              <a:tblGrid>
                <a:gridCol w="2662427">
                  <a:extLst>
                    <a:ext uri="{9D8B030D-6E8A-4147-A177-3AD203B41FA5}">
                      <a16:colId xmlns:a16="http://schemas.microsoft.com/office/drawing/2014/main" val="2750684259"/>
                    </a:ext>
                  </a:extLst>
                </a:gridCol>
                <a:gridCol w="3860520">
                  <a:extLst>
                    <a:ext uri="{9D8B030D-6E8A-4147-A177-3AD203B41FA5}">
                      <a16:colId xmlns:a16="http://schemas.microsoft.com/office/drawing/2014/main" val="2219777279"/>
                    </a:ext>
                  </a:extLst>
                </a:gridCol>
                <a:gridCol w="4526129">
                  <a:extLst>
                    <a:ext uri="{9D8B030D-6E8A-4147-A177-3AD203B41FA5}">
                      <a16:colId xmlns:a16="http://schemas.microsoft.com/office/drawing/2014/main" val="3119026326"/>
                    </a:ext>
                  </a:extLst>
                </a:gridCol>
              </a:tblGrid>
              <a:tr h="355600">
                <a:tc>
                  <a:txBody>
                    <a:bodyPr/>
                    <a:lstStyle/>
                    <a:p>
                      <a:pPr algn="l"/>
                      <a:r>
                        <a:rPr lang="en-US" sz="1200" b="1">
                          <a:solidFill>
                            <a:srgbClr val="FFFFFF"/>
                          </a:solidFill>
                          <a:latin typeface="Calibri"/>
                          <a:ea typeface="Calibri"/>
                          <a:cs typeface="Calibri"/>
                        </a:rPr>
                        <a:t>CẤU HÌNH</a:t>
                      </a:r>
                    </a:p>
                  </a:txBody>
                  <a:tcPr anchor="ctr">
                    <a:solidFill>
                      <a:srgbClr val="13123A"/>
                    </a:solidFill>
                  </a:tcPr>
                </a:tc>
                <a:tc>
                  <a:txBody>
                    <a:bodyPr/>
                    <a:lstStyle/>
                    <a:p>
                      <a:pPr algn="l"/>
                      <a:r>
                        <a:rPr lang="en-US" sz="1200" b="1">
                          <a:solidFill>
                            <a:srgbClr val="FFFFFF"/>
                          </a:solidFill>
                          <a:latin typeface="Calibri"/>
                          <a:ea typeface="Calibri"/>
                          <a:cs typeface="Calibri"/>
                        </a:rPr>
                        <a:t>MÔ TẢ</a:t>
                      </a:r>
                    </a:p>
                  </a:txBody>
                  <a:tcPr anchor="ctr">
                    <a:solidFill>
                      <a:srgbClr val="13123A"/>
                    </a:solidFill>
                  </a:tcPr>
                </a:tc>
                <a:tc>
                  <a:txBody>
                    <a:bodyPr/>
                    <a:lstStyle/>
                    <a:p>
                      <a:pPr algn="l"/>
                      <a:r>
                        <a:rPr lang="en-US" sz="1200" b="1">
                          <a:solidFill>
                            <a:srgbClr val="FFFFFF"/>
                          </a:solidFill>
                          <a:latin typeface="Calibri"/>
                          <a:ea typeface="Calibri"/>
                          <a:cs typeface="Calibri"/>
                        </a:rPr>
                        <a:t>DÙNG ĐỂ CHỨNG MINH</a:t>
                      </a:r>
                    </a:p>
                  </a:txBody>
                  <a:tcPr anchor="ctr">
                    <a:solidFill>
                      <a:srgbClr val="13123A"/>
                    </a:solidFill>
                  </a:tcPr>
                </a:tc>
                <a:extLst>
                  <a:ext uri="{0D108BD9-81ED-4DB2-BD59-A6C34878D82A}">
                    <a16:rowId xmlns:a16="http://schemas.microsoft.com/office/drawing/2014/main" val="336598562"/>
                  </a:ext>
                </a:extLst>
              </a:tr>
              <a:tr h="508000">
                <a:tc>
                  <a:txBody>
                    <a:bodyPr/>
                    <a:lstStyle/>
                    <a:p>
                      <a:pPr algn="l"/>
                      <a:r>
                        <a:rPr lang="en-US" sz="1300" b="1">
                          <a:solidFill>
                            <a:srgbClr val="3A36A0"/>
                          </a:solidFill>
                          <a:latin typeface="Consolas"/>
                        </a:rPr>
                        <a:t>full-context</a:t>
                      </a:r>
                    </a:p>
                  </a:txBody>
                  <a:tcPr anchor="ctr">
                    <a:solidFill>
                      <a:srgbClr val="FFFFFF"/>
                    </a:solidFill>
                  </a:tcPr>
                </a:tc>
                <a:tc>
                  <a:txBody>
                    <a:bodyPr/>
                    <a:lstStyle/>
                    <a:p>
                      <a:pPr algn="l"/>
                      <a:r>
                        <a:rPr lang="en-US" sz="1300">
                          <a:solidFill>
                            <a:srgbClr val="13123A"/>
                          </a:solidFill>
                          <a:latin typeface="Calibri"/>
                          <a:ea typeface="Calibri"/>
                          <a:cs typeface="Calibri"/>
                        </a:rPr>
                        <a:t>Nhồi toàn bộ lịch sử vào prompt</a:t>
                      </a:r>
                    </a:p>
                  </a:txBody>
                  <a:tcPr anchor="ctr">
                    <a:solidFill>
                      <a:srgbClr val="FFFFFF"/>
                    </a:solidFill>
                  </a:tcPr>
                </a:tc>
                <a:tc>
                  <a:txBody>
                    <a:bodyPr/>
                    <a:lstStyle/>
                    <a:p>
                      <a:pPr algn="l"/>
                      <a:r>
                        <a:rPr lang="en-US" sz="1300">
                          <a:solidFill>
                            <a:srgbClr val="13123A"/>
                          </a:solidFill>
                          <a:latin typeface="Calibri"/>
                          <a:ea typeface="Calibri"/>
                          <a:cs typeface="Calibri"/>
                        </a:rPr>
                        <a:t>Baseline trên — cho thấy chi phí token</a:t>
                      </a:r>
                    </a:p>
                  </a:txBody>
                  <a:tcPr anchor="ctr">
                    <a:solidFill>
                      <a:srgbClr val="FFFFFF"/>
                    </a:solidFill>
                  </a:tcPr>
                </a:tc>
                <a:extLst>
                  <a:ext uri="{0D108BD9-81ED-4DB2-BD59-A6C34878D82A}">
                    <a16:rowId xmlns:a16="http://schemas.microsoft.com/office/drawing/2014/main" val="2288369537"/>
                  </a:ext>
                </a:extLst>
              </a:tr>
              <a:tr h="508000">
                <a:tc>
                  <a:txBody>
                    <a:bodyPr/>
                    <a:lstStyle/>
                    <a:p>
                      <a:pPr algn="l"/>
                      <a:r>
                        <a:rPr lang="en-US" sz="1300" b="1">
                          <a:solidFill>
                            <a:srgbClr val="3A36A0"/>
                          </a:solidFill>
                          <a:latin typeface="Consolas"/>
                        </a:rPr>
                        <a:t>rag-only</a:t>
                      </a:r>
                    </a:p>
                  </a:txBody>
                  <a:tcPr anchor="ctr">
                    <a:solidFill>
                      <a:srgbClr val="F4F4FA"/>
                    </a:solidFill>
                  </a:tcPr>
                </a:tc>
                <a:tc>
                  <a:txBody>
                    <a:bodyPr/>
                    <a:lstStyle/>
                    <a:p>
                      <a:pPr algn="l"/>
                      <a:r>
                        <a:rPr lang="en-US" sz="1300">
                          <a:solidFill>
                            <a:srgbClr val="13123A"/>
                          </a:solidFill>
                          <a:latin typeface="Calibri"/>
                          <a:ea typeface="Calibri"/>
                          <a:cs typeface="Calibri"/>
                        </a:rPr>
                        <a:t>RAG thuần, không có ADD/UPDATE/DELETE</a:t>
                      </a:r>
                    </a:p>
                  </a:txBody>
                  <a:tcPr anchor="ctr">
                    <a:solidFill>
                      <a:srgbClr val="F4F4FA"/>
                    </a:solidFill>
                  </a:tcPr>
                </a:tc>
                <a:tc>
                  <a:txBody>
                    <a:bodyPr/>
                    <a:lstStyle/>
                    <a:p>
                      <a:pPr algn="l"/>
                      <a:r>
                        <a:rPr lang="en-US" sz="1300">
                          <a:solidFill>
                            <a:srgbClr val="13123A"/>
                          </a:solidFill>
                          <a:latin typeface="Calibri"/>
                          <a:ea typeface="Calibri"/>
                          <a:cs typeface="Calibri"/>
                        </a:rPr>
                        <a:t>Truy xuất đơn thuần không giải được bài toán cập nhật</a:t>
                      </a:r>
                    </a:p>
                  </a:txBody>
                  <a:tcPr anchor="ctr">
                    <a:solidFill>
                      <a:srgbClr val="F4F4FA"/>
                    </a:solidFill>
                  </a:tcPr>
                </a:tc>
                <a:extLst>
                  <a:ext uri="{0D108BD9-81ED-4DB2-BD59-A6C34878D82A}">
                    <a16:rowId xmlns:a16="http://schemas.microsoft.com/office/drawing/2014/main" val="2786215945"/>
                  </a:ext>
                </a:extLst>
              </a:tr>
              <a:tr h="508000">
                <a:tc>
                  <a:txBody>
                    <a:bodyPr/>
                    <a:lstStyle/>
                    <a:p>
                      <a:pPr algn="l"/>
                      <a:r>
                        <a:rPr lang="en-US" sz="1300" b="1">
                          <a:solidFill>
                            <a:srgbClr val="3A36A0"/>
                          </a:solidFill>
                          <a:latin typeface="Consolas"/>
                        </a:rPr>
                        <a:t>llm-judge-freshness</a:t>
                      </a:r>
                    </a:p>
                  </a:txBody>
                  <a:tcPr anchor="ctr">
                    <a:solidFill>
                      <a:srgbClr val="FFFFFF"/>
                    </a:solidFill>
                  </a:tcPr>
                </a:tc>
                <a:tc>
                  <a:txBody>
                    <a:bodyPr/>
                    <a:lstStyle/>
                    <a:p>
                      <a:pPr algn="l"/>
                      <a:r>
                        <a:rPr lang="en-US" sz="1300">
                          <a:solidFill>
                            <a:srgbClr val="13123A"/>
                          </a:solidFill>
                          <a:latin typeface="Calibri"/>
                          <a:ea typeface="Calibri"/>
                          <a:cs typeface="Calibri"/>
                        </a:rPr>
                        <a:t>Có slot, nhưng để LLM tự chọn bản mới</a:t>
                      </a:r>
                    </a:p>
                  </a:txBody>
                  <a:tcPr anchor="ctr">
                    <a:solidFill>
                      <a:srgbClr val="FFFFFF"/>
                    </a:solidFill>
                  </a:tcPr>
                </a:tc>
                <a:tc>
                  <a:txBody>
                    <a:bodyPr/>
                    <a:lstStyle/>
                    <a:p>
                      <a:pPr algn="l"/>
                      <a:r>
                        <a:rPr lang="en-US" sz="1300">
                          <a:solidFill>
                            <a:srgbClr val="13123A"/>
                          </a:solidFill>
                          <a:latin typeface="Calibri"/>
                          <a:ea typeface="Calibri"/>
                          <a:cs typeface="Calibri"/>
                        </a:rPr>
                        <a:t>Đối chứng trực tiếp cho đóng góp chính</a:t>
                      </a:r>
                    </a:p>
                  </a:txBody>
                  <a:tcPr anchor="ctr">
                    <a:solidFill>
                      <a:srgbClr val="FFFFFF"/>
                    </a:solidFill>
                  </a:tcPr>
                </a:tc>
                <a:extLst>
                  <a:ext uri="{0D108BD9-81ED-4DB2-BD59-A6C34878D82A}">
                    <a16:rowId xmlns:a16="http://schemas.microsoft.com/office/drawing/2014/main" val="163788148"/>
                  </a:ext>
                </a:extLst>
              </a:tr>
              <a:tr h="508000">
                <a:tc>
                  <a:txBody>
                    <a:bodyPr/>
                    <a:lstStyle/>
                    <a:p>
                      <a:pPr algn="l"/>
                      <a:r>
                        <a:rPr lang="en-US" sz="1300" b="1">
                          <a:solidFill>
                            <a:srgbClr val="13123A"/>
                          </a:solidFill>
                          <a:latin typeface="Consolas"/>
                        </a:rPr>
                        <a:t>ours</a:t>
                      </a:r>
                    </a:p>
                  </a:txBody>
                  <a:tcPr anchor="ctr">
                    <a:solidFill>
                      <a:srgbClr val="ECEBF7"/>
                    </a:solidFill>
                  </a:tcPr>
                </a:tc>
                <a:tc>
                  <a:txBody>
                    <a:bodyPr/>
                    <a:lstStyle/>
                    <a:p>
                      <a:pPr algn="l"/>
                      <a:r>
                        <a:rPr lang="en-US" sz="1300" b="1">
                          <a:solidFill>
                            <a:srgbClr val="13123A"/>
                          </a:solidFill>
                          <a:latin typeface="Calibri"/>
                          <a:ea typeface="Calibri"/>
                          <a:cs typeface="Calibri"/>
                        </a:rPr>
                        <a:t>Slot + max(seq) tất định</a:t>
                      </a:r>
                    </a:p>
                  </a:txBody>
                  <a:tcPr anchor="ctr">
                    <a:solidFill>
                      <a:srgbClr val="ECEBF7"/>
                    </a:solidFill>
                  </a:tcPr>
                </a:tc>
                <a:tc>
                  <a:txBody>
                    <a:bodyPr/>
                    <a:lstStyle/>
                    <a:p>
                      <a:pPr algn="l"/>
                      <a:r>
                        <a:rPr lang="en-US" sz="1300" b="1">
                          <a:solidFill>
                            <a:srgbClr val="13123A"/>
                          </a:solidFill>
                          <a:latin typeface="Calibri"/>
                          <a:ea typeface="Calibri"/>
                          <a:cs typeface="Calibri"/>
                        </a:rPr>
                        <a:t>Cấu hình đề xuất</a:t>
                      </a:r>
                    </a:p>
                  </a:txBody>
                  <a:tcPr anchor="ctr">
                    <a:solidFill>
                      <a:srgbClr val="ECEBF7"/>
                    </a:solidFill>
                  </a:tcPr>
                </a:tc>
                <a:extLst>
                  <a:ext uri="{0D108BD9-81ED-4DB2-BD59-A6C34878D82A}">
                    <a16:rowId xmlns:a16="http://schemas.microsoft.com/office/drawing/2014/main" val="2283171315"/>
                  </a:ext>
                </a:extLst>
              </a:tr>
            </a:tbl>
          </a:graphicData>
        </a:graphic>
      </p:graphicFrame>
      <p:sp>
        <p:nvSpPr>
          <p:cNvPr id="6" name="Rectangle 5">
            <a:extLst>
              <a:ext uri="{FF2B5EF4-FFF2-40B4-BE49-F238E27FC236}">
                <a16:creationId xmlns:a16="http://schemas.microsoft.com/office/drawing/2014/main" id="{740C28FC-366A-44B8-A1C4-AE74E7653B9C}"/>
              </a:ext>
            </a:extLst>
          </p:cNvPr>
          <p:cNvSpPr/>
          <p:nvPr/>
        </p:nvSpPr>
        <p:spPr>
          <a:xfrm>
            <a:off x="571500" y="4318000"/>
            <a:ext cx="11049076" cy="13208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17B629D8-E26C-43A2-A498-893FBB9607C1}"/>
              </a:ext>
            </a:extLst>
          </p:cNvPr>
          <p:cNvSpPr/>
          <p:nvPr/>
        </p:nvSpPr>
        <p:spPr>
          <a:xfrm>
            <a:off x="571500" y="4318000"/>
            <a:ext cx="66560" cy="1320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8" name="TextBox 7">
            <a:extLst>
              <a:ext uri="{FF2B5EF4-FFF2-40B4-BE49-F238E27FC236}">
                <a16:creationId xmlns:a16="http://schemas.microsoft.com/office/drawing/2014/main" id="{9822A55F-8487-4416-8768-3C797511A560}"/>
              </a:ext>
            </a:extLst>
          </p:cNvPr>
          <p:cNvSpPr txBox="1"/>
          <p:nvPr/>
        </p:nvSpPr>
        <p:spPr>
          <a:xfrm>
            <a:off x="864367" y="4495800"/>
            <a:ext cx="6656070" cy="254000"/>
          </a:xfrm>
          <a:prstGeom prst="rect">
            <a:avLst/>
          </a:prstGeom>
          <a:noFill/>
        </p:spPr>
        <p:txBody>
          <a:bodyPr vertOverflow="overflow" vert="horz" wrap="square" rtlCol="0" anchor="t">
            <a:noAutofit/>
          </a:bodyPr>
          <a:lstStyle/>
          <a:p>
            <a:pPr algn="l"/>
            <a:r>
              <a:rPr lang="en-US" sz="1300" b="1">
                <a:solidFill>
                  <a:srgbClr val="0F6E6E"/>
                </a:solidFill>
                <a:latin typeface="Calibri"/>
                <a:ea typeface="Calibri"/>
                <a:cs typeface="Calibri"/>
              </a:rPr>
              <a:t>ĐIỀU KIỆN THÍ NGHIỆM</a:t>
            </a:r>
          </a:p>
        </p:txBody>
      </p:sp>
      <p:sp>
        <p:nvSpPr>
          <p:cNvPr id="9" name="TextBox 8">
            <a:extLst>
              <a:ext uri="{FF2B5EF4-FFF2-40B4-BE49-F238E27FC236}">
                <a16:creationId xmlns:a16="http://schemas.microsoft.com/office/drawing/2014/main" id="{6D1CF02A-584F-44C7-B9AF-4F134FA248AA}"/>
              </a:ext>
            </a:extLst>
          </p:cNvPr>
          <p:cNvSpPr txBox="1"/>
          <p:nvPr/>
        </p:nvSpPr>
        <p:spPr>
          <a:xfrm>
            <a:off x="864367" y="4800600"/>
            <a:ext cx="10516590" cy="711200"/>
          </a:xfrm>
          <a:prstGeom prst="rect">
            <a:avLst/>
          </a:prstGeom>
          <a:noFill/>
        </p:spPr>
        <p:txBody>
          <a:bodyPr vertOverflow="overflow" vert="horz" wrap="square" rtlCol="0" anchor="t">
            <a:noAutofit/>
          </a:bodyPr>
          <a:lstStyle/>
          <a:p>
            <a:pPr algn="l"/>
            <a:r>
              <a:rPr lang="en-US" sz="1400">
                <a:solidFill>
                  <a:srgbClr val="13123A"/>
                </a:solidFill>
                <a:latin typeface="Calibri"/>
                <a:ea typeface="Calibri"/>
                <a:cs typeface="Calibri"/>
              </a:rPr>
              <a:t>Mọi cấu hình cố định cùng LLM – cùng k – cùng ngân sách token. Đo trên LongMemEval-S (nhóm knowledge-update) + FactConsolidation + bộ test tiếng Việt tự xây theo đúng khuôn đó (150–200 câu, nhiễu 6K/32K/64K token).</a:t>
            </a:r>
          </a:p>
        </p:txBody>
      </p:sp>
      <p:sp>
        <p:nvSpPr>
          <p:cNvPr id="10" name="TextBox 9">
            <a:extLst>
              <a:ext uri="{FF2B5EF4-FFF2-40B4-BE49-F238E27FC236}">
                <a16:creationId xmlns:a16="http://schemas.microsoft.com/office/drawing/2014/main" id="{6C0DD9CC-E787-47F4-ABC1-47FE7D791FF3}"/>
              </a:ext>
            </a:extLst>
          </p:cNvPr>
          <p:cNvSpPr txBox="1"/>
          <p:nvPr/>
        </p:nvSpPr>
        <p:spPr>
          <a:xfrm>
            <a:off x="571500" y="6324600"/>
            <a:ext cx="11049076" cy="4064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Nguồn: Wu et al., ICLR 2025 · Hu et al., ICLR 2026 (arXiv:2507.05257) · nguyên tắc cố định điều kiện: Jiang et al., arXiv:2602.19320 (2026).</a:t>
            </a:r>
          </a:p>
        </p:txBody>
      </p:sp>
    </p:spTree>
    <p:extLst>
      <p:ext uri="{BB962C8B-B14F-4D97-AF65-F5344CB8AC3E}">
        <p14:creationId xmlns:p14="http://schemas.microsoft.com/office/powerpoint/2010/main" val="893921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4CCDB0-DCEB-4377-89AA-437CB01C539B}"/>
              </a:ext>
            </a:extLst>
          </p:cNvPr>
          <p:cNvSpPr txBox="1"/>
          <p:nvPr/>
        </p:nvSpPr>
        <p:spPr>
          <a:xfrm>
            <a:off x="571500" y="508000"/>
            <a:ext cx="7987283" cy="2794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TIẾN ĐỘ</a:t>
            </a:r>
          </a:p>
        </p:txBody>
      </p:sp>
      <p:sp>
        <p:nvSpPr>
          <p:cNvPr id="3" name="TextBox 2">
            <a:extLst>
              <a:ext uri="{FF2B5EF4-FFF2-40B4-BE49-F238E27FC236}">
                <a16:creationId xmlns:a16="http://schemas.microsoft.com/office/drawing/2014/main" id="{E7F66499-7664-4CE7-80CC-99184E457C40}"/>
              </a:ext>
            </a:extLst>
          </p:cNvPr>
          <p:cNvSpPr txBox="1"/>
          <p:nvPr/>
        </p:nvSpPr>
        <p:spPr>
          <a:xfrm>
            <a:off x="571500" y="825500"/>
            <a:ext cx="11049076" cy="558800"/>
          </a:xfrm>
          <a:prstGeom prst="rect">
            <a:avLst/>
          </a:prstGeom>
          <a:noFill/>
        </p:spPr>
        <p:txBody>
          <a:bodyPr vertOverflow="overflow" vert="horz" wrap="square" rtlCol="0" anchor="t">
            <a:noAutofit/>
          </a:bodyPr>
          <a:lstStyle/>
          <a:p>
            <a:pPr algn="l"/>
            <a:r>
              <a:rPr lang="en-US" sz="3000" b="1">
                <a:solidFill>
                  <a:srgbClr val="13123A"/>
                </a:solidFill>
                <a:latin typeface="Cambria"/>
                <a:ea typeface="Cambria"/>
              </a:rPr>
              <a:t>Đã xong tuần 2 · Việc tuần 3</a:t>
            </a:r>
          </a:p>
        </p:txBody>
      </p:sp>
      <p:sp>
        <p:nvSpPr>
          <p:cNvPr id="4" name="Rectangle 3">
            <a:extLst>
              <a:ext uri="{FF2B5EF4-FFF2-40B4-BE49-F238E27FC236}">
                <a16:creationId xmlns:a16="http://schemas.microsoft.com/office/drawing/2014/main" id="{77F7FD1F-36B4-4138-AA4F-FE27834239C3}"/>
              </a:ext>
            </a:extLst>
          </p:cNvPr>
          <p:cNvSpPr/>
          <p:nvPr/>
        </p:nvSpPr>
        <p:spPr>
          <a:xfrm>
            <a:off x="571500" y="1676400"/>
            <a:ext cx="5391416" cy="2946400"/>
          </a:xfrm>
          <a:prstGeom prst="rect">
            <a:avLst/>
          </a:prstGeom>
          <a:solidFill>
            <a:srgbClr val="E4F5F4"/>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937EDD75-B92E-4FEA-817D-964523813E09}"/>
              </a:ext>
            </a:extLst>
          </p:cNvPr>
          <p:cNvSpPr/>
          <p:nvPr/>
        </p:nvSpPr>
        <p:spPr>
          <a:xfrm>
            <a:off x="571500" y="1676400"/>
            <a:ext cx="5391416" cy="381000"/>
          </a:xfrm>
          <a:prstGeom prst="rect">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5DDC11B-7DE7-4E09-8C0C-241503CFDA26}"/>
              </a:ext>
            </a:extLst>
          </p:cNvPr>
          <p:cNvSpPr txBox="1"/>
          <p:nvPr/>
        </p:nvSpPr>
        <p:spPr>
          <a:xfrm>
            <a:off x="811118" y="1765300"/>
            <a:ext cx="4925491" cy="254000"/>
          </a:xfrm>
          <a:prstGeom prst="rect">
            <a:avLst/>
          </a:prstGeom>
          <a:noFill/>
        </p:spPr>
        <p:txBody>
          <a:bodyPr vertOverflow="overflow" vert="horz" wrap="square" rtlCol="0" anchor="t">
            <a:noAutofit/>
          </a:bodyPr>
          <a:lstStyle/>
          <a:p>
            <a:pPr algn="l"/>
            <a:r>
              <a:rPr lang="en-US" sz="1300" b="1">
                <a:solidFill>
                  <a:srgbClr val="FFFFFF"/>
                </a:solidFill>
                <a:latin typeface="Calibri"/>
                <a:ea typeface="Calibri"/>
                <a:cs typeface="Calibri"/>
              </a:rPr>
              <a:t>ĐÃ XONG (TUẦN 2)</a:t>
            </a:r>
          </a:p>
        </p:txBody>
      </p:sp>
      <p:sp>
        <p:nvSpPr>
          <p:cNvPr id="7" name="Oval 6">
            <a:extLst>
              <a:ext uri="{FF2B5EF4-FFF2-40B4-BE49-F238E27FC236}">
                <a16:creationId xmlns:a16="http://schemas.microsoft.com/office/drawing/2014/main" id="{784C4E7C-0F77-43FD-A737-B68A4D75CAB8}"/>
              </a:ext>
            </a:extLst>
          </p:cNvPr>
          <p:cNvSpPr/>
          <p:nvPr/>
        </p:nvSpPr>
        <p:spPr>
          <a:xfrm>
            <a:off x="811118" y="22606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A4DA7616-3D17-44FF-B3E4-8E6077A93D4F}"/>
              </a:ext>
            </a:extLst>
          </p:cNvPr>
          <p:cNvSpPr txBox="1"/>
          <p:nvPr/>
        </p:nvSpPr>
        <p:spPr>
          <a:xfrm>
            <a:off x="1024112" y="21844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Rà soát lại benchmark theo góp ý mentor</a:t>
            </a:r>
          </a:p>
        </p:txBody>
      </p:sp>
      <p:sp>
        <p:nvSpPr>
          <p:cNvPr id="9" name="Oval 8">
            <a:extLst>
              <a:ext uri="{FF2B5EF4-FFF2-40B4-BE49-F238E27FC236}">
                <a16:creationId xmlns:a16="http://schemas.microsoft.com/office/drawing/2014/main" id="{BD92ADE9-1F3F-4BEF-A5C1-FEC206E4B8A7}"/>
              </a:ext>
            </a:extLst>
          </p:cNvPr>
          <p:cNvSpPr/>
          <p:nvPr/>
        </p:nvSpPr>
        <p:spPr>
          <a:xfrm>
            <a:off x="811118" y="26670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D0156CEC-6635-4C54-915F-48E631744E69}"/>
              </a:ext>
            </a:extLst>
          </p:cNvPr>
          <p:cNvSpPr txBox="1"/>
          <p:nvPr/>
        </p:nvSpPr>
        <p:spPr>
          <a:xfrm>
            <a:off x="1024112" y="25908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Chốt công nghệ: Python · OpenAI · ChromaDB</a:t>
            </a:r>
          </a:p>
        </p:txBody>
      </p:sp>
      <p:sp>
        <p:nvSpPr>
          <p:cNvPr id="11" name="Oval 10">
            <a:extLst>
              <a:ext uri="{FF2B5EF4-FFF2-40B4-BE49-F238E27FC236}">
                <a16:creationId xmlns:a16="http://schemas.microsoft.com/office/drawing/2014/main" id="{FACFFEEA-5DDA-405A-8610-D2C0A4A219D5}"/>
              </a:ext>
            </a:extLst>
          </p:cNvPr>
          <p:cNvSpPr/>
          <p:nvPr/>
        </p:nvSpPr>
        <p:spPr>
          <a:xfrm>
            <a:off x="811118" y="30734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3F319751-3B7F-4B51-AC20-1D27E8B9B5E6}"/>
              </a:ext>
            </a:extLst>
          </p:cNvPr>
          <p:cNvSpPr txBox="1"/>
          <p:nvPr/>
        </p:nvSpPr>
        <p:spPr>
          <a:xfrm>
            <a:off x="1024112" y="2997200"/>
            <a:ext cx="4712497" cy="355600"/>
          </a:xfrm>
          <a:prstGeom prst="rect">
            <a:avLst/>
          </a:prstGeom>
          <a:noFill/>
        </p:spPr>
        <p:txBody>
          <a:bodyPr vertOverflow="overflow" vert="horz" wrap="square" rtlCol="0" anchor="t">
            <a:noAutofit/>
          </a:bodyPr>
          <a:lstStyle/>
          <a:p>
            <a:pPr algn="l"/>
            <a:r>
              <a:rPr lang="vi-VN" sz="1300">
                <a:solidFill>
                  <a:srgbClr val="13123A"/>
                </a:solidFill>
                <a:latin typeface="Calibri"/>
                <a:ea typeface="Calibri"/>
                <a:cs typeface="Calibri"/>
              </a:rPr>
              <a:t>Lược đồ slot + seq; kiến trúc module</a:t>
            </a:r>
            <a:endParaRPr lang="en-US" sz="1300">
              <a:solidFill>
                <a:srgbClr val="13123A"/>
              </a:solidFill>
              <a:latin typeface="Calibri"/>
              <a:ea typeface="Calibri"/>
              <a:cs typeface="Calibri"/>
            </a:endParaRPr>
          </a:p>
        </p:txBody>
      </p:sp>
      <p:sp>
        <p:nvSpPr>
          <p:cNvPr id="13" name="Oval 12">
            <a:extLst>
              <a:ext uri="{FF2B5EF4-FFF2-40B4-BE49-F238E27FC236}">
                <a16:creationId xmlns:a16="http://schemas.microsoft.com/office/drawing/2014/main" id="{AD1CB812-5A06-4898-81C7-FA86F571A64D}"/>
              </a:ext>
            </a:extLst>
          </p:cNvPr>
          <p:cNvSpPr/>
          <p:nvPr/>
        </p:nvSpPr>
        <p:spPr>
          <a:xfrm>
            <a:off x="811118" y="34798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03C20E75-7B1B-48AB-B6E1-AA75ACF64840}"/>
              </a:ext>
            </a:extLst>
          </p:cNvPr>
          <p:cNvSpPr txBox="1"/>
          <p:nvPr/>
        </p:nvSpPr>
        <p:spPr>
          <a:xfrm>
            <a:off x="1024112" y="34036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Vòng lặp 4 pha chạy đầu–cuối</a:t>
            </a:r>
          </a:p>
        </p:txBody>
      </p:sp>
      <p:sp>
        <p:nvSpPr>
          <p:cNvPr id="15" name="Oval 14">
            <a:extLst>
              <a:ext uri="{FF2B5EF4-FFF2-40B4-BE49-F238E27FC236}">
                <a16:creationId xmlns:a16="http://schemas.microsoft.com/office/drawing/2014/main" id="{0A0C37B1-B7C7-47AB-93CC-1C8F75E991B8}"/>
              </a:ext>
            </a:extLst>
          </p:cNvPr>
          <p:cNvSpPr/>
          <p:nvPr/>
        </p:nvSpPr>
        <p:spPr>
          <a:xfrm>
            <a:off x="811118" y="38862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4AC25FCC-0FAC-42D3-B5E9-23F4FCC76A4E}"/>
              </a:ext>
            </a:extLst>
          </p:cNvPr>
          <p:cNvSpPr txBox="1"/>
          <p:nvPr/>
        </p:nvSpPr>
        <p:spPr>
          <a:xfrm>
            <a:off x="1024112" y="3810000"/>
            <a:ext cx="4712497" cy="355600"/>
          </a:xfrm>
          <a:prstGeom prst="rect">
            <a:avLst/>
          </a:prstGeom>
          <a:noFill/>
        </p:spPr>
        <p:txBody>
          <a:bodyPr vertOverflow="overflow" vert="horz" wrap="square" rtlCol="0" anchor="t">
            <a:noAutofit/>
          </a:bodyPr>
          <a:lstStyle/>
          <a:p>
            <a:pPr algn="l"/>
            <a:r>
              <a:rPr lang="nl-NL" sz="1300">
                <a:solidFill>
                  <a:srgbClr val="13123A"/>
                </a:solidFill>
                <a:latin typeface="Calibri"/>
                <a:ea typeface="Calibri"/>
                <a:cs typeface="Calibri"/>
              </a:rPr>
              <a:t>ADD/UPDATE/DELETE/NOOP + lịch sử slot</a:t>
            </a:r>
            <a:endParaRPr lang="en-US" sz="1300">
              <a:solidFill>
                <a:srgbClr val="13123A"/>
              </a:solidFill>
              <a:latin typeface="Calibri"/>
              <a:ea typeface="Calibri"/>
              <a:cs typeface="Calibri"/>
            </a:endParaRPr>
          </a:p>
        </p:txBody>
      </p:sp>
      <p:sp>
        <p:nvSpPr>
          <p:cNvPr id="17" name="Oval 16">
            <a:extLst>
              <a:ext uri="{FF2B5EF4-FFF2-40B4-BE49-F238E27FC236}">
                <a16:creationId xmlns:a16="http://schemas.microsoft.com/office/drawing/2014/main" id="{26659874-DF8B-4B6E-A169-1F4EBCFD914A}"/>
              </a:ext>
            </a:extLst>
          </p:cNvPr>
          <p:cNvSpPr/>
          <p:nvPr/>
        </p:nvSpPr>
        <p:spPr>
          <a:xfrm>
            <a:off x="811118" y="4292600"/>
            <a:ext cx="93184" cy="88900"/>
          </a:xfrm>
          <a:prstGeom prst="ellipse">
            <a:avLst/>
          </a:prstGeom>
          <a:solidFill>
            <a:srgbClr val="3A36A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EE4B11F8-15B3-4817-BF47-8271443FD5A1}"/>
              </a:ext>
            </a:extLst>
          </p:cNvPr>
          <p:cNvSpPr txBox="1"/>
          <p:nvPr/>
        </p:nvSpPr>
        <p:spPr>
          <a:xfrm>
            <a:off x="1024112" y="42164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CLI tối thiểu · 8 test đều đạt</a:t>
            </a:r>
          </a:p>
        </p:txBody>
      </p:sp>
      <p:sp>
        <p:nvSpPr>
          <p:cNvPr id="19" name="Rectangle 18">
            <a:extLst>
              <a:ext uri="{FF2B5EF4-FFF2-40B4-BE49-F238E27FC236}">
                <a16:creationId xmlns:a16="http://schemas.microsoft.com/office/drawing/2014/main" id="{814A9A0F-CE18-4D35-913E-3AB30FA5DDE4}"/>
              </a:ext>
            </a:extLst>
          </p:cNvPr>
          <p:cNvSpPr/>
          <p:nvPr/>
        </p:nvSpPr>
        <p:spPr>
          <a:xfrm>
            <a:off x="6229159" y="1676400"/>
            <a:ext cx="5391416" cy="2946400"/>
          </a:xfrm>
          <a:prstGeom prst="rect">
            <a:avLst/>
          </a:prstGeom>
          <a:solidFill>
            <a:srgbClr val="ECEBF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C2E25333-B078-4A8C-9262-EEA6C899675F}"/>
              </a:ext>
            </a:extLst>
          </p:cNvPr>
          <p:cNvSpPr/>
          <p:nvPr/>
        </p:nvSpPr>
        <p:spPr>
          <a:xfrm>
            <a:off x="6229159" y="1676400"/>
            <a:ext cx="5391416" cy="381000"/>
          </a:xfrm>
          <a:prstGeom prst="rect">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BCD7696F-2334-46A4-A248-ADCD6C5618F2}"/>
              </a:ext>
            </a:extLst>
          </p:cNvPr>
          <p:cNvSpPr txBox="1"/>
          <p:nvPr/>
        </p:nvSpPr>
        <p:spPr>
          <a:xfrm>
            <a:off x="6468778" y="1765300"/>
            <a:ext cx="4925491" cy="254000"/>
          </a:xfrm>
          <a:prstGeom prst="rect">
            <a:avLst/>
          </a:prstGeom>
          <a:noFill/>
        </p:spPr>
        <p:txBody>
          <a:bodyPr vertOverflow="overflow" vert="horz" wrap="square" rtlCol="0" anchor="t">
            <a:noAutofit/>
          </a:bodyPr>
          <a:lstStyle/>
          <a:p>
            <a:pPr algn="l"/>
            <a:r>
              <a:rPr lang="en-US" sz="1300" b="1">
                <a:solidFill>
                  <a:srgbClr val="FFFFFF"/>
                </a:solidFill>
                <a:latin typeface="Calibri"/>
                <a:ea typeface="Calibri"/>
                <a:cs typeface="Calibri"/>
              </a:rPr>
              <a:t>TUẦN 3</a:t>
            </a:r>
          </a:p>
        </p:txBody>
      </p:sp>
      <p:sp>
        <p:nvSpPr>
          <p:cNvPr id="22" name="Oval 21">
            <a:extLst>
              <a:ext uri="{FF2B5EF4-FFF2-40B4-BE49-F238E27FC236}">
                <a16:creationId xmlns:a16="http://schemas.microsoft.com/office/drawing/2014/main" id="{05E1294D-0F41-4E6D-A228-22C9D13CD46B}"/>
              </a:ext>
            </a:extLst>
          </p:cNvPr>
          <p:cNvSpPr/>
          <p:nvPr/>
        </p:nvSpPr>
        <p:spPr>
          <a:xfrm>
            <a:off x="6468778" y="22606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81138BB5-A80D-4769-ABC0-2F06C3A6D8BD}"/>
              </a:ext>
            </a:extLst>
          </p:cNvPr>
          <p:cNvSpPr txBox="1"/>
          <p:nvPr/>
        </p:nvSpPr>
        <p:spPr>
          <a:xfrm>
            <a:off x="6681772" y="21844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Thay LLM giả lập bằng gpt-4o-mini thật</a:t>
            </a:r>
          </a:p>
        </p:txBody>
      </p:sp>
      <p:sp>
        <p:nvSpPr>
          <p:cNvPr id="24" name="Oval 23">
            <a:extLst>
              <a:ext uri="{FF2B5EF4-FFF2-40B4-BE49-F238E27FC236}">
                <a16:creationId xmlns:a16="http://schemas.microsoft.com/office/drawing/2014/main" id="{AA9EE758-9B41-407A-A028-8CE30FA7A680}"/>
              </a:ext>
            </a:extLst>
          </p:cNvPr>
          <p:cNvSpPr/>
          <p:nvPr/>
        </p:nvSpPr>
        <p:spPr>
          <a:xfrm>
            <a:off x="6468778" y="26670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58DC69AF-771A-48AB-AB1C-66B211022F30}"/>
              </a:ext>
            </a:extLst>
          </p:cNvPr>
          <p:cNvSpPr txBox="1"/>
          <p:nvPr/>
        </p:nvSpPr>
        <p:spPr>
          <a:xfrm>
            <a:off x="6681772" y="25908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Đo p50/p95 và token/truy vấn</a:t>
            </a:r>
          </a:p>
        </p:txBody>
      </p:sp>
      <p:sp>
        <p:nvSpPr>
          <p:cNvPr id="26" name="Oval 25">
            <a:extLst>
              <a:ext uri="{FF2B5EF4-FFF2-40B4-BE49-F238E27FC236}">
                <a16:creationId xmlns:a16="http://schemas.microsoft.com/office/drawing/2014/main" id="{F355D7E4-55D1-46DF-9244-884AE13A9666}"/>
              </a:ext>
            </a:extLst>
          </p:cNvPr>
          <p:cNvSpPr/>
          <p:nvPr/>
        </p:nvSpPr>
        <p:spPr>
          <a:xfrm>
            <a:off x="6468778" y="30734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EC0614E2-3FFC-4B1F-99B5-2A3343F76A9F}"/>
              </a:ext>
            </a:extLst>
          </p:cNvPr>
          <p:cNvSpPr txBox="1"/>
          <p:nvPr/>
        </p:nvSpPr>
        <p:spPr>
          <a:xfrm>
            <a:off x="6681772" y="29972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Chạy LongMemEval-S, lấy số nhóm knowledge-update</a:t>
            </a:r>
          </a:p>
        </p:txBody>
      </p:sp>
      <p:sp>
        <p:nvSpPr>
          <p:cNvPr id="28" name="Oval 27">
            <a:extLst>
              <a:ext uri="{FF2B5EF4-FFF2-40B4-BE49-F238E27FC236}">
                <a16:creationId xmlns:a16="http://schemas.microsoft.com/office/drawing/2014/main" id="{43FFA2BC-168C-448F-9EC0-2DEEC8D27D50}"/>
              </a:ext>
            </a:extLst>
          </p:cNvPr>
          <p:cNvSpPr/>
          <p:nvPr/>
        </p:nvSpPr>
        <p:spPr>
          <a:xfrm>
            <a:off x="6468778" y="34798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820300AC-0A78-40C3-8AC4-95AD4CF62EE5}"/>
              </a:ext>
            </a:extLst>
          </p:cNvPr>
          <p:cNvSpPr txBox="1"/>
          <p:nvPr/>
        </p:nvSpPr>
        <p:spPr>
          <a:xfrm>
            <a:off x="6681772" y="34036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Dựng cấu hình đối chứng llm-judge-freshness</a:t>
            </a:r>
          </a:p>
        </p:txBody>
      </p:sp>
      <p:sp>
        <p:nvSpPr>
          <p:cNvPr id="30" name="Oval 29">
            <a:extLst>
              <a:ext uri="{FF2B5EF4-FFF2-40B4-BE49-F238E27FC236}">
                <a16:creationId xmlns:a16="http://schemas.microsoft.com/office/drawing/2014/main" id="{95135D92-9641-49A3-8DB5-B5DDC8CC0785}"/>
              </a:ext>
            </a:extLst>
          </p:cNvPr>
          <p:cNvSpPr/>
          <p:nvPr/>
        </p:nvSpPr>
        <p:spPr>
          <a:xfrm>
            <a:off x="6468778" y="3886200"/>
            <a:ext cx="93184" cy="88900"/>
          </a:xfrm>
          <a:prstGeom prst="ellipse">
            <a:avLst/>
          </a:prstGeom>
          <a:solidFill>
            <a:srgbClr val="13123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9C583FDA-37DF-4083-A7D8-B1D91FF37032}"/>
              </a:ext>
            </a:extLst>
          </p:cNvPr>
          <p:cNvSpPr txBox="1"/>
          <p:nvPr/>
        </p:nvSpPr>
        <p:spPr>
          <a:xfrm>
            <a:off x="6681772" y="3810000"/>
            <a:ext cx="4712497" cy="355600"/>
          </a:xfrm>
          <a:prstGeom prst="rect">
            <a:avLst/>
          </a:prstGeom>
          <a:noFill/>
        </p:spPr>
        <p:txBody>
          <a:bodyPr vertOverflow="overflow" vert="horz" wrap="square" rtlCol="0" anchor="t">
            <a:noAutofit/>
          </a:bodyPr>
          <a:lstStyle/>
          <a:p>
            <a:pPr algn="l"/>
            <a:r>
              <a:rPr lang="en-US" sz="1300">
                <a:solidFill>
                  <a:srgbClr val="13123A"/>
                </a:solidFill>
                <a:latin typeface="Calibri"/>
                <a:ea typeface="Calibri"/>
                <a:cs typeface="Calibri"/>
              </a:rPr>
              <a:t>Cache embedding ra đĩa để chạy lại không tốn tiền</a:t>
            </a:r>
          </a:p>
        </p:txBody>
      </p:sp>
      <p:sp>
        <p:nvSpPr>
          <p:cNvPr id="32" name="TextBox 31">
            <a:extLst>
              <a:ext uri="{FF2B5EF4-FFF2-40B4-BE49-F238E27FC236}">
                <a16:creationId xmlns:a16="http://schemas.microsoft.com/office/drawing/2014/main" id="{22D58BB8-D546-4314-BF66-B20DE7A86396}"/>
              </a:ext>
            </a:extLst>
          </p:cNvPr>
          <p:cNvSpPr txBox="1"/>
          <p:nvPr/>
        </p:nvSpPr>
        <p:spPr>
          <a:xfrm>
            <a:off x="1716344" y="4851400"/>
            <a:ext cx="2129942" cy="254000"/>
          </a:xfrm>
          <a:prstGeom prst="rect">
            <a:avLst/>
          </a:prstGeom>
          <a:noFill/>
        </p:spPr>
        <p:txBody>
          <a:bodyPr vertOverflow="overflow" vert="horz" wrap="square" rtlCol="0" anchor="t">
            <a:noAutofit/>
          </a:bodyPr>
          <a:lstStyle/>
          <a:p>
            <a:pPr algn="l"/>
            <a:r>
              <a:rPr lang="en-US" sz="1200" b="1">
                <a:solidFill>
                  <a:srgbClr val="1FA6A6"/>
                </a:solidFill>
                <a:latin typeface="Calibri"/>
                <a:ea typeface="Calibri"/>
                <a:cs typeface="Calibri"/>
              </a:rPr>
              <a:t>◀ đang ở đây</a:t>
            </a:r>
          </a:p>
        </p:txBody>
      </p:sp>
      <p:sp>
        <p:nvSpPr>
          <p:cNvPr id="33" name="Rectangle 32">
            <a:extLst>
              <a:ext uri="{FF2B5EF4-FFF2-40B4-BE49-F238E27FC236}">
                <a16:creationId xmlns:a16="http://schemas.microsoft.com/office/drawing/2014/main" id="{0F3CC991-A702-4B2A-9283-06705B1F1EA5}"/>
              </a:ext>
            </a:extLst>
          </p:cNvPr>
          <p:cNvSpPr/>
          <p:nvPr/>
        </p:nvSpPr>
        <p:spPr>
          <a:xfrm>
            <a:off x="571500" y="5156200"/>
            <a:ext cx="1304589" cy="177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34" name="TextBox 33">
            <a:extLst>
              <a:ext uri="{FF2B5EF4-FFF2-40B4-BE49-F238E27FC236}">
                <a16:creationId xmlns:a16="http://schemas.microsoft.com/office/drawing/2014/main" id="{B9F929CB-B9CC-40BE-A33E-F4CDED9A4471}"/>
              </a:ext>
            </a:extLst>
          </p:cNvPr>
          <p:cNvSpPr txBox="1"/>
          <p:nvPr/>
        </p:nvSpPr>
        <p:spPr>
          <a:xfrm>
            <a:off x="571500"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1</a:t>
            </a:r>
          </a:p>
        </p:txBody>
      </p:sp>
      <p:sp>
        <p:nvSpPr>
          <p:cNvPr id="35" name="Rectangle 34">
            <a:extLst>
              <a:ext uri="{FF2B5EF4-FFF2-40B4-BE49-F238E27FC236}">
                <a16:creationId xmlns:a16="http://schemas.microsoft.com/office/drawing/2014/main" id="{9DE442B9-506F-4C1E-9EAD-90EE9ADEAB08}"/>
              </a:ext>
            </a:extLst>
          </p:cNvPr>
          <p:cNvSpPr/>
          <p:nvPr/>
        </p:nvSpPr>
        <p:spPr>
          <a:xfrm>
            <a:off x="1955962" y="5156200"/>
            <a:ext cx="1304589" cy="177800"/>
          </a:xfrm>
          <a:prstGeom prst="rect">
            <a:avLst/>
          </a:prstGeom>
          <a:solidFill>
            <a:srgbClr val="E9970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13123A"/>
              </a:solidFill>
            </a:endParaRPr>
          </a:p>
        </p:txBody>
      </p:sp>
      <p:sp>
        <p:nvSpPr>
          <p:cNvPr id="36" name="TextBox 35">
            <a:extLst>
              <a:ext uri="{FF2B5EF4-FFF2-40B4-BE49-F238E27FC236}">
                <a16:creationId xmlns:a16="http://schemas.microsoft.com/office/drawing/2014/main" id="{6B4092DB-9DD8-405B-9AE6-D483BC5D7208}"/>
              </a:ext>
            </a:extLst>
          </p:cNvPr>
          <p:cNvSpPr txBox="1"/>
          <p:nvPr/>
        </p:nvSpPr>
        <p:spPr>
          <a:xfrm>
            <a:off x="1955962" y="5384800"/>
            <a:ext cx="1304589" cy="228600"/>
          </a:xfrm>
          <a:prstGeom prst="rect">
            <a:avLst/>
          </a:prstGeom>
          <a:noFill/>
        </p:spPr>
        <p:txBody>
          <a:bodyPr vertOverflow="overflow" vert="horz" wrap="square" rtlCol="0" anchor="t">
            <a:noAutofit/>
          </a:bodyPr>
          <a:lstStyle/>
          <a:p>
            <a:pPr algn="l"/>
            <a:r>
              <a:rPr lang="en-US" sz="1050" b="1">
                <a:solidFill>
                  <a:srgbClr val="1FA6A6"/>
                </a:solidFill>
                <a:latin typeface="Calibri"/>
                <a:ea typeface="Calibri"/>
                <a:cs typeface="Calibri"/>
              </a:rPr>
              <a:t>Tuần 2</a:t>
            </a:r>
          </a:p>
        </p:txBody>
      </p:sp>
      <p:sp>
        <p:nvSpPr>
          <p:cNvPr id="37" name="Rectangle 36">
            <a:extLst>
              <a:ext uri="{FF2B5EF4-FFF2-40B4-BE49-F238E27FC236}">
                <a16:creationId xmlns:a16="http://schemas.microsoft.com/office/drawing/2014/main" id="{A076C83F-6199-4E9D-8B73-F79F4E38D1D8}"/>
              </a:ext>
            </a:extLst>
          </p:cNvPr>
          <p:cNvSpPr/>
          <p:nvPr/>
        </p:nvSpPr>
        <p:spPr>
          <a:xfrm>
            <a:off x="3340425"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TextBox 37">
            <a:extLst>
              <a:ext uri="{FF2B5EF4-FFF2-40B4-BE49-F238E27FC236}">
                <a16:creationId xmlns:a16="http://schemas.microsoft.com/office/drawing/2014/main" id="{54B47198-1726-4E57-8975-66401C50B374}"/>
              </a:ext>
            </a:extLst>
          </p:cNvPr>
          <p:cNvSpPr txBox="1"/>
          <p:nvPr/>
        </p:nvSpPr>
        <p:spPr>
          <a:xfrm>
            <a:off x="3340425"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3</a:t>
            </a:r>
          </a:p>
        </p:txBody>
      </p:sp>
      <p:sp>
        <p:nvSpPr>
          <p:cNvPr id="39" name="Rectangle 38">
            <a:extLst>
              <a:ext uri="{FF2B5EF4-FFF2-40B4-BE49-F238E27FC236}">
                <a16:creationId xmlns:a16="http://schemas.microsoft.com/office/drawing/2014/main" id="{AB994CEF-ACE4-4FE9-A93A-2D8C1092EF17}"/>
              </a:ext>
            </a:extLst>
          </p:cNvPr>
          <p:cNvSpPr/>
          <p:nvPr/>
        </p:nvSpPr>
        <p:spPr>
          <a:xfrm>
            <a:off x="4724887"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TextBox 39">
            <a:extLst>
              <a:ext uri="{FF2B5EF4-FFF2-40B4-BE49-F238E27FC236}">
                <a16:creationId xmlns:a16="http://schemas.microsoft.com/office/drawing/2014/main" id="{B94731FC-71A4-4CFB-A55F-6044ED0AE5FD}"/>
              </a:ext>
            </a:extLst>
          </p:cNvPr>
          <p:cNvSpPr txBox="1"/>
          <p:nvPr/>
        </p:nvSpPr>
        <p:spPr>
          <a:xfrm>
            <a:off x="4724887"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4</a:t>
            </a:r>
          </a:p>
        </p:txBody>
      </p:sp>
      <p:sp>
        <p:nvSpPr>
          <p:cNvPr id="41" name="Rectangle 40">
            <a:extLst>
              <a:ext uri="{FF2B5EF4-FFF2-40B4-BE49-F238E27FC236}">
                <a16:creationId xmlns:a16="http://schemas.microsoft.com/office/drawing/2014/main" id="{591F164C-2D0F-41A7-8F58-42BF38228008}"/>
              </a:ext>
            </a:extLst>
          </p:cNvPr>
          <p:cNvSpPr/>
          <p:nvPr/>
        </p:nvSpPr>
        <p:spPr>
          <a:xfrm>
            <a:off x="6109350"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BAEB7C03-FC2F-4789-A43A-759DC46A5BA5}"/>
              </a:ext>
            </a:extLst>
          </p:cNvPr>
          <p:cNvSpPr txBox="1"/>
          <p:nvPr/>
        </p:nvSpPr>
        <p:spPr>
          <a:xfrm>
            <a:off x="6109350"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5</a:t>
            </a:r>
          </a:p>
        </p:txBody>
      </p:sp>
      <p:sp>
        <p:nvSpPr>
          <p:cNvPr id="43" name="Rectangle 42">
            <a:extLst>
              <a:ext uri="{FF2B5EF4-FFF2-40B4-BE49-F238E27FC236}">
                <a16:creationId xmlns:a16="http://schemas.microsoft.com/office/drawing/2014/main" id="{A33715A6-CB9E-49D2-934F-0568F2A024A6}"/>
              </a:ext>
            </a:extLst>
          </p:cNvPr>
          <p:cNvSpPr/>
          <p:nvPr/>
        </p:nvSpPr>
        <p:spPr>
          <a:xfrm>
            <a:off x="7493812"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TextBox 43">
            <a:extLst>
              <a:ext uri="{FF2B5EF4-FFF2-40B4-BE49-F238E27FC236}">
                <a16:creationId xmlns:a16="http://schemas.microsoft.com/office/drawing/2014/main" id="{6BE16471-B112-4114-9664-255CBF32B316}"/>
              </a:ext>
            </a:extLst>
          </p:cNvPr>
          <p:cNvSpPr txBox="1"/>
          <p:nvPr/>
        </p:nvSpPr>
        <p:spPr>
          <a:xfrm>
            <a:off x="7493812"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6</a:t>
            </a:r>
          </a:p>
        </p:txBody>
      </p:sp>
      <p:sp>
        <p:nvSpPr>
          <p:cNvPr id="45" name="Rectangle 44">
            <a:extLst>
              <a:ext uri="{FF2B5EF4-FFF2-40B4-BE49-F238E27FC236}">
                <a16:creationId xmlns:a16="http://schemas.microsoft.com/office/drawing/2014/main" id="{EF49F90A-3B4C-4865-B563-2CA340092439}"/>
              </a:ext>
            </a:extLst>
          </p:cNvPr>
          <p:cNvSpPr/>
          <p:nvPr/>
        </p:nvSpPr>
        <p:spPr>
          <a:xfrm>
            <a:off x="8878275"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TextBox 45">
            <a:extLst>
              <a:ext uri="{FF2B5EF4-FFF2-40B4-BE49-F238E27FC236}">
                <a16:creationId xmlns:a16="http://schemas.microsoft.com/office/drawing/2014/main" id="{C348DF06-57C4-48B0-AB7E-49A041123C06}"/>
              </a:ext>
            </a:extLst>
          </p:cNvPr>
          <p:cNvSpPr txBox="1"/>
          <p:nvPr/>
        </p:nvSpPr>
        <p:spPr>
          <a:xfrm>
            <a:off x="8878275"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7</a:t>
            </a:r>
          </a:p>
        </p:txBody>
      </p:sp>
      <p:sp>
        <p:nvSpPr>
          <p:cNvPr id="47" name="Rectangle 46">
            <a:extLst>
              <a:ext uri="{FF2B5EF4-FFF2-40B4-BE49-F238E27FC236}">
                <a16:creationId xmlns:a16="http://schemas.microsoft.com/office/drawing/2014/main" id="{2492E5E9-F925-4434-93B0-DF8284CB8525}"/>
              </a:ext>
            </a:extLst>
          </p:cNvPr>
          <p:cNvSpPr/>
          <p:nvPr/>
        </p:nvSpPr>
        <p:spPr>
          <a:xfrm>
            <a:off x="10262737" y="5156200"/>
            <a:ext cx="1304589" cy="177800"/>
          </a:xfrm>
          <a:prstGeom prst="rect">
            <a:avLst/>
          </a:prstGeom>
          <a:solidFill>
            <a:srgbClr val="E7E6E6"/>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a:extLst>
              <a:ext uri="{FF2B5EF4-FFF2-40B4-BE49-F238E27FC236}">
                <a16:creationId xmlns:a16="http://schemas.microsoft.com/office/drawing/2014/main" id="{F98B10AE-DCA0-497F-AF26-FB4314F8D7BF}"/>
              </a:ext>
            </a:extLst>
          </p:cNvPr>
          <p:cNvSpPr txBox="1"/>
          <p:nvPr/>
        </p:nvSpPr>
        <p:spPr>
          <a:xfrm>
            <a:off x="10262737" y="5384800"/>
            <a:ext cx="1304589" cy="228600"/>
          </a:xfrm>
          <a:prstGeom prst="rect">
            <a:avLst/>
          </a:prstGeom>
          <a:noFill/>
        </p:spPr>
        <p:txBody>
          <a:bodyPr vertOverflow="overflow" vert="horz" wrap="square" rtlCol="0" anchor="t">
            <a:noAutofit/>
          </a:bodyPr>
          <a:lstStyle/>
          <a:p>
            <a:pPr algn="l"/>
            <a:r>
              <a:rPr lang="en-US" sz="1050">
                <a:solidFill>
                  <a:srgbClr val="6A6E85"/>
                </a:solidFill>
                <a:latin typeface="Calibri"/>
                <a:ea typeface="Calibri"/>
                <a:cs typeface="Calibri"/>
              </a:rPr>
              <a:t>Tuần 8</a:t>
            </a:r>
          </a:p>
        </p:txBody>
      </p:sp>
    </p:spTree>
    <p:extLst>
      <p:ext uri="{BB962C8B-B14F-4D97-AF65-F5344CB8AC3E}">
        <p14:creationId xmlns:p14="http://schemas.microsoft.com/office/powerpoint/2010/main" val="1753123165"/>
      </p:ext>
    </p:extLst>
  </p:cSld>
  <p:clrMapOvr>
    <a:masterClrMapping/>
  </p:clrMapOvr>
</p:sld>
</file>

<file path=ppt/theme/theme1.xml><?xml version="1.0" encoding="utf-8"?>
<a:theme xmlns:a="http://schemas.openxmlformats.org/drawingml/2006/main" name="Office Theme [1789388949979]">
  <a:themeElements>
    <a:clrScheme name="Office">
      <a:dk1>
        <a:srgbClr val="13123A"/>
      </a:dk1>
      <a:lt1>
        <a:srgbClr val="FFFFFF"/>
      </a:lt1>
      <a:dk2>
        <a:srgbClr val="3A36A0"/>
      </a:dk2>
      <a:lt2>
        <a:srgbClr val="E7E6E6"/>
      </a:lt2>
      <a:accent1>
        <a:srgbClr val="3A36A0"/>
      </a:accent1>
      <a:accent2>
        <a:srgbClr val="1FA6A6"/>
      </a:accent2>
      <a:accent3>
        <a:srgbClr val="E9970B"/>
      </a:accent3>
      <a:accent4>
        <a:srgbClr val="6A6E85"/>
      </a:accent4>
      <a:accent5>
        <a:srgbClr val="ECEBF7"/>
      </a:accent5>
      <a:accent6>
        <a:srgbClr val="13123A"/>
      </a:accent6>
      <a:hlink>
        <a:srgbClr val="467886"/>
      </a:hlink>
      <a:folHlink>
        <a:srgbClr val="96607D"/>
      </a:folHlink>
    </a:clrScheme>
    <a:fontScheme name="Office">
      <a:majorFont>
        <a:latin typeface="Cambria"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CC0C866-1C07-4F56-8D13-4B97E0DCBD77}">
  <we:reference id="wa200010001" version="1.0.0.1" store="en-US" storeType="OMEX"/>
  <we:alternateReferences>
    <we:reference id="wa200010001" version="1.0.0.1" store="en-US" storeType="OMEX"/>
  </we:alternateReferences>
  <we:properties>
    <we:property name="claude.fileId" value="&quot;68e2a6a6-ce8d-4c3a-aaba-99c3436cca5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48</TotalTime>
  <Words>2225</Words>
  <Application>Microsoft Office PowerPoint</Application>
  <PresentationFormat>Widescreen</PresentationFormat>
  <Paragraphs>210</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Cambria</vt:lpstr>
      <vt:lpstr>Consolas</vt:lpstr>
      <vt:lpstr>Office Theme [1789388949979]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Phong Đặng Tuấn</dc:creator>
  <cp:lastModifiedBy>Phong Đặng Tuấn</cp:lastModifiedBy>
  <cp:revision>3</cp:revision>
  <dcterms:created xsi:type="dcterms:W3CDTF">2026-09-14T11:55:30Z</dcterms:created>
  <dcterms:modified xsi:type="dcterms:W3CDTF">2026-09-14T12:43:57Z</dcterms:modified>
</cp:coreProperties>
</file>