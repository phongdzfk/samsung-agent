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và các bạn. Hôm nay em trình bày phần khảo sát ba bài báo gần đây về bộ nhớ dài hạn cho LLM agent. Em xin nói rõ hai chữ viết tắt sẽ dùng suốt buổi: LLM là mô hình ngôn ngữ lớn, còn agent là chương trình để LLM tự quyết định gọi công cụ nào và làm gì tiếp theo, thay vì chỉ sinh chữ một lần rồi thôi. Ba bài APEX-MEM của Amazon Science công bố ở ACL 2026, LightMem ở ICLR 2026, và RMM ở ACL 2025. ACL và ICLR là hai hội nghị hàng đầu, một bên về xử lý ngôn ngữ tự nhiên và một bên về học máy, nên cả ba bài đều đã qua bình duyệt chứ không phải bản tự đăng. Ba bài này em đọc trực tiếp bản toàn văn chính thức đã công bố tại hội nghị, hai bài trên ACL Anthology và một bài trên OpenReview, chứ không dựa vào bản tóm tắt hay các bài viết lại, nên toàn bộ con số em đưa ra hôm nay đều lấy từ bản camera-ready. Với mỗi bài em sẽ đi đúng ba phần: kiến trúc hoạt động thế nào, kết quả thực nghiệm chứng minh được gì, và bài đó còn yếu ở đâu. Em xin bắt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vào từng bài, em nói nhanh vì sao em chọn đúng ba bài này. Em dùng ba tiêu chí. Thứ nhất là phải cùng bài toán: bộ nhớ dài hạn qua nhiều phiên hội thoại, chứ không phải bộ nhớ ngắn hạn trong một phiên hay RAG thông thường. RAG ở đây là cách làm phổ biến nhất hiện nay: cắt văn bản thành đoạn, nhúng thành vector, câu hỏi đến thì lấy vài đoạn giống nhất đưa cho mô hình đọc. Thứ hai là phải có số đo kiểm chứng được, cụ thể là kết quả trên LongMemEval. Đây là bộ dữ liệu chuẩn để đánh giá bộ nhớ dài hạn: mỗi mẫu là một lịch sử hội thoại rất dài trải qua nhiều phiên, rồi đặt câu hỏi mà muốn trả lời đúng thì phải nhớ được thông tin nằm rải rác ở các phiên trước đó; bản LongMemEval-S là bản rút gọn để chạy nhẹ hơn. Ngoài ra bài phải có ablation. Ablation nghĩa là thí nghiệm bỏ đi một thành phần rồi đo xem điểm tụt bao nhiêu, để chứng minh thành phần đó thật sự đóng góp chứ không phải thêm cho đẹp. Thứ ba là phải công bố gần đây và có ảnh hưởng, ở đây là ACL 2025, ACL 2026 và ICLR 2026. Còn một điểm nữa em muốn nói rõ. Em chủ động loại các con số do chính nhà cung cấp tự công bố mà chưa qua bình duyệt. Ví dụ Mem0 công bố 93,4 phần trăm, nhưng khi tái lập độc lập thì chỉ còn 73,8 phần trăm. Nên mọi số liệu trong phần trình bày này em đều lấy từ bản chính thức tại hội nghị.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thứ nhất là APEX-MEM của Amazon Science, công bố ở ACL 2026. Ý tưởng cốt lõi là thay vì lưu bộ nhớ dưới dạng đoạn văn bản rồi tìm kiếm theo ngữ nghĩa, họ lưu thành một cơ sở dữ liệu SQLite có cấu trúc. SQLite là một hệ cơ sở dữ liệu nhỏ gọn nằm gọn trong một file, còn SQL là ngôn ngữ dùng để hỏi dữ liệu trong đó, kiểu lấy cho tôi mọi thông tin về người này trong khoảng thời gian này. Em xin đi theo sơ đồ từ trên xuống. Trên cùng là một agent chạy theo cơ chế ReAct. ReAct nghĩa là vừa suy luận vừa hành động theo vòng lặp: mô hình nghĩ một bước, gọi một công cụ, đọc kết quả trả về, rồi dựa vào đó nghĩ tiếp, cho đến khi đủ thông tin để trả lời. Bốn công cụ nó được chọn là: SchemaViewer để xem cấu trúc bảng, EntityLookup để tra thực thể, GraphSQL để chạy truy vấn SQL, và Search để tìm theo ngữ nghĩa. Ô bên phải là một chi tiết tiết kiệm chi phí: họ chấm điểm độ liên quan của từng phiên với câu hỏi, và chỉ phiên nào vượt ngưỡng Theta lớn hơn 0,2 mới được dựng đồ thị đầy đủ, còn lại thì bỏ qua. Tất cả đổ xuống khối ở giữa, là sổ cái SQLite, và điểm quan trọng là nó chỉ ghi thêm chứ không sửa, không xoá — tiếng Anh gọi là append-only. Fact ở đây là một mẩu thông tin có cấu trúc, kiểu chủ thể rồi thuộc tính rồi giá trị. Mỗi fact được lưu kèm khoảng thời gian hiệu lực, viết là t_from và t_to, tức từ lúc nào đến lúc nào thông tin đó còn đúng, kèm độ tin cậy và bằng chứng trỏ về câu gốc. Khối màu đỏ là điểm khác biệt lớn nhất của bài này. Khi có hai thông tin mâu thuẫn nhau, họ không xoá cái cũ đi. Cả hai cùng tồn tại, mỗi cái có khoảng hiệu lực riêng, và việc quyết định cái nào đúng được dời xuống tận lúc truy vấn. Về kết quả: LOCOMO đạt 88,88 phần trăm với nền GPT-5, LongMemEval đạt 86,2 phần trăm với nền Claude 4.5 Sonnet. LOCOMO cũng là một bộ đánh giá hội thoại dài tương tự LongMemEval. Ablation đáng chú ý nhất là khi thêm khả năng truy vấn theo thời gian bằng GraphSQL, độ chính xác trên nhóm câu hỏi về thời gian tăng từ 72,92 lên 82,29 phần trăm. Về hạn chế, bài này đắt: mỗi câu hỏi được phép gọi công cụ tối đa 40 lượt, và phần lớn agent bão hoà ở khoảng 20 lượt. Và nó phụ thuộc rất nặng vào việc LLM nền có giỏi dùng công cụ hay không. Khi đổi từ Claude sang GPT-4o, LongMemEval rơi từ 86,2 xuống 75,0 phần trăm, lý do là GPT-4o sinh câu SQL sai. Ngoài ra bài này không công khai mã nguồn. Còn một chi tiết em thấy rất đáng chú ý: ngay trong chính bài này, baseline đơn giản của họ, chỉ mở rộng khoá tìm kiếm bằng fact rồi lấy top 5, đã đạt 72,5 phần trăm. Baseline nghĩa là phương án nền đơn giản, dựng ra để làm mốc so sánh, cao hơn cả Zep là 71,2 và Mem0 là 71,3. Zep và Mem0 ở đây là hai hệ bộ nhớ thương mại được dùng rộng rãi, nên việc một baseline rất đơn giản vượt được cả hai là điều đáng suy nghĩ.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thứ hai là LightMem, công bố ở ICLR 2026. Nếu APEX-MEM đi theo hướng chính xác bằng mọi giá thì LightMem đi hướng ngược lại: làm sao cho rẻ nhất có thể. Kiến trúc chia làm ba tầng, mô phỏng theo mô hình trí nhớ của con người. Light1 là tầng cảm giác: nén văn bản đầu vào bằng LLMLingua-2, đồng thời cắt hội thoại thành các đoạn theo chủ đề. LLMLingua-2 là một mô hình nén văn bản: nó chấm điểm quan trọng cho từng từ rồi bỏ bớt những từ ít quan trọng, giữ lại phần lõi nghĩa. Điểm hay ở đây là việc cắt chủ đề không cần gọi thêm LLM nào cả, họ tận dụng luôn điểm attention có sẵn trong quá trình nén. Attention ở đây hiểu đơn giản là mức độ mô hình chú ý vào từng từ; chỗ nào mức chú ý đổi đột ngột thì khả năng cao đó là chỗ chuyển chủ đề. Light2 là bộ nhớ ngắn hạn: các đoạn cùng chủ đề được gom vào một bộ đệm, và chỉ khi bộ đệm đầy, khoảng 256 đến 1024 token, thì mới gọi LLM một lần để trích xuất. Token là đơn vị chữ mà mô hình xử lý, mỗi token tương đương khoảng một từ hoặc một phần của từ. Đây chính là chỗ tiết kiệm chi phí lớn nhất. Light3 là bộ nhớ dài hạn, và họ tách làm hai luồng: lúc đang chạy thì chỉ chèn thêm thật nhanh, còn việc hợp nhất và dọn dẹp thì để dành chạy ngoại tuyến sau, song song. Dòng dưới cùng là công thức độ phức tạp, em giải thích nhanh từng ký hiệu: N là số lượt hội thoại, T là độ dài trung bình mỗi lượt tính bằng token, r mũ x là phần còn lại sau khi nén, còn th là ngưỡng bộ đệm. Ý nghĩa là số lần gọi LLM bằng tổng số token sau nén chia cho ngưỡng bộ đệm, thay vì bằng đúng số lượt như cách gọi mỗi lượt một lần. Tức là rẻ hơn về mặt lý thuyết chứ không phải may mắn trong thực nghiệm. Về kết quả: trên LongMemEval-S, LightMem chỉ tốn từ 18 đến 30 lời gọi LLM cho mỗi mẫu, trong khi A-MEM tốn khoảng 987 và Mem0 khoảng 812, mà độ chính xác vẫn cao hơn A-MEM khoảng 6 điểm, cụ thể là 68,64 so với 62,60. A-MEM cũng là một hệ bộ nhớ công bố trước đó, được dùng làm mốc so sánh chính. Về hạn chế, em muốn nói thẳng: NaiveRAG với cùng cấu hình đã đạt 61 phần trăm rồi. NaiveRAG nghĩa là cách RAG cơ bản nhất, không có bộ nhớ gì đặc biệt. Nên phần đóng góp thật sự của LightMem chỉ khoảng 7 điểm. Ngoài ra đơn vị bộ nhớ của họ là tóm tắt theo chủ đề, không phải fact có cấu trúc, nên nó yếu ở những câu hỏi cần độ chính xác cao về thời gian hoặc về một trường thông tin cụ thể. Ablation quan trọng nhất: nếu bỏ bước cắt theo chủ đề đi thì độ chính xác giảm từ 5,4 đến 6,3 điểm, chứng tỏ bước đó thật sự có tác dụng chứ không phải thêm vào cho đẹp.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thứ ba là RMM, công bố ở ACL 2025, RMM là viết tắt của Reflective Memory Management, tức quản lý bộ nhớ bằng phản tư, còn tên đầy đủ của bài là In Prospect and Retrospect. Bài này có cách tiếp cận khác hẳn hai bài trên: thay vì thiết kế cấu trúc lưu trữ thật tốt, họ để hệ thống tự học cách truy xuất. Có hai cơ chế phản tư. Hàng trên là Prospective Reflection, phản tư hướng tới. Cuối mỗi phiên hội thoại, họ gọi LLM đúng một lần để tách nội dung phiên đó thành các chủ đề, rồi quyết định là gộp vào một mục nhớ đã có hay tạo mục mới. Mỗi mục nhớ gồm hai phần: bản tóm tắt chủ đề và đoạn hội thoại gốc, trong đó bản tóm tắt đóng vai trò khoá tìm kiếm. Hàng dưới là Retrospective Reflection, phản tư nhìn lại, và đây mới là phần chính của bài. Mỗi khi có câu hỏi, retriever lấy ra top-K mục nhớ. Retriever là bộ tìm kiếm theo độ tương đồng vector, còn top-K nghĩa là lấy K mục giống nhất. Nhưng họ không đưa thẳng cho LLM mà cho đi qua một reranker, tức bộ sắp xếp lại thứ hạng, để chọn lại top-M ít hơn. Reranker này chỉ là một mạng MLP, tức một mạng nơ-ron nhỏ vài lớp, huấn luyện được trên CPU. Nó có kết nối residual, nghĩa là điểm của retriever được cộng thẳng vào đầu ra, nên reranker khởi động từ thứ hạng có sẵn thay vì từ ngẫu nhiên. Còn Gumbel-trick là kỹ thuật cho phép lấy mẫu một lựa chọn rời rạc — chọn mục nhớ nào — mà vẫn tính được gradient để huấn luyện, vì bình thường phép chọn rời rạc làm đứt đường lan truyền gradient. Sau đó LLM vừa sinh câu trả lời vừa ghi trích dẫn là nó đã dùng những mục nhớ nào, trong cùng một lượt gọi. Mũi tên đỏ đi ngược lên chính là phần thưởng: mục nhớ nào được trích dẫn thì cộng một, không được trích dẫn thì trừ một, và tín hiệu đó dùng để huấn luyện reranker bằng REINFORCE. REINFORCE là thuật toán học tăng cường cơ bản: hành động nào được thưởng thì tăng xác suất chọn nó lần sau, hành động nào bị phạt thì giảm. Điểm hay là họ lấy được tín hiệu huấn luyện gần như miễn phí từ chính câu trả lời, không tốn thêm lượt gọi nào để chấm điểm. Về kết quả: trên LongMemEval, RMM kết hợp với embedder GTE đạt 69,8 phần trăm Recall@5 và 70,4 phần trăm accuracy, so với RAG nền là 62,4 và 63,6. Hai chỉ số này khác nhau: Recall@5 là tỉ lệ câu hỏi mà trong năm mục nhớ lấy ra có chứa mục chứa đáp án, tức đo khâu tìm; còn accuracy là tỉ lệ câu trả lời cuối cùng đúng, tức đo cả hệ. Hạn chế là con số đẹp đó phụ thuộc vào embedder nặng. Embedder là mô hình biến văn bản thành vector để so khớp. Nếu dùng embedder nhẹ như Contriever thì chỉ còn 61,2 phần trăm accuracy, trong khi RAG nền đã 58,8 rồi. Muốn đạt 70,4 thì phải dùng GTE-Qwen2-7B, một mô hình 7 tỉ tham số. Nhưng ablation quan trọng nhất của cả ba bài nằm ở khối đậm phía trên: nếu bỏ reranker riêng đi và áp học tăng cường thẳng lên retriever thì accuracy sụp từ 59,6 xuống 31,0 phần trăm, còn Recall@5 sụp từ 57,4 xuống 34,2 phần trăm, đều thấp hơn cả RAG nền chưa dùng học tăng cường. Đây là một cảnh báo rất cụ thể về mặt kỹ thuật: tín hiệu học tăng cường đủ mạnh để phá hỏng không gian embedding nếu áp sai chỗ.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em đặt ba hệ cạnh nhau theo sáu trục thiết kế. Em xin đi nhanh qua vài hàng đáng chú ý. Hàng đơn vị bộ nhớ: RMM lưu cặp tóm tắt và đoạn gốc, LightMem lưu tóm tắt theo chủ đề, còn APEX-MEM lưu fact có cấu trúc kèm khoảng thời gian, độ tin cậy và bằng chứng. Đi từ trái sang phải là đi từ ít cấu trúc tới nhiều cấu trúc. Hàng khi nào gọi LLM để ghi cho thấy chi phí: RMM gọi một lần mỗi phiên, LightMem gọi khi bộ đệm đầy, còn APEX-MEM gọi nhiều nhất. Hàng em thấy đáng chú ý nhất là xử lý xung đột và thời gian. Chỉ có APEX-MEM giải quyết trực diện, bằng cách giữ lại cả hai thông tin mâu thuẫn và dùng SQL thời gian lúc truy vấn. Hai bài còn lại né vấn đề này theo hai cách khác nhau: RMM giữ nguyên đoạn hội thoại gốc để LLM tự suy luận, còn LightMem thì đơn giản là không có khái niệm fact nên không xử lý được. Và điều em muốn rút ra từ bảng này nằm ở dòng cuối cùng: cả ba đang nằm trên cùng một trục đánh đổi. Bộ nhớ càng được cấu trúc hoá thì suy luận thời gian càng chính xác, nhưng chi phí gọi LLM càng cao. APEX-MEM ở một đầu của trục, LightMem ở đầu kia, còn RMM chọn đi đường khác hẳn: cải thiện bằng cách học truy xuất thay vì bằng cấu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tổng kết lại ba bài. APEX-MEM là chính xác nhất nhưng cũng đắt nhất: đạt độ chính xác cao nhất nhờ suy luận thời gian tường minh bằng SQL, nhưng đổi lại cần LLM giỏi dùng công cụ và tốn nhiều lượt gọi nhất. LightMem là rẻ nhất và đơn giản nhất: giảm số lượt gọi LLM mạnh nhất, chạy được trên phần cứng nhẹ, nhưng vì đơn vị nhớ không có cấu trúc nên yếu ở những câu hỏi đòi độ chính xác cao về một trường thông tin cụ thể hoặc về mốc thời gian. RMM nằm ở giữa: kết hợp được cả trích xuất thông minh lúc ghi và truy xuất học được lúc đọc, nhưng phần học tăng cường là con dao hai lưỡi, thiết kế sai chỗ thì kết quả còn tệ hơn khi không dùng. Nên kết luận trung thực là không có hệ nào thắng tuyệt đối, mỗi bài chọn một điểm đánh đổi khác nhau giữa độ chính xác, chi phí và độ ổn định. Và nếu chỉ được giữ lại một ý duy nhất từ toàn bộ phần khảo sát này, em xin giữ câu ở dưới cùng: cả ba bài thực chất đang trả lời cùng một câu hỏi theo ba cách khác nhau, đó là nên bỏ chi phí vào việc cấu trúc hoá bộ nhớ lúc ghi, hay bỏ vào việc học cách truy xuất lúc đọc.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Cuối cùng là ba tài liệu tham khảo. Cả ba em đều đọc bản toàn văn chính thức tại hội nghị, hai bài trên ACL Anthology và một bài trên OpenReview, chứ không chỉ đọc bản arXiv, tức bản tiền ấn bản tác giả tự đăng trước khi qua bình duyệt. Em xin hết phần trình bày. Em sẵn sàng nhận câu hỏi 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23A"/>
        </a:solidFill>
      </p:bgPr>
    </p:bg>
    <p:spTree>
      <p:nvGrpSpPr>
        <p:cNvPr id="1" name=""/>
        <p:cNvGrpSpPr/>
        <p:nvPr/>
      </p:nvGrpSpPr>
      <p:grpSpPr>
        <a:xfrm>
          <a:off x="0" y="0"/>
          <a:ext cx="0" cy="0"/>
          <a:chOff x="0" y="0"/>
          <a:chExt cx="0" cy="0"/>
        </a:xfrm>
      </p:grpSpPr>
      <p:sp>
        <p:nvSpPr>
          <p:cNvPr id="2" name="Text 0"/>
          <p:cNvSpPr txBox="1"/>
          <p:nvPr/>
        </p:nvSpPr>
        <p:spPr>
          <a:xfrm>
            <a:off x="566928" y="457200"/>
            <a:ext cx="10058400" cy="274320"/>
          </a:xfrm>
          <a:prstGeom prst="rect">
            <a:avLst/>
          </a:prstGeom>
          <a:noFill/>
          <a:ln/>
        </p:spPr>
        <p:txBody>
          <a:bodyPr wrap="square" lIns="0" tIns="0" rIns="0" bIns="0" rtlCol="0" anchor="ctr"/>
          <a:lstStyle/>
          <a:p>
            <a:pPr indent="0" marL="0">
              <a:buNone/>
            </a:pPr>
            <a:r>
              <a:rPr lang="en-US" sz="1500" b="1" spc="100" kern="0" dirty="0">
                <a:solidFill>
                  <a:srgbClr val="CADCFC"/>
                </a:solidFill>
                <a:latin typeface="Calibri" pitchFamily="34" charset="0"/>
                <a:ea typeface="Calibri" pitchFamily="34" charset="-122"/>
                <a:cs typeface="Calibri" pitchFamily="34" charset="-120"/>
              </a:rPr>
              <a:t>GIỚI THIỆU CÁC BÀI BÁO LIÊN QUAN</a:t>
            </a:r>
            <a:endParaRPr lang="en-US" sz="1500" dirty="0"/>
          </a:p>
        </p:txBody>
      </p:sp>
      <p:sp>
        <p:nvSpPr>
          <p:cNvPr id="3" name="Text 1"/>
          <p:cNvSpPr txBox="1"/>
          <p:nvPr/>
        </p:nvSpPr>
        <p:spPr>
          <a:xfrm>
            <a:off x="566928" y="1920240"/>
            <a:ext cx="11027664" cy="201168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Bộ nhớ dài hạn cho LLM Agent:</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Giới thiệu 3 bài báo gần đây</a:t>
            </a:r>
            <a:endParaRPr lang="en-US" sz="4000" dirty="0"/>
          </a:p>
        </p:txBody>
      </p:sp>
      <p:sp>
        <p:nvSpPr>
          <p:cNvPr id="4" name="Text 2"/>
          <p:cNvSpPr txBox="1"/>
          <p:nvPr/>
        </p:nvSpPr>
        <p:spPr>
          <a:xfrm>
            <a:off x="566928" y="3977640"/>
            <a:ext cx="11027664" cy="45720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APEX-MEM (ACL 2026, Amazon Science)   ·   LightMem (ICLR 2026)   ·   RMM (ACL 2025)</a:t>
            </a:r>
            <a:endParaRPr lang="en-US" sz="1700" dirty="0"/>
          </a:p>
        </p:txBody>
      </p:sp>
      <p:sp>
        <p:nvSpPr>
          <p:cNvPr id="5" name="Text 3"/>
          <p:cNvSpPr txBox="1"/>
          <p:nvPr/>
        </p:nvSpPr>
        <p:spPr>
          <a:xfrm>
            <a:off x="566928" y="6035040"/>
            <a:ext cx="11027664" cy="365760"/>
          </a:xfrm>
          <a:prstGeom prst="rect">
            <a:avLst/>
          </a:prstGeom>
          <a:noFill/>
          <a:ln/>
        </p:spPr>
        <p:txBody>
          <a:bodyPr wrap="square" lIns="0" tIns="0" rIns="0" bIns="0" rtlCol="0" anchor="ctr"/>
          <a:lstStyle/>
          <a:p>
            <a:pPr indent="0" marL="0">
              <a:buNone/>
            </a:pPr>
            <a:r>
              <a:rPr lang="en-US" sz="1300" dirty="0">
                <a:solidFill>
                  <a:srgbClr val="9A9FC2"/>
                </a:solidFill>
                <a:latin typeface="Calibri" pitchFamily="34" charset="0"/>
                <a:ea typeface="Calibri" pitchFamily="34" charset="-122"/>
                <a:cs typeface="Calibri" pitchFamily="34" charset="-120"/>
              </a:rPr>
              <a:t>Số liệu lấy từ bản chính thức tại hội nghị (ACL Anthology, ICLR)  ·  Đặng Tuấn Phong – Nguyễn Trí Dũng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10058400" cy="274320"/>
          </a:xfrm>
          <a:prstGeom prst="rect">
            <a:avLst/>
          </a:prstGeom>
          <a:noFill/>
          <a:ln/>
        </p:spPr>
        <p:txBody>
          <a:bodyPr wrap="square" lIns="0" tIns="0" rIns="0" bIns="0" rtlCol="0" anchor="ctr"/>
          <a:lstStyle/>
          <a:p>
            <a:pPr indent="0" marL="0">
              <a:buNone/>
            </a:pPr>
            <a:r>
              <a:rPr lang="en-US" sz="1500" b="1" spc="100" kern="0" dirty="0">
                <a:solidFill>
                  <a:srgbClr val="3A36A0"/>
                </a:solidFill>
                <a:latin typeface="Calibri" pitchFamily="34" charset="0"/>
                <a:ea typeface="Calibri" pitchFamily="34" charset="-122"/>
                <a:cs typeface="Calibri" pitchFamily="34" charset="-120"/>
              </a:rPr>
              <a:t>MỤC ĐÍCH</a:t>
            </a:r>
            <a:endParaRPr lang="en-US" sz="1500" dirty="0"/>
          </a:p>
        </p:txBody>
      </p:sp>
      <p:sp>
        <p:nvSpPr>
          <p:cNvPr id="3" name="Text 1"/>
          <p:cNvSpPr txBox="1"/>
          <p:nvPr/>
        </p:nvSpPr>
        <p:spPr>
          <a:xfrm>
            <a:off x="566928" y="822960"/>
            <a:ext cx="11027664" cy="640080"/>
          </a:xfrm>
          <a:prstGeom prst="rect">
            <a:avLst/>
          </a:prstGeom>
          <a:noFill/>
          <a:ln/>
        </p:spPr>
        <p:txBody>
          <a:bodyPr wrap="square" lIns="0" tIns="0" rIns="0" bIns="0" rtlCol="0" anchor="t"/>
          <a:lstStyle/>
          <a:p>
            <a:pPr indent="0" marL="0">
              <a:buNone/>
            </a:pPr>
            <a:r>
              <a:rPr lang="en-US" sz="2600" b="1" dirty="0">
                <a:solidFill>
                  <a:srgbClr val="13123A"/>
                </a:solidFill>
                <a:latin typeface="Cambria" pitchFamily="34" charset="0"/>
                <a:ea typeface="Cambria" pitchFamily="34" charset="-122"/>
                <a:cs typeface="Cambria" pitchFamily="34" charset="-120"/>
              </a:rPr>
              <a:t>Phạm vi và tiêu chí khảo sát</a:t>
            </a:r>
            <a:endParaRPr lang="en-US" sz="2600" dirty="0"/>
          </a:p>
        </p:txBody>
      </p:sp>
      <p:sp>
        <p:nvSpPr>
          <p:cNvPr id="4" name="Text 2"/>
          <p:cNvSpPr txBox="1"/>
          <p:nvPr/>
        </p:nvSpPr>
        <p:spPr>
          <a:xfrm>
            <a:off x="566928" y="1874520"/>
            <a:ext cx="11027664" cy="640080"/>
          </a:xfrm>
          <a:prstGeom prst="rect">
            <a:avLst/>
          </a:prstGeom>
          <a:noFill/>
          <a:ln/>
        </p:spPr>
        <p:txBody>
          <a:bodyPr wrap="square" lIns="0" tIns="0" rIns="0" bIns="0" rtlCol="0" anchor="t"/>
          <a:lstStyle/>
          <a:p>
            <a:pPr indent="0" marL="0">
              <a:buNone/>
            </a:pPr>
            <a:r>
              <a:rPr lang="en-US" sz="1700" dirty="0">
                <a:solidFill>
                  <a:srgbClr val="4A4E63"/>
                </a:solidFill>
                <a:latin typeface="Calibri" pitchFamily="34" charset="0"/>
                <a:ea typeface="Calibri" pitchFamily="34" charset="-122"/>
                <a:cs typeface="Calibri" pitchFamily="34" charset="-120"/>
              </a:rPr>
              <a:t>Mục tiêu là hiểu đúng cơ chế và giá trị cốt lõi của từng hệ, không chỉ liệt kê tên bài báo. Ba tiêu chí chọn bài:</a:t>
            </a:r>
            <a:endParaRPr lang="en-US" sz="1700" dirty="0"/>
          </a:p>
        </p:txBody>
      </p:sp>
      <p:sp>
        <p:nvSpPr>
          <p:cNvPr id="5" name="Shape 3"/>
          <p:cNvSpPr/>
          <p:nvPr/>
        </p:nvSpPr>
        <p:spPr>
          <a:xfrm>
            <a:off x="566928" y="2743200"/>
            <a:ext cx="3520440" cy="2148840"/>
          </a:xfrm>
          <a:prstGeom prst="roundRect">
            <a:avLst>
              <a:gd name="adj" fmla="val 3404"/>
            </a:avLst>
          </a:prstGeom>
          <a:solidFill>
            <a:srgbClr val="F7F7FB"/>
          </a:solidFill>
          <a:ln w="12700">
            <a:solidFill>
              <a:srgbClr val="3A36A0"/>
            </a:solidFill>
            <a:prstDash val="solid"/>
          </a:ln>
        </p:spPr>
      </p:sp>
      <p:sp>
        <p:nvSpPr>
          <p:cNvPr id="6" name="Text 4"/>
          <p:cNvSpPr txBox="1"/>
          <p:nvPr/>
        </p:nvSpPr>
        <p:spPr>
          <a:xfrm>
            <a:off x="768096" y="2907792"/>
            <a:ext cx="640080" cy="548640"/>
          </a:xfrm>
          <a:prstGeom prst="rect">
            <a:avLst/>
          </a:prstGeom>
          <a:noFill/>
          <a:ln/>
        </p:spPr>
        <p:txBody>
          <a:bodyPr wrap="square" lIns="0" tIns="0" rIns="0" bIns="0" rtlCol="0" anchor="ctr"/>
          <a:lstStyle/>
          <a:p>
            <a:pPr indent="0" marL="0">
              <a:buNone/>
            </a:pPr>
            <a:r>
              <a:rPr lang="en-US" sz="3000" b="1" dirty="0">
                <a:solidFill>
                  <a:srgbClr val="3A36A0"/>
                </a:solidFill>
                <a:latin typeface="Cambria" pitchFamily="34" charset="0"/>
                <a:ea typeface="Cambria" pitchFamily="34" charset="-122"/>
                <a:cs typeface="Cambria" pitchFamily="34" charset="-120"/>
              </a:rPr>
              <a:t>1</a:t>
            </a:r>
            <a:endParaRPr lang="en-US" sz="3000" dirty="0"/>
          </a:p>
        </p:txBody>
      </p:sp>
      <p:sp>
        <p:nvSpPr>
          <p:cNvPr id="7" name="Text 5"/>
          <p:cNvSpPr txBox="1"/>
          <p:nvPr/>
        </p:nvSpPr>
        <p:spPr>
          <a:xfrm>
            <a:off x="768096" y="3493008"/>
            <a:ext cx="3118104" cy="502920"/>
          </a:xfrm>
          <a:prstGeom prst="rect">
            <a:avLst/>
          </a:prstGeom>
          <a:noFill/>
          <a:ln/>
        </p:spPr>
        <p:txBody>
          <a:bodyPr wrap="square" lIns="0" tIns="0" rIns="0" bIns="0" rtlCol="0" anchor="t"/>
          <a:lstStyle/>
          <a:p>
            <a:pPr indent="0" marL="0">
              <a:buNone/>
            </a:pPr>
            <a:r>
              <a:rPr lang="en-US" sz="1550" b="1" dirty="0">
                <a:solidFill>
                  <a:srgbClr val="13123A"/>
                </a:solidFill>
                <a:latin typeface="Calibri" pitchFamily="34" charset="0"/>
                <a:ea typeface="Calibri" pitchFamily="34" charset="-122"/>
                <a:cs typeface="Calibri" pitchFamily="34" charset="-120"/>
              </a:rPr>
              <a:t>Cùng bài toán</a:t>
            </a:r>
            <a:endParaRPr lang="en-US" sz="1550" dirty="0"/>
          </a:p>
        </p:txBody>
      </p:sp>
      <p:sp>
        <p:nvSpPr>
          <p:cNvPr id="8" name="Text 6"/>
          <p:cNvSpPr txBox="1"/>
          <p:nvPr/>
        </p:nvSpPr>
        <p:spPr>
          <a:xfrm>
            <a:off x="768096" y="3950208"/>
            <a:ext cx="3118104" cy="822960"/>
          </a:xfrm>
          <a:prstGeom prst="rect">
            <a:avLst/>
          </a:prstGeom>
          <a:noFill/>
          <a:ln/>
        </p:spPr>
        <p:txBody>
          <a:bodyPr wrap="square" lIns="0" tIns="0" rIns="0" bIns="0" rtlCol="0" anchor="t"/>
          <a:lstStyle/>
          <a:p>
            <a:pPr indent="0" marL="0">
              <a:buNone/>
            </a:pPr>
            <a:r>
              <a:rPr lang="en-US" sz="1250" dirty="0">
                <a:solidFill>
                  <a:srgbClr val="4A4E63"/>
                </a:solidFill>
                <a:latin typeface="Calibri" pitchFamily="34" charset="0"/>
                <a:ea typeface="Calibri" pitchFamily="34" charset="-122"/>
                <a:cs typeface="Calibri" pitchFamily="34" charset="-120"/>
              </a:rPr>
              <a:t>Bộ nhớ dài hạn nhiều phiên cho LLM agent — không phải bộ nhớ ngắn hạn hay RAG một phiên.</a:t>
            </a:r>
            <a:endParaRPr lang="en-US" sz="1250" dirty="0"/>
          </a:p>
        </p:txBody>
      </p:sp>
      <p:sp>
        <p:nvSpPr>
          <p:cNvPr id="9" name="Shape 7"/>
          <p:cNvSpPr/>
          <p:nvPr/>
        </p:nvSpPr>
        <p:spPr>
          <a:xfrm>
            <a:off x="4306824" y="2743200"/>
            <a:ext cx="3520440" cy="2148840"/>
          </a:xfrm>
          <a:prstGeom prst="roundRect">
            <a:avLst>
              <a:gd name="adj" fmla="val 3404"/>
            </a:avLst>
          </a:prstGeom>
          <a:solidFill>
            <a:srgbClr val="ECEBF7"/>
          </a:solidFill>
          <a:ln w="12700">
            <a:solidFill>
              <a:srgbClr val="3A36A0"/>
            </a:solidFill>
            <a:prstDash val="solid"/>
          </a:ln>
        </p:spPr>
      </p:sp>
      <p:sp>
        <p:nvSpPr>
          <p:cNvPr id="10" name="Text 8"/>
          <p:cNvSpPr txBox="1"/>
          <p:nvPr/>
        </p:nvSpPr>
        <p:spPr>
          <a:xfrm>
            <a:off x="4507992" y="2907792"/>
            <a:ext cx="640080" cy="548640"/>
          </a:xfrm>
          <a:prstGeom prst="rect">
            <a:avLst/>
          </a:prstGeom>
          <a:noFill/>
          <a:ln/>
        </p:spPr>
        <p:txBody>
          <a:bodyPr wrap="square" lIns="0" tIns="0" rIns="0" bIns="0" rtlCol="0" anchor="ctr"/>
          <a:lstStyle/>
          <a:p>
            <a:pPr indent="0" marL="0">
              <a:buNone/>
            </a:pPr>
            <a:r>
              <a:rPr lang="en-US" sz="3000" b="1" dirty="0">
                <a:solidFill>
                  <a:srgbClr val="3A36A0"/>
                </a:solidFill>
                <a:latin typeface="Cambria" pitchFamily="34" charset="0"/>
                <a:ea typeface="Cambria" pitchFamily="34" charset="-122"/>
                <a:cs typeface="Cambria" pitchFamily="34" charset="-120"/>
              </a:rPr>
              <a:t>2</a:t>
            </a:r>
            <a:endParaRPr lang="en-US" sz="3000" dirty="0"/>
          </a:p>
        </p:txBody>
      </p:sp>
      <p:sp>
        <p:nvSpPr>
          <p:cNvPr id="11" name="Text 9"/>
          <p:cNvSpPr txBox="1"/>
          <p:nvPr/>
        </p:nvSpPr>
        <p:spPr>
          <a:xfrm>
            <a:off x="4507992" y="3493008"/>
            <a:ext cx="3118104" cy="502920"/>
          </a:xfrm>
          <a:prstGeom prst="rect">
            <a:avLst/>
          </a:prstGeom>
          <a:noFill/>
          <a:ln/>
        </p:spPr>
        <p:txBody>
          <a:bodyPr wrap="square" lIns="0" tIns="0" rIns="0" bIns="0" rtlCol="0" anchor="t"/>
          <a:lstStyle/>
          <a:p>
            <a:pPr indent="0" marL="0">
              <a:buNone/>
            </a:pPr>
            <a:r>
              <a:rPr lang="en-US" sz="1550" b="1" dirty="0">
                <a:solidFill>
                  <a:srgbClr val="13123A"/>
                </a:solidFill>
                <a:latin typeface="Calibri" pitchFamily="34" charset="0"/>
                <a:ea typeface="Calibri" pitchFamily="34" charset="-122"/>
                <a:cs typeface="Calibri" pitchFamily="34" charset="-120"/>
              </a:rPr>
              <a:t>Có số đo kiểm chứng</a:t>
            </a:r>
            <a:endParaRPr lang="en-US" sz="1550" dirty="0"/>
          </a:p>
        </p:txBody>
      </p:sp>
      <p:sp>
        <p:nvSpPr>
          <p:cNvPr id="12" name="Text 10"/>
          <p:cNvSpPr txBox="1"/>
          <p:nvPr/>
        </p:nvSpPr>
        <p:spPr>
          <a:xfrm>
            <a:off x="4507992" y="3950208"/>
            <a:ext cx="3118104" cy="822960"/>
          </a:xfrm>
          <a:prstGeom prst="rect">
            <a:avLst/>
          </a:prstGeom>
          <a:noFill/>
          <a:ln/>
        </p:spPr>
        <p:txBody>
          <a:bodyPr wrap="square" lIns="0" tIns="0" rIns="0" bIns="0" rtlCol="0" anchor="t"/>
          <a:lstStyle/>
          <a:p>
            <a:pPr indent="0" marL="0">
              <a:buNone/>
            </a:pPr>
            <a:r>
              <a:rPr lang="en-US" sz="1250" dirty="0">
                <a:solidFill>
                  <a:srgbClr val="4A4E63"/>
                </a:solidFill>
                <a:latin typeface="Calibri" pitchFamily="34" charset="0"/>
                <a:ea typeface="Calibri" pitchFamily="34" charset="-122"/>
                <a:cs typeface="Calibri" pitchFamily="34" charset="-120"/>
              </a:rPr>
              <a:t>Báo cáo kết quả trên LongMemEval hoặc benchmark tương đương, kèm ablation rõ ràng — không chỉ mô tả ý tưởng.</a:t>
            </a:r>
            <a:endParaRPr lang="en-US" sz="1250" dirty="0"/>
          </a:p>
        </p:txBody>
      </p:sp>
      <p:sp>
        <p:nvSpPr>
          <p:cNvPr id="13" name="Shape 11"/>
          <p:cNvSpPr/>
          <p:nvPr/>
        </p:nvSpPr>
        <p:spPr>
          <a:xfrm>
            <a:off x="8046720" y="2743200"/>
            <a:ext cx="3520440" cy="2148840"/>
          </a:xfrm>
          <a:prstGeom prst="roundRect">
            <a:avLst>
              <a:gd name="adj" fmla="val 3404"/>
            </a:avLst>
          </a:prstGeom>
          <a:solidFill>
            <a:srgbClr val="F7F7FB"/>
          </a:solidFill>
          <a:ln w="12700">
            <a:solidFill>
              <a:srgbClr val="3A36A0"/>
            </a:solidFill>
            <a:prstDash val="solid"/>
          </a:ln>
        </p:spPr>
      </p:sp>
      <p:sp>
        <p:nvSpPr>
          <p:cNvPr id="14" name="Text 12"/>
          <p:cNvSpPr txBox="1"/>
          <p:nvPr/>
        </p:nvSpPr>
        <p:spPr>
          <a:xfrm>
            <a:off x="8247888" y="2907792"/>
            <a:ext cx="640080" cy="548640"/>
          </a:xfrm>
          <a:prstGeom prst="rect">
            <a:avLst/>
          </a:prstGeom>
          <a:noFill/>
          <a:ln/>
        </p:spPr>
        <p:txBody>
          <a:bodyPr wrap="square" lIns="0" tIns="0" rIns="0" bIns="0" rtlCol="0" anchor="ctr"/>
          <a:lstStyle/>
          <a:p>
            <a:pPr indent="0" marL="0">
              <a:buNone/>
            </a:pPr>
            <a:r>
              <a:rPr lang="en-US" sz="3000" b="1" dirty="0">
                <a:solidFill>
                  <a:srgbClr val="3A36A0"/>
                </a:solidFill>
                <a:latin typeface="Cambria" pitchFamily="34" charset="0"/>
                <a:ea typeface="Cambria" pitchFamily="34" charset="-122"/>
                <a:cs typeface="Cambria" pitchFamily="34" charset="-120"/>
              </a:rPr>
              <a:t>3</a:t>
            </a:r>
            <a:endParaRPr lang="en-US" sz="3000" dirty="0"/>
          </a:p>
        </p:txBody>
      </p:sp>
      <p:sp>
        <p:nvSpPr>
          <p:cNvPr id="15" name="Text 13"/>
          <p:cNvSpPr txBox="1"/>
          <p:nvPr/>
        </p:nvSpPr>
        <p:spPr>
          <a:xfrm>
            <a:off x="8247888" y="3493008"/>
            <a:ext cx="3118104" cy="502920"/>
          </a:xfrm>
          <a:prstGeom prst="rect">
            <a:avLst/>
          </a:prstGeom>
          <a:noFill/>
          <a:ln/>
        </p:spPr>
        <p:txBody>
          <a:bodyPr wrap="square" lIns="0" tIns="0" rIns="0" bIns="0" rtlCol="0" anchor="t"/>
          <a:lstStyle/>
          <a:p>
            <a:pPr indent="0" marL="0">
              <a:buNone/>
            </a:pPr>
            <a:r>
              <a:rPr lang="en-US" sz="1550" b="1" dirty="0">
                <a:solidFill>
                  <a:srgbClr val="13123A"/>
                </a:solidFill>
                <a:latin typeface="Calibri" pitchFamily="34" charset="0"/>
                <a:ea typeface="Calibri" pitchFamily="34" charset="-122"/>
                <a:cs typeface="Calibri" pitchFamily="34" charset="-120"/>
              </a:rPr>
              <a:t>Công bố gần đây, có ảnh hưởng</a:t>
            </a:r>
            <a:endParaRPr lang="en-US" sz="1550" dirty="0"/>
          </a:p>
        </p:txBody>
      </p:sp>
      <p:sp>
        <p:nvSpPr>
          <p:cNvPr id="16" name="Text 14"/>
          <p:cNvSpPr txBox="1"/>
          <p:nvPr/>
        </p:nvSpPr>
        <p:spPr>
          <a:xfrm>
            <a:off x="8247888" y="3950208"/>
            <a:ext cx="3118104" cy="822960"/>
          </a:xfrm>
          <a:prstGeom prst="rect">
            <a:avLst/>
          </a:prstGeom>
          <a:noFill/>
          <a:ln/>
        </p:spPr>
        <p:txBody>
          <a:bodyPr wrap="square" lIns="0" tIns="0" rIns="0" bIns="0" rtlCol="0" anchor="t"/>
          <a:lstStyle/>
          <a:p>
            <a:pPr indent="0" marL="0">
              <a:buNone/>
            </a:pPr>
            <a:r>
              <a:rPr lang="en-US" sz="1250" dirty="0">
                <a:solidFill>
                  <a:srgbClr val="4A4E63"/>
                </a:solidFill>
                <a:latin typeface="Calibri" pitchFamily="34" charset="0"/>
                <a:ea typeface="Calibri" pitchFamily="34" charset="-122"/>
                <a:cs typeface="Calibri" pitchFamily="34" charset="-120"/>
              </a:rPr>
              <a:t>ACL 2025/2026, ICLR 2026 — đại diện cho hướng tiếp cận mới nhất của lĩnh vực.</a:t>
            </a:r>
            <a:endParaRPr lang="en-US" sz="1250" dirty="0"/>
          </a:p>
        </p:txBody>
      </p:sp>
      <p:sp>
        <p:nvSpPr>
          <p:cNvPr id="17" name="Shape 15"/>
          <p:cNvSpPr/>
          <p:nvPr/>
        </p:nvSpPr>
        <p:spPr>
          <a:xfrm>
            <a:off x="566928" y="5212080"/>
            <a:ext cx="11027664" cy="868680"/>
          </a:xfrm>
          <a:prstGeom prst="roundRect">
            <a:avLst>
              <a:gd name="adj" fmla="val 8421"/>
            </a:avLst>
          </a:prstGeom>
          <a:solidFill>
            <a:srgbClr val="13123A"/>
          </a:solidFill>
          <a:ln/>
        </p:spPr>
      </p:sp>
      <p:sp>
        <p:nvSpPr>
          <p:cNvPr id="18" name="Text 16"/>
          <p:cNvSpPr txBox="1"/>
          <p:nvPr/>
        </p:nvSpPr>
        <p:spPr>
          <a:xfrm>
            <a:off x="822960" y="5212080"/>
            <a:ext cx="10515600" cy="86868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Chủ động loại số vendor tự công bố chưa qua bình duyệt hoặc chưa tái lập được: Mem0 công bố 93,4% nhưng tái lập độc lập chỉ 73,8% — nên các số liệu trong khảo sát này đều lấy trực tiếp từ bài báo gốc, có trích dẫn ablation cụ thể.</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10058400" cy="274320"/>
          </a:xfrm>
          <a:prstGeom prst="rect">
            <a:avLst/>
          </a:prstGeom>
          <a:noFill/>
          <a:ln/>
        </p:spPr>
        <p:txBody>
          <a:bodyPr wrap="square" lIns="0" tIns="0" rIns="0" bIns="0" rtlCol="0" anchor="ctr"/>
          <a:lstStyle/>
          <a:p>
            <a:pPr indent="0" marL="0">
              <a:buNone/>
            </a:pPr>
            <a:r>
              <a:rPr lang="en-US" sz="1500" b="1" spc="100" kern="0" dirty="0">
                <a:solidFill>
                  <a:srgbClr val="3A36A0"/>
                </a:solidFill>
                <a:latin typeface="Calibri" pitchFamily="34" charset="0"/>
                <a:ea typeface="Calibri" pitchFamily="34" charset="-122"/>
                <a:cs typeface="Calibri" pitchFamily="34" charset="-120"/>
              </a:rPr>
              <a:t>1 / 3 · APEX-MEM — ACL 2026, AMAZON SCIENCE</a:t>
            </a:r>
            <a:endParaRPr lang="en-US" sz="1500" dirty="0"/>
          </a:p>
        </p:txBody>
      </p:sp>
      <p:sp>
        <p:nvSpPr>
          <p:cNvPr id="3" name="Text 1"/>
          <p:cNvSpPr txBox="1"/>
          <p:nvPr/>
        </p:nvSpPr>
        <p:spPr>
          <a:xfrm>
            <a:off x="566928" y="758952"/>
            <a:ext cx="11027664" cy="640080"/>
          </a:xfrm>
          <a:prstGeom prst="rect">
            <a:avLst/>
          </a:prstGeom>
          <a:noFill/>
          <a:ln/>
        </p:spPr>
        <p:txBody>
          <a:bodyPr wrap="square" lIns="0" tIns="0" rIns="0" bIns="0" rtlCol="0" anchor="t"/>
          <a:lstStyle/>
          <a:p>
            <a:pPr indent="0" marL="0">
              <a:buNone/>
            </a:pPr>
            <a:r>
              <a:rPr lang="en-US" sz="2200" b="1" dirty="0">
                <a:solidFill>
                  <a:srgbClr val="13123A"/>
                </a:solidFill>
                <a:latin typeface="Cambria" pitchFamily="34" charset="0"/>
                <a:ea typeface="Cambria" pitchFamily="34" charset="-122"/>
                <a:cs typeface="Cambria" pitchFamily="34" charset="-120"/>
              </a:rPr>
              <a:t>Kiến trúc sổ cái SQLite và agent truy vấn ReAct</a:t>
            </a:r>
            <a:endParaRPr lang="en-US" sz="2200" dirty="0"/>
          </a:p>
        </p:txBody>
      </p:sp>
      <p:sp>
        <p:nvSpPr>
          <p:cNvPr id="4" name="Shape 2"/>
          <p:cNvSpPr/>
          <p:nvPr/>
        </p:nvSpPr>
        <p:spPr>
          <a:xfrm>
            <a:off x="566928" y="1600200"/>
            <a:ext cx="5394960" cy="566928"/>
          </a:xfrm>
          <a:prstGeom prst="roundRect">
            <a:avLst>
              <a:gd name="adj" fmla="val 9677"/>
            </a:avLst>
          </a:prstGeom>
          <a:solidFill>
            <a:srgbClr val="3A36A0"/>
          </a:solidFill>
          <a:ln w="15875">
            <a:solidFill>
              <a:srgbClr val="3A36A0"/>
            </a:solidFill>
            <a:prstDash val="solid"/>
          </a:ln>
        </p:spPr>
      </p:sp>
      <p:sp>
        <p:nvSpPr>
          <p:cNvPr id="5" name="Text 3"/>
          <p:cNvSpPr txBox="1"/>
          <p:nvPr/>
        </p:nvSpPr>
        <p:spPr>
          <a:xfrm>
            <a:off x="640080" y="1600200"/>
            <a:ext cx="5248656"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Agent ReAct — chọn 1 trong 4 công cụ:</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SchemaViewer · EntityLookup · GraphSQL · Search</a:t>
            </a:r>
            <a:endParaRPr lang="en-US" sz="1250" dirty="0"/>
          </a:p>
        </p:txBody>
      </p:sp>
      <p:sp>
        <p:nvSpPr>
          <p:cNvPr id="6" name="Shape 4"/>
          <p:cNvSpPr/>
          <p:nvPr/>
        </p:nvSpPr>
        <p:spPr>
          <a:xfrm>
            <a:off x="5998464" y="1755648"/>
            <a:ext cx="365760" cy="256032"/>
          </a:xfrm>
          <a:prstGeom prst="rightArrow">
            <a:avLst/>
          </a:prstGeom>
          <a:solidFill>
            <a:srgbClr val="3A36A0"/>
          </a:solidFill>
          <a:ln/>
        </p:spPr>
      </p:sp>
      <p:sp>
        <p:nvSpPr>
          <p:cNvPr id="7" name="Shape 5"/>
          <p:cNvSpPr/>
          <p:nvPr/>
        </p:nvSpPr>
        <p:spPr>
          <a:xfrm>
            <a:off x="6400800" y="1600200"/>
            <a:ext cx="5193792" cy="566928"/>
          </a:xfrm>
          <a:prstGeom prst="roundRect">
            <a:avLst>
              <a:gd name="adj" fmla="val 9677"/>
            </a:avLst>
          </a:prstGeom>
          <a:solidFill>
            <a:srgbClr val="F7F7FB"/>
          </a:solidFill>
          <a:ln w="15875">
            <a:solidFill>
              <a:srgbClr val="6B6F82"/>
            </a:solidFill>
            <a:prstDash val="solid"/>
          </a:ln>
        </p:spPr>
      </p:sp>
      <p:sp>
        <p:nvSpPr>
          <p:cNvPr id="8" name="Text 6"/>
          <p:cNvSpPr txBox="1"/>
          <p:nvPr/>
        </p:nvSpPr>
        <p:spPr>
          <a:xfrm>
            <a:off x="6473952" y="1600200"/>
            <a:ext cx="5047488" cy="566928"/>
          </a:xfrm>
          <a:prstGeom prst="rect">
            <a:avLst/>
          </a:prstGeom>
          <a:noFill/>
          <a:ln/>
        </p:spPr>
        <p:txBody>
          <a:bodyPr wrap="square" lIns="0" tIns="0" rIns="0" bIns="0" rtlCol="0" anchor="ctr"/>
          <a:lstStyle/>
          <a:p>
            <a:pPr algn="ctr" indent="0" marL="0">
              <a:buNone/>
            </a:pPr>
            <a:r>
              <a:rPr lang="en-US" sz="1200" dirty="0">
                <a:solidFill>
                  <a:srgbClr val="4A4E63"/>
                </a:solidFill>
                <a:latin typeface="Calibri" pitchFamily="34" charset="0"/>
                <a:ea typeface="Calibri" pitchFamily="34" charset="-122"/>
                <a:cs typeface="Calibri" pitchFamily="34" charset="-120"/>
              </a:rPr>
              <a:t>Θ&gt;0,2 — chỉ dựng đồ thị đầy đủ trên phiên</a:t>
            </a:r>
            <a:endParaRPr lang="en-US" sz="1200" dirty="0"/>
          </a:p>
          <a:p>
            <a:pPr algn="ctr" indent="0" marL="0">
              <a:buNone/>
            </a:pPr>
            <a:r>
              <a:rPr lang="en-US" sz="1200" dirty="0">
                <a:solidFill>
                  <a:srgbClr val="4A4E63"/>
                </a:solidFill>
                <a:latin typeface="Calibri" pitchFamily="34" charset="0"/>
                <a:ea typeface="Calibri" pitchFamily="34" charset="-122"/>
                <a:cs typeface="Calibri" pitchFamily="34" charset="-120"/>
              </a:rPr>
              <a:t>đủ liên quan tới câu hỏi (tiết kiệm lượt gọi)</a:t>
            </a:r>
            <a:endParaRPr lang="en-US" sz="1200" dirty="0"/>
          </a:p>
        </p:txBody>
      </p:sp>
      <p:sp>
        <p:nvSpPr>
          <p:cNvPr id="9" name="Shape 7"/>
          <p:cNvSpPr/>
          <p:nvPr/>
        </p:nvSpPr>
        <p:spPr>
          <a:xfrm>
            <a:off x="3063240" y="2203704"/>
            <a:ext cx="256032" cy="274320"/>
          </a:xfrm>
          <a:prstGeom prst="downArrow">
            <a:avLst/>
          </a:prstGeom>
          <a:solidFill>
            <a:srgbClr val="3A36A0"/>
          </a:solidFill>
          <a:ln/>
        </p:spPr>
      </p:sp>
      <p:sp>
        <p:nvSpPr>
          <p:cNvPr id="10" name="Shape 8"/>
          <p:cNvSpPr/>
          <p:nvPr/>
        </p:nvSpPr>
        <p:spPr>
          <a:xfrm>
            <a:off x="566928" y="2514600"/>
            <a:ext cx="11027664" cy="658368"/>
          </a:xfrm>
          <a:prstGeom prst="roundRect">
            <a:avLst>
              <a:gd name="adj" fmla="val 8333"/>
            </a:avLst>
          </a:prstGeom>
          <a:solidFill>
            <a:srgbClr val="13123A"/>
          </a:solidFill>
          <a:ln w="15875">
            <a:solidFill>
              <a:srgbClr val="3A36A0"/>
            </a:solidFill>
            <a:prstDash val="solid"/>
          </a:ln>
        </p:spPr>
      </p:sp>
      <p:sp>
        <p:nvSpPr>
          <p:cNvPr id="11" name="Text 9"/>
          <p:cNvSpPr txBox="1"/>
          <p:nvPr/>
        </p:nvSpPr>
        <p:spPr>
          <a:xfrm>
            <a:off x="640080" y="2514600"/>
            <a:ext cx="10881360" cy="65836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SQLite (append-only): entities · properties · facts [t_from,t_to, độ tin cậy, bằng chứng] · events · evidence · turns</a:t>
            </a:r>
            <a:endParaRPr lang="en-US" sz="1350" dirty="0"/>
          </a:p>
        </p:txBody>
      </p:sp>
      <p:sp>
        <p:nvSpPr>
          <p:cNvPr id="12" name="Shape 10"/>
          <p:cNvSpPr/>
          <p:nvPr/>
        </p:nvSpPr>
        <p:spPr>
          <a:xfrm>
            <a:off x="3063240" y="3209544"/>
            <a:ext cx="256032" cy="274320"/>
          </a:xfrm>
          <a:prstGeom prst="downArrow">
            <a:avLst/>
          </a:prstGeom>
          <a:solidFill>
            <a:srgbClr val="B4432E"/>
          </a:solidFill>
          <a:ln/>
        </p:spPr>
      </p:sp>
      <p:sp>
        <p:nvSpPr>
          <p:cNvPr id="13" name="Shape 11"/>
          <p:cNvSpPr/>
          <p:nvPr/>
        </p:nvSpPr>
        <p:spPr>
          <a:xfrm>
            <a:off x="566928" y="3520440"/>
            <a:ext cx="5989320" cy="566928"/>
          </a:xfrm>
          <a:prstGeom prst="roundRect">
            <a:avLst>
              <a:gd name="adj" fmla="val 9677"/>
            </a:avLst>
          </a:prstGeom>
          <a:solidFill>
            <a:srgbClr val="F7F7FB"/>
          </a:solidFill>
          <a:ln w="15875">
            <a:solidFill>
              <a:srgbClr val="B4432E"/>
            </a:solidFill>
            <a:prstDash val="solid"/>
          </a:ln>
        </p:spPr>
      </p:sp>
      <p:sp>
        <p:nvSpPr>
          <p:cNvPr id="14" name="Text 12"/>
          <p:cNvSpPr txBox="1"/>
          <p:nvPr/>
        </p:nvSpPr>
        <p:spPr>
          <a:xfrm>
            <a:off x="640080" y="3520440"/>
            <a:ext cx="5843016" cy="566928"/>
          </a:xfrm>
          <a:prstGeom prst="rect">
            <a:avLst/>
          </a:prstGeom>
          <a:noFill/>
          <a:ln/>
        </p:spPr>
        <p:txBody>
          <a:bodyPr wrap="square" lIns="0" tIns="0" rIns="0" bIns="0" rtlCol="0" anchor="ctr"/>
          <a:lstStyle/>
          <a:p>
            <a:pPr algn="ctr" indent="0" marL="0">
              <a:buNone/>
            </a:pPr>
            <a:r>
              <a:rPr lang="en-US" sz="1200" b="1" dirty="0">
                <a:solidFill>
                  <a:srgbClr val="B4432E"/>
                </a:solidFill>
                <a:latin typeface="Calibri" pitchFamily="34" charset="0"/>
                <a:ea typeface="Calibri" pitchFamily="34" charset="-122"/>
                <a:cs typeface="Calibri" pitchFamily="34" charset="-120"/>
              </a:rPr>
              <a:t>Xung đột KHÔNG bị xoá — cả 2 fact</a:t>
            </a:r>
            <a:endParaRPr lang="en-US" sz="1200" dirty="0"/>
          </a:p>
          <a:p>
            <a:pPr algn="ctr" indent="0" marL="0">
              <a:buNone/>
            </a:pPr>
            <a:r>
              <a:rPr lang="en-US" sz="1200" b="1" dirty="0">
                <a:solidFill>
                  <a:srgbClr val="B4432E"/>
                </a:solidFill>
                <a:latin typeface="Calibri" pitchFamily="34" charset="0"/>
                <a:ea typeface="Calibri" pitchFamily="34" charset="-122"/>
                <a:cs typeface="Calibri" pitchFamily="34" charset="-120"/>
              </a:rPr>
              <a:t>cùng tồn tại, mỗi cái có hiệu lực riêng</a:t>
            </a:r>
            <a:endParaRPr lang="en-US" sz="1200" dirty="0"/>
          </a:p>
        </p:txBody>
      </p:sp>
      <p:sp>
        <p:nvSpPr>
          <p:cNvPr id="15" name="Shape 13"/>
          <p:cNvSpPr/>
          <p:nvPr/>
        </p:nvSpPr>
        <p:spPr>
          <a:xfrm>
            <a:off x="6656832" y="3721608"/>
            <a:ext cx="329184" cy="237744"/>
          </a:xfrm>
          <a:prstGeom prst="rightArrow">
            <a:avLst/>
          </a:prstGeom>
          <a:solidFill>
            <a:srgbClr val="3A36A0"/>
          </a:solidFill>
          <a:ln/>
        </p:spPr>
      </p:sp>
      <p:sp>
        <p:nvSpPr>
          <p:cNvPr id="16" name="Shape 14"/>
          <p:cNvSpPr/>
          <p:nvPr/>
        </p:nvSpPr>
        <p:spPr>
          <a:xfrm>
            <a:off x="7086600" y="3520440"/>
            <a:ext cx="4507992" cy="566928"/>
          </a:xfrm>
          <a:prstGeom prst="roundRect">
            <a:avLst>
              <a:gd name="adj" fmla="val 9677"/>
            </a:avLst>
          </a:prstGeom>
          <a:solidFill>
            <a:srgbClr val="1FA6A6"/>
          </a:solidFill>
          <a:ln w="15875">
            <a:solidFill>
              <a:srgbClr val="3A36A0"/>
            </a:solidFill>
            <a:prstDash val="solid"/>
          </a:ln>
        </p:spPr>
      </p:sp>
      <p:sp>
        <p:nvSpPr>
          <p:cNvPr id="17" name="Text 15"/>
          <p:cNvSpPr txBox="1"/>
          <p:nvPr/>
        </p:nvSpPr>
        <p:spPr>
          <a:xfrm>
            <a:off x="7159752" y="3520440"/>
            <a:ext cx="4361688"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Câu trả lời — giải quyết xung đột</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&amp; thời gian ngay lúc truy vấn</a:t>
            </a:r>
            <a:endParaRPr lang="en-US" sz="1250" dirty="0"/>
          </a:p>
        </p:txBody>
      </p:sp>
      <p:sp>
        <p:nvSpPr>
          <p:cNvPr id="18" name="Text 16"/>
          <p:cNvSpPr txBox="1"/>
          <p:nvPr/>
        </p:nvSpPr>
        <p:spPr>
          <a:xfrm>
            <a:off x="566928" y="4343400"/>
            <a:ext cx="11027664" cy="4206240"/>
          </a:xfrm>
          <a:prstGeom prst="rect">
            <a:avLst/>
          </a:prstGeom>
          <a:noFill/>
          <a:ln/>
        </p:spPr>
        <p:txBody>
          <a:bodyPr wrap="square" lIns="0" tIns="0" rIns="0" bIns="0" rtlCol="0" anchor="t"/>
          <a:lstStyle/>
          <a:p>
            <a:pPr marL="228600" indent="-228600">
              <a:spcAft>
                <a:spcPts val="2200"/>
              </a:spcAft>
              <a:buSzPct val="100000"/>
              <a:buChar char="•"/>
            </a:pPr>
            <a:r>
              <a:rPr lang="en-US" sz="1650" dirty="0">
                <a:solidFill>
                  <a:srgbClr val="4A4E63"/>
                </a:solidFill>
                <a:latin typeface="Calibri" pitchFamily="34" charset="0"/>
                <a:ea typeface="Calibri" pitchFamily="34" charset="-122"/>
                <a:cs typeface="Calibri" pitchFamily="34" charset="-120"/>
              </a:rPr>
              <a:t>Kết quả cốt lõi: LOCOMO 88,88% (nền GPT-5), LongMemEval 86,2% (nền Claude 4.5 Sonnet). Ablation cho thấy thêm truy vấn thời gian (GraphSQL) kéo độ chính xác câu hỏi thời gian từ 72,92% → 82,29%.</a:t>
            </a:r>
            <a:endParaRPr lang="en-US" sz="1650" dirty="0"/>
          </a:p>
          <a:p>
            <a:pPr marL="228600" indent="-228600">
              <a:spcAft>
                <a:spcPts val="2200"/>
              </a:spcAft>
              <a:buSzPct val="100000"/>
              <a:buChar char="•"/>
            </a:pPr>
            <a:r>
              <a:rPr lang="en-US" sz="1650" dirty="0">
                <a:solidFill>
                  <a:srgbClr val="4A4E63"/>
                </a:solidFill>
                <a:latin typeface="Calibri" pitchFamily="34" charset="0"/>
                <a:ea typeface="Calibri" pitchFamily="34" charset="-122"/>
                <a:cs typeface="Calibri" pitchFamily="34" charset="-120"/>
              </a:rPr>
              <a:t>Hạn chế: giới hạn 40 lượt gọi công cụ mỗi câu hỏi (phần lớn bão hoà quanh 20); cần LLM giỏi dùng công cụ — đổi Claude sang GPT-4o, LongMemEval rơi từ 86,2%→75,0% vì GPT-4o sinh SQL sai. Không có mã nguồn công khai.</a:t>
            </a:r>
            <a:endParaRPr lang="en-US" sz="1650" dirty="0"/>
          </a:p>
          <a:p>
            <a:pPr marL="228600" indent="-228600">
              <a:spcAft>
                <a:spcPts val="2200"/>
              </a:spcAft>
              <a:buSzPct val="100000"/>
              <a:buChar char="•"/>
            </a:pPr>
            <a:r>
              <a:rPr lang="en-US" sz="1650" b="1" dirty="0">
                <a:solidFill>
                  <a:srgbClr val="1FA6A6"/>
                </a:solidFill>
                <a:latin typeface="Calibri" pitchFamily="34" charset="0"/>
                <a:ea typeface="Calibri" pitchFamily="34" charset="-122"/>
                <a:cs typeface="Calibri" pitchFamily="34" charset="-120"/>
              </a:rPr>
              <a:t>Phát hiện phụ đáng chú ý: baseline đơn giản (khoá mở rộng bằng fact, top-5) trong chính bài này đạt 72,5% — cao hơn cả Zep (71,2%) và Mem0 (71,3%).</a:t>
            </a:r>
            <a:endParaRPr lang="en-US" sz="1650" dirty="0"/>
          </a:p>
        </p:txBody>
      </p:sp>
      <p:sp>
        <p:nvSpPr>
          <p:cNvPr id="19" name="Text 17"/>
          <p:cNvSpPr txBox="1"/>
          <p:nvPr/>
        </p:nvSpPr>
        <p:spPr>
          <a:xfrm>
            <a:off x="566928" y="6510528"/>
            <a:ext cx="11027664" cy="274320"/>
          </a:xfrm>
          <a:prstGeom prst="rect">
            <a:avLst/>
          </a:prstGeom>
          <a:noFill/>
          <a:ln/>
        </p:spPr>
        <p:txBody>
          <a:bodyPr wrap="square" lIns="0" tIns="0" rIns="0" bIns="0" rtlCol="0" anchor="ctr"/>
          <a:lstStyle/>
          <a:p>
            <a:pPr indent="0" marL="0">
              <a:buNone/>
            </a:pPr>
            <a:r>
              <a:rPr lang="en-US" sz="1050" dirty="0">
                <a:solidFill>
                  <a:srgbClr val="6B6F82"/>
                </a:solidFill>
                <a:latin typeface="Calibri" pitchFamily="34" charset="0"/>
                <a:ea typeface="Calibri" pitchFamily="34" charset="-122"/>
                <a:cs typeface="Calibri" pitchFamily="34" charset="-120"/>
              </a:rPr>
              <a:t>Nguồn: bản chính thức ACL 2026, Proceedings of ACL (Volume 1: Long Papers), tr. 16470–16489 — aclanthology.org/2026.acl-long.749</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10058400" cy="274320"/>
          </a:xfrm>
          <a:prstGeom prst="rect">
            <a:avLst/>
          </a:prstGeom>
          <a:noFill/>
          <a:ln/>
        </p:spPr>
        <p:txBody>
          <a:bodyPr wrap="square" lIns="0" tIns="0" rIns="0" bIns="0" rtlCol="0" anchor="ctr"/>
          <a:lstStyle/>
          <a:p>
            <a:pPr indent="0" marL="0">
              <a:buNone/>
            </a:pPr>
            <a:r>
              <a:rPr lang="en-US" sz="1500" b="1" spc="100" kern="0" dirty="0">
                <a:solidFill>
                  <a:srgbClr val="3A36A0"/>
                </a:solidFill>
                <a:latin typeface="Calibri" pitchFamily="34" charset="0"/>
                <a:ea typeface="Calibri" pitchFamily="34" charset="-122"/>
                <a:cs typeface="Calibri" pitchFamily="34" charset="-120"/>
              </a:rPr>
              <a:t>2 / 3 · LIGHTMEM — ICLR 2026</a:t>
            </a:r>
            <a:endParaRPr lang="en-US" sz="1500" dirty="0"/>
          </a:p>
        </p:txBody>
      </p:sp>
      <p:sp>
        <p:nvSpPr>
          <p:cNvPr id="3" name="Text 1"/>
          <p:cNvSpPr txBox="1"/>
          <p:nvPr/>
        </p:nvSpPr>
        <p:spPr>
          <a:xfrm>
            <a:off x="566928" y="758952"/>
            <a:ext cx="11027664" cy="640080"/>
          </a:xfrm>
          <a:prstGeom prst="rect">
            <a:avLst/>
          </a:prstGeom>
          <a:noFill/>
          <a:ln/>
        </p:spPr>
        <p:txBody>
          <a:bodyPr wrap="square" lIns="0" tIns="0" rIns="0" bIns="0" rtlCol="0" anchor="t"/>
          <a:lstStyle/>
          <a:p>
            <a:pPr indent="0" marL="0">
              <a:buNone/>
            </a:pPr>
            <a:r>
              <a:rPr lang="en-US" sz="2000" b="1" dirty="0">
                <a:solidFill>
                  <a:srgbClr val="13123A"/>
                </a:solidFill>
                <a:latin typeface="Cambria" pitchFamily="34" charset="0"/>
                <a:ea typeface="Cambria" pitchFamily="34" charset="-122"/>
                <a:cs typeface="Cambria" pitchFamily="34" charset="-120"/>
              </a:rPr>
              <a:t>Kiến trúc 3 tầng: nén, bộ đệm theo chủ đề, hợp nhất ngoại tuyến</a:t>
            </a:r>
            <a:endParaRPr lang="en-US" sz="2000" dirty="0"/>
          </a:p>
        </p:txBody>
      </p:sp>
      <p:sp>
        <p:nvSpPr>
          <p:cNvPr id="4" name="Shape 2"/>
          <p:cNvSpPr/>
          <p:nvPr/>
        </p:nvSpPr>
        <p:spPr>
          <a:xfrm>
            <a:off x="566928" y="1600200"/>
            <a:ext cx="2606040" cy="1051560"/>
          </a:xfrm>
          <a:prstGeom prst="roundRect">
            <a:avLst>
              <a:gd name="adj" fmla="val 5217"/>
            </a:avLst>
          </a:prstGeom>
          <a:solidFill>
            <a:srgbClr val="ECEBF7"/>
          </a:solidFill>
          <a:ln w="15875">
            <a:solidFill>
              <a:srgbClr val="3A36A0"/>
            </a:solidFill>
            <a:prstDash val="solid"/>
          </a:ln>
        </p:spPr>
      </p:sp>
      <p:sp>
        <p:nvSpPr>
          <p:cNvPr id="5" name="Text 3"/>
          <p:cNvSpPr txBox="1"/>
          <p:nvPr/>
        </p:nvSpPr>
        <p:spPr>
          <a:xfrm>
            <a:off x="640080" y="1600200"/>
            <a:ext cx="2459736" cy="1051560"/>
          </a:xfrm>
          <a:prstGeom prst="rect">
            <a:avLst/>
          </a:prstGeom>
          <a:noFill/>
          <a:ln/>
        </p:spPr>
        <p:txBody>
          <a:bodyPr wrap="square" lIns="0" tIns="0" rIns="0" bIns="0" rtlCol="0" anchor="ctr"/>
          <a:lstStyle/>
          <a:p>
            <a:pPr algn="ctr" indent="0" marL="0">
              <a:buNone/>
            </a:pPr>
            <a:r>
              <a:rPr lang="en-US" sz="1150" b="1" dirty="0">
                <a:solidFill>
                  <a:srgbClr val="13123A"/>
                </a:solidFill>
                <a:latin typeface="Calibri" pitchFamily="34" charset="0"/>
                <a:ea typeface="Calibri" pitchFamily="34" charset="-122"/>
                <a:cs typeface="Calibri" pitchFamily="34" charset="-120"/>
              </a:rPr>
              <a:t>Light1</a:t>
            </a:r>
            <a:endParaRPr lang="en-US" sz="1150" dirty="0"/>
          </a:p>
          <a:p>
            <a:pPr algn="ctr" indent="0" marL="0">
              <a:buNone/>
            </a:pPr>
            <a:r>
              <a:rPr lang="en-US" sz="1150" b="1" dirty="0">
                <a:solidFill>
                  <a:srgbClr val="13123A"/>
                </a:solidFill>
                <a:latin typeface="Calibri" pitchFamily="34" charset="0"/>
                <a:ea typeface="Calibri" pitchFamily="34" charset="-122"/>
                <a:cs typeface="Calibri" pitchFamily="34" charset="-120"/>
              </a:rPr>
              <a:t>nén (LLMLingua-2)</a:t>
            </a:r>
            <a:endParaRPr lang="en-US" sz="1150" dirty="0"/>
          </a:p>
          <a:p>
            <a:pPr algn="ctr" indent="0" marL="0">
              <a:buNone/>
            </a:pPr>
            <a:r>
              <a:rPr lang="en-US" sz="1150" b="1" dirty="0">
                <a:solidFill>
                  <a:srgbClr val="13123A"/>
                </a:solidFill>
                <a:latin typeface="Calibri" pitchFamily="34" charset="0"/>
                <a:ea typeface="Calibri" pitchFamily="34" charset="-122"/>
                <a:cs typeface="Calibri" pitchFamily="34" charset="-120"/>
              </a:rPr>
              <a:t>+ cắt chủ đề bằng</a:t>
            </a:r>
            <a:endParaRPr lang="en-US" sz="1150" dirty="0"/>
          </a:p>
          <a:p>
            <a:pPr algn="ctr" indent="0" marL="0">
              <a:buNone/>
            </a:pPr>
            <a:r>
              <a:rPr lang="en-US" sz="1150" b="1" dirty="0">
                <a:solidFill>
                  <a:srgbClr val="13123A"/>
                </a:solidFill>
                <a:latin typeface="Calibri" pitchFamily="34" charset="0"/>
                <a:ea typeface="Calibri" pitchFamily="34" charset="-122"/>
                <a:cs typeface="Calibri" pitchFamily="34" charset="-120"/>
              </a:rPr>
              <a:t>attention — không</a:t>
            </a:r>
            <a:endParaRPr lang="en-US" sz="1150" dirty="0"/>
          </a:p>
          <a:p>
            <a:pPr algn="ctr" indent="0" marL="0">
              <a:buNone/>
            </a:pPr>
            <a:r>
              <a:rPr lang="en-US" sz="1150" b="1" dirty="0">
                <a:solidFill>
                  <a:srgbClr val="13123A"/>
                </a:solidFill>
                <a:latin typeface="Calibri" pitchFamily="34" charset="0"/>
                <a:ea typeface="Calibri" pitchFamily="34" charset="-122"/>
                <a:cs typeface="Calibri" pitchFamily="34" charset="-120"/>
              </a:rPr>
              <a:t>cần LLM riêng</a:t>
            </a:r>
            <a:endParaRPr lang="en-US" sz="1150" dirty="0"/>
          </a:p>
        </p:txBody>
      </p:sp>
      <p:sp>
        <p:nvSpPr>
          <p:cNvPr id="6" name="Shape 4"/>
          <p:cNvSpPr/>
          <p:nvPr/>
        </p:nvSpPr>
        <p:spPr>
          <a:xfrm>
            <a:off x="3291840" y="2002536"/>
            <a:ext cx="329184" cy="237744"/>
          </a:xfrm>
          <a:prstGeom prst="rightArrow">
            <a:avLst/>
          </a:prstGeom>
          <a:solidFill>
            <a:srgbClr val="3A36A0"/>
          </a:solidFill>
          <a:ln/>
        </p:spPr>
      </p:sp>
      <p:sp>
        <p:nvSpPr>
          <p:cNvPr id="7" name="Shape 5"/>
          <p:cNvSpPr/>
          <p:nvPr/>
        </p:nvSpPr>
        <p:spPr>
          <a:xfrm>
            <a:off x="3657600" y="1600200"/>
            <a:ext cx="2606040" cy="1051560"/>
          </a:xfrm>
          <a:prstGeom prst="roundRect">
            <a:avLst>
              <a:gd name="adj" fmla="val 5217"/>
            </a:avLst>
          </a:prstGeom>
          <a:solidFill>
            <a:srgbClr val="3A36A0"/>
          </a:solidFill>
          <a:ln w="15875">
            <a:solidFill>
              <a:srgbClr val="3A36A0"/>
            </a:solidFill>
            <a:prstDash val="solid"/>
          </a:ln>
        </p:spPr>
      </p:sp>
      <p:sp>
        <p:nvSpPr>
          <p:cNvPr id="8" name="Text 6"/>
          <p:cNvSpPr txBox="1"/>
          <p:nvPr/>
        </p:nvSpPr>
        <p:spPr>
          <a:xfrm>
            <a:off x="3730752" y="1600200"/>
            <a:ext cx="2459736" cy="10515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Light2</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bộ đệm theo chủ đề</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(th=256–1024 token)</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chỉ gọi LLM khi</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bộ đệm ĐẦY</a:t>
            </a:r>
            <a:endParaRPr lang="en-US" sz="1150" dirty="0"/>
          </a:p>
        </p:txBody>
      </p:sp>
      <p:sp>
        <p:nvSpPr>
          <p:cNvPr id="9" name="Shape 7"/>
          <p:cNvSpPr/>
          <p:nvPr/>
        </p:nvSpPr>
        <p:spPr>
          <a:xfrm>
            <a:off x="6382512" y="2002536"/>
            <a:ext cx="329184" cy="237744"/>
          </a:xfrm>
          <a:prstGeom prst="rightArrow">
            <a:avLst/>
          </a:prstGeom>
          <a:solidFill>
            <a:srgbClr val="3A36A0"/>
          </a:solidFill>
          <a:ln/>
        </p:spPr>
      </p:sp>
      <p:sp>
        <p:nvSpPr>
          <p:cNvPr id="10" name="Shape 8"/>
          <p:cNvSpPr/>
          <p:nvPr/>
        </p:nvSpPr>
        <p:spPr>
          <a:xfrm>
            <a:off x="6748272" y="1600200"/>
            <a:ext cx="2148840" cy="1051560"/>
          </a:xfrm>
          <a:prstGeom prst="roundRect">
            <a:avLst>
              <a:gd name="adj" fmla="val 5217"/>
            </a:avLst>
          </a:prstGeom>
          <a:solidFill>
            <a:srgbClr val="1FA6A6"/>
          </a:solidFill>
          <a:ln w="15875">
            <a:solidFill>
              <a:srgbClr val="3A36A0"/>
            </a:solidFill>
            <a:prstDash val="solid"/>
          </a:ln>
        </p:spPr>
      </p:sp>
      <p:sp>
        <p:nvSpPr>
          <p:cNvPr id="11" name="Text 9"/>
          <p:cNvSpPr txBox="1"/>
          <p:nvPr/>
        </p:nvSpPr>
        <p:spPr>
          <a:xfrm>
            <a:off x="6821424" y="1600200"/>
            <a:ext cx="2002536" cy="10515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Light3</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bộ nhớ</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dài hạn</a:t>
            </a:r>
            <a:endParaRPr lang="en-US" sz="1400" dirty="0"/>
          </a:p>
        </p:txBody>
      </p:sp>
      <p:sp>
        <p:nvSpPr>
          <p:cNvPr id="12" name="Shape 10"/>
          <p:cNvSpPr/>
          <p:nvPr/>
        </p:nvSpPr>
        <p:spPr>
          <a:xfrm>
            <a:off x="9015984" y="2002536"/>
            <a:ext cx="329184" cy="237744"/>
          </a:xfrm>
          <a:prstGeom prst="rightArrow">
            <a:avLst/>
          </a:prstGeom>
          <a:solidFill>
            <a:srgbClr val="3A36A0"/>
          </a:solidFill>
          <a:ln/>
        </p:spPr>
      </p:sp>
      <p:sp>
        <p:nvSpPr>
          <p:cNvPr id="13" name="Shape 11"/>
          <p:cNvSpPr/>
          <p:nvPr/>
        </p:nvSpPr>
        <p:spPr>
          <a:xfrm>
            <a:off x="9381744" y="1600200"/>
            <a:ext cx="1078992" cy="457200"/>
          </a:xfrm>
          <a:prstGeom prst="roundRect">
            <a:avLst>
              <a:gd name="adj" fmla="val 12000"/>
            </a:avLst>
          </a:prstGeom>
          <a:solidFill>
            <a:srgbClr val="F7F7FB"/>
          </a:solidFill>
          <a:ln w="15875">
            <a:solidFill>
              <a:srgbClr val="1FA6A6"/>
            </a:solidFill>
            <a:prstDash val="solid"/>
          </a:ln>
        </p:spPr>
      </p:sp>
      <p:sp>
        <p:nvSpPr>
          <p:cNvPr id="14" name="Text 12"/>
          <p:cNvSpPr txBox="1"/>
          <p:nvPr/>
        </p:nvSpPr>
        <p:spPr>
          <a:xfrm>
            <a:off x="9454896" y="1600200"/>
            <a:ext cx="932688" cy="457200"/>
          </a:xfrm>
          <a:prstGeom prst="rect">
            <a:avLst/>
          </a:prstGeom>
          <a:noFill/>
          <a:ln/>
        </p:spPr>
        <p:txBody>
          <a:bodyPr wrap="square" lIns="0" tIns="0" rIns="0" bIns="0" rtlCol="0" anchor="ctr"/>
          <a:lstStyle/>
          <a:p>
            <a:pPr algn="ctr" indent="0" marL="0">
              <a:buNone/>
            </a:pPr>
            <a:r>
              <a:rPr lang="en-US" sz="1000" b="1" dirty="0">
                <a:solidFill>
                  <a:srgbClr val="13123A"/>
                </a:solidFill>
                <a:latin typeface="Calibri" pitchFamily="34" charset="0"/>
                <a:ea typeface="Calibri" pitchFamily="34" charset="-122"/>
                <a:cs typeface="Calibri" pitchFamily="34" charset="-120"/>
              </a:rPr>
              <a:t>Online:</a:t>
            </a:r>
            <a:endParaRPr lang="en-US" sz="1000" dirty="0"/>
          </a:p>
          <a:p>
            <a:pPr algn="ctr" indent="0" marL="0">
              <a:buNone/>
            </a:pPr>
            <a:r>
              <a:rPr lang="en-US" sz="1000" b="1" dirty="0">
                <a:solidFill>
                  <a:srgbClr val="13123A"/>
                </a:solidFill>
                <a:latin typeface="Calibri" pitchFamily="34" charset="0"/>
                <a:ea typeface="Calibri" pitchFamily="34" charset="-122"/>
                <a:cs typeface="Calibri" pitchFamily="34" charset="-120"/>
              </a:rPr>
              <a:t>chèn thêm</a:t>
            </a:r>
            <a:endParaRPr lang="en-US" sz="1000" dirty="0"/>
          </a:p>
        </p:txBody>
      </p:sp>
      <p:sp>
        <p:nvSpPr>
          <p:cNvPr id="15" name="Shape 13"/>
          <p:cNvSpPr/>
          <p:nvPr/>
        </p:nvSpPr>
        <p:spPr>
          <a:xfrm>
            <a:off x="9381744" y="2167128"/>
            <a:ext cx="1078992" cy="484632"/>
          </a:xfrm>
          <a:prstGeom prst="roundRect">
            <a:avLst>
              <a:gd name="adj" fmla="val 11321"/>
            </a:avLst>
          </a:prstGeom>
          <a:solidFill>
            <a:srgbClr val="F7F7FB"/>
          </a:solidFill>
          <a:ln w="15875">
            <a:solidFill>
              <a:srgbClr val="3A36A0"/>
            </a:solidFill>
            <a:prstDash val="solid"/>
          </a:ln>
        </p:spPr>
      </p:sp>
      <p:sp>
        <p:nvSpPr>
          <p:cNvPr id="16" name="Text 14"/>
          <p:cNvSpPr txBox="1"/>
          <p:nvPr/>
        </p:nvSpPr>
        <p:spPr>
          <a:xfrm>
            <a:off x="9454896" y="2167128"/>
            <a:ext cx="932688" cy="484632"/>
          </a:xfrm>
          <a:prstGeom prst="rect">
            <a:avLst/>
          </a:prstGeom>
          <a:noFill/>
          <a:ln/>
        </p:spPr>
        <p:txBody>
          <a:bodyPr wrap="square" lIns="0" tIns="0" rIns="0" bIns="0" rtlCol="0" anchor="ctr"/>
          <a:lstStyle/>
          <a:p>
            <a:pPr algn="ctr" indent="0" marL="0">
              <a:buNone/>
            </a:pPr>
            <a:r>
              <a:rPr lang="en-US" sz="1000" b="1" dirty="0">
                <a:solidFill>
                  <a:srgbClr val="13123A"/>
                </a:solidFill>
                <a:latin typeface="Calibri" pitchFamily="34" charset="0"/>
                <a:ea typeface="Calibri" pitchFamily="34" charset="-122"/>
                <a:cs typeface="Calibri" pitchFamily="34" charset="-120"/>
              </a:rPr>
              <a:t>Offline:</a:t>
            </a:r>
            <a:endParaRPr lang="en-US" sz="1000" dirty="0"/>
          </a:p>
          <a:p>
            <a:pPr algn="ctr" indent="0" marL="0">
              <a:buNone/>
            </a:pPr>
            <a:r>
              <a:rPr lang="en-US" sz="1000" b="1" dirty="0">
                <a:solidFill>
                  <a:srgbClr val="13123A"/>
                </a:solidFill>
                <a:latin typeface="Calibri" pitchFamily="34" charset="0"/>
                <a:ea typeface="Calibri" pitchFamily="34" charset="-122"/>
                <a:cs typeface="Calibri" pitchFamily="34" charset="-120"/>
              </a:rPr>
              <a:t>hợp nhất</a:t>
            </a:r>
            <a:endParaRPr lang="en-US" sz="1000" dirty="0"/>
          </a:p>
        </p:txBody>
      </p:sp>
      <p:sp>
        <p:nvSpPr>
          <p:cNvPr id="17" name="Shape 15"/>
          <p:cNvSpPr/>
          <p:nvPr/>
        </p:nvSpPr>
        <p:spPr>
          <a:xfrm>
            <a:off x="566928" y="2834640"/>
            <a:ext cx="11027664" cy="502920"/>
          </a:xfrm>
          <a:prstGeom prst="roundRect">
            <a:avLst>
              <a:gd name="adj" fmla="val 10909"/>
            </a:avLst>
          </a:prstGeom>
          <a:solidFill>
            <a:srgbClr val="13123A"/>
          </a:solidFill>
          <a:ln w="15875">
            <a:solidFill>
              <a:srgbClr val="3A36A0"/>
            </a:solidFill>
            <a:prstDash val="solid"/>
          </a:ln>
        </p:spPr>
      </p:sp>
      <p:sp>
        <p:nvSpPr>
          <p:cNvPr id="18" name="Text 16"/>
          <p:cNvSpPr txBox="1"/>
          <p:nvPr/>
        </p:nvSpPr>
        <p:spPr>
          <a:xfrm>
            <a:off x="640080" y="2834640"/>
            <a:ext cx="10881360" cy="502920"/>
          </a:xfrm>
          <a:prstGeom prst="rect">
            <a:avLst/>
          </a:prstGeom>
          <a:noFill/>
          <a:ln/>
        </p:spPr>
        <p:txBody>
          <a:bodyPr wrap="square" lIns="0" tIns="0" rIns="0" bIns="0"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Độ phức tạp: O(N · r^x · T/th) lời gọi API, so với O(N) nếu gọi mỗi lượt một lần — rẻ hơn về lý thuyết, không chỉ thực nghiệm.</a:t>
            </a:r>
            <a:endParaRPr lang="en-US" sz="1150" dirty="0"/>
          </a:p>
        </p:txBody>
      </p:sp>
      <p:sp>
        <p:nvSpPr>
          <p:cNvPr id="19" name="Text 17"/>
          <p:cNvSpPr txBox="1"/>
          <p:nvPr/>
        </p:nvSpPr>
        <p:spPr>
          <a:xfrm>
            <a:off x="566928" y="3977640"/>
            <a:ext cx="11027664" cy="4206240"/>
          </a:xfrm>
          <a:prstGeom prst="rect">
            <a:avLst/>
          </a:prstGeom>
          <a:noFill/>
          <a:ln/>
        </p:spPr>
        <p:txBody>
          <a:bodyPr wrap="square" lIns="0" tIns="0" rIns="0" bIns="0" rtlCol="0" anchor="t"/>
          <a:lstStyle/>
          <a:p>
            <a:pPr marL="228600" indent="-228600">
              <a:spcAft>
                <a:spcPts val="3000"/>
              </a:spcAft>
              <a:buSzPct val="100000"/>
              <a:buChar char="•"/>
            </a:pPr>
            <a:r>
              <a:rPr lang="en-US" sz="1750" dirty="0">
                <a:solidFill>
                  <a:srgbClr val="4A4E63"/>
                </a:solidFill>
                <a:latin typeface="Calibri" pitchFamily="34" charset="0"/>
                <a:ea typeface="Calibri" pitchFamily="34" charset="-122"/>
                <a:cs typeface="Calibri" pitchFamily="34" charset="-120"/>
              </a:rPr>
              <a:t>Kết quả cốt lõi: trên LongMemEval-S chỉ 18–30 lời gọi LLM/mẫu (A-MEM ~987, Mem0 ~812) mà vẫn hơn A-MEM 2–7 điểm chính xác.</a:t>
            </a:r>
            <a:endParaRPr lang="en-US" sz="1750" dirty="0"/>
          </a:p>
          <a:p>
            <a:pPr marL="228600" indent="-228600">
              <a:spcAft>
                <a:spcPts val="3000"/>
              </a:spcAft>
              <a:buSzPct val="100000"/>
              <a:buChar char="•"/>
            </a:pPr>
            <a:r>
              <a:rPr lang="en-US" sz="1750" dirty="0">
                <a:solidFill>
                  <a:srgbClr val="4A4E63"/>
                </a:solidFill>
                <a:latin typeface="Calibri" pitchFamily="34" charset="0"/>
                <a:ea typeface="Calibri" pitchFamily="34" charset="-122"/>
                <a:cs typeface="Calibri" pitchFamily="34" charset="-120"/>
              </a:rPr>
              <a:t>Hạn chế: NaiveRAG cùng cấu hình đã đạt 61% — phần lời thực chất chỉ ~7 điểm. Đơn vị nhớ là tóm tắt chủ đề, không phải fact có cấu trúc, nên yếu ở câu hỏi cần slot/thời gian.</a:t>
            </a:r>
            <a:endParaRPr lang="en-US" sz="1750" dirty="0"/>
          </a:p>
          <a:p>
            <a:pPr marL="228600" indent="-228600">
              <a:spcAft>
                <a:spcPts val="3000"/>
              </a:spcAft>
              <a:buSzPct val="100000"/>
              <a:buChar char="•"/>
            </a:pPr>
            <a:r>
              <a:rPr lang="en-US" sz="1750" b="1" dirty="0">
                <a:solidFill>
                  <a:srgbClr val="1FA6A6"/>
                </a:solidFill>
                <a:latin typeface="Calibri" pitchFamily="34" charset="0"/>
                <a:ea typeface="Calibri" pitchFamily="34" charset="-122"/>
                <a:cs typeface="Calibri" pitchFamily="34" charset="-120"/>
              </a:rPr>
              <a:t>Ablation quan trọng: bỏ bước cắt chủ đề làm giảm độ chính xác 5,4–6,3 điểm — chứng minh bước này thật sự có tác dụng.</a:t>
            </a:r>
            <a:endParaRPr lang="en-US" sz="1750" dirty="0"/>
          </a:p>
        </p:txBody>
      </p:sp>
      <p:sp>
        <p:nvSpPr>
          <p:cNvPr id="20" name="Text 18"/>
          <p:cNvSpPr txBox="1"/>
          <p:nvPr/>
        </p:nvSpPr>
        <p:spPr>
          <a:xfrm>
            <a:off x="566928" y="6510528"/>
            <a:ext cx="11027664" cy="274320"/>
          </a:xfrm>
          <a:prstGeom prst="rect">
            <a:avLst/>
          </a:prstGeom>
          <a:noFill/>
          <a:ln/>
        </p:spPr>
        <p:txBody>
          <a:bodyPr wrap="square" lIns="0" tIns="0" rIns="0" bIns="0" rtlCol="0" anchor="ctr"/>
          <a:lstStyle/>
          <a:p>
            <a:pPr indent="0" marL="0">
              <a:buNone/>
            </a:pPr>
            <a:r>
              <a:rPr lang="en-US" sz="1050" dirty="0">
                <a:solidFill>
                  <a:srgbClr val="6B6F82"/>
                </a:solidFill>
                <a:latin typeface="Calibri" pitchFamily="34" charset="0"/>
                <a:ea typeface="Calibri" pitchFamily="34" charset="-122"/>
                <a:cs typeface="Calibri" pitchFamily="34" charset="-120"/>
              </a:rPr>
              <a:t>Nguồn: bản chính thức ICLR 2026 (poster) — openreview.net/forum?id=dyJ0GWpjJB · arXiv 2510.18866v4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10058400" cy="274320"/>
          </a:xfrm>
          <a:prstGeom prst="rect">
            <a:avLst/>
          </a:prstGeom>
          <a:noFill/>
          <a:ln/>
        </p:spPr>
        <p:txBody>
          <a:bodyPr wrap="square" lIns="0" tIns="0" rIns="0" bIns="0" rtlCol="0" anchor="ctr"/>
          <a:lstStyle/>
          <a:p>
            <a:pPr indent="0" marL="0">
              <a:buNone/>
            </a:pPr>
            <a:r>
              <a:rPr lang="en-US" sz="1500" b="1" spc="100" kern="0" dirty="0">
                <a:solidFill>
                  <a:srgbClr val="3A36A0"/>
                </a:solidFill>
                <a:latin typeface="Calibri" pitchFamily="34" charset="0"/>
                <a:ea typeface="Calibri" pitchFamily="34" charset="-122"/>
                <a:cs typeface="Calibri" pitchFamily="34" charset="-120"/>
              </a:rPr>
              <a:t>3 / 3 · RMM — ACL 2025</a:t>
            </a:r>
            <a:endParaRPr lang="en-US" sz="1500" dirty="0"/>
          </a:p>
        </p:txBody>
      </p:sp>
      <p:sp>
        <p:nvSpPr>
          <p:cNvPr id="3" name="Text 1"/>
          <p:cNvSpPr txBox="1"/>
          <p:nvPr/>
        </p:nvSpPr>
        <p:spPr>
          <a:xfrm>
            <a:off x="566928" y="758952"/>
            <a:ext cx="11027664" cy="640080"/>
          </a:xfrm>
          <a:prstGeom prst="rect">
            <a:avLst/>
          </a:prstGeom>
          <a:noFill/>
          <a:ln/>
        </p:spPr>
        <p:txBody>
          <a:bodyPr wrap="square" lIns="0" tIns="0" rIns="0" bIns="0" rtlCol="0" anchor="t"/>
          <a:lstStyle/>
          <a:p>
            <a:pPr indent="0" marL="0">
              <a:buNone/>
            </a:pPr>
            <a:r>
              <a:rPr lang="en-US" sz="2000" b="1" dirty="0">
                <a:solidFill>
                  <a:srgbClr val="13123A"/>
                </a:solidFill>
                <a:latin typeface="Cambria" pitchFamily="34" charset="0"/>
                <a:ea typeface="Cambria" pitchFamily="34" charset="-122"/>
                <a:cs typeface="Cambria" pitchFamily="34" charset="-120"/>
              </a:rPr>
              <a:t>Kiến trúc phản tư: Prospective Reflection và Retrospective Reflection</a:t>
            </a:r>
            <a:endParaRPr lang="en-US" sz="2000" dirty="0"/>
          </a:p>
        </p:txBody>
      </p:sp>
      <p:sp>
        <p:nvSpPr>
          <p:cNvPr id="4" name="Text 2"/>
          <p:cNvSpPr txBox="1"/>
          <p:nvPr/>
        </p:nvSpPr>
        <p:spPr>
          <a:xfrm>
            <a:off x="566928" y="1572768"/>
            <a:ext cx="3657600" cy="237744"/>
          </a:xfrm>
          <a:prstGeom prst="rect">
            <a:avLst/>
          </a:prstGeom>
          <a:noFill/>
          <a:ln/>
        </p:spPr>
        <p:txBody>
          <a:bodyPr wrap="square" lIns="0" tIns="0" rIns="0" bIns="0" rtlCol="0" anchor="ctr"/>
          <a:lstStyle/>
          <a:p>
            <a:pPr indent="0" marL="0">
              <a:buNone/>
            </a:pPr>
            <a:r>
              <a:rPr lang="en-US" sz="1100" b="1" dirty="0">
                <a:solidFill>
                  <a:srgbClr val="3A36A0"/>
                </a:solidFill>
                <a:latin typeface="Calibri" pitchFamily="34" charset="0"/>
                <a:ea typeface="Calibri" pitchFamily="34" charset="-122"/>
                <a:cs typeface="Calibri" pitchFamily="34" charset="-120"/>
              </a:rPr>
              <a:t>LƯU — cuối mỗi phiên</a:t>
            </a:r>
            <a:endParaRPr lang="en-US" sz="1100" dirty="0"/>
          </a:p>
        </p:txBody>
      </p:sp>
      <p:sp>
        <p:nvSpPr>
          <p:cNvPr id="5" name="Shape 3"/>
          <p:cNvSpPr/>
          <p:nvPr/>
        </p:nvSpPr>
        <p:spPr>
          <a:xfrm>
            <a:off x="566928" y="1828800"/>
            <a:ext cx="3246120" cy="548640"/>
          </a:xfrm>
          <a:prstGeom prst="roundRect">
            <a:avLst>
              <a:gd name="adj" fmla="val 10000"/>
            </a:avLst>
          </a:prstGeom>
          <a:solidFill>
            <a:srgbClr val="3A36A0"/>
          </a:solidFill>
          <a:ln w="15875">
            <a:solidFill>
              <a:srgbClr val="3A36A0"/>
            </a:solidFill>
            <a:prstDash val="solid"/>
          </a:ln>
        </p:spPr>
      </p:sp>
      <p:sp>
        <p:nvSpPr>
          <p:cNvPr id="6" name="Text 4"/>
          <p:cNvSpPr txBox="1"/>
          <p:nvPr/>
        </p:nvSpPr>
        <p:spPr>
          <a:xfrm>
            <a:off x="640080" y="1828800"/>
            <a:ext cx="3099816"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Cuối phiên → LLM tách chủ đề</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 merge hoặc add mới</a:t>
            </a:r>
            <a:endParaRPr lang="en-US" sz="1100" dirty="0"/>
          </a:p>
        </p:txBody>
      </p:sp>
      <p:sp>
        <p:nvSpPr>
          <p:cNvPr id="7" name="Shape 5"/>
          <p:cNvSpPr/>
          <p:nvPr/>
        </p:nvSpPr>
        <p:spPr>
          <a:xfrm>
            <a:off x="3904488" y="2029968"/>
            <a:ext cx="292608" cy="219456"/>
          </a:xfrm>
          <a:prstGeom prst="rightArrow">
            <a:avLst/>
          </a:prstGeom>
          <a:solidFill>
            <a:srgbClr val="3A36A0"/>
          </a:solidFill>
          <a:ln/>
        </p:spPr>
      </p:sp>
      <p:sp>
        <p:nvSpPr>
          <p:cNvPr id="8" name="Shape 6"/>
          <p:cNvSpPr/>
          <p:nvPr/>
        </p:nvSpPr>
        <p:spPr>
          <a:xfrm>
            <a:off x="4288536" y="1828800"/>
            <a:ext cx="7306056" cy="548640"/>
          </a:xfrm>
          <a:prstGeom prst="roundRect">
            <a:avLst>
              <a:gd name="adj" fmla="val 10000"/>
            </a:avLst>
          </a:prstGeom>
          <a:solidFill>
            <a:srgbClr val="ECEBF7"/>
          </a:solidFill>
          <a:ln w="15875">
            <a:solidFill>
              <a:srgbClr val="3A36A0"/>
            </a:solidFill>
            <a:prstDash val="solid"/>
          </a:ln>
        </p:spPr>
      </p:sp>
      <p:sp>
        <p:nvSpPr>
          <p:cNvPr id="9" name="Text 7"/>
          <p:cNvSpPr txBox="1"/>
          <p:nvPr/>
        </p:nvSpPr>
        <p:spPr>
          <a:xfrm>
            <a:off x="4361688" y="1828800"/>
            <a:ext cx="7159752" cy="548640"/>
          </a:xfrm>
          <a:prstGeom prst="rect">
            <a:avLst/>
          </a:prstGeom>
          <a:noFill/>
          <a:ln/>
        </p:spPr>
        <p:txBody>
          <a:bodyPr wrap="square" lIns="0" tIns="0" rIns="0" bIns="0" rtlCol="0" anchor="ctr"/>
          <a:lstStyle/>
          <a:p>
            <a:pPr algn="ctr" indent="0" marL="0">
              <a:buNone/>
            </a:pPr>
            <a:r>
              <a:rPr lang="en-US" sz="1150" b="1" dirty="0">
                <a:solidFill>
                  <a:srgbClr val="13123A"/>
                </a:solidFill>
                <a:latin typeface="Calibri" pitchFamily="34" charset="0"/>
                <a:ea typeface="Calibri" pitchFamily="34" charset="-122"/>
                <a:cs typeface="Calibri" pitchFamily="34" charset="-120"/>
              </a:rPr>
              <a:t>Bộ nhớ = (tóm tắt chủ đề, đoạn hội thoại gốc)  —  tóm tắt đóng vai trò khoá tìm kiếm</a:t>
            </a:r>
            <a:endParaRPr lang="en-US" sz="1150" dirty="0"/>
          </a:p>
        </p:txBody>
      </p:sp>
      <p:sp>
        <p:nvSpPr>
          <p:cNvPr id="10" name="Text 8"/>
          <p:cNvSpPr txBox="1"/>
          <p:nvPr/>
        </p:nvSpPr>
        <p:spPr>
          <a:xfrm>
            <a:off x="566928" y="2532888"/>
            <a:ext cx="3657600" cy="237744"/>
          </a:xfrm>
          <a:prstGeom prst="rect">
            <a:avLst/>
          </a:prstGeom>
          <a:noFill/>
          <a:ln/>
        </p:spPr>
        <p:txBody>
          <a:bodyPr wrap="square" lIns="0" tIns="0" rIns="0" bIns="0" rtlCol="0" anchor="ctr"/>
          <a:lstStyle/>
          <a:p>
            <a:pPr indent="0" marL="0">
              <a:buNone/>
            </a:pPr>
            <a:r>
              <a:rPr lang="en-US" sz="1100" b="1" dirty="0">
                <a:solidFill>
                  <a:srgbClr val="3A36A0"/>
                </a:solidFill>
                <a:latin typeface="Calibri" pitchFamily="34" charset="0"/>
                <a:ea typeface="Calibri" pitchFamily="34" charset="-122"/>
                <a:cs typeface="Calibri" pitchFamily="34" charset="-120"/>
              </a:rPr>
              <a:t>TRUY XUẤT — mỗi câu hỏi</a:t>
            </a:r>
            <a:endParaRPr lang="en-US" sz="1100" dirty="0"/>
          </a:p>
        </p:txBody>
      </p:sp>
      <p:sp>
        <p:nvSpPr>
          <p:cNvPr id="11" name="Shape 9"/>
          <p:cNvSpPr/>
          <p:nvPr/>
        </p:nvSpPr>
        <p:spPr>
          <a:xfrm>
            <a:off x="566928" y="2779776"/>
            <a:ext cx="1828800" cy="530352"/>
          </a:xfrm>
          <a:prstGeom prst="roundRect">
            <a:avLst>
              <a:gd name="adj" fmla="val 10345"/>
            </a:avLst>
          </a:prstGeom>
          <a:solidFill>
            <a:srgbClr val="F7F7FB"/>
          </a:solidFill>
          <a:ln w="15875">
            <a:solidFill>
              <a:srgbClr val="6B6F82"/>
            </a:solidFill>
            <a:prstDash val="solid"/>
          </a:ln>
        </p:spPr>
      </p:sp>
      <p:sp>
        <p:nvSpPr>
          <p:cNvPr id="12" name="Text 10"/>
          <p:cNvSpPr txBox="1"/>
          <p:nvPr/>
        </p:nvSpPr>
        <p:spPr>
          <a:xfrm>
            <a:off x="640080" y="2779776"/>
            <a:ext cx="1682496" cy="530352"/>
          </a:xfrm>
          <a:prstGeom prst="rect">
            <a:avLst/>
          </a:prstGeom>
          <a:noFill/>
          <a:ln/>
        </p:spPr>
        <p:txBody>
          <a:bodyPr wrap="square" lIns="0" tIns="0" rIns="0" bIns="0" rtlCol="0" anchor="ctr"/>
          <a:lstStyle/>
          <a:p>
            <a:pPr algn="ctr" indent="0" marL="0">
              <a:buNone/>
            </a:pPr>
            <a:r>
              <a:rPr lang="en-US" sz="1100" b="1" dirty="0">
                <a:solidFill>
                  <a:srgbClr val="4A4E63"/>
                </a:solidFill>
                <a:latin typeface="Calibri" pitchFamily="34" charset="0"/>
                <a:ea typeface="Calibri" pitchFamily="34" charset="-122"/>
                <a:cs typeface="Calibri" pitchFamily="34" charset="-120"/>
              </a:rPr>
              <a:t>Retriever</a:t>
            </a:r>
            <a:endParaRPr lang="en-US" sz="1100" dirty="0"/>
          </a:p>
          <a:p>
            <a:pPr algn="ctr" indent="0" marL="0">
              <a:buNone/>
            </a:pPr>
            <a:r>
              <a:rPr lang="en-US" sz="1100" b="1" dirty="0">
                <a:solidFill>
                  <a:srgbClr val="4A4E63"/>
                </a:solidFill>
                <a:latin typeface="Calibri" pitchFamily="34" charset="0"/>
                <a:ea typeface="Calibri" pitchFamily="34" charset="-122"/>
                <a:cs typeface="Calibri" pitchFamily="34" charset="-120"/>
              </a:rPr>
              <a:t>top-K</a:t>
            </a:r>
            <a:endParaRPr lang="en-US" sz="1100" dirty="0"/>
          </a:p>
        </p:txBody>
      </p:sp>
      <p:sp>
        <p:nvSpPr>
          <p:cNvPr id="13" name="Shape 11"/>
          <p:cNvSpPr/>
          <p:nvPr/>
        </p:nvSpPr>
        <p:spPr>
          <a:xfrm>
            <a:off x="2487168" y="2953512"/>
            <a:ext cx="274320" cy="201168"/>
          </a:xfrm>
          <a:prstGeom prst="rightArrow">
            <a:avLst/>
          </a:prstGeom>
          <a:solidFill>
            <a:srgbClr val="3A36A0"/>
          </a:solidFill>
          <a:ln/>
        </p:spPr>
      </p:sp>
      <p:sp>
        <p:nvSpPr>
          <p:cNvPr id="14" name="Shape 12"/>
          <p:cNvSpPr/>
          <p:nvPr/>
        </p:nvSpPr>
        <p:spPr>
          <a:xfrm>
            <a:off x="2852928" y="2743200"/>
            <a:ext cx="2834640" cy="603504"/>
          </a:xfrm>
          <a:prstGeom prst="roundRect">
            <a:avLst>
              <a:gd name="adj" fmla="val 9091"/>
            </a:avLst>
          </a:prstGeom>
          <a:solidFill>
            <a:srgbClr val="3A36A0"/>
          </a:solidFill>
          <a:ln w="15875">
            <a:solidFill>
              <a:srgbClr val="3A36A0"/>
            </a:solidFill>
            <a:prstDash val="solid"/>
          </a:ln>
        </p:spPr>
      </p:sp>
      <p:sp>
        <p:nvSpPr>
          <p:cNvPr id="15" name="Text 13"/>
          <p:cNvSpPr txBox="1"/>
          <p:nvPr/>
        </p:nvSpPr>
        <p:spPr>
          <a:xfrm>
            <a:off x="2926080" y="2743200"/>
            <a:ext cx="2688336"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RR: reranker MLP</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(residual + Gumbel-trick) → top-M</a:t>
            </a:r>
            <a:endParaRPr lang="en-US" sz="1100" dirty="0"/>
          </a:p>
        </p:txBody>
      </p:sp>
      <p:sp>
        <p:nvSpPr>
          <p:cNvPr id="16" name="Shape 14"/>
          <p:cNvSpPr/>
          <p:nvPr/>
        </p:nvSpPr>
        <p:spPr>
          <a:xfrm>
            <a:off x="5779008" y="2953512"/>
            <a:ext cx="274320" cy="201168"/>
          </a:xfrm>
          <a:prstGeom prst="rightArrow">
            <a:avLst/>
          </a:prstGeom>
          <a:solidFill>
            <a:srgbClr val="3A36A0"/>
          </a:solidFill>
          <a:ln/>
        </p:spPr>
      </p:sp>
      <p:sp>
        <p:nvSpPr>
          <p:cNvPr id="17" name="Shape 15"/>
          <p:cNvSpPr/>
          <p:nvPr/>
        </p:nvSpPr>
        <p:spPr>
          <a:xfrm>
            <a:off x="6144768" y="2743200"/>
            <a:ext cx="3566160" cy="603504"/>
          </a:xfrm>
          <a:prstGeom prst="roundRect">
            <a:avLst>
              <a:gd name="adj" fmla="val 9091"/>
            </a:avLst>
          </a:prstGeom>
          <a:solidFill>
            <a:srgbClr val="1FA6A6"/>
          </a:solidFill>
          <a:ln w="15875">
            <a:solidFill>
              <a:srgbClr val="3A36A0"/>
            </a:solidFill>
            <a:prstDash val="solid"/>
          </a:ln>
        </p:spPr>
      </p:sp>
      <p:sp>
        <p:nvSpPr>
          <p:cNvPr id="18" name="Text 16"/>
          <p:cNvSpPr txBox="1"/>
          <p:nvPr/>
        </p:nvSpPr>
        <p:spPr>
          <a:xfrm>
            <a:off x="6217920" y="2743200"/>
            <a:ext cx="3419856" cy="60350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LLM sinh câu trả lời</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 trích dẫn (cùng 1 lượt gọi)</a:t>
            </a:r>
            <a:endParaRPr lang="en-US" sz="1150" dirty="0"/>
          </a:p>
        </p:txBody>
      </p:sp>
      <p:sp>
        <p:nvSpPr>
          <p:cNvPr id="19" name="Shape 17"/>
          <p:cNvSpPr/>
          <p:nvPr/>
        </p:nvSpPr>
        <p:spPr>
          <a:xfrm>
            <a:off x="4160520" y="3419856"/>
            <a:ext cx="201168" cy="219456"/>
          </a:xfrm>
          <a:prstGeom prst="upArrow">
            <a:avLst/>
          </a:prstGeom>
          <a:solidFill>
            <a:srgbClr val="B4432E"/>
          </a:solidFill>
          <a:ln/>
        </p:spPr>
      </p:sp>
      <p:sp>
        <p:nvSpPr>
          <p:cNvPr id="20" name="Shape 18"/>
          <p:cNvSpPr/>
          <p:nvPr/>
        </p:nvSpPr>
        <p:spPr>
          <a:xfrm>
            <a:off x="2852928" y="3675888"/>
            <a:ext cx="6858000" cy="384048"/>
          </a:xfrm>
          <a:prstGeom prst="roundRect">
            <a:avLst>
              <a:gd name="adj" fmla="val 14286"/>
            </a:avLst>
          </a:prstGeom>
          <a:solidFill>
            <a:srgbClr val="F7F7FB"/>
          </a:solidFill>
          <a:ln w="15875">
            <a:solidFill>
              <a:srgbClr val="B4432E"/>
            </a:solidFill>
            <a:prstDash val="solid"/>
          </a:ln>
        </p:spPr>
      </p:sp>
      <p:sp>
        <p:nvSpPr>
          <p:cNvPr id="21" name="Text 19"/>
          <p:cNvSpPr txBox="1"/>
          <p:nvPr/>
        </p:nvSpPr>
        <p:spPr>
          <a:xfrm>
            <a:off x="2926080" y="3675888"/>
            <a:ext cx="6711696" cy="384048"/>
          </a:xfrm>
          <a:prstGeom prst="rect">
            <a:avLst/>
          </a:prstGeom>
          <a:noFill/>
          <a:ln/>
        </p:spPr>
        <p:txBody>
          <a:bodyPr wrap="square" lIns="0" tIns="0" rIns="0" bIns="0" rtlCol="0" anchor="ctr"/>
          <a:lstStyle/>
          <a:p>
            <a:pPr algn="ctr" indent="0" marL="0">
              <a:buNone/>
            </a:pPr>
            <a:r>
              <a:rPr lang="en-US" sz="1000" b="1" dirty="0">
                <a:solidFill>
                  <a:srgbClr val="B4432E"/>
                </a:solidFill>
                <a:latin typeface="Calibri" pitchFamily="34" charset="0"/>
                <a:ea typeface="Calibri" pitchFamily="34" charset="-122"/>
                <a:cs typeface="Calibri" pitchFamily="34" charset="-120"/>
              </a:rPr>
              <a:t>Thưởng REINFORCE: +1 nếu câu trả lời trích dẫn mục nhớ đó, −1 nếu không</a:t>
            </a:r>
            <a:endParaRPr lang="en-US" sz="1000" dirty="0"/>
          </a:p>
        </p:txBody>
      </p:sp>
      <p:sp>
        <p:nvSpPr>
          <p:cNvPr id="22" name="Shape 20"/>
          <p:cNvSpPr/>
          <p:nvPr/>
        </p:nvSpPr>
        <p:spPr>
          <a:xfrm>
            <a:off x="566928" y="4178808"/>
            <a:ext cx="11027664" cy="457200"/>
          </a:xfrm>
          <a:prstGeom prst="roundRect">
            <a:avLst>
              <a:gd name="adj" fmla="val 12000"/>
            </a:avLst>
          </a:prstGeom>
          <a:solidFill>
            <a:srgbClr val="13123A"/>
          </a:solidFill>
          <a:ln w="15875">
            <a:solidFill>
              <a:srgbClr val="3A36A0"/>
            </a:solidFill>
            <a:prstDash val="solid"/>
          </a:ln>
        </p:spPr>
      </p:sp>
      <p:sp>
        <p:nvSpPr>
          <p:cNvPr id="23" name="Text 21"/>
          <p:cNvSpPr txBox="1"/>
          <p:nvPr/>
        </p:nvSpPr>
        <p:spPr>
          <a:xfrm>
            <a:off x="640080" y="4178808"/>
            <a:ext cx="108813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Bỏ reranker, áp RL thẳng lên retriever: accuracy SỤP 59,6% → 31,0%, Recall@5 57,4% → 34,2% — dưới cả RAG nền.</a:t>
            </a:r>
            <a:endParaRPr lang="en-US" sz="1200" dirty="0"/>
          </a:p>
        </p:txBody>
      </p:sp>
      <p:sp>
        <p:nvSpPr>
          <p:cNvPr id="24" name="Text 22"/>
          <p:cNvSpPr txBox="1"/>
          <p:nvPr/>
        </p:nvSpPr>
        <p:spPr>
          <a:xfrm>
            <a:off x="566928" y="4800600"/>
            <a:ext cx="11027664" cy="4206240"/>
          </a:xfrm>
          <a:prstGeom prst="rect">
            <a:avLst/>
          </a:prstGeom>
          <a:noFill/>
          <a:ln/>
        </p:spPr>
        <p:txBody>
          <a:bodyPr wrap="square" lIns="0" tIns="0" rIns="0" bIns="0" rtlCol="0" anchor="t"/>
          <a:lstStyle/>
          <a:p>
            <a:pPr marL="228600" indent="-228600">
              <a:spcAft>
                <a:spcPts val="1600"/>
              </a:spcAft>
              <a:buSzPct val="100000"/>
              <a:buChar char="•"/>
            </a:pPr>
            <a:r>
              <a:rPr lang="en-US" sz="1600" dirty="0">
                <a:solidFill>
                  <a:srgbClr val="4A4E63"/>
                </a:solidFill>
                <a:latin typeface="Calibri" pitchFamily="34" charset="0"/>
                <a:ea typeface="Calibri" pitchFamily="34" charset="-122"/>
                <a:cs typeface="Calibri" pitchFamily="34" charset="-120"/>
              </a:rPr>
              <a:t>Kết quả cốt lõi: LongMemEval RMM+GTE 69,8% Recall@5 / 70,4% accuracy so với RAG nền 62,4%/63,6%.</a:t>
            </a:r>
            <a:endParaRPr lang="en-US" sz="1600" dirty="0"/>
          </a:p>
          <a:p>
            <a:pPr marL="228600" indent="-228600">
              <a:spcAft>
                <a:spcPts val="1600"/>
              </a:spcAft>
              <a:buSzPct val="100000"/>
              <a:buChar char="•"/>
            </a:pPr>
            <a:r>
              <a:rPr lang="en-US" sz="1600" dirty="0">
                <a:solidFill>
                  <a:srgbClr val="4A4E63"/>
                </a:solidFill>
                <a:latin typeface="Calibri" pitchFamily="34" charset="0"/>
                <a:ea typeface="Calibri" pitchFamily="34" charset="-122"/>
                <a:cs typeface="Calibri" pitchFamily="34" charset="-120"/>
              </a:rPr>
              <a:t>Hạn chế: với embedder nhẹ (Contriever) chỉ 61,2% accuracy — RAG nền đã 58,8%. Mức 70,4% cần GTE-Qwen2-7B, một embedder 7B nặng.</a:t>
            </a:r>
            <a:endParaRPr lang="en-US" sz="1600" dirty="0"/>
          </a:p>
          <a:p>
            <a:pPr marL="228600" indent="-228600">
              <a:spcAft>
                <a:spcPts val="1600"/>
              </a:spcAft>
              <a:buSzPct val="100000"/>
              <a:buChar char="•"/>
            </a:pPr>
            <a:r>
              <a:rPr lang="en-US" sz="1600" b="1" dirty="0">
                <a:solidFill>
                  <a:srgbClr val="1FA6A6"/>
                </a:solidFill>
                <a:latin typeface="Calibri" pitchFamily="34" charset="0"/>
                <a:ea typeface="Calibri" pitchFamily="34" charset="-122"/>
                <a:cs typeface="Calibri" pitchFamily="34" charset="-120"/>
              </a:rPr>
              <a:t>Ablation quan trọng nhất: reranker riêng là bắt buộc — bỏ nó và áp RL thẳng lên retriever, kết quả rơi xuống dưới cả RAG nền chưa dùng RL (xem khối trên).</a:t>
            </a:r>
            <a:endParaRPr lang="en-US" sz="1600" dirty="0"/>
          </a:p>
        </p:txBody>
      </p:sp>
      <p:sp>
        <p:nvSpPr>
          <p:cNvPr id="25" name="Text 23"/>
          <p:cNvSpPr txBox="1"/>
          <p:nvPr/>
        </p:nvSpPr>
        <p:spPr>
          <a:xfrm>
            <a:off x="566928" y="6510528"/>
            <a:ext cx="11027664" cy="274320"/>
          </a:xfrm>
          <a:prstGeom prst="rect">
            <a:avLst/>
          </a:prstGeom>
          <a:noFill/>
          <a:ln/>
        </p:spPr>
        <p:txBody>
          <a:bodyPr wrap="square" lIns="0" tIns="0" rIns="0" bIns="0" rtlCol="0" anchor="ctr"/>
          <a:lstStyle/>
          <a:p>
            <a:pPr indent="0" marL="0">
              <a:buNone/>
            </a:pPr>
            <a:r>
              <a:rPr lang="en-US" sz="1050" dirty="0">
                <a:solidFill>
                  <a:srgbClr val="6B6F82"/>
                </a:solidFill>
                <a:latin typeface="Calibri" pitchFamily="34" charset="0"/>
                <a:ea typeface="Calibri" pitchFamily="34" charset="-122"/>
                <a:cs typeface="Calibri" pitchFamily="34" charset="-120"/>
              </a:rPr>
              <a:t>Nguồn: bản chính thức ACL 2025, Proceedings of ACL (Volume 1: Long Papers), tr. 8416–8439 — aclanthology.org/2025.acl-long.413</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10058400" cy="274320"/>
          </a:xfrm>
          <a:prstGeom prst="rect">
            <a:avLst/>
          </a:prstGeom>
          <a:noFill/>
          <a:ln/>
        </p:spPr>
        <p:txBody>
          <a:bodyPr wrap="square" lIns="0" tIns="0" rIns="0" bIns="0" rtlCol="0" anchor="ctr"/>
          <a:lstStyle/>
          <a:p>
            <a:pPr indent="0" marL="0">
              <a:buNone/>
            </a:pPr>
            <a:r>
              <a:rPr lang="en-US" sz="1500" b="1" spc="100" kern="0" dirty="0">
                <a:solidFill>
                  <a:srgbClr val="B4432E"/>
                </a:solidFill>
                <a:latin typeface="Calibri" pitchFamily="34" charset="0"/>
                <a:ea typeface="Calibri" pitchFamily="34" charset="-122"/>
                <a:cs typeface="Calibri" pitchFamily="34" charset="-120"/>
              </a:rPr>
              <a:t>SO SÁNH</a:t>
            </a:r>
            <a:endParaRPr lang="en-US" sz="1500" dirty="0"/>
          </a:p>
        </p:txBody>
      </p:sp>
      <p:sp>
        <p:nvSpPr>
          <p:cNvPr id="3" name="Text 1"/>
          <p:cNvSpPr txBox="1"/>
          <p:nvPr/>
        </p:nvSpPr>
        <p:spPr>
          <a:xfrm>
            <a:off x="566928" y="758952"/>
            <a:ext cx="11027664" cy="640080"/>
          </a:xfrm>
          <a:prstGeom prst="rect">
            <a:avLst/>
          </a:prstGeom>
          <a:noFill/>
          <a:ln/>
        </p:spPr>
        <p:txBody>
          <a:bodyPr wrap="square" lIns="0" tIns="0" rIns="0" bIns="0" rtlCol="0" anchor="t"/>
          <a:lstStyle/>
          <a:p>
            <a:pPr indent="0" marL="0">
              <a:buNone/>
            </a:pPr>
            <a:r>
              <a:rPr lang="en-US" sz="2600" b="1" dirty="0">
                <a:solidFill>
                  <a:srgbClr val="13123A"/>
                </a:solidFill>
                <a:latin typeface="Cambria" pitchFamily="34" charset="0"/>
                <a:ea typeface="Cambria" pitchFamily="34" charset="-122"/>
                <a:cs typeface="Cambria" pitchFamily="34" charset="-120"/>
              </a:rPr>
              <a:t>So sánh kiến trúc 3 hệ thống</a:t>
            </a:r>
            <a:endParaRPr lang="en-US" sz="2600" dirty="0"/>
          </a:p>
        </p:txBody>
      </p:sp>
      <p:sp>
        <p:nvSpPr>
          <p:cNvPr id="4" name="Shape 2"/>
          <p:cNvSpPr/>
          <p:nvPr/>
        </p:nvSpPr>
        <p:spPr>
          <a:xfrm>
            <a:off x="566928" y="1627632"/>
            <a:ext cx="2606040" cy="420624"/>
          </a:xfrm>
          <a:prstGeom prst="roundRect">
            <a:avLst>
              <a:gd name="adj" fmla="val 10870"/>
            </a:avLst>
          </a:prstGeom>
          <a:solidFill>
            <a:srgbClr val="13123A"/>
          </a:solidFill>
          <a:ln/>
        </p:spPr>
      </p:sp>
      <p:sp>
        <p:nvSpPr>
          <p:cNvPr id="5" name="Text 3"/>
          <p:cNvSpPr txBox="1"/>
          <p:nvPr/>
        </p:nvSpPr>
        <p:spPr>
          <a:xfrm>
            <a:off x="676656" y="1627632"/>
            <a:ext cx="2386584"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Tiêu chí</a:t>
            </a:r>
            <a:endParaRPr lang="en-US" sz="1300" dirty="0"/>
          </a:p>
        </p:txBody>
      </p:sp>
      <p:sp>
        <p:nvSpPr>
          <p:cNvPr id="6" name="Shape 4"/>
          <p:cNvSpPr/>
          <p:nvPr/>
        </p:nvSpPr>
        <p:spPr>
          <a:xfrm>
            <a:off x="3246120" y="1627632"/>
            <a:ext cx="2734056" cy="420624"/>
          </a:xfrm>
          <a:prstGeom prst="roundRect">
            <a:avLst>
              <a:gd name="adj" fmla="val 10870"/>
            </a:avLst>
          </a:prstGeom>
          <a:solidFill>
            <a:srgbClr val="1FA6A6"/>
          </a:solidFill>
          <a:ln/>
        </p:spPr>
      </p:sp>
      <p:sp>
        <p:nvSpPr>
          <p:cNvPr id="7" name="Text 5"/>
          <p:cNvSpPr txBox="1"/>
          <p:nvPr/>
        </p:nvSpPr>
        <p:spPr>
          <a:xfrm>
            <a:off x="3319272" y="1627632"/>
            <a:ext cx="2587752"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RMM</a:t>
            </a:r>
            <a:endParaRPr lang="en-US" sz="1300" dirty="0"/>
          </a:p>
        </p:txBody>
      </p:sp>
      <p:sp>
        <p:nvSpPr>
          <p:cNvPr id="8" name="Shape 6"/>
          <p:cNvSpPr/>
          <p:nvPr/>
        </p:nvSpPr>
        <p:spPr>
          <a:xfrm>
            <a:off x="6053328" y="1627632"/>
            <a:ext cx="2734056" cy="420624"/>
          </a:xfrm>
          <a:prstGeom prst="roundRect">
            <a:avLst>
              <a:gd name="adj" fmla="val 10870"/>
            </a:avLst>
          </a:prstGeom>
          <a:solidFill>
            <a:srgbClr val="3A36A0"/>
          </a:solidFill>
          <a:ln/>
        </p:spPr>
      </p:sp>
      <p:sp>
        <p:nvSpPr>
          <p:cNvPr id="9" name="Text 7"/>
          <p:cNvSpPr txBox="1"/>
          <p:nvPr/>
        </p:nvSpPr>
        <p:spPr>
          <a:xfrm>
            <a:off x="6126480" y="1627632"/>
            <a:ext cx="2587752"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LightMem</a:t>
            </a:r>
            <a:endParaRPr lang="en-US" sz="1300" dirty="0"/>
          </a:p>
        </p:txBody>
      </p:sp>
      <p:sp>
        <p:nvSpPr>
          <p:cNvPr id="10" name="Shape 8"/>
          <p:cNvSpPr/>
          <p:nvPr/>
        </p:nvSpPr>
        <p:spPr>
          <a:xfrm>
            <a:off x="8860536" y="1627632"/>
            <a:ext cx="2734056" cy="420624"/>
          </a:xfrm>
          <a:prstGeom prst="roundRect">
            <a:avLst>
              <a:gd name="adj" fmla="val 10870"/>
            </a:avLst>
          </a:prstGeom>
          <a:solidFill>
            <a:srgbClr val="B4432E"/>
          </a:solidFill>
          <a:ln/>
        </p:spPr>
      </p:sp>
      <p:sp>
        <p:nvSpPr>
          <p:cNvPr id="11" name="Text 9"/>
          <p:cNvSpPr txBox="1"/>
          <p:nvPr/>
        </p:nvSpPr>
        <p:spPr>
          <a:xfrm>
            <a:off x="8933688" y="1627632"/>
            <a:ext cx="2587752"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APEX-MEM</a:t>
            </a:r>
            <a:endParaRPr lang="en-US" sz="1300" dirty="0"/>
          </a:p>
        </p:txBody>
      </p:sp>
      <p:sp>
        <p:nvSpPr>
          <p:cNvPr id="12" name="Shape 10"/>
          <p:cNvSpPr/>
          <p:nvPr/>
        </p:nvSpPr>
        <p:spPr>
          <a:xfrm>
            <a:off x="566928" y="2121408"/>
            <a:ext cx="2606040" cy="548640"/>
          </a:xfrm>
          <a:prstGeom prst="roundRect">
            <a:avLst>
              <a:gd name="adj" fmla="val 8333"/>
            </a:avLst>
          </a:prstGeom>
          <a:solidFill>
            <a:srgbClr val="ECEBF7"/>
          </a:solidFill>
          <a:ln w="9525">
            <a:solidFill>
              <a:srgbClr val="3A36A0"/>
            </a:solidFill>
            <a:prstDash val="solid"/>
          </a:ln>
        </p:spPr>
      </p:sp>
      <p:sp>
        <p:nvSpPr>
          <p:cNvPr id="13" name="Text 11"/>
          <p:cNvSpPr txBox="1"/>
          <p:nvPr/>
        </p:nvSpPr>
        <p:spPr>
          <a:xfrm>
            <a:off x="676656" y="2121408"/>
            <a:ext cx="2386584" cy="548640"/>
          </a:xfrm>
          <a:prstGeom prst="rect">
            <a:avLst/>
          </a:prstGeom>
          <a:noFill/>
          <a:ln/>
        </p:spPr>
        <p:txBody>
          <a:bodyPr wrap="square" lIns="0" tIns="0" rIns="0" bIns="0" rtlCol="0" anchor="ctr"/>
          <a:lstStyle/>
          <a:p>
            <a:pPr indent="0" marL="0">
              <a:buNone/>
            </a:pPr>
            <a:r>
              <a:rPr lang="en-US" sz="1150" b="1" dirty="0">
                <a:solidFill>
                  <a:srgbClr val="13123A"/>
                </a:solidFill>
                <a:latin typeface="Calibri" pitchFamily="34" charset="0"/>
                <a:ea typeface="Calibri" pitchFamily="34" charset="-122"/>
                <a:cs typeface="Calibri" pitchFamily="34" charset="-120"/>
              </a:rPr>
              <a:t>Đơn vị bộ nhớ</a:t>
            </a:r>
            <a:endParaRPr lang="en-US" sz="1150" dirty="0"/>
          </a:p>
        </p:txBody>
      </p:sp>
      <p:sp>
        <p:nvSpPr>
          <p:cNvPr id="14" name="Shape 12"/>
          <p:cNvSpPr/>
          <p:nvPr/>
        </p:nvSpPr>
        <p:spPr>
          <a:xfrm>
            <a:off x="3246120" y="2121408"/>
            <a:ext cx="2734056" cy="548640"/>
          </a:xfrm>
          <a:prstGeom prst="roundRect">
            <a:avLst>
              <a:gd name="adj" fmla="val 8333"/>
            </a:avLst>
          </a:prstGeom>
          <a:solidFill>
            <a:srgbClr val="F7F7FB"/>
          </a:solidFill>
          <a:ln w="6350">
            <a:solidFill>
              <a:srgbClr val="6B6F82"/>
            </a:solidFill>
            <a:prstDash val="solid"/>
          </a:ln>
        </p:spPr>
      </p:sp>
      <p:sp>
        <p:nvSpPr>
          <p:cNvPr id="15" name="Text 13"/>
          <p:cNvSpPr txBox="1"/>
          <p:nvPr/>
        </p:nvSpPr>
        <p:spPr>
          <a:xfrm>
            <a:off x="3337560" y="2121408"/>
            <a:ext cx="2551176" cy="548640"/>
          </a:xfrm>
          <a:prstGeom prst="rect">
            <a:avLst/>
          </a:prstGeom>
          <a:noFill/>
          <a:ln/>
        </p:spPr>
        <p:txBody>
          <a:bodyPr wrap="square" lIns="0" tIns="0" rIns="0" bIns="0" rtlCol="0" anchor="ctr"/>
          <a:lstStyle/>
          <a:p>
            <a:pPr indent="0" marL="0">
              <a:buNone/>
            </a:pPr>
            <a:r>
              <a:rPr lang="en-US" sz="1100" dirty="0">
                <a:solidFill>
                  <a:srgbClr val="4A4E63"/>
                </a:solidFill>
                <a:latin typeface="Calibri" pitchFamily="34" charset="0"/>
                <a:ea typeface="Calibri" pitchFamily="34" charset="-122"/>
                <a:cs typeface="Calibri" pitchFamily="34" charset="-120"/>
              </a:rPr>
              <a:t>(tóm tắt chủ đề, đoạn hội thoại gốc)</a:t>
            </a:r>
            <a:endParaRPr lang="en-US" sz="1100" dirty="0"/>
          </a:p>
        </p:txBody>
      </p:sp>
      <p:sp>
        <p:nvSpPr>
          <p:cNvPr id="16" name="Shape 14"/>
          <p:cNvSpPr/>
          <p:nvPr/>
        </p:nvSpPr>
        <p:spPr>
          <a:xfrm>
            <a:off x="6053328" y="2121408"/>
            <a:ext cx="2734056" cy="548640"/>
          </a:xfrm>
          <a:prstGeom prst="roundRect">
            <a:avLst>
              <a:gd name="adj" fmla="val 8333"/>
            </a:avLst>
          </a:prstGeom>
          <a:solidFill>
            <a:srgbClr val="F7F7FB"/>
          </a:solidFill>
          <a:ln w="6350">
            <a:solidFill>
              <a:srgbClr val="6B6F82"/>
            </a:solidFill>
            <a:prstDash val="solid"/>
          </a:ln>
        </p:spPr>
      </p:sp>
      <p:sp>
        <p:nvSpPr>
          <p:cNvPr id="17" name="Text 15"/>
          <p:cNvSpPr txBox="1"/>
          <p:nvPr/>
        </p:nvSpPr>
        <p:spPr>
          <a:xfrm>
            <a:off x="6144768" y="2121408"/>
            <a:ext cx="2551176" cy="548640"/>
          </a:xfrm>
          <a:prstGeom prst="rect">
            <a:avLst/>
          </a:prstGeom>
          <a:noFill/>
          <a:ln/>
        </p:spPr>
        <p:txBody>
          <a:bodyPr wrap="square" lIns="0" tIns="0" rIns="0" bIns="0" rtlCol="0" anchor="ctr"/>
          <a:lstStyle/>
          <a:p>
            <a:pPr indent="0" marL="0">
              <a:buNone/>
            </a:pPr>
            <a:r>
              <a:rPr lang="en-US" sz="1100" dirty="0">
                <a:solidFill>
                  <a:srgbClr val="4A4E63"/>
                </a:solidFill>
                <a:latin typeface="Calibri" pitchFamily="34" charset="0"/>
                <a:ea typeface="Calibri" pitchFamily="34" charset="-122"/>
                <a:cs typeface="Calibri" pitchFamily="34" charset="-120"/>
              </a:rPr>
              <a:t>Tóm tắt theo chủ đề, không có fact cấu trúc</a:t>
            </a:r>
            <a:endParaRPr lang="en-US" sz="1100" dirty="0"/>
          </a:p>
        </p:txBody>
      </p:sp>
      <p:sp>
        <p:nvSpPr>
          <p:cNvPr id="18" name="Shape 16"/>
          <p:cNvSpPr/>
          <p:nvPr/>
        </p:nvSpPr>
        <p:spPr>
          <a:xfrm>
            <a:off x="8860536" y="2121408"/>
            <a:ext cx="2734056" cy="548640"/>
          </a:xfrm>
          <a:prstGeom prst="roundRect">
            <a:avLst>
              <a:gd name="adj" fmla="val 8333"/>
            </a:avLst>
          </a:prstGeom>
          <a:solidFill>
            <a:srgbClr val="F7F7FB"/>
          </a:solidFill>
          <a:ln w="6350">
            <a:solidFill>
              <a:srgbClr val="6B6F82"/>
            </a:solidFill>
            <a:prstDash val="solid"/>
          </a:ln>
        </p:spPr>
      </p:sp>
      <p:sp>
        <p:nvSpPr>
          <p:cNvPr id="19" name="Text 17"/>
          <p:cNvSpPr txBox="1"/>
          <p:nvPr/>
        </p:nvSpPr>
        <p:spPr>
          <a:xfrm>
            <a:off x="8951976" y="2121408"/>
            <a:ext cx="2551176" cy="548640"/>
          </a:xfrm>
          <a:prstGeom prst="rect">
            <a:avLst/>
          </a:prstGeom>
          <a:noFill/>
          <a:ln/>
        </p:spPr>
        <p:txBody>
          <a:bodyPr wrap="square" lIns="0" tIns="0" rIns="0" bIns="0" rtlCol="0" anchor="ctr"/>
          <a:lstStyle/>
          <a:p>
            <a:pPr indent="0" marL="0">
              <a:buNone/>
            </a:pPr>
            <a:r>
              <a:rPr lang="en-US" sz="1100" dirty="0">
                <a:solidFill>
                  <a:srgbClr val="4A4E63"/>
                </a:solidFill>
                <a:latin typeface="Calibri" pitchFamily="34" charset="0"/>
                <a:ea typeface="Calibri" pitchFamily="34" charset="-122"/>
                <a:cs typeface="Calibri" pitchFamily="34" charset="-120"/>
              </a:rPr>
              <a:t>Fact [t_from,t_to] + độ tin cậy + bằng chứng</a:t>
            </a:r>
            <a:endParaRPr lang="en-US" sz="1100" dirty="0"/>
          </a:p>
        </p:txBody>
      </p:sp>
      <p:sp>
        <p:nvSpPr>
          <p:cNvPr id="20" name="Shape 18"/>
          <p:cNvSpPr/>
          <p:nvPr/>
        </p:nvSpPr>
        <p:spPr>
          <a:xfrm>
            <a:off x="566928" y="2743200"/>
            <a:ext cx="2606040" cy="548640"/>
          </a:xfrm>
          <a:prstGeom prst="roundRect">
            <a:avLst>
              <a:gd name="adj" fmla="val 8333"/>
            </a:avLst>
          </a:prstGeom>
          <a:solidFill>
            <a:srgbClr val="ECEBF7"/>
          </a:solidFill>
          <a:ln w="9525">
            <a:solidFill>
              <a:srgbClr val="3A36A0"/>
            </a:solidFill>
            <a:prstDash val="solid"/>
          </a:ln>
        </p:spPr>
      </p:sp>
      <p:sp>
        <p:nvSpPr>
          <p:cNvPr id="21" name="Text 19"/>
          <p:cNvSpPr txBox="1"/>
          <p:nvPr/>
        </p:nvSpPr>
        <p:spPr>
          <a:xfrm>
            <a:off x="676656" y="2743200"/>
            <a:ext cx="2386584" cy="548640"/>
          </a:xfrm>
          <a:prstGeom prst="rect">
            <a:avLst/>
          </a:prstGeom>
          <a:noFill/>
          <a:ln/>
        </p:spPr>
        <p:txBody>
          <a:bodyPr wrap="square" lIns="0" tIns="0" rIns="0" bIns="0" rtlCol="0" anchor="ctr"/>
          <a:lstStyle/>
          <a:p>
            <a:pPr indent="0" marL="0">
              <a:buNone/>
            </a:pPr>
            <a:r>
              <a:rPr lang="en-US" sz="1150" b="1" dirty="0">
                <a:solidFill>
                  <a:srgbClr val="13123A"/>
                </a:solidFill>
                <a:latin typeface="Calibri" pitchFamily="34" charset="0"/>
                <a:ea typeface="Calibri" pitchFamily="34" charset="-122"/>
                <a:cs typeface="Calibri" pitchFamily="34" charset="-120"/>
              </a:rPr>
              <a:t>Khi nào gọi LLM để ghi</a:t>
            </a:r>
            <a:endParaRPr lang="en-US" sz="1150" dirty="0"/>
          </a:p>
        </p:txBody>
      </p:sp>
      <p:sp>
        <p:nvSpPr>
          <p:cNvPr id="22" name="Shape 20"/>
          <p:cNvSpPr/>
          <p:nvPr/>
        </p:nvSpPr>
        <p:spPr>
          <a:xfrm>
            <a:off x="3246120" y="2743200"/>
            <a:ext cx="2734056" cy="548640"/>
          </a:xfrm>
          <a:prstGeom prst="roundRect">
            <a:avLst>
              <a:gd name="adj" fmla="val 8333"/>
            </a:avLst>
          </a:prstGeom>
          <a:solidFill>
            <a:srgbClr val="F7F7FB"/>
          </a:solidFill>
          <a:ln w="6350">
            <a:solidFill>
              <a:srgbClr val="6B6F82"/>
            </a:solidFill>
            <a:prstDash val="solid"/>
          </a:ln>
        </p:spPr>
      </p:sp>
      <p:sp>
        <p:nvSpPr>
          <p:cNvPr id="23" name="Text 21"/>
          <p:cNvSpPr txBox="1"/>
          <p:nvPr/>
        </p:nvSpPr>
        <p:spPr>
          <a:xfrm>
            <a:off x="3337560" y="2743200"/>
            <a:ext cx="2551176" cy="548640"/>
          </a:xfrm>
          <a:prstGeom prst="rect">
            <a:avLst/>
          </a:prstGeom>
          <a:noFill/>
          <a:ln/>
        </p:spPr>
        <p:txBody>
          <a:bodyPr wrap="square" lIns="0" tIns="0" rIns="0" bIns="0" rtlCol="0" anchor="ctr"/>
          <a:lstStyle/>
          <a:p>
            <a:pPr indent="0" marL="0">
              <a:buNone/>
            </a:pPr>
            <a:r>
              <a:rPr lang="en-US" sz="1100" dirty="0">
                <a:solidFill>
                  <a:srgbClr val="4A4E63"/>
                </a:solidFill>
                <a:latin typeface="Calibri" pitchFamily="34" charset="0"/>
                <a:ea typeface="Calibri" pitchFamily="34" charset="-122"/>
                <a:cs typeface="Calibri" pitchFamily="34" charset="-120"/>
              </a:rPr>
              <a:t>Cuối mỗi phiên (~1 lần)</a:t>
            </a:r>
            <a:endParaRPr lang="en-US" sz="1100" dirty="0"/>
          </a:p>
        </p:txBody>
      </p:sp>
      <p:sp>
        <p:nvSpPr>
          <p:cNvPr id="24" name="Shape 22"/>
          <p:cNvSpPr/>
          <p:nvPr/>
        </p:nvSpPr>
        <p:spPr>
          <a:xfrm>
            <a:off x="6053328" y="2743200"/>
            <a:ext cx="2734056" cy="548640"/>
          </a:xfrm>
          <a:prstGeom prst="roundRect">
            <a:avLst>
              <a:gd name="adj" fmla="val 8333"/>
            </a:avLst>
          </a:prstGeom>
          <a:solidFill>
            <a:srgbClr val="F7F7FB"/>
          </a:solidFill>
          <a:ln w="6350">
            <a:solidFill>
              <a:srgbClr val="6B6F82"/>
            </a:solidFill>
            <a:prstDash val="solid"/>
          </a:ln>
        </p:spPr>
      </p:sp>
      <p:sp>
        <p:nvSpPr>
          <p:cNvPr id="25" name="Text 23"/>
          <p:cNvSpPr txBox="1"/>
          <p:nvPr/>
        </p:nvSpPr>
        <p:spPr>
          <a:xfrm>
            <a:off x="6144768" y="2743200"/>
            <a:ext cx="2551176" cy="548640"/>
          </a:xfrm>
          <a:prstGeom prst="rect">
            <a:avLst/>
          </a:prstGeom>
          <a:noFill/>
          <a:ln/>
        </p:spPr>
        <p:txBody>
          <a:bodyPr wrap="square" lIns="0" tIns="0" rIns="0" bIns="0" rtlCol="0" anchor="ctr"/>
          <a:lstStyle/>
          <a:p>
            <a:pPr indent="0" marL="0">
              <a:buNone/>
            </a:pPr>
            <a:r>
              <a:rPr lang="en-US" sz="1100" dirty="0">
                <a:solidFill>
                  <a:srgbClr val="4A4E63"/>
                </a:solidFill>
                <a:latin typeface="Calibri" pitchFamily="34" charset="0"/>
                <a:ea typeface="Calibri" pitchFamily="34" charset="-122"/>
                <a:cs typeface="Calibri" pitchFamily="34" charset="-120"/>
              </a:rPr>
              <a:t>Khi bộ đệm đầy (~18–30 lần/mẫu)</a:t>
            </a:r>
            <a:endParaRPr lang="en-US" sz="1100" dirty="0"/>
          </a:p>
        </p:txBody>
      </p:sp>
      <p:sp>
        <p:nvSpPr>
          <p:cNvPr id="26" name="Shape 24"/>
          <p:cNvSpPr/>
          <p:nvPr/>
        </p:nvSpPr>
        <p:spPr>
          <a:xfrm>
            <a:off x="8860536" y="2743200"/>
            <a:ext cx="2734056" cy="548640"/>
          </a:xfrm>
          <a:prstGeom prst="roundRect">
            <a:avLst>
              <a:gd name="adj" fmla="val 8333"/>
            </a:avLst>
          </a:prstGeom>
          <a:solidFill>
            <a:srgbClr val="F7F7FB"/>
          </a:solidFill>
          <a:ln w="6350">
            <a:solidFill>
              <a:srgbClr val="6B6F82"/>
            </a:solidFill>
            <a:prstDash val="solid"/>
          </a:ln>
        </p:spPr>
      </p:sp>
      <p:sp>
        <p:nvSpPr>
          <p:cNvPr id="27" name="Text 25"/>
          <p:cNvSpPr txBox="1"/>
          <p:nvPr/>
        </p:nvSpPr>
        <p:spPr>
          <a:xfrm>
            <a:off x="8951976" y="2743200"/>
            <a:ext cx="2551176" cy="548640"/>
          </a:xfrm>
          <a:prstGeom prst="rect">
            <a:avLst/>
          </a:prstGeom>
          <a:noFill/>
          <a:ln/>
        </p:spPr>
        <p:txBody>
          <a:bodyPr wrap="square" lIns="0" tIns="0" rIns="0" bIns="0" rtlCol="0" anchor="ctr"/>
          <a:lstStyle/>
          <a:p>
            <a:pPr indent="0" marL="0">
              <a:buNone/>
            </a:pPr>
            <a:r>
              <a:rPr lang="en-US" sz="1100" dirty="0">
                <a:solidFill>
                  <a:srgbClr val="4A4E63"/>
                </a:solidFill>
                <a:latin typeface="Calibri" pitchFamily="34" charset="0"/>
                <a:ea typeface="Calibri" pitchFamily="34" charset="-122"/>
                <a:cs typeface="Calibri" pitchFamily="34" charset="-120"/>
              </a:rPr>
              <a:t>Lúc dựng đồ thị, chỉ trên phiên liên quan</a:t>
            </a:r>
            <a:endParaRPr lang="en-US" sz="1100" dirty="0"/>
          </a:p>
        </p:txBody>
      </p:sp>
      <p:sp>
        <p:nvSpPr>
          <p:cNvPr id="28" name="Shape 26"/>
          <p:cNvSpPr/>
          <p:nvPr/>
        </p:nvSpPr>
        <p:spPr>
          <a:xfrm>
            <a:off x="566928" y="3364992"/>
            <a:ext cx="2606040" cy="548640"/>
          </a:xfrm>
          <a:prstGeom prst="roundRect">
            <a:avLst>
              <a:gd name="adj" fmla="val 8333"/>
            </a:avLst>
          </a:prstGeom>
          <a:solidFill>
            <a:srgbClr val="ECEBF7"/>
          </a:solidFill>
          <a:ln w="9525">
            <a:solidFill>
              <a:srgbClr val="3A36A0"/>
            </a:solidFill>
            <a:prstDash val="solid"/>
          </a:ln>
        </p:spPr>
      </p:sp>
      <p:sp>
        <p:nvSpPr>
          <p:cNvPr id="29" name="Text 27"/>
          <p:cNvSpPr txBox="1"/>
          <p:nvPr/>
        </p:nvSpPr>
        <p:spPr>
          <a:xfrm>
            <a:off x="676656" y="3364992"/>
            <a:ext cx="2386584" cy="548640"/>
          </a:xfrm>
          <a:prstGeom prst="rect">
            <a:avLst/>
          </a:prstGeom>
          <a:noFill/>
          <a:ln/>
        </p:spPr>
        <p:txBody>
          <a:bodyPr wrap="square" lIns="0" tIns="0" rIns="0" bIns="0" rtlCol="0" anchor="ctr"/>
          <a:lstStyle/>
          <a:p>
            <a:pPr indent="0" marL="0">
              <a:buNone/>
            </a:pPr>
            <a:r>
              <a:rPr lang="en-US" sz="1150" b="1" dirty="0">
                <a:solidFill>
                  <a:srgbClr val="13123A"/>
                </a:solidFill>
                <a:latin typeface="Calibri" pitchFamily="34" charset="0"/>
                <a:ea typeface="Calibri" pitchFamily="34" charset="-122"/>
                <a:cs typeface="Calibri" pitchFamily="34" charset="-120"/>
              </a:rPr>
              <a:t>Xử lý xung đột/thời gian</a:t>
            </a:r>
            <a:endParaRPr lang="en-US" sz="1150" dirty="0"/>
          </a:p>
        </p:txBody>
      </p:sp>
      <p:sp>
        <p:nvSpPr>
          <p:cNvPr id="30" name="Shape 28"/>
          <p:cNvSpPr/>
          <p:nvPr/>
        </p:nvSpPr>
        <p:spPr>
          <a:xfrm>
            <a:off x="3246120" y="3364992"/>
            <a:ext cx="2734056" cy="548640"/>
          </a:xfrm>
          <a:prstGeom prst="roundRect">
            <a:avLst>
              <a:gd name="adj" fmla="val 8333"/>
            </a:avLst>
          </a:prstGeom>
          <a:solidFill>
            <a:srgbClr val="F7F7FB"/>
          </a:solidFill>
          <a:ln w="6350">
            <a:solidFill>
              <a:srgbClr val="6B6F82"/>
            </a:solidFill>
            <a:prstDash val="solid"/>
          </a:ln>
        </p:spPr>
      </p:sp>
      <p:sp>
        <p:nvSpPr>
          <p:cNvPr id="31" name="Text 29"/>
          <p:cNvSpPr txBox="1"/>
          <p:nvPr/>
        </p:nvSpPr>
        <p:spPr>
          <a:xfrm>
            <a:off x="3337560" y="3364992"/>
            <a:ext cx="2551176" cy="548640"/>
          </a:xfrm>
          <a:prstGeom prst="rect">
            <a:avLst/>
          </a:prstGeom>
          <a:noFill/>
          <a:ln/>
        </p:spPr>
        <p:txBody>
          <a:bodyPr wrap="square" lIns="0" tIns="0" rIns="0" bIns="0" rtlCol="0" anchor="ctr"/>
          <a:lstStyle/>
          <a:p>
            <a:pPr indent="0" marL="0">
              <a:buNone/>
            </a:pPr>
            <a:r>
              <a:rPr lang="en-US" sz="1100" dirty="0">
                <a:solidFill>
                  <a:srgbClr val="4A4E63"/>
                </a:solidFill>
                <a:latin typeface="Calibri" pitchFamily="34" charset="0"/>
                <a:ea typeface="Calibri" pitchFamily="34" charset="-122"/>
                <a:cs typeface="Calibri" pitchFamily="34" charset="-120"/>
              </a:rPr>
              <a:t>Không tập trung xử lý — giữ đoạn gốc làm ngữ cảnh</a:t>
            </a:r>
            <a:endParaRPr lang="en-US" sz="1100" dirty="0"/>
          </a:p>
        </p:txBody>
      </p:sp>
      <p:sp>
        <p:nvSpPr>
          <p:cNvPr id="32" name="Shape 30"/>
          <p:cNvSpPr/>
          <p:nvPr/>
        </p:nvSpPr>
        <p:spPr>
          <a:xfrm>
            <a:off x="6053328" y="3364992"/>
            <a:ext cx="2734056" cy="548640"/>
          </a:xfrm>
          <a:prstGeom prst="roundRect">
            <a:avLst>
              <a:gd name="adj" fmla="val 8333"/>
            </a:avLst>
          </a:prstGeom>
          <a:solidFill>
            <a:srgbClr val="F7F7FB"/>
          </a:solidFill>
          <a:ln w="6350">
            <a:solidFill>
              <a:srgbClr val="6B6F82"/>
            </a:solidFill>
            <a:prstDash val="solid"/>
          </a:ln>
        </p:spPr>
      </p:sp>
      <p:sp>
        <p:nvSpPr>
          <p:cNvPr id="33" name="Text 31"/>
          <p:cNvSpPr txBox="1"/>
          <p:nvPr/>
        </p:nvSpPr>
        <p:spPr>
          <a:xfrm>
            <a:off x="6144768" y="3364992"/>
            <a:ext cx="2551176" cy="548640"/>
          </a:xfrm>
          <a:prstGeom prst="rect">
            <a:avLst/>
          </a:prstGeom>
          <a:noFill/>
          <a:ln/>
        </p:spPr>
        <p:txBody>
          <a:bodyPr wrap="square" lIns="0" tIns="0" rIns="0" bIns="0" rtlCol="0" anchor="ctr"/>
          <a:lstStyle/>
          <a:p>
            <a:pPr indent="0" marL="0">
              <a:buNone/>
            </a:pPr>
            <a:r>
              <a:rPr lang="en-US" sz="1100" dirty="0">
                <a:solidFill>
                  <a:srgbClr val="4A4E63"/>
                </a:solidFill>
                <a:latin typeface="Calibri" pitchFamily="34" charset="0"/>
                <a:ea typeface="Calibri" pitchFamily="34" charset="-122"/>
                <a:cs typeface="Calibri" pitchFamily="34" charset="-120"/>
              </a:rPr>
              <a:t>Không có, vì đơn vị nhớ không phải fact có cấu trúc</a:t>
            </a:r>
            <a:endParaRPr lang="en-US" sz="1100" dirty="0"/>
          </a:p>
        </p:txBody>
      </p:sp>
      <p:sp>
        <p:nvSpPr>
          <p:cNvPr id="34" name="Shape 32"/>
          <p:cNvSpPr/>
          <p:nvPr/>
        </p:nvSpPr>
        <p:spPr>
          <a:xfrm>
            <a:off x="8860536" y="3364992"/>
            <a:ext cx="2734056" cy="548640"/>
          </a:xfrm>
          <a:prstGeom prst="roundRect">
            <a:avLst>
              <a:gd name="adj" fmla="val 8333"/>
            </a:avLst>
          </a:prstGeom>
          <a:solidFill>
            <a:srgbClr val="F7F7FB"/>
          </a:solidFill>
          <a:ln w="6350">
            <a:solidFill>
              <a:srgbClr val="6B6F82"/>
            </a:solidFill>
            <a:prstDash val="solid"/>
          </a:ln>
        </p:spPr>
      </p:sp>
      <p:sp>
        <p:nvSpPr>
          <p:cNvPr id="35" name="Text 33"/>
          <p:cNvSpPr txBox="1"/>
          <p:nvPr/>
        </p:nvSpPr>
        <p:spPr>
          <a:xfrm>
            <a:off x="8951976" y="3364992"/>
            <a:ext cx="2551176" cy="548640"/>
          </a:xfrm>
          <a:prstGeom prst="rect">
            <a:avLst/>
          </a:prstGeom>
          <a:noFill/>
          <a:ln/>
        </p:spPr>
        <p:txBody>
          <a:bodyPr wrap="square" lIns="0" tIns="0" rIns="0" bIns="0" rtlCol="0" anchor="ctr"/>
          <a:lstStyle/>
          <a:p>
            <a:pPr indent="0" marL="0">
              <a:buNone/>
            </a:pPr>
            <a:r>
              <a:rPr lang="en-US" sz="1100" dirty="0">
                <a:solidFill>
                  <a:srgbClr val="4A4E63"/>
                </a:solidFill>
                <a:latin typeface="Calibri" pitchFamily="34" charset="0"/>
                <a:ea typeface="Calibri" pitchFamily="34" charset="-122"/>
                <a:cs typeface="Calibri" pitchFamily="34" charset="-120"/>
              </a:rPr>
              <a:t>Không xoá; SQL thời gian; giải quyết lúc truy vấn</a:t>
            </a:r>
            <a:endParaRPr lang="en-US" sz="1100" dirty="0"/>
          </a:p>
        </p:txBody>
      </p:sp>
      <p:sp>
        <p:nvSpPr>
          <p:cNvPr id="36" name="Shape 34"/>
          <p:cNvSpPr/>
          <p:nvPr/>
        </p:nvSpPr>
        <p:spPr>
          <a:xfrm>
            <a:off x="566928" y="3986784"/>
            <a:ext cx="2606040" cy="548640"/>
          </a:xfrm>
          <a:prstGeom prst="roundRect">
            <a:avLst>
              <a:gd name="adj" fmla="val 8333"/>
            </a:avLst>
          </a:prstGeom>
          <a:solidFill>
            <a:srgbClr val="ECEBF7"/>
          </a:solidFill>
          <a:ln w="9525">
            <a:solidFill>
              <a:srgbClr val="3A36A0"/>
            </a:solidFill>
            <a:prstDash val="solid"/>
          </a:ln>
        </p:spPr>
      </p:sp>
      <p:sp>
        <p:nvSpPr>
          <p:cNvPr id="37" name="Text 35"/>
          <p:cNvSpPr txBox="1"/>
          <p:nvPr/>
        </p:nvSpPr>
        <p:spPr>
          <a:xfrm>
            <a:off x="676656" y="3986784"/>
            <a:ext cx="2386584" cy="548640"/>
          </a:xfrm>
          <a:prstGeom prst="rect">
            <a:avLst/>
          </a:prstGeom>
          <a:noFill/>
          <a:ln/>
        </p:spPr>
        <p:txBody>
          <a:bodyPr wrap="square" lIns="0" tIns="0" rIns="0" bIns="0" rtlCol="0" anchor="ctr"/>
          <a:lstStyle/>
          <a:p>
            <a:pPr indent="0" marL="0">
              <a:buNone/>
            </a:pPr>
            <a:r>
              <a:rPr lang="en-US" sz="1150" b="1" dirty="0">
                <a:solidFill>
                  <a:srgbClr val="13123A"/>
                </a:solidFill>
                <a:latin typeface="Calibri" pitchFamily="34" charset="0"/>
                <a:ea typeface="Calibri" pitchFamily="34" charset="-122"/>
                <a:cs typeface="Calibri" pitchFamily="34" charset="-120"/>
              </a:rPr>
              <a:t>Cách truy xuất</a:t>
            </a:r>
            <a:endParaRPr lang="en-US" sz="1150" dirty="0"/>
          </a:p>
        </p:txBody>
      </p:sp>
      <p:sp>
        <p:nvSpPr>
          <p:cNvPr id="38" name="Shape 36"/>
          <p:cNvSpPr/>
          <p:nvPr/>
        </p:nvSpPr>
        <p:spPr>
          <a:xfrm>
            <a:off x="3246120" y="3986784"/>
            <a:ext cx="2734056" cy="548640"/>
          </a:xfrm>
          <a:prstGeom prst="roundRect">
            <a:avLst>
              <a:gd name="adj" fmla="val 8333"/>
            </a:avLst>
          </a:prstGeom>
          <a:solidFill>
            <a:srgbClr val="F7F7FB"/>
          </a:solidFill>
          <a:ln w="6350">
            <a:solidFill>
              <a:srgbClr val="6B6F82"/>
            </a:solidFill>
            <a:prstDash val="solid"/>
          </a:ln>
        </p:spPr>
      </p:sp>
      <p:sp>
        <p:nvSpPr>
          <p:cNvPr id="39" name="Text 37"/>
          <p:cNvSpPr txBox="1"/>
          <p:nvPr/>
        </p:nvSpPr>
        <p:spPr>
          <a:xfrm>
            <a:off x="3337560" y="3986784"/>
            <a:ext cx="2551176" cy="548640"/>
          </a:xfrm>
          <a:prstGeom prst="rect">
            <a:avLst/>
          </a:prstGeom>
          <a:noFill/>
          <a:ln/>
        </p:spPr>
        <p:txBody>
          <a:bodyPr wrap="square" lIns="0" tIns="0" rIns="0" bIns="0" rtlCol="0" anchor="ctr"/>
          <a:lstStyle/>
          <a:p>
            <a:pPr indent="0" marL="0">
              <a:buNone/>
            </a:pPr>
            <a:r>
              <a:rPr lang="en-US" sz="1100" dirty="0">
                <a:solidFill>
                  <a:srgbClr val="4A4E63"/>
                </a:solidFill>
                <a:latin typeface="Calibri" pitchFamily="34" charset="0"/>
                <a:ea typeface="Calibri" pitchFamily="34" charset="-122"/>
                <a:cs typeface="Calibri" pitchFamily="34" charset="-120"/>
              </a:rPr>
              <a:t>Retriever + reranker MLP (học bằng RL)</a:t>
            </a:r>
            <a:endParaRPr lang="en-US" sz="1100" dirty="0"/>
          </a:p>
        </p:txBody>
      </p:sp>
      <p:sp>
        <p:nvSpPr>
          <p:cNvPr id="40" name="Shape 38"/>
          <p:cNvSpPr/>
          <p:nvPr/>
        </p:nvSpPr>
        <p:spPr>
          <a:xfrm>
            <a:off x="6053328" y="3986784"/>
            <a:ext cx="2734056" cy="548640"/>
          </a:xfrm>
          <a:prstGeom prst="roundRect">
            <a:avLst>
              <a:gd name="adj" fmla="val 8333"/>
            </a:avLst>
          </a:prstGeom>
          <a:solidFill>
            <a:srgbClr val="F7F7FB"/>
          </a:solidFill>
          <a:ln w="6350">
            <a:solidFill>
              <a:srgbClr val="6B6F82"/>
            </a:solidFill>
            <a:prstDash val="solid"/>
          </a:ln>
        </p:spPr>
      </p:sp>
      <p:sp>
        <p:nvSpPr>
          <p:cNvPr id="41" name="Text 39"/>
          <p:cNvSpPr txBox="1"/>
          <p:nvPr/>
        </p:nvSpPr>
        <p:spPr>
          <a:xfrm>
            <a:off x="6144768" y="3986784"/>
            <a:ext cx="2551176" cy="548640"/>
          </a:xfrm>
          <a:prstGeom prst="rect">
            <a:avLst/>
          </a:prstGeom>
          <a:noFill/>
          <a:ln/>
        </p:spPr>
        <p:txBody>
          <a:bodyPr wrap="square" lIns="0" tIns="0" rIns="0" bIns="0" rtlCol="0" anchor="ctr"/>
          <a:lstStyle/>
          <a:p>
            <a:pPr indent="0" marL="0">
              <a:buNone/>
            </a:pPr>
            <a:r>
              <a:rPr lang="en-US" sz="1100" dirty="0">
                <a:solidFill>
                  <a:srgbClr val="4A4E63"/>
                </a:solidFill>
                <a:latin typeface="Calibri" pitchFamily="34" charset="0"/>
                <a:ea typeface="Calibri" pitchFamily="34" charset="-122"/>
                <a:cs typeface="Calibri" pitchFamily="34" charset="-120"/>
              </a:rPr>
              <a:t>Nén + cắt chủ đề, không có reranker riêng</a:t>
            </a:r>
            <a:endParaRPr lang="en-US" sz="1100" dirty="0"/>
          </a:p>
        </p:txBody>
      </p:sp>
      <p:sp>
        <p:nvSpPr>
          <p:cNvPr id="42" name="Shape 40"/>
          <p:cNvSpPr/>
          <p:nvPr/>
        </p:nvSpPr>
        <p:spPr>
          <a:xfrm>
            <a:off x="8860536" y="3986784"/>
            <a:ext cx="2734056" cy="548640"/>
          </a:xfrm>
          <a:prstGeom prst="roundRect">
            <a:avLst>
              <a:gd name="adj" fmla="val 8333"/>
            </a:avLst>
          </a:prstGeom>
          <a:solidFill>
            <a:srgbClr val="F7F7FB"/>
          </a:solidFill>
          <a:ln w="6350">
            <a:solidFill>
              <a:srgbClr val="6B6F82"/>
            </a:solidFill>
            <a:prstDash val="solid"/>
          </a:ln>
        </p:spPr>
      </p:sp>
      <p:sp>
        <p:nvSpPr>
          <p:cNvPr id="43" name="Text 41"/>
          <p:cNvSpPr txBox="1"/>
          <p:nvPr/>
        </p:nvSpPr>
        <p:spPr>
          <a:xfrm>
            <a:off x="8951976" y="3986784"/>
            <a:ext cx="2551176" cy="548640"/>
          </a:xfrm>
          <a:prstGeom prst="rect">
            <a:avLst/>
          </a:prstGeom>
          <a:noFill/>
          <a:ln/>
        </p:spPr>
        <p:txBody>
          <a:bodyPr wrap="square" lIns="0" tIns="0" rIns="0" bIns="0" rtlCol="0" anchor="ctr"/>
          <a:lstStyle/>
          <a:p>
            <a:pPr indent="0" marL="0">
              <a:buNone/>
            </a:pPr>
            <a:r>
              <a:rPr lang="en-US" sz="1100" dirty="0">
                <a:solidFill>
                  <a:srgbClr val="4A4E63"/>
                </a:solidFill>
                <a:latin typeface="Calibri" pitchFamily="34" charset="0"/>
                <a:ea typeface="Calibri" pitchFamily="34" charset="-122"/>
                <a:cs typeface="Calibri" pitchFamily="34" charset="-120"/>
              </a:rPr>
              <a:t>Agent ReAct tự chọn 1-trong-4 công cụ</a:t>
            </a:r>
            <a:endParaRPr lang="en-US" sz="1100" dirty="0"/>
          </a:p>
        </p:txBody>
      </p:sp>
      <p:sp>
        <p:nvSpPr>
          <p:cNvPr id="44" name="Shape 42"/>
          <p:cNvSpPr/>
          <p:nvPr/>
        </p:nvSpPr>
        <p:spPr>
          <a:xfrm>
            <a:off x="566928" y="4608576"/>
            <a:ext cx="2606040" cy="548640"/>
          </a:xfrm>
          <a:prstGeom prst="roundRect">
            <a:avLst>
              <a:gd name="adj" fmla="val 8333"/>
            </a:avLst>
          </a:prstGeom>
          <a:solidFill>
            <a:srgbClr val="ECEBF7"/>
          </a:solidFill>
          <a:ln w="9525">
            <a:solidFill>
              <a:srgbClr val="3A36A0"/>
            </a:solidFill>
            <a:prstDash val="solid"/>
          </a:ln>
        </p:spPr>
      </p:sp>
      <p:sp>
        <p:nvSpPr>
          <p:cNvPr id="45" name="Text 43"/>
          <p:cNvSpPr txBox="1"/>
          <p:nvPr/>
        </p:nvSpPr>
        <p:spPr>
          <a:xfrm>
            <a:off x="676656" y="4608576"/>
            <a:ext cx="2386584" cy="548640"/>
          </a:xfrm>
          <a:prstGeom prst="rect">
            <a:avLst/>
          </a:prstGeom>
          <a:noFill/>
          <a:ln/>
        </p:spPr>
        <p:txBody>
          <a:bodyPr wrap="square" lIns="0" tIns="0" rIns="0" bIns="0" rtlCol="0" anchor="ctr"/>
          <a:lstStyle/>
          <a:p>
            <a:pPr indent="0" marL="0">
              <a:buNone/>
            </a:pPr>
            <a:r>
              <a:rPr lang="en-US" sz="1150" b="1" dirty="0">
                <a:solidFill>
                  <a:srgbClr val="13123A"/>
                </a:solidFill>
                <a:latin typeface="Calibri" pitchFamily="34" charset="0"/>
                <a:ea typeface="Calibri" pitchFamily="34" charset="-122"/>
                <a:cs typeface="Calibri" pitchFamily="34" charset="-120"/>
              </a:rPr>
              <a:t>Yêu cầu phần cứng</a:t>
            </a:r>
            <a:endParaRPr lang="en-US" sz="1150" dirty="0"/>
          </a:p>
        </p:txBody>
      </p:sp>
      <p:sp>
        <p:nvSpPr>
          <p:cNvPr id="46" name="Shape 44"/>
          <p:cNvSpPr/>
          <p:nvPr/>
        </p:nvSpPr>
        <p:spPr>
          <a:xfrm>
            <a:off x="3246120" y="4608576"/>
            <a:ext cx="2734056" cy="548640"/>
          </a:xfrm>
          <a:prstGeom prst="roundRect">
            <a:avLst>
              <a:gd name="adj" fmla="val 8333"/>
            </a:avLst>
          </a:prstGeom>
          <a:solidFill>
            <a:srgbClr val="F7F7FB"/>
          </a:solidFill>
          <a:ln w="6350">
            <a:solidFill>
              <a:srgbClr val="6B6F82"/>
            </a:solidFill>
            <a:prstDash val="solid"/>
          </a:ln>
        </p:spPr>
      </p:sp>
      <p:sp>
        <p:nvSpPr>
          <p:cNvPr id="47" name="Text 45"/>
          <p:cNvSpPr txBox="1"/>
          <p:nvPr/>
        </p:nvSpPr>
        <p:spPr>
          <a:xfrm>
            <a:off x="3337560" y="4608576"/>
            <a:ext cx="2551176" cy="548640"/>
          </a:xfrm>
          <a:prstGeom prst="rect">
            <a:avLst/>
          </a:prstGeom>
          <a:noFill/>
          <a:ln/>
        </p:spPr>
        <p:txBody>
          <a:bodyPr wrap="square" lIns="0" tIns="0" rIns="0" bIns="0" rtlCol="0" anchor="ctr"/>
          <a:lstStyle/>
          <a:p>
            <a:pPr indent="0" marL="0">
              <a:buNone/>
            </a:pPr>
            <a:r>
              <a:rPr lang="en-US" sz="1100" dirty="0">
                <a:solidFill>
                  <a:srgbClr val="4A4E63"/>
                </a:solidFill>
                <a:latin typeface="Calibri" pitchFamily="34" charset="0"/>
                <a:ea typeface="Calibri" pitchFamily="34" charset="-122"/>
                <a:cs typeface="Calibri" pitchFamily="34" charset="-120"/>
              </a:rPr>
              <a:t>Cần embedder lớn (GPU) để đạt điểm cao nhất</a:t>
            </a:r>
            <a:endParaRPr lang="en-US" sz="1100" dirty="0"/>
          </a:p>
        </p:txBody>
      </p:sp>
      <p:sp>
        <p:nvSpPr>
          <p:cNvPr id="48" name="Shape 46"/>
          <p:cNvSpPr/>
          <p:nvPr/>
        </p:nvSpPr>
        <p:spPr>
          <a:xfrm>
            <a:off x="6053328" y="4608576"/>
            <a:ext cx="2734056" cy="548640"/>
          </a:xfrm>
          <a:prstGeom prst="roundRect">
            <a:avLst>
              <a:gd name="adj" fmla="val 8333"/>
            </a:avLst>
          </a:prstGeom>
          <a:solidFill>
            <a:srgbClr val="F7F7FB"/>
          </a:solidFill>
          <a:ln w="6350">
            <a:solidFill>
              <a:srgbClr val="6B6F82"/>
            </a:solidFill>
            <a:prstDash val="solid"/>
          </a:ln>
        </p:spPr>
      </p:sp>
      <p:sp>
        <p:nvSpPr>
          <p:cNvPr id="49" name="Text 47"/>
          <p:cNvSpPr txBox="1"/>
          <p:nvPr/>
        </p:nvSpPr>
        <p:spPr>
          <a:xfrm>
            <a:off x="6144768" y="4608576"/>
            <a:ext cx="2551176" cy="548640"/>
          </a:xfrm>
          <a:prstGeom prst="rect">
            <a:avLst/>
          </a:prstGeom>
          <a:noFill/>
          <a:ln/>
        </p:spPr>
        <p:txBody>
          <a:bodyPr wrap="square" lIns="0" tIns="0" rIns="0" bIns="0" rtlCol="0" anchor="ctr"/>
          <a:lstStyle/>
          <a:p>
            <a:pPr indent="0" marL="0">
              <a:buNone/>
            </a:pPr>
            <a:r>
              <a:rPr lang="en-US" sz="1100" dirty="0">
                <a:solidFill>
                  <a:srgbClr val="4A4E63"/>
                </a:solidFill>
                <a:latin typeface="Calibri" pitchFamily="34" charset="0"/>
                <a:ea typeface="Calibri" pitchFamily="34" charset="-122"/>
                <a:cs typeface="Calibri" pitchFamily="34" charset="-120"/>
              </a:rPr>
              <a:t>Nhẹ — chạy tốt trên CPU</a:t>
            </a:r>
            <a:endParaRPr lang="en-US" sz="1100" dirty="0"/>
          </a:p>
        </p:txBody>
      </p:sp>
      <p:sp>
        <p:nvSpPr>
          <p:cNvPr id="50" name="Shape 48"/>
          <p:cNvSpPr/>
          <p:nvPr/>
        </p:nvSpPr>
        <p:spPr>
          <a:xfrm>
            <a:off x="8860536" y="4608576"/>
            <a:ext cx="2734056" cy="548640"/>
          </a:xfrm>
          <a:prstGeom prst="roundRect">
            <a:avLst>
              <a:gd name="adj" fmla="val 8333"/>
            </a:avLst>
          </a:prstGeom>
          <a:solidFill>
            <a:srgbClr val="F7F7FB"/>
          </a:solidFill>
          <a:ln w="6350">
            <a:solidFill>
              <a:srgbClr val="6B6F82"/>
            </a:solidFill>
            <a:prstDash val="solid"/>
          </a:ln>
        </p:spPr>
      </p:sp>
      <p:sp>
        <p:nvSpPr>
          <p:cNvPr id="51" name="Text 49"/>
          <p:cNvSpPr txBox="1"/>
          <p:nvPr/>
        </p:nvSpPr>
        <p:spPr>
          <a:xfrm>
            <a:off x="8951976" y="4608576"/>
            <a:ext cx="2551176" cy="548640"/>
          </a:xfrm>
          <a:prstGeom prst="rect">
            <a:avLst/>
          </a:prstGeom>
          <a:noFill/>
          <a:ln/>
        </p:spPr>
        <p:txBody>
          <a:bodyPr wrap="square" lIns="0" tIns="0" rIns="0" bIns="0" rtlCol="0" anchor="ctr"/>
          <a:lstStyle/>
          <a:p>
            <a:pPr indent="0" marL="0">
              <a:buNone/>
            </a:pPr>
            <a:r>
              <a:rPr lang="en-US" sz="1100" dirty="0">
                <a:solidFill>
                  <a:srgbClr val="4A4E63"/>
                </a:solidFill>
                <a:latin typeface="Calibri" pitchFamily="34" charset="0"/>
                <a:ea typeface="Calibri" pitchFamily="34" charset="-122"/>
                <a:cs typeface="Calibri" pitchFamily="34" charset="-120"/>
              </a:rPr>
              <a:t>Cần LLM giỏi tool-use/SQL</a:t>
            </a:r>
            <a:endParaRPr lang="en-US" sz="1100" dirty="0"/>
          </a:p>
        </p:txBody>
      </p:sp>
      <p:sp>
        <p:nvSpPr>
          <p:cNvPr id="52" name="Shape 50"/>
          <p:cNvSpPr/>
          <p:nvPr/>
        </p:nvSpPr>
        <p:spPr>
          <a:xfrm>
            <a:off x="566928" y="5230368"/>
            <a:ext cx="2606040" cy="548640"/>
          </a:xfrm>
          <a:prstGeom prst="roundRect">
            <a:avLst>
              <a:gd name="adj" fmla="val 8333"/>
            </a:avLst>
          </a:prstGeom>
          <a:solidFill>
            <a:srgbClr val="ECEBF7"/>
          </a:solidFill>
          <a:ln w="9525">
            <a:solidFill>
              <a:srgbClr val="3A36A0"/>
            </a:solidFill>
            <a:prstDash val="solid"/>
          </a:ln>
        </p:spPr>
      </p:sp>
      <p:sp>
        <p:nvSpPr>
          <p:cNvPr id="53" name="Text 51"/>
          <p:cNvSpPr txBox="1"/>
          <p:nvPr/>
        </p:nvSpPr>
        <p:spPr>
          <a:xfrm>
            <a:off x="676656" y="5230368"/>
            <a:ext cx="2386584" cy="548640"/>
          </a:xfrm>
          <a:prstGeom prst="rect">
            <a:avLst/>
          </a:prstGeom>
          <a:noFill/>
          <a:ln/>
        </p:spPr>
        <p:txBody>
          <a:bodyPr wrap="square" lIns="0" tIns="0" rIns="0" bIns="0" rtlCol="0" anchor="ctr"/>
          <a:lstStyle/>
          <a:p>
            <a:pPr indent="0" marL="0">
              <a:buNone/>
            </a:pPr>
            <a:r>
              <a:rPr lang="en-US" sz="1150" b="1" dirty="0">
                <a:solidFill>
                  <a:srgbClr val="13123A"/>
                </a:solidFill>
                <a:latin typeface="Calibri" pitchFamily="34" charset="0"/>
                <a:ea typeface="Calibri" pitchFamily="34" charset="-122"/>
                <a:cs typeface="Calibri" pitchFamily="34" charset="-120"/>
              </a:rPr>
              <a:t>Mã nguồn công khai</a:t>
            </a:r>
            <a:endParaRPr lang="en-US" sz="1150" dirty="0"/>
          </a:p>
        </p:txBody>
      </p:sp>
      <p:sp>
        <p:nvSpPr>
          <p:cNvPr id="54" name="Shape 52"/>
          <p:cNvSpPr/>
          <p:nvPr/>
        </p:nvSpPr>
        <p:spPr>
          <a:xfrm>
            <a:off x="3246120" y="5230368"/>
            <a:ext cx="2734056" cy="548640"/>
          </a:xfrm>
          <a:prstGeom prst="roundRect">
            <a:avLst>
              <a:gd name="adj" fmla="val 8333"/>
            </a:avLst>
          </a:prstGeom>
          <a:solidFill>
            <a:srgbClr val="F7F7FB"/>
          </a:solidFill>
          <a:ln w="6350">
            <a:solidFill>
              <a:srgbClr val="6B6F82"/>
            </a:solidFill>
            <a:prstDash val="solid"/>
          </a:ln>
        </p:spPr>
      </p:sp>
      <p:sp>
        <p:nvSpPr>
          <p:cNvPr id="55" name="Text 53"/>
          <p:cNvSpPr txBox="1"/>
          <p:nvPr/>
        </p:nvSpPr>
        <p:spPr>
          <a:xfrm>
            <a:off x="3337560" y="5230368"/>
            <a:ext cx="2551176" cy="548640"/>
          </a:xfrm>
          <a:prstGeom prst="rect">
            <a:avLst/>
          </a:prstGeom>
          <a:noFill/>
          <a:ln/>
        </p:spPr>
        <p:txBody>
          <a:bodyPr wrap="square" lIns="0" tIns="0" rIns="0" bIns="0" rtlCol="0" anchor="ctr"/>
          <a:lstStyle/>
          <a:p>
            <a:pPr indent="0" marL="0">
              <a:buNone/>
            </a:pPr>
            <a:r>
              <a:rPr lang="en-US" sz="1100" dirty="0">
                <a:solidFill>
                  <a:srgbClr val="4A4E63"/>
                </a:solidFill>
                <a:latin typeface="Calibri" pitchFamily="34" charset="0"/>
                <a:ea typeface="Calibri" pitchFamily="34" charset="-122"/>
                <a:cs typeface="Calibri" pitchFamily="34" charset="-120"/>
              </a:rPr>
              <a:t>Không nêu rõ trong bài</a:t>
            </a:r>
            <a:endParaRPr lang="en-US" sz="1100" dirty="0"/>
          </a:p>
        </p:txBody>
      </p:sp>
      <p:sp>
        <p:nvSpPr>
          <p:cNvPr id="56" name="Shape 54"/>
          <p:cNvSpPr/>
          <p:nvPr/>
        </p:nvSpPr>
        <p:spPr>
          <a:xfrm>
            <a:off x="6053328" y="5230368"/>
            <a:ext cx="2734056" cy="548640"/>
          </a:xfrm>
          <a:prstGeom prst="roundRect">
            <a:avLst>
              <a:gd name="adj" fmla="val 8333"/>
            </a:avLst>
          </a:prstGeom>
          <a:solidFill>
            <a:srgbClr val="F7F7FB"/>
          </a:solidFill>
          <a:ln w="6350">
            <a:solidFill>
              <a:srgbClr val="6B6F82"/>
            </a:solidFill>
            <a:prstDash val="solid"/>
          </a:ln>
        </p:spPr>
      </p:sp>
      <p:sp>
        <p:nvSpPr>
          <p:cNvPr id="57" name="Text 55"/>
          <p:cNvSpPr txBox="1"/>
          <p:nvPr/>
        </p:nvSpPr>
        <p:spPr>
          <a:xfrm>
            <a:off x="6144768" y="5230368"/>
            <a:ext cx="2551176" cy="548640"/>
          </a:xfrm>
          <a:prstGeom prst="rect">
            <a:avLst/>
          </a:prstGeom>
          <a:noFill/>
          <a:ln/>
        </p:spPr>
        <p:txBody>
          <a:bodyPr wrap="square" lIns="0" tIns="0" rIns="0" bIns="0" rtlCol="0" anchor="ctr"/>
          <a:lstStyle/>
          <a:p>
            <a:pPr indent="0" marL="0">
              <a:buNone/>
            </a:pPr>
            <a:r>
              <a:rPr lang="en-US" sz="1100" dirty="0">
                <a:solidFill>
                  <a:srgbClr val="4A4E63"/>
                </a:solidFill>
                <a:latin typeface="Calibri" pitchFamily="34" charset="0"/>
                <a:ea typeface="Calibri" pitchFamily="34" charset="-122"/>
                <a:cs typeface="Calibri" pitchFamily="34" charset="-120"/>
              </a:rPr>
              <a:t>Có (GitHub)</a:t>
            </a:r>
            <a:endParaRPr lang="en-US" sz="1100" dirty="0"/>
          </a:p>
        </p:txBody>
      </p:sp>
      <p:sp>
        <p:nvSpPr>
          <p:cNvPr id="58" name="Shape 56"/>
          <p:cNvSpPr/>
          <p:nvPr/>
        </p:nvSpPr>
        <p:spPr>
          <a:xfrm>
            <a:off x="8860536" y="5230368"/>
            <a:ext cx="2734056" cy="548640"/>
          </a:xfrm>
          <a:prstGeom prst="roundRect">
            <a:avLst>
              <a:gd name="adj" fmla="val 8333"/>
            </a:avLst>
          </a:prstGeom>
          <a:solidFill>
            <a:srgbClr val="F7F7FB"/>
          </a:solidFill>
          <a:ln w="6350">
            <a:solidFill>
              <a:srgbClr val="6B6F82"/>
            </a:solidFill>
            <a:prstDash val="solid"/>
          </a:ln>
        </p:spPr>
      </p:sp>
      <p:sp>
        <p:nvSpPr>
          <p:cNvPr id="59" name="Text 57"/>
          <p:cNvSpPr txBox="1"/>
          <p:nvPr/>
        </p:nvSpPr>
        <p:spPr>
          <a:xfrm>
            <a:off x="8951976" y="5230368"/>
            <a:ext cx="2551176" cy="548640"/>
          </a:xfrm>
          <a:prstGeom prst="rect">
            <a:avLst/>
          </a:prstGeom>
          <a:noFill/>
          <a:ln/>
        </p:spPr>
        <p:txBody>
          <a:bodyPr wrap="square" lIns="0" tIns="0" rIns="0" bIns="0" rtlCol="0" anchor="ctr"/>
          <a:lstStyle/>
          <a:p>
            <a:pPr indent="0" marL="0">
              <a:buNone/>
            </a:pPr>
            <a:r>
              <a:rPr lang="en-US" sz="1100" dirty="0">
                <a:solidFill>
                  <a:srgbClr val="4A4E63"/>
                </a:solidFill>
                <a:latin typeface="Calibri" pitchFamily="34" charset="0"/>
                <a:ea typeface="Calibri" pitchFamily="34" charset="-122"/>
                <a:cs typeface="Calibri" pitchFamily="34" charset="-120"/>
              </a:rPr>
              <a:t>Không</a:t>
            </a:r>
            <a:endParaRPr lang="en-US" sz="1100" dirty="0"/>
          </a:p>
        </p:txBody>
      </p:sp>
      <p:sp>
        <p:nvSpPr>
          <p:cNvPr id="60" name="Shape 58"/>
          <p:cNvSpPr/>
          <p:nvPr/>
        </p:nvSpPr>
        <p:spPr>
          <a:xfrm>
            <a:off x="566928" y="5925312"/>
            <a:ext cx="11027664" cy="512064"/>
          </a:xfrm>
          <a:prstGeom prst="roundRect">
            <a:avLst>
              <a:gd name="adj" fmla="val 14286"/>
            </a:avLst>
          </a:prstGeom>
          <a:solidFill>
            <a:srgbClr val="13123A"/>
          </a:solidFill>
          <a:ln/>
        </p:spPr>
      </p:sp>
      <p:sp>
        <p:nvSpPr>
          <p:cNvPr id="61" name="Text 59"/>
          <p:cNvSpPr txBox="1"/>
          <p:nvPr/>
        </p:nvSpPr>
        <p:spPr>
          <a:xfrm>
            <a:off x="822960" y="5925312"/>
            <a:ext cx="10515600" cy="51206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Cùng một trục đánh đổi:  </a:t>
            </a:r>
            <a:pPr indent="0" marL="0">
              <a:buNone/>
            </a:pPr>
            <a:r>
              <a:rPr lang="en-US" sz="1200" dirty="0">
                <a:solidFill>
                  <a:srgbClr val="CADCFC"/>
                </a:solidFill>
                <a:latin typeface="Calibri" pitchFamily="34" charset="0"/>
                <a:ea typeface="Calibri" pitchFamily="34" charset="-122"/>
                <a:cs typeface="Calibri" pitchFamily="34" charset="-120"/>
              </a:rPr>
              <a:t>bộ nhớ càng được cấu trúc hoá thì suy luận thời gian càng chính xác nhưng chi phí gọi LLM càng cao. APEX-MEM ở đầu này của trục, LightMem ở đầu kia, còn RMM chọn đi đường khác — cải thiện bằng truy xuất học được thay vì bằng cấu trúc.</a:t>
            </a:r>
            <a:endParaRPr lang="en-US" sz="1200" dirty="0"/>
          </a:p>
        </p:txBody>
      </p:sp>
      <p:sp>
        <p:nvSpPr>
          <p:cNvPr id="62" name="Text 60"/>
          <p:cNvSpPr txBox="1"/>
          <p:nvPr/>
        </p:nvSpPr>
        <p:spPr>
          <a:xfrm>
            <a:off x="566928" y="6510528"/>
            <a:ext cx="11027664" cy="274320"/>
          </a:xfrm>
          <a:prstGeom prst="rect">
            <a:avLst/>
          </a:prstGeom>
          <a:noFill/>
          <a:ln/>
        </p:spPr>
        <p:txBody>
          <a:bodyPr wrap="square" lIns="0" tIns="0" rIns="0" bIns="0" rtlCol="0" anchor="ctr"/>
          <a:lstStyle/>
          <a:p>
            <a:pPr indent="0" marL="0">
              <a:buNone/>
            </a:pPr>
            <a:r>
              <a:rPr lang="en-US" sz="1050" dirty="0">
                <a:solidFill>
                  <a:srgbClr val="6B6F82"/>
                </a:solidFill>
                <a:latin typeface="Calibri" pitchFamily="34" charset="0"/>
                <a:ea typeface="Calibri" pitchFamily="34" charset="-122"/>
                <a:cs typeface="Calibri" pitchFamily="34" charset="-120"/>
              </a:rPr>
              <a:t>Bảng tổng hợp từ chính 3 bài báo — không đối chiếu với hệ thống nào khác.</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123A"/>
        </a:solidFill>
      </p:bgPr>
    </p:bg>
    <p:spTree>
      <p:nvGrpSpPr>
        <p:cNvPr id="1" name=""/>
        <p:cNvGrpSpPr/>
        <p:nvPr/>
      </p:nvGrpSpPr>
      <p:grpSpPr>
        <a:xfrm>
          <a:off x="0" y="0"/>
          <a:ext cx="0" cy="0"/>
          <a:chOff x="0" y="0"/>
          <a:chExt cx="0" cy="0"/>
        </a:xfrm>
      </p:grpSpPr>
      <p:sp>
        <p:nvSpPr>
          <p:cNvPr id="2" name="Text 0"/>
          <p:cNvSpPr txBox="1"/>
          <p:nvPr/>
        </p:nvSpPr>
        <p:spPr>
          <a:xfrm>
            <a:off x="566928" y="457200"/>
            <a:ext cx="10058400" cy="274320"/>
          </a:xfrm>
          <a:prstGeom prst="rect">
            <a:avLst/>
          </a:prstGeom>
          <a:noFill/>
          <a:ln/>
        </p:spPr>
        <p:txBody>
          <a:bodyPr wrap="square" lIns="0" tIns="0" rIns="0" bIns="0" rtlCol="0" anchor="ctr"/>
          <a:lstStyle/>
          <a:p>
            <a:pPr indent="0" marL="0">
              <a:buNone/>
            </a:pPr>
            <a:r>
              <a:rPr lang="en-US" sz="1500" b="1" spc="100" kern="0" dirty="0">
                <a:solidFill>
                  <a:srgbClr val="CADCFC"/>
                </a:solidFill>
                <a:latin typeface="Calibri" pitchFamily="34" charset="0"/>
                <a:ea typeface="Calibri" pitchFamily="34" charset="-122"/>
                <a:cs typeface="Calibri" pitchFamily="34" charset="-120"/>
              </a:rPr>
              <a:t>KẾT LUẬN</a:t>
            </a:r>
            <a:endParaRPr lang="en-US" sz="1500" dirty="0"/>
          </a:p>
        </p:txBody>
      </p:sp>
      <p:sp>
        <p:nvSpPr>
          <p:cNvPr id="3" name="Text 1"/>
          <p:cNvSpPr txBox="1"/>
          <p:nvPr/>
        </p:nvSpPr>
        <p:spPr>
          <a:xfrm>
            <a:off x="566928" y="822960"/>
            <a:ext cx="11027664" cy="64008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Tổng kết: đánh đổi thiết kế của 3 hệ thống</a:t>
            </a:r>
            <a:endParaRPr lang="en-US" sz="2600" dirty="0"/>
          </a:p>
        </p:txBody>
      </p:sp>
      <p:sp>
        <p:nvSpPr>
          <p:cNvPr id="4" name="Shape 2"/>
          <p:cNvSpPr/>
          <p:nvPr/>
        </p:nvSpPr>
        <p:spPr>
          <a:xfrm>
            <a:off x="566928" y="1783080"/>
            <a:ext cx="11027664" cy="1133856"/>
          </a:xfrm>
          <a:prstGeom prst="roundRect">
            <a:avLst>
              <a:gd name="adj" fmla="val 6452"/>
            </a:avLst>
          </a:prstGeom>
          <a:solidFill>
            <a:srgbClr val="201F52"/>
          </a:solidFill>
          <a:ln w="12700">
            <a:solidFill>
              <a:srgbClr val="3A36A0"/>
            </a:solidFill>
            <a:prstDash val="solid"/>
          </a:ln>
        </p:spPr>
      </p:sp>
      <p:sp>
        <p:nvSpPr>
          <p:cNvPr id="5" name="Text 3"/>
          <p:cNvSpPr txBox="1"/>
          <p:nvPr/>
        </p:nvSpPr>
        <p:spPr>
          <a:xfrm>
            <a:off x="868680" y="1965960"/>
            <a:ext cx="10424160" cy="4572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APEX-MEM — chính xác nhất, đắt nhất</a:t>
            </a:r>
            <a:endParaRPr lang="en-US" sz="1700" dirty="0"/>
          </a:p>
        </p:txBody>
      </p:sp>
      <p:sp>
        <p:nvSpPr>
          <p:cNvPr id="6" name="Text 4"/>
          <p:cNvSpPr txBox="1"/>
          <p:nvPr/>
        </p:nvSpPr>
        <p:spPr>
          <a:xfrm>
            <a:off x="868680" y="2441448"/>
            <a:ext cx="10424160" cy="356616"/>
          </a:xfrm>
          <a:prstGeom prst="rect">
            <a:avLst/>
          </a:prstGeom>
          <a:noFill/>
          <a:ln/>
        </p:spPr>
        <p:txBody>
          <a:bodyPr wrap="square" lIns="0" tIns="0" rIns="0" bIns="0" rtlCol="0" anchor="t"/>
          <a:lstStyle/>
          <a:p>
            <a:pPr indent="0" marL="0">
              <a:buNone/>
            </a:pPr>
            <a:r>
              <a:rPr lang="en-US" sz="1350" dirty="0">
                <a:solidFill>
                  <a:srgbClr val="CADCFC"/>
                </a:solidFill>
                <a:latin typeface="Calibri" pitchFamily="34" charset="0"/>
                <a:ea typeface="Calibri" pitchFamily="34" charset="-122"/>
                <a:cs typeface="Calibri" pitchFamily="34" charset="-120"/>
              </a:rPr>
              <a:t>Độ chính xác cao nhất trong 3 bài nhờ suy luận thời gian tường minh bằng SQL, nhưng cần LLM giỏi dùng công cụ và tốn nhiều lượt gọi nhất.</a:t>
            </a:r>
            <a:endParaRPr lang="en-US" sz="1350" dirty="0"/>
          </a:p>
        </p:txBody>
      </p:sp>
      <p:sp>
        <p:nvSpPr>
          <p:cNvPr id="7" name="Shape 5"/>
          <p:cNvSpPr/>
          <p:nvPr/>
        </p:nvSpPr>
        <p:spPr>
          <a:xfrm>
            <a:off x="566928" y="3063240"/>
            <a:ext cx="11027664" cy="1133856"/>
          </a:xfrm>
          <a:prstGeom prst="roundRect">
            <a:avLst>
              <a:gd name="adj" fmla="val 6452"/>
            </a:avLst>
          </a:prstGeom>
          <a:solidFill>
            <a:srgbClr val="201F52"/>
          </a:solidFill>
          <a:ln w="12700">
            <a:solidFill>
              <a:srgbClr val="3A36A0"/>
            </a:solidFill>
            <a:prstDash val="solid"/>
          </a:ln>
        </p:spPr>
      </p:sp>
      <p:sp>
        <p:nvSpPr>
          <p:cNvPr id="8" name="Text 6"/>
          <p:cNvSpPr txBox="1"/>
          <p:nvPr/>
        </p:nvSpPr>
        <p:spPr>
          <a:xfrm>
            <a:off x="868680" y="3246120"/>
            <a:ext cx="10424160" cy="4572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LightMem — rẻ nhất, đơn giản nhất</a:t>
            </a:r>
            <a:endParaRPr lang="en-US" sz="1700" dirty="0"/>
          </a:p>
        </p:txBody>
      </p:sp>
      <p:sp>
        <p:nvSpPr>
          <p:cNvPr id="9" name="Text 7"/>
          <p:cNvSpPr txBox="1"/>
          <p:nvPr/>
        </p:nvSpPr>
        <p:spPr>
          <a:xfrm>
            <a:off x="868680" y="3721608"/>
            <a:ext cx="10424160" cy="356616"/>
          </a:xfrm>
          <a:prstGeom prst="rect">
            <a:avLst/>
          </a:prstGeom>
          <a:noFill/>
          <a:ln/>
        </p:spPr>
        <p:txBody>
          <a:bodyPr wrap="square" lIns="0" tIns="0" rIns="0" bIns="0" rtlCol="0" anchor="t"/>
          <a:lstStyle/>
          <a:p>
            <a:pPr indent="0" marL="0">
              <a:buNone/>
            </a:pPr>
            <a:r>
              <a:rPr lang="en-US" sz="1350" dirty="0">
                <a:solidFill>
                  <a:srgbClr val="CADCFC"/>
                </a:solidFill>
                <a:latin typeface="Calibri" pitchFamily="34" charset="0"/>
                <a:ea typeface="Calibri" pitchFamily="34" charset="-122"/>
                <a:cs typeface="Calibri" pitchFamily="34" charset="-120"/>
              </a:rPr>
              <a:t>Giảm số lượt gọi LLM mạnh nhất, chạy nhẹ, nhưng đơn vị nhớ không có cấu trúc nên yếu ở câu hỏi cần độ chính xác cao về slot/thời gian.</a:t>
            </a:r>
            <a:endParaRPr lang="en-US" sz="1350" dirty="0"/>
          </a:p>
        </p:txBody>
      </p:sp>
      <p:sp>
        <p:nvSpPr>
          <p:cNvPr id="10" name="Shape 8"/>
          <p:cNvSpPr/>
          <p:nvPr/>
        </p:nvSpPr>
        <p:spPr>
          <a:xfrm>
            <a:off x="566928" y="4343400"/>
            <a:ext cx="11027664" cy="1133856"/>
          </a:xfrm>
          <a:prstGeom prst="roundRect">
            <a:avLst>
              <a:gd name="adj" fmla="val 6452"/>
            </a:avLst>
          </a:prstGeom>
          <a:solidFill>
            <a:srgbClr val="201F52"/>
          </a:solidFill>
          <a:ln w="12700">
            <a:solidFill>
              <a:srgbClr val="3A36A0"/>
            </a:solidFill>
            <a:prstDash val="solid"/>
          </a:ln>
        </p:spPr>
      </p:sp>
      <p:sp>
        <p:nvSpPr>
          <p:cNvPr id="11" name="Text 9"/>
          <p:cNvSpPr txBox="1"/>
          <p:nvPr/>
        </p:nvSpPr>
        <p:spPr>
          <a:xfrm>
            <a:off x="868680" y="4526280"/>
            <a:ext cx="10424160" cy="4572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RMM — cân bằng, nhưng có rủi ro huấn luyện</a:t>
            </a:r>
            <a:endParaRPr lang="en-US" sz="1700" dirty="0"/>
          </a:p>
        </p:txBody>
      </p:sp>
      <p:sp>
        <p:nvSpPr>
          <p:cNvPr id="12" name="Text 10"/>
          <p:cNvSpPr txBox="1"/>
          <p:nvPr/>
        </p:nvSpPr>
        <p:spPr>
          <a:xfrm>
            <a:off x="868680" y="5001768"/>
            <a:ext cx="10424160" cy="356616"/>
          </a:xfrm>
          <a:prstGeom prst="rect">
            <a:avLst/>
          </a:prstGeom>
          <a:noFill/>
          <a:ln/>
        </p:spPr>
        <p:txBody>
          <a:bodyPr wrap="square" lIns="0" tIns="0" rIns="0" bIns="0" rtlCol="0" anchor="t"/>
          <a:lstStyle/>
          <a:p>
            <a:pPr indent="0" marL="0">
              <a:buNone/>
            </a:pPr>
            <a:r>
              <a:rPr lang="en-US" sz="1350" dirty="0">
                <a:solidFill>
                  <a:srgbClr val="CADCFC"/>
                </a:solidFill>
                <a:latin typeface="Calibri" pitchFamily="34" charset="0"/>
                <a:ea typeface="Calibri" pitchFamily="34" charset="-122"/>
                <a:cs typeface="Calibri" pitchFamily="34" charset="-120"/>
              </a:rPr>
              <a:t>Kết hợp được cả trích xuất thông minh và truy xuất học được, nhưng phần RL dễ phản tác dụng nếu thiết kế reranker sai cách.</a:t>
            </a:r>
            <a:endParaRPr lang="en-US" sz="1350" dirty="0"/>
          </a:p>
        </p:txBody>
      </p:sp>
      <p:sp>
        <p:nvSpPr>
          <p:cNvPr id="13" name="Shape 11"/>
          <p:cNvSpPr/>
          <p:nvPr/>
        </p:nvSpPr>
        <p:spPr>
          <a:xfrm>
            <a:off x="566928" y="5760720"/>
            <a:ext cx="11027664" cy="658368"/>
          </a:xfrm>
          <a:prstGeom prst="roundRect">
            <a:avLst>
              <a:gd name="adj" fmla="val 11111"/>
            </a:avLst>
          </a:prstGeom>
          <a:solidFill>
            <a:srgbClr val="2E2A8C"/>
          </a:solidFill>
          <a:ln w="15875">
            <a:solidFill>
              <a:srgbClr val="1FA6A6"/>
            </a:solidFill>
            <a:prstDash val="solid"/>
          </a:ln>
        </p:spPr>
      </p:sp>
      <p:sp>
        <p:nvSpPr>
          <p:cNvPr id="14" name="Text 12"/>
          <p:cNvSpPr txBox="1"/>
          <p:nvPr/>
        </p:nvSpPr>
        <p:spPr>
          <a:xfrm>
            <a:off x="868680" y="5760720"/>
            <a:ext cx="10424160" cy="65836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Câu hỏi chung mà cả 3 bài đang trả lời theo 3 cách khác nhau:  </a:t>
            </a:r>
            <a:pPr indent="0" marL="0">
              <a:buNone/>
            </a:pPr>
            <a:r>
              <a:rPr lang="en-US" sz="1400" dirty="0">
                <a:solidFill>
                  <a:srgbClr val="CADCFC"/>
                </a:solidFill>
                <a:latin typeface="Calibri" pitchFamily="34" charset="0"/>
                <a:ea typeface="Calibri" pitchFamily="34" charset="-122"/>
                <a:cs typeface="Calibri" pitchFamily="34" charset="-120"/>
              </a:rPr>
              <a:t>nên đầu tư chi phí vào việc cấu trúc hoá bộ nhớ lúc ghi, hay vào việc học cách truy xuất lúc đọc?</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57200"/>
            <a:ext cx="10058400" cy="274320"/>
          </a:xfrm>
          <a:prstGeom prst="rect">
            <a:avLst/>
          </a:prstGeom>
          <a:noFill/>
          <a:ln/>
        </p:spPr>
        <p:txBody>
          <a:bodyPr wrap="square" lIns="0" tIns="0" rIns="0" bIns="0" rtlCol="0" anchor="ctr"/>
          <a:lstStyle/>
          <a:p>
            <a:pPr indent="0" marL="0">
              <a:buNone/>
            </a:pPr>
            <a:r>
              <a:rPr lang="en-US" sz="1500" b="1" spc="100" kern="0" dirty="0">
                <a:solidFill>
                  <a:srgbClr val="B4432E"/>
                </a:solidFill>
                <a:latin typeface="Calibri" pitchFamily="34" charset="0"/>
                <a:ea typeface="Calibri" pitchFamily="34" charset="-122"/>
                <a:cs typeface="Calibri" pitchFamily="34" charset="-120"/>
              </a:rPr>
              <a:t>TÀI LIỆU THAM KHẢO</a:t>
            </a:r>
            <a:endParaRPr lang="en-US" sz="1500" dirty="0"/>
          </a:p>
        </p:txBody>
      </p:sp>
      <p:sp>
        <p:nvSpPr>
          <p:cNvPr id="3" name="Text 1"/>
          <p:cNvSpPr txBox="1"/>
          <p:nvPr/>
        </p:nvSpPr>
        <p:spPr>
          <a:xfrm>
            <a:off x="566928" y="758952"/>
            <a:ext cx="11027664" cy="640080"/>
          </a:xfrm>
          <a:prstGeom prst="rect">
            <a:avLst/>
          </a:prstGeom>
          <a:noFill/>
          <a:ln/>
        </p:spPr>
        <p:txBody>
          <a:bodyPr wrap="square" lIns="0" tIns="0" rIns="0" bIns="0" rtlCol="0" anchor="t"/>
          <a:lstStyle/>
          <a:p>
            <a:pPr indent="0" marL="0">
              <a:buNone/>
            </a:pPr>
            <a:r>
              <a:rPr lang="en-US" sz="2600" b="1" dirty="0">
                <a:solidFill>
                  <a:srgbClr val="13123A"/>
                </a:solidFill>
                <a:latin typeface="Cambria" pitchFamily="34" charset="0"/>
                <a:ea typeface="Cambria" pitchFamily="34" charset="-122"/>
                <a:cs typeface="Cambria" pitchFamily="34" charset="-120"/>
              </a:rPr>
              <a:t>Tài liệu tham khảo</a:t>
            </a:r>
            <a:endParaRPr lang="en-US" sz="2600" dirty="0"/>
          </a:p>
        </p:txBody>
      </p:sp>
      <p:sp>
        <p:nvSpPr>
          <p:cNvPr id="4" name="Shape 2"/>
          <p:cNvSpPr/>
          <p:nvPr/>
        </p:nvSpPr>
        <p:spPr>
          <a:xfrm>
            <a:off x="566928" y="1691640"/>
            <a:ext cx="11027664" cy="1481328"/>
          </a:xfrm>
          <a:prstGeom prst="roundRect">
            <a:avLst>
              <a:gd name="adj" fmla="val 4938"/>
            </a:avLst>
          </a:prstGeom>
          <a:solidFill>
            <a:srgbClr val="F7F7FB"/>
          </a:solidFill>
          <a:ln w="9525">
            <a:solidFill>
              <a:srgbClr val="6B6F82"/>
            </a:solidFill>
            <a:prstDash val="solid"/>
          </a:ln>
        </p:spPr>
      </p:sp>
      <p:sp>
        <p:nvSpPr>
          <p:cNvPr id="5" name="Shape 3"/>
          <p:cNvSpPr/>
          <p:nvPr/>
        </p:nvSpPr>
        <p:spPr>
          <a:xfrm>
            <a:off x="777240" y="1856232"/>
            <a:ext cx="2743200" cy="329184"/>
          </a:xfrm>
          <a:prstGeom prst="roundRect">
            <a:avLst>
              <a:gd name="adj" fmla="val 50000"/>
            </a:avLst>
          </a:prstGeom>
          <a:solidFill>
            <a:srgbClr val="3A36A0"/>
          </a:solidFill>
          <a:ln/>
        </p:spPr>
      </p:sp>
      <p:sp>
        <p:nvSpPr>
          <p:cNvPr id="6" name="Text 4"/>
          <p:cNvSpPr txBox="1"/>
          <p:nvPr/>
        </p:nvSpPr>
        <p:spPr>
          <a:xfrm>
            <a:off x="777240" y="1856232"/>
            <a:ext cx="27432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ACL 2026 · LONG PAPER</a:t>
            </a:r>
            <a:endParaRPr lang="en-US" sz="1050" dirty="0"/>
          </a:p>
        </p:txBody>
      </p:sp>
      <p:sp>
        <p:nvSpPr>
          <p:cNvPr id="7" name="Text 5"/>
          <p:cNvSpPr txBox="1"/>
          <p:nvPr/>
        </p:nvSpPr>
        <p:spPr>
          <a:xfrm>
            <a:off x="777240" y="2221992"/>
            <a:ext cx="10561320" cy="402336"/>
          </a:xfrm>
          <a:prstGeom prst="rect">
            <a:avLst/>
          </a:prstGeom>
          <a:noFill/>
          <a:ln/>
        </p:spPr>
        <p:txBody>
          <a:bodyPr wrap="square" lIns="0" tIns="0" rIns="0" bIns="0" rtlCol="0" anchor="t"/>
          <a:lstStyle/>
          <a:p>
            <a:pPr indent="0" marL="0">
              <a:buNone/>
            </a:pPr>
            <a:r>
              <a:rPr lang="en-US" sz="1400" b="1" dirty="0">
                <a:solidFill>
                  <a:srgbClr val="13123A"/>
                </a:solidFill>
                <a:latin typeface="Cambria" pitchFamily="34" charset="0"/>
                <a:ea typeface="Cambria" pitchFamily="34" charset="-122"/>
                <a:cs typeface="Cambria" pitchFamily="34" charset="-120"/>
              </a:rPr>
              <a:t>APEX-MEM: Agentic Semi-Structured Memory with Temporal Reasoning for Long-Term Conversational AI</a:t>
            </a:r>
            <a:endParaRPr lang="en-US" sz="1400" dirty="0"/>
          </a:p>
        </p:txBody>
      </p:sp>
      <p:sp>
        <p:nvSpPr>
          <p:cNvPr id="8" name="Text 6"/>
          <p:cNvSpPr txBox="1"/>
          <p:nvPr/>
        </p:nvSpPr>
        <p:spPr>
          <a:xfrm>
            <a:off x="777240" y="2587752"/>
            <a:ext cx="10561320" cy="365760"/>
          </a:xfrm>
          <a:prstGeom prst="rect">
            <a:avLst/>
          </a:prstGeom>
          <a:noFill/>
          <a:ln/>
        </p:spPr>
        <p:txBody>
          <a:bodyPr wrap="square" lIns="0" tIns="0" rIns="0" bIns="0" rtlCol="0" anchor="t"/>
          <a:lstStyle/>
          <a:p>
            <a:pPr indent="0" marL="0">
              <a:buNone/>
            </a:pPr>
            <a:r>
              <a:rPr lang="en-US" sz="1050" i="1" dirty="0">
                <a:solidFill>
                  <a:srgbClr val="4A4E63"/>
                </a:solidFill>
                <a:latin typeface="Calibri" pitchFamily="34" charset="0"/>
                <a:ea typeface="Calibri" pitchFamily="34" charset="-122"/>
                <a:cs typeface="Calibri" pitchFamily="34" charset="-120"/>
              </a:rPr>
              <a:t>Pratyay Banerjee, Masud Moshtaghi, Shivashankar Subramanian, Amita Misra, Ankit Chadha</a:t>
            </a:r>
            <a:endParaRPr lang="en-US" sz="1050" dirty="0"/>
          </a:p>
        </p:txBody>
      </p:sp>
      <p:sp>
        <p:nvSpPr>
          <p:cNvPr id="9" name="Text 7"/>
          <p:cNvSpPr txBox="1"/>
          <p:nvPr/>
        </p:nvSpPr>
        <p:spPr>
          <a:xfrm>
            <a:off x="777240" y="2916936"/>
            <a:ext cx="10561320" cy="219456"/>
          </a:xfrm>
          <a:prstGeom prst="rect">
            <a:avLst/>
          </a:prstGeom>
          <a:noFill/>
          <a:ln/>
        </p:spPr>
        <p:txBody>
          <a:bodyPr wrap="square" lIns="0" tIns="0" rIns="0" bIns="0" rtlCol="0" anchor="t"/>
          <a:lstStyle/>
          <a:p>
            <a:pPr indent="0" marL="0">
              <a:buNone/>
            </a:pPr>
            <a:r>
              <a:rPr lang="en-US" sz="1000" dirty="0">
                <a:solidFill>
                  <a:srgbClr val="6B6F82"/>
                </a:solidFill>
                <a:latin typeface="Calibri" pitchFamily="34" charset="0"/>
                <a:ea typeface="Calibri" pitchFamily="34" charset="-122"/>
                <a:cs typeface="Calibri" pitchFamily="34" charset="-120"/>
              </a:rPr>
              <a:t>Proceedings of ACL 2026 (Vol. 1: Long Papers), tr. 16470–16489 · aclanthology.org/2026.acl-long.749 · arXiv:2604.14362</a:t>
            </a:r>
            <a:endParaRPr lang="en-US" sz="1000" dirty="0"/>
          </a:p>
        </p:txBody>
      </p:sp>
      <p:sp>
        <p:nvSpPr>
          <p:cNvPr id="10" name="Shape 8"/>
          <p:cNvSpPr/>
          <p:nvPr/>
        </p:nvSpPr>
        <p:spPr>
          <a:xfrm>
            <a:off x="566928" y="3300984"/>
            <a:ext cx="11027664" cy="1481328"/>
          </a:xfrm>
          <a:prstGeom prst="roundRect">
            <a:avLst>
              <a:gd name="adj" fmla="val 4938"/>
            </a:avLst>
          </a:prstGeom>
          <a:solidFill>
            <a:srgbClr val="ECEBF7"/>
          </a:solidFill>
          <a:ln w="9525">
            <a:solidFill>
              <a:srgbClr val="6B6F82"/>
            </a:solidFill>
            <a:prstDash val="solid"/>
          </a:ln>
        </p:spPr>
      </p:sp>
      <p:sp>
        <p:nvSpPr>
          <p:cNvPr id="11" name="Shape 9"/>
          <p:cNvSpPr/>
          <p:nvPr/>
        </p:nvSpPr>
        <p:spPr>
          <a:xfrm>
            <a:off x="777240" y="3465576"/>
            <a:ext cx="2743200" cy="329184"/>
          </a:xfrm>
          <a:prstGeom prst="roundRect">
            <a:avLst>
              <a:gd name="adj" fmla="val 50000"/>
            </a:avLst>
          </a:prstGeom>
          <a:solidFill>
            <a:srgbClr val="1FA6A6"/>
          </a:solidFill>
          <a:ln/>
        </p:spPr>
      </p:sp>
      <p:sp>
        <p:nvSpPr>
          <p:cNvPr id="12" name="Text 10"/>
          <p:cNvSpPr txBox="1"/>
          <p:nvPr/>
        </p:nvSpPr>
        <p:spPr>
          <a:xfrm>
            <a:off x="777240" y="3465576"/>
            <a:ext cx="27432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ICLR 2026 · POSTER</a:t>
            </a:r>
            <a:endParaRPr lang="en-US" sz="1050" dirty="0"/>
          </a:p>
        </p:txBody>
      </p:sp>
      <p:sp>
        <p:nvSpPr>
          <p:cNvPr id="13" name="Text 11"/>
          <p:cNvSpPr txBox="1"/>
          <p:nvPr/>
        </p:nvSpPr>
        <p:spPr>
          <a:xfrm>
            <a:off x="777240" y="3831336"/>
            <a:ext cx="10561320" cy="402336"/>
          </a:xfrm>
          <a:prstGeom prst="rect">
            <a:avLst/>
          </a:prstGeom>
          <a:noFill/>
          <a:ln/>
        </p:spPr>
        <p:txBody>
          <a:bodyPr wrap="square" lIns="0" tIns="0" rIns="0" bIns="0" rtlCol="0" anchor="t"/>
          <a:lstStyle/>
          <a:p>
            <a:pPr indent="0" marL="0">
              <a:buNone/>
            </a:pPr>
            <a:r>
              <a:rPr lang="en-US" sz="1400" b="1" dirty="0">
                <a:solidFill>
                  <a:srgbClr val="13123A"/>
                </a:solidFill>
                <a:latin typeface="Cambria" pitchFamily="34" charset="0"/>
                <a:ea typeface="Cambria" pitchFamily="34" charset="-122"/>
                <a:cs typeface="Cambria" pitchFamily="34" charset="-120"/>
              </a:rPr>
              <a:t>LightMem: Lightweight and Efficient Memory-Augmented Generation</a:t>
            </a:r>
            <a:endParaRPr lang="en-US" sz="1400" dirty="0"/>
          </a:p>
        </p:txBody>
      </p:sp>
      <p:sp>
        <p:nvSpPr>
          <p:cNvPr id="14" name="Text 12"/>
          <p:cNvSpPr txBox="1"/>
          <p:nvPr/>
        </p:nvSpPr>
        <p:spPr>
          <a:xfrm>
            <a:off x="777240" y="4197096"/>
            <a:ext cx="10561320" cy="365760"/>
          </a:xfrm>
          <a:prstGeom prst="rect">
            <a:avLst/>
          </a:prstGeom>
          <a:noFill/>
          <a:ln/>
        </p:spPr>
        <p:txBody>
          <a:bodyPr wrap="square" lIns="0" tIns="0" rIns="0" bIns="0" rtlCol="0" anchor="t"/>
          <a:lstStyle/>
          <a:p>
            <a:pPr indent="0" marL="0">
              <a:buNone/>
            </a:pPr>
            <a:r>
              <a:rPr lang="en-US" sz="1050" i="1" dirty="0">
                <a:solidFill>
                  <a:srgbClr val="4A4E63"/>
                </a:solidFill>
                <a:latin typeface="Calibri" pitchFamily="34" charset="0"/>
                <a:ea typeface="Calibri" pitchFamily="34" charset="-122"/>
                <a:cs typeface="Calibri" pitchFamily="34" charset="-120"/>
              </a:rPr>
              <a:t>Jizhan Fang, Xinle Deng, Haoming Xu, Ziyan Jiang, Yuqi Tang, Ziwen Xu, Shumin Deng, Yunzhi Yao, Mengru Wang, Shuofei Qiao, Huajun Chen, Ningyu Zhang</a:t>
            </a:r>
            <a:endParaRPr lang="en-US" sz="1050" dirty="0"/>
          </a:p>
        </p:txBody>
      </p:sp>
      <p:sp>
        <p:nvSpPr>
          <p:cNvPr id="15" name="Text 13"/>
          <p:cNvSpPr txBox="1"/>
          <p:nvPr/>
        </p:nvSpPr>
        <p:spPr>
          <a:xfrm>
            <a:off x="777240" y="4526280"/>
            <a:ext cx="10561320" cy="219456"/>
          </a:xfrm>
          <a:prstGeom prst="rect">
            <a:avLst/>
          </a:prstGeom>
          <a:noFill/>
          <a:ln/>
        </p:spPr>
        <p:txBody>
          <a:bodyPr wrap="square" lIns="0" tIns="0" rIns="0" bIns="0" rtlCol="0" anchor="t"/>
          <a:lstStyle/>
          <a:p>
            <a:pPr indent="0" marL="0">
              <a:buNone/>
            </a:pPr>
            <a:r>
              <a:rPr lang="en-US" sz="1000" dirty="0">
                <a:solidFill>
                  <a:srgbClr val="6B6F82"/>
                </a:solidFill>
                <a:latin typeface="Calibri" pitchFamily="34" charset="0"/>
                <a:ea typeface="Calibri" pitchFamily="34" charset="-122"/>
                <a:cs typeface="Calibri" pitchFamily="34" charset="-120"/>
              </a:rPr>
              <a:t>ICLR 2026, poster · openreview.net/forum?id=dyJ0GWpjJB · arXiv:2510.18866 · github.com/zjunlp/LightMem</a:t>
            </a:r>
            <a:endParaRPr lang="en-US" sz="1000" dirty="0"/>
          </a:p>
        </p:txBody>
      </p:sp>
      <p:sp>
        <p:nvSpPr>
          <p:cNvPr id="16" name="Shape 14"/>
          <p:cNvSpPr/>
          <p:nvPr/>
        </p:nvSpPr>
        <p:spPr>
          <a:xfrm>
            <a:off x="566928" y="4910328"/>
            <a:ext cx="11027664" cy="1481328"/>
          </a:xfrm>
          <a:prstGeom prst="roundRect">
            <a:avLst>
              <a:gd name="adj" fmla="val 4938"/>
            </a:avLst>
          </a:prstGeom>
          <a:solidFill>
            <a:srgbClr val="F7F7FB"/>
          </a:solidFill>
          <a:ln w="9525">
            <a:solidFill>
              <a:srgbClr val="6B6F82"/>
            </a:solidFill>
            <a:prstDash val="solid"/>
          </a:ln>
        </p:spPr>
      </p:sp>
      <p:sp>
        <p:nvSpPr>
          <p:cNvPr id="17" name="Shape 15"/>
          <p:cNvSpPr/>
          <p:nvPr/>
        </p:nvSpPr>
        <p:spPr>
          <a:xfrm>
            <a:off x="777240" y="5074920"/>
            <a:ext cx="2743200" cy="329184"/>
          </a:xfrm>
          <a:prstGeom prst="roundRect">
            <a:avLst>
              <a:gd name="adj" fmla="val 50000"/>
            </a:avLst>
          </a:prstGeom>
          <a:solidFill>
            <a:srgbClr val="B4432E"/>
          </a:solidFill>
          <a:ln/>
        </p:spPr>
      </p:sp>
      <p:sp>
        <p:nvSpPr>
          <p:cNvPr id="18" name="Text 16"/>
          <p:cNvSpPr txBox="1"/>
          <p:nvPr/>
        </p:nvSpPr>
        <p:spPr>
          <a:xfrm>
            <a:off x="777240" y="5074920"/>
            <a:ext cx="274320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ACL 2025</a:t>
            </a:r>
            <a:endParaRPr lang="en-US" sz="1050" dirty="0"/>
          </a:p>
        </p:txBody>
      </p:sp>
      <p:sp>
        <p:nvSpPr>
          <p:cNvPr id="19" name="Text 17"/>
          <p:cNvSpPr txBox="1"/>
          <p:nvPr/>
        </p:nvSpPr>
        <p:spPr>
          <a:xfrm>
            <a:off x="777240" y="5440680"/>
            <a:ext cx="10561320" cy="402336"/>
          </a:xfrm>
          <a:prstGeom prst="rect">
            <a:avLst/>
          </a:prstGeom>
          <a:noFill/>
          <a:ln/>
        </p:spPr>
        <p:txBody>
          <a:bodyPr wrap="square" lIns="0" tIns="0" rIns="0" bIns="0" rtlCol="0" anchor="t"/>
          <a:lstStyle/>
          <a:p>
            <a:pPr indent="0" marL="0">
              <a:buNone/>
            </a:pPr>
            <a:r>
              <a:rPr lang="en-US" sz="1400" b="1" dirty="0">
                <a:solidFill>
                  <a:srgbClr val="13123A"/>
                </a:solidFill>
                <a:latin typeface="Cambria" pitchFamily="34" charset="0"/>
                <a:ea typeface="Cambria" pitchFamily="34" charset="-122"/>
                <a:cs typeface="Cambria" pitchFamily="34" charset="-120"/>
              </a:rPr>
              <a:t>In Prospect and Retrospect: Reflective Memory Management for Long-term Personalized Dialogue Agents</a:t>
            </a:r>
            <a:endParaRPr lang="en-US" sz="1400" dirty="0"/>
          </a:p>
        </p:txBody>
      </p:sp>
      <p:sp>
        <p:nvSpPr>
          <p:cNvPr id="20" name="Text 18"/>
          <p:cNvSpPr txBox="1"/>
          <p:nvPr/>
        </p:nvSpPr>
        <p:spPr>
          <a:xfrm>
            <a:off x="777240" y="5806440"/>
            <a:ext cx="10561320" cy="365760"/>
          </a:xfrm>
          <a:prstGeom prst="rect">
            <a:avLst/>
          </a:prstGeom>
          <a:noFill/>
          <a:ln/>
        </p:spPr>
        <p:txBody>
          <a:bodyPr wrap="square" lIns="0" tIns="0" rIns="0" bIns="0" rtlCol="0" anchor="t"/>
          <a:lstStyle/>
          <a:p>
            <a:pPr indent="0" marL="0">
              <a:buNone/>
            </a:pPr>
            <a:r>
              <a:rPr lang="en-US" sz="1050" i="1" dirty="0">
                <a:solidFill>
                  <a:srgbClr val="4A4E63"/>
                </a:solidFill>
                <a:latin typeface="Calibri" pitchFamily="34" charset="0"/>
                <a:ea typeface="Calibri" pitchFamily="34" charset="-122"/>
                <a:cs typeface="Calibri" pitchFamily="34" charset="-120"/>
              </a:rPr>
              <a:t>Zhen Tan, Jun Yan, I-Hung Hsu, Rujun Han, Zifeng Wang, Long Le, Yiwen Song, Yanfei Chen, Hamid Palangi, George Lee, Anand Rajan Iyer, Tianlong Chen, Huan Liu, Chen-Yu Lee, Tomas Pfister</a:t>
            </a:r>
            <a:endParaRPr lang="en-US" sz="1050" dirty="0"/>
          </a:p>
        </p:txBody>
      </p:sp>
      <p:sp>
        <p:nvSpPr>
          <p:cNvPr id="21" name="Text 19"/>
          <p:cNvSpPr txBox="1"/>
          <p:nvPr/>
        </p:nvSpPr>
        <p:spPr>
          <a:xfrm>
            <a:off x="777240" y="6135624"/>
            <a:ext cx="10561320" cy="219456"/>
          </a:xfrm>
          <a:prstGeom prst="rect">
            <a:avLst/>
          </a:prstGeom>
          <a:noFill/>
          <a:ln/>
        </p:spPr>
        <p:txBody>
          <a:bodyPr wrap="square" lIns="0" tIns="0" rIns="0" bIns="0" rtlCol="0" anchor="t"/>
          <a:lstStyle/>
          <a:p>
            <a:pPr indent="0" marL="0">
              <a:buNone/>
            </a:pPr>
            <a:r>
              <a:rPr lang="en-US" sz="1000" dirty="0">
                <a:solidFill>
                  <a:srgbClr val="6B6F82"/>
                </a:solidFill>
                <a:latin typeface="Calibri" pitchFamily="34" charset="0"/>
                <a:ea typeface="Calibri" pitchFamily="34" charset="-122"/>
                <a:cs typeface="Calibri" pitchFamily="34" charset="-120"/>
              </a:rPr>
              <a:t>Proceedings of ACL 2025 (Vol. 1: Long Papers), tr. 8416–8439 · aclanthology.org/2025.acl-long.413 · arXiv:2503.08026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2026-09-24T09:48:22Z</dcterms:created>
  <dcterms:modified xsi:type="dcterms:W3CDTF">2026-09-24T09:48:22Z</dcterms:modified>
</cp:coreProperties>
</file>