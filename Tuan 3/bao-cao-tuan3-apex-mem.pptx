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232E"/>
                </a:solidFill>
                <a:latin typeface="Arial"/>
              </a:defRPr>
            </a:pPr>
            <a:r>
              <a:rPr lang="en-US" sz="1300" b="0" i="0" u="none" strike="noStrike">
                <a:solidFill>
                  <a:srgbClr val="12232E"/>
                </a:solidFill>
                <a:latin typeface="Arial"/>
              </a:rPr>
              <a:t>Điểm LongMemEval (%)</a:t>
            </a:r>
          </a:p>
        </c:rich>
      </c:tx>
      <c:overlay val="0"/>
    </c:title>
    <c:autoTitleDeleted val="0"/>
    <c:plotArea>
      <c:layout/>
      <c:barChart>
        <c:barDir val="bar"/>
        <c:grouping val="clustered"/>
        <c:varyColors val="0"/>
        <c:ser>
          <c:idx val="0"/>
          <c:order val="0"/>
          <c:tx>
            <c:strRef>
              <c:f>Sheet1!$B$1</c:f>
              <c:strCache>
                <c:ptCount val="1"/>
                <c:pt idx="0">
                  <c:v>LongMemEval</c:v>
                </c:pt>
              </c:strCache>
            </c:strRef>
          </c:tx>
          <c:spPr>
            <a:solidFill>
              <a:srgbClr val="2A8A99"/>
            </a:solidFill>
            <a:effectLst/>
          </c:spPr>
          <c:invertIfNegative val="0"/>
          <c:dLbls>
            <c:numFmt formatCode="0.0" sourceLinked="0"/>
            <c:spPr>
              <a:noFill/>
              <a:ln>
                <a:noFill/>
              </a:ln>
              <a:effectLst/>
            </c:spPr>
            <c:txPr>
              <a:bodyPr/>
              <a:lstStyle/>
              <a:p>
                <a:pPr>
                  <a:defRPr sz="1100" b="0" i="0" u="none" strike="noStrike">
                    <a:solidFill>
                      <a:srgbClr val="1E2A3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A-Mem</c:v>
                </c:pt>
                <c:pt idx="1">
                  <c:v>Full-context GPT-4o</c:v>
                </c:pt>
                <c:pt idx="2">
                  <c:v>Zep</c:v>
                </c:pt>
                <c:pt idx="3">
                  <c:v>Mem0</c:v>
                </c:pt>
                <c:pt idx="4">
                  <c:v>SimpleSearch (K=V+fact)</c:v>
                </c:pt>
                <c:pt idx="5">
                  <c:v>Nemori</c:v>
                </c:pt>
                <c:pt idx="6">
                  <c:v>APEX-MEM (GPT-5)</c:v>
                </c:pt>
                <c:pt idx="7">
                  <c:v>APEX-MEM (Claude 4.5 Sonnet)</c:v>
                </c:pt>
              </c:strCache>
            </c:strRef>
          </c:cat>
          <c:val>
            <c:numRef>
              <c:f>Sheet1!$B$2:$B$9</c:f>
              <c:numCache>
                <c:formatCode>General</c:formatCode>
                <c:ptCount val="8"/>
                <c:pt idx="0">
                  <c:v>59.3</c:v>
                </c:pt>
                <c:pt idx="1">
                  <c:v>60.2</c:v>
                </c:pt>
                <c:pt idx="2">
                  <c:v>71.2</c:v>
                </c:pt>
                <c:pt idx="3">
                  <c:v>71.3</c:v>
                </c:pt>
                <c:pt idx="4">
                  <c:v>72.5</c:v>
                </c:pt>
                <c:pt idx="5">
                  <c:v>74.599999999999994</c:v>
                </c:pt>
                <c:pt idx="6">
                  <c:v>85.2</c:v>
                </c:pt>
                <c:pt idx="7">
                  <c:v>86.2</c:v>
                </c:pt>
              </c:numCache>
            </c:numRef>
          </c:val>
          <c:extLst>
            <c:ext xmlns:c16="http://schemas.microsoft.com/office/drawing/2014/chart" uri="{C3380CC4-5D6E-409C-BE32-E72D297353CC}">
              <c16:uniqueId val="{00000000-6EF5-494B-8D73-15E1FDEC452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A32"/>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2117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tuần 3: nhóm tái cấu trúc toàn bộ dự án, chọn tái hiện APEX-MEM (ACL 2026) trên LongMemEval. Deck trình bày như dự án bắt đầu lại từ đầu.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4 việc. Nhấn: đã đọc toàn văn cả 3 bài, không chỉ đọc abstract. Và câu hỏi của anh về SQLite đã có câu trả lời từ chính bài SOTA.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dòng đều đổi. Điểm quan trọng nhất là hai dòng cuối: không còn chốt bản mới lúc ghi, và truy vấn do agent quyết định.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lưu ý cuối slide: các số dùng LLM nền khác nhau. Cái đáng chú ý là SimpleSearch — một baseline RAG đơn giản — đã vượt Mem0 và Zep; nhóm sẽ tự chạy baseline này.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Bỏ khung 8 năng lực. Báo cáo accuracy tách theo 6 loại và riêng nhóm _abs. APEX-MEM chỉ báo điểm tổng, nên bảng tách loại là số liệu mới của nhóm.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dùng một benchmark. Bỏ BEAM, FactConsolidation. LoCoMo không bắt buộc.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ghi không gọi LLM ở bước lọc và bước ghi; chỉ gọi ở trích xuất và giải quyết thực thể. Luồng đọc là một agent, không phải pipeline cố định.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2 và 3 đi cùng nhau. Đây là điểm khác lớn nhất với thiết kế cũ, nơi max(seq) chốt bản mới ngay lúc ghi.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là bảng trung tâm. evidence nối fact về đúng lượt gốc, giúp truy vết và giải thích câu trả lời.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2 có đầu vào là người nói, người nghe, nội dung, ngày của phiên và vài lượt trước đó. Bảng 2 bài báo cho thấy Qwen3-14B trích xuất đạt 95,4%, gần Sonnet 97,3% — sau này có thể thay mô hình nhỏ hơn cho bước này.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quy các cụm thời gian như "tuần trước" về ngày cụ thể trước khi gọi công cụ. Biết từ chối (ABS) do agent xử lý khi công cụ không trả về bằng chứng.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GPT-5.5 không cho đặt temperature = 0 thì cố định reasoning effort và chạy lặp để báo độ lệch.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truy xuất là chỗ dùng lại số đo tuần 2. Phân loại lỗi cho biết tuần sau nên sửa ở đâu.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baseline tự chạy là thứ so sánh công bằng duy nhất vì cùng GPT-5.5. Số công bố chỉ để tham khảo.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3DB14-C994-A889-7A6A-AF632170ED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589DC6-07E3-D318-0C89-19562A8268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5C040C-C656-45F5-8D40-0C03F11200CE}"/>
              </a:ext>
            </a:extLst>
          </p:cNvPr>
          <p:cNvSpPr>
            <a:spLocks noGrp="1"/>
          </p:cNvSpPr>
          <p:nvPr>
            <p:ph type="dt" sz="half" idx="10"/>
          </p:nvPr>
        </p:nvSpPr>
        <p:spPr/>
        <p:txBody>
          <a:bodyPr/>
          <a:lstStyle/>
          <a:p>
            <a:fld id="{38DCD071-F201-46E7-9901-581B29C07CD9}" type="datetimeFigureOut">
              <a:rPr lang="en-US" smtClean="0"/>
              <a:t>9/28/2026</a:t>
            </a:fld>
            <a:endParaRPr lang="en-US"/>
          </a:p>
        </p:txBody>
      </p:sp>
      <p:sp>
        <p:nvSpPr>
          <p:cNvPr id="5" name="Footer Placeholder 4">
            <a:extLst>
              <a:ext uri="{FF2B5EF4-FFF2-40B4-BE49-F238E27FC236}">
                <a16:creationId xmlns:a16="http://schemas.microsoft.com/office/drawing/2014/main" id="{0B9B0860-6AC5-C573-D59D-2EEA6DB92F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0E1F59-0FA1-A5AC-15FA-0D385EFDD21B}"/>
              </a:ext>
            </a:extLst>
          </p:cNvPr>
          <p:cNvSpPr>
            <a:spLocks noGrp="1"/>
          </p:cNvSpPr>
          <p:nvPr>
            <p:ph type="sldNum" sz="quarter" idx="12"/>
          </p:nvPr>
        </p:nvSpPr>
        <p:spPr/>
        <p:txBody>
          <a:bodyPr/>
          <a:lstStyle/>
          <a:p>
            <a:fld id="{EAE8E209-B459-4278-8231-2A8EC236454F}" type="slidenum">
              <a:rPr lang="en-US" smtClean="0"/>
              <a:t>‹#›</a:t>
            </a:fld>
            <a:endParaRPr lang="en-US"/>
          </a:p>
        </p:txBody>
      </p:sp>
    </p:spTree>
    <p:extLst>
      <p:ext uri="{BB962C8B-B14F-4D97-AF65-F5344CB8AC3E}">
        <p14:creationId xmlns:p14="http://schemas.microsoft.com/office/powerpoint/2010/main" val="27739076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E"/>
        </a:solidFill>
        <a:effectLst/>
      </p:bgPr>
    </p:bg>
    <p:spTree>
      <p:nvGrpSpPr>
        <p:cNvPr id="1" name=""/>
        <p:cNvGrpSpPr/>
        <p:nvPr/>
      </p:nvGrpSpPr>
      <p:grpSpPr>
        <a:xfrm>
          <a:off x="0" y="0"/>
          <a:ext cx="0" cy="0"/>
          <a:chOff x="0" y="0"/>
          <a:chExt cx="0" cy="0"/>
        </a:xfrm>
      </p:grpSpPr>
      <p:sp>
        <p:nvSpPr>
          <p:cNvPr id="2" name="Text 0"/>
          <p:cNvSpPr txBox="1"/>
          <p:nvPr/>
        </p:nvSpPr>
        <p:spPr>
          <a:xfrm>
            <a:off x="640080" y="1463040"/>
            <a:ext cx="6400800" cy="365760"/>
          </a:xfrm>
          <a:prstGeom prst="rect">
            <a:avLst/>
          </a:prstGeom>
          <a:noFill/>
          <a:ln/>
        </p:spPr>
        <p:txBody>
          <a:bodyPr wrap="square" lIns="0" tIns="0" rIns="0" bIns="0" rtlCol="0" anchor="ctr"/>
          <a:lstStyle/>
          <a:p>
            <a:pPr marL="0" indent="0">
              <a:buNone/>
            </a:pPr>
            <a:r>
              <a:rPr lang="en-US" sz="1400" b="1" kern="0" spc="300" dirty="0">
                <a:solidFill>
                  <a:srgbClr val="D98C1F"/>
                </a:solidFill>
                <a:latin typeface="Calibri" pitchFamily="34" charset="0"/>
                <a:ea typeface="Calibri" pitchFamily="34" charset="-122"/>
                <a:cs typeface="Calibri" pitchFamily="34" charset="-120"/>
              </a:rPr>
              <a:t>BÁO CÁO TUẦN 3</a:t>
            </a:r>
            <a:endParaRPr lang="en-US" sz="1400" dirty="0"/>
          </a:p>
        </p:txBody>
      </p:sp>
      <p:sp>
        <p:nvSpPr>
          <p:cNvPr id="3" name="Text 1"/>
          <p:cNvSpPr txBox="1"/>
          <p:nvPr/>
        </p:nvSpPr>
        <p:spPr>
          <a:xfrm>
            <a:off x="640080" y="1920240"/>
            <a:ext cx="658368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Bộ nhớ dài hạn cho LLM Agent</a:t>
            </a:r>
            <a:endParaRPr lang="en-US" sz="4000" dirty="0"/>
          </a:p>
        </p:txBody>
      </p:sp>
      <p:sp>
        <p:nvSpPr>
          <p:cNvPr id="4" name="Text 2"/>
          <p:cNvSpPr txBox="1"/>
          <p:nvPr/>
        </p:nvSpPr>
        <p:spPr>
          <a:xfrm>
            <a:off x="640080" y="3337560"/>
            <a:ext cx="6583680" cy="457200"/>
          </a:xfrm>
          <a:prstGeom prst="rect">
            <a:avLst/>
          </a:prstGeom>
          <a:noFill/>
          <a:ln/>
        </p:spPr>
        <p:txBody>
          <a:bodyPr wrap="square" lIns="0" tIns="0" rIns="0" bIns="0" rtlCol="0" anchor="ctr"/>
          <a:lstStyle/>
          <a:p>
            <a:pPr marL="0" indent="0">
              <a:buNone/>
            </a:pPr>
            <a:r>
              <a:rPr lang="en-US" sz="2000" dirty="0">
                <a:solidFill>
                  <a:srgbClr val="BFD8DD"/>
                </a:solidFill>
                <a:latin typeface="Calibri" pitchFamily="34" charset="0"/>
                <a:ea typeface="Calibri" pitchFamily="34" charset="-122"/>
                <a:cs typeface="Calibri" pitchFamily="34" charset="-120"/>
              </a:rPr>
              <a:t>Tái cấu trúc dự án theo APEX-MEM (ACL 2026)</a:t>
            </a:r>
            <a:endParaRPr lang="en-US" sz="2000" dirty="0"/>
          </a:p>
        </p:txBody>
      </p:sp>
      <p:sp>
        <p:nvSpPr>
          <p:cNvPr id="5" name="Text 3"/>
          <p:cNvSpPr txBox="1"/>
          <p:nvPr/>
        </p:nvSpPr>
        <p:spPr>
          <a:xfrm>
            <a:off x="640080" y="5120640"/>
            <a:ext cx="6400800" cy="365760"/>
          </a:xfrm>
          <a:prstGeom prst="rect">
            <a:avLst/>
          </a:prstGeom>
          <a:noFill/>
          <a:ln/>
        </p:spPr>
        <p:txBody>
          <a:bodyPr wrap="square" lIns="0" tIns="0" rIns="0" bIns="0" rtlCol="0" anchor="ctr"/>
          <a:lstStyle/>
          <a:p>
            <a:pPr marL="0" indent="0">
              <a:buNone/>
            </a:pPr>
            <a:r>
              <a:rPr lang="en-US" sz="1400" dirty="0">
                <a:solidFill>
                  <a:srgbClr val="8FA9B0"/>
                </a:solidFill>
                <a:latin typeface="Calibri" pitchFamily="34" charset="0"/>
                <a:ea typeface="Calibri" pitchFamily="34" charset="-122"/>
                <a:cs typeface="Calibri" pitchFamily="34" charset="-120"/>
              </a:rPr>
              <a:t>Nhóm 2 thành viên  ·  09/2026</a:t>
            </a:r>
            <a:endParaRPr lang="en-US" sz="1400" dirty="0"/>
          </a:p>
        </p:txBody>
      </p:sp>
      <p:sp>
        <p:nvSpPr>
          <p:cNvPr id="6" name="Shape 4"/>
          <p:cNvSpPr/>
          <p:nvPr/>
        </p:nvSpPr>
        <p:spPr>
          <a:xfrm>
            <a:off x="9189720" y="1874520"/>
            <a:ext cx="1554480" cy="548640"/>
          </a:xfrm>
          <a:prstGeom prst="line">
            <a:avLst/>
          </a:prstGeom>
          <a:noFill/>
          <a:ln w="19050">
            <a:solidFill>
              <a:srgbClr val="3E6A76"/>
            </a:solidFill>
            <a:prstDash val="solid"/>
          </a:ln>
        </p:spPr>
        <p:txBody>
          <a:bodyPr/>
          <a:lstStyle/>
          <a:p>
            <a:endParaRPr lang="en-US"/>
          </a:p>
        </p:txBody>
      </p:sp>
      <p:sp>
        <p:nvSpPr>
          <p:cNvPr id="7" name="Shape 5"/>
          <p:cNvSpPr/>
          <p:nvPr/>
        </p:nvSpPr>
        <p:spPr>
          <a:xfrm flipH="1">
            <a:off x="8686800" y="1874520"/>
            <a:ext cx="502920" cy="1691640"/>
          </a:xfrm>
          <a:prstGeom prst="line">
            <a:avLst/>
          </a:prstGeom>
          <a:noFill/>
          <a:ln w="19050">
            <a:solidFill>
              <a:srgbClr val="3E6A76"/>
            </a:solidFill>
            <a:prstDash val="solid"/>
          </a:ln>
        </p:spPr>
        <p:txBody>
          <a:bodyPr/>
          <a:lstStyle/>
          <a:p>
            <a:endParaRPr lang="en-US"/>
          </a:p>
        </p:txBody>
      </p:sp>
      <p:sp>
        <p:nvSpPr>
          <p:cNvPr id="8" name="Shape 6"/>
          <p:cNvSpPr/>
          <p:nvPr/>
        </p:nvSpPr>
        <p:spPr>
          <a:xfrm flipH="1">
            <a:off x="10424160" y="2423160"/>
            <a:ext cx="320040" cy="1874520"/>
          </a:xfrm>
          <a:prstGeom prst="line">
            <a:avLst/>
          </a:prstGeom>
          <a:noFill/>
          <a:ln w="19050">
            <a:solidFill>
              <a:srgbClr val="3E6A76"/>
            </a:solidFill>
            <a:prstDash val="solid"/>
          </a:ln>
        </p:spPr>
        <p:txBody>
          <a:bodyPr/>
          <a:lstStyle/>
          <a:p>
            <a:endParaRPr lang="en-US"/>
          </a:p>
        </p:txBody>
      </p:sp>
      <p:sp>
        <p:nvSpPr>
          <p:cNvPr id="9" name="Shape 7"/>
          <p:cNvSpPr/>
          <p:nvPr/>
        </p:nvSpPr>
        <p:spPr>
          <a:xfrm>
            <a:off x="8686800" y="3566160"/>
            <a:ext cx="1737360" cy="731520"/>
          </a:xfrm>
          <a:prstGeom prst="line">
            <a:avLst/>
          </a:prstGeom>
          <a:noFill/>
          <a:ln w="19050">
            <a:solidFill>
              <a:srgbClr val="3E6A76"/>
            </a:solidFill>
            <a:prstDash val="solid"/>
          </a:ln>
        </p:spPr>
        <p:txBody>
          <a:bodyPr/>
          <a:lstStyle/>
          <a:p>
            <a:endParaRPr lang="en-US"/>
          </a:p>
        </p:txBody>
      </p:sp>
      <p:sp>
        <p:nvSpPr>
          <p:cNvPr id="10" name="Shape 8"/>
          <p:cNvSpPr/>
          <p:nvPr/>
        </p:nvSpPr>
        <p:spPr>
          <a:xfrm>
            <a:off x="10424160" y="4297680"/>
            <a:ext cx="868680" cy="868680"/>
          </a:xfrm>
          <a:prstGeom prst="line">
            <a:avLst/>
          </a:prstGeom>
          <a:noFill/>
          <a:ln w="19050">
            <a:solidFill>
              <a:srgbClr val="3E6A76"/>
            </a:solidFill>
            <a:prstDash val="solid"/>
          </a:ln>
        </p:spPr>
        <p:txBody>
          <a:bodyPr/>
          <a:lstStyle/>
          <a:p>
            <a:endParaRPr lang="en-US"/>
          </a:p>
        </p:txBody>
      </p:sp>
      <p:sp>
        <p:nvSpPr>
          <p:cNvPr id="11" name="Shape 9"/>
          <p:cNvSpPr/>
          <p:nvPr/>
        </p:nvSpPr>
        <p:spPr>
          <a:xfrm flipH="1">
            <a:off x="9326880" y="4297680"/>
            <a:ext cx="1097280" cy="1097280"/>
          </a:xfrm>
          <a:prstGeom prst="line">
            <a:avLst/>
          </a:prstGeom>
          <a:noFill/>
          <a:ln w="19050">
            <a:solidFill>
              <a:srgbClr val="3E6A76"/>
            </a:solidFill>
            <a:prstDash val="solid"/>
          </a:ln>
        </p:spPr>
        <p:txBody>
          <a:bodyPr/>
          <a:lstStyle/>
          <a:p>
            <a:endParaRPr lang="en-US"/>
          </a:p>
        </p:txBody>
      </p:sp>
      <p:sp>
        <p:nvSpPr>
          <p:cNvPr id="12" name="Shape 10"/>
          <p:cNvSpPr/>
          <p:nvPr/>
        </p:nvSpPr>
        <p:spPr>
          <a:xfrm>
            <a:off x="8686800" y="3566160"/>
            <a:ext cx="640080" cy="1828800"/>
          </a:xfrm>
          <a:prstGeom prst="line">
            <a:avLst/>
          </a:prstGeom>
          <a:noFill/>
          <a:ln w="19050">
            <a:solidFill>
              <a:srgbClr val="3E6A76"/>
            </a:solidFill>
            <a:prstDash val="solid"/>
          </a:ln>
        </p:spPr>
        <p:txBody>
          <a:bodyPr/>
          <a:lstStyle/>
          <a:p>
            <a:endParaRPr lang="en-US"/>
          </a:p>
        </p:txBody>
      </p:sp>
      <p:sp>
        <p:nvSpPr>
          <p:cNvPr id="13" name="Shape 11"/>
          <p:cNvSpPr/>
          <p:nvPr/>
        </p:nvSpPr>
        <p:spPr>
          <a:xfrm>
            <a:off x="8778240" y="1463040"/>
            <a:ext cx="822960" cy="822960"/>
          </a:xfrm>
          <a:prstGeom prst="ellipse">
            <a:avLst/>
          </a:prstGeom>
          <a:solidFill>
            <a:srgbClr val="2A8A99"/>
          </a:solidFill>
          <a:ln w="25400">
            <a:solidFill>
              <a:srgbClr val="12232E"/>
            </a:solidFill>
            <a:prstDash val="solid"/>
          </a:ln>
        </p:spPr>
        <p:txBody>
          <a:bodyPr/>
          <a:lstStyle/>
          <a:p>
            <a:endParaRPr lang="en-US"/>
          </a:p>
        </p:txBody>
      </p:sp>
      <p:sp>
        <p:nvSpPr>
          <p:cNvPr id="14" name="Shape 12"/>
          <p:cNvSpPr/>
          <p:nvPr/>
        </p:nvSpPr>
        <p:spPr>
          <a:xfrm>
            <a:off x="10424160" y="2103120"/>
            <a:ext cx="640080" cy="640080"/>
          </a:xfrm>
          <a:prstGeom prst="ellipse">
            <a:avLst/>
          </a:prstGeom>
          <a:solidFill>
            <a:srgbClr val="2A8A99"/>
          </a:solidFill>
          <a:ln w="25400">
            <a:solidFill>
              <a:srgbClr val="12232E"/>
            </a:solidFill>
            <a:prstDash val="solid"/>
          </a:ln>
        </p:spPr>
        <p:txBody>
          <a:bodyPr/>
          <a:lstStyle/>
          <a:p>
            <a:endParaRPr lang="en-US"/>
          </a:p>
        </p:txBody>
      </p:sp>
      <p:sp>
        <p:nvSpPr>
          <p:cNvPr id="15" name="Shape 13"/>
          <p:cNvSpPr/>
          <p:nvPr/>
        </p:nvSpPr>
        <p:spPr>
          <a:xfrm>
            <a:off x="8412480" y="3291840"/>
            <a:ext cx="548640" cy="548640"/>
          </a:xfrm>
          <a:prstGeom prst="ellipse">
            <a:avLst/>
          </a:prstGeom>
          <a:solidFill>
            <a:srgbClr val="2A8A99"/>
          </a:solidFill>
          <a:ln w="25400">
            <a:solidFill>
              <a:srgbClr val="12232E"/>
            </a:solidFill>
            <a:prstDash val="solid"/>
          </a:ln>
        </p:spPr>
        <p:txBody>
          <a:bodyPr/>
          <a:lstStyle/>
          <a:p>
            <a:endParaRPr lang="en-US"/>
          </a:p>
        </p:txBody>
      </p:sp>
      <p:sp>
        <p:nvSpPr>
          <p:cNvPr id="16" name="Shape 14"/>
          <p:cNvSpPr/>
          <p:nvPr/>
        </p:nvSpPr>
        <p:spPr>
          <a:xfrm>
            <a:off x="9966960" y="3840480"/>
            <a:ext cx="914400" cy="914400"/>
          </a:xfrm>
          <a:prstGeom prst="ellipse">
            <a:avLst/>
          </a:prstGeom>
          <a:solidFill>
            <a:srgbClr val="D98C1F"/>
          </a:solidFill>
          <a:ln w="25400">
            <a:solidFill>
              <a:srgbClr val="12232E"/>
            </a:solidFill>
            <a:prstDash val="solid"/>
          </a:ln>
        </p:spPr>
        <p:txBody>
          <a:bodyPr/>
          <a:lstStyle/>
          <a:p>
            <a:endParaRPr lang="en-US"/>
          </a:p>
        </p:txBody>
      </p:sp>
      <p:sp>
        <p:nvSpPr>
          <p:cNvPr id="17" name="Shape 15"/>
          <p:cNvSpPr/>
          <p:nvPr/>
        </p:nvSpPr>
        <p:spPr>
          <a:xfrm>
            <a:off x="11064240" y="4937760"/>
            <a:ext cx="457200" cy="457200"/>
          </a:xfrm>
          <a:prstGeom prst="ellipse">
            <a:avLst/>
          </a:prstGeom>
          <a:solidFill>
            <a:srgbClr val="2A8A99"/>
          </a:solidFill>
          <a:ln w="25400">
            <a:solidFill>
              <a:srgbClr val="12232E"/>
            </a:solidFill>
            <a:prstDash val="solid"/>
          </a:ln>
        </p:spPr>
        <p:txBody>
          <a:bodyPr/>
          <a:lstStyle/>
          <a:p>
            <a:endParaRPr lang="en-US"/>
          </a:p>
        </p:txBody>
      </p:sp>
      <p:sp>
        <p:nvSpPr>
          <p:cNvPr id="18" name="Shape 16"/>
          <p:cNvSpPr/>
          <p:nvPr/>
        </p:nvSpPr>
        <p:spPr>
          <a:xfrm>
            <a:off x="9052560" y="5120640"/>
            <a:ext cx="548640" cy="548640"/>
          </a:xfrm>
          <a:prstGeom prst="ellipse">
            <a:avLst/>
          </a:prstGeom>
          <a:solidFill>
            <a:srgbClr val="2A8A99"/>
          </a:solidFill>
          <a:ln w="25400">
            <a:solidFill>
              <a:srgbClr val="12232E"/>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TUẦN 3 · ĐÃ LÀM</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Bốn việc chính của tuần này</a:t>
            </a:r>
            <a:endParaRPr lang="en-US" sz="3000" dirty="0"/>
          </a:p>
        </p:txBody>
      </p:sp>
      <p:sp>
        <p:nvSpPr>
          <p:cNvPr id="4" name="Shape 2"/>
          <p:cNvSpPr/>
          <p:nvPr/>
        </p:nvSpPr>
        <p:spPr>
          <a:xfrm>
            <a:off x="548640" y="1645920"/>
            <a:ext cx="2606040" cy="2743200"/>
          </a:xfrm>
          <a:prstGeom prst="roundRect">
            <a:avLst>
              <a:gd name="adj" fmla="val 2807"/>
            </a:avLst>
          </a:prstGeom>
          <a:solidFill>
            <a:srgbClr val="F3F7F8"/>
          </a:solidFill>
          <a:ln w="9525">
            <a:solidFill>
              <a:srgbClr val="C9D6DA"/>
            </a:solidFill>
            <a:prstDash val="solid"/>
          </a:ln>
        </p:spPr>
        <p:txBody>
          <a:bodyPr/>
          <a:lstStyle/>
          <a:p>
            <a:endParaRPr lang="en-US"/>
          </a:p>
        </p:txBody>
      </p:sp>
      <p:sp>
        <p:nvSpPr>
          <p:cNvPr id="5" name="Shape 3"/>
          <p:cNvSpPr/>
          <p:nvPr/>
        </p:nvSpPr>
        <p:spPr>
          <a:xfrm>
            <a:off x="822960" y="1920240"/>
            <a:ext cx="420624" cy="420624"/>
          </a:xfrm>
          <a:prstGeom prst="ellipse">
            <a:avLst/>
          </a:prstGeom>
          <a:solidFill>
            <a:srgbClr val="0F5C6B"/>
          </a:solidFill>
          <a:ln w="12700">
            <a:solidFill>
              <a:srgbClr val="0F5C6B"/>
            </a:solidFill>
            <a:prstDash val="solid"/>
          </a:ln>
        </p:spPr>
        <p:txBody>
          <a:bodyPr/>
          <a:lstStyle/>
          <a:p>
            <a:endParaRPr lang="en-US"/>
          </a:p>
        </p:txBody>
      </p:sp>
      <p:sp>
        <p:nvSpPr>
          <p:cNvPr id="6" name="Text 4"/>
          <p:cNvSpPr txBox="1"/>
          <p:nvPr/>
        </p:nvSpPr>
        <p:spPr>
          <a:xfrm>
            <a:off x="82296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22960" y="2514600"/>
            <a:ext cx="2057400" cy="411480"/>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Khảo sát lại</a:t>
            </a:r>
            <a:endParaRPr lang="en-US" sz="1800" dirty="0"/>
          </a:p>
        </p:txBody>
      </p:sp>
      <p:sp>
        <p:nvSpPr>
          <p:cNvPr id="8" name="Text 6"/>
          <p:cNvSpPr txBox="1"/>
          <p:nvPr/>
        </p:nvSpPr>
        <p:spPr>
          <a:xfrm>
            <a:off x="822960" y="3017520"/>
            <a:ext cx="2057400" cy="1737360"/>
          </a:xfrm>
          <a:prstGeom prst="rect">
            <a:avLst/>
          </a:prstGeom>
          <a:noFill/>
          <a:ln/>
        </p:spPr>
        <p:txBody>
          <a:bodyPr wrap="square" lIns="0" tIns="0" rIns="0" bIns="0" rtlCol="0" anchor="t"/>
          <a:lstStyle/>
          <a:p>
            <a:pPr marL="0" indent="0">
              <a:buNone/>
            </a:pPr>
            <a:r>
              <a:rPr lang="en-US" sz="1400" dirty="0">
                <a:solidFill>
                  <a:srgbClr val="1E2A32"/>
                </a:solidFill>
                <a:latin typeface="Calibri" pitchFamily="34" charset="0"/>
                <a:ea typeface="Calibri" pitchFamily="34" charset="-122"/>
                <a:cs typeface="Calibri" pitchFamily="34" charset="-120"/>
              </a:rPr>
              <a:t>Chỉ giữ bài đã qua bình duyệt. Đọc toàn văn 3 ứng viên: APEX-MEM (ACL 2026), LightMem (ICLR 2026), RMM (ACL 2025).</a:t>
            </a:r>
            <a:endParaRPr lang="en-US" sz="1400" dirty="0"/>
          </a:p>
        </p:txBody>
      </p:sp>
      <p:sp>
        <p:nvSpPr>
          <p:cNvPr id="9" name="Shape 7"/>
          <p:cNvSpPr/>
          <p:nvPr/>
        </p:nvSpPr>
        <p:spPr>
          <a:xfrm>
            <a:off x="3383280" y="1645920"/>
            <a:ext cx="2606040" cy="2743200"/>
          </a:xfrm>
          <a:prstGeom prst="roundRect">
            <a:avLst>
              <a:gd name="adj" fmla="val 2807"/>
            </a:avLst>
          </a:prstGeom>
          <a:solidFill>
            <a:srgbClr val="F3F7F8"/>
          </a:solidFill>
          <a:ln w="9525">
            <a:solidFill>
              <a:srgbClr val="C9D6DA"/>
            </a:solidFill>
            <a:prstDash val="solid"/>
          </a:ln>
        </p:spPr>
        <p:txBody>
          <a:bodyPr/>
          <a:lstStyle/>
          <a:p>
            <a:endParaRPr lang="en-US"/>
          </a:p>
        </p:txBody>
      </p:sp>
      <p:sp>
        <p:nvSpPr>
          <p:cNvPr id="10" name="Shape 8"/>
          <p:cNvSpPr/>
          <p:nvPr/>
        </p:nvSpPr>
        <p:spPr>
          <a:xfrm>
            <a:off x="3657600" y="1920240"/>
            <a:ext cx="420624" cy="420624"/>
          </a:xfrm>
          <a:prstGeom prst="ellipse">
            <a:avLst/>
          </a:prstGeom>
          <a:solidFill>
            <a:srgbClr val="0F5C6B"/>
          </a:solidFill>
          <a:ln w="12700">
            <a:solidFill>
              <a:srgbClr val="0F5C6B"/>
            </a:solidFill>
            <a:prstDash val="solid"/>
          </a:ln>
        </p:spPr>
        <p:txBody>
          <a:bodyPr/>
          <a:lstStyle/>
          <a:p>
            <a:endParaRPr lang="en-US"/>
          </a:p>
        </p:txBody>
      </p:sp>
      <p:sp>
        <p:nvSpPr>
          <p:cNvPr id="11" name="Text 9"/>
          <p:cNvSpPr txBox="1"/>
          <p:nvPr/>
        </p:nvSpPr>
        <p:spPr>
          <a:xfrm>
            <a:off x="365760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657600" y="2514600"/>
            <a:ext cx="2057400" cy="411480"/>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Chọn giải pháp</a:t>
            </a:r>
            <a:endParaRPr lang="en-US" sz="1800" dirty="0"/>
          </a:p>
        </p:txBody>
      </p:sp>
      <p:sp>
        <p:nvSpPr>
          <p:cNvPr id="13" name="Text 11"/>
          <p:cNvSpPr txBox="1"/>
          <p:nvPr/>
        </p:nvSpPr>
        <p:spPr>
          <a:xfrm>
            <a:off x="3657600" y="3017520"/>
            <a:ext cx="2057400" cy="1737360"/>
          </a:xfrm>
          <a:prstGeom prst="rect">
            <a:avLst/>
          </a:prstGeom>
          <a:noFill/>
          <a:ln/>
        </p:spPr>
        <p:txBody>
          <a:bodyPr wrap="square" lIns="0" tIns="0" rIns="0" bIns="0" rtlCol="0" anchor="t"/>
          <a:lstStyle/>
          <a:p>
            <a:pPr marL="0" indent="0">
              <a:buNone/>
            </a:pPr>
            <a:r>
              <a:rPr lang="en-US" sz="1400" dirty="0">
                <a:solidFill>
                  <a:srgbClr val="1E2A32"/>
                </a:solidFill>
                <a:latin typeface="Calibri" pitchFamily="34" charset="0"/>
                <a:ea typeface="Calibri" pitchFamily="34" charset="-122"/>
                <a:cs typeface="Calibri" pitchFamily="34" charset="-120"/>
              </a:rPr>
              <a:t>APEX-MEM: 86,2% trên LongMemEval, cao nhất trong các bài đã bình duyệt tìm được.</a:t>
            </a:r>
            <a:endParaRPr lang="en-US" sz="1400" dirty="0"/>
          </a:p>
        </p:txBody>
      </p:sp>
      <p:sp>
        <p:nvSpPr>
          <p:cNvPr id="14" name="Shape 12"/>
          <p:cNvSpPr/>
          <p:nvPr/>
        </p:nvSpPr>
        <p:spPr>
          <a:xfrm>
            <a:off x="6217920" y="1645920"/>
            <a:ext cx="2606040" cy="2743200"/>
          </a:xfrm>
          <a:prstGeom prst="roundRect">
            <a:avLst>
              <a:gd name="adj" fmla="val 2807"/>
            </a:avLst>
          </a:prstGeom>
          <a:solidFill>
            <a:srgbClr val="F3F7F8"/>
          </a:solidFill>
          <a:ln w="9525">
            <a:solidFill>
              <a:srgbClr val="C9D6DA"/>
            </a:solidFill>
            <a:prstDash val="solid"/>
          </a:ln>
        </p:spPr>
        <p:txBody>
          <a:bodyPr/>
          <a:lstStyle/>
          <a:p>
            <a:endParaRPr lang="en-US"/>
          </a:p>
        </p:txBody>
      </p:sp>
      <p:sp>
        <p:nvSpPr>
          <p:cNvPr id="15" name="Shape 13"/>
          <p:cNvSpPr/>
          <p:nvPr/>
        </p:nvSpPr>
        <p:spPr>
          <a:xfrm>
            <a:off x="6492240" y="1920240"/>
            <a:ext cx="420624" cy="420624"/>
          </a:xfrm>
          <a:prstGeom prst="ellipse">
            <a:avLst/>
          </a:prstGeom>
          <a:solidFill>
            <a:srgbClr val="0F5C6B"/>
          </a:solidFill>
          <a:ln w="12700">
            <a:solidFill>
              <a:srgbClr val="0F5C6B"/>
            </a:solidFill>
            <a:prstDash val="solid"/>
          </a:ln>
        </p:spPr>
        <p:txBody>
          <a:bodyPr/>
          <a:lstStyle/>
          <a:p>
            <a:endParaRPr lang="en-US"/>
          </a:p>
        </p:txBody>
      </p:sp>
      <p:sp>
        <p:nvSpPr>
          <p:cNvPr id="16" name="Text 14"/>
          <p:cNvSpPr txBox="1"/>
          <p:nvPr/>
        </p:nvSpPr>
        <p:spPr>
          <a:xfrm>
            <a:off x="649224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492240" y="2514600"/>
            <a:ext cx="2057400" cy="411480"/>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Thu hẹp phạm vi</a:t>
            </a:r>
            <a:endParaRPr lang="en-US" sz="1800" dirty="0"/>
          </a:p>
        </p:txBody>
      </p:sp>
      <p:sp>
        <p:nvSpPr>
          <p:cNvPr id="18" name="Text 16"/>
          <p:cNvSpPr txBox="1"/>
          <p:nvPr/>
        </p:nvSpPr>
        <p:spPr>
          <a:xfrm>
            <a:off x="6492240" y="3017520"/>
            <a:ext cx="2057400" cy="1737360"/>
          </a:xfrm>
          <a:prstGeom prst="rect">
            <a:avLst/>
          </a:prstGeom>
          <a:noFill/>
          <a:ln/>
        </p:spPr>
        <p:txBody>
          <a:bodyPr wrap="square" lIns="0" tIns="0" rIns="0" bIns="0" rtlCol="0" anchor="t"/>
          <a:lstStyle/>
          <a:p>
            <a:pPr marL="0" indent="0">
              <a:buNone/>
            </a:pPr>
            <a:r>
              <a:rPr lang="en-US" sz="1400" dirty="0">
                <a:solidFill>
                  <a:srgbClr val="1E2A32"/>
                </a:solidFill>
                <a:latin typeface="Calibri" pitchFamily="34" charset="0"/>
                <a:ea typeface="Calibri" pitchFamily="34" charset="-122"/>
                <a:cs typeface="Calibri" pitchFamily="34" charset="-120"/>
              </a:rPr>
              <a:t>5 năng lực cốt lõi của LongMemEval · 1 benchmark · chỉ tiếng Anh · LLM </a:t>
            </a:r>
            <a:r>
              <a:rPr lang="en-US" sz="1400" dirty="0" err="1">
                <a:solidFill>
                  <a:srgbClr val="1E2A32"/>
                </a:solidFill>
                <a:latin typeface="Calibri" pitchFamily="34" charset="0"/>
                <a:ea typeface="Calibri" pitchFamily="34" charset="-122"/>
                <a:cs typeface="Calibri" pitchFamily="34" charset="-120"/>
              </a:rPr>
              <a:t>là</a:t>
            </a:r>
            <a:r>
              <a:rPr lang="en-US" sz="1400" dirty="0">
                <a:solidFill>
                  <a:srgbClr val="1E2A32"/>
                </a:solidFill>
                <a:latin typeface="Calibri" pitchFamily="34" charset="0"/>
                <a:ea typeface="Calibri" pitchFamily="34" charset="-122"/>
                <a:cs typeface="Calibri" pitchFamily="34" charset="-120"/>
              </a:rPr>
              <a:t> GPT-5.5 9router.</a:t>
            </a:r>
            <a:endParaRPr lang="en-US" sz="1400" dirty="0"/>
          </a:p>
        </p:txBody>
      </p:sp>
      <p:sp>
        <p:nvSpPr>
          <p:cNvPr id="19" name="Shape 17"/>
          <p:cNvSpPr/>
          <p:nvPr/>
        </p:nvSpPr>
        <p:spPr>
          <a:xfrm>
            <a:off x="9052560" y="1645920"/>
            <a:ext cx="2606040" cy="2743200"/>
          </a:xfrm>
          <a:prstGeom prst="roundRect">
            <a:avLst>
              <a:gd name="adj" fmla="val 2807"/>
            </a:avLst>
          </a:prstGeom>
          <a:solidFill>
            <a:srgbClr val="F3F7F8"/>
          </a:solidFill>
          <a:ln w="9525">
            <a:solidFill>
              <a:srgbClr val="C9D6DA"/>
            </a:solidFill>
            <a:prstDash val="solid"/>
          </a:ln>
        </p:spPr>
        <p:txBody>
          <a:bodyPr/>
          <a:lstStyle/>
          <a:p>
            <a:endParaRPr lang="en-US"/>
          </a:p>
        </p:txBody>
      </p:sp>
      <p:sp>
        <p:nvSpPr>
          <p:cNvPr id="20" name="Shape 18"/>
          <p:cNvSpPr/>
          <p:nvPr/>
        </p:nvSpPr>
        <p:spPr>
          <a:xfrm>
            <a:off x="9326880" y="1920240"/>
            <a:ext cx="420624" cy="420624"/>
          </a:xfrm>
          <a:prstGeom prst="ellipse">
            <a:avLst/>
          </a:prstGeom>
          <a:solidFill>
            <a:srgbClr val="0F5C6B"/>
          </a:solidFill>
          <a:ln w="12700">
            <a:solidFill>
              <a:srgbClr val="0F5C6B"/>
            </a:solidFill>
            <a:prstDash val="solid"/>
          </a:ln>
        </p:spPr>
        <p:txBody>
          <a:bodyPr/>
          <a:lstStyle/>
          <a:p>
            <a:endParaRPr lang="en-US"/>
          </a:p>
        </p:txBody>
      </p:sp>
      <p:sp>
        <p:nvSpPr>
          <p:cNvPr id="21" name="Text 19"/>
          <p:cNvSpPr txBox="1"/>
          <p:nvPr/>
        </p:nvSpPr>
        <p:spPr>
          <a:xfrm>
            <a:off x="932688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9326880" y="2514600"/>
            <a:ext cx="2057400" cy="411480"/>
          </a:xfrm>
          <a:prstGeom prst="rect">
            <a:avLst/>
          </a:prstGeom>
          <a:noFill/>
          <a:ln/>
        </p:spPr>
        <p:txBody>
          <a:bodyPr wrap="square" lIns="0" tIns="0" rIns="0" bIns="0" rtlCol="0" anchor="ctr"/>
          <a:lstStyle/>
          <a:p>
            <a:r>
              <a:rPr lang="en-US" b="1" dirty="0" err="1">
                <a:solidFill>
                  <a:srgbClr val="0F5C6B"/>
                </a:solidFill>
                <a:latin typeface="Cambria" pitchFamily="34" charset="0"/>
                <a:ea typeface="Cambria" pitchFamily="34" charset="-122"/>
              </a:rPr>
              <a:t>Bộ</a:t>
            </a:r>
            <a:r>
              <a:rPr lang="en-US" b="1" dirty="0">
                <a:solidFill>
                  <a:srgbClr val="0F5C6B"/>
                </a:solidFill>
                <a:latin typeface="Cambria" pitchFamily="34" charset="0"/>
                <a:ea typeface="Cambria" pitchFamily="34" charset="-122"/>
              </a:rPr>
              <a:t> </a:t>
            </a:r>
            <a:r>
              <a:rPr lang="en-US" b="1" dirty="0" err="1">
                <a:solidFill>
                  <a:srgbClr val="0F5C6B"/>
                </a:solidFill>
                <a:latin typeface="Cambria" pitchFamily="34" charset="0"/>
                <a:ea typeface="Cambria" pitchFamily="34" charset="-122"/>
              </a:rPr>
              <a:t>nhớ</a:t>
            </a:r>
            <a:endParaRPr lang="en-US" sz="1800" dirty="0"/>
          </a:p>
        </p:txBody>
      </p:sp>
      <p:sp>
        <p:nvSpPr>
          <p:cNvPr id="23" name="Text 21"/>
          <p:cNvSpPr txBox="1"/>
          <p:nvPr/>
        </p:nvSpPr>
        <p:spPr>
          <a:xfrm>
            <a:off x="9326880" y="3017520"/>
            <a:ext cx="2057400" cy="1737360"/>
          </a:xfrm>
          <a:prstGeom prst="rect">
            <a:avLst/>
          </a:prstGeom>
          <a:noFill/>
          <a:ln/>
        </p:spPr>
        <p:txBody>
          <a:bodyPr wrap="square" lIns="0" tIns="0" rIns="0" bIns="0" rtlCol="0" anchor="t"/>
          <a:lstStyle/>
          <a:p>
            <a:pPr marL="0" indent="0">
              <a:buNone/>
            </a:pPr>
            <a:r>
              <a:rPr lang="en-US" sz="1400" dirty="0">
                <a:solidFill>
                  <a:srgbClr val="1E2A32"/>
                </a:solidFill>
                <a:latin typeface="Calibri" pitchFamily="34" charset="0"/>
                <a:ea typeface="Calibri" pitchFamily="34" charset="-122"/>
                <a:cs typeface="Calibri" pitchFamily="34" charset="-120"/>
              </a:rPr>
              <a:t>SQLite là lõi bộ nhớ của APEX-MEM. Truy vấn SQL đẩy điểm câu hỏi thời gian từ 72,9% lên 82,3%.</a:t>
            </a:r>
            <a:endParaRPr lang="en-US" sz="1400" dirty="0"/>
          </a:p>
        </p:txBody>
      </p:sp>
      <p:sp>
        <p:nvSpPr>
          <p:cNvPr id="24" name="Shape 22"/>
          <p:cNvSpPr/>
          <p:nvPr/>
        </p:nvSpPr>
        <p:spPr>
          <a:xfrm>
            <a:off x="548640" y="4754880"/>
            <a:ext cx="11109960" cy="685800"/>
          </a:xfrm>
          <a:prstGeom prst="roundRect">
            <a:avLst>
              <a:gd name="adj" fmla="val 10667"/>
            </a:avLst>
          </a:prstGeom>
          <a:solidFill>
            <a:srgbClr val="E6F0F2"/>
          </a:solidFill>
          <a:ln w="12700">
            <a:solidFill>
              <a:srgbClr val="E6F0F2"/>
            </a:solidFill>
            <a:prstDash val="solid"/>
          </a:ln>
        </p:spPr>
        <p:txBody>
          <a:bodyPr/>
          <a:lstStyle/>
          <a:p>
            <a:endParaRPr lang="en-US"/>
          </a:p>
        </p:txBody>
      </p:sp>
      <p:sp>
        <p:nvSpPr>
          <p:cNvPr id="25" name="Text 23"/>
          <p:cNvSpPr txBox="1"/>
          <p:nvPr/>
        </p:nvSpPr>
        <p:spPr>
          <a:xfrm>
            <a:off x="822960" y="4754880"/>
            <a:ext cx="10607040" cy="685800"/>
          </a:xfrm>
          <a:prstGeom prst="rect">
            <a:avLst/>
          </a:prstGeom>
          <a:noFill/>
          <a:ln/>
        </p:spPr>
        <p:txBody>
          <a:bodyPr wrap="square" lIns="0" tIns="0" rIns="0" bIns="0" rtlCol="0" anchor="ctr"/>
          <a:lstStyle/>
          <a:p>
            <a:pPr marL="0" indent="0">
              <a:buNone/>
            </a:pPr>
            <a:r>
              <a:rPr lang="en-US" sz="1500" dirty="0">
                <a:solidFill>
                  <a:srgbClr val="12232E"/>
                </a:solidFill>
                <a:latin typeface="Calibri" pitchFamily="34" charset="0"/>
                <a:ea typeface="Calibri" pitchFamily="34" charset="-122"/>
                <a:cs typeface="Calibri" pitchFamily="34" charset="-120"/>
              </a:rPr>
              <a:t>Kết quả đo truy xuất ở tuần 2 (k = 30, trần truy xuất 96,4%) vẫn dùng được cho công cụ Search của kiến trúc mới.</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TÁI CẤU TRÚC</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Thiết kế cũ và thiết kế mới</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579627360"/>
              </p:ext>
            </p:extLst>
          </p:nvPr>
        </p:nvGraphicFramePr>
        <p:xfrm>
          <a:off x="548640" y="1600200"/>
          <a:ext cx="11064240" cy="3968496"/>
        </p:xfrm>
        <a:graphic>
          <a:graphicData uri="http://schemas.openxmlformats.org/drawingml/2006/table">
            <a:tbl>
              <a:tblPr/>
              <a:tblGrid>
                <a:gridCol w="201168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Hạng mục</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Thiết kế cũ</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Thiết kế mới</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Phạm vi</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8 năng lực tự định nghĩa, nhiều benchmark</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0F5C6B"/>
                          </a:solidFill>
                          <a:latin typeface="Calibri" pitchFamily="34" charset="0"/>
                          <a:ea typeface="Calibri" pitchFamily="34" charset="-122"/>
                          <a:cs typeface="Calibri" pitchFamily="34" charset="-120"/>
                        </a:rPr>
                        <a:t>5 năng lực của LongMemEval, chỉ LongMemEval-S</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Ngôn ngữ</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Song ngữ Việt · Anh</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0F5C6B"/>
                          </a:solidFill>
                          <a:latin typeface="Calibri" pitchFamily="34" charset="0"/>
                          <a:ea typeface="Calibri" pitchFamily="34" charset="-122"/>
                          <a:cs typeface="Calibri" pitchFamily="34" charset="-120"/>
                        </a:rPr>
                        <a:t>Tiếng Anh</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LLM</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Gemini 2.5 Flash gói miễn phí</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0F5C6B"/>
                          </a:solidFill>
                          <a:latin typeface="Calibri" pitchFamily="34" charset="0"/>
                          <a:ea typeface="Calibri" pitchFamily="34" charset="-122"/>
                          <a:cs typeface="Calibri" pitchFamily="34" charset="-120"/>
                        </a:rPr>
                        <a:t>GPT-5.5 qua 9router</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Lưu trữ</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Fact </a:t>
                      </a:r>
                      <a:r>
                        <a:rPr lang="en-US" sz="1400" dirty="0" err="1">
                          <a:solidFill>
                            <a:srgbClr val="1E2A32"/>
                          </a:solidFill>
                          <a:latin typeface="Calibri" pitchFamily="34" charset="0"/>
                          <a:ea typeface="Calibri" pitchFamily="34" charset="-122"/>
                          <a:cs typeface="Calibri" pitchFamily="34" charset="-120"/>
                        </a:rPr>
                        <a:t>dạng</a:t>
                      </a:r>
                      <a:r>
                        <a:rPr lang="en-US" sz="1400" dirty="0">
                          <a:solidFill>
                            <a:srgbClr val="1E2A32"/>
                          </a:solidFill>
                          <a:latin typeface="Calibri" pitchFamily="34" charset="0"/>
                          <a:ea typeface="Calibri" pitchFamily="34" charset="-122"/>
                          <a:cs typeface="Calibri" pitchFamily="34" charset="-120"/>
                        </a:rPr>
                        <a:t> slot </a:t>
                      </a:r>
                      <a:r>
                        <a:rPr lang="en-US" sz="1400" dirty="0" err="1">
                          <a:solidFill>
                            <a:srgbClr val="1E2A32"/>
                          </a:solidFill>
                          <a:latin typeface="Calibri" pitchFamily="34" charset="0"/>
                          <a:ea typeface="Calibri" pitchFamily="34" charset="-122"/>
                          <a:cs typeface="Calibri" pitchFamily="34" charset="-120"/>
                        </a:rPr>
                        <a:t>trên</a:t>
                      </a:r>
                      <a:r>
                        <a:rPr lang="en-US" sz="1400" dirty="0">
                          <a:solidFill>
                            <a:srgbClr val="1E2A32"/>
                          </a:solidFill>
                          <a:latin typeface="Calibri" pitchFamily="34" charset="0"/>
                          <a:ea typeface="Calibri" pitchFamily="34" charset="-122"/>
                          <a:cs typeface="Calibri" pitchFamily="34" charset="-120"/>
                        </a:rPr>
                        <a:t> SQLite + chỉ mục vector</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0F5C6B"/>
                          </a:solidFill>
                          <a:latin typeface="Calibri" pitchFamily="34" charset="0"/>
                          <a:ea typeface="Calibri" pitchFamily="34" charset="-122"/>
                          <a:cs typeface="Calibri" pitchFamily="34" charset="-120"/>
                        </a:rPr>
                        <a:t>Đồ thị thuộc tính trên SQLite, append-only</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Cập nhật</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Chốt bản mới nhất lúc ghi (max(seq))</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0F5C6B"/>
                          </a:solidFill>
                          <a:latin typeface="Calibri" pitchFamily="34" charset="0"/>
                          <a:ea typeface="Calibri" pitchFamily="34" charset="-122"/>
                          <a:cs typeface="Calibri" pitchFamily="34" charset="-120"/>
                        </a:rPr>
                        <a:t>Giữ mọi phiên bản, agent giải quyết lúc đọc</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Truy vấn</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Pipeline cố định: dense → rerank → lắp ngữ cảnh</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0F5C6B"/>
                          </a:solidFill>
                          <a:latin typeface="Calibri" pitchFamily="34" charset="0"/>
                          <a:ea typeface="Calibri" pitchFamily="34" charset="-122"/>
                          <a:cs typeface="Calibri" pitchFamily="34" charset="-120"/>
                        </a:rPr>
                        <a:t>Agent ReAct với 5 công cụ</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Bị bỏ hẳn: MemoryUpdater, cổng pending, ký ức pinned, tóm tắt phiên, reranker.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LỰA CHỌN GIẢI PHÁP</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Vì sao chọn APEX-MEM</a:t>
            </a:r>
            <a:endParaRPr lang="en-US" sz="3000" dirty="0"/>
          </a:p>
        </p:txBody>
      </p:sp>
      <p:graphicFrame>
        <p:nvGraphicFramePr>
          <p:cNvPr id="4" name="Chart 0"/>
          <p:cNvGraphicFramePr/>
          <p:nvPr/>
        </p:nvGraphicFramePr>
        <p:xfrm>
          <a:off x="457200" y="1463040"/>
          <a:ext cx="65836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15200" y="1600200"/>
            <a:ext cx="4343400" cy="1280160"/>
          </a:xfrm>
          <a:prstGeom prst="roundRect">
            <a:avLst>
              <a:gd name="adj" fmla="val 5714"/>
            </a:avLst>
          </a:prstGeom>
          <a:solidFill>
            <a:srgbClr val="F3F7F8"/>
          </a:solidFill>
          <a:ln w="9525">
            <a:solidFill>
              <a:srgbClr val="C9D6DA"/>
            </a:solidFill>
            <a:prstDash val="solid"/>
          </a:ln>
        </p:spPr>
        <p:txBody>
          <a:bodyPr/>
          <a:lstStyle/>
          <a:p>
            <a:endParaRPr lang="en-US"/>
          </a:p>
        </p:txBody>
      </p:sp>
      <p:sp>
        <p:nvSpPr>
          <p:cNvPr id="6" name="Text 3"/>
          <p:cNvSpPr txBox="1"/>
          <p:nvPr/>
        </p:nvSpPr>
        <p:spPr>
          <a:xfrm>
            <a:off x="7543800" y="1737360"/>
            <a:ext cx="3931920" cy="365760"/>
          </a:xfrm>
          <a:prstGeom prst="rect">
            <a:avLst/>
          </a:prstGeom>
          <a:noFill/>
          <a:ln/>
        </p:spPr>
        <p:txBody>
          <a:bodyPr wrap="square" lIns="0" tIns="0" rIns="0" bIns="0" rtlCol="0" anchor="ctr"/>
          <a:lstStyle/>
          <a:p>
            <a:pPr marL="0" indent="0">
              <a:buNone/>
            </a:pPr>
            <a:r>
              <a:rPr lang="en-US" sz="1600" b="1" dirty="0">
                <a:solidFill>
                  <a:srgbClr val="0F5C6B"/>
                </a:solidFill>
                <a:latin typeface="Cambria" pitchFamily="34" charset="0"/>
                <a:ea typeface="Cambria" pitchFamily="34" charset="-122"/>
                <a:cs typeface="Cambria" pitchFamily="34" charset="-120"/>
              </a:rPr>
              <a:t>Điểm cao nhất</a:t>
            </a:r>
            <a:endParaRPr lang="en-US" sz="1600" dirty="0"/>
          </a:p>
        </p:txBody>
      </p:sp>
      <p:sp>
        <p:nvSpPr>
          <p:cNvPr id="7" name="Text 4"/>
          <p:cNvSpPr txBox="1"/>
          <p:nvPr/>
        </p:nvSpPr>
        <p:spPr>
          <a:xfrm>
            <a:off x="7543800" y="2103120"/>
            <a:ext cx="3931920" cy="73152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Cao nhất trong các bài đã bình duyệt: 86,2% LongMemEval, 88,88% LoCoMo.</a:t>
            </a:r>
            <a:endParaRPr lang="en-US" sz="1300" dirty="0"/>
          </a:p>
        </p:txBody>
      </p:sp>
      <p:sp>
        <p:nvSpPr>
          <p:cNvPr id="8" name="Shape 5"/>
          <p:cNvSpPr/>
          <p:nvPr/>
        </p:nvSpPr>
        <p:spPr>
          <a:xfrm>
            <a:off x="7315200" y="3063240"/>
            <a:ext cx="4343400" cy="1280160"/>
          </a:xfrm>
          <a:prstGeom prst="roundRect">
            <a:avLst>
              <a:gd name="adj" fmla="val 5714"/>
            </a:avLst>
          </a:prstGeom>
          <a:solidFill>
            <a:srgbClr val="F3F7F8"/>
          </a:solidFill>
          <a:ln w="9525">
            <a:solidFill>
              <a:srgbClr val="C9D6DA"/>
            </a:solidFill>
            <a:prstDash val="solid"/>
          </a:ln>
        </p:spPr>
        <p:txBody>
          <a:bodyPr/>
          <a:lstStyle/>
          <a:p>
            <a:endParaRPr lang="en-US"/>
          </a:p>
        </p:txBody>
      </p:sp>
      <p:sp>
        <p:nvSpPr>
          <p:cNvPr id="9" name="Text 6"/>
          <p:cNvSpPr txBox="1"/>
          <p:nvPr/>
        </p:nvSpPr>
        <p:spPr>
          <a:xfrm>
            <a:off x="7543800" y="3200400"/>
            <a:ext cx="3931920" cy="365760"/>
          </a:xfrm>
          <a:prstGeom prst="rect">
            <a:avLst/>
          </a:prstGeom>
          <a:noFill/>
          <a:ln/>
        </p:spPr>
        <p:txBody>
          <a:bodyPr wrap="square" lIns="0" tIns="0" rIns="0" bIns="0" rtlCol="0" anchor="ctr"/>
          <a:lstStyle/>
          <a:p>
            <a:pPr marL="0" indent="0">
              <a:buNone/>
            </a:pPr>
            <a:r>
              <a:rPr lang="en-US" sz="1600" b="1" dirty="0">
                <a:solidFill>
                  <a:srgbClr val="0F5C6B"/>
                </a:solidFill>
                <a:latin typeface="Cambria" pitchFamily="34" charset="0"/>
                <a:ea typeface="Cambria" pitchFamily="34" charset="-122"/>
                <a:cs typeface="Cambria" pitchFamily="34" charset="-120"/>
              </a:rPr>
              <a:t>Hợp với GPT-5.5</a:t>
            </a:r>
            <a:endParaRPr lang="en-US" sz="1600" dirty="0"/>
          </a:p>
        </p:txBody>
      </p:sp>
      <p:sp>
        <p:nvSpPr>
          <p:cNvPr id="10" name="Text 7"/>
          <p:cNvSpPr txBox="1"/>
          <p:nvPr/>
        </p:nvSpPr>
        <p:spPr>
          <a:xfrm>
            <a:off x="7543800" y="3566160"/>
            <a:ext cx="3931920" cy="73152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Kiến trúc cần LLM giỏi dùng công cụ. GPT-5 đạt 85,2%, GPT-4o chỉ 75,0%.</a:t>
            </a:r>
            <a:endParaRPr lang="en-US" sz="1300" dirty="0"/>
          </a:p>
        </p:txBody>
      </p:sp>
      <p:sp>
        <p:nvSpPr>
          <p:cNvPr id="11" name="Shape 8"/>
          <p:cNvSpPr/>
          <p:nvPr/>
        </p:nvSpPr>
        <p:spPr>
          <a:xfrm>
            <a:off x="7315200" y="4526280"/>
            <a:ext cx="4343400" cy="1280160"/>
          </a:xfrm>
          <a:prstGeom prst="roundRect">
            <a:avLst>
              <a:gd name="adj" fmla="val 5714"/>
            </a:avLst>
          </a:prstGeom>
          <a:solidFill>
            <a:srgbClr val="F3F7F8"/>
          </a:solidFill>
          <a:ln w="9525">
            <a:solidFill>
              <a:srgbClr val="C9D6DA"/>
            </a:solidFill>
            <a:prstDash val="solid"/>
          </a:ln>
        </p:spPr>
        <p:txBody>
          <a:bodyPr/>
          <a:lstStyle/>
          <a:p>
            <a:endParaRPr lang="en-US"/>
          </a:p>
        </p:txBody>
      </p:sp>
      <p:sp>
        <p:nvSpPr>
          <p:cNvPr id="12" name="Text 9"/>
          <p:cNvSpPr txBox="1"/>
          <p:nvPr/>
        </p:nvSpPr>
        <p:spPr>
          <a:xfrm>
            <a:off x="7543800" y="4663440"/>
            <a:ext cx="3931920" cy="365760"/>
          </a:xfrm>
          <a:prstGeom prst="rect">
            <a:avLst/>
          </a:prstGeom>
          <a:noFill/>
          <a:ln/>
        </p:spPr>
        <p:txBody>
          <a:bodyPr wrap="square" lIns="0" tIns="0" rIns="0" bIns="0" rtlCol="0" anchor="ctr"/>
          <a:lstStyle/>
          <a:p>
            <a:pPr marL="0" indent="0">
              <a:buNone/>
            </a:pPr>
            <a:r>
              <a:rPr lang="en-US" sz="1600" b="1" dirty="0">
                <a:solidFill>
                  <a:srgbClr val="0F5C6B"/>
                </a:solidFill>
                <a:latin typeface="Cambria" pitchFamily="34" charset="0"/>
                <a:ea typeface="Cambria" pitchFamily="34" charset="-122"/>
                <a:cs typeface="Cambria" pitchFamily="34" charset="-120"/>
              </a:rPr>
              <a:t>Gần thiết kế cũ</a:t>
            </a:r>
            <a:endParaRPr lang="en-US" sz="1600" dirty="0"/>
          </a:p>
        </p:txBody>
      </p:sp>
      <p:sp>
        <p:nvSpPr>
          <p:cNvPr id="13" name="Text 10"/>
          <p:cNvSpPr txBox="1"/>
          <p:nvPr/>
        </p:nvSpPr>
        <p:spPr>
          <a:xfrm>
            <a:off x="7543800" y="5029200"/>
            <a:ext cx="3931920" cy="73152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Lõi là SQLite, append-only — gần với sổ cái nhóm đã viết.</a:t>
            </a:r>
            <a:endParaRPr lang="en-US" sz="1300" dirty="0"/>
          </a:p>
        </p:txBody>
      </p:sp>
      <p:sp>
        <p:nvSpPr>
          <p:cNvPr id="14" name="Text 11"/>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Nguồn: Banerjee et al., ACL 2026, Bảng 4. Các hệ dùng LLM nền khác nhau, không so trực tiếp được.</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BÀI TOÁN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Năm năng lực cốt lõi của LongMemEval</a:t>
            </a:r>
            <a:endParaRPr lang="en-US" sz="3000" dirty="0"/>
          </a:p>
        </p:txBody>
      </p:sp>
      <p:sp>
        <p:nvSpPr>
          <p:cNvPr id="4" name="Shape 2"/>
          <p:cNvSpPr/>
          <p:nvPr/>
        </p:nvSpPr>
        <p:spPr>
          <a:xfrm>
            <a:off x="548640" y="1600200"/>
            <a:ext cx="2103120" cy="4297680"/>
          </a:xfrm>
          <a:prstGeom prst="roundRect">
            <a:avLst>
              <a:gd name="adj" fmla="val 3478"/>
            </a:avLst>
          </a:prstGeom>
          <a:solidFill>
            <a:srgbClr val="F3F7F8"/>
          </a:solidFill>
          <a:ln w="9525">
            <a:solidFill>
              <a:srgbClr val="C9D6DA"/>
            </a:solidFill>
            <a:prstDash val="solid"/>
          </a:ln>
        </p:spPr>
        <p:txBody>
          <a:bodyPr/>
          <a:lstStyle/>
          <a:p>
            <a:endParaRPr lang="en-US"/>
          </a:p>
        </p:txBody>
      </p:sp>
      <p:sp>
        <p:nvSpPr>
          <p:cNvPr id="5" name="Text 3"/>
          <p:cNvSpPr txBox="1"/>
          <p:nvPr/>
        </p:nvSpPr>
        <p:spPr>
          <a:xfrm>
            <a:off x="777240" y="1828800"/>
            <a:ext cx="1645920" cy="640080"/>
          </a:xfrm>
          <a:prstGeom prst="rect">
            <a:avLst/>
          </a:prstGeom>
          <a:noFill/>
          <a:ln/>
        </p:spPr>
        <p:txBody>
          <a:bodyPr wrap="square" lIns="0" tIns="0" rIns="0" bIns="0" rtlCol="0" anchor="ctr"/>
          <a:lstStyle/>
          <a:p>
            <a:pPr marL="0" indent="0">
              <a:buNone/>
            </a:pPr>
            <a:r>
              <a:rPr lang="en-US" sz="3400" b="1" dirty="0">
                <a:solidFill>
                  <a:srgbClr val="0F5C6B"/>
                </a:solidFill>
                <a:latin typeface="Cambria" pitchFamily="34" charset="0"/>
                <a:ea typeface="Cambria" pitchFamily="34" charset="-122"/>
                <a:cs typeface="Cambria" pitchFamily="34" charset="-120"/>
              </a:rPr>
              <a:t>IE</a:t>
            </a:r>
            <a:endParaRPr lang="en-US" sz="3400" dirty="0"/>
          </a:p>
        </p:txBody>
      </p:sp>
      <p:sp>
        <p:nvSpPr>
          <p:cNvPr id="6" name="Text 4"/>
          <p:cNvSpPr txBox="1"/>
          <p:nvPr/>
        </p:nvSpPr>
        <p:spPr>
          <a:xfrm>
            <a:off x="777240" y="2514600"/>
            <a:ext cx="1645920" cy="594360"/>
          </a:xfrm>
          <a:prstGeom prst="rect">
            <a:avLst/>
          </a:prstGeom>
          <a:noFill/>
          <a:ln/>
        </p:spPr>
        <p:txBody>
          <a:bodyPr wrap="square" lIns="0" tIns="0" rIns="0" bIns="0" rtlCol="0" anchor="t"/>
          <a:lstStyle/>
          <a:p>
            <a:pPr marL="0" indent="0">
              <a:buNone/>
            </a:pPr>
            <a:r>
              <a:rPr lang="en-US" sz="1600" b="1" dirty="0">
                <a:solidFill>
                  <a:srgbClr val="1E2A32"/>
                </a:solidFill>
                <a:latin typeface="Calibri" pitchFamily="34" charset="0"/>
                <a:ea typeface="Calibri" pitchFamily="34" charset="-122"/>
                <a:cs typeface="Calibri" pitchFamily="34" charset="-120"/>
              </a:rPr>
              <a:t>Trích xuất thông tin</a:t>
            </a:r>
            <a:endParaRPr lang="en-US" sz="1600" dirty="0"/>
          </a:p>
        </p:txBody>
      </p:sp>
      <p:sp>
        <p:nvSpPr>
          <p:cNvPr id="7" name="Text 5"/>
          <p:cNvSpPr txBox="1"/>
          <p:nvPr/>
        </p:nvSpPr>
        <p:spPr>
          <a:xfrm>
            <a:off x="777240" y="3154680"/>
            <a:ext cx="164592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Nhớ đúng chi tiết trong một phiên</a:t>
            </a:r>
            <a:endParaRPr lang="en-US" sz="1300" dirty="0"/>
          </a:p>
        </p:txBody>
      </p:sp>
      <p:sp>
        <p:nvSpPr>
          <p:cNvPr id="8" name="Text 6"/>
          <p:cNvSpPr txBox="1"/>
          <p:nvPr/>
        </p:nvSpPr>
        <p:spPr>
          <a:xfrm>
            <a:off x="777240" y="4069080"/>
            <a:ext cx="1645920" cy="82296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single-session-user · -assistant · -preference</a:t>
            </a:r>
            <a:endParaRPr lang="en-US" sz="1200" dirty="0"/>
          </a:p>
        </p:txBody>
      </p:sp>
      <p:sp>
        <p:nvSpPr>
          <p:cNvPr id="9" name="Text 7"/>
          <p:cNvSpPr txBox="1"/>
          <p:nvPr/>
        </p:nvSpPr>
        <p:spPr>
          <a:xfrm>
            <a:off x="777240" y="5120640"/>
            <a:ext cx="1645920" cy="457200"/>
          </a:xfrm>
          <a:prstGeom prst="rect">
            <a:avLst/>
          </a:prstGeom>
          <a:noFill/>
          <a:ln/>
        </p:spPr>
        <p:txBody>
          <a:bodyPr wrap="square" lIns="0" tIns="0" rIns="0" bIns="0" rtlCol="0" anchor="ctr"/>
          <a:lstStyle/>
          <a:p>
            <a:pPr marL="0" indent="0">
              <a:buNone/>
            </a:pPr>
            <a:r>
              <a:rPr lang="en-US" sz="1800" b="1" dirty="0">
                <a:solidFill>
                  <a:srgbClr val="12232E"/>
                </a:solidFill>
                <a:latin typeface="Calibri" pitchFamily="34" charset="0"/>
                <a:ea typeface="Calibri" pitchFamily="34" charset="-122"/>
                <a:cs typeface="Calibri" pitchFamily="34" charset="-120"/>
              </a:rPr>
              <a:t>70 · 56 · 30 câu</a:t>
            </a:r>
            <a:endParaRPr lang="en-US" sz="1800" dirty="0"/>
          </a:p>
        </p:txBody>
      </p:sp>
      <p:sp>
        <p:nvSpPr>
          <p:cNvPr id="10" name="Shape 8"/>
          <p:cNvSpPr/>
          <p:nvPr/>
        </p:nvSpPr>
        <p:spPr>
          <a:xfrm>
            <a:off x="2788920" y="1600200"/>
            <a:ext cx="2103120" cy="4297680"/>
          </a:xfrm>
          <a:prstGeom prst="roundRect">
            <a:avLst>
              <a:gd name="adj" fmla="val 3478"/>
            </a:avLst>
          </a:prstGeom>
          <a:solidFill>
            <a:srgbClr val="F3F7F8"/>
          </a:solidFill>
          <a:ln w="9525">
            <a:solidFill>
              <a:srgbClr val="C9D6DA"/>
            </a:solidFill>
            <a:prstDash val="solid"/>
          </a:ln>
        </p:spPr>
        <p:txBody>
          <a:bodyPr/>
          <a:lstStyle/>
          <a:p>
            <a:endParaRPr lang="en-US"/>
          </a:p>
        </p:txBody>
      </p:sp>
      <p:sp>
        <p:nvSpPr>
          <p:cNvPr id="11" name="Text 9"/>
          <p:cNvSpPr txBox="1"/>
          <p:nvPr/>
        </p:nvSpPr>
        <p:spPr>
          <a:xfrm>
            <a:off x="3017520" y="1828800"/>
            <a:ext cx="1645920" cy="640080"/>
          </a:xfrm>
          <a:prstGeom prst="rect">
            <a:avLst/>
          </a:prstGeom>
          <a:noFill/>
          <a:ln/>
        </p:spPr>
        <p:txBody>
          <a:bodyPr wrap="square" lIns="0" tIns="0" rIns="0" bIns="0" rtlCol="0" anchor="ctr"/>
          <a:lstStyle/>
          <a:p>
            <a:pPr marL="0" indent="0">
              <a:buNone/>
            </a:pPr>
            <a:r>
              <a:rPr lang="en-US" sz="3400" b="1" dirty="0">
                <a:solidFill>
                  <a:srgbClr val="0F5C6B"/>
                </a:solidFill>
                <a:latin typeface="Cambria" pitchFamily="34" charset="0"/>
                <a:ea typeface="Cambria" pitchFamily="34" charset="-122"/>
                <a:cs typeface="Cambria" pitchFamily="34" charset="-120"/>
              </a:rPr>
              <a:t>MR</a:t>
            </a:r>
            <a:endParaRPr lang="en-US" sz="3400" dirty="0"/>
          </a:p>
        </p:txBody>
      </p:sp>
      <p:sp>
        <p:nvSpPr>
          <p:cNvPr id="12" name="Text 10"/>
          <p:cNvSpPr txBox="1"/>
          <p:nvPr/>
        </p:nvSpPr>
        <p:spPr>
          <a:xfrm>
            <a:off x="3017520" y="2514600"/>
            <a:ext cx="1645920" cy="594360"/>
          </a:xfrm>
          <a:prstGeom prst="rect">
            <a:avLst/>
          </a:prstGeom>
          <a:noFill/>
          <a:ln/>
        </p:spPr>
        <p:txBody>
          <a:bodyPr wrap="square" lIns="0" tIns="0" rIns="0" bIns="0" rtlCol="0" anchor="t"/>
          <a:lstStyle/>
          <a:p>
            <a:pPr marL="0" indent="0">
              <a:buNone/>
            </a:pPr>
            <a:r>
              <a:rPr lang="en-US" sz="1600" b="1" dirty="0">
                <a:solidFill>
                  <a:srgbClr val="1E2A32"/>
                </a:solidFill>
                <a:latin typeface="Calibri" pitchFamily="34" charset="0"/>
                <a:ea typeface="Calibri" pitchFamily="34" charset="-122"/>
                <a:cs typeface="Calibri" pitchFamily="34" charset="-120"/>
              </a:rPr>
              <a:t>Suy luận đa phiên</a:t>
            </a:r>
            <a:endParaRPr lang="en-US" sz="1600" dirty="0"/>
          </a:p>
        </p:txBody>
      </p:sp>
      <p:sp>
        <p:nvSpPr>
          <p:cNvPr id="13" name="Text 11"/>
          <p:cNvSpPr txBox="1"/>
          <p:nvPr/>
        </p:nvSpPr>
        <p:spPr>
          <a:xfrm>
            <a:off x="3017520" y="3154680"/>
            <a:ext cx="164592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Tổng hợp thông tin rải qua nhiều phiên</a:t>
            </a:r>
            <a:endParaRPr lang="en-US" sz="1300" dirty="0"/>
          </a:p>
        </p:txBody>
      </p:sp>
      <p:sp>
        <p:nvSpPr>
          <p:cNvPr id="14" name="Text 12"/>
          <p:cNvSpPr txBox="1"/>
          <p:nvPr/>
        </p:nvSpPr>
        <p:spPr>
          <a:xfrm>
            <a:off x="3017520" y="4069080"/>
            <a:ext cx="1645920" cy="82296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multi-session</a:t>
            </a:r>
            <a:endParaRPr lang="en-US" sz="1200" dirty="0"/>
          </a:p>
        </p:txBody>
      </p:sp>
      <p:sp>
        <p:nvSpPr>
          <p:cNvPr id="15" name="Text 13"/>
          <p:cNvSpPr txBox="1"/>
          <p:nvPr/>
        </p:nvSpPr>
        <p:spPr>
          <a:xfrm>
            <a:off x="3017520" y="5120640"/>
            <a:ext cx="1645920" cy="457200"/>
          </a:xfrm>
          <a:prstGeom prst="rect">
            <a:avLst/>
          </a:prstGeom>
          <a:noFill/>
          <a:ln/>
        </p:spPr>
        <p:txBody>
          <a:bodyPr wrap="square" lIns="0" tIns="0" rIns="0" bIns="0" rtlCol="0" anchor="ctr"/>
          <a:lstStyle/>
          <a:p>
            <a:pPr marL="0" indent="0">
              <a:buNone/>
            </a:pPr>
            <a:r>
              <a:rPr lang="en-US" sz="1800" b="1" dirty="0">
                <a:solidFill>
                  <a:srgbClr val="12232E"/>
                </a:solidFill>
                <a:latin typeface="Calibri" pitchFamily="34" charset="0"/>
                <a:ea typeface="Calibri" pitchFamily="34" charset="-122"/>
                <a:cs typeface="Calibri" pitchFamily="34" charset="-120"/>
              </a:rPr>
              <a:t>133 câu</a:t>
            </a:r>
            <a:endParaRPr lang="en-US" sz="1800" dirty="0"/>
          </a:p>
        </p:txBody>
      </p:sp>
      <p:sp>
        <p:nvSpPr>
          <p:cNvPr id="16" name="Shape 14"/>
          <p:cNvSpPr/>
          <p:nvPr/>
        </p:nvSpPr>
        <p:spPr>
          <a:xfrm>
            <a:off x="5029200" y="1600200"/>
            <a:ext cx="2103120" cy="4297680"/>
          </a:xfrm>
          <a:prstGeom prst="roundRect">
            <a:avLst>
              <a:gd name="adj" fmla="val 3478"/>
            </a:avLst>
          </a:prstGeom>
          <a:solidFill>
            <a:srgbClr val="F3F7F8"/>
          </a:solidFill>
          <a:ln w="9525">
            <a:solidFill>
              <a:srgbClr val="C9D6DA"/>
            </a:solidFill>
            <a:prstDash val="solid"/>
          </a:ln>
        </p:spPr>
        <p:txBody>
          <a:bodyPr/>
          <a:lstStyle/>
          <a:p>
            <a:endParaRPr lang="en-US"/>
          </a:p>
        </p:txBody>
      </p:sp>
      <p:sp>
        <p:nvSpPr>
          <p:cNvPr id="17" name="Text 15"/>
          <p:cNvSpPr txBox="1"/>
          <p:nvPr/>
        </p:nvSpPr>
        <p:spPr>
          <a:xfrm>
            <a:off x="5257800" y="1828800"/>
            <a:ext cx="1645920" cy="640080"/>
          </a:xfrm>
          <a:prstGeom prst="rect">
            <a:avLst/>
          </a:prstGeom>
          <a:noFill/>
          <a:ln/>
        </p:spPr>
        <p:txBody>
          <a:bodyPr wrap="square" lIns="0" tIns="0" rIns="0" bIns="0" rtlCol="0" anchor="ctr"/>
          <a:lstStyle/>
          <a:p>
            <a:pPr marL="0" indent="0">
              <a:buNone/>
            </a:pPr>
            <a:r>
              <a:rPr lang="en-US" sz="3400" b="1" dirty="0">
                <a:solidFill>
                  <a:srgbClr val="0F5C6B"/>
                </a:solidFill>
                <a:latin typeface="Cambria" pitchFamily="34" charset="0"/>
                <a:ea typeface="Cambria" pitchFamily="34" charset="-122"/>
                <a:cs typeface="Cambria" pitchFamily="34" charset="-120"/>
              </a:rPr>
              <a:t>TR</a:t>
            </a:r>
            <a:endParaRPr lang="en-US" sz="3400" dirty="0"/>
          </a:p>
        </p:txBody>
      </p:sp>
      <p:sp>
        <p:nvSpPr>
          <p:cNvPr id="18" name="Text 16"/>
          <p:cNvSpPr txBox="1"/>
          <p:nvPr/>
        </p:nvSpPr>
        <p:spPr>
          <a:xfrm>
            <a:off x="5257800" y="2514600"/>
            <a:ext cx="1645920" cy="594360"/>
          </a:xfrm>
          <a:prstGeom prst="rect">
            <a:avLst/>
          </a:prstGeom>
          <a:noFill/>
          <a:ln/>
        </p:spPr>
        <p:txBody>
          <a:bodyPr wrap="square" lIns="0" tIns="0" rIns="0" bIns="0" rtlCol="0" anchor="t"/>
          <a:lstStyle/>
          <a:p>
            <a:pPr marL="0" indent="0">
              <a:buNone/>
            </a:pPr>
            <a:r>
              <a:rPr lang="en-US" sz="1600" b="1" dirty="0">
                <a:solidFill>
                  <a:srgbClr val="1E2A32"/>
                </a:solidFill>
                <a:latin typeface="Calibri" pitchFamily="34" charset="0"/>
                <a:ea typeface="Calibri" pitchFamily="34" charset="-122"/>
                <a:cs typeface="Calibri" pitchFamily="34" charset="-120"/>
              </a:rPr>
              <a:t>Suy luận thời gian</a:t>
            </a:r>
            <a:endParaRPr lang="en-US" sz="1600" dirty="0"/>
          </a:p>
        </p:txBody>
      </p:sp>
      <p:sp>
        <p:nvSpPr>
          <p:cNvPr id="19" name="Text 17"/>
          <p:cNvSpPr txBox="1"/>
          <p:nvPr/>
        </p:nvSpPr>
        <p:spPr>
          <a:xfrm>
            <a:off x="5257800" y="3154680"/>
            <a:ext cx="164592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Tính khoảng thời gian, thứ tự sự kiện</a:t>
            </a:r>
            <a:endParaRPr lang="en-US" sz="1300" dirty="0"/>
          </a:p>
        </p:txBody>
      </p:sp>
      <p:sp>
        <p:nvSpPr>
          <p:cNvPr id="20" name="Text 18"/>
          <p:cNvSpPr txBox="1"/>
          <p:nvPr/>
        </p:nvSpPr>
        <p:spPr>
          <a:xfrm>
            <a:off x="5257800" y="4069080"/>
            <a:ext cx="1645920" cy="82296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temporal-reasoning</a:t>
            </a:r>
            <a:endParaRPr lang="en-US" sz="1200" dirty="0"/>
          </a:p>
        </p:txBody>
      </p:sp>
      <p:sp>
        <p:nvSpPr>
          <p:cNvPr id="21" name="Text 19"/>
          <p:cNvSpPr txBox="1"/>
          <p:nvPr/>
        </p:nvSpPr>
        <p:spPr>
          <a:xfrm>
            <a:off x="5257800" y="5120640"/>
            <a:ext cx="1645920" cy="457200"/>
          </a:xfrm>
          <a:prstGeom prst="rect">
            <a:avLst/>
          </a:prstGeom>
          <a:noFill/>
          <a:ln/>
        </p:spPr>
        <p:txBody>
          <a:bodyPr wrap="square" lIns="0" tIns="0" rIns="0" bIns="0" rtlCol="0" anchor="ctr"/>
          <a:lstStyle/>
          <a:p>
            <a:pPr marL="0" indent="0">
              <a:buNone/>
            </a:pPr>
            <a:r>
              <a:rPr lang="en-US" sz="1800" b="1" dirty="0">
                <a:solidFill>
                  <a:srgbClr val="12232E"/>
                </a:solidFill>
                <a:latin typeface="Calibri" pitchFamily="34" charset="0"/>
                <a:ea typeface="Calibri" pitchFamily="34" charset="-122"/>
                <a:cs typeface="Calibri" pitchFamily="34" charset="-120"/>
              </a:rPr>
              <a:t>133 câu</a:t>
            </a:r>
            <a:endParaRPr lang="en-US" sz="1800" dirty="0"/>
          </a:p>
        </p:txBody>
      </p:sp>
      <p:sp>
        <p:nvSpPr>
          <p:cNvPr id="22" name="Shape 20"/>
          <p:cNvSpPr/>
          <p:nvPr/>
        </p:nvSpPr>
        <p:spPr>
          <a:xfrm>
            <a:off x="7269480" y="1600200"/>
            <a:ext cx="2103120" cy="4297680"/>
          </a:xfrm>
          <a:prstGeom prst="roundRect">
            <a:avLst>
              <a:gd name="adj" fmla="val 3478"/>
            </a:avLst>
          </a:prstGeom>
          <a:solidFill>
            <a:srgbClr val="F3F7F8"/>
          </a:solidFill>
          <a:ln w="9525">
            <a:solidFill>
              <a:srgbClr val="C9D6DA"/>
            </a:solidFill>
            <a:prstDash val="solid"/>
          </a:ln>
        </p:spPr>
        <p:txBody>
          <a:bodyPr/>
          <a:lstStyle/>
          <a:p>
            <a:endParaRPr lang="en-US"/>
          </a:p>
        </p:txBody>
      </p:sp>
      <p:sp>
        <p:nvSpPr>
          <p:cNvPr id="23" name="Text 21"/>
          <p:cNvSpPr txBox="1"/>
          <p:nvPr/>
        </p:nvSpPr>
        <p:spPr>
          <a:xfrm>
            <a:off x="7498080" y="1828800"/>
            <a:ext cx="1645920" cy="640080"/>
          </a:xfrm>
          <a:prstGeom prst="rect">
            <a:avLst/>
          </a:prstGeom>
          <a:noFill/>
          <a:ln/>
        </p:spPr>
        <p:txBody>
          <a:bodyPr wrap="square" lIns="0" tIns="0" rIns="0" bIns="0" rtlCol="0" anchor="ctr"/>
          <a:lstStyle/>
          <a:p>
            <a:pPr marL="0" indent="0">
              <a:buNone/>
            </a:pPr>
            <a:r>
              <a:rPr lang="en-US" sz="3400" b="1" dirty="0">
                <a:solidFill>
                  <a:srgbClr val="0F5C6B"/>
                </a:solidFill>
                <a:latin typeface="Cambria" pitchFamily="34" charset="0"/>
                <a:ea typeface="Cambria" pitchFamily="34" charset="-122"/>
                <a:cs typeface="Cambria" pitchFamily="34" charset="-120"/>
              </a:rPr>
              <a:t>KU</a:t>
            </a:r>
            <a:endParaRPr lang="en-US" sz="3400" dirty="0"/>
          </a:p>
        </p:txBody>
      </p:sp>
      <p:sp>
        <p:nvSpPr>
          <p:cNvPr id="24" name="Text 22"/>
          <p:cNvSpPr txBox="1"/>
          <p:nvPr/>
        </p:nvSpPr>
        <p:spPr>
          <a:xfrm>
            <a:off x="7498080" y="2514600"/>
            <a:ext cx="1645920" cy="594360"/>
          </a:xfrm>
          <a:prstGeom prst="rect">
            <a:avLst/>
          </a:prstGeom>
          <a:noFill/>
          <a:ln/>
        </p:spPr>
        <p:txBody>
          <a:bodyPr wrap="square" lIns="0" tIns="0" rIns="0" bIns="0" rtlCol="0" anchor="t"/>
          <a:lstStyle/>
          <a:p>
            <a:pPr marL="0" indent="0">
              <a:buNone/>
            </a:pPr>
            <a:r>
              <a:rPr lang="en-US" sz="1600" b="1" dirty="0">
                <a:solidFill>
                  <a:srgbClr val="1E2A32"/>
                </a:solidFill>
                <a:latin typeface="Calibri" pitchFamily="34" charset="0"/>
                <a:ea typeface="Calibri" pitchFamily="34" charset="-122"/>
                <a:cs typeface="Calibri" pitchFamily="34" charset="-120"/>
              </a:rPr>
              <a:t>Cập nhật kiến thức</a:t>
            </a:r>
            <a:endParaRPr lang="en-US" sz="1600" dirty="0"/>
          </a:p>
        </p:txBody>
      </p:sp>
      <p:sp>
        <p:nvSpPr>
          <p:cNvPr id="25" name="Text 23"/>
          <p:cNvSpPr txBox="1"/>
          <p:nvPr/>
        </p:nvSpPr>
        <p:spPr>
          <a:xfrm>
            <a:off x="7498080" y="3154680"/>
            <a:ext cx="164592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Trả lời theo thông tin mới nhất</a:t>
            </a:r>
            <a:endParaRPr lang="en-US" sz="1300" dirty="0"/>
          </a:p>
        </p:txBody>
      </p:sp>
      <p:sp>
        <p:nvSpPr>
          <p:cNvPr id="26" name="Text 24"/>
          <p:cNvSpPr txBox="1"/>
          <p:nvPr/>
        </p:nvSpPr>
        <p:spPr>
          <a:xfrm>
            <a:off x="7498080" y="4069080"/>
            <a:ext cx="1645920" cy="82296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knowledge-update</a:t>
            </a:r>
            <a:endParaRPr lang="en-US" sz="1200" dirty="0"/>
          </a:p>
        </p:txBody>
      </p:sp>
      <p:sp>
        <p:nvSpPr>
          <p:cNvPr id="27" name="Text 25"/>
          <p:cNvSpPr txBox="1"/>
          <p:nvPr/>
        </p:nvSpPr>
        <p:spPr>
          <a:xfrm>
            <a:off x="7498080" y="5120640"/>
            <a:ext cx="1645920" cy="457200"/>
          </a:xfrm>
          <a:prstGeom prst="rect">
            <a:avLst/>
          </a:prstGeom>
          <a:noFill/>
          <a:ln/>
        </p:spPr>
        <p:txBody>
          <a:bodyPr wrap="square" lIns="0" tIns="0" rIns="0" bIns="0" rtlCol="0" anchor="ctr"/>
          <a:lstStyle/>
          <a:p>
            <a:pPr marL="0" indent="0">
              <a:buNone/>
            </a:pPr>
            <a:r>
              <a:rPr lang="en-US" sz="1800" b="1" dirty="0">
                <a:solidFill>
                  <a:srgbClr val="12232E"/>
                </a:solidFill>
                <a:latin typeface="Calibri" pitchFamily="34" charset="0"/>
                <a:ea typeface="Calibri" pitchFamily="34" charset="-122"/>
                <a:cs typeface="Calibri" pitchFamily="34" charset="-120"/>
              </a:rPr>
              <a:t>78 câu</a:t>
            </a:r>
            <a:endParaRPr lang="en-US" sz="1800" dirty="0"/>
          </a:p>
        </p:txBody>
      </p:sp>
      <p:sp>
        <p:nvSpPr>
          <p:cNvPr id="28" name="Shape 26"/>
          <p:cNvSpPr/>
          <p:nvPr/>
        </p:nvSpPr>
        <p:spPr>
          <a:xfrm>
            <a:off x="9509760" y="1600200"/>
            <a:ext cx="2103120" cy="4297680"/>
          </a:xfrm>
          <a:prstGeom prst="roundRect">
            <a:avLst>
              <a:gd name="adj" fmla="val 3478"/>
            </a:avLst>
          </a:prstGeom>
          <a:solidFill>
            <a:srgbClr val="FBF1E3"/>
          </a:solidFill>
          <a:ln w="9525">
            <a:solidFill>
              <a:srgbClr val="C9D6DA"/>
            </a:solidFill>
            <a:prstDash val="solid"/>
          </a:ln>
        </p:spPr>
        <p:txBody>
          <a:bodyPr/>
          <a:lstStyle/>
          <a:p>
            <a:endParaRPr lang="en-US"/>
          </a:p>
        </p:txBody>
      </p:sp>
      <p:sp>
        <p:nvSpPr>
          <p:cNvPr id="29" name="Text 27"/>
          <p:cNvSpPr txBox="1"/>
          <p:nvPr/>
        </p:nvSpPr>
        <p:spPr>
          <a:xfrm>
            <a:off x="9738360" y="1828800"/>
            <a:ext cx="1645920" cy="640080"/>
          </a:xfrm>
          <a:prstGeom prst="rect">
            <a:avLst/>
          </a:prstGeom>
          <a:noFill/>
          <a:ln/>
        </p:spPr>
        <p:txBody>
          <a:bodyPr wrap="square" lIns="0" tIns="0" rIns="0" bIns="0" rtlCol="0" anchor="ctr"/>
          <a:lstStyle/>
          <a:p>
            <a:pPr marL="0" indent="0">
              <a:buNone/>
            </a:pPr>
            <a:r>
              <a:rPr lang="en-US" sz="3400" b="1" dirty="0">
                <a:solidFill>
                  <a:srgbClr val="D98C1F"/>
                </a:solidFill>
                <a:latin typeface="Cambria" pitchFamily="34" charset="0"/>
                <a:ea typeface="Cambria" pitchFamily="34" charset="-122"/>
                <a:cs typeface="Cambria" pitchFamily="34" charset="-120"/>
              </a:rPr>
              <a:t>ABS</a:t>
            </a:r>
            <a:endParaRPr lang="en-US" sz="3400" dirty="0"/>
          </a:p>
        </p:txBody>
      </p:sp>
      <p:sp>
        <p:nvSpPr>
          <p:cNvPr id="30" name="Text 28"/>
          <p:cNvSpPr txBox="1"/>
          <p:nvPr/>
        </p:nvSpPr>
        <p:spPr>
          <a:xfrm>
            <a:off x="9738360" y="2514600"/>
            <a:ext cx="1645920" cy="594360"/>
          </a:xfrm>
          <a:prstGeom prst="rect">
            <a:avLst/>
          </a:prstGeom>
          <a:noFill/>
          <a:ln/>
        </p:spPr>
        <p:txBody>
          <a:bodyPr wrap="square" lIns="0" tIns="0" rIns="0" bIns="0" rtlCol="0" anchor="t"/>
          <a:lstStyle/>
          <a:p>
            <a:pPr marL="0" indent="0">
              <a:buNone/>
            </a:pPr>
            <a:r>
              <a:rPr lang="en-US" sz="1600" b="1" dirty="0">
                <a:solidFill>
                  <a:srgbClr val="1E2A32"/>
                </a:solidFill>
                <a:latin typeface="Calibri" pitchFamily="34" charset="0"/>
                <a:ea typeface="Calibri" pitchFamily="34" charset="-122"/>
                <a:cs typeface="Calibri" pitchFamily="34" charset="-120"/>
              </a:rPr>
              <a:t>Biết từ chối</a:t>
            </a:r>
            <a:endParaRPr lang="en-US" sz="1600" dirty="0"/>
          </a:p>
        </p:txBody>
      </p:sp>
      <p:sp>
        <p:nvSpPr>
          <p:cNvPr id="31" name="Text 29"/>
          <p:cNvSpPr txBox="1"/>
          <p:nvPr/>
        </p:nvSpPr>
        <p:spPr>
          <a:xfrm>
            <a:off x="9738360" y="3154680"/>
            <a:ext cx="164592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Nói "không biết" khi chưa từng được nhắc</a:t>
            </a:r>
            <a:endParaRPr lang="en-US" sz="1300" dirty="0"/>
          </a:p>
        </p:txBody>
      </p:sp>
      <p:sp>
        <p:nvSpPr>
          <p:cNvPr id="32" name="Text 30"/>
          <p:cNvSpPr txBox="1"/>
          <p:nvPr/>
        </p:nvSpPr>
        <p:spPr>
          <a:xfrm>
            <a:off x="9738360" y="4069080"/>
            <a:ext cx="1645920" cy="82296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hậu tố _abs, rải trong các loại</a:t>
            </a:r>
            <a:endParaRPr lang="en-US" sz="1200" dirty="0"/>
          </a:p>
        </p:txBody>
      </p:sp>
      <p:sp>
        <p:nvSpPr>
          <p:cNvPr id="33" name="Text 31"/>
          <p:cNvSpPr txBox="1"/>
          <p:nvPr/>
        </p:nvSpPr>
        <p:spPr>
          <a:xfrm>
            <a:off x="9738360" y="5120640"/>
            <a:ext cx="1645920" cy="457200"/>
          </a:xfrm>
          <a:prstGeom prst="rect">
            <a:avLst/>
          </a:prstGeom>
          <a:noFill/>
          <a:ln/>
        </p:spPr>
        <p:txBody>
          <a:bodyPr wrap="square" lIns="0" tIns="0" rIns="0" bIns="0" rtlCol="0" anchor="ctr"/>
          <a:lstStyle/>
          <a:p>
            <a:pPr marL="0" indent="0">
              <a:buNone/>
            </a:pPr>
            <a:r>
              <a:rPr lang="en-US" sz="1800" b="1" dirty="0">
                <a:solidFill>
                  <a:srgbClr val="12232E"/>
                </a:solidFill>
                <a:latin typeface="Calibri" pitchFamily="34" charset="0"/>
                <a:ea typeface="Calibri" pitchFamily="34" charset="-122"/>
                <a:cs typeface="Calibri" pitchFamily="34" charset="-120"/>
              </a:rPr>
              <a:t>30 câu</a:t>
            </a:r>
            <a:endParaRPr lang="en-US" sz="1800" dirty="0"/>
          </a:p>
        </p:txBody>
      </p:sp>
      <p:sp>
        <p:nvSpPr>
          <p:cNvPr id="34" name="Text 32"/>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ABS không phải loại câu hỏi riêng → báo cáo hai chiều: 6 loại câu hỏi và nhóm _abs. Số câu cần đếm lại trong notebook.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DỮ LIỆU</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LongMemEval-S — benchmark duy nhất</a:t>
            </a:r>
            <a:endParaRPr lang="en-US" sz="3000" dirty="0"/>
          </a:p>
        </p:txBody>
      </p:sp>
      <p:sp>
        <p:nvSpPr>
          <p:cNvPr id="4" name="Shape 2"/>
          <p:cNvSpPr/>
          <p:nvPr/>
        </p:nvSpPr>
        <p:spPr>
          <a:xfrm>
            <a:off x="548640" y="1600200"/>
            <a:ext cx="3520440" cy="1737360"/>
          </a:xfrm>
          <a:prstGeom prst="roundRect">
            <a:avLst>
              <a:gd name="adj" fmla="val 4211"/>
            </a:avLst>
          </a:prstGeom>
          <a:solidFill>
            <a:srgbClr val="F3F7F8"/>
          </a:solidFill>
          <a:ln w="9525">
            <a:solidFill>
              <a:srgbClr val="C9D6DA"/>
            </a:solidFill>
            <a:prstDash val="solid"/>
          </a:ln>
        </p:spPr>
        <p:txBody>
          <a:bodyPr/>
          <a:lstStyle/>
          <a:p>
            <a:endParaRPr lang="en-US"/>
          </a:p>
        </p:txBody>
      </p:sp>
      <p:sp>
        <p:nvSpPr>
          <p:cNvPr id="5" name="Text 3"/>
          <p:cNvSpPr txBox="1"/>
          <p:nvPr/>
        </p:nvSpPr>
        <p:spPr>
          <a:xfrm>
            <a:off x="822960" y="1737360"/>
            <a:ext cx="3017520" cy="914400"/>
          </a:xfrm>
          <a:prstGeom prst="rect">
            <a:avLst/>
          </a:prstGeom>
          <a:noFill/>
          <a:ln/>
        </p:spPr>
        <p:txBody>
          <a:bodyPr wrap="square" lIns="0" tIns="0" rIns="0" bIns="0" rtlCol="0" anchor="ctr"/>
          <a:lstStyle/>
          <a:p>
            <a:pPr marL="0" indent="0">
              <a:buNone/>
            </a:pPr>
            <a:r>
              <a:rPr lang="en-US" sz="5400" b="1" dirty="0">
                <a:solidFill>
                  <a:srgbClr val="0F5C6B"/>
                </a:solidFill>
                <a:latin typeface="Cambria" pitchFamily="34" charset="0"/>
                <a:ea typeface="Cambria" pitchFamily="34" charset="-122"/>
                <a:cs typeface="Cambria" pitchFamily="34" charset="-120"/>
              </a:rPr>
              <a:t>500</a:t>
            </a:r>
            <a:endParaRPr lang="en-US" sz="5400" dirty="0"/>
          </a:p>
        </p:txBody>
      </p:sp>
      <p:sp>
        <p:nvSpPr>
          <p:cNvPr id="6" name="Text 4"/>
          <p:cNvSpPr txBox="1"/>
          <p:nvPr/>
        </p:nvSpPr>
        <p:spPr>
          <a:xfrm>
            <a:off x="822960" y="2697480"/>
            <a:ext cx="301752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câu hỏi</a:t>
            </a:r>
            <a:endParaRPr lang="en-US" sz="1600" dirty="0"/>
          </a:p>
        </p:txBody>
      </p:sp>
      <p:sp>
        <p:nvSpPr>
          <p:cNvPr id="7" name="Shape 5"/>
          <p:cNvSpPr/>
          <p:nvPr/>
        </p:nvSpPr>
        <p:spPr>
          <a:xfrm>
            <a:off x="4297680" y="1600200"/>
            <a:ext cx="3520440" cy="1737360"/>
          </a:xfrm>
          <a:prstGeom prst="roundRect">
            <a:avLst>
              <a:gd name="adj" fmla="val 4211"/>
            </a:avLst>
          </a:prstGeom>
          <a:solidFill>
            <a:srgbClr val="F3F7F8"/>
          </a:solidFill>
          <a:ln w="9525">
            <a:solidFill>
              <a:srgbClr val="C9D6DA"/>
            </a:solidFill>
            <a:prstDash val="solid"/>
          </a:ln>
        </p:spPr>
        <p:txBody>
          <a:bodyPr/>
          <a:lstStyle/>
          <a:p>
            <a:endParaRPr lang="en-US"/>
          </a:p>
        </p:txBody>
      </p:sp>
      <p:sp>
        <p:nvSpPr>
          <p:cNvPr id="8" name="Text 6"/>
          <p:cNvSpPr txBox="1"/>
          <p:nvPr/>
        </p:nvSpPr>
        <p:spPr>
          <a:xfrm>
            <a:off x="4572000" y="1737360"/>
            <a:ext cx="3017520" cy="914400"/>
          </a:xfrm>
          <a:prstGeom prst="rect">
            <a:avLst/>
          </a:prstGeom>
          <a:noFill/>
          <a:ln/>
        </p:spPr>
        <p:txBody>
          <a:bodyPr wrap="square" lIns="0" tIns="0" rIns="0" bIns="0" rtlCol="0" anchor="ctr"/>
          <a:lstStyle/>
          <a:p>
            <a:pPr marL="0" indent="0">
              <a:buNone/>
            </a:pPr>
            <a:r>
              <a:rPr lang="en-US" sz="5400" b="1" dirty="0">
                <a:solidFill>
                  <a:srgbClr val="0F5C6B"/>
                </a:solidFill>
                <a:latin typeface="Cambria" pitchFamily="34" charset="0"/>
                <a:ea typeface="Cambria" pitchFamily="34" charset="-122"/>
                <a:cs typeface="Cambria" pitchFamily="34" charset="-120"/>
              </a:rPr>
              <a:t>~115K</a:t>
            </a:r>
            <a:endParaRPr lang="en-US" sz="5400" dirty="0"/>
          </a:p>
        </p:txBody>
      </p:sp>
      <p:sp>
        <p:nvSpPr>
          <p:cNvPr id="9" name="Text 7"/>
          <p:cNvSpPr txBox="1"/>
          <p:nvPr/>
        </p:nvSpPr>
        <p:spPr>
          <a:xfrm>
            <a:off x="4572000" y="2697480"/>
            <a:ext cx="301752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token lịch sử mỗi câu</a:t>
            </a:r>
            <a:endParaRPr lang="en-US" sz="1600" dirty="0"/>
          </a:p>
        </p:txBody>
      </p:sp>
      <p:sp>
        <p:nvSpPr>
          <p:cNvPr id="10" name="Shape 8"/>
          <p:cNvSpPr/>
          <p:nvPr/>
        </p:nvSpPr>
        <p:spPr>
          <a:xfrm>
            <a:off x="8046720" y="1600200"/>
            <a:ext cx="3520440" cy="1737360"/>
          </a:xfrm>
          <a:prstGeom prst="roundRect">
            <a:avLst>
              <a:gd name="adj" fmla="val 4211"/>
            </a:avLst>
          </a:prstGeom>
          <a:solidFill>
            <a:srgbClr val="F3F7F8"/>
          </a:solidFill>
          <a:ln w="9525">
            <a:solidFill>
              <a:srgbClr val="C9D6DA"/>
            </a:solidFill>
            <a:prstDash val="solid"/>
          </a:ln>
        </p:spPr>
        <p:txBody>
          <a:bodyPr/>
          <a:lstStyle/>
          <a:p>
            <a:endParaRPr lang="en-US"/>
          </a:p>
        </p:txBody>
      </p:sp>
      <p:sp>
        <p:nvSpPr>
          <p:cNvPr id="11" name="Text 9"/>
          <p:cNvSpPr txBox="1"/>
          <p:nvPr/>
        </p:nvSpPr>
        <p:spPr>
          <a:xfrm>
            <a:off x="8321040" y="1737360"/>
            <a:ext cx="3017520" cy="914400"/>
          </a:xfrm>
          <a:prstGeom prst="rect">
            <a:avLst/>
          </a:prstGeom>
          <a:noFill/>
          <a:ln/>
        </p:spPr>
        <p:txBody>
          <a:bodyPr wrap="square" lIns="0" tIns="0" rIns="0" bIns="0" rtlCol="0" anchor="ctr"/>
          <a:lstStyle/>
          <a:p>
            <a:pPr marL="0" indent="0">
              <a:buNone/>
            </a:pPr>
            <a:r>
              <a:rPr lang="en-US" sz="5400" b="1" dirty="0">
                <a:solidFill>
                  <a:srgbClr val="0F5C6B"/>
                </a:solidFill>
                <a:latin typeface="Cambria" pitchFamily="34" charset="0"/>
                <a:ea typeface="Cambria" pitchFamily="34" charset="-122"/>
                <a:cs typeface="Cambria" pitchFamily="34" charset="-120"/>
              </a:rPr>
              <a:t>~40</a:t>
            </a:r>
            <a:endParaRPr lang="en-US" sz="5400" dirty="0"/>
          </a:p>
        </p:txBody>
      </p:sp>
      <p:sp>
        <p:nvSpPr>
          <p:cNvPr id="12" name="Text 10"/>
          <p:cNvSpPr txBox="1"/>
          <p:nvPr/>
        </p:nvSpPr>
        <p:spPr>
          <a:xfrm>
            <a:off x="8321040" y="2697480"/>
            <a:ext cx="301752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phiên hội thoại mỗi câu</a:t>
            </a:r>
            <a:endParaRPr lang="en-US" sz="1600" dirty="0"/>
          </a:p>
        </p:txBody>
      </p:sp>
      <p:sp>
        <p:nvSpPr>
          <p:cNvPr id="13" name="Text 11"/>
          <p:cNvSpPr txBox="1"/>
          <p:nvPr/>
        </p:nvSpPr>
        <p:spPr>
          <a:xfrm>
            <a:off x="548640" y="3657600"/>
            <a:ext cx="5486400" cy="365760"/>
          </a:xfrm>
          <a:prstGeom prst="rect">
            <a:avLst/>
          </a:prstGeom>
          <a:noFill/>
          <a:ln/>
        </p:spPr>
        <p:txBody>
          <a:bodyPr wrap="square" lIns="0" tIns="0" rIns="0" bIns="0" rtlCol="0" anchor="ctr"/>
          <a:lstStyle/>
          <a:p>
            <a:pPr marL="0" indent="0">
              <a:buNone/>
            </a:pPr>
            <a:r>
              <a:rPr lang="en-US" sz="1800" b="1" dirty="0">
                <a:solidFill>
                  <a:srgbClr val="12232E"/>
                </a:solidFill>
                <a:latin typeface="Cambria" pitchFamily="34" charset="0"/>
                <a:ea typeface="Cambria" pitchFamily="34" charset="-122"/>
                <a:cs typeface="Cambria" pitchFamily="34" charset="-120"/>
              </a:rPr>
              <a:t>Trường dữ liệu sử dụng</a:t>
            </a:r>
            <a:endParaRPr lang="en-US" sz="1800" dirty="0"/>
          </a:p>
        </p:txBody>
      </p:sp>
      <p:sp>
        <p:nvSpPr>
          <p:cNvPr id="14" name="Shape 12"/>
          <p:cNvSpPr/>
          <p:nvPr/>
        </p:nvSpPr>
        <p:spPr>
          <a:xfrm>
            <a:off x="548640" y="4160520"/>
            <a:ext cx="2606040" cy="457200"/>
          </a:xfrm>
          <a:prstGeom prst="roundRect">
            <a:avLst>
              <a:gd name="adj" fmla="val 16000"/>
            </a:avLst>
          </a:prstGeom>
          <a:solidFill>
            <a:srgbClr val="E6F0F2"/>
          </a:solidFill>
          <a:ln w="12700">
            <a:solidFill>
              <a:srgbClr val="E6F0F2"/>
            </a:solidFill>
            <a:prstDash val="solid"/>
          </a:ln>
        </p:spPr>
        <p:txBody>
          <a:bodyPr/>
          <a:lstStyle/>
          <a:p>
            <a:endParaRPr lang="en-US"/>
          </a:p>
        </p:txBody>
      </p:sp>
      <p:sp>
        <p:nvSpPr>
          <p:cNvPr id="15" name="Text 13"/>
          <p:cNvSpPr txBox="1"/>
          <p:nvPr/>
        </p:nvSpPr>
        <p:spPr>
          <a:xfrm>
            <a:off x="548640" y="4160520"/>
            <a:ext cx="2606040" cy="457200"/>
          </a:xfrm>
          <a:prstGeom prst="rect">
            <a:avLst/>
          </a:prstGeom>
          <a:noFill/>
          <a:ln/>
        </p:spPr>
        <p:txBody>
          <a:bodyPr wrap="square" lIns="0" tIns="0" rIns="0" bIns="0" rtlCol="0" anchor="ctr"/>
          <a:lstStyle/>
          <a:p>
            <a:pPr marL="0" indent="0" algn="ctr">
              <a:buNone/>
            </a:pPr>
            <a:r>
              <a:rPr lang="en-US" sz="1300" dirty="0">
                <a:solidFill>
                  <a:srgbClr val="1E2A32"/>
                </a:solidFill>
                <a:latin typeface="Courier New" pitchFamily="34" charset="0"/>
                <a:ea typeface="Courier New" pitchFamily="34" charset="-122"/>
                <a:cs typeface="Courier New" pitchFamily="34" charset="-120"/>
              </a:rPr>
              <a:t>question_id</a:t>
            </a:r>
            <a:endParaRPr lang="en-US" sz="1300" dirty="0"/>
          </a:p>
        </p:txBody>
      </p:sp>
      <p:sp>
        <p:nvSpPr>
          <p:cNvPr id="16" name="Shape 14"/>
          <p:cNvSpPr/>
          <p:nvPr/>
        </p:nvSpPr>
        <p:spPr>
          <a:xfrm>
            <a:off x="3337560" y="4160520"/>
            <a:ext cx="2606040" cy="457200"/>
          </a:xfrm>
          <a:prstGeom prst="roundRect">
            <a:avLst>
              <a:gd name="adj" fmla="val 16000"/>
            </a:avLst>
          </a:prstGeom>
          <a:solidFill>
            <a:srgbClr val="E6F0F2"/>
          </a:solidFill>
          <a:ln w="12700">
            <a:solidFill>
              <a:srgbClr val="E6F0F2"/>
            </a:solidFill>
            <a:prstDash val="solid"/>
          </a:ln>
        </p:spPr>
        <p:txBody>
          <a:bodyPr/>
          <a:lstStyle/>
          <a:p>
            <a:endParaRPr lang="en-US"/>
          </a:p>
        </p:txBody>
      </p:sp>
      <p:sp>
        <p:nvSpPr>
          <p:cNvPr id="17" name="Text 15"/>
          <p:cNvSpPr txBox="1"/>
          <p:nvPr/>
        </p:nvSpPr>
        <p:spPr>
          <a:xfrm>
            <a:off x="3337560" y="4160520"/>
            <a:ext cx="2606040" cy="457200"/>
          </a:xfrm>
          <a:prstGeom prst="rect">
            <a:avLst/>
          </a:prstGeom>
          <a:noFill/>
          <a:ln/>
        </p:spPr>
        <p:txBody>
          <a:bodyPr wrap="square" lIns="0" tIns="0" rIns="0" bIns="0" rtlCol="0" anchor="ctr"/>
          <a:lstStyle/>
          <a:p>
            <a:pPr marL="0" indent="0" algn="ctr">
              <a:buNone/>
            </a:pPr>
            <a:r>
              <a:rPr lang="en-US" sz="1300" dirty="0">
                <a:solidFill>
                  <a:srgbClr val="1E2A32"/>
                </a:solidFill>
                <a:latin typeface="Courier New" pitchFamily="34" charset="0"/>
                <a:ea typeface="Courier New" pitchFamily="34" charset="-122"/>
                <a:cs typeface="Courier New" pitchFamily="34" charset="-120"/>
              </a:rPr>
              <a:t>question_type</a:t>
            </a:r>
            <a:endParaRPr lang="en-US" sz="1300" dirty="0"/>
          </a:p>
        </p:txBody>
      </p:sp>
      <p:sp>
        <p:nvSpPr>
          <p:cNvPr id="18" name="Shape 16"/>
          <p:cNvSpPr/>
          <p:nvPr/>
        </p:nvSpPr>
        <p:spPr>
          <a:xfrm>
            <a:off x="6126480" y="4160520"/>
            <a:ext cx="2606040" cy="457200"/>
          </a:xfrm>
          <a:prstGeom prst="roundRect">
            <a:avLst>
              <a:gd name="adj" fmla="val 16000"/>
            </a:avLst>
          </a:prstGeom>
          <a:solidFill>
            <a:srgbClr val="E6F0F2"/>
          </a:solidFill>
          <a:ln w="12700">
            <a:solidFill>
              <a:srgbClr val="E6F0F2"/>
            </a:solidFill>
            <a:prstDash val="solid"/>
          </a:ln>
        </p:spPr>
        <p:txBody>
          <a:bodyPr/>
          <a:lstStyle/>
          <a:p>
            <a:endParaRPr lang="en-US"/>
          </a:p>
        </p:txBody>
      </p:sp>
      <p:sp>
        <p:nvSpPr>
          <p:cNvPr id="19" name="Text 17"/>
          <p:cNvSpPr txBox="1"/>
          <p:nvPr/>
        </p:nvSpPr>
        <p:spPr>
          <a:xfrm>
            <a:off x="6126480" y="4160520"/>
            <a:ext cx="2606040" cy="457200"/>
          </a:xfrm>
          <a:prstGeom prst="rect">
            <a:avLst/>
          </a:prstGeom>
          <a:noFill/>
          <a:ln/>
        </p:spPr>
        <p:txBody>
          <a:bodyPr wrap="square" lIns="0" tIns="0" rIns="0" bIns="0" rtlCol="0" anchor="ctr"/>
          <a:lstStyle/>
          <a:p>
            <a:pPr marL="0" indent="0" algn="ctr">
              <a:buNone/>
            </a:pPr>
            <a:r>
              <a:rPr lang="en-US" sz="1300" dirty="0">
                <a:solidFill>
                  <a:srgbClr val="1E2A32"/>
                </a:solidFill>
                <a:latin typeface="Courier New" pitchFamily="34" charset="0"/>
                <a:ea typeface="Courier New" pitchFamily="34" charset="-122"/>
                <a:cs typeface="Courier New" pitchFamily="34" charset="-120"/>
              </a:rPr>
              <a:t>question</a:t>
            </a:r>
            <a:endParaRPr lang="en-US" sz="1300" dirty="0"/>
          </a:p>
        </p:txBody>
      </p:sp>
      <p:sp>
        <p:nvSpPr>
          <p:cNvPr id="20" name="Shape 18"/>
          <p:cNvSpPr/>
          <p:nvPr/>
        </p:nvSpPr>
        <p:spPr>
          <a:xfrm>
            <a:off x="8915400" y="4160520"/>
            <a:ext cx="2606040" cy="457200"/>
          </a:xfrm>
          <a:prstGeom prst="roundRect">
            <a:avLst>
              <a:gd name="adj" fmla="val 16000"/>
            </a:avLst>
          </a:prstGeom>
          <a:solidFill>
            <a:srgbClr val="E6F0F2"/>
          </a:solidFill>
          <a:ln w="12700">
            <a:solidFill>
              <a:srgbClr val="E6F0F2"/>
            </a:solidFill>
            <a:prstDash val="solid"/>
          </a:ln>
        </p:spPr>
        <p:txBody>
          <a:bodyPr/>
          <a:lstStyle/>
          <a:p>
            <a:endParaRPr lang="en-US"/>
          </a:p>
        </p:txBody>
      </p:sp>
      <p:sp>
        <p:nvSpPr>
          <p:cNvPr id="21" name="Text 19"/>
          <p:cNvSpPr txBox="1"/>
          <p:nvPr/>
        </p:nvSpPr>
        <p:spPr>
          <a:xfrm>
            <a:off x="8915400" y="4160520"/>
            <a:ext cx="2606040" cy="457200"/>
          </a:xfrm>
          <a:prstGeom prst="rect">
            <a:avLst/>
          </a:prstGeom>
          <a:noFill/>
          <a:ln/>
        </p:spPr>
        <p:txBody>
          <a:bodyPr wrap="square" lIns="0" tIns="0" rIns="0" bIns="0" rtlCol="0" anchor="ctr"/>
          <a:lstStyle/>
          <a:p>
            <a:pPr marL="0" indent="0" algn="ctr">
              <a:buNone/>
            </a:pPr>
            <a:r>
              <a:rPr lang="en-US" sz="1300" dirty="0">
                <a:solidFill>
                  <a:srgbClr val="1E2A32"/>
                </a:solidFill>
                <a:latin typeface="Courier New" pitchFamily="34" charset="0"/>
                <a:ea typeface="Courier New" pitchFamily="34" charset="-122"/>
                <a:cs typeface="Courier New" pitchFamily="34" charset="-120"/>
              </a:rPr>
              <a:t>answer</a:t>
            </a:r>
            <a:endParaRPr lang="en-US" sz="1300" dirty="0"/>
          </a:p>
        </p:txBody>
      </p:sp>
      <p:sp>
        <p:nvSpPr>
          <p:cNvPr id="22" name="Shape 20"/>
          <p:cNvSpPr/>
          <p:nvPr/>
        </p:nvSpPr>
        <p:spPr>
          <a:xfrm>
            <a:off x="548640" y="4754880"/>
            <a:ext cx="2606040" cy="457200"/>
          </a:xfrm>
          <a:prstGeom prst="roundRect">
            <a:avLst>
              <a:gd name="adj" fmla="val 16000"/>
            </a:avLst>
          </a:prstGeom>
          <a:solidFill>
            <a:srgbClr val="E6F0F2"/>
          </a:solidFill>
          <a:ln w="12700">
            <a:solidFill>
              <a:srgbClr val="E6F0F2"/>
            </a:solidFill>
            <a:prstDash val="solid"/>
          </a:ln>
        </p:spPr>
        <p:txBody>
          <a:bodyPr/>
          <a:lstStyle/>
          <a:p>
            <a:endParaRPr lang="en-US"/>
          </a:p>
        </p:txBody>
      </p:sp>
      <p:sp>
        <p:nvSpPr>
          <p:cNvPr id="23" name="Text 21"/>
          <p:cNvSpPr txBox="1"/>
          <p:nvPr/>
        </p:nvSpPr>
        <p:spPr>
          <a:xfrm>
            <a:off x="548640" y="4754880"/>
            <a:ext cx="2606040" cy="457200"/>
          </a:xfrm>
          <a:prstGeom prst="rect">
            <a:avLst/>
          </a:prstGeom>
          <a:noFill/>
          <a:ln/>
        </p:spPr>
        <p:txBody>
          <a:bodyPr wrap="square" lIns="0" tIns="0" rIns="0" bIns="0" rtlCol="0" anchor="ctr"/>
          <a:lstStyle/>
          <a:p>
            <a:pPr marL="0" indent="0" algn="ctr">
              <a:buNone/>
            </a:pPr>
            <a:r>
              <a:rPr lang="en-US" sz="1300" dirty="0">
                <a:solidFill>
                  <a:srgbClr val="1E2A32"/>
                </a:solidFill>
                <a:latin typeface="Courier New" pitchFamily="34" charset="0"/>
                <a:ea typeface="Courier New" pitchFamily="34" charset="-122"/>
                <a:cs typeface="Courier New" pitchFamily="34" charset="-120"/>
              </a:rPr>
              <a:t>question_date</a:t>
            </a:r>
            <a:endParaRPr lang="en-US" sz="1300" dirty="0"/>
          </a:p>
        </p:txBody>
      </p:sp>
      <p:sp>
        <p:nvSpPr>
          <p:cNvPr id="24" name="Shape 22"/>
          <p:cNvSpPr/>
          <p:nvPr/>
        </p:nvSpPr>
        <p:spPr>
          <a:xfrm>
            <a:off x="3337560" y="4754880"/>
            <a:ext cx="2606040" cy="457200"/>
          </a:xfrm>
          <a:prstGeom prst="roundRect">
            <a:avLst>
              <a:gd name="adj" fmla="val 16000"/>
            </a:avLst>
          </a:prstGeom>
          <a:solidFill>
            <a:srgbClr val="E6F0F2"/>
          </a:solidFill>
          <a:ln w="12700">
            <a:solidFill>
              <a:srgbClr val="E6F0F2"/>
            </a:solidFill>
            <a:prstDash val="solid"/>
          </a:ln>
        </p:spPr>
        <p:txBody>
          <a:bodyPr/>
          <a:lstStyle/>
          <a:p>
            <a:endParaRPr lang="en-US"/>
          </a:p>
        </p:txBody>
      </p:sp>
      <p:sp>
        <p:nvSpPr>
          <p:cNvPr id="25" name="Text 23"/>
          <p:cNvSpPr txBox="1"/>
          <p:nvPr/>
        </p:nvSpPr>
        <p:spPr>
          <a:xfrm>
            <a:off x="3337560" y="4754880"/>
            <a:ext cx="2606040" cy="457200"/>
          </a:xfrm>
          <a:prstGeom prst="rect">
            <a:avLst/>
          </a:prstGeom>
          <a:noFill/>
          <a:ln/>
        </p:spPr>
        <p:txBody>
          <a:bodyPr wrap="square" lIns="0" tIns="0" rIns="0" bIns="0" rtlCol="0" anchor="ctr"/>
          <a:lstStyle/>
          <a:p>
            <a:pPr marL="0" indent="0" algn="ctr">
              <a:buNone/>
            </a:pPr>
            <a:r>
              <a:rPr lang="en-US" sz="1300" dirty="0">
                <a:solidFill>
                  <a:srgbClr val="1E2A32"/>
                </a:solidFill>
                <a:latin typeface="Courier New" pitchFamily="34" charset="0"/>
                <a:ea typeface="Courier New" pitchFamily="34" charset="-122"/>
                <a:cs typeface="Courier New" pitchFamily="34" charset="-120"/>
              </a:rPr>
              <a:t>haystack_sessions</a:t>
            </a:r>
            <a:endParaRPr lang="en-US" sz="1300" dirty="0"/>
          </a:p>
        </p:txBody>
      </p:sp>
      <p:sp>
        <p:nvSpPr>
          <p:cNvPr id="26" name="Shape 24"/>
          <p:cNvSpPr/>
          <p:nvPr/>
        </p:nvSpPr>
        <p:spPr>
          <a:xfrm>
            <a:off x="6126480" y="4754880"/>
            <a:ext cx="2606040" cy="457200"/>
          </a:xfrm>
          <a:prstGeom prst="roundRect">
            <a:avLst>
              <a:gd name="adj" fmla="val 16000"/>
            </a:avLst>
          </a:prstGeom>
          <a:solidFill>
            <a:srgbClr val="E6F0F2"/>
          </a:solidFill>
          <a:ln w="12700">
            <a:solidFill>
              <a:srgbClr val="E6F0F2"/>
            </a:solidFill>
            <a:prstDash val="solid"/>
          </a:ln>
        </p:spPr>
        <p:txBody>
          <a:bodyPr/>
          <a:lstStyle/>
          <a:p>
            <a:endParaRPr lang="en-US"/>
          </a:p>
        </p:txBody>
      </p:sp>
      <p:sp>
        <p:nvSpPr>
          <p:cNvPr id="27" name="Text 25"/>
          <p:cNvSpPr txBox="1"/>
          <p:nvPr/>
        </p:nvSpPr>
        <p:spPr>
          <a:xfrm>
            <a:off x="6126480" y="4754880"/>
            <a:ext cx="2606040" cy="457200"/>
          </a:xfrm>
          <a:prstGeom prst="rect">
            <a:avLst/>
          </a:prstGeom>
          <a:noFill/>
          <a:ln/>
        </p:spPr>
        <p:txBody>
          <a:bodyPr wrap="square" lIns="0" tIns="0" rIns="0" bIns="0" rtlCol="0" anchor="ctr"/>
          <a:lstStyle/>
          <a:p>
            <a:pPr marL="0" indent="0" algn="ctr">
              <a:buNone/>
            </a:pPr>
            <a:r>
              <a:rPr lang="en-US" sz="1300" dirty="0">
                <a:solidFill>
                  <a:srgbClr val="1E2A32"/>
                </a:solidFill>
                <a:latin typeface="Courier New" pitchFamily="34" charset="0"/>
                <a:ea typeface="Courier New" pitchFamily="34" charset="-122"/>
                <a:cs typeface="Courier New" pitchFamily="34" charset="-120"/>
              </a:rPr>
              <a:t>haystack_dates</a:t>
            </a:r>
            <a:endParaRPr lang="en-US" sz="1300" dirty="0"/>
          </a:p>
        </p:txBody>
      </p:sp>
      <p:sp>
        <p:nvSpPr>
          <p:cNvPr id="28" name="Shape 26"/>
          <p:cNvSpPr/>
          <p:nvPr/>
        </p:nvSpPr>
        <p:spPr>
          <a:xfrm>
            <a:off x="8915400" y="4754880"/>
            <a:ext cx="2606040" cy="457200"/>
          </a:xfrm>
          <a:prstGeom prst="roundRect">
            <a:avLst>
              <a:gd name="adj" fmla="val 16000"/>
            </a:avLst>
          </a:prstGeom>
          <a:solidFill>
            <a:srgbClr val="FBF1E3"/>
          </a:solidFill>
          <a:ln w="12700">
            <a:solidFill>
              <a:srgbClr val="D98C1F"/>
            </a:solidFill>
            <a:prstDash val="solid"/>
          </a:ln>
        </p:spPr>
        <p:txBody>
          <a:bodyPr/>
          <a:lstStyle/>
          <a:p>
            <a:endParaRPr lang="en-US"/>
          </a:p>
        </p:txBody>
      </p:sp>
      <p:sp>
        <p:nvSpPr>
          <p:cNvPr id="29" name="Text 27"/>
          <p:cNvSpPr txBox="1"/>
          <p:nvPr/>
        </p:nvSpPr>
        <p:spPr>
          <a:xfrm>
            <a:off x="8915400" y="4754880"/>
            <a:ext cx="2606040" cy="457200"/>
          </a:xfrm>
          <a:prstGeom prst="rect">
            <a:avLst/>
          </a:prstGeom>
          <a:noFill/>
          <a:ln/>
        </p:spPr>
        <p:txBody>
          <a:bodyPr wrap="square" lIns="0" tIns="0" rIns="0" bIns="0" rtlCol="0" anchor="ctr"/>
          <a:lstStyle/>
          <a:p>
            <a:pPr marL="0" indent="0" algn="ctr">
              <a:buNone/>
            </a:pPr>
            <a:r>
              <a:rPr lang="en-US" sz="1300" dirty="0">
                <a:solidFill>
                  <a:srgbClr val="1E2A32"/>
                </a:solidFill>
                <a:latin typeface="Courier New" pitchFamily="34" charset="0"/>
                <a:ea typeface="Courier New" pitchFamily="34" charset="-122"/>
                <a:cs typeface="Courier New" pitchFamily="34" charset="-120"/>
              </a:rPr>
              <a:t>answer_session_ids</a:t>
            </a:r>
            <a:endParaRPr lang="en-US" sz="1300" dirty="0"/>
          </a:p>
        </p:txBody>
      </p:sp>
      <p:sp>
        <p:nvSpPr>
          <p:cNvPr id="30" name="Text 28"/>
          <p:cNvSpPr txBox="1"/>
          <p:nvPr/>
        </p:nvSpPr>
        <p:spPr>
          <a:xfrm>
            <a:off x="548640" y="5440680"/>
            <a:ext cx="11064240" cy="548640"/>
          </a:xfrm>
          <a:prstGeom prst="rect">
            <a:avLst/>
          </a:prstGeom>
          <a:noFill/>
          <a:ln/>
        </p:spPr>
        <p:txBody>
          <a:bodyPr wrap="square" lIns="0" tIns="0" rIns="0" bIns="0" rtlCol="0" anchor="ctr"/>
          <a:lstStyle/>
          <a:p>
            <a:pPr marL="0" indent="0">
              <a:buNone/>
            </a:pPr>
            <a:r>
              <a:rPr lang="en-US" sz="1400" dirty="0">
                <a:solidFill>
                  <a:srgbClr val="1E2A32"/>
                </a:solidFill>
                <a:latin typeface="Calibri" pitchFamily="34" charset="0"/>
                <a:ea typeface="Calibri" pitchFamily="34" charset="-122"/>
                <a:cs typeface="Calibri" pitchFamily="34" charset="-120"/>
              </a:rPr>
              <a:t>answer_session_ids cho biết phiên nào chứa bằng chứng → đo được recall truy xuất, tách lỗi "không tìm thấy" khỏi lỗi "suy luận sai".</a:t>
            </a:r>
            <a:endParaRPr lang="en-US" sz="1400" dirty="0"/>
          </a:p>
        </p:txBody>
      </p:sp>
      <p:sp>
        <p:nvSpPr>
          <p:cNvPr id="31" name="Text 29"/>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Wu et al., LongMemEval, ICLR 2025. Mỗi câu hỏi có haystack riêng.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KIẾN TRÚC</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Tổng quan: hai luồng ghi và đọc quanh một đồ thị SQLite</a:t>
            </a:r>
            <a:endParaRPr lang="en-US" sz="3000" dirty="0"/>
          </a:p>
        </p:txBody>
      </p:sp>
      <p:sp>
        <p:nvSpPr>
          <p:cNvPr id="4" name="Text 2"/>
          <p:cNvSpPr txBox="1"/>
          <p:nvPr/>
        </p:nvSpPr>
        <p:spPr>
          <a:xfrm>
            <a:off x="548640" y="1463040"/>
            <a:ext cx="27432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LUỒNG GHI</a:t>
            </a:r>
            <a:endParaRPr lang="en-US" sz="1200" dirty="0"/>
          </a:p>
        </p:txBody>
      </p:sp>
      <p:sp>
        <p:nvSpPr>
          <p:cNvPr id="5" name="Shape 3"/>
          <p:cNvSpPr/>
          <p:nvPr/>
        </p:nvSpPr>
        <p:spPr>
          <a:xfrm>
            <a:off x="548640" y="1828800"/>
            <a:ext cx="2011680" cy="1143000"/>
          </a:xfrm>
          <a:prstGeom prst="roundRect">
            <a:avLst>
              <a:gd name="adj" fmla="val 6400"/>
            </a:avLst>
          </a:prstGeom>
          <a:solidFill>
            <a:srgbClr val="F3F7F8"/>
          </a:solidFill>
          <a:ln w="12700">
            <a:solidFill>
              <a:srgbClr val="F3F7F8"/>
            </a:solidFill>
            <a:prstDash val="solid"/>
          </a:ln>
        </p:spPr>
        <p:txBody>
          <a:bodyPr/>
          <a:lstStyle/>
          <a:p>
            <a:endParaRPr lang="en-US"/>
          </a:p>
        </p:txBody>
      </p:sp>
      <p:sp>
        <p:nvSpPr>
          <p:cNvPr id="6" name="Text 4"/>
          <p:cNvSpPr txBox="1"/>
          <p:nvPr/>
        </p:nvSpPr>
        <p:spPr>
          <a:xfrm>
            <a:off x="640080" y="1938528"/>
            <a:ext cx="1828800" cy="411480"/>
          </a:xfrm>
          <a:prstGeom prst="rect">
            <a:avLst/>
          </a:prstGeom>
          <a:noFill/>
          <a:ln/>
        </p:spPr>
        <p:txBody>
          <a:bodyPr wrap="square" lIns="0" tIns="0" rIns="0" bIns="0" rtlCol="0" anchor="ctr"/>
          <a:lstStyle/>
          <a:p>
            <a:pPr marL="0" indent="0" algn="ctr">
              <a:buNone/>
            </a:pPr>
            <a:r>
              <a:rPr lang="en-US" sz="1500" b="1" dirty="0">
                <a:solidFill>
                  <a:srgbClr val="1E2A32"/>
                </a:solidFill>
                <a:latin typeface="Calibri" pitchFamily="34" charset="0"/>
                <a:ea typeface="Calibri" pitchFamily="34" charset="-122"/>
                <a:cs typeface="Calibri" pitchFamily="34" charset="-120"/>
              </a:rPr>
              <a:t>Haystack</a:t>
            </a:r>
            <a:endParaRPr lang="en-US" sz="1500" dirty="0"/>
          </a:p>
        </p:txBody>
      </p:sp>
      <p:sp>
        <p:nvSpPr>
          <p:cNvPr id="7" name="Text 5"/>
          <p:cNvSpPr txBox="1"/>
          <p:nvPr/>
        </p:nvSpPr>
        <p:spPr>
          <a:xfrm>
            <a:off x="640080" y="2331720"/>
            <a:ext cx="1828800" cy="548640"/>
          </a:xfrm>
          <a:prstGeom prst="rect">
            <a:avLst/>
          </a:prstGeom>
          <a:noFill/>
          <a:ln/>
        </p:spPr>
        <p:txBody>
          <a:bodyPr wrap="square" lIns="0" tIns="0" rIns="0" bIns="0" rtlCol="0" anchor="t"/>
          <a:lstStyle/>
          <a:p>
            <a:pPr marL="0" indent="0" algn="ctr">
              <a:buNone/>
            </a:pPr>
            <a:r>
              <a:rPr lang="en-US" sz="1200" dirty="0">
                <a:solidFill>
                  <a:srgbClr val="5B6B73"/>
                </a:solidFill>
                <a:latin typeface="Calibri" pitchFamily="34" charset="0"/>
                <a:ea typeface="Calibri" pitchFamily="34" charset="-122"/>
                <a:cs typeface="Calibri" pitchFamily="34" charset="-120"/>
              </a:rPr>
              <a:t>Các phiên hội thoại có ngày</a:t>
            </a:r>
            <a:endParaRPr lang="en-US" sz="1200" dirty="0"/>
          </a:p>
        </p:txBody>
      </p:sp>
      <p:sp>
        <p:nvSpPr>
          <p:cNvPr id="8" name="Shape 6"/>
          <p:cNvSpPr/>
          <p:nvPr/>
        </p:nvSpPr>
        <p:spPr>
          <a:xfrm>
            <a:off x="2834640" y="1828800"/>
            <a:ext cx="2011680" cy="1143000"/>
          </a:xfrm>
          <a:prstGeom prst="roundRect">
            <a:avLst>
              <a:gd name="adj" fmla="val 6400"/>
            </a:avLst>
          </a:prstGeom>
          <a:solidFill>
            <a:srgbClr val="F3F7F8"/>
          </a:solidFill>
          <a:ln w="12700">
            <a:solidFill>
              <a:srgbClr val="F3F7F8"/>
            </a:solidFill>
            <a:prstDash val="solid"/>
          </a:ln>
        </p:spPr>
        <p:txBody>
          <a:bodyPr/>
          <a:lstStyle/>
          <a:p>
            <a:endParaRPr lang="en-US"/>
          </a:p>
        </p:txBody>
      </p:sp>
      <p:sp>
        <p:nvSpPr>
          <p:cNvPr id="9" name="Text 7"/>
          <p:cNvSpPr txBox="1"/>
          <p:nvPr/>
        </p:nvSpPr>
        <p:spPr>
          <a:xfrm>
            <a:off x="2926080" y="1938528"/>
            <a:ext cx="1828800" cy="411480"/>
          </a:xfrm>
          <a:prstGeom prst="rect">
            <a:avLst/>
          </a:prstGeom>
          <a:noFill/>
          <a:ln/>
        </p:spPr>
        <p:txBody>
          <a:bodyPr wrap="square" lIns="0" tIns="0" rIns="0" bIns="0" rtlCol="0" anchor="ctr"/>
          <a:lstStyle/>
          <a:p>
            <a:pPr marL="0" indent="0" algn="ctr">
              <a:buNone/>
            </a:pPr>
            <a:r>
              <a:rPr lang="en-US" sz="1500" b="1" dirty="0">
                <a:solidFill>
                  <a:srgbClr val="1E2A32"/>
                </a:solidFill>
                <a:latin typeface="Calibri" pitchFamily="34" charset="0"/>
                <a:ea typeface="Calibri" pitchFamily="34" charset="-122"/>
                <a:cs typeface="Calibri" pitchFamily="34" charset="-120"/>
              </a:rPr>
              <a:t>Lọc liên quan</a:t>
            </a:r>
            <a:endParaRPr lang="en-US" sz="1500" dirty="0"/>
          </a:p>
        </p:txBody>
      </p:sp>
      <p:sp>
        <p:nvSpPr>
          <p:cNvPr id="10" name="Text 8"/>
          <p:cNvSpPr txBox="1"/>
          <p:nvPr/>
        </p:nvSpPr>
        <p:spPr>
          <a:xfrm>
            <a:off x="2926080" y="2331720"/>
            <a:ext cx="1828800" cy="548640"/>
          </a:xfrm>
          <a:prstGeom prst="rect">
            <a:avLst/>
          </a:prstGeom>
          <a:noFill/>
          <a:ln/>
        </p:spPr>
        <p:txBody>
          <a:bodyPr wrap="square" lIns="0" tIns="0" rIns="0" bIns="0" rtlCol="0" anchor="t"/>
          <a:lstStyle/>
          <a:p>
            <a:pPr algn="ctr"/>
            <a:r>
              <a:rPr lang="en-US" sz="1200" dirty="0">
                <a:solidFill>
                  <a:srgbClr val="5B6B73"/>
                </a:solidFill>
                <a:latin typeface="Calibri" pitchFamily="34" charset="0"/>
                <a:ea typeface="Calibri" pitchFamily="34" charset="-122"/>
                <a:cs typeface="Calibri" pitchFamily="34" charset="-120"/>
              </a:rPr>
              <a:t>Giữ phiên có điểm &gt; ng</a:t>
            </a:r>
            <a:r>
              <a:rPr lang="vi-VN" sz="1200" dirty="0">
                <a:solidFill>
                  <a:srgbClr val="5B6B73"/>
                </a:solidFill>
                <a:latin typeface="Calibri" pitchFamily="34" charset="0"/>
                <a:ea typeface="Calibri" pitchFamily="34" charset="-122"/>
                <a:cs typeface="Calibri" pitchFamily="34" charset="-120"/>
              </a:rPr>
              <a:t>ưỡng</a:t>
            </a:r>
            <a:endParaRPr lang="en-US" sz="1200" dirty="0"/>
          </a:p>
        </p:txBody>
      </p:sp>
      <p:sp>
        <p:nvSpPr>
          <p:cNvPr id="11" name="Shape 9"/>
          <p:cNvSpPr/>
          <p:nvPr/>
        </p:nvSpPr>
        <p:spPr>
          <a:xfrm>
            <a:off x="5120640" y="1828800"/>
            <a:ext cx="2011680" cy="1143000"/>
          </a:xfrm>
          <a:prstGeom prst="roundRect">
            <a:avLst>
              <a:gd name="adj" fmla="val 6400"/>
            </a:avLst>
          </a:prstGeom>
          <a:solidFill>
            <a:srgbClr val="F3F7F8"/>
          </a:solidFill>
          <a:ln w="12700">
            <a:solidFill>
              <a:srgbClr val="F3F7F8"/>
            </a:solidFill>
            <a:prstDash val="solid"/>
          </a:ln>
        </p:spPr>
        <p:txBody>
          <a:bodyPr/>
          <a:lstStyle/>
          <a:p>
            <a:endParaRPr lang="en-US"/>
          </a:p>
        </p:txBody>
      </p:sp>
      <p:sp>
        <p:nvSpPr>
          <p:cNvPr id="12" name="Text 10"/>
          <p:cNvSpPr txBox="1"/>
          <p:nvPr/>
        </p:nvSpPr>
        <p:spPr>
          <a:xfrm>
            <a:off x="5212080" y="1938528"/>
            <a:ext cx="1828800" cy="411480"/>
          </a:xfrm>
          <a:prstGeom prst="rect">
            <a:avLst/>
          </a:prstGeom>
          <a:noFill/>
          <a:ln/>
        </p:spPr>
        <p:txBody>
          <a:bodyPr wrap="square" lIns="0" tIns="0" rIns="0" bIns="0" rtlCol="0" anchor="ctr"/>
          <a:lstStyle/>
          <a:p>
            <a:pPr marL="0" indent="0" algn="ctr">
              <a:buNone/>
            </a:pPr>
            <a:r>
              <a:rPr lang="en-US" sz="1500" b="1" dirty="0">
                <a:solidFill>
                  <a:srgbClr val="1E2A32"/>
                </a:solidFill>
                <a:latin typeface="Calibri" pitchFamily="34" charset="0"/>
                <a:ea typeface="Calibri" pitchFamily="34" charset="-122"/>
                <a:cs typeface="Calibri" pitchFamily="34" charset="-120"/>
              </a:rPr>
              <a:t>Trích xuất</a:t>
            </a:r>
            <a:endParaRPr lang="en-US" sz="1500" dirty="0"/>
          </a:p>
        </p:txBody>
      </p:sp>
      <p:sp>
        <p:nvSpPr>
          <p:cNvPr id="13" name="Text 11"/>
          <p:cNvSpPr txBox="1"/>
          <p:nvPr/>
        </p:nvSpPr>
        <p:spPr>
          <a:xfrm>
            <a:off x="5212080" y="2331720"/>
            <a:ext cx="1828800" cy="548640"/>
          </a:xfrm>
          <a:prstGeom prst="rect">
            <a:avLst/>
          </a:prstGeom>
          <a:noFill/>
          <a:ln/>
        </p:spPr>
        <p:txBody>
          <a:bodyPr wrap="square" lIns="0" tIns="0" rIns="0" bIns="0" rtlCol="0" anchor="t"/>
          <a:lstStyle/>
          <a:p>
            <a:pPr marL="0" indent="0" algn="ctr">
              <a:buNone/>
            </a:pPr>
            <a:r>
              <a:rPr lang="en-US" sz="1200" dirty="0">
                <a:solidFill>
                  <a:srgbClr val="5B6B73"/>
                </a:solidFill>
                <a:latin typeface="Calibri" pitchFamily="34" charset="0"/>
                <a:ea typeface="Calibri" pitchFamily="34" charset="-122"/>
                <a:cs typeface="Calibri" pitchFamily="34" charset="-120"/>
              </a:rPr>
              <a:t>Sự kiện + fact cho mỗi lượt</a:t>
            </a:r>
            <a:endParaRPr lang="en-US" sz="1200" dirty="0"/>
          </a:p>
        </p:txBody>
      </p:sp>
      <p:sp>
        <p:nvSpPr>
          <p:cNvPr id="14" name="Shape 12"/>
          <p:cNvSpPr/>
          <p:nvPr/>
        </p:nvSpPr>
        <p:spPr>
          <a:xfrm>
            <a:off x="7406640" y="1828800"/>
            <a:ext cx="2011680" cy="1143000"/>
          </a:xfrm>
          <a:prstGeom prst="roundRect">
            <a:avLst>
              <a:gd name="adj" fmla="val 6400"/>
            </a:avLst>
          </a:prstGeom>
          <a:solidFill>
            <a:srgbClr val="F3F7F8"/>
          </a:solidFill>
          <a:ln w="12700">
            <a:solidFill>
              <a:srgbClr val="F3F7F8"/>
            </a:solidFill>
            <a:prstDash val="solid"/>
          </a:ln>
        </p:spPr>
        <p:txBody>
          <a:bodyPr/>
          <a:lstStyle/>
          <a:p>
            <a:endParaRPr lang="en-US"/>
          </a:p>
        </p:txBody>
      </p:sp>
      <p:sp>
        <p:nvSpPr>
          <p:cNvPr id="15" name="Text 13"/>
          <p:cNvSpPr txBox="1"/>
          <p:nvPr/>
        </p:nvSpPr>
        <p:spPr>
          <a:xfrm>
            <a:off x="7498080" y="1938528"/>
            <a:ext cx="1828800" cy="411480"/>
          </a:xfrm>
          <a:prstGeom prst="rect">
            <a:avLst/>
          </a:prstGeom>
          <a:noFill/>
          <a:ln/>
        </p:spPr>
        <p:txBody>
          <a:bodyPr wrap="square" lIns="0" tIns="0" rIns="0" bIns="0" rtlCol="0" anchor="ctr"/>
          <a:lstStyle/>
          <a:p>
            <a:pPr marL="0" indent="0" algn="ctr">
              <a:buNone/>
            </a:pPr>
            <a:r>
              <a:rPr lang="en-US" sz="1500" b="1" dirty="0">
                <a:solidFill>
                  <a:srgbClr val="1E2A32"/>
                </a:solidFill>
                <a:latin typeface="Calibri" pitchFamily="34" charset="0"/>
                <a:ea typeface="Calibri" pitchFamily="34" charset="-122"/>
                <a:cs typeface="Calibri" pitchFamily="34" charset="-120"/>
              </a:rPr>
              <a:t>Giải quyết</a:t>
            </a:r>
            <a:endParaRPr lang="en-US" sz="1500" dirty="0"/>
          </a:p>
        </p:txBody>
      </p:sp>
      <p:sp>
        <p:nvSpPr>
          <p:cNvPr id="16" name="Text 14"/>
          <p:cNvSpPr txBox="1"/>
          <p:nvPr/>
        </p:nvSpPr>
        <p:spPr>
          <a:xfrm>
            <a:off x="7498080" y="2331720"/>
            <a:ext cx="1828800" cy="548640"/>
          </a:xfrm>
          <a:prstGeom prst="rect">
            <a:avLst/>
          </a:prstGeom>
          <a:noFill/>
          <a:ln/>
        </p:spPr>
        <p:txBody>
          <a:bodyPr wrap="square" lIns="0" tIns="0" rIns="0" bIns="0" rtlCol="0" anchor="t"/>
          <a:lstStyle/>
          <a:p>
            <a:pPr marL="0" indent="0" algn="ctr">
              <a:buNone/>
            </a:pPr>
            <a:r>
              <a:rPr lang="en-US" sz="1200" dirty="0">
                <a:solidFill>
                  <a:srgbClr val="5B6B73"/>
                </a:solidFill>
                <a:latin typeface="Calibri" pitchFamily="34" charset="0"/>
                <a:ea typeface="Calibri" pitchFamily="34" charset="-122"/>
                <a:cs typeface="Calibri" pitchFamily="34" charset="-120"/>
              </a:rPr>
              <a:t>Thực thể &amp; thuộc tính</a:t>
            </a:r>
            <a:endParaRPr lang="en-US" sz="1200" dirty="0"/>
          </a:p>
        </p:txBody>
      </p:sp>
      <p:sp>
        <p:nvSpPr>
          <p:cNvPr id="17" name="Shape 15"/>
          <p:cNvSpPr/>
          <p:nvPr/>
        </p:nvSpPr>
        <p:spPr>
          <a:xfrm>
            <a:off x="2587752" y="2400300"/>
            <a:ext cx="219456" cy="0"/>
          </a:xfrm>
          <a:prstGeom prst="line">
            <a:avLst/>
          </a:prstGeom>
          <a:noFill/>
          <a:ln w="25400">
            <a:solidFill>
              <a:srgbClr val="2A8A99"/>
            </a:solidFill>
            <a:prstDash val="solid"/>
            <a:tailEnd type="triangle"/>
          </a:ln>
        </p:spPr>
        <p:txBody>
          <a:bodyPr/>
          <a:lstStyle/>
          <a:p>
            <a:endParaRPr lang="en-US"/>
          </a:p>
        </p:txBody>
      </p:sp>
      <p:sp>
        <p:nvSpPr>
          <p:cNvPr id="18" name="Shape 16"/>
          <p:cNvSpPr/>
          <p:nvPr/>
        </p:nvSpPr>
        <p:spPr>
          <a:xfrm>
            <a:off x="4873752" y="2400300"/>
            <a:ext cx="219456" cy="0"/>
          </a:xfrm>
          <a:prstGeom prst="line">
            <a:avLst/>
          </a:prstGeom>
          <a:noFill/>
          <a:ln w="25400">
            <a:solidFill>
              <a:srgbClr val="2A8A99"/>
            </a:solidFill>
            <a:prstDash val="solid"/>
            <a:tailEnd type="triangle"/>
          </a:ln>
        </p:spPr>
        <p:txBody>
          <a:bodyPr/>
          <a:lstStyle/>
          <a:p>
            <a:endParaRPr lang="en-US"/>
          </a:p>
        </p:txBody>
      </p:sp>
      <p:sp>
        <p:nvSpPr>
          <p:cNvPr id="19" name="Shape 17"/>
          <p:cNvSpPr/>
          <p:nvPr/>
        </p:nvSpPr>
        <p:spPr>
          <a:xfrm>
            <a:off x="7159752" y="2400300"/>
            <a:ext cx="219456" cy="0"/>
          </a:xfrm>
          <a:prstGeom prst="line">
            <a:avLst/>
          </a:prstGeom>
          <a:noFill/>
          <a:ln w="25400">
            <a:solidFill>
              <a:srgbClr val="2A8A99"/>
            </a:solidFill>
            <a:prstDash val="solid"/>
            <a:tailEnd type="triangle"/>
          </a:ln>
        </p:spPr>
        <p:txBody>
          <a:bodyPr/>
          <a:lstStyle/>
          <a:p>
            <a:endParaRPr lang="en-US"/>
          </a:p>
        </p:txBody>
      </p:sp>
      <p:sp>
        <p:nvSpPr>
          <p:cNvPr id="20" name="Shape 18"/>
          <p:cNvSpPr/>
          <p:nvPr/>
        </p:nvSpPr>
        <p:spPr>
          <a:xfrm>
            <a:off x="9692640" y="1645920"/>
            <a:ext cx="1965960" cy="3566160"/>
          </a:xfrm>
          <a:prstGeom prst="roundRect">
            <a:avLst>
              <a:gd name="adj" fmla="val 3721"/>
            </a:avLst>
          </a:prstGeom>
          <a:solidFill>
            <a:srgbClr val="0F5C6B"/>
          </a:solidFill>
          <a:ln w="12700">
            <a:solidFill>
              <a:srgbClr val="0F5C6B"/>
            </a:solidFill>
            <a:prstDash val="solid"/>
          </a:ln>
        </p:spPr>
        <p:txBody>
          <a:bodyPr/>
          <a:lstStyle/>
          <a:p>
            <a:endParaRPr lang="en-US"/>
          </a:p>
        </p:txBody>
      </p:sp>
      <p:sp>
        <p:nvSpPr>
          <p:cNvPr id="21" name="Text 19"/>
          <p:cNvSpPr txBox="1"/>
          <p:nvPr/>
        </p:nvSpPr>
        <p:spPr>
          <a:xfrm>
            <a:off x="9784080" y="1755648"/>
            <a:ext cx="17830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SQLite</a:t>
            </a:r>
            <a:endParaRPr lang="en-US" sz="1500" dirty="0"/>
          </a:p>
        </p:txBody>
      </p:sp>
      <p:sp>
        <p:nvSpPr>
          <p:cNvPr id="22" name="Text 20"/>
          <p:cNvSpPr txBox="1"/>
          <p:nvPr/>
        </p:nvSpPr>
        <p:spPr>
          <a:xfrm>
            <a:off x="9784080" y="2148840"/>
            <a:ext cx="1783080" cy="2971800"/>
          </a:xfrm>
          <a:prstGeom prst="rect">
            <a:avLst/>
          </a:prstGeom>
          <a:noFill/>
          <a:ln/>
        </p:spPr>
        <p:txBody>
          <a:bodyPr wrap="square" lIns="0" tIns="0" rIns="0" bIns="0" rtlCol="0" anchor="t"/>
          <a:lstStyle/>
          <a:p>
            <a:pPr marL="0" indent="0" algn="ctr">
              <a:buNone/>
            </a:pPr>
            <a:r>
              <a:rPr lang="en-US" sz="1200" dirty="0">
                <a:solidFill>
                  <a:srgbClr val="D6E6EA"/>
                </a:solidFill>
                <a:latin typeface="Calibri" pitchFamily="34" charset="0"/>
                <a:ea typeface="Calibri" pitchFamily="34" charset="-122"/>
                <a:cs typeface="Calibri" pitchFamily="34" charset="-120"/>
              </a:rPr>
              <a:t>7 bảng đồ thị</a:t>
            </a:r>
            <a:endParaRPr lang="en-US" sz="1200" dirty="0"/>
          </a:p>
          <a:p>
            <a:pPr marL="0" indent="0" algn="ctr">
              <a:buNone/>
            </a:pPr>
            <a:r>
              <a:rPr lang="en-US" sz="1200" dirty="0">
                <a:solidFill>
                  <a:srgbClr val="D6E6EA"/>
                </a:solidFill>
                <a:latin typeface="Calibri" pitchFamily="34" charset="0"/>
                <a:ea typeface="Calibri" pitchFamily="34" charset="-122"/>
                <a:cs typeface="Calibri" pitchFamily="34" charset="-120"/>
              </a:rPr>
              <a:t>append-only</a:t>
            </a:r>
            <a:endParaRPr lang="en-US" sz="1200" dirty="0"/>
          </a:p>
          <a:p>
            <a:pPr marL="0" indent="0" algn="ctr">
              <a:buNone/>
            </a:pPr>
            <a:endParaRPr lang="en-US" sz="1200" dirty="0"/>
          </a:p>
          <a:p>
            <a:pPr marL="0" indent="0" algn="ctr">
              <a:buNone/>
            </a:pPr>
            <a:r>
              <a:rPr lang="en-US" sz="1200" dirty="0">
                <a:solidFill>
                  <a:srgbClr val="D6E6EA"/>
                </a:solidFill>
                <a:latin typeface="Calibri" pitchFamily="34" charset="0"/>
                <a:ea typeface="Calibri" pitchFamily="34" charset="-122"/>
                <a:cs typeface="Calibri" pitchFamily="34" charset="-120"/>
              </a:rPr>
              <a:t>+ chỉ mục vector</a:t>
            </a:r>
            <a:endParaRPr lang="en-US" sz="1200" dirty="0"/>
          </a:p>
          <a:p>
            <a:pPr marL="0" indent="0" algn="ctr">
              <a:buNone/>
            </a:pPr>
            <a:r>
              <a:rPr lang="en-US" sz="1200" dirty="0">
                <a:solidFill>
                  <a:srgbClr val="D6E6EA"/>
                </a:solidFill>
                <a:latin typeface="Calibri" pitchFamily="34" charset="0"/>
                <a:ea typeface="Calibri" pitchFamily="34" charset="-122"/>
                <a:cs typeface="Calibri" pitchFamily="34" charset="-120"/>
              </a:rPr>
              <a:t>+ FTS5</a:t>
            </a:r>
            <a:br>
              <a:rPr lang="en-US" sz="1200" dirty="0">
                <a:solidFill>
                  <a:srgbClr val="D6E6EA"/>
                </a:solidFill>
                <a:latin typeface="Calibri" pitchFamily="34" charset="0"/>
                <a:ea typeface="Calibri" pitchFamily="34" charset="-122"/>
                <a:cs typeface="Calibri" pitchFamily="34" charset="-120"/>
              </a:rPr>
            </a:br>
            <a:r>
              <a:rPr lang="en-US" sz="1200" dirty="0">
                <a:solidFill>
                  <a:srgbClr val="D6E6EA"/>
                </a:solidFill>
                <a:latin typeface="Calibri" pitchFamily="34" charset="0"/>
                <a:ea typeface="Calibri" pitchFamily="34" charset="-122"/>
                <a:cs typeface="Calibri" pitchFamily="34" charset="-120"/>
              </a:rPr>
              <a:t>-&gt; RFF</a:t>
            </a:r>
            <a:endParaRPr lang="en-US" sz="1200" dirty="0"/>
          </a:p>
        </p:txBody>
      </p:sp>
      <p:sp>
        <p:nvSpPr>
          <p:cNvPr id="23" name="Shape 21"/>
          <p:cNvSpPr/>
          <p:nvPr/>
        </p:nvSpPr>
        <p:spPr>
          <a:xfrm>
            <a:off x="9445752" y="2400300"/>
            <a:ext cx="219456" cy="0"/>
          </a:xfrm>
          <a:prstGeom prst="line">
            <a:avLst/>
          </a:prstGeom>
          <a:noFill/>
          <a:ln w="25400">
            <a:solidFill>
              <a:srgbClr val="2A8A99"/>
            </a:solidFill>
            <a:prstDash val="solid"/>
            <a:tailEnd type="triangle"/>
          </a:ln>
        </p:spPr>
        <p:txBody>
          <a:bodyPr/>
          <a:lstStyle/>
          <a:p>
            <a:endParaRPr lang="en-US"/>
          </a:p>
        </p:txBody>
      </p:sp>
      <p:sp>
        <p:nvSpPr>
          <p:cNvPr id="24" name="Text 22"/>
          <p:cNvSpPr txBox="1"/>
          <p:nvPr/>
        </p:nvSpPr>
        <p:spPr>
          <a:xfrm>
            <a:off x="548640" y="3657600"/>
            <a:ext cx="27432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LUỒNG ĐỌC</a:t>
            </a:r>
            <a:endParaRPr lang="en-US" sz="1200" dirty="0"/>
          </a:p>
        </p:txBody>
      </p:sp>
      <p:sp>
        <p:nvSpPr>
          <p:cNvPr id="25" name="Shape 23"/>
          <p:cNvSpPr/>
          <p:nvPr/>
        </p:nvSpPr>
        <p:spPr>
          <a:xfrm>
            <a:off x="548640" y="4023360"/>
            <a:ext cx="2011680" cy="1143000"/>
          </a:xfrm>
          <a:prstGeom prst="roundRect">
            <a:avLst>
              <a:gd name="adj" fmla="val 6400"/>
            </a:avLst>
          </a:prstGeom>
          <a:solidFill>
            <a:srgbClr val="F3F7F8"/>
          </a:solidFill>
          <a:ln w="12700">
            <a:solidFill>
              <a:srgbClr val="F3F7F8"/>
            </a:solidFill>
            <a:prstDash val="solid"/>
          </a:ln>
        </p:spPr>
        <p:txBody>
          <a:bodyPr/>
          <a:lstStyle/>
          <a:p>
            <a:endParaRPr lang="en-US"/>
          </a:p>
        </p:txBody>
      </p:sp>
      <p:sp>
        <p:nvSpPr>
          <p:cNvPr id="26" name="Text 24"/>
          <p:cNvSpPr txBox="1"/>
          <p:nvPr/>
        </p:nvSpPr>
        <p:spPr>
          <a:xfrm>
            <a:off x="640080" y="4133088"/>
            <a:ext cx="1828800" cy="411480"/>
          </a:xfrm>
          <a:prstGeom prst="rect">
            <a:avLst/>
          </a:prstGeom>
          <a:noFill/>
          <a:ln/>
        </p:spPr>
        <p:txBody>
          <a:bodyPr wrap="square" lIns="0" tIns="0" rIns="0" bIns="0" rtlCol="0" anchor="ctr"/>
          <a:lstStyle/>
          <a:p>
            <a:pPr marL="0" indent="0" algn="ctr">
              <a:buNone/>
            </a:pPr>
            <a:r>
              <a:rPr lang="en-US" sz="1500" b="1" dirty="0">
                <a:solidFill>
                  <a:srgbClr val="1E2A32"/>
                </a:solidFill>
                <a:latin typeface="Calibri" pitchFamily="34" charset="0"/>
                <a:ea typeface="Calibri" pitchFamily="34" charset="-122"/>
                <a:cs typeface="Calibri" pitchFamily="34" charset="-120"/>
              </a:rPr>
              <a:t>Câu hỏi</a:t>
            </a:r>
            <a:endParaRPr lang="en-US" sz="1500" dirty="0"/>
          </a:p>
        </p:txBody>
      </p:sp>
      <p:sp>
        <p:nvSpPr>
          <p:cNvPr id="27" name="Text 25"/>
          <p:cNvSpPr txBox="1"/>
          <p:nvPr/>
        </p:nvSpPr>
        <p:spPr>
          <a:xfrm>
            <a:off x="640080" y="4526280"/>
            <a:ext cx="1828800" cy="548640"/>
          </a:xfrm>
          <a:prstGeom prst="rect">
            <a:avLst/>
          </a:prstGeom>
          <a:noFill/>
          <a:ln/>
        </p:spPr>
        <p:txBody>
          <a:bodyPr wrap="square" lIns="0" tIns="0" rIns="0" bIns="0" rtlCol="0" anchor="t"/>
          <a:lstStyle/>
          <a:p>
            <a:pPr marL="0" indent="0" algn="ctr">
              <a:buNone/>
            </a:pPr>
            <a:r>
              <a:rPr lang="en-US" sz="1200" dirty="0">
                <a:solidFill>
                  <a:srgbClr val="5B6B73"/>
                </a:solidFill>
                <a:latin typeface="Calibri" pitchFamily="34" charset="0"/>
                <a:ea typeface="Calibri" pitchFamily="34" charset="-122"/>
                <a:cs typeface="Calibri" pitchFamily="34" charset="-120"/>
              </a:rPr>
              <a:t>kèm question_date</a:t>
            </a:r>
            <a:endParaRPr lang="en-US" sz="1200" dirty="0"/>
          </a:p>
        </p:txBody>
      </p:sp>
      <p:sp>
        <p:nvSpPr>
          <p:cNvPr id="28" name="Shape 26"/>
          <p:cNvSpPr/>
          <p:nvPr/>
        </p:nvSpPr>
        <p:spPr>
          <a:xfrm>
            <a:off x="2834640" y="4023360"/>
            <a:ext cx="4297680" cy="1143000"/>
          </a:xfrm>
          <a:prstGeom prst="roundRect">
            <a:avLst>
              <a:gd name="adj" fmla="val 6400"/>
            </a:avLst>
          </a:prstGeom>
          <a:solidFill>
            <a:srgbClr val="FBF1E3"/>
          </a:solidFill>
          <a:ln w="12700">
            <a:solidFill>
              <a:srgbClr val="FBF1E3"/>
            </a:solidFill>
            <a:prstDash val="solid"/>
          </a:ln>
        </p:spPr>
        <p:txBody>
          <a:bodyPr/>
          <a:lstStyle/>
          <a:p>
            <a:endParaRPr lang="en-US"/>
          </a:p>
        </p:txBody>
      </p:sp>
      <p:sp>
        <p:nvSpPr>
          <p:cNvPr id="29" name="Text 27"/>
          <p:cNvSpPr txBox="1"/>
          <p:nvPr/>
        </p:nvSpPr>
        <p:spPr>
          <a:xfrm>
            <a:off x="2926080" y="4133088"/>
            <a:ext cx="4114800" cy="411480"/>
          </a:xfrm>
          <a:prstGeom prst="rect">
            <a:avLst/>
          </a:prstGeom>
          <a:noFill/>
          <a:ln/>
        </p:spPr>
        <p:txBody>
          <a:bodyPr wrap="square" lIns="0" tIns="0" rIns="0" bIns="0" rtlCol="0" anchor="ctr"/>
          <a:lstStyle/>
          <a:p>
            <a:pPr marL="0" indent="0" algn="ctr">
              <a:buNone/>
            </a:pPr>
            <a:r>
              <a:rPr lang="en-US" sz="1500" b="1" dirty="0">
                <a:solidFill>
                  <a:srgbClr val="1E2A32"/>
                </a:solidFill>
                <a:latin typeface="Calibri" pitchFamily="34" charset="0"/>
                <a:ea typeface="Calibri" pitchFamily="34" charset="-122"/>
                <a:cs typeface="Calibri" pitchFamily="34" charset="-120"/>
              </a:rPr>
              <a:t>Agent ReAct · GPT-5.5</a:t>
            </a:r>
            <a:endParaRPr lang="en-US" sz="1500" dirty="0"/>
          </a:p>
        </p:txBody>
      </p:sp>
      <p:sp>
        <p:nvSpPr>
          <p:cNvPr id="30" name="Text 28"/>
          <p:cNvSpPr txBox="1"/>
          <p:nvPr/>
        </p:nvSpPr>
        <p:spPr>
          <a:xfrm>
            <a:off x="2926080" y="4526280"/>
            <a:ext cx="4114800" cy="548640"/>
          </a:xfrm>
          <a:prstGeom prst="rect">
            <a:avLst/>
          </a:prstGeom>
          <a:noFill/>
          <a:ln/>
        </p:spPr>
        <p:txBody>
          <a:bodyPr wrap="square" lIns="0" tIns="0" rIns="0" bIns="0" rtlCol="0" anchor="t"/>
          <a:lstStyle/>
          <a:p>
            <a:pPr marL="0" indent="0" algn="ctr">
              <a:buNone/>
            </a:pPr>
            <a:r>
              <a:rPr lang="en-US" sz="1200" dirty="0">
                <a:solidFill>
                  <a:srgbClr val="5B6B73"/>
                </a:solidFill>
                <a:latin typeface="Calibri" pitchFamily="34" charset="0"/>
                <a:ea typeface="Calibri" pitchFamily="34" charset="-122"/>
                <a:cs typeface="Calibri" pitchFamily="34" charset="-120"/>
              </a:rPr>
              <a:t>SchemaViewer · EntityLookup · GraphSQL · Search · PropertySearch  (≤ 20 lượt)</a:t>
            </a:r>
            <a:endParaRPr lang="en-US" sz="1200" dirty="0"/>
          </a:p>
        </p:txBody>
      </p:sp>
      <p:sp>
        <p:nvSpPr>
          <p:cNvPr id="31" name="Shape 29"/>
          <p:cNvSpPr/>
          <p:nvPr/>
        </p:nvSpPr>
        <p:spPr>
          <a:xfrm>
            <a:off x="7406640" y="4023360"/>
            <a:ext cx="2011680" cy="1143000"/>
          </a:xfrm>
          <a:prstGeom prst="roundRect">
            <a:avLst>
              <a:gd name="adj" fmla="val 6400"/>
            </a:avLst>
          </a:prstGeom>
          <a:solidFill>
            <a:srgbClr val="F3F7F8"/>
          </a:solidFill>
          <a:ln w="12700">
            <a:solidFill>
              <a:srgbClr val="F3F7F8"/>
            </a:solidFill>
            <a:prstDash val="solid"/>
          </a:ln>
        </p:spPr>
        <p:txBody>
          <a:bodyPr/>
          <a:lstStyle/>
          <a:p>
            <a:endParaRPr lang="en-US"/>
          </a:p>
        </p:txBody>
      </p:sp>
      <p:sp>
        <p:nvSpPr>
          <p:cNvPr id="32" name="Text 30"/>
          <p:cNvSpPr txBox="1"/>
          <p:nvPr/>
        </p:nvSpPr>
        <p:spPr>
          <a:xfrm>
            <a:off x="7498080" y="4133088"/>
            <a:ext cx="1828800" cy="411480"/>
          </a:xfrm>
          <a:prstGeom prst="rect">
            <a:avLst/>
          </a:prstGeom>
          <a:noFill/>
          <a:ln/>
        </p:spPr>
        <p:txBody>
          <a:bodyPr wrap="square" lIns="0" tIns="0" rIns="0" bIns="0" rtlCol="0" anchor="ctr"/>
          <a:lstStyle/>
          <a:p>
            <a:pPr marL="0" indent="0" algn="ctr">
              <a:buNone/>
            </a:pPr>
            <a:r>
              <a:rPr lang="en-US" sz="1500" b="1" dirty="0">
                <a:solidFill>
                  <a:srgbClr val="1E2A32"/>
                </a:solidFill>
                <a:latin typeface="Calibri" pitchFamily="34" charset="0"/>
                <a:ea typeface="Calibri" pitchFamily="34" charset="-122"/>
                <a:cs typeface="Calibri" pitchFamily="34" charset="-120"/>
              </a:rPr>
              <a:t>Câu trả lời</a:t>
            </a:r>
            <a:endParaRPr lang="en-US" sz="1500" dirty="0"/>
          </a:p>
        </p:txBody>
      </p:sp>
      <p:sp>
        <p:nvSpPr>
          <p:cNvPr id="33" name="Text 31"/>
          <p:cNvSpPr txBox="1"/>
          <p:nvPr/>
        </p:nvSpPr>
        <p:spPr>
          <a:xfrm>
            <a:off x="7498080" y="4526280"/>
            <a:ext cx="1828800" cy="548640"/>
          </a:xfrm>
          <a:prstGeom prst="rect">
            <a:avLst/>
          </a:prstGeom>
          <a:noFill/>
          <a:ln/>
        </p:spPr>
        <p:txBody>
          <a:bodyPr wrap="square" lIns="0" tIns="0" rIns="0" bIns="0" rtlCol="0" anchor="t"/>
          <a:lstStyle/>
          <a:p>
            <a:pPr marL="0" indent="0" algn="ctr">
              <a:buNone/>
            </a:pPr>
            <a:r>
              <a:rPr lang="en-US" sz="1200" dirty="0">
                <a:solidFill>
                  <a:srgbClr val="5B6B73"/>
                </a:solidFill>
                <a:latin typeface="Calibri" pitchFamily="34" charset="0"/>
                <a:ea typeface="Calibri" pitchFamily="34" charset="-122"/>
                <a:cs typeface="Calibri" pitchFamily="34" charset="-120"/>
              </a:rPr>
              <a:t>chấm bằng LLM-as-a-Judge</a:t>
            </a:r>
            <a:endParaRPr lang="en-US" sz="1200" dirty="0"/>
          </a:p>
        </p:txBody>
      </p:sp>
      <p:sp>
        <p:nvSpPr>
          <p:cNvPr id="34" name="Shape 32"/>
          <p:cNvSpPr/>
          <p:nvPr/>
        </p:nvSpPr>
        <p:spPr>
          <a:xfrm>
            <a:off x="2587752" y="4594860"/>
            <a:ext cx="219456" cy="0"/>
          </a:xfrm>
          <a:prstGeom prst="line">
            <a:avLst/>
          </a:prstGeom>
          <a:noFill/>
          <a:ln w="25400">
            <a:solidFill>
              <a:srgbClr val="2A8A99"/>
            </a:solidFill>
            <a:prstDash val="solid"/>
            <a:tailEnd type="triangle"/>
          </a:ln>
        </p:spPr>
        <p:txBody>
          <a:bodyPr/>
          <a:lstStyle/>
          <a:p>
            <a:endParaRPr lang="en-US"/>
          </a:p>
        </p:txBody>
      </p:sp>
      <p:sp>
        <p:nvSpPr>
          <p:cNvPr id="35" name="Shape 33"/>
          <p:cNvSpPr/>
          <p:nvPr/>
        </p:nvSpPr>
        <p:spPr>
          <a:xfrm>
            <a:off x="7159752" y="4594860"/>
            <a:ext cx="219456" cy="0"/>
          </a:xfrm>
          <a:prstGeom prst="line">
            <a:avLst/>
          </a:prstGeom>
          <a:noFill/>
          <a:ln w="25400">
            <a:solidFill>
              <a:srgbClr val="2A8A99"/>
            </a:solidFill>
            <a:prstDash val="solid"/>
            <a:tailEnd type="triangle"/>
          </a:ln>
        </p:spPr>
        <p:txBody>
          <a:bodyPr/>
          <a:lstStyle/>
          <a:p>
            <a:endParaRPr lang="en-US"/>
          </a:p>
        </p:txBody>
      </p:sp>
      <p:sp>
        <p:nvSpPr>
          <p:cNvPr id="36" name="Shape 34"/>
          <p:cNvSpPr/>
          <p:nvPr/>
        </p:nvSpPr>
        <p:spPr>
          <a:xfrm>
            <a:off x="4983480" y="5193792"/>
            <a:ext cx="0" cy="365760"/>
          </a:xfrm>
          <a:prstGeom prst="line">
            <a:avLst/>
          </a:prstGeom>
          <a:noFill/>
          <a:ln w="25400">
            <a:solidFill>
              <a:srgbClr val="2A8A99"/>
            </a:solidFill>
            <a:prstDash val="dash"/>
          </a:ln>
        </p:spPr>
        <p:txBody>
          <a:bodyPr/>
          <a:lstStyle/>
          <a:p>
            <a:endParaRPr lang="en-US"/>
          </a:p>
        </p:txBody>
      </p:sp>
      <p:sp>
        <p:nvSpPr>
          <p:cNvPr id="37" name="Shape 35"/>
          <p:cNvSpPr/>
          <p:nvPr/>
        </p:nvSpPr>
        <p:spPr>
          <a:xfrm>
            <a:off x="4983480" y="5559552"/>
            <a:ext cx="5696712" cy="0"/>
          </a:xfrm>
          <a:prstGeom prst="line">
            <a:avLst/>
          </a:prstGeom>
          <a:noFill/>
          <a:ln w="25400">
            <a:solidFill>
              <a:srgbClr val="2A8A99"/>
            </a:solidFill>
            <a:prstDash val="dash"/>
          </a:ln>
        </p:spPr>
        <p:txBody>
          <a:bodyPr/>
          <a:lstStyle/>
          <a:p>
            <a:endParaRPr lang="en-US"/>
          </a:p>
        </p:txBody>
      </p:sp>
      <p:sp>
        <p:nvSpPr>
          <p:cNvPr id="38" name="Shape 36"/>
          <p:cNvSpPr/>
          <p:nvPr/>
        </p:nvSpPr>
        <p:spPr>
          <a:xfrm flipV="1">
            <a:off x="10680192" y="5239512"/>
            <a:ext cx="0" cy="320040"/>
          </a:xfrm>
          <a:prstGeom prst="line">
            <a:avLst/>
          </a:prstGeom>
          <a:noFill/>
          <a:ln w="25400">
            <a:solidFill>
              <a:srgbClr val="2A8A99"/>
            </a:solidFill>
            <a:prstDash val="dash"/>
            <a:tailEnd type="triangle"/>
          </a:ln>
        </p:spPr>
        <p:txBody>
          <a:bodyPr/>
          <a:lstStyle/>
          <a:p>
            <a:endParaRPr lang="en-US"/>
          </a:p>
        </p:txBody>
      </p:sp>
      <p:sp>
        <p:nvSpPr>
          <p:cNvPr id="39" name="Text 37"/>
          <p:cNvSpPr txBox="1"/>
          <p:nvPr/>
        </p:nvSpPr>
        <p:spPr>
          <a:xfrm>
            <a:off x="5669280" y="5623560"/>
            <a:ext cx="4114800" cy="274320"/>
          </a:xfrm>
          <a:prstGeom prst="rect">
            <a:avLst/>
          </a:prstGeom>
          <a:noFill/>
          <a:ln/>
        </p:spPr>
        <p:txBody>
          <a:bodyPr wrap="square" lIns="0" tIns="0" rIns="0" bIns="0" rtlCol="0" anchor="ctr"/>
          <a:lstStyle/>
          <a:p>
            <a:pPr marL="0" indent="0" algn="ctr">
              <a:buNone/>
            </a:pPr>
            <a:r>
              <a:rPr lang="en-US" sz="1100" i="1" dirty="0">
                <a:solidFill>
                  <a:srgbClr val="5B6B73"/>
                </a:solidFill>
                <a:latin typeface="Calibri" pitchFamily="34" charset="0"/>
                <a:ea typeface="Calibri" pitchFamily="34" charset="-122"/>
                <a:cs typeface="Calibri" pitchFamily="34" charset="-120"/>
              </a:rPr>
              <a:t>agent gọi công cụ truy vấn đồ thị</a:t>
            </a:r>
            <a:endParaRPr lang="en-US" sz="1100" dirty="0"/>
          </a:p>
        </p:txBody>
      </p:sp>
      <p:sp>
        <p:nvSpPr>
          <p:cNvPr id="40" name="Text 38"/>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Theo Banerjee et al., ACL 2026, Hình 1. Trên LongMemEval, bài báo dựng bộ nhớ online: chỉ từ các phiên liên quan tới câu hỏi.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KIẾN TRÚC</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Ba ý tưởng cốt lõi của APEX-MEM</a:t>
            </a:r>
            <a:endParaRPr lang="en-US" sz="3000" dirty="0"/>
          </a:p>
        </p:txBody>
      </p:sp>
      <p:sp>
        <p:nvSpPr>
          <p:cNvPr id="4" name="Shape 2"/>
          <p:cNvSpPr/>
          <p:nvPr/>
        </p:nvSpPr>
        <p:spPr>
          <a:xfrm>
            <a:off x="548640" y="1600200"/>
            <a:ext cx="3520440" cy="2651760"/>
          </a:xfrm>
          <a:prstGeom prst="roundRect">
            <a:avLst>
              <a:gd name="adj" fmla="val 2759"/>
            </a:avLst>
          </a:prstGeom>
          <a:solidFill>
            <a:srgbClr val="F3F7F8"/>
          </a:solidFill>
          <a:ln w="9525">
            <a:solidFill>
              <a:srgbClr val="C9D6DA"/>
            </a:solidFill>
            <a:prstDash val="solid"/>
          </a:ln>
        </p:spPr>
        <p:txBody>
          <a:bodyPr/>
          <a:lstStyle/>
          <a:p>
            <a:endParaRPr lang="en-US"/>
          </a:p>
        </p:txBody>
      </p:sp>
      <p:sp>
        <p:nvSpPr>
          <p:cNvPr id="5" name="Shape 3"/>
          <p:cNvSpPr/>
          <p:nvPr/>
        </p:nvSpPr>
        <p:spPr>
          <a:xfrm>
            <a:off x="822960" y="1828800"/>
            <a:ext cx="420624" cy="420624"/>
          </a:xfrm>
          <a:prstGeom prst="ellipse">
            <a:avLst/>
          </a:prstGeom>
          <a:solidFill>
            <a:srgbClr val="0F5C6B"/>
          </a:solidFill>
          <a:ln w="12700">
            <a:solidFill>
              <a:srgbClr val="0F5C6B"/>
            </a:solidFill>
            <a:prstDash val="solid"/>
          </a:ln>
        </p:spPr>
        <p:txBody>
          <a:bodyPr/>
          <a:lstStyle/>
          <a:p>
            <a:endParaRPr lang="en-US"/>
          </a:p>
        </p:txBody>
      </p:sp>
      <p:sp>
        <p:nvSpPr>
          <p:cNvPr id="6" name="Text 4"/>
          <p:cNvSpPr txBox="1"/>
          <p:nvPr/>
        </p:nvSpPr>
        <p:spPr>
          <a:xfrm>
            <a:off x="822960" y="1828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22960" y="2377440"/>
            <a:ext cx="3017520" cy="640080"/>
          </a:xfrm>
          <a:prstGeom prst="rect">
            <a:avLst/>
          </a:prstGeom>
          <a:noFill/>
          <a:ln/>
        </p:spPr>
        <p:txBody>
          <a:bodyPr wrap="square" lIns="0" tIns="0" rIns="0" bIns="0" rtlCol="0" anchor="t"/>
          <a:lstStyle/>
          <a:p>
            <a:pPr marL="0" indent="0">
              <a:buNone/>
            </a:pPr>
            <a:r>
              <a:rPr lang="en-US" sz="1700" b="1" dirty="0">
                <a:solidFill>
                  <a:srgbClr val="0F5C6B"/>
                </a:solidFill>
                <a:latin typeface="Cambria" pitchFamily="34" charset="0"/>
                <a:ea typeface="Cambria" pitchFamily="34" charset="-122"/>
                <a:cs typeface="Cambria" pitchFamily="34" charset="-120"/>
              </a:rPr>
              <a:t>Đồ thị thuộc tính theo ontology</a:t>
            </a:r>
            <a:endParaRPr lang="en-US" sz="1700" dirty="0"/>
          </a:p>
        </p:txBody>
      </p:sp>
      <p:sp>
        <p:nvSpPr>
          <p:cNvPr id="8" name="Text 6"/>
          <p:cNvSpPr txBox="1"/>
          <p:nvPr/>
        </p:nvSpPr>
        <p:spPr>
          <a:xfrm>
            <a:off x="822960" y="3017520"/>
            <a:ext cx="3017520" cy="118872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Hội thoại thành các sự kiện có mốc thời gian, xoay quanh thực thể. Ontology gốc có 35 lớp: Person, Place, Product, Food, Task...</a:t>
            </a:r>
            <a:endParaRPr lang="en-US" sz="1300" dirty="0"/>
          </a:p>
        </p:txBody>
      </p:sp>
      <p:sp>
        <p:nvSpPr>
          <p:cNvPr id="9" name="Shape 7"/>
          <p:cNvSpPr/>
          <p:nvPr/>
        </p:nvSpPr>
        <p:spPr>
          <a:xfrm>
            <a:off x="4297680" y="1600200"/>
            <a:ext cx="3520440" cy="2651760"/>
          </a:xfrm>
          <a:prstGeom prst="roundRect">
            <a:avLst>
              <a:gd name="adj" fmla="val 2759"/>
            </a:avLst>
          </a:prstGeom>
          <a:solidFill>
            <a:srgbClr val="F3F7F8"/>
          </a:solidFill>
          <a:ln w="9525">
            <a:solidFill>
              <a:srgbClr val="C9D6DA"/>
            </a:solidFill>
            <a:prstDash val="solid"/>
          </a:ln>
        </p:spPr>
        <p:txBody>
          <a:bodyPr/>
          <a:lstStyle/>
          <a:p>
            <a:endParaRPr lang="en-US"/>
          </a:p>
        </p:txBody>
      </p:sp>
      <p:sp>
        <p:nvSpPr>
          <p:cNvPr id="10" name="Shape 8"/>
          <p:cNvSpPr/>
          <p:nvPr/>
        </p:nvSpPr>
        <p:spPr>
          <a:xfrm>
            <a:off x="4572000" y="1828800"/>
            <a:ext cx="420624" cy="420624"/>
          </a:xfrm>
          <a:prstGeom prst="ellipse">
            <a:avLst/>
          </a:prstGeom>
          <a:solidFill>
            <a:srgbClr val="0F5C6B"/>
          </a:solidFill>
          <a:ln w="12700">
            <a:solidFill>
              <a:srgbClr val="0F5C6B"/>
            </a:solidFill>
            <a:prstDash val="solid"/>
          </a:ln>
        </p:spPr>
        <p:txBody>
          <a:bodyPr/>
          <a:lstStyle/>
          <a:p>
            <a:endParaRPr lang="en-US"/>
          </a:p>
        </p:txBody>
      </p:sp>
      <p:sp>
        <p:nvSpPr>
          <p:cNvPr id="11" name="Text 9"/>
          <p:cNvSpPr txBox="1"/>
          <p:nvPr/>
        </p:nvSpPr>
        <p:spPr>
          <a:xfrm>
            <a:off x="4572000" y="1828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572000" y="2377440"/>
            <a:ext cx="3017520" cy="640080"/>
          </a:xfrm>
          <a:prstGeom prst="rect">
            <a:avLst/>
          </a:prstGeom>
          <a:noFill/>
          <a:ln/>
        </p:spPr>
        <p:txBody>
          <a:bodyPr wrap="square" lIns="0" tIns="0" rIns="0" bIns="0" rtlCol="0" anchor="t"/>
          <a:lstStyle/>
          <a:p>
            <a:pPr marL="0" indent="0">
              <a:buNone/>
            </a:pPr>
            <a:r>
              <a:rPr lang="en-US" sz="1700" b="1" dirty="0">
                <a:solidFill>
                  <a:srgbClr val="0F5C6B"/>
                </a:solidFill>
                <a:latin typeface="Cambria" pitchFamily="34" charset="0"/>
                <a:ea typeface="Cambria" pitchFamily="34" charset="-122"/>
                <a:cs typeface="Cambria" pitchFamily="34" charset="-120"/>
              </a:rPr>
              <a:t>Lưu append-only</a:t>
            </a:r>
            <a:endParaRPr lang="en-US" sz="1700" dirty="0"/>
          </a:p>
        </p:txBody>
      </p:sp>
      <p:sp>
        <p:nvSpPr>
          <p:cNvPr id="13" name="Text 11"/>
          <p:cNvSpPr txBox="1"/>
          <p:nvPr/>
        </p:nvSpPr>
        <p:spPr>
          <a:xfrm>
            <a:off x="4572000" y="3017520"/>
            <a:ext cx="3017520" cy="118872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Không ghi đè. Fact cũ và mới cùng tồn tại, mỗi fact có khoảng hiệu lực [t_from, t_to], độ tin cậy và bằng chứng.</a:t>
            </a:r>
            <a:endParaRPr lang="en-US" sz="1300" dirty="0"/>
          </a:p>
        </p:txBody>
      </p:sp>
      <p:sp>
        <p:nvSpPr>
          <p:cNvPr id="14" name="Shape 12"/>
          <p:cNvSpPr/>
          <p:nvPr/>
        </p:nvSpPr>
        <p:spPr>
          <a:xfrm>
            <a:off x="8046720" y="1600200"/>
            <a:ext cx="3520440" cy="2651760"/>
          </a:xfrm>
          <a:prstGeom prst="roundRect">
            <a:avLst>
              <a:gd name="adj" fmla="val 2759"/>
            </a:avLst>
          </a:prstGeom>
          <a:solidFill>
            <a:srgbClr val="F3F7F8"/>
          </a:solidFill>
          <a:ln w="9525">
            <a:solidFill>
              <a:srgbClr val="C9D6DA"/>
            </a:solidFill>
            <a:prstDash val="solid"/>
          </a:ln>
        </p:spPr>
        <p:txBody>
          <a:bodyPr/>
          <a:lstStyle/>
          <a:p>
            <a:endParaRPr lang="en-US"/>
          </a:p>
        </p:txBody>
      </p:sp>
      <p:sp>
        <p:nvSpPr>
          <p:cNvPr id="15" name="Shape 13"/>
          <p:cNvSpPr/>
          <p:nvPr/>
        </p:nvSpPr>
        <p:spPr>
          <a:xfrm>
            <a:off x="8321040" y="1828800"/>
            <a:ext cx="420624" cy="420624"/>
          </a:xfrm>
          <a:prstGeom prst="ellipse">
            <a:avLst/>
          </a:prstGeom>
          <a:solidFill>
            <a:srgbClr val="0F5C6B"/>
          </a:solidFill>
          <a:ln w="12700">
            <a:solidFill>
              <a:srgbClr val="0F5C6B"/>
            </a:solidFill>
            <a:prstDash val="solid"/>
          </a:ln>
        </p:spPr>
        <p:txBody>
          <a:bodyPr/>
          <a:lstStyle/>
          <a:p>
            <a:endParaRPr lang="en-US"/>
          </a:p>
        </p:txBody>
      </p:sp>
      <p:sp>
        <p:nvSpPr>
          <p:cNvPr id="16" name="Text 14"/>
          <p:cNvSpPr txBox="1"/>
          <p:nvPr/>
        </p:nvSpPr>
        <p:spPr>
          <a:xfrm>
            <a:off x="8321040" y="1828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321040" y="2377440"/>
            <a:ext cx="3017520" cy="640080"/>
          </a:xfrm>
          <a:prstGeom prst="rect">
            <a:avLst/>
          </a:prstGeom>
          <a:noFill/>
          <a:ln/>
        </p:spPr>
        <p:txBody>
          <a:bodyPr wrap="square" lIns="0" tIns="0" rIns="0" bIns="0" rtlCol="0" anchor="t"/>
          <a:lstStyle/>
          <a:p>
            <a:pPr marL="0" indent="0">
              <a:buNone/>
            </a:pPr>
            <a:r>
              <a:rPr lang="en-US" sz="1700" b="1" dirty="0">
                <a:solidFill>
                  <a:srgbClr val="0F5C6B"/>
                </a:solidFill>
                <a:latin typeface="Cambria" pitchFamily="34" charset="0"/>
                <a:ea typeface="Cambria" pitchFamily="34" charset="-122"/>
                <a:cs typeface="Cambria" pitchFamily="34" charset="-120"/>
              </a:rPr>
              <a:t>Giải quyết lúc đọc</a:t>
            </a:r>
            <a:endParaRPr lang="en-US" sz="1700" dirty="0"/>
          </a:p>
        </p:txBody>
      </p:sp>
      <p:sp>
        <p:nvSpPr>
          <p:cNvPr id="18" name="Text 16"/>
          <p:cNvSpPr txBox="1"/>
          <p:nvPr/>
        </p:nvSpPr>
        <p:spPr>
          <a:xfrm>
            <a:off x="8321040" y="3017520"/>
            <a:ext cx="3017520" cy="118872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Agent quyết định fact nào còn hiệu lực dựa trên thời gian, thay vì hệ thống chốt sớm lúc ghi.</a:t>
            </a:r>
            <a:endParaRPr lang="en-US" sz="1300" dirty="0"/>
          </a:p>
        </p:txBody>
      </p:sp>
      <p:sp>
        <p:nvSpPr>
          <p:cNvPr id="19" name="Text 17"/>
          <p:cNvSpPr txBox="1"/>
          <p:nvPr/>
        </p:nvSpPr>
        <p:spPr>
          <a:xfrm>
            <a:off x="548640" y="4526280"/>
            <a:ext cx="7315200" cy="365760"/>
          </a:xfrm>
          <a:prstGeom prst="rect">
            <a:avLst/>
          </a:prstGeom>
          <a:noFill/>
          <a:ln/>
        </p:spPr>
        <p:txBody>
          <a:bodyPr wrap="square" lIns="0" tIns="0" rIns="0" bIns="0" rtlCol="0" anchor="ctr"/>
          <a:lstStyle/>
          <a:p>
            <a:pPr marL="0" indent="0">
              <a:buNone/>
            </a:pPr>
            <a:r>
              <a:rPr lang="en-US" sz="1600" b="1" dirty="0">
                <a:solidFill>
                  <a:srgbClr val="12232E"/>
                </a:solidFill>
                <a:latin typeface="Cambria" pitchFamily="34" charset="0"/>
                <a:ea typeface="Cambria" pitchFamily="34" charset="-122"/>
                <a:cs typeface="Cambria" pitchFamily="34" charset="-120"/>
              </a:rPr>
              <a:t>Ví dụ: người dùng đổi trình độ tiếng Nhật</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4937760"/>
          <a:ext cx="7498080" cy="987552"/>
        </p:xfrm>
        <a:graphic>
          <a:graphicData uri="http://schemas.openxmlformats.org/drawingml/2006/table">
            <a:tbl>
              <a:tblPr/>
              <a:tblGrid>
                <a:gridCol w="12801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29184">
                <a:tc>
                  <a:txBody>
                    <a:bodyPr/>
                    <a:lstStyle/>
                    <a:p>
                      <a:pPr marL="0" indent="0">
                        <a:buNone/>
                      </a:pPr>
                      <a:r>
                        <a:rPr lang="en-US" sz="1200" b="1" dirty="0">
                          <a:solidFill>
                            <a:srgbClr val="FFFFFF"/>
                          </a:solidFill>
                          <a:latin typeface="Courier New" pitchFamily="34" charset="0"/>
                          <a:ea typeface="Courier New" pitchFamily="34" charset="-122"/>
                          <a:cs typeface="Courier New" pitchFamily="34" charset="-120"/>
                        </a:rPr>
                        <a:t>subject</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tc>
                  <a:txBody>
                    <a:bodyPr/>
                    <a:lstStyle/>
                    <a:p>
                      <a:pPr marL="0" indent="0">
                        <a:buNone/>
                      </a:pPr>
                      <a:r>
                        <a:rPr lang="en-US" sz="1200" b="1" dirty="0">
                          <a:solidFill>
                            <a:srgbClr val="FFFFFF"/>
                          </a:solidFill>
                          <a:latin typeface="Courier New" pitchFamily="34" charset="0"/>
                          <a:ea typeface="Courier New" pitchFamily="34" charset="-122"/>
                          <a:cs typeface="Courier New" pitchFamily="34" charset="-120"/>
                        </a:rPr>
                        <a:t>property</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tc>
                  <a:txBody>
                    <a:bodyPr/>
                    <a:lstStyle/>
                    <a:p>
                      <a:pPr marL="0" indent="0">
                        <a:buNone/>
                      </a:pPr>
                      <a:r>
                        <a:rPr lang="en-US" sz="1200" b="1" dirty="0">
                          <a:solidFill>
                            <a:srgbClr val="FFFFFF"/>
                          </a:solidFill>
                          <a:latin typeface="Courier New" pitchFamily="34" charset="0"/>
                          <a:ea typeface="Courier New" pitchFamily="34" charset="-122"/>
                          <a:cs typeface="Courier New" pitchFamily="34" charset="-120"/>
                        </a:rPr>
                        <a:t>value</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tc>
                  <a:txBody>
                    <a:bodyPr/>
                    <a:lstStyle/>
                    <a:p>
                      <a:pPr marL="0" indent="0">
                        <a:buNone/>
                      </a:pPr>
                      <a:r>
                        <a:rPr lang="en-US" sz="1200" b="1" dirty="0">
                          <a:solidFill>
                            <a:srgbClr val="FFFFFF"/>
                          </a:solidFill>
                          <a:latin typeface="Courier New" pitchFamily="34" charset="0"/>
                          <a:ea typeface="Courier New" pitchFamily="34" charset="-122"/>
                          <a:cs typeface="Courier New" pitchFamily="34" charset="-120"/>
                        </a:rPr>
                        <a:t>t_from</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tc>
                  <a:txBody>
                    <a:bodyPr/>
                    <a:lstStyle/>
                    <a:p>
                      <a:pPr marL="0" indent="0">
                        <a:buNone/>
                      </a:pPr>
                      <a:r>
                        <a:rPr lang="en-US" sz="1200" b="1" dirty="0">
                          <a:solidFill>
                            <a:srgbClr val="FFFFFF"/>
                          </a:solidFill>
                          <a:latin typeface="Courier New" pitchFamily="34" charset="0"/>
                          <a:ea typeface="Courier New" pitchFamily="34" charset="-122"/>
                          <a:cs typeface="Courier New" pitchFamily="34" charset="-120"/>
                        </a:rPr>
                        <a:t>event</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1E2A32"/>
                          </a:solidFill>
                          <a:latin typeface="Courier New" pitchFamily="34" charset="0"/>
                          <a:ea typeface="Courier New" pitchFamily="34" charset="-122"/>
                          <a:cs typeface="Courier New" pitchFamily="34" charset="-120"/>
                        </a:rPr>
                        <a:t>user</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E2A32"/>
                          </a:solidFill>
                          <a:latin typeface="Courier New" pitchFamily="34" charset="0"/>
                          <a:ea typeface="Courier New" pitchFamily="34" charset="-122"/>
                          <a:cs typeface="Courier New" pitchFamily="34" charset="-120"/>
                        </a:rPr>
                        <a:t>japanese_level</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E2A32"/>
                          </a:solidFill>
                          <a:latin typeface="Courier New" pitchFamily="34" charset="0"/>
                          <a:ea typeface="Courier New" pitchFamily="34" charset="-122"/>
                          <a:cs typeface="Courier New" pitchFamily="34" charset="-120"/>
                        </a:rPr>
                        <a:t>N5</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E2A32"/>
                          </a:solidFill>
                          <a:latin typeface="Courier New" pitchFamily="34" charset="0"/>
                          <a:ea typeface="Courier New" pitchFamily="34" charset="-122"/>
                          <a:cs typeface="Courier New" pitchFamily="34" charset="-120"/>
                        </a:rPr>
                        <a:t>2023-03-10</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200" dirty="0">
                          <a:solidFill>
                            <a:srgbClr val="1E2A32"/>
                          </a:solidFill>
                          <a:latin typeface="Courier New" pitchFamily="34" charset="0"/>
                          <a:ea typeface="Courier New" pitchFamily="34" charset="-122"/>
                          <a:cs typeface="Courier New" pitchFamily="34" charset="-120"/>
                        </a:rPr>
                        <a:t>ev_12</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1E2A32"/>
                          </a:solidFill>
                          <a:latin typeface="Courier New" pitchFamily="34" charset="0"/>
                          <a:ea typeface="Courier New" pitchFamily="34" charset="-122"/>
                          <a:cs typeface="Courier New" pitchFamily="34" charset="-120"/>
                        </a:rPr>
                        <a:t>user</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BF1E3"/>
                    </a:solidFill>
                  </a:tcPr>
                </a:tc>
                <a:tc>
                  <a:txBody>
                    <a:bodyPr/>
                    <a:lstStyle/>
                    <a:p>
                      <a:pPr marL="0" indent="0">
                        <a:buNone/>
                      </a:pPr>
                      <a:r>
                        <a:rPr lang="en-US" sz="1200" dirty="0">
                          <a:solidFill>
                            <a:srgbClr val="1E2A32"/>
                          </a:solidFill>
                          <a:latin typeface="Courier New" pitchFamily="34" charset="0"/>
                          <a:ea typeface="Courier New" pitchFamily="34" charset="-122"/>
                          <a:cs typeface="Courier New" pitchFamily="34" charset="-120"/>
                        </a:rPr>
                        <a:t>japanese_level</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BF1E3"/>
                    </a:solidFill>
                  </a:tcPr>
                </a:tc>
                <a:tc>
                  <a:txBody>
                    <a:bodyPr/>
                    <a:lstStyle/>
                    <a:p>
                      <a:pPr marL="0" indent="0">
                        <a:buNone/>
                      </a:pPr>
                      <a:r>
                        <a:rPr lang="en-US" sz="1200" dirty="0">
                          <a:solidFill>
                            <a:srgbClr val="1E2A32"/>
                          </a:solidFill>
                          <a:latin typeface="Courier New" pitchFamily="34" charset="0"/>
                          <a:ea typeface="Courier New" pitchFamily="34" charset="-122"/>
                          <a:cs typeface="Courier New" pitchFamily="34" charset="-120"/>
                        </a:rPr>
                        <a:t>N4</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BF1E3"/>
                    </a:solidFill>
                  </a:tcPr>
                </a:tc>
                <a:tc>
                  <a:txBody>
                    <a:bodyPr/>
                    <a:lstStyle/>
                    <a:p>
                      <a:pPr marL="0" indent="0">
                        <a:buNone/>
                      </a:pPr>
                      <a:r>
                        <a:rPr lang="en-US" sz="1200" dirty="0">
                          <a:solidFill>
                            <a:srgbClr val="1E2A32"/>
                          </a:solidFill>
                          <a:latin typeface="Courier New" pitchFamily="34" charset="0"/>
                          <a:ea typeface="Courier New" pitchFamily="34" charset="-122"/>
                          <a:cs typeface="Courier New" pitchFamily="34" charset="-120"/>
                        </a:rPr>
                        <a:t>2024-01-22</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BF1E3"/>
                    </a:solidFill>
                  </a:tcPr>
                </a:tc>
                <a:tc>
                  <a:txBody>
                    <a:bodyPr/>
                    <a:lstStyle/>
                    <a:p>
                      <a:pPr marL="0" indent="0">
                        <a:buNone/>
                      </a:pPr>
                      <a:r>
                        <a:rPr lang="en-US" sz="1200" dirty="0">
                          <a:solidFill>
                            <a:srgbClr val="1E2A32"/>
                          </a:solidFill>
                          <a:latin typeface="Courier New" pitchFamily="34" charset="0"/>
                          <a:ea typeface="Courier New" pitchFamily="34" charset="-122"/>
                          <a:cs typeface="Courier New" pitchFamily="34" charset="-120"/>
                        </a:rPr>
                        <a:t>ev_87</a:t>
                      </a:r>
                      <a:endParaRPr lang="en-US" sz="1200" dirty="0">
                        <a:latin typeface="Courier New" charset="0"/>
                        <a:ea typeface="Courier New" charset="0"/>
                        <a:cs typeface="Courier New" charset="0"/>
                      </a:endParaRPr>
                    </a:p>
                  </a:txBody>
                  <a:tcP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BF1E3"/>
                    </a:solidFill>
                  </a:tcPr>
                </a:tc>
                <a:extLst>
                  <a:ext uri="{0D108BD9-81ED-4DB2-BD59-A6C34878D82A}">
                    <a16:rowId xmlns:a16="http://schemas.microsoft.com/office/drawing/2014/main" val="10002"/>
                  </a:ext>
                </a:extLst>
              </a:tr>
            </a:tbl>
          </a:graphicData>
        </a:graphic>
      </p:graphicFrame>
      <p:sp>
        <p:nvSpPr>
          <p:cNvPr id="21" name="Text 18"/>
          <p:cNvSpPr txBox="1"/>
          <p:nvPr/>
        </p:nvSpPr>
        <p:spPr>
          <a:xfrm>
            <a:off x="8321040" y="4892040"/>
            <a:ext cx="3337560" cy="118872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Cả hai dòng cùng tồn tại. Khi được hỏi "trình độ hiện tại", agent chọn dòng có t_from mới nhất; khi hỏi "trước đây", vẫn còn dòng cũ để trả lời.</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KIẾN TRÚC</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Lược đồ bộ nhớ: 7 bảng SQLite</a:t>
            </a:r>
            <a:endParaRPr lang="en-US" sz="3000" dirty="0"/>
          </a:p>
        </p:txBody>
      </p:sp>
      <p:sp>
        <p:nvSpPr>
          <p:cNvPr id="4" name="Shape 2"/>
          <p:cNvSpPr/>
          <p:nvPr/>
        </p:nvSpPr>
        <p:spPr>
          <a:xfrm>
            <a:off x="548640" y="1554480"/>
            <a:ext cx="2606040" cy="1920240"/>
          </a:xfrm>
          <a:prstGeom prst="roundRect">
            <a:avLst>
              <a:gd name="adj" fmla="val 2857"/>
            </a:avLst>
          </a:prstGeom>
          <a:solidFill>
            <a:srgbClr val="F3F7F8"/>
          </a:solidFill>
          <a:ln w="12700">
            <a:solidFill>
              <a:srgbClr val="C9D6DA"/>
            </a:solidFill>
            <a:prstDash val="solid"/>
          </a:ln>
        </p:spPr>
        <p:txBody>
          <a:bodyPr/>
          <a:lstStyle/>
          <a:p>
            <a:endParaRPr lang="en-US"/>
          </a:p>
        </p:txBody>
      </p:sp>
      <p:sp>
        <p:nvSpPr>
          <p:cNvPr id="5" name="Shape 3"/>
          <p:cNvSpPr/>
          <p:nvPr/>
        </p:nvSpPr>
        <p:spPr>
          <a:xfrm>
            <a:off x="566928" y="1572768"/>
            <a:ext cx="2569464" cy="438912"/>
          </a:xfrm>
          <a:prstGeom prst="rect">
            <a:avLst/>
          </a:prstGeom>
          <a:solidFill>
            <a:srgbClr val="0F5C6B"/>
          </a:solidFill>
          <a:ln w="12700">
            <a:solidFill>
              <a:srgbClr val="0F5C6B"/>
            </a:solidFill>
            <a:prstDash val="solid"/>
          </a:ln>
        </p:spPr>
        <p:txBody>
          <a:bodyPr/>
          <a:lstStyle/>
          <a:p>
            <a:endParaRPr lang="en-US"/>
          </a:p>
        </p:txBody>
      </p:sp>
      <p:sp>
        <p:nvSpPr>
          <p:cNvPr id="6" name="Text 4"/>
          <p:cNvSpPr txBox="1"/>
          <p:nvPr/>
        </p:nvSpPr>
        <p:spPr>
          <a:xfrm>
            <a:off x="731520" y="1572768"/>
            <a:ext cx="2240280" cy="438912"/>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turns</a:t>
            </a:r>
            <a:endParaRPr lang="en-US" sz="1400" dirty="0"/>
          </a:p>
        </p:txBody>
      </p:sp>
      <p:sp>
        <p:nvSpPr>
          <p:cNvPr id="7" name="Text 5"/>
          <p:cNvSpPr txBox="1"/>
          <p:nvPr/>
        </p:nvSpPr>
        <p:spPr>
          <a:xfrm>
            <a:off x="731520" y="2148840"/>
            <a:ext cx="2240280" cy="118872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turn_id · session_id</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speaker · text</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session_date</a:t>
            </a:r>
            <a:endParaRPr lang="en-US" sz="1200" dirty="0"/>
          </a:p>
        </p:txBody>
      </p:sp>
      <p:sp>
        <p:nvSpPr>
          <p:cNvPr id="8" name="Shape 6"/>
          <p:cNvSpPr/>
          <p:nvPr/>
        </p:nvSpPr>
        <p:spPr>
          <a:xfrm>
            <a:off x="3383280" y="1554480"/>
            <a:ext cx="2606040" cy="1920240"/>
          </a:xfrm>
          <a:prstGeom prst="roundRect">
            <a:avLst>
              <a:gd name="adj" fmla="val 2857"/>
            </a:avLst>
          </a:prstGeom>
          <a:solidFill>
            <a:srgbClr val="F3F7F8"/>
          </a:solidFill>
          <a:ln w="12700">
            <a:solidFill>
              <a:srgbClr val="C9D6DA"/>
            </a:solidFill>
            <a:prstDash val="solid"/>
          </a:ln>
        </p:spPr>
        <p:txBody>
          <a:bodyPr/>
          <a:lstStyle/>
          <a:p>
            <a:endParaRPr lang="en-US"/>
          </a:p>
        </p:txBody>
      </p:sp>
      <p:sp>
        <p:nvSpPr>
          <p:cNvPr id="9" name="Shape 7"/>
          <p:cNvSpPr/>
          <p:nvPr/>
        </p:nvSpPr>
        <p:spPr>
          <a:xfrm>
            <a:off x="3401568" y="1572768"/>
            <a:ext cx="2569464" cy="438912"/>
          </a:xfrm>
          <a:prstGeom prst="rect">
            <a:avLst/>
          </a:prstGeom>
          <a:solidFill>
            <a:srgbClr val="0F5C6B"/>
          </a:solidFill>
          <a:ln w="12700">
            <a:solidFill>
              <a:srgbClr val="0F5C6B"/>
            </a:solidFill>
            <a:prstDash val="solid"/>
          </a:ln>
        </p:spPr>
        <p:txBody>
          <a:bodyPr/>
          <a:lstStyle/>
          <a:p>
            <a:endParaRPr lang="en-US"/>
          </a:p>
        </p:txBody>
      </p:sp>
      <p:sp>
        <p:nvSpPr>
          <p:cNvPr id="10" name="Text 8"/>
          <p:cNvSpPr txBox="1"/>
          <p:nvPr/>
        </p:nvSpPr>
        <p:spPr>
          <a:xfrm>
            <a:off x="3566160" y="1572768"/>
            <a:ext cx="2240280" cy="438912"/>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entities</a:t>
            </a:r>
            <a:endParaRPr lang="en-US" sz="1400" dirty="0"/>
          </a:p>
        </p:txBody>
      </p:sp>
      <p:sp>
        <p:nvSpPr>
          <p:cNvPr id="11" name="Text 9"/>
          <p:cNvSpPr txBox="1"/>
          <p:nvPr/>
        </p:nvSpPr>
        <p:spPr>
          <a:xfrm>
            <a:off x="3566160" y="2148840"/>
            <a:ext cx="2240280" cy="118872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entity_id · name</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type (lớp ontology)</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role · aliases</a:t>
            </a:r>
            <a:endParaRPr lang="en-US" sz="1200" dirty="0"/>
          </a:p>
        </p:txBody>
      </p:sp>
      <p:sp>
        <p:nvSpPr>
          <p:cNvPr id="12" name="Shape 10"/>
          <p:cNvSpPr/>
          <p:nvPr/>
        </p:nvSpPr>
        <p:spPr>
          <a:xfrm>
            <a:off x="6217920" y="1554480"/>
            <a:ext cx="2606040" cy="1920240"/>
          </a:xfrm>
          <a:prstGeom prst="roundRect">
            <a:avLst>
              <a:gd name="adj" fmla="val 2857"/>
            </a:avLst>
          </a:prstGeom>
          <a:solidFill>
            <a:srgbClr val="F3F7F8"/>
          </a:solidFill>
          <a:ln w="12700">
            <a:solidFill>
              <a:srgbClr val="C9D6DA"/>
            </a:solidFill>
            <a:prstDash val="solid"/>
          </a:ln>
        </p:spPr>
        <p:txBody>
          <a:bodyPr/>
          <a:lstStyle/>
          <a:p>
            <a:endParaRPr lang="en-US"/>
          </a:p>
        </p:txBody>
      </p:sp>
      <p:sp>
        <p:nvSpPr>
          <p:cNvPr id="13" name="Shape 11"/>
          <p:cNvSpPr/>
          <p:nvPr/>
        </p:nvSpPr>
        <p:spPr>
          <a:xfrm>
            <a:off x="6236208" y="1572768"/>
            <a:ext cx="2569464" cy="438912"/>
          </a:xfrm>
          <a:prstGeom prst="rect">
            <a:avLst/>
          </a:prstGeom>
          <a:solidFill>
            <a:srgbClr val="0F5C6B"/>
          </a:solidFill>
          <a:ln w="12700">
            <a:solidFill>
              <a:srgbClr val="0F5C6B"/>
            </a:solidFill>
            <a:prstDash val="solid"/>
          </a:ln>
        </p:spPr>
        <p:txBody>
          <a:bodyPr/>
          <a:lstStyle/>
          <a:p>
            <a:endParaRPr lang="en-US"/>
          </a:p>
        </p:txBody>
      </p:sp>
      <p:sp>
        <p:nvSpPr>
          <p:cNvPr id="14" name="Text 12"/>
          <p:cNvSpPr txBox="1"/>
          <p:nvPr/>
        </p:nvSpPr>
        <p:spPr>
          <a:xfrm>
            <a:off x="6400800" y="1572768"/>
            <a:ext cx="2240280" cy="438912"/>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properties</a:t>
            </a:r>
            <a:endParaRPr lang="en-US" sz="1400" dirty="0"/>
          </a:p>
        </p:txBody>
      </p:sp>
      <p:sp>
        <p:nvSpPr>
          <p:cNvPr id="15" name="Text 13"/>
          <p:cNvSpPr txBox="1"/>
          <p:nvPr/>
        </p:nvSpPr>
        <p:spPr>
          <a:xfrm>
            <a:off x="6400800" y="2148840"/>
            <a:ext cx="2240280" cy="118872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property_id</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name (snake_case)</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dtype</a:t>
            </a:r>
            <a:endParaRPr lang="en-US" sz="1200" dirty="0"/>
          </a:p>
        </p:txBody>
      </p:sp>
      <p:sp>
        <p:nvSpPr>
          <p:cNvPr id="16" name="Shape 14"/>
          <p:cNvSpPr/>
          <p:nvPr/>
        </p:nvSpPr>
        <p:spPr>
          <a:xfrm>
            <a:off x="9052560" y="1554480"/>
            <a:ext cx="2606040" cy="1920240"/>
          </a:xfrm>
          <a:prstGeom prst="roundRect">
            <a:avLst>
              <a:gd name="adj" fmla="val 2857"/>
            </a:avLst>
          </a:prstGeom>
          <a:solidFill>
            <a:srgbClr val="F3F7F8"/>
          </a:solidFill>
          <a:ln w="12700">
            <a:solidFill>
              <a:srgbClr val="C9D6DA"/>
            </a:solidFill>
            <a:prstDash val="solid"/>
          </a:ln>
        </p:spPr>
        <p:txBody>
          <a:bodyPr/>
          <a:lstStyle/>
          <a:p>
            <a:endParaRPr lang="en-US"/>
          </a:p>
        </p:txBody>
      </p:sp>
      <p:sp>
        <p:nvSpPr>
          <p:cNvPr id="17" name="Shape 15"/>
          <p:cNvSpPr/>
          <p:nvPr/>
        </p:nvSpPr>
        <p:spPr>
          <a:xfrm>
            <a:off x="9070848" y="1572768"/>
            <a:ext cx="2569464" cy="438912"/>
          </a:xfrm>
          <a:prstGeom prst="rect">
            <a:avLst/>
          </a:prstGeom>
          <a:solidFill>
            <a:srgbClr val="0F5C6B"/>
          </a:solidFill>
          <a:ln w="12700">
            <a:solidFill>
              <a:srgbClr val="0F5C6B"/>
            </a:solidFill>
            <a:prstDash val="solid"/>
          </a:ln>
        </p:spPr>
        <p:txBody>
          <a:bodyPr/>
          <a:lstStyle/>
          <a:p>
            <a:endParaRPr lang="en-US"/>
          </a:p>
        </p:txBody>
      </p:sp>
      <p:sp>
        <p:nvSpPr>
          <p:cNvPr id="18" name="Text 16"/>
          <p:cNvSpPr txBox="1"/>
          <p:nvPr/>
        </p:nvSpPr>
        <p:spPr>
          <a:xfrm>
            <a:off x="9235440" y="1572768"/>
            <a:ext cx="2240280" cy="438912"/>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events</a:t>
            </a:r>
            <a:endParaRPr lang="en-US" sz="1400" dirty="0"/>
          </a:p>
        </p:txBody>
      </p:sp>
      <p:sp>
        <p:nvSpPr>
          <p:cNvPr id="19" name="Text 17"/>
          <p:cNvSpPr txBox="1"/>
          <p:nvPr/>
        </p:nvSpPr>
        <p:spPr>
          <a:xfrm>
            <a:off x="9281160" y="2148840"/>
            <a:ext cx="2240280" cy="118872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event_id · type</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anchor_datetime</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location</a:t>
            </a:r>
            <a:endParaRPr lang="en-US" sz="1200" dirty="0"/>
          </a:p>
        </p:txBody>
      </p:sp>
      <p:sp>
        <p:nvSpPr>
          <p:cNvPr id="20" name="Shape 18"/>
          <p:cNvSpPr/>
          <p:nvPr/>
        </p:nvSpPr>
        <p:spPr>
          <a:xfrm>
            <a:off x="548640" y="3840480"/>
            <a:ext cx="3520440" cy="2103120"/>
          </a:xfrm>
          <a:prstGeom prst="roundRect">
            <a:avLst>
              <a:gd name="adj" fmla="val 2609"/>
            </a:avLst>
          </a:prstGeom>
          <a:solidFill>
            <a:srgbClr val="FBF1E3"/>
          </a:solidFill>
          <a:ln w="12700">
            <a:solidFill>
              <a:srgbClr val="D98C1F"/>
            </a:solidFill>
            <a:prstDash val="solid"/>
          </a:ln>
        </p:spPr>
        <p:txBody>
          <a:bodyPr/>
          <a:lstStyle/>
          <a:p>
            <a:endParaRPr lang="en-US"/>
          </a:p>
        </p:txBody>
      </p:sp>
      <p:sp>
        <p:nvSpPr>
          <p:cNvPr id="21" name="Shape 19"/>
          <p:cNvSpPr/>
          <p:nvPr/>
        </p:nvSpPr>
        <p:spPr>
          <a:xfrm>
            <a:off x="566928" y="3858768"/>
            <a:ext cx="3483864" cy="438912"/>
          </a:xfrm>
          <a:prstGeom prst="rect">
            <a:avLst/>
          </a:prstGeom>
          <a:solidFill>
            <a:srgbClr val="D98C1F"/>
          </a:solidFill>
          <a:ln w="12700">
            <a:solidFill>
              <a:srgbClr val="D98C1F"/>
            </a:solidFill>
            <a:prstDash val="solid"/>
          </a:ln>
        </p:spPr>
        <p:txBody>
          <a:bodyPr/>
          <a:lstStyle/>
          <a:p>
            <a:endParaRPr lang="en-US"/>
          </a:p>
        </p:txBody>
      </p:sp>
      <p:sp>
        <p:nvSpPr>
          <p:cNvPr id="22" name="Text 20"/>
          <p:cNvSpPr txBox="1"/>
          <p:nvPr/>
        </p:nvSpPr>
        <p:spPr>
          <a:xfrm>
            <a:off x="731520" y="3858768"/>
            <a:ext cx="3154680" cy="438912"/>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facts</a:t>
            </a:r>
            <a:endParaRPr lang="en-US" sz="1400" dirty="0"/>
          </a:p>
        </p:txBody>
      </p:sp>
      <p:sp>
        <p:nvSpPr>
          <p:cNvPr id="23" name="Text 21"/>
          <p:cNvSpPr txBox="1"/>
          <p:nvPr/>
        </p:nvSpPr>
        <p:spPr>
          <a:xfrm>
            <a:off x="731520" y="4434840"/>
            <a:ext cx="3154680" cy="137160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fact_id · </a:t>
            </a:r>
            <a:r>
              <a:rPr lang="en-US" sz="1200" dirty="0" err="1">
                <a:solidFill>
                  <a:srgbClr val="1E2A32"/>
                </a:solidFill>
                <a:latin typeface="Courier New" pitchFamily="34" charset="0"/>
                <a:ea typeface="Courier New" pitchFamily="34" charset="-122"/>
                <a:cs typeface="Courier New" pitchFamily="34" charset="-120"/>
              </a:rPr>
              <a:t>subject_id</a:t>
            </a:r>
            <a:r>
              <a:rPr lang="en-US" sz="1200" dirty="0">
                <a:solidFill>
                  <a:srgbClr val="1E2A32"/>
                </a:solidFill>
                <a:latin typeface="Courier New" pitchFamily="34" charset="0"/>
                <a:ea typeface="Courier New" pitchFamily="34" charset="-122"/>
                <a:cs typeface="Courier New" pitchFamily="34" charset="-120"/>
              </a:rPr>
              <a:t>(</a:t>
            </a:r>
            <a:r>
              <a:rPr lang="en-US" sz="1200" dirty="0" err="1">
                <a:solidFill>
                  <a:srgbClr val="1E2A32"/>
                </a:solidFill>
                <a:latin typeface="Courier New" pitchFamily="34" charset="0"/>
                <a:ea typeface="Courier New" pitchFamily="34" charset="-122"/>
                <a:cs typeface="Courier New" pitchFamily="34" charset="-120"/>
              </a:rPr>
              <a:t>entity_id</a:t>
            </a:r>
            <a:r>
              <a:rPr lang="en-US" sz="1200" dirty="0">
                <a:solidFill>
                  <a:srgbClr val="1E2A32"/>
                </a:solidFill>
                <a:latin typeface="Courier New" pitchFamily="34" charset="0"/>
                <a:ea typeface="Courier New" pitchFamily="34" charset="-122"/>
                <a:cs typeface="Courier New" pitchFamily="34" charset="-120"/>
              </a:rPr>
              <a:t>) · property_id</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value_json · dtype</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t_from · t_to · confidence</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event_id · created_at</a:t>
            </a:r>
            <a:endParaRPr lang="en-US" sz="1200" dirty="0"/>
          </a:p>
        </p:txBody>
      </p:sp>
      <p:sp>
        <p:nvSpPr>
          <p:cNvPr id="24" name="Shape 22"/>
          <p:cNvSpPr/>
          <p:nvPr/>
        </p:nvSpPr>
        <p:spPr>
          <a:xfrm>
            <a:off x="4297680" y="3840480"/>
            <a:ext cx="2971800" cy="1920240"/>
          </a:xfrm>
          <a:prstGeom prst="roundRect">
            <a:avLst>
              <a:gd name="adj" fmla="val 2857"/>
            </a:avLst>
          </a:prstGeom>
          <a:solidFill>
            <a:srgbClr val="F3F7F8"/>
          </a:solidFill>
          <a:ln w="12700">
            <a:solidFill>
              <a:srgbClr val="C9D6DA"/>
            </a:solidFill>
            <a:prstDash val="solid"/>
          </a:ln>
        </p:spPr>
        <p:txBody>
          <a:bodyPr/>
          <a:lstStyle/>
          <a:p>
            <a:endParaRPr lang="en-US"/>
          </a:p>
        </p:txBody>
      </p:sp>
      <p:sp>
        <p:nvSpPr>
          <p:cNvPr id="25" name="Shape 23"/>
          <p:cNvSpPr/>
          <p:nvPr/>
        </p:nvSpPr>
        <p:spPr>
          <a:xfrm>
            <a:off x="4315968" y="3858768"/>
            <a:ext cx="2935224" cy="438912"/>
          </a:xfrm>
          <a:prstGeom prst="rect">
            <a:avLst/>
          </a:prstGeom>
          <a:solidFill>
            <a:srgbClr val="0F5C6B"/>
          </a:solidFill>
          <a:ln w="12700">
            <a:solidFill>
              <a:srgbClr val="0F5C6B"/>
            </a:solidFill>
            <a:prstDash val="solid"/>
          </a:ln>
        </p:spPr>
        <p:txBody>
          <a:bodyPr/>
          <a:lstStyle/>
          <a:p>
            <a:endParaRPr lang="en-US"/>
          </a:p>
        </p:txBody>
      </p:sp>
      <p:sp>
        <p:nvSpPr>
          <p:cNvPr id="26" name="Text 24"/>
          <p:cNvSpPr txBox="1"/>
          <p:nvPr/>
        </p:nvSpPr>
        <p:spPr>
          <a:xfrm>
            <a:off x="4480560" y="3858768"/>
            <a:ext cx="2606040" cy="438912"/>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evidence</a:t>
            </a:r>
            <a:endParaRPr lang="en-US" sz="1400" dirty="0"/>
          </a:p>
        </p:txBody>
      </p:sp>
      <p:sp>
        <p:nvSpPr>
          <p:cNvPr id="27" name="Text 25"/>
          <p:cNvSpPr txBox="1"/>
          <p:nvPr/>
        </p:nvSpPr>
        <p:spPr>
          <a:xfrm>
            <a:off x="4480560" y="4434840"/>
            <a:ext cx="2606040" cy="118872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fact_id · event_id</a:t>
            </a:r>
            <a:endParaRPr lang="en-US" sz="1200" dirty="0"/>
          </a:p>
          <a:p>
            <a:pPr marL="0" indent="0">
              <a:buNone/>
            </a:pPr>
            <a:r>
              <a:rPr lang="en-US" sz="1200" dirty="0">
                <a:solidFill>
                  <a:srgbClr val="1E2A32"/>
                </a:solidFill>
                <a:latin typeface="Courier New" pitchFamily="34" charset="0"/>
                <a:ea typeface="Courier New" pitchFamily="34" charset="-122"/>
                <a:cs typeface="Courier New" pitchFamily="34" charset="-120"/>
              </a:rPr>
              <a:t>turn_id · span</a:t>
            </a:r>
            <a:endParaRPr lang="en-US" sz="1200" dirty="0"/>
          </a:p>
        </p:txBody>
      </p:sp>
      <p:sp>
        <p:nvSpPr>
          <p:cNvPr id="28" name="Shape 26"/>
          <p:cNvSpPr/>
          <p:nvPr/>
        </p:nvSpPr>
        <p:spPr>
          <a:xfrm>
            <a:off x="7498080" y="3840480"/>
            <a:ext cx="3108960" cy="1920240"/>
          </a:xfrm>
          <a:prstGeom prst="roundRect">
            <a:avLst>
              <a:gd name="adj" fmla="val 2857"/>
            </a:avLst>
          </a:prstGeom>
          <a:solidFill>
            <a:srgbClr val="F3F7F8"/>
          </a:solidFill>
          <a:ln w="12700">
            <a:solidFill>
              <a:srgbClr val="C9D6DA"/>
            </a:solidFill>
            <a:prstDash val="solid"/>
          </a:ln>
        </p:spPr>
        <p:txBody>
          <a:bodyPr/>
          <a:lstStyle/>
          <a:p>
            <a:endParaRPr lang="en-US"/>
          </a:p>
        </p:txBody>
      </p:sp>
      <p:sp>
        <p:nvSpPr>
          <p:cNvPr id="29" name="Shape 27"/>
          <p:cNvSpPr/>
          <p:nvPr/>
        </p:nvSpPr>
        <p:spPr>
          <a:xfrm>
            <a:off x="7516368" y="3858768"/>
            <a:ext cx="3072384" cy="438912"/>
          </a:xfrm>
          <a:prstGeom prst="rect">
            <a:avLst/>
          </a:prstGeom>
          <a:solidFill>
            <a:srgbClr val="0F5C6B"/>
          </a:solidFill>
          <a:ln w="12700">
            <a:solidFill>
              <a:srgbClr val="0F5C6B"/>
            </a:solidFill>
            <a:prstDash val="solid"/>
          </a:ln>
        </p:spPr>
        <p:txBody>
          <a:bodyPr/>
          <a:lstStyle/>
          <a:p>
            <a:endParaRPr lang="en-US"/>
          </a:p>
        </p:txBody>
      </p:sp>
      <p:sp>
        <p:nvSpPr>
          <p:cNvPr id="30" name="Text 28"/>
          <p:cNvSpPr txBox="1"/>
          <p:nvPr/>
        </p:nvSpPr>
        <p:spPr>
          <a:xfrm>
            <a:off x="7680960" y="3858768"/>
            <a:ext cx="2743200" cy="438912"/>
          </a:xfrm>
          <a:prstGeom prst="rect">
            <a:avLst/>
          </a:prstGeom>
          <a:noFill/>
          <a:ln/>
        </p:spPr>
        <p:txBody>
          <a:bodyPr wrap="square" lIns="0" tIns="0" rIns="0" bIns="0"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event_participants</a:t>
            </a:r>
            <a:endParaRPr lang="en-US" sz="1400" dirty="0"/>
          </a:p>
        </p:txBody>
      </p:sp>
      <p:sp>
        <p:nvSpPr>
          <p:cNvPr id="31" name="Text 29"/>
          <p:cNvSpPr txBox="1"/>
          <p:nvPr/>
        </p:nvSpPr>
        <p:spPr>
          <a:xfrm>
            <a:off x="7680960" y="4434840"/>
            <a:ext cx="2743200" cy="1188720"/>
          </a:xfrm>
          <a:prstGeom prst="rect">
            <a:avLst/>
          </a:prstGeom>
          <a:noFill/>
          <a:ln/>
        </p:spPr>
        <p:txBody>
          <a:bodyPr wrap="square" lIns="0" tIns="0" rIns="0" bIns="0" rtlCol="0" anchor="t"/>
          <a:lstStyle/>
          <a:p>
            <a:pPr marL="0" indent="0">
              <a:buNone/>
            </a:pPr>
            <a:r>
              <a:rPr lang="en-US" sz="1200" dirty="0">
                <a:solidFill>
                  <a:srgbClr val="1E2A32"/>
                </a:solidFill>
                <a:latin typeface="Courier New" pitchFamily="34" charset="0"/>
                <a:ea typeface="Courier New" pitchFamily="34" charset="-122"/>
                <a:cs typeface="Courier New" pitchFamily="34" charset="-120"/>
              </a:rPr>
              <a:t>event_id · entity_id</a:t>
            </a:r>
            <a:endParaRPr lang="en-US" sz="1200" dirty="0"/>
          </a:p>
        </p:txBody>
      </p:sp>
      <p:sp>
        <p:nvSpPr>
          <p:cNvPr id="32" name="Text 30"/>
          <p:cNvSpPr txBox="1"/>
          <p:nvPr/>
        </p:nvSpPr>
        <p:spPr>
          <a:xfrm>
            <a:off x="548640" y="6035040"/>
            <a:ext cx="11064240" cy="32004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Kèm theo: chỉ mục vector (thực thể, thuộc tính, fact, sự kiện, lượt gốc) và FTS5 cho tìm kiếm từ khóa.</a:t>
            </a:r>
            <a:endParaRPr lang="en-US" sz="1300" dirty="0"/>
          </a:p>
        </p:txBody>
      </p:sp>
      <p:sp>
        <p:nvSpPr>
          <p:cNvPr id="33" name="Text 31"/>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Tên bảng theo bài báo (§4, §4.3); cột là thiết kế của nhóm từ định nghĩa hình thức ở §3.1.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PIPELINE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Luồng ghi: dựng bộ nhớ từ hội thoại</a:t>
            </a:r>
            <a:endParaRPr lang="en-US" sz="3000" dirty="0"/>
          </a:p>
        </p:txBody>
      </p:sp>
      <p:sp>
        <p:nvSpPr>
          <p:cNvPr id="4" name="Shape 2"/>
          <p:cNvSpPr/>
          <p:nvPr/>
        </p:nvSpPr>
        <p:spPr>
          <a:xfrm>
            <a:off x="548640" y="1645920"/>
            <a:ext cx="2606040" cy="3200400"/>
          </a:xfrm>
          <a:prstGeom prst="roundRect">
            <a:avLst>
              <a:gd name="adj" fmla="val 2807"/>
            </a:avLst>
          </a:prstGeom>
          <a:solidFill>
            <a:srgbClr val="F3F7F8"/>
          </a:solidFill>
          <a:ln w="9525">
            <a:solidFill>
              <a:srgbClr val="C9D6DA"/>
            </a:solidFill>
            <a:prstDash val="solid"/>
          </a:ln>
        </p:spPr>
        <p:txBody>
          <a:bodyPr/>
          <a:lstStyle/>
          <a:p>
            <a:endParaRPr lang="en-US"/>
          </a:p>
        </p:txBody>
      </p:sp>
      <p:sp>
        <p:nvSpPr>
          <p:cNvPr id="5" name="Shape 3"/>
          <p:cNvSpPr/>
          <p:nvPr/>
        </p:nvSpPr>
        <p:spPr>
          <a:xfrm>
            <a:off x="822960" y="1920240"/>
            <a:ext cx="420624" cy="420624"/>
          </a:xfrm>
          <a:prstGeom prst="ellipse">
            <a:avLst/>
          </a:prstGeom>
          <a:solidFill>
            <a:srgbClr val="0F5C6B"/>
          </a:solidFill>
          <a:ln w="12700">
            <a:solidFill>
              <a:srgbClr val="0F5C6B"/>
            </a:solidFill>
            <a:prstDash val="solid"/>
          </a:ln>
        </p:spPr>
        <p:txBody>
          <a:bodyPr/>
          <a:lstStyle/>
          <a:p>
            <a:endParaRPr lang="en-US"/>
          </a:p>
        </p:txBody>
      </p:sp>
      <p:sp>
        <p:nvSpPr>
          <p:cNvPr id="6" name="Text 4"/>
          <p:cNvSpPr txBox="1"/>
          <p:nvPr/>
        </p:nvSpPr>
        <p:spPr>
          <a:xfrm>
            <a:off x="82296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1920240" y="1975104"/>
            <a:ext cx="1005840" cy="329184"/>
          </a:xfrm>
          <a:prstGeom prst="roundRect">
            <a:avLst>
              <a:gd name="adj" fmla="val 22222"/>
            </a:avLst>
          </a:prstGeom>
          <a:solidFill>
            <a:srgbClr val="E6F0F2"/>
          </a:solidFill>
          <a:ln w="12700">
            <a:solidFill>
              <a:srgbClr val="E6F0F2"/>
            </a:solidFill>
            <a:prstDash val="solid"/>
          </a:ln>
        </p:spPr>
        <p:txBody>
          <a:bodyPr/>
          <a:lstStyle/>
          <a:p>
            <a:endParaRPr lang="en-US"/>
          </a:p>
        </p:txBody>
      </p:sp>
      <p:sp>
        <p:nvSpPr>
          <p:cNvPr id="8" name="Text 6"/>
          <p:cNvSpPr txBox="1"/>
          <p:nvPr/>
        </p:nvSpPr>
        <p:spPr>
          <a:xfrm>
            <a:off x="1920240" y="1975104"/>
            <a:ext cx="1005840" cy="329184"/>
          </a:xfrm>
          <a:prstGeom prst="rect">
            <a:avLst/>
          </a:prstGeom>
          <a:noFill/>
          <a:ln/>
        </p:spPr>
        <p:txBody>
          <a:bodyPr wrap="square" lIns="0" tIns="0" rIns="0" bIns="0" rtlCol="0" anchor="ctr"/>
          <a:lstStyle/>
          <a:p>
            <a:pPr marL="0" indent="0" algn="ctr">
              <a:buNone/>
            </a:pPr>
            <a:r>
              <a:rPr lang="en-US" sz="1100" b="1" dirty="0">
                <a:solidFill>
                  <a:srgbClr val="0F5C6B"/>
                </a:solidFill>
                <a:latin typeface="Calibri" pitchFamily="34" charset="0"/>
                <a:ea typeface="Calibri" pitchFamily="34" charset="-122"/>
                <a:cs typeface="Calibri" pitchFamily="34" charset="-120"/>
              </a:rPr>
              <a:t>không LLM</a:t>
            </a:r>
            <a:endParaRPr lang="en-US" sz="1100" dirty="0"/>
          </a:p>
        </p:txBody>
      </p:sp>
      <p:sp>
        <p:nvSpPr>
          <p:cNvPr id="9" name="Text 7"/>
          <p:cNvSpPr txBox="1"/>
          <p:nvPr/>
        </p:nvSpPr>
        <p:spPr>
          <a:xfrm>
            <a:off x="822960" y="2560320"/>
            <a:ext cx="2057400" cy="411480"/>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Lọc liên quan</a:t>
            </a:r>
            <a:endParaRPr lang="en-US" sz="1800" dirty="0"/>
          </a:p>
        </p:txBody>
      </p:sp>
      <p:sp>
        <p:nvSpPr>
          <p:cNvPr id="10" name="Text 8"/>
          <p:cNvSpPr txBox="1"/>
          <p:nvPr/>
        </p:nvSpPr>
        <p:spPr>
          <a:xfrm>
            <a:off x="822960" y="3063240"/>
            <a:ext cx="2057400" cy="2377440"/>
          </a:xfrm>
          <a:prstGeom prst="rect">
            <a:avLst/>
          </a:prstGeom>
          <a:noFill/>
          <a:ln/>
        </p:spPr>
        <p:txBody>
          <a:bodyPr wrap="square" lIns="0" tIns="0" rIns="0" bIns="0" rtlCol="0" anchor="t"/>
          <a:lstStyle/>
          <a:p>
            <a:r>
              <a:rPr lang="en-US" sz="1300" dirty="0">
                <a:solidFill>
                  <a:srgbClr val="1E2A32"/>
                </a:solidFill>
                <a:latin typeface="Calibri" pitchFamily="34" charset="0"/>
                <a:ea typeface="Calibri" pitchFamily="34" charset="-122"/>
                <a:cs typeface="Calibri" pitchFamily="34" charset="-120"/>
              </a:rPr>
              <a:t>Chấm điểm mỗi phiên theo câu hỏi bằng tìm kiếm ngữ nghĩa + từ khóa. Giữ phiên có điểm &gt; ng</a:t>
            </a:r>
            <a:r>
              <a:rPr lang="vi-VN" sz="1300" dirty="0">
                <a:solidFill>
                  <a:srgbClr val="1E2A32"/>
                </a:solidFill>
                <a:latin typeface="Calibri" pitchFamily="34" charset="0"/>
                <a:ea typeface="Calibri" pitchFamily="34" charset="-122"/>
                <a:cs typeface="Calibri" pitchFamily="34" charset="-120"/>
              </a:rPr>
              <a:t>ưỡng</a:t>
            </a:r>
            <a:r>
              <a:rPr lang="en-US" sz="1300" dirty="0">
                <a:solidFill>
                  <a:srgbClr val="1E2A32"/>
                </a:solidFill>
                <a:latin typeface="Calibri" pitchFamily="34" charset="0"/>
                <a:ea typeface="Calibri" pitchFamily="34" charset="-122"/>
                <a:cs typeface="Calibri" pitchFamily="34" charset="-120"/>
              </a:rPr>
              <a:t>, theo thứ tự thời gian.</a:t>
            </a:r>
            <a:endParaRPr lang="en-US" sz="1300" dirty="0"/>
          </a:p>
        </p:txBody>
      </p:sp>
      <p:sp>
        <p:nvSpPr>
          <p:cNvPr id="11" name="Shape 9"/>
          <p:cNvSpPr/>
          <p:nvPr/>
        </p:nvSpPr>
        <p:spPr>
          <a:xfrm>
            <a:off x="3172968" y="3246120"/>
            <a:ext cx="192024" cy="0"/>
          </a:xfrm>
          <a:prstGeom prst="line">
            <a:avLst/>
          </a:prstGeom>
          <a:noFill/>
          <a:ln w="25400">
            <a:solidFill>
              <a:srgbClr val="2A8A99"/>
            </a:solidFill>
            <a:prstDash val="solid"/>
            <a:tailEnd type="triangle"/>
          </a:ln>
        </p:spPr>
        <p:txBody>
          <a:bodyPr/>
          <a:lstStyle/>
          <a:p>
            <a:endParaRPr lang="en-US"/>
          </a:p>
        </p:txBody>
      </p:sp>
      <p:sp>
        <p:nvSpPr>
          <p:cNvPr id="12" name="Shape 10"/>
          <p:cNvSpPr/>
          <p:nvPr/>
        </p:nvSpPr>
        <p:spPr>
          <a:xfrm>
            <a:off x="3383280" y="1645920"/>
            <a:ext cx="2606040" cy="3200400"/>
          </a:xfrm>
          <a:prstGeom prst="roundRect">
            <a:avLst>
              <a:gd name="adj" fmla="val 2807"/>
            </a:avLst>
          </a:prstGeom>
          <a:solidFill>
            <a:srgbClr val="F3F7F8"/>
          </a:solidFill>
          <a:ln w="9525">
            <a:solidFill>
              <a:srgbClr val="C9D6DA"/>
            </a:solidFill>
            <a:prstDash val="solid"/>
          </a:ln>
        </p:spPr>
        <p:txBody>
          <a:bodyPr/>
          <a:lstStyle/>
          <a:p>
            <a:endParaRPr lang="en-US"/>
          </a:p>
        </p:txBody>
      </p:sp>
      <p:sp>
        <p:nvSpPr>
          <p:cNvPr id="13" name="Shape 11"/>
          <p:cNvSpPr/>
          <p:nvPr/>
        </p:nvSpPr>
        <p:spPr>
          <a:xfrm>
            <a:off x="3657600" y="1920240"/>
            <a:ext cx="420624" cy="420624"/>
          </a:xfrm>
          <a:prstGeom prst="ellipse">
            <a:avLst/>
          </a:prstGeom>
          <a:solidFill>
            <a:srgbClr val="0F5C6B"/>
          </a:solidFill>
          <a:ln w="12700">
            <a:solidFill>
              <a:srgbClr val="0F5C6B"/>
            </a:solidFill>
            <a:prstDash val="solid"/>
          </a:ln>
        </p:spPr>
        <p:txBody>
          <a:bodyPr/>
          <a:lstStyle/>
          <a:p>
            <a:endParaRPr lang="en-US"/>
          </a:p>
        </p:txBody>
      </p:sp>
      <p:sp>
        <p:nvSpPr>
          <p:cNvPr id="14" name="Text 12"/>
          <p:cNvSpPr txBox="1"/>
          <p:nvPr/>
        </p:nvSpPr>
        <p:spPr>
          <a:xfrm>
            <a:off x="365760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Shape 13"/>
          <p:cNvSpPr/>
          <p:nvPr/>
        </p:nvSpPr>
        <p:spPr>
          <a:xfrm>
            <a:off x="4754880" y="1975104"/>
            <a:ext cx="1005840" cy="329184"/>
          </a:xfrm>
          <a:prstGeom prst="roundRect">
            <a:avLst>
              <a:gd name="adj" fmla="val 22222"/>
            </a:avLst>
          </a:prstGeom>
          <a:solidFill>
            <a:srgbClr val="FBF1E3"/>
          </a:solidFill>
          <a:ln w="12700">
            <a:solidFill>
              <a:srgbClr val="D98C1F"/>
            </a:solidFill>
            <a:prstDash val="solid"/>
          </a:ln>
        </p:spPr>
        <p:txBody>
          <a:bodyPr/>
          <a:lstStyle/>
          <a:p>
            <a:endParaRPr lang="en-US"/>
          </a:p>
        </p:txBody>
      </p:sp>
      <p:sp>
        <p:nvSpPr>
          <p:cNvPr id="16" name="Text 14"/>
          <p:cNvSpPr txBox="1"/>
          <p:nvPr/>
        </p:nvSpPr>
        <p:spPr>
          <a:xfrm>
            <a:off x="4754880" y="1975104"/>
            <a:ext cx="1005840" cy="329184"/>
          </a:xfrm>
          <a:prstGeom prst="rect">
            <a:avLst/>
          </a:prstGeom>
          <a:noFill/>
          <a:ln/>
        </p:spPr>
        <p:txBody>
          <a:bodyPr wrap="square" lIns="0" tIns="0" rIns="0" bIns="0" rtlCol="0" anchor="ctr"/>
          <a:lstStyle/>
          <a:p>
            <a:pPr marL="0" indent="0" algn="ctr">
              <a:buNone/>
            </a:pPr>
            <a:r>
              <a:rPr lang="en-US" sz="1100" b="1" dirty="0">
                <a:solidFill>
                  <a:srgbClr val="D98C1F"/>
                </a:solidFill>
                <a:latin typeface="Calibri" pitchFamily="34" charset="0"/>
                <a:ea typeface="Calibri" pitchFamily="34" charset="-122"/>
                <a:cs typeface="Calibri" pitchFamily="34" charset="-120"/>
              </a:rPr>
              <a:t>gọi LLM</a:t>
            </a:r>
            <a:endParaRPr lang="en-US" sz="1100" dirty="0"/>
          </a:p>
        </p:txBody>
      </p:sp>
      <p:sp>
        <p:nvSpPr>
          <p:cNvPr id="17" name="Text 15"/>
          <p:cNvSpPr txBox="1"/>
          <p:nvPr/>
        </p:nvSpPr>
        <p:spPr>
          <a:xfrm>
            <a:off x="3657600" y="2560320"/>
            <a:ext cx="2057400" cy="411480"/>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Trích xuất</a:t>
            </a:r>
            <a:endParaRPr lang="en-US" sz="1800" dirty="0"/>
          </a:p>
        </p:txBody>
      </p:sp>
      <p:sp>
        <p:nvSpPr>
          <p:cNvPr id="18" name="Text 16"/>
          <p:cNvSpPr txBox="1"/>
          <p:nvPr/>
        </p:nvSpPr>
        <p:spPr>
          <a:xfrm>
            <a:off x="3657600" y="3063240"/>
            <a:ext cx="2057400" cy="237744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Mỗi lượt → một sự kiện: loại, thời gian, địa điểm, người tham gia, danh sách fact, bằng chứng. Thời gian quy về ISO 8601 theo ngày của phiên.</a:t>
            </a:r>
            <a:endParaRPr lang="en-US" sz="1300" dirty="0"/>
          </a:p>
        </p:txBody>
      </p:sp>
      <p:sp>
        <p:nvSpPr>
          <p:cNvPr id="19" name="Shape 17"/>
          <p:cNvSpPr/>
          <p:nvPr/>
        </p:nvSpPr>
        <p:spPr>
          <a:xfrm>
            <a:off x="6007608" y="3246120"/>
            <a:ext cx="192024" cy="0"/>
          </a:xfrm>
          <a:prstGeom prst="line">
            <a:avLst/>
          </a:prstGeom>
          <a:noFill/>
          <a:ln w="25400">
            <a:solidFill>
              <a:srgbClr val="2A8A99"/>
            </a:solidFill>
            <a:prstDash val="solid"/>
            <a:tailEnd type="triangle"/>
          </a:ln>
        </p:spPr>
        <p:txBody>
          <a:bodyPr/>
          <a:lstStyle/>
          <a:p>
            <a:endParaRPr lang="en-US"/>
          </a:p>
        </p:txBody>
      </p:sp>
      <p:sp>
        <p:nvSpPr>
          <p:cNvPr id="20" name="Shape 18"/>
          <p:cNvSpPr/>
          <p:nvPr/>
        </p:nvSpPr>
        <p:spPr>
          <a:xfrm>
            <a:off x="6217920" y="1645920"/>
            <a:ext cx="2606040" cy="3200400"/>
          </a:xfrm>
          <a:prstGeom prst="roundRect">
            <a:avLst>
              <a:gd name="adj" fmla="val 2807"/>
            </a:avLst>
          </a:prstGeom>
          <a:solidFill>
            <a:srgbClr val="F3F7F8"/>
          </a:solidFill>
          <a:ln w="9525">
            <a:solidFill>
              <a:srgbClr val="C9D6DA"/>
            </a:solidFill>
            <a:prstDash val="solid"/>
          </a:ln>
        </p:spPr>
        <p:txBody>
          <a:bodyPr/>
          <a:lstStyle/>
          <a:p>
            <a:endParaRPr lang="en-US"/>
          </a:p>
        </p:txBody>
      </p:sp>
      <p:sp>
        <p:nvSpPr>
          <p:cNvPr id="21" name="Shape 19"/>
          <p:cNvSpPr/>
          <p:nvPr/>
        </p:nvSpPr>
        <p:spPr>
          <a:xfrm>
            <a:off x="6492240" y="1920240"/>
            <a:ext cx="420624" cy="420624"/>
          </a:xfrm>
          <a:prstGeom prst="ellipse">
            <a:avLst/>
          </a:prstGeom>
          <a:solidFill>
            <a:srgbClr val="0F5C6B"/>
          </a:solidFill>
          <a:ln w="12700">
            <a:solidFill>
              <a:srgbClr val="0F5C6B"/>
            </a:solidFill>
            <a:prstDash val="solid"/>
          </a:ln>
        </p:spPr>
        <p:txBody>
          <a:bodyPr/>
          <a:lstStyle/>
          <a:p>
            <a:endParaRPr lang="en-US"/>
          </a:p>
        </p:txBody>
      </p:sp>
      <p:sp>
        <p:nvSpPr>
          <p:cNvPr id="22" name="Text 20"/>
          <p:cNvSpPr txBox="1"/>
          <p:nvPr/>
        </p:nvSpPr>
        <p:spPr>
          <a:xfrm>
            <a:off x="649224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7589520" y="1975104"/>
            <a:ext cx="1005840" cy="329184"/>
          </a:xfrm>
          <a:prstGeom prst="roundRect">
            <a:avLst>
              <a:gd name="adj" fmla="val 22222"/>
            </a:avLst>
          </a:prstGeom>
          <a:solidFill>
            <a:srgbClr val="FBF1E3"/>
          </a:solidFill>
          <a:ln w="12700">
            <a:solidFill>
              <a:srgbClr val="D98C1F"/>
            </a:solidFill>
            <a:prstDash val="solid"/>
          </a:ln>
        </p:spPr>
        <p:txBody>
          <a:bodyPr/>
          <a:lstStyle/>
          <a:p>
            <a:endParaRPr lang="en-US"/>
          </a:p>
        </p:txBody>
      </p:sp>
      <p:sp>
        <p:nvSpPr>
          <p:cNvPr id="24" name="Text 22"/>
          <p:cNvSpPr txBox="1"/>
          <p:nvPr/>
        </p:nvSpPr>
        <p:spPr>
          <a:xfrm>
            <a:off x="7589520" y="1975104"/>
            <a:ext cx="1005840" cy="329184"/>
          </a:xfrm>
          <a:prstGeom prst="rect">
            <a:avLst/>
          </a:prstGeom>
          <a:noFill/>
          <a:ln/>
        </p:spPr>
        <p:txBody>
          <a:bodyPr wrap="square" lIns="0" tIns="0" rIns="0" bIns="0" rtlCol="0" anchor="ctr"/>
          <a:lstStyle/>
          <a:p>
            <a:pPr marL="0" indent="0" algn="ctr">
              <a:buNone/>
            </a:pPr>
            <a:r>
              <a:rPr lang="en-US" sz="1100" b="1" dirty="0">
                <a:solidFill>
                  <a:srgbClr val="D98C1F"/>
                </a:solidFill>
                <a:latin typeface="Calibri" pitchFamily="34" charset="0"/>
                <a:ea typeface="Calibri" pitchFamily="34" charset="-122"/>
                <a:cs typeface="Calibri" pitchFamily="34" charset="-120"/>
              </a:rPr>
              <a:t>gọi LLM</a:t>
            </a:r>
            <a:endParaRPr lang="en-US" sz="1100" dirty="0"/>
          </a:p>
        </p:txBody>
      </p:sp>
      <p:sp>
        <p:nvSpPr>
          <p:cNvPr id="25" name="Text 23"/>
          <p:cNvSpPr txBox="1"/>
          <p:nvPr/>
        </p:nvSpPr>
        <p:spPr>
          <a:xfrm>
            <a:off x="6492240" y="2560320"/>
            <a:ext cx="2057400" cy="411480"/>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Giải quyết</a:t>
            </a:r>
            <a:endParaRPr lang="en-US" sz="1800" dirty="0"/>
          </a:p>
        </p:txBody>
      </p:sp>
      <p:sp>
        <p:nvSpPr>
          <p:cNvPr id="26" name="Text 24"/>
          <p:cNvSpPr txBox="1"/>
          <p:nvPr/>
        </p:nvSpPr>
        <p:spPr>
          <a:xfrm>
            <a:off x="6492240" y="3063240"/>
            <a:ext cx="2057400" cy="237744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Lấy top-k thực thể gần nhất từ chỉ mục vector → LLM chọn: dùng cái có sẵn, tạo mới, hoặc bỏ qua. Thuộc tính chuẩn về snake_case + kiểu dữ liệu.</a:t>
            </a:r>
            <a:endParaRPr lang="en-US" sz="1300" dirty="0"/>
          </a:p>
        </p:txBody>
      </p:sp>
      <p:sp>
        <p:nvSpPr>
          <p:cNvPr id="27" name="Shape 25"/>
          <p:cNvSpPr/>
          <p:nvPr/>
        </p:nvSpPr>
        <p:spPr>
          <a:xfrm>
            <a:off x="8842248" y="3246120"/>
            <a:ext cx="192024" cy="0"/>
          </a:xfrm>
          <a:prstGeom prst="line">
            <a:avLst/>
          </a:prstGeom>
          <a:noFill/>
          <a:ln w="25400">
            <a:solidFill>
              <a:srgbClr val="2A8A99"/>
            </a:solidFill>
            <a:prstDash val="solid"/>
            <a:tailEnd type="triangle"/>
          </a:ln>
        </p:spPr>
        <p:txBody>
          <a:bodyPr/>
          <a:lstStyle/>
          <a:p>
            <a:endParaRPr lang="en-US"/>
          </a:p>
        </p:txBody>
      </p:sp>
      <p:sp>
        <p:nvSpPr>
          <p:cNvPr id="28" name="Shape 26"/>
          <p:cNvSpPr/>
          <p:nvPr/>
        </p:nvSpPr>
        <p:spPr>
          <a:xfrm>
            <a:off x="9052560" y="1645920"/>
            <a:ext cx="2606040" cy="3200400"/>
          </a:xfrm>
          <a:prstGeom prst="roundRect">
            <a:avLst>
              <a:gd name="adj" fmla="val 2807"/>
            </a:avLst>
          </a:prstGeom>
          <a:solidFill>
            <a:srgbClr val="F3F7F8"/>
          </a:solidFill>
          <a:ln w="9525">
            <a:solidFill>
              <a:srgbClr val="C9D6DA"/>
            </a:solidFill>
            <a:prstDash val="solid"/>
          </a:ln>
        </p:spPr>
        <p:txBody>
          <a:bodyPr/>
          <a:lstStyle/>
          <a:p>
            <a:endParaRPr lang="en-US"/>
          </a:p>
        </p:txBody>
      </p:sp>
      <p:sp>
        <p:nvSpPr>
          <p:cNvPr id="29" name="Shape 27"/>
          <p:cNvSpPr/>
          <p:nvPr/>
        </p:nvSpPr>
        <p:spPr>
          <a:xfrm>
            <a:off x="9326880" y="1920240"/>
            <a:ext cx="420624" cy="420624"/>
          </a:xfrm>
          <a:prstGeom prst="ellipse">
            <a:avLst/>
          </a:prstGeom>
          <a:solidFill>
            <a:srgbClr val="0F5C6B"/>
          </a:solidFill>
          <a:ln w="12700">
            <a:solidFill>
              <a:srgbClr val="0F5C6B"/>
            </a:solidFill>
            <a:prstDash val="solid"/>
          </a:ln>
        </p:spPr>
        <p:txBody>
          <a:bodyPr/>
          <a:lstStyle/>
          <a:p>
            <a:endParaRPr lang="en-US"/>
          </a:p>
        </p:txBody>
      </p:sp>
      <p:sp>
        <p:nvSpPr>
          <p:cNvPr id="30" name="Text 28"/>
          <p:cNvSpPr txBox="1"/>
          <p:nvPr/>
        </p:nvSpPr>
        <p:spPr>
          <a:xfrm>
            <a:off x="932688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Shape 29"/>
          <p:cNvSpPr/>
          <p:nvPr/>
        </p:nvSpPr>
        <p:spPr>
          <a:xfrm>
            <a:off x="10424160" y="1975104"/>
            <a:ext cx="1005840" cy="329184"/>
          </a:xfrm>
          <a:prstGeom prst="roundRect">
            <a:avLst>
              <a:gd name="adj" fmla="val 22222"/>
            </a:avLst>
          </a:prstGeom>
          <a:solidFill>
            <a:srgbClr val="E6F0F2"/>
          </a:solidFill>
          <a:ln w="12700">
            <a:solidFill>
              <a:srgbClr val="E6F0F2"/>
            </a:solidFill>
            <a:prstDash val="solid"/>
          </a:ln>
        </p:spPr>
        <p:txBody>
          <a:bodyPr/>
          <a:lstStyle/>
          <a:p>
            <a:endParaRPr lang="en-US"/>
          </a:p>
        </p:txBody>
      </p:sp>
      <p:sp>
        <p:nvSpPr>
          <p:cNvPr id="32" name="Text 30"/>
          <p:cNvSpPr txBox="1"/>
          <p:nvPr/>
        </p:nvSpPr>
        <p:spPr>
          <a:xfrm>
            <a:off x="10424160" y="1975104"/>
            <a:ext cx="1005840" cy="329184"/>
          </a:xfrm>
          <a:prstGeom prst="rect">
            <a:avLst/>
          </a:prstGeom>
          <a:noFill/>
          <a:ln/>
        </p:spPr>
        <p:txBody>
          <a:bodyPr wrap="square" lIns="0" tIns="0" rIns="0" bIns="0" rtlCol="0" anchor="ctr"/>
          <a:lstStyle/>
          <a:p>
            <a:pPr marL="0" indent="0" algn="ctr">
              <a:buNone/>
            </a:pPr>
            <a:r>
              <a:rPr lang="en-US" sz="1100" b="1" dirty="0">
                <a:solidFill>
                  <a:srgbClr val="0F5C6B"/>
                </a:solidFill>
                <a:latin typeface="Calibri" pitchFamily="34" charset="0"/>
                <a:ea typeface="Calibri" pitchFamily="34" charset="-122"/>
                <a:cs typeface="Calibri" pitchFamily="34" charset="-120"/>
              </a:rPr>
              <a:t>không LLM</a:t>
            </a:r>
            <a:endParaRPr lang="en-US" sz="1100" dirty="0"/>
          </a:p>
        </p:txBody>
      </p:sp>
      <p:sp>
        <p:nvSpPr>
          <p:cNvPr id="33" name="Text 31"/>
          <p:cNvSpPr txBox="1"/>
          <p:nvPr/>
        </p:nvSpPr>
        <p:spPr>
          <a:xfrm>
            <a:off x="9326880" y="2560320"/>
            <a:ext cx="2057400" cy="411480"/>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Ghi</a:t>
            </a:r>
            <a:endParaRPr lang="en-US" sz="1800" dirty="0"/>
          </a:p>
        </p:txBody>
      </p:sp>
      <p:sp>
        <p:nvSpPr>
          <p:cNvPr id="34" name="Text 32"/>
          <p:cNvSpPr txBox="1"/>
          <p:nvPr/>
        </p:nvSpPr>
        <p:spPr>
          <a:xfrm>
            <a:off x="9326880" y="3063240"/>
            <a:ext cx="2057400" cy="237744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Chèn thêm vào SQLite, không ghi đè. Cập nhật chỉ mục vector và FTS5.</a:t>
            </a:r>
            <a:endParaRPr lang="en-US" sz="1300" dirty="0"/>
          </a:p>
        </p:txBody>
      </p:sp>
      <p:sp>
        <p:nvSpPr>
          <p:cNvPr id="35" name="Text 33"/>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Bài báo: trích xuất bằng Claude Sonnet 4.5, giải quyết bằng Claude Haiku 4.5. Nhóm dùng GPT-5.5 cho cả hai; cache kết quả theo hash lượt.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PIPELINE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Luồng đọc: agent ReAct với 5 công cụ</a:t>
            </a:r>
            <a:endParaRPr lang="en-US" sz="3000" dirty="0"/>
          </a:p>
        </p:txBody>
      </p:sp>
      <p:sp>
        <p:nvSpPr>
          <p:cNvPr id="4" name="Shape 2"/>
          <p:cNvSpPr/>
          <p:nvPr/>
        </p:nvSpPr>
        <p:spPr>
          <a:xfrm>
            <a:off x="548640" y="1554480"/>
            <a:ext cx="3566160" cy="1965960"/>
          </a:xfrm>
          <a:prstGeom prst="roundRect">
            <a:avLst>
              <a:gd name="adj" fmla="val 3721"/>
            </a:avLst>
          </a:prstGeom>
          <a:solidFill>
            <a:srgbClr val="F3F7F8"/>
          </a:solidFill>
          <a:ln w="9525">
            <a:solidFill>
              <a:srgbClr val="C9D6DA"/>
            </a:solidFill>
            <a:prstDash val="solid"/>
          </a:ln>
        </p:spPr>
        <p:txBody>
          <a:bodyPr/>
          <a:lstStyle/>
          <a:p>
            <a:endParaRPr lang="en-US"/>
          </a:p>
        </p:txBody>
      </p:sp>
      <p:sp>
        <p:nvSpPr>
          <p:cNvPr id="5" name="Text 3"/>
          <p:cNvSpPr txBox="1"/>
          <p:nvPr/>
        </p:nvSpPr>
        <p:spPr>
          <a:xfrm>
            <a:off x="777240" y="1737360"/>
            <a:ext cx="3108960" cy="411480"/>
          </a:xfrm>
          <a:prstGeom prst="rect">
            <a:avLst/>
          </a:prstGeom>
          <a:noFill/>
          <a:ln/>
        </p:spPr>
        <p:txBody>
          <a:bodyPr wrap="square" lIns="0" tIns="0" rIns="0" bIns="0" rtlCol="0" anchor="ctr"/>
          <a:lstStyle/>
          <a:p>
            <a:pPr marL="0" indent="0">
              <a:buNone/>
            </a:pPr>
            <a:r>
              <a:rPr lang="en-US" sz="1700" b="1" dirty="0">
                <a:solidFill>
                  <a:srgbClr val="0F5C6B"/>
                </a:solidFill>
                <a:latin typeface="Courier New" pitchFamily="34" charset="0"/>
                <a:ea typeface="Courier New" pitchFamily="34" charset="-122"/>
                <a:cs typeface="Courier New" pitchFamily="34" charset="-120"/>
              </a:rPr>
              <a:t>SchemaViewer</a:t>
            </a:r>
            <a:endParaRPr lang="en-US" sz="1700" dirty="0"/>
          </a:p>
        </p:txBody>
      </p:sp>
      <p:sp>
        <p:nvSpPr>
          <p:cNvPr id="6" name="Text 4"/>
          <p:cNvSpPr txBox="1"/>
          <p:nvPr/>
        </p:nvSpPr>
        <p:spPr>
          <a:xfrm>
            <a:off x="777240" y="2194560"/>
            <a:ext cx="3108960" cy="91440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Xem lược đồ DB và hướng dẫn dùng công cụ, cách viết truy vấn thời gian.</a:t>
            </a:r>
            <a:endParaRPr lang="en-US" sz="1300" dirty="0"/>
          </a:p>
        </p:txBody>
      </p:sp>
      <p:sp>
        <p:nvSpPr>
          <p:cNvPr id="7" name="Shape 5"/>
          <p:cNvSpPr/>
          <p:nvPr/>
        </p:nvSpPr>
        <p:spPr>
          <a:xfrm>
            <a:off x="4297680" y="1554480"/>
            <a:ext cx="3566160" cy="1965960"/>
          </a:xfrm>
          <a:prstGeom prst="roundRect">
            <a:avLst>
              <a:gd name="adj" fmla="val 3721"/>
            </a:avLst>
          </a:prstGeom>
          <a:solidFill>
            <a:srgbClr val="F3F7F8"/>
          </a:solidFill>
          <a:ln w="9525">
            <a:solidFill>
              <a:srgbClr val="C9D6DA"/>
            </a:solidFill>
            <a:prstDash val="solid"/>
          </a:ln>
        </p:spPr>
        <p:txBody>
          <a:bodyPr/>
          <a:lstStyle/>
          <a:p>
            <a:endParaRPr lang="en-US"/>
          </a:p>
        </p:txBody>
      </p:sp>
      <p:sp>
        <p:nvSpPr>
          <p:cNvPr id="8" name="Text 6"/>
          <p:cNvSpPr txBox="1"/>
          <p:nvPr/>
        </p:nvSpPr>
        <p:spPr>
          <a:xfrm>
            <a:off x="4526280" y="1737360"/>
            <a:ext cx="3108960" cy="411480"/>
          </a:xfrm>
          <a:prstGeom prst="rect">
            <a:avLst/>
          </a:prstGeom>
          <a:noFill/>
          <a:ln/>
        </p:spPr>
        <p:txBody>
          <a:bodyPr wrap="square" lIns="0" tIns="0" rIns="0" bIns="0" rtlCol="0" anchor="ctr"/>
          <a:lstStyle/>
          <a:p>
            <a:pPr marL="0" indent="0">
              <a:buNone/>
            </a:pPr>
            <a:r>
              <a:rPr lang="en-US" sz="1700" b="1" dirty="0">
                <a:solidFill>
                  <a:srgbClr val="0F5C6B"/>
                </a:solidFill>
                <a:latin typeface="Courier New" pitchFamily="34" charset="0"/>
                <a:ea typeface="Courier New" pitchFamily="34" charset="-122"/>
                <a:cs typeface="Courier New" pitchFamily="34" charset="-120"/>
              </a:rPr>
              <a:t>EntityLookup</a:t>
            </a:r>
            <a:endParaRPr lang="en-US" sz="1700" dirty="0"/>
          </a:p>
        </p:txBody>
      </p:sp>
      <p:sp>
        <p:nvSpPr>
          <p:cNvPr id="9" name="Text 7"/>
          <p:cNvSpPr txBox="1"/>
          <p:nvPr/>
        </p:nvSpPr>
        <p:spPr>
          <a:xfrm>
            <a:off x="4526280" y="2194560"/>
            <a:ext cx="3108960" cy="91440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Tìm thực thể qua chỉ mục lai → trả bảng giá trị thuộc tính mới nhất kèm mốc thời gian.</a:t>
            </a:r>
            <a:endParaRPr lang="en-US" sz="1300" dirty="0"/>
          </a:p>
        </p:txBody>
      </p:sp>
      <p:sp>
        <p:nvSpPr>
          <p:cNvPr id="10" name="Text 8"/>
          <p:cNvSpPr txBox="1"/>
          <p:nvPr/>
        </p:nvSpPr>
        <p:spPr>
          <a:xfrm>
            <a:off x="4526280" y="3108960"/>
            <a:ext cx="3108960" cy="274320"/>
          </a:xfrm>
          <a:prstGeom prst="rect">
            <a:avLst/>
          </a:prstGeom>
          <a:noFill/>
          <a:ln/>
        </p:spPr>
        <p:txBody>
          <a:bodyPr wrap="square" lIns="0" tIns="0" rIns="0" bIns="0" rtlCol="0" anchor="ctr"/>
          <a:lstStyle/>
          <a:p>
            <a:pPr marL="0" indent="0">
              <a:buNone/>
            </a:pPr>
            <a:r>
              <a:rPr lang="en-US" sz="1200" b="1" dirty="0">
                <a:solidFill>
                  <a:srgbClr val="D98C1F"/>
                </a:solidFill>
                <a:latin typeface="Calibri" pitchFamily="34" charset="0"/>
                <a:ea typeface="Calibri" pitchFamily="34" charset="-122"/>
                <a:cs typeface="Calibri" pitchFamily="34" charset="-120"/>
              </a:rPr>
              <a:t>Xử lý KU</a:t>
            </a:r>
            <a:endParaRPr lang="en-US" sz="1200" dirty="0"/>
          </a:p>
        </p:txBody>
      </p:sp>
      <p:sp>
        <p:nvSpPr>
          <p:cNvPr id="11" name="Shape 9"/>
          <p:cNvSpPr/>
          <p:nvPr/>
        </p:nvSpPr>
        <p:spPr>
          <a:xfrm>
            <a:off x="8046720" y="1554480"/>
            <a:ext cx="3566160" cy="1965960"/>
          </a:xfrm>
          <a:prstGeom prst="roundRect">
            <a:avLst>
              <a:gd name="adj" fmla="val 3721"/>
            </a:avLst>
          </a:prstGeom>
          <a:solidFill>
            <a:srgbClr val="F3F7F8"/>
          </a:solidFill>
          <a:ln w="9525">
            <a:solidFill>
              <a:srgbClr val="C9D6DA"/>
            </a:solidFill>
            <a:prstDash val="solid"/>
          </a:ln>
        </p:spPr>
        <p:txBody>
          <a:bodyPr/>
          <a:lstStyle/>
          <a:p>
            <a:endParaRPr lang="en-US"/>
          </a:p>
        </p:txBody>
      </p:sp>
      <p:sp>
        <p:nvSpPr>
          <p:cNvPr id="12" name="Text 10"/>
          <p:cNvSpPr txBox="1"/>
          <p:nvPr/>
        </p:nvSpPr>
        <p:spPr>
          <a:xfrm>
            <a:off x="8275320" y="1737360"/>
            <a:ext cx="3108960" cy="411480"/>
          </a:xfrm>
          <a:prstGeom prst="rect">
            <a:avLst/>
          </a:prstGeom>
          <a:noFill/>
          <a:ln/>
        </p:spPr>
        <p:txBody>
          <a:bodyPr wrap="square" lIns="0" tIns="0" rIns="0" bIns="0" rtlCol="0" anchor="ctr"/>
          <a:lstStyle/>
          <a:p>
            <a:pPr marL="0" indent="0">
              <a:buNone/>
            </a:pPr>
            <a:r>
              <a:rPr lang="en-US" sz="1700" b="1" dirty="0">
                <a:solidFill>
                  <a:srgbClr val="0F5C6B"/>
                </a:solidFill>
                <a:latin typeface="Courier New" pitchFamily="34" charset="0"/>
                <a:ea typeface="Courier New" pitchFamily="34" charset="-122"/>
                <a:cs typeface="Courier New" pitchFamily="34" charset="-120"/>
              </a:rPr>
              <a:t>GraphSQL</a:t>
            </a:r>
            <a:endParaRPr lang="en-US" sz="1700" dirty="0"/>
          </a:p>
        </p:txBody>
      </p:sp>
      <p:sp>
        <p:nvSpPr>
          <p:cNvPr id="13" name="Text 11"/>
          <p:cNvSpPr txBox="1"/>
          <p:nvPr/>
        </p:nvSpPr>
        <p:spPr>
          <a:xfrm>
            <a:off x="8275320" y="2194560"/>
            <a:ext cx="3108960" cy="91440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Một câu SELECT chỉ-đọc trên các bảng cho phép. Chặn UPDATE và DDL.</a:t>
            </a:r>
            <a:endParaRPr lang="en-US" sz="1300" dirty="0"/>
          </a:p>
        </p:txBody>
      </p:sp>
      <p:sp>
        <p:nvSpPr>
          <p:cNvPr id="14" name="Text 12"/>
          <p:cNvSpPr txBox="1"/>
          <p:nvPr/>
        </p:nvSpPr>
        <p:spPr>
          <a:xfrm>
            <a:off x="8275320" y="3108960"/>
            <a:ext cx="3108960" cy="274320"/>
          </a:xfrm>
          <a:prstGeom prst="rect">
            <a:avLst/>
          </a:prstGeom>
          <a:noFill/>
          <a:ln/>
        </p:spPr>
        <p:txBody>
          <a:bodyPr wrap="square" lIns="0" tIns="0" rIns="0" bIns="0" rtlCol="0" anchor="ctr"/>
          <a:lstStyle/>
          <a:p>
            <a:pPr marL="0" indent="0">
              <a:buNone/>
            </a:pPr>
            <a:r>
              <a:rPr lang="en-US" sz="1200" b="1" dirty="0">
                <a:solidFill>
                  <a:srgbClr val="D98C1F"/>
                </a:solidFill>
                <a:latin typeface="Calibri" pitchFamily="34" charset="0"/>
                <a:ea typeface="Calibri" pitchFamily="34" charset="-122"/>
                <a:cs typeface="Calibri" pitchFamily="34" charset="-120"/>
              </a:rPr>
              <a:t>Mạnh cho TR</a:t>
            </a:r>
            <a:endParaRPr lang="en-US" sz="1200" dirty="0"/>
          </a:p>
        </p:txBody>
      </p:sp>
      <p:sp>
        <p:nvSpPr>
          <p:cNvPr id="15" name="Shape 13"/>
          <p:cNvSpPr/>
          <p:nvPr/>
        </p:nvSpPr>
        <p:spPr>
          <a:xfrm>
            <a:off x="548640" y="3749040"/>
            <a:ext cx="3566160" cy="1965960"/>
          </a:xfrm>
          <a:prstGeom prst="roundRect">
            <a:avLst>
              <a:gd name="adj" fmla="val 3721"/>
            </a:avLst>
          </a:prstGeom>
          <a:solidFill>
            <a:srgbClr val="F3F7F8"/>
          </a:solidFill>
          <a:ln w="9525">
            <a:solidFill>
              <a:srgbClr val="C9D6DA"/>
            </a:solidFill>
            <a:prstDash val="solid"/>
          </a:ln>
        </p:spPr>
        <p:txBody>
          <a:bodyPr/>
          <a:lstStyle/>
          <a:p>
            <a:endParaRPr lang="en-US"/>
          </a:p>
        </p:txBody>
      </p:sp>
      <p:sp>
        <p:nvSpPr>
          <p:cNvPr id="16" name="Text 14"/>
          <p:cNvSpPr txBox="1"/>
          <p:nvPr/>
        </p:nvSpPr>
        <p:spPr>
          <a:xfrm>
            <a:off x="777240" y="3931920"/>
            <a:ext cx="3108960" cy="411480"/>
          </a:xfrm>
          <a:prstGeom prst="rect">
            <a:avLst/>
          </a:prstGeom>
          <a:noFill/>
          <a:ln/>
        </p:spPr>
        <p:txBody>
          <a:bodyPr wrap="square" lIns="0" tIns="0" rIns="0" bIns="0" rtlCol="0" anchor="ctr"/>
          <a:lstStyle/>
          <a:p>
            <a:pPr marL="0" indent="0">
              <a:buNone/>
            </a:pPr>
            <a:r>
              <a:rPr lang="en-US" sz="1700" b="1" dirty="0">
                <a:solidFill>
                  <a:srgbClr val="0F5C6B"/>
                </a:solidFill>
                <a:latin typeface="Courier New" pitchFamily="34" charset="0"/>
                <a:ea typeface="Courier New" pitchFamily="34" charset="-122"/>
                <a:cs typeface="Courier New" pitchFamily="34" charset="-120"/>
              </a:rPr>
              <a:t>Search</a:t>
            </a:r>
            <a:endParaRPr lang="en-US" sz="1700" dirty="0"/>
          </a:p>
        </p:txBody>
      </p:sp>
      <p:sp>
        <p:nvSpPr>
          <p:cNvPr id="17" name="Text 15"/>
          <p:cNvSpPr txBox="1"/>
          <p:nvPr/>
        </p:nvSpPr>
        <p:spPr>
          <a:xfrm>
            <a:off x="777240" y="4389120"/>
            <a:ext cx="3108960" cy="91440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Tìm kiếm lai trên toàn đồ thị → đồ thị con: thực thể, sự kiện, bằng chứng, lượt gốc.</a:t>
            </a:r>
            <a:endParaRPr lang="en-US" sz="1300" dirty="0"/>
          </a:p>
        </p:txBody>
      </p:sp>
      <p:sp>
        <p:nvSpPr>
          <p:cNvPr id="18" name="Text 16"/>
          <p:cNvSpPr txBox="1"/>
          <p:nvPr/>
        </p:nvSpPr>
        <p:spPr>
          <a:xfrm>
            <a:off x="777240" y="5303520"/>
            <a:ext cx="3108960" cy="274320"/>
          </a:xfrm>
          <a:prstGeom prst="rect">
            <a:avLst/>
          </a:prstGeom>
          <a:noFill/>
          <a:ln/>
        </p:spPr>
        <p:txBody>
          <a:bodyPr wrap="square" lIns="0" tIns="0" rIns="0" bIns="0" rtlCol="0" anchor="ctr"/>
          <a:lstStyle/>
          <a:p>
            <a:pPr marL="0" indent="0">
              <a:buNone/>
            </a:pPr>
            <a:r>
              <a:rPr lang="en-US" sz="1200" b="1" dirty="0">
                <a:solidFill>
                  <a:srgbClr val="D98C1F"/>
                </a:solidFill>
                <a:latin typeface="Calibri" pitchFamily="34" charset="0"/>
                <a:ea typeface="Calibri" pitchFamily="34" charset="-122"/>
                <a:cs typeface="Calibri" pitchFamily="34" charset="-120"/>
              </a:rPr>
              <a:t>+7,55 điểm</a:t>
            </a:r>
            <a:endParaRPr lang="en-US" sz="1200" dirty="0"/>
          </a:p>
        </p:txBody>
      </p:sp>
      <p:sp>
        <p:nvSpPr>
          <p:cNvPr id="19" name="Shape 17"/>
          <p:cNvSpPr/>
          <p:nvPr/>
        </p:nvSpPr>
        <p:spPr>
          <a:xfrm>
            <a:off x="4297680" y="3749040"/>
            <a:ext cx="3566160" cy="1965960"/>
          </a:xfrm>
          <a:prstGeom prst="roundRect">
            <a:avLst>
              <a:gd name="adj" fmla="val 3721"/>
            </a:avLst>
          </a:prstGeom>
          <a:solidFill>
            <a:srgbClr val="FBF1E3"/>
          </a:solidFill>
          <a:ln w="9525">
            <a:solidFill>
              <a:srgbClr val="C9D6DA"/>
            </a:solidFill>
            <a:prstDash val="solid"/>
          </a:ln>
        </p:spPr>
        <p:txBody>
          <a:bodyPr/>
          <a:lstStyle/>
          <a:p>
            <a:endParaRPr lang="en-US"/>
          </a:p>
        </p:txBody>
      </p:sp>
      <p:sp>
        <p:nvSpPr>
          <p:cNvPr id="20" name="Text 18"/>
          <p:cNvSpPr txBox="1"/>
          <p:nvPr/>
        </p:nvSpPr>
        <p:spPr>
          <a:xfrm>
            <a:off x="4526280" y="3931920"/>
            <a:ext cx="3108960" cy="411480"/>
          </a:xfrm>
          <a:prstGeom prst="rect">
            <a:avLst/>
          </a:prstGeom>
          <a:noFill/>
          <a:ln/>
        </p:spPr>
        <p:txBody>
          <a:bodyPr wrap="square" lIns="0" tIns="0" rIns="0" bIns="0" rtlCol="0" anchor="ctr"/>
          <a:lstStyle/>
          <a:p>
            <a:pPr marL="0" indent="0">
              <a:buNone/>
            </a:pPr>
            <a:r>
              <a:rPr lang="en-US" sz="1700" b="1" dirty="0">
                <a:solidFill>
                  <a:srgbClr val="0F5C6B"/>
                </a:solidFill>
                <a:latin typeface="Courier New" pitchFamily="34" charset="0"/>
                <a:ea typeface="Courier New" pitchFamily="34" charset="-122"/>
                <a:cs typeface="Courier New" pitchFamily="34" charset="-120"/>
              </a:rPr>
              <a:t>PropertySearch</a:t>
            </a:r>
            <a:endParaRPr lang="en-US" sz="1700" dirty="0"/>
          </a:p>
        </p:txBody>
      </p:sp>
      <p:sp>
        <p:nvSpPr>
          <p:cNvPr id="21" name="Text 19"/>
          <p:cNvSpPr txBox="1"/>
          <p:nvPr/>
        </p:nvSpPr>
        <p:spPr>
          <a:xfrm>
            <a:off x="4526280" y="4389120"/>
            <a:ext cx="3108960" cy="91440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Tìm tên thuộc tính phù hợp. Bài có số liệu nhưng không mô tả.</a:t>
            </a:r>
            <a:endParaRPr lang="en-US" sz="1300" dirty="0"/>
          </a:p>
        </p:txBody>
      </p:sp>
      <p:sp>
        <p:nvSpPr>
          <p:cNvPr id="22" name="Text 20"/>
          <p:cNvSpPr txBox="1"/>
          <p:nvPr/>
        </p:nvSpPr>
        <p:spPr>
          <a:xfrm>
            <a:off x="4526280" y="5303520"/>
            <a:ext cx="3108960" cy="274320"/>
          </a:xfrm>
          <a:prstGeom prst="rect">
            <a:avLst/>
          </a:prstGeom>
          <a:noFill/>
          <a:ln/>
        </p:spPr>
        <p:txBody>
          <a:bodyPr wrap="square" lIns="0" tIns="0" rIns="0" bIns="0" rtlCol="0" anchor="ctr"/>
          <a:lstStyle/>
          <a:p>
            <a:pPr marL="0" indent="0">
              <a:buNone/>
            </a:pPr>
            <a:r>
              <a:rPr lang="en-US" sz="1200" b="1" dirty="0">
                <a:solidFill>
                  <a:srgbClr val="D98C1F"/>
                </a:solidFill>
                <a:latin typeface="Calibri" pitchFamily="34" charset="0"/>
                <a:ea typeface="Calibri" pitchFamily="34" charset="-122"/>
                <a:cs typeface="Calibri" pitchFamily="34" charset="-120"/>
              </a:rPr>
              <a:t>Nhóm tự thiết kế</a:t>
            </a:r>
            <a:endParaRPr lang="en-US" sz="1200" dirty="0"/>
          </a:p>
        </p:txBody>
      </p:sp>
      <p:sp>
        <p:nvSpPr>
          <p:cNvPr id="23" name="Shape 21"/>
          <p:cNvSpPr/>
          <p:nvPr/>
        </p:nvSpPr>
        <p:spPr>
          <a:xfrm>
            <a:off x="8046720" y="3749040"/>
            <a:ext cx="3566160" cy="1965960"/>
          </a:xfrm>
          <a:prstGeom prst="roundRect">
            <a:avLst>
              <a:gd name="adj" fmla="val 3721"/>
            </a:avLst>
          </a:prstGeom>
          <a:solidFill>
            <a:srgbClr val="12232E"/>
          </a:solidFill>
          <a:ln w="12700">
            <a:solidFill>
              <a:srgbClr val="12232E"/>
            </a:solidFill>
            <a:prstDash val="solid"/>
          </a:ln>
        </p:spPr>
        <p:txBody>
          <a:bodyPr/>
          <a:lstStyle/>
          <a:p>
            <a:endParaRPr lang="en-US"/>
          </a:p>
        </p:txBody>
      </p:sp>
      <p:sp>
        <p:nvSpPr>
          <p:cNvPr id="24" name="Text 22"/>
          <p:cNvSpPr txBox="1"/>
          <p:nvPr/>
        </p:nvSpPr>
        <p:spPr>
          <a:xfrm>
            <a:off x="8275320" y="3931920"/>
            <a:ext cx="310896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Vòng lặp</a:t>
            </a:r>
            <a:endParaRPr lang="en-US" sz="1700" dirty="0"/>
          </a:p>
        </p:txBody>
      </p:sp>
      <p:sp>
        <p:nvSpPr>
          <p:cNvPr id="25" name="Text 23"/>
          <p:cNvSpPr txBox="1"/>
          <p:nvPr/>
        </p:nvSpPr>
        <p:spPr>
          <a:xfrm>
            <a:off x="8275320" y="4343400"/>
            <a:ext cx="3108960" cy="1280160"/>
          </a:xfrm>
          <a:prstGeom prst="rect">
            <a:avLst/>
          </a:prstGeom>
          <a:noFill/>
          <a:ln/>
        </p:spPr>
        <p:txBody>
          <a:bodyPr wrap="square" lIns="0" tIns="0" rIns="0" bIns="0" rtlCol="0" anchor="t"/>
          <a:lstStyle/>
          <a:p>
            <a:pPr marL="0" indent="0">
              <a:buNone/>
            </a:pPr>
            <a:r>
              <a:rPr lang="en-US" sz="1300" dirty="0">
                <a:solidFill>
                  <a:srgbClr val="D6E6EA"/>
                </a:solidFill>
                <a:latin typeface="Calibri" pitchFamily="34" charset="0"/>
                <a:ea typeface="Calibri" pitchFamily="34" charset="-122"/>
                <a:cs typeface="Calibri" pitchFamily="34" charset="-120"/>
              </a:rPr>
              <a:t>suy nghĩ → chọn công cụ → nhận kết quả → lặp. Tối đa 20 lượt: bài báo cho thấy độ chính xác gần chạm trần ở ~20.</a:t>
            </a:r>
            <a:endParaRPr lang="en-US" sz="1300" dirty="0"/>
          </a:p>
        </p:txBody>
      </p:sp>
      <p:sp>
        <p:nvSpPr>
          <p:cNvPr id="26" name="Text 24"/>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Banerjee et al., ACL 2026, §4 và Bảng 3, 6. Ablation +7,55 điểm là trên LoCoMo.</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CÔNG NGHỆ</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Lựa chọn công nghệ</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2502968678"/>
              </p:ext>
            </p:extLst>
          </p:nvPr>
        </p:nvGraphicFramePr>
        <p:xfrm>
          <a:off x="548640" y="1600200"/>
          <a:ext cx="11064240" cy="3840480"/>
        </p:xfrm>
        <a:graphic>
          <a:graphicData uri="http://schemas.openxmlformats.org/drawingml/2006/table">
            <a:tbl>
              <a:tblPr/>
              <a:tblGrid>
                <a:gridCol w="30175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5486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Thành phần</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Lựa chọn</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Ghi chú</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F5C6B"/>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LLM (trích xuất, giải quyết, agent)</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GPT-5.5 qua 9router</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Ghim cứng provider, tắt fallback, ghi tên mô hình vào mỗi dòng log</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Mô hình chấm</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Khác mô hình trả lời</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Prompt chấm chính thức của LongMemEval; mặc định GPT-4o như script gốc</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Embedding</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BGE-M3 (local)</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Dùng lại số đo tuần 2; bài báo không nêu tên mô hình</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Tìm kiếm từ khóa</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SQLite FTS5</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Phần "lexical" của tìm kiếm lai</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extLst>
                  <a:ext uri="{0D108BD9-81ED-4DB2-BD59-A6C34878D82A}">
                    <a16:rowId xmlns:a16="http://schemas.microsoft.com/office/drawing/2014/main" val="10004"/>
                  </a:ext>
                </a:extLst>
              </a:tr>
              <a:tr h="548640">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Lưu trữ</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SQLite</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Mỗi câu hỏi một file DB, phân tích lại từng case</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400" b="1" dirty="0">
                          <a:solidFill>
                            <a:srgbClr val="1E2A32"/>
                          </a:solidFill>
                          <a:latin typeface="Calibri" pitchFamily="34" charset="0"/>
                          <a:ea typeface="Calibri" pitchFamily="34" charset="-122"/>
                          <a:cs typeface="Calibri" pitchFamily="34" charset="-120"/>
                        </a:rPr>
                        <a:t>Ngôn ngữ</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r>
                        <a:rPr lang="en-US" sz="1400" dirty="0">
                          <a:solidFill>
                            <a:srgbClr val="1E2A32"/>
                          </a:solidFill>
                          <a:latin typeface="Calibri" pitchFamily="34" charset="0"/>
                          <a:ea typeface="Calibri" pitchFamily="34" charset="-122"/>
                          <a:cs typeface="Calibri" pitchFamily="34" charset="-120"/>
                        </a:rPr>
                        <a:t>Python 3.11</a:t>
                      </a: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7F8"/>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5577840"/>
            <a:ext cx="11064240" cy="640080"/>
          </a:xfrm>
          <a:prstGeom prst="roundRect">
            <a:avLst>
              <a:gd name="adj" fmla="val 11429"/>
            </a:avLst>
          </a:prstGeom>
          <a:solidFill>
            <a:srgbClr val="FBF1E3"/>
          </a:solidFill>
          <a:ln w="12700">
            <a:solidFill>
              <a:srgbClr val="FBF1E3"/>
            </a:solidFill>
            <a:prstDash val="solid"/>
          </a:ln>
        </p:spPr>
        <p:txBody>
          <a:bodyPr/>
          <a:lstStyle/>
          <a:p>
            <a:endParaRPr lang="en-US"/>
          </a:p>
        </p:txBody>
      </p:sp>
      <p:sp>
        <p:nvSpPr>
          <p:cNvPr id="6" name="Text 3"/>
          <p:cNvSpPr txBox="1"/>
          <p:nvPr/>
        </p:nvSpPr>
        <p:spPr>
          <a:xfrm>
            <a:off x="777240" y="5577840"/>
            <a:ext cx="10607040" cy="640080"/>
          </a:xfrm>
          <a:prstGeom prst="rect">
            <a:avLst/>
          </a:prstGeom>
          <a:noFill/>
          <a:ln/>
        </p:spPr>
        <p:txBody>
          <a:bodyPr wrap="square" lIns="0" tIns="0" rIns="0" bIns="0" rtlCol="0" anchor="ctr"/>
          <a:lstStyle/>
          <a:p>
            <a:pPr marL="0" indent="0">
              <a:buNone/>
            </a:pPr>
            <a:r>
              <a:rPr lang="en-US" sz="1300" dirty="0">
                <a:solidFill>
                  <a:srgbClr val="1E2A32"/>
                </a:solidFill>
                <a:latin typeface="Calibri" pitchFamily="34" charset="0"/>
                <a:ea typeface="Calibri" pitchFamily="34" charset="-122"/>
                <a:cs typeface="Calibri" pitchFamily="34" charset="-120"/>
              </a:rPr>
              <a:t>Rủi ro 9router: nếu hết hạn mức, router có thể tự chuyển sang mô hình khác → một phần câu hỏi bị trả lời bởi mô hình khác mà không ai biết.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ĐÁNH GIÁ</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Bốn nhóm tiêu chí</a:t>
            </a:r>
            <a:endParaRPr lang="en-US" sz="3000" dirty="0"/>
          </a:p>
        </p:txBody>
      </p:sp>
      <p:sp>
        <p:nvSpPr>
          <p:cNvPr id="4" name="Shape 2"/>
          <p:cNvSpPr/>
          <p:nvPr/>
        </p:nvSpPr>
        <p:spPr>
          <a:xfrm>
            <a:off x="548640" y="1554480"/>
            <a:ext cx="5440680" cy="2057400"/>
          </a:xfrm>
          <a:prstGeom prst="roundRect">
            <a:avLst>
              <a:gd name="adj" fmla="val 3556"/>
            </a:avLst>
          </a:prstGeom>
          <a:solidFill>
            <a:srgbClr val="F3F7F8"/>
          </a:solidFill>
          <a:ln w="9525">
            <a:solidFill>
              <a:srgbClr val="C9D6DA"/>
            </a:solidFill>
            <a:prstDash val="solid"/>
          </a:ln>
        </p:spPr>
        <p:txBody>
          <a:bodyPr/>
          <a:lstStyle/>
          <a:p>
            <a:endParaRPr lang="en-US"/>
          </a:p>
        </p:txBody>
      </p:sp>
      <p:sp>
        <p:nvSpPr>
          <p:cNvPr id="5" name="Shape 3"/>
          <p:cNvSpPr/>
          <p:nvPr/>
        </p:nvSpPr>
        <p:spPr>
          <a:xfrm>
            <a:off x="777240" y="1783080"/>
            <a:ext cx="420624" cy="420624"/>
          </a:xfrm>
          <a:prstGeom prst="ellipse">
            <a:avLst/>
          </a:prstGeom>
          <a:solidFill>
            <a:srgbClr val="0F5C6B"/>
          </a:solidFill>
          <a:ln w="12700">
            <a:solidFill>
              <a:srgbClr val="0F5C6B"/>
            </a:solidFill>
            <a:prstDash val="solid"/>
          </a:ln>
        </p:spPr>
        <p:txBody>
          <a:bodyPr/>
          <a:lstStyle/>
          <a:p>
            <a:endParaRPr lang="en-US"/>
          </a:p>
        </p:txBody>
      </p:sp>
      <p:sp>
        <p:nvSpPr>
          <p:cNvPr id="6" name="Text 4"/>
          <p:cNvSpPr txBox="1"/>
          <p:nvPr/>
        </p:nvSpPr>
        <p:spPr>
          <a:xfrm>
            <a:off x="777240" y="178308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71600" y="1783080"/>
            <a:ext cx="4343400" cy="420624"/>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Độ chính xác</a:t>
            </a:r>
            <a:endParaRPr lang="en-US" sz="1800" dirty="0"/>
          </a:p>
        </p:txBody>
      </p:sp>
      <p:sp>
        <p:nvSpPr>
          <p:cNvPr id="8" name="Text 6"/>
          <p:cNvSpPr txBox="1"/>
          <p:nvPr/>
        </p:nvSpPr>
        <p:spPr>
          <a:xfrm>
            <a:off x="822960" y="2331720"/>
            <a:ext cx="4892040" cy="86868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Accuracy theo 6 loại câu hỏi + nhóm _abs + tổng. LLM-as-a-Judge, trung bình 3 lần chấm.</a:t>
            </a:r>
            <a:endParaRPr lang="en-US" sz="1300" dirty="0"/>
          </a:p>
        </p:txBody>
      </p:sp>
      <p:sp>
        <p:nvSpPr>
          <p:cNvPr id="9" name="Text 7"/>
          <p:cNvSpPr txBox="1"/>
          <p:nvPr/>
        </p:nvSpPr>
        <p:spPr>
          <a:xfrm>
            <a:off x="822960" y="3200400"/>
            <a:ext cx="4892040" cy="274320"/>
          </a:xfrm>
          <a:prstGeom prst="rect">
            <a:avLst/>
          </a:prstGeom>
          <a:noFill/>
          <a:ln/>
        </p:spPr>
        <p:txBody>
          <a:bodyPr wrap="square" lIns="0" tIns="0" rIns="0" bIns="0" rtlCol="0" anchor="ctr"/>
          <a:lstStyle/>
          <a:p>
            <a:pPr marL="0" indent="0">
              <a:buNone/>
            </a:pPr>
            <a:r>
              <a:rPr lang="en-US" sz="1200" i="1" dirty="0">
                <a:solidFill>
                  <a:srgbClr val="D98C1F"/>
                </a:solidFill>
                <a:latin typeface="Calibri" pitchFamily="34" charset="0"/>
                <a:ea typeface="Calibri" pitchFamily="34" charset="-122"/>
                <a:cs typeface="Calibri" pitchFamily="34" charset="-120"/>
              </a:rPr>
              <a:t>Bài báo chỉ có điểm tổng → bảng tách loại là số liệu mới</a:t>
            </a:r>
            <a:endParaRPr lang="en-US" sz="1200" dirty="0"/>
          </a:p>
        </p:txBody>
      </p:sp>
      <p:sp>
        <p:nvSpPr>
          <p:cNvPr id="10" name="Shape 8"/>
          <p:cNvSpPr/>
          <p:nvPr/>
        </p:nvSpPr>
        <p:spPr>
          <a:xfrm>
            <a:off x="6172200" y="1554480"/>
            <a:ext cx="5440680" cy="2057400"/>
          </a:xfrm>
          <a:prstGeom prst="roundRect">
            <a:avLst>
              <a:gd name="adj" fmla="val 3556"/>
            </a:avLst>
          </a:prstGeom>
          <a:solidFill>
            <a:srgbClr val="F3F7F8"/>
          </a:solidFill>
          <a:ln w="9525">
            <a:solidFill>
              <a:srgbClr val="C9D6DA"/>
            </a:solidFill>
            <a:prstDash val="solid"/>
          </a:ln>
        </p:spPr>
        <p:txBody>
          <a:bodyPr/>
          <a:lstStyle/>
          <a:p>
            <a:endParaRPr lang="en-US"/>
          </a:p>
        </p:txBody>
      </p:sp>
      <p:sp>
        <p:nvSpPr>
          <p:cNvPr id="11" name="Shape 9"/>
          <p:cNvSpPr/>
          <p:nvPr/>
        </p:nvSpPr>
        <p:spPr>
          <a:xfrm>
            <a:off x="6400800" y="1783080"/>
            <a:ext cx="420624" cy="420624"/>
          </a:xfrm>
          <a:prstGeom prst="ellipse">
            <a:avLst/>
          </a:prstGeom>
          <a:solidFill>
            <a:srgbClr val="0F5C6B"/>
          </a:solidFill>
          <a:ln w="12700">
            <a:solidFill>
              <a:srgbClr val="0F5C6B"/>
            </a:solidFill>
            <a:prstDash val="solid"/>
          </a:ln>
        </p:spPr>
        <p:txBody>
          <a:bodyPr/>
          <a:lstStyle/>
          <a:p>
            <a:endParaRPr lang="en-US"/>
          </a:p>
        </p:txBody>
      </p:sp>
      <p:sp>
        <p:nvSpPr>
          <p:cNvPr id="12" name="Text 10"/>
          <p:cNvSpPr txBox="1"/>
          <p:nvPr/>
        </p:nvSpPr>
        <p:spPr>
          <a:xfrm>
            <a:off x="6400800" y="178308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995160" y="1783080"/>
            <a:ext cx="4343400" cy="420624"/>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Truy xuất</a:t>
            </a:r>
            <a:endParaRPr lang="en-US" sz="1800" dirty="0"/>
          </a:p>
        </p:txBody>
      </p:sp>
      <p:sp>
        <p:nvSpPr>
          <p:cNvPr id="14" name="Text 12"/>
          <p:cNvSpPr txBox="1"/>
          <p:nvPr/>
        </p:nvSpPr>
        <p:spPr>
          <a:xfrm>
            <a:off x="6446520" y="2331720"/>
            <a:ext cx="4892040" cy="86868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Recall theo phiên (answer_session_ids): bộ lọc giữ được bao nhiêu phiên bằng chứng; công cụ tìm có trả về phiên bằng chứng không.</a:t>
            </a:r>
            <a:endParaRPr lang="en-US" sz="1300" dirty="0"/>
          </a:p>
        </p:txBody>
      </p:sp>
      <p:sp>
        <p:nvSpPr>
          <p:cNvPr id="15" name="Text 13"/>
          <p:cNvSpPr txBox="1"/>
          <p:nvPr/>
        </p:nvSpPr>
        <p:spPr>
          <a:xfrm>
            <a:off x="6446520" y="3200400"/>
            <a:ext cx="4892040" cy="274320"/>
          </a:xfrm>
          <a:prstGeom prst="rect">
            <a:avLst/>
          </a:prstGeom>
          <a:noFill/>
          <a:ln/>
        </p:spPr>
        <p:txBody>
          <a:bodyPr wrap="square" lIns="0" tIns="0" rIns="0" bIns="0" rtlCol="0" anchor="ctr"/>
          <a:lstStyle/>
          <a:p>
            <a:pPr marL="0" indent="0">
              <a:buNone/>
            </a:pPr>
            <a:r>
              <a:rPr lang="en-US" sz="1200" i="1" dirty="0">
                <a:solidFill>
                  <a:srgbClr val="D98C1F"/>
                </a:solidFill>
                <a:latin typeface="Calibri" pitchFamily="34" charset="0"/>
                <a:ea typeface="Calibri" pitchFamily="34" charset="-122"/>
                <a:cs typeface="Calibri" pitchFamily="34" charset="-120"/>
              </a:rPr>
              <a:t>Tách lỗi không tìm thấy khỏi lỗi suy luận</a:t>
            </a:r>
            <a:endParaRPr lang="en-US" sz="1200" dirty="0"/>
          </a:p>
        </p:txBody>
      </p:sp>
      <p:sp>
        <p:nvSpPr>
          <p:cNvPr id="16" name="Shape 14"/>
          <p:cNvSpPr/>
          <p:nvPr/>
        </p:nvSpPr>
        <p:spPr>
          <a:xfrm>
            <a:off x="548640" y="3794760"/>
            <a:ext cx="5440680" cy="2057400"/>
          </a:xfrm>
          <a:prstGeom prst="roundRect">
            <a:avLst>
              <a:gd name="adj" fmla="val 3556"/>
            </a:avLst>
          </a:prstGeom>
          <a:solidFill>
            <a:srgbClr val="F3F7F8"/>
          </a:solidFill>
          <a:ln w="9525">
            <a:solidFill>
              <a:srgbClr val="C9D6DA"/>
            </a:solidFill>
            <a:prstDash val="solid"/>
          </a:ln>
        </p:spPr>
        <p:txBody>
          <a:bodyPr/>
          <a:lstStyle/>
          <a:p>
            <a:endParaRPr lang="en-US"/>
          </a:p>
        </p:txBody>
      </p:sp>
      <p:sp>
        <p:nvSpPr>
          <p:cNvPr id="17" name="Shape 15"/>
          <p:cNvSpPr/>
          <p:nvPr/>
        </p:nvSpPr>
        <p:spPr>
          <a:xfrm>
            <a:off x="777240" y="4023360"/>
            <a:ext cx="420624" cy="420624"/>
          </a:xfrm>
          <a:prstGeom prst="ellipse">
            <a:avLst/>
          </a:prstGeom>
          <a:solidFill>
            <a:srgbClr val="0F5C6B"/>
          </a:solidFill>
          <a:ln w="12700">
            <a:solidFill>
              <a:srgbClr val="0F5C6B"/>
            </a:solidFill>
            <a:prstDash val="solid"/>
          </a:ln>
        </p:spPr>
        <p:txBody>
          <a:bodyPr/>
          <a:lstStyle/>
          <a:p>
            <a:endParaRPr lang="en-US"/>
          </a:p>
        </p:txBody>
      </p:sp>
      <p:sp>
        <p:nvSpPr>
          <p:cNvPr id="18" name="Text 16"/>
          <p:cNvSpPr txBox="1"/>
          <p:nvPr/>
        </p:nvSpPr>
        <p:spPr>
          <a:xfrm>
            <a:off x="777240" y="40233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371600" y="4023360"/>
            <a:ext cx="4343400" cy="420624"/>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Chất lượng dựng đồ thị</a:t>
            </a:r>
            <a:endParaRPr lang="en-US" sz="1800" dirty="0"/>
          </a:p>
        </p:txBody>
      </p:sp>
      <p:sp>
        <p:nvSpPr>
          <p:cNvPr id="20" name="Text 18"/>
          <p:cNvSpPr txBox="1"/>
          <p:nvPr/>
        </p:nvSpPr>
        <p:spPr>
          <a:xfrm>
            <a:off x="822960" y="4572000"/>
            <a:ext cx="4892040" cy="86868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Trên mẫu 50–100 lượt: độ chính xác trích fact, độ đúng giải quyết thực thể.</a:t>
            </a:r>
            <a:endParaRPr lang="en-US" sz="1300" dirty="0"/>
          </a:p>
        </p:txBody>
      </p:sp>
      <p:sp>
        <p:nvSpPr>
          <p:cNvPr id="21" name="Text 19"/>
          <p:cNvSpPr txBox="1"/>
          <p:nvPr/>
        </p:nvSpPr>
        <p:spPr>
          <a:xfrm>
            <a:off x="822960" y="5440680"/>
            <a:ext cx="4892040" cy="274320"/>
          </a:xfrm>
          <a:prstGeom prst="rect">
            <a:avLst/>
          </a:prstGeom>
          <a:noFill/>
          <a:ln/>
        </p:spPr>
        <p:txBody>
          <a:bodyPr wrap="square" lIns="0" tIns="0" rIns="0" bIns="0" rtlCol="0" anchor="ctr"/>
          <a:lstStyle/>
          <a:p>
            <a:pPr marL="0" indent="0">
              <a:buNone/>
            </a:pPr>
            <a:r>
              <a:rPr lang="en-US" sz="1200" i="1" dirty="0">
                <a:solidFill>
                  <a:srgbClr val="D98C1F"/>
                </a:solidFill>
                <a:latin typeface="Calibri" pitchFamily="34" charset="0"/>
                <a:ea typeface="Calibri" pitchFamily="34" charset="-122"/>
                <a:cs typeface="Calibri" pitchFamily="34" charset="-120"/>
              </a:rPr>
              <a:t>Giống Bảng 2 của bài báo</a:t>
            </a:r>
            <a:endParaRPr lang="en-US" sz="1200" dirty="0"/>
          </a:p>
        </p:txBody>
      </p:sp>
      <p:sp>
        <p:nvSpPr>
          <p:cNvPr id="22" name="Shape 20"/>
          <p:cNvSpPr/>
          <p:nvPr/>
        </p:nvSpPr>
        <p:spPr>
          <a:xfrm>
            <a:off x="6172200" y="3794760"/>
            <a:ext cx="5440680" cy="2057400"/>
          </a:xfrm>
          <a:prstGeom prst="roundRect">
            <a:avLst>
              <a:gd name="adj" fmla="val 3556"/>
            </a:avLst>
          </a:prstGeom>
          <a:solidFill>
            <a:srgbClr val="F3F7F8"/>
          </a:solidFill>
          <a:ln w="9525">
            <a:solidFill>
              <a:srgbClr val="C9D6DA"/>
            </a:solidFill>
            <a:prstDash val="solid"/>
          </a:ln>
        </p:spPr>
        <p:txBody>
          <a:bodyPr/>
          <a:lstStyle/>
          <a:p>
            <a:endParaRPr lang="en-US"/>
          </a:p>
        </p:txBody>
      </p:sp>
      <p:sp>
        <p:nvSpPr>
          <p:cNvPr id="23" name="Shape 21"/>
          <p:cNvSpPr/>
          <p:nvPr/>
        </p:nvSpPr>
        <p:spPr>
          <a:xfrm>
            <a:off x="6400800" y="4023360"/>
            <a:ext cx="420624" cy="420624"/>
          </a:xfrm>
          <a:prstGeom prst="ellipse">
            <a:avLst/>
          </a:prstGeom>
          <a:solidFill>
            <a:srgbClr val="0F5C6B"/>
          </a:solidFill>
          <a:ln w="12700">
            <a:solidFill>
              <a:srgbClr val="0F5C6B"/>
            </a:solidFill>
            <a:prstDash val="solid"/>
          </a:ln>
        </p:spPr>
        <p:txBody>
          <a:bodyPr/>
          <a:lstStyle/>
          <a:p>
            <a:endParaRPr lang="en-US"/>
          </a:p>
        </p:txBody>
      </p:sp>
      <p:sp>
        <p:nvSpPr>
          <p:cNvPr id="24" name="Text 22"/>
          <p:cNvSpPr txBox="1"/>
          <p:nvPr/>
        </p:nvSpPr>
        <p:spPr>
          <a:xfrm>
            <a:off x="6400800" y="40233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6995160" y="4023360"/>
            <a:ext cx="4343400" cy="420624"/>
          </a:xfrm>
          <a:prstGeom prst="rect">
            <a:avLst/>
          </a:prstGeom>
          <a:noFill/>
          <a:ln/>
        </p:spPr>
        <p:txBody>
          <a:bodyPr wrap="square" lIns="0" tIns="0" rIns="0" bIns="0" rtlCol="0" anchor="ctr"/>
          <a:lstStyle/>
          <a:p>
            <a:pPr marL="0" indent="0">
              <a:buNone/>
            </a:pPr>
            <a:r>
              <a:rPr lang="en-US" sz="1800" b="1" dirty="0">
                <a:solidFill>
                  <a:srgbClr val="0F5C6B"/>
                </a:solidFill>
                <a:latin typeface="Cambria" pitchFamily="34" charset="0"/>
                <a:ea typeface="Cambria" pitchFamily="34" charset="-122"/>
                <a:cs typeface="Cambria" pitchFamily="34" charset="-120"/>
              </a:rPr>
              <a:t>Chi phí</a:t>
            </a:r>
            <a:endParaRPr lang="en-US" sz="1800" dirty="0"/>
          </a:p>
        </p:txBody>
      </p:sp>
      <p:sp>
        <p:nvSpPr>
          <p:cNvPr id="26" name="Text 24"/>
          <p:cNvSpPr txBox="1"/>
          <p:nvPr/>
        </p:nvSpPr>
        <p:spPr>
          <a:xfrm>
            <a:off x="6446520" y="4572000"/>
            <a:ext cx="4892040" cy="868680"/>
          </a:xfrm>
          <a:prstGeom prst="rect">
            <a:avLst/>
          </a:prstGeom>
          <a:noFill/>
          <a:ln/>
        </p:spPr>
        <p:txBody>
          <a:bodyPr wrap="square" lIns="0" tIns="0" rIns="0" bIns="0" rtlCol="0" anchor="t"/>
          <a:lstStyle/>
          <a:p>
            <a:pPr marL="0" indent="0">
              <a:buNone/>
            </a:pPr>
            <a:r>
              <a:rPr lang="en-US" sz="1300" dirty="0">
                <a:solidFill>
                  <a:srgbClr val="1E2A32"/>
                </a:solidFill>
                <a:latin typeface="Calibri" pitchFamily="34" charset="0"/>
                <a:ea typeface="Calibri" pitchFamily="34" charset="-122"/>
                <a:cs typeface="Calibri" pitchFamily="34" charset="-120"/>
              </a:rPr>
              <a:t>Số lượt gọi công cụ, số lời gọi LLM, token tách pha dựng / pha trả lời, độ trễ p50/p95.</a:t>
            </a:r>
            <a:endParaRPr lang="en-US" sz="1300" dirty="0"/>
          </a:p>
        </p:txBody>
      </p:sp>
      <p:sp>
        <p:nvSpPr>
          <p:cNvPr id="27" name="Text 25"/>
          <p:cNvSpPr txBox="1"/>
          <p:nvPr/>
        </p:nvSpPr>
        <p:spPr>
          <a:xfrm>
            <a:off x="6446520" y="5440680"/>
            <a:ext cx="4892040" cy="274320"/>
          </a:xfrm>
          <a:prstGeom prst="rect">
            <a:avLst/>
          </a:prstGeom>
          <a:noFill/>
          <a:ln/>
        </p:spPr>
        <p:txBody>
          <a:bodyPr wrap="square" lIns="0" tIns="0" rIns="0" bIns="0" rtlCol="0" anchor="ctr"/>
          <a:lstStyle/>
          <a:p>
            <a:pPr marL="0" indent="0">
              <a:buNone/>
            </a:pPr>
            <a:r>
              <a:rPr lang="en-US" sz="1200" i="1" dirty="0">
                <a:solidFill>
                  <a:srgbClr val="D98C1F"/>
                </a:solidFill>
                <a:latin typeface="Calibri" pitchFamily="34" charset="0"/>
                <a:ea typeface="Calibri" pitchFamily="34" charset="-122"/>
                <a:cs typeface="Calibri" pitchFamily="34" charset="-120"/>
              </a:rPr>
              <a:t>Bài báo: dựng chỉ chiếm 16,6% chi phí</a:t>
            </a:r>
            <a:endParaRPr lang="en-US" sz="1200" dirty="0"/>
          </a:p>
        </p:txBody>
      </p:sp>
      <p:sp>
        <p:nvSpPr>
          <p:cNvPr id="28" name="Text 26"/>
          <p:cNvSpPr txBox="1"/>
          <p:nvPr/>
        </p:nvSpPr>
        <p:spPr>
          <a:xfrm>
            <a:off x="548640" y="5989320"/>
            <a:ext cx="11064240" cy="32004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Phân loại lỗi mỗi câu sai: bị lọc mất phiên · trích thiếu fact · nhầm thực thể · công cụ không tìm ra · SQL lỗi · suy luận sai.</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marL="0" indent="0">
              <a:buNone/>
            </a:pPr>
            <a:r>
              <a:rPr lang="en-US" sz="1200" b="1" kern="0" spc="200" dirty="0">
                <a:solidFill>
                  <a:srgbClr val="D98C1F"/>
                </a:solidFill>
                <a:latin typeface="Calibri" pitchFamily="34" charset="0"/>
                <a:ea typeface="Calibri" pitchFamily="34" charset="-122"/>
                <a:cs typeface="Calibri" pitchFamily="34" charset="-120"/>
              </a:rPr>
              <a:t>ĐÁNH GIÁ</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000" b="1" dirty="0">
                <a:solidFill>
                  <a:srgbClr val="12232E"/>
                </a:solidFill>
                <a:latin typeface="Cambria" pitchFamily="34" charset="0"/>
                <a:ea typeface="Cambria" pitchFamily="34" charset="-122"/>
                <a:cs typeface="Cambria" pitchFamily="34" charset="-120"/>
              </a:rPr>
              <a:t>So sánh với cái gì</a:t>
            </a:r>
            <a:endParaRPr lang="en-US" sz="3000" dirty="0"/>
          </a:p>
        </p:txBody>
      </p:sp>
      <p:sp>
        <p:nvSpPr>
          <p:cNvPr id="4" name="Shape 2"/>
          <p:cNvSpPr/>
          <p:nvPr/>
        </p:nvSpPr>
        <p:spPr>
          <a:xfrm>
            <a:off x="548640" y="1554480"/>
            <a:ext cx="3611880" cy="822960"/>
          </a:xfrm>
          <a:prstGeom prst="roundRect">
            <a:avLst>
              <a:gd name="adj" fmla="val 8889"/>
            </a:avLst>
          </a:prstGeom>
          <a:solidFill>
            <a:srgbClr val="0F5C6B"/>
          </a:solidFill>
          <a:ln w="12700">
            <a:solidFill>
              <a:srgbClr val="FFFFFF"/>
            </a:solidFill>
            <a:prstDash val="solid"/>
          </a:ln>
        </p:spPr>
        <p:txBody>
          <a:bodyPr/>
          <a:lstStyle/>
          <a:p>
            <a:endParaRPr lang="en-US"/>
          </a:p>
        </p:txBody>
      </p:sp>
      <p:sp>
        <p:nvSpPr>
          <p:cNvPr id="5" name="Text 3"/>
          <p:cNvSpPr txBox="1"/>
          <p:nvPr/>
        </p:nvSpPr>
        <p:spPr>
          <a:xfrm>
            <a:off x="777240" y="1600200"/>
            <a:ext cx="3154680" cy="41148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Baseline tự chạy</a:t>
            </a:r>
            <a:endParaRPr lang="en-US" sz="1800" dirty="0"/>
          </a:p>
        </p:txBody>
      </p:sp>
      <p:sp>
        <p:nvSpPr>
          <p:cNvPr id="6" name="Text 4"/>
          <p:cNvSpPr txBox="1"/>
          <p:nvPr/>
        </p:nvSpPr>
        <p:spPr>
          <a:xfrm>
            <a:off x="777240" y="1984248"/>
            <a:ext cx="3154680" cy="320040"/>
          </a:xfrm>
          <a:prstGeom prst="rect">
            <a:avLst/>
          </a:prstGeom>
          <a:noFill/>
          <a:ln/>
        </p:spPr>
        <p:txBody>
          <a:bodyPr wrap="square" lIns="0" tIns="0" rIns="0" bIns="0" rtlCol="0" anchor="ctr"/>
          <a:lstStyle/>
          <a:p>
            <a:pPr marL="0" indent="0">
              <a:buNone/>
            </a:pPr>
            <a:r>
              <a:rPr lang="en-US" sz="1200" dirty="0">
                <a:solidFill>
                  <a:srgbClr val="E3EEF0"/>
                </a:solidFill>
                <a:latin typeface="Calibri" pitchFamily="34" charset="0"/>
                <a:ea typeface="Calibri" pitchFamily="34" charset="-122"/>
                <a:cs typeface="Calibri" pitchFamily="34" charset="-120"/>
              </a:rPr>
              <a:t>cùng GPT-5.5</a:t>
            </a:r>
            <a:endParaRPr lang="en-US" sz="1200" dirty="0"/>
          </a:p>
        </p:txBody>
      </p:sp>
      <p:sp>
        <p:nvSpPr>
          <p:cNvPr id="10" name="Shape 8"/>
          <p:cNvSpPr/>
          <p:nvPr/>
        </p:nvSpPr>
        <p:spPr>
          <a:xfrm>
            <a:off x="502920" y="2542032"/>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11" name="Text 9"/>
          <p:cNvSpPr txBox="1"/>
          <p:nvPr/>
        </p:nvSpPr>
        <p:spPr>
          <a:xfrm>
            <a:off x="685800" y="2615184"/>
            <a:ext cx="3246120" cy="292608"/>
          </a:xfrm>
          <a:prstGeom prst="rect">
            <a:avLst/>
          </a:prstGeom>
          <a:noFill/>
          <a:ln/>
        </p:spPr>
        <p:txBody>
          <a:bodyPr wrap="square" lIns="0" tIns="0" rIns="0" bIns="0" rtlCol="0" anchor="ctr"/>
          <a:lstStyle/>
          <a:p>
            <a:pPr marL="0" indent="0">
              <a:buNone/>
            </a:pPr>
            <a:r>
              <a:rPr lang="en-US" sz="1400" b="1" dirty="0">
                <a:solidFill>
                  <a:srgbClr val="12232E"/>
                </a:solidFill>
                <a:latin typeface="Calibri" pitchFamily="34" charset="0"/>
                <a:ea typeface="Calibri" pitchFamily="34" charset="-122"/>
                <a:cs typeface="Calibri" pitchFamily="34" charset="-120"/>
              </a:rPr>
              <a:t>SimpleSearch (K=V+fact)</a:t>
            </a:r>
            <a:endParaRPr lang="en-US" sz="1400" dirty="0"/>
          </a:p>
        </p:txBody>
      </p:sp>
      <p:sp>
        <p:nvSpPr>
          <p:cNvPr id="12" name="Text 10"/>
          <p:cNvSpPr txBox="1"/>
          <p:nvPr/>
        </p:nvSpPr>
        <p:spPr>
          <a:xfrm>
            <a:off x="685800" y="2907792"/>
            <a:ext cx="3246120" cy="329184"/>
          </a:xfrm>
          <a:prstGeom prst="rect">
            <a:avLst/>
          </a:prstGeom>
          <a:noFill/>
          <a:ln/>
        </p:spPr>
        <p:txBody>
          <a:bodyPr wrap="square" lIns="0" tIns="0" rIns="0" bIns="0" rtlCol="0" anchor="ctr"/>
          <a:lstStyle/>
          <a:p>
            <a:pPr marL="0" indent="0">
              <a:buNone/>
            </a:pPr>
            <a:r>
              <a:rPr lang="en-US" sz="1200" dirty="0">
                <a:solidFill>
                  <a:srgbClr val="5B6B73"/>
                </a:solidFill>
                <a:latin typeface="Calibri" pitchFamily="34" charset="0"/>
                <a:ea typeface="Calibri" pitchFamily="34" charset="-122"/>
                <a:cs typeface="Calibri" pitchFamily="34" charset="-120"/>
              </a:rPr>
              <a:t>Baseline của LongMemEval, top-5 phiên</a:t>
            </a:r>
            <a:endParaRPr lang="en-US" sz="1200" dirty="0"/>
          </a:p>
        </p:txBody>
      </p:sp>
      <p:sp>
        <p:nvSpPr>
          <p:cNvPr id="13" name="Shape 11"/>
          <p:cNvSpPr/>
          <p:nvPr/>
        </p:nvSpPr>
        <p:spPr>
          <a:xfrm>
            <a:off x="502920" y="3410712"/>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14" name="Text 12"/>
          <p:cNvSpPr txBox="1"/>
          <p:nvPr/>
        </p:nvSpPr>
        <p:spPr>
          <a:xfrm>
            <a:off x="685800" y="3483864"/>
            <a:ext cx="3246120" cy="292608"/>
          </a:xfrm>
          <a:prstGeom prst="rect">
            <a:avLst/>
          </a:prstGeom>
          <a:noFill/>
          <a:ln/>
        </p:spPr>
        <p:txBody>
          <a:bodyPr wrap="square" lIns="0" tIns="0" rIns="0" bIns="0" rtlCol="0" anchor="ctr"/>
          <a:lstStyle/>
          <a:p>
            <a:pPr marL="0" indent="0">
              <a:buNone/>
            </a:pPr>
            <a:r>
              <a:rPr lang="en-US" sz="1400" b="1" dirty="0">
                <a:solidFill>
                  <a:srgbClr val="12232E"/>
                </a:solidFill>
                <a:latin typeface="Calibri" pitchFamily="34" charset="0"/>
                <a:ea typeface="Calibri" pitchFamily="34" charset="-122"/>
                <a:cs typeface="Calibri" pitchFamily="34" charset="-120"/>
              </a:rPr>
              <a:t>APEX-MEM tái hiện</a:t>
            </a:r>
            <a:endParaRPr lang="en-US" sz="1400" dirty="0"/>
          </a:p>
        </p:txBody>
      </p:sp>
      <p:sp>
        <p:nvSpPr>
          <p:cNvPr id="15" name="Text 13"/>
          <p:cNvSpPr txBox="1"/>
          <p:nvPr/>
        </p:nvSpPr>
        <p:spPr>
          <a:xfrm>
            <a:off x="685800" y="3776472"/>
            <a:ext cx="3246120" cy="329184"/>
          </a:xfrm>
          <a:prstGeom prst="rect">
            <a:avLst/>
          </a:prstGeom>
          <a:noFill/>
          <a:ln/>
        </p:spPr>
        <p:txBody>
          <a:bodyPr wrap="square" lIns="0" tIns="0" rIns="0" bIns="0" rtlCol="0" anchor="ctr"/>
          <a:lstStyle/>
          <a:p>
            <a:pPr marL="0" indent="0">
              <a:buNone/>
            </a:pPr>
            <a:r>
              <a:rPr lang="en-US" sz="1200" dirty="0">
                <a:solidFill>
                  <a:srgbClr val="5B6B73"/>
                </a:solidFill>
                <a:latin typeface="Calibri" pitchFamily="34" charset="0"/>
                <a:ea typeface="Calibri" pitchFamily="34" charset="-122"/>
                <a:cs typeface="Calibri" pitchFamily="34" charset="-120"/>
              </a:rPr>
              <a:t>Hệ đầy đủ — kết quả chính</a:t>
            </a:r>
            <a:endParaRPr lang="en-US" sz="1200" dirty="0"/>
          </a:p>
        </p:txBody>
      </p:sp>
      <p:sp>
        <p:nvSpPr>
          <p:cNvPr id="16" name="Shape 14"/>
          <p:cNvSpPr/>
          <p:nvPr/>
        </p:nvSpPr>
        <p:spPr>
          <a:xfrm>
            <a:off x="4279392" y="1554480"/>
            <a:ext cx="3611880" cy="822960"/>
          </a:xfrm>
          <a:prstGeom prst="roundRect">
            <a:avLst>
              <a:gd name="adj" fmla="val 8889"/>
            </a:avLst>
          </a:prstGeom>
          <a:solidFill>
            <a:srgbClr val="2A8A99"/>
          </a:solidFill>
          <a:ln w="12700">
            <a:solidFill>
              <a:srgbClr val="FFFFFF"/>
            </a:solidFill>
            <a:prstDash val="solid"/>
          </a:ln>
        </p:spPr>
        <p:txBody>
          <a:bodyPr/>
          <a:lstStyle/>
          <a:p>
            <a:endParaRPr lang="en-US"/>
          </a:p>
        </p:txBody>
      </p:sp>
      <p:sp>
        <p:nvSpPr>
          <p:cNvPr id="17" name="Text 15"/>
          <p:cNvSpPr txBox="1"/>
          <p:nvPr/>
        </p:nvSpPr>
        <p:spPr>
          <a:xfrm>
            <a:off x="4507992" y="1600200"/>
            <a:ext cx="3154680" cy="41148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Ablation công cụ</a:t>
            </a:r>
            <a:endParaRPr lang="en-US" sz="1800" dirty="0"/>
          </a:p>
        </p:txBody>
      </p:sp>
      <p:sp>
        <p:nvSpPr>
          <p:cNvPr id="18" name="Text 16"/>
          <p:cNvSpPr txBox="1"/>
          <p:nvPr/>
        </p:nvSpPr>
        <p:spPr>
          <a:xfrm>
            <a:off x="4507992" y="1984248"/>
            <a:ext cx="3154680" cy="320040"/>
          </a:xfrm>
          <a:prstGeom prst="rect">
            <a:avLst/>
          </a:prstGeom>
          <a:noFill/>
          <a:ln/>
        </p:spPr>
        <p:txBody>
          <a:bodyPr wrap="square" lIns="0" tIns="0" rIns="0" bIns="0" rtlCol="0" anchor="ctr"/>
          <a:lstStyle/>
          <a:p>
            <a:pPr marL="0" indent="0">
              <a:buNone/>
            </a:pPr>
            <a:r>
              <a:rPr lang="en-US" sz="1200" dirty="0">
                <a:solidFill>
                  <a:srgbClr val="E3EEF0"/>
                </a:solidFill>
                <a:latin typeface="Calibri" pitchFamily="34" charset="0"/>
                <a:ea typeface="Calibri" pitchFamily="34" charset="-122"/>
                <a:cs typeface="Calibri" pitchFamily="34" charset="-120"/>
              </a:rPr>
              <a:t>theo Bảng 3 của bài</a:t>
            </a:r>
            <a:endParaRPr lang="en-US" sz="1200" dirty="0"/>
          </a:p>
        </p:txBody>
      </p:sp>
      <p:sp>
        <p:nvSpPr>
          <p:cNvPr id="19" name="Shape 17"/>
          <p:cNvSpPr/>
          <p:nvPr/>
        </p:nvSpPr>
        <p:spPr>
          <a:xfrm>
            <a:off x="4279392" y="2514600"/>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20" name="Text 18"/>
          <p:cNvSpPr txBox="1"/>
          <p:nvPr/>
        </p:nvSpPr>
        <p:spPr>
          <a:xfrm>
            <a:off x="4462272" y="2587752"/>
            <a:ext cx="3246120" cy="292608"/>
          </a:xfrm>
          <a:prstGeom prst="rect">
            <a:avLst/>
          </a:prstGeom>
          <a:noFill/>
          <a:ln/>
        </p:spPr>
        <p:txBody>
          <a:bodyPr wrap="square" lIns="0" tIns="0" rIns="0" bIns="0" rtlCol="0" anchor="ctr"/>
          <a:lstStyle/>
          <a:p>
            <a:pPr marL="0" indent="0">
              <a:buNone/>
            </a:pPr>
            <a:r>
              <a:rPr lang="en-US" sz="1400" b="1" dirty="0">
                <a:solidFill>
                  <a:srgbClr val="12232E"/>
                </a:solidFill>
                <a:latin typeface="Calibri" pitchFamily="34" charset="0"/>
                <a:ea typeface="Calibri" pitchFamily="34" charset="-122"/>
                <a:cs typeface="Calibri" pitchFamily="34" charset="-120"/>
              </a:rPr>
              <a:t>A1</a:t>
            </a:r>
            <a:endParaRPr lang="en-US" sz="1400" dirty="0"/>
          </a:p>
        </p:txBody>
      </p:sp>
      <p:sp>
        <p:nvSpPr>
          <p:cNvPr id="21" name="Text 19"/>
          <p:cNvSpPr txBox="1"/>
          <p:nvPr/>
        </p:nvSpPr>
        <p:spPr>
          <a:xfrm>
            <a:off x="4462272" y="2880360"/>
            <a:ext cx="3246120" cy="329184"/>
          </a:xfrm>
          <a:prstGeom prst="rect">
            <a:avLst/>
          </a:prstGeom>
          <a:noFill/>
          <a:ln/>
        </p:spPr>
        <p:txBody>
          <a:bodyPr wrap="square" lIns="0" tIns="0" rIns="0" bIns="0" rtlCol="0" anchor="ctr"/>
          <a:lstStyle/>
          <a:p>
            <a:pPr marL="0" indent="0">
              <a:buNone/>
            </a:pPr>
            <a:r>
              <a:rPr lang="en-US" sz="1200" dirty="0">
                <a:solidFill>
                  <a:srgbClr val="5B6B73"/>
                </a:solidFill>
                <a:latin typeface="Calibri" pitchFamily="34" charset="0"/>
                <a:ea typeface="Calibri" pitchFamily="34" charset="-122"/>
                <a:cs typeface="Calibri" pitchFamily="34" charset="-120"/>
              </a:rPr>
              <a:t>SchemaViewer + EntityLookup</a:t>
            </a:r>
            <a:endParaRPr lang="en-US" sz="1200" dirty="0"/>
          </a:p>
        </p:txBody>
      </p:sp>
      <p:sp>
        <p:nvSpPr>
          <p:cNvPr id="22" name="Shape 20"/>
          <p:cNvSpPr/>
          <p:nvPr/>
        </p:nvSpPr>
        <p:spPr>
          <a:xfrm>
            <a:off x="4279392" y="3383280"/>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23" name="Text 21"/>
          <p:cNvSpPr txBox="1"/>
          <p:nvPr/>
        </p:nvSpPr>
        <p:spPr>
          <a:xfrm>
            <a:off x="4462272" y="3456432"/>
            <a:ext cx="3246120" cy="292608"/>
          </a:xfrm>
          <a:prstGeom prst="rect">
            <a:avLst/>
          </a:prstGeom>
          <a:noFill/>
          <a:ln/>
        </p:spPr>
        <p:txBody>
          <a:bodyPr wrap="square" lIns="0" tIns="0" rIns="0" bIns="0" rtlCol="0" anchor="ctr"/>
          <a:lstStyle/>
          <a:p>
            <a:pPr marL="0" indent="0">
              <a:buNone/>
            </a:pPr>
            <a:r>
              <a:rPr lang="en-US" sz="1400" b="1" dirty="0">
                <a:solidFill>
                  <a:srgbClr val="12232E"/>
                </a:solidFill>
                <a:latin typeface="Calibri" pitchFamily="34" charset="0"/>
                <a:ea typeface="Calibri" pitchFamily="34" charset="-122"/>
                <a:cs typeface="Calibri" pitchFamily="34" charset="-120"/>
              </a:rPr>
              <a:t>A2</a:t>
            </a:r>
            <a:endParaRPr lang="en-US" sz="1400" dirty="0"/>
          </a:p>
        </p:txBody>
      </p:sp>
      <p:sp>
        <p:nvSpPr>
          <p:cNvPr id="24" name="Text 22"/>
          <p:cNvSpPr txBox="1"/>
          <p:nvPr/>
        </p:nvSpPr>
        <p:spPr>
          <a:xfrm>
            <a:off x="4462272" y="3749040"/>
            <a:ext cx="3246120" cy="329184"/>
          </a:xfrm>
          <a:prstGeom prst="rect">
            <a:avLst/>
          </a:prstGeom>
          <a:noFill/>
          <a:ln/>
        </p:spPr>
        <p:txBody>
          <a:bodyPr wrap="square" lIns="0" tIns="0" rIns="0" bIns="0" rtlCol="0" anchor="ctr"/>
          <a:lstStyle/>
          <a:p>
            <a:pPr marL="0" indent="0">
              <a:buNone/>
            </a:pPr>
            <a:r>
              <a:rPr lang="en-US" sz="1200" dirty="0">
                <a:solidFill>
                  <a:srgbClr val="5B6B73"/>
                </a:solidFill>
                <a:latin typeface="Calibri" pitchFamily="34" charset="0"/>
                <a:ea typeface="Calibri" pitchFamily="34" charset="-122"/>
                <a:cs typeface="Calibri" pitchFamily="34" charset="-120"/>
              </a:rPr>
              <a:t>A1 + GraphSQL</a:t>
            </a:r>
            <a:endParaRPr lang="en-US" sz="1200" dirty="0"/>
          </a:p>
        </p:txBody>
      </p:sp>
      <p:sp>
        <p:nvSpPr>
          <p:cNvPr id="25" name="Shape 23"/>
          <p:cNvSpPr/>
          <p:nvPr/>
        </p:nvSpPr>
        <p:spPr>
          <a:xfrm>
            <a:off x="4279392" y="4251960"/>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26" name="Text 24"/>
          <p:cNvSpPr txBox="1"/>
          <p:nvPr/>
        </p:nvSpPr>
        <p:spPr>
          <a:xfrm>
            <a:off x="4462272" y="4325112"/>
            <a:ext cx="3246120" cy="292608"/>
          </a:xfrm>
          <a:prstGeom prst="rect">
            <a:avLst/>
          </a:prstGeom>
          <a:noFill/>
          <a:ln/>
        </p:spPr>
        <p:txBody>
          <a:bodyPr wrap="square" lIns="0" tIns="0" rIns="0" bIns="0" rtlCol="0" anchor="ctr"/>
          <a:lstStyle/>
          <a:p>
            <a:pPr marL="0" indent="0">
              <a:buNone/>
            </a:pPr>
            <a:r>
              <a:rPr lang="en-US" sz="1400" b="1" dirty="0">
                <a:solidFill>
                  <a:srgbClr val="12232E"/>
                </a:solidFill>
                <a:latin typeface="Calibri" pitchFamily="34" charset="0"/>
                <a:ea typeface="Calibri" pitchFamily="34" charset="-122"/>
                <a:cs typeface="Calibri" pitchFamily="34" charset="-120"/>
              </a:rPr>
              <a:t>A3</a:t>
            </a:r>
            <a:endParaRPr lang="en-US" sz="1400" dirty="0"/>
          </a:p>
        </p:txBody>
      </p:sp>
      <p:sp>
        <p:nvSpPr>
          <p:cNvPr id="27" name="Text 25"/>
          <p:cNvSpPr txBox="1"/>
          <p:nvPr/>
        </p:nvSpPr>
        <p:spPr>
          <a:xfrm>
            <a:off x="4462272" y="4617720"/>
            <a:ext cx="3246120" cy="329184"/>
          </a:xfrm>
          <a:prstGeom prst="rect">
            <a:avLst/>
          </a:prstGeom>
          <a:noFill/>
          <a:ln/>
        </p:spPr>
        <p:txBody>
          <a:bodyPr wrap="square" lIns="0" tIns="0" rIns="0" bIns="0" rtlCol="0" anchor="ctr"/>
          <a:lstStyle/>
          <a:p>
            <a:pPr marL="0" indent="0">
              <a:buNone/>
            </a:pPr>
            <a:r>
              <a:rPr lang="en-US" sz="1200" dirty="0">
                <a:solidFill>
                  <a:srgbClr val="5B6B73"/>
                </a:solidFill>
                <a:latin typeface="Calibri" pitchFamily="34" charset="0"/>
                <a:ea typeface="Calibri" pitchFamily="34" charset="-122"/>
                <a:cs typeface="Calibri" pitchFamily="34" charset="-120"/>
              </a:rPr>
              <a:t>A2 + Search = hệ đầy đủ</a:t>
            </a:r>
            <a:endParaRPr lang="en-US" sz="1200" dirty="0"/>
          </a:p>
        </p:txBody>
      </p:sp>
      <p:sp>
        <p:nvSpPr>
          <p:cNvPr id="28" name="Shape 26"/>
          <p:cNvSpPr/>
          <p:nvPr/>
        </p:nvSpPr>
        <p:spPr>
          <a:xfrm>
            <a:off x="4279392" y="5120640"/>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29" name="Text 27"/>
          <p:cNvSpPr txBox="1"/>
          <p:nvPr/>
        </p:nvSpPr>
        <p:spPr>
          <a:xfrm>
            <a:off x="4462272" y="5193792"/>
            <a:ext cx="3246120" cy="292608"/>
          </a:xfrm>
          <a:prstGeom prst="rect">
            <a:avLst/>
          </a:prstGeom>
          <a:noFill/>
          <a:ln/>
        </p:spPr>
        <p:txBody>
          <a:bodyPr wrap="square" lIns="0" tIns="0" rIns="0" bIns="0" rtlCol="0" anchor="ctr"/>
          <a:lstStyle/>
          <a:p>
            <a:pPr marL="0" indent="0">
              <a:buNone/>
            </a:pPr>
            <a:r>
              <a:rPr lang="en-US" sz="1400" b="1" dirty="0">
                <a:solidFill>
                  <a:srgbClr val="12232E"/>
                </a:solidFill>
                <a:latin typeface="Calibri" pitchFamily="34" charset="0"/>
                <a:ea typeface="Calibri" pitchFamily="34" charset="-122"/>
                <a:cs typeface="Calibri" pitchFamily="34" charset="-120"/>
              </a:rPr>
              <a:t>Tùy chọn</a:t>
            </a:r>
            <a:endParaRPr lang="en-US" sz="1400" dirty="0"/>
          </a:p>
        </p:txBody>
      </p:sp>
      <p:sp>
        <p:nvSpPr>
          <p:cNvPr id="30" name="Text 28"/>
          <p:cNvSpPr txBox="1"/>
          <p:nvPr/>
        </p:nvSpPr>
        <p:spPr>
          <a:xfrm>
            <a:off x="4462272" y="5486400"/>
            <a:ext cx="3246120" cy="329184"/>
          </a:xfrm>
          <a:prstGeom prst="rect">
            <a:avLst/>
          </a:prstGeom>
          <a:noFill/>
          <a:ln/>
        </p:spPr>
        <p:txBody>
          <a:bodyPr wrap="square" lIns="0" tIns="0" rIns="0" bIns="0" rtlCol="0" anchor="ctr"/>
          <a:lstStyle/>
          <a:p>
            <a:pPr marL="0" indent="0">
              <a:buNone/>
            </a:pPr>
            <a:r>
              <a:rPr lang="en-US" sz="1200" dirty="0">
                <a:solidFill>
                  <a:srgbClr val="5B6B73"/>
                </a:solidFill>
                <a:latin typeface="Calibri" pitchFamily="34" charset="0"/>
                <a:ea typeface="Calibri" pitchFamily="34" charset="-122"/>
                <a:cs typeface="Calibri" pitchFamily="34" charset="-120"/>
              </a:rPr>
              <a:t>Giới hạn 10 / 20 / 40 lượt gọi</a:t>
            </a:r>
            <a:endParaRPr lang="en-US" sz="1200" dirty="0"/>
          </a:p>
        </p:txBody>
      </p:sp>
      <p:sp>
        <p:nvSpPr>
          <p:cNvPr id="31" name="Shape 29"/>
          <p:cNvSpPr/>
          <p:nvPr/>
        </p:nvSpPr>
        <p:spPr>
          <a:xfrm>
            <a:off x="8010144" y="1554480"/>
            <a:ext cx="3611880" cy="822960"/>
          </a:xfrm>
          <a:prstGeom prst="roundRect">
            <a:avLst>
              <a:gd name="adj" fmla="val 8889"/>
            </a:avLst>
          </a:prstGeom>
          <a:solidFill>
            <a:srgbClr val="7A8D94"/>
          </a:solidFill>
          <a:ln w="12700">
            <a:solidFill>
              <a:srgbClr val="FFFFFF"/>
            </a:solidFill>
            <a:prstDash val="solid"/>
          </a:ln>
        </p:spPr>
        <p:txBody>
          <a:bodyPr/>
          <a:lstStyle/>
          <a:p>
            <a:endParaRPr lang="en-US"/>
          </a:p>
        </p:txBody>
      </p:sp>
      <p:sp>
        <p:nvSpPr>
          <p:cNvPr id="32" name="Text 30"/>
          <p:cNvSpPr txBox="1"/>
          <p:nvPr/>
        </p:nvSpPr>
        <p:spPr>
          <a:xfrm>
            <a:off x="8238744" y="1600200"/>
            <a:ext cx="3154680" cy="41148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Số liệu công bố</a:t>
            </a:r>
            <a:endParaRPr lang="en-US" sz="1800" dirty="0"/>
          </a:p>
        </p:txBody>
      </p:sp>
      <p:sp>
        <p:nvSpPr>
          <p:cNvPr id="33" name="Text 31"/>
          <p:cNvSpPr txBox="1"/>
          <p:nvPr/>
        </p:nvSpPr>
        <p:spPr>
          <a:xfrm>
            <a:off x="8238744" y="1984248"/>
            <a:ext cx="3154680" cy="320040"/>
          </a:xfrm>
          <a:prstGeom prst="rect">
            <a:avLst/>
          </a:prstGeom>
          <a:noFill/>
          <a:ln/>
        </p:spPr>
        <p:txBody>
          <a:bodyPr wrap="square" lIns="0" tIns="0" rIns="0" bIns="0" rtlCol="0" anchor="ctr"/>
          <a:lstStyle/>
          <a:p>
            <a:pPr marL="0" indent="0">
              <a:buNone/>
            </a:pPr>
            <a:r>
              <a:rPr lang="en-US" sz="1200" dirty="0">
                <a:solidFill>
                  <a:srgbClr val="E3EEF0"/>
                </a:solidFill>
                <a:latin typeface="Calibri" pitchFamily="34" charset="0"/>
                <a:ea typeface="Calibri" pitchFamily="34" charset="-122"/>
                <a:cs typeface="Calibri" pitchFamily="34" charset="-120"/>
              </a:rPr>
              <a:t>để đối chiếu</a:t>
            </a:r>
            <a:endParaRPr lang="en-US" sz="1200" dirty="0"/>
          </a:p>
        </p:txBody>
      </p:sp>
      <p:sp>
        <p:nvSpPr>
          <p:cNvPr id="34" name="Shape 32"/>
          <p:cNvSpPr/>
          <p:nvPr/>
        </p:nvSpPr>
        <p:spPr>
          <a:xfrm>
            <a:off x="8010144" y="2514600"/>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35" name="Text 33"/>
          <p:cNvSpPr txBox="1"/>
          <p:nvPr/>
        </p:nvSpPr>
        <p:spPr>
          <a:xfrm>
            <a:off x="8193024" y="2587752"/>
            <a:ext cx="3246120" cy="292608"/>
          </a:xfrm>
          <a:prstGeom prst="rect">
            <a:avLst/>
          </a:prstGeom>
          <a:noFill/>
          <a:ln/>
        </p:spPr>
        <p:txBody>
          <a:bodyPr wrap="square" lIns="0" tIns="0" rIns="0" bIns="0" rtlCol="0" anchor="ctr"/>
          <a:lstStyle/>
          <a:p>
            <a:pPr marL="0" indent="0">
              <a:buNone/>
            </a:pPr>
            <a:r>
              <a:rPr lang="en-US" sz="1400" b="1" dirty="0">
                <a:solidFill>
                  <a:srgbClr val="12232E"/>
                </a:solidFill>
                <a:latin typeface="Calibri" pitchFamily="34" charset="0"/>
                <a:ea typeface="Calibri" pitchFamily="34" charset="-122"/>
                <a:cs typeface="Calibri" pitchFamily="34" charset="-120"/>
              </a:rPr>
              <a:t>APEX-MEM</a:t>
            </a:r>
            <a:endParaRPr lang="en-US" sz="1400" dirty="0"/>
          </a:p>
        </p:txBody>
      </p:sp>
      <p:sp>
        <p:nvSpPr>
          <p:cNvPr id="36" name="Text 34"/>
          <p:cNvSpPr txBox="1"/>
          <p:nvPr/>
        </p:nvSpPr>
        <p:spPr>
          <a:xfrm>
            <a:off x="8193024" y="2880360"/>
            <a:ext cx="3246120" cy="329184"/>
          </a:xfrm>
          <a:prstGeom prst="rect">
            <a:avLst/>
          </a:prstGeom>
          <a:noFill/>
          <a:ln/>
        </p:spPr>
        <p:txBody>
          <a:bodyPr wrap="square" lIns="0" tIns="0" rIns="0" bIns="0" rtlCol="0" anchor="ctr"/>
          <a:lstStyle/>
          <a:p>
            <a:pPr marL="0" indent="0">
              <a:buNone/>
            </a:pPr>
            <a:r>
              <a:rPr lang="en-US" sz="1200" dirty="0">
                <a:solidFill>
                  <a:srgbClr val="5B6B73"/>
                </a:solidFill>
                <a:latin typeface="Calibri" pitchFamily="34" charset="0"/>
                <a:ea typeface="Calibri" pitchFamily="34" charset="-122"/>
                <a:cs typeface="Calibri" pitchFamily="34" charset="-120"/>
              </a:rPr>
              <a:t>86,2% · 85,2% (GPT-5)</a:t>
            </a:r>
            <a:endParaRPr lang="en-US" sz="1200" dirty="0"/>
          </a:p>
        </p:txBody>
      </p:sp>
      <p:sp>
        <p:nvSpPr>
          <p:cNvPr id="37" name="Shape 35"/>
          <p:cNvSpPr/>
          <p:nvPr/>
        </p:nvSpPr>
        <p:spPr>
          <a:xfrm>
            <a:off x="8010144" y="3383280"/>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38" name="Text 36"/>
          <p:cNvSpPr txBox="1"/>
          <p:nvPr/>
        </p:nvSpPr>
        <p:spPr>
          <a:xfrm>
            <a:off x="8193024" y="3456432"/>
            <a:ext cx="3246120" cy="292608"/>
          </a:xfrm>
          <a:prstGeom prst="rect">
            <a:avLst/>
          </a:prstGeom>
          <a:noFill/>
          <a:ln/>
        </p:spPr>
        <p:txBody>
          <a:bodyPr wrap="square" lIns="0" tIns="0" rIns="0" bIns="0" rtlCol="0" anchor="ctr"/>
          <a:lstStyle/>
          <a:p>
            <a:pPr marL="0" indent="0">
              <a:buNone/>
            </a:pPr>
            <a:r>
              <a:rPr lang="en-US" sz="1400" b="1" dirty="0">
                <a:solidFill>
                  <a:srgbClr val="12232E"/>
                </a:solidFill>
                <a:latin typeface="Calibri" pitchFamily="34" charset="0"/>
                <a:ea typeface="Calibri" pitchFamily="34" charset="-122"/>
                <a:cs typeface="Calibri" pitchFamily="34" charset="-120"/>
              </a:rPr>
              <a:t>Nemori</a:t>
            </a:r>
            <a:endParaRPr lang="en-US" sz="1400" dirty="0"/>
          </a:p>
        </p:txBody>
      </p:sp>
      <p:sp>
        <p:nvSpPr>
          <p:cNvPr id="39" name="Text 37"/>
          <p:cNvSpPr txBox="1"/>
          <p:nvPr/>
        </p:nvSpPr>
        <p:spPr>
          <a:xfrm>
            <a:off x="8193024" y="3749040"/>
            <a:ext cx="3246120" cy="329184"/>
          </a:xfrm>
          <a:prstGeom prst="rect">
            <a:avLst/>
          </a:prstGeom>
          <a:noFill/>
          <a:ln/>
        </p:spPr>
        <p:txBody>
          <a:bodyPr wrap="square" lIns="0" tIns="0" rIns="0" bIns="0" rtlCol="0" anchor="ctr"/>
          <a:lstStyle/>
          <a:p>
            <a:pPr marL="0" indent="0">
              <a:buNone/>
            </a:pPr>
            <a:r>
              <a:rPr lang="en-US" sz="1200" dirty="0">
                <a:solidFill>
                  <a:srgbClr val="5B6B73"/>
                </a:solidFill>
                <a:latin typeface="Calibri" pitchFamily="34" charset="0"/>
                <a:ea typeface="Calibri" pitchFamily="34" charset="-122"/>
                <a:cs typeface="Calibri" pitchFamily="34" charset="-120"/>
              </a:rPr>
              <a:t>74,6%</a:t>
            </a:r>
            <a:endParaRPr lang="en-US" sz="1200" dirty="0"/>
          </a:p>
        </p:txBody>
      </p:sp>
      <p:sp>
        <p:nvSpPr>
          <p:cNvPr id="40" name="Shape 38"/>
          <p:cNvSpPr/>
          <p:nvPr/>
        </p:nvSpPr>
        <p:spPr>
          <a:xfrm>
            <a:off x="8010144" y="4251960"/>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41" name="Text 39"/>
          <p:cNvSpPr txBox="1"/>
          <p:nvPr/>
        </p:nvSpPr>
        <p:spPr>
          <a:xfrm>
            <a:off x="8193024" y="4325112"/>
            <a:ext cx="3246120" cy="292608"/>
          </a:xfrm>
          <a:prstGeom prst="rect">
            <a:avLst/>
          </a:prstGeom>
          <a:noFill/>
          <a:ln/>
        </p:spPr>
        <p:txBody>
          <a:bodyPr wrap="square" lIns="0" tIns="0" rIns="0" bIns="0" rtlCol="0" anchor="ctr"/>
          <a:lstStyle/>
          <a:p>
            <a:pPr marL="0" indent="0">
              <a:buNone/>
            </a:pPr>
            <a:r>
              <a:rPr lang="en-US" sz="1400" b="1" dirty="0">
                <a:solidFill>
                  <a:srgbClr val="12232E"/>
                </a:solidFill>
                <a:latin typeface="Calibri" pitchFamily="34" charset="0"/>
                <a:ea typeface="Calibri" pitchFamily="34" charset="-122"/>
                <a:cs typeface="Calibri" pitchFamily="34" charset="-120"/>
              </a:rPr>
              <a:t>Mem0 · Zep</a:t>
            </a:r>
            <a:endParaRPr lang="en-US" sz="1400" dirty="0"/>
          </a:p>
        </p:txBody>
      </p:sp>
      <p:sp>
        <p:nvSpPr>
          <p:cNvPr id="42" name="Text 40"/>
          <p:cNvSpPr txBox="1"/>
          <p:nvPr/>
        </p:nvSpPr>
        <p:spPr>
          <a:xfrm>
            <a:off x="8193024" y="4617720"/>
            <a:ext cx="3246120" cy="329184"/>
          </a:xfrm>
          <a:prstGeom prst="rect">
            <a:avLst/>
          </a:prstGeom>
          <a:noFill/>
          <a:ln/>
        </p:spPr>
        <p:txBody>
          <a:bodyPr wrap="square" lIns="0" tIns="0" rIns="0" bIns="0" rtlCol="0" anchor="ctr"/>
          <a:lstStyle/>
          <a:p>
            <a:pPr marL="0" indent="0">
              <a:buNone/>
            </a:pPr>
            <a:r>
              <a:rPr lang="en-US" sz="1200" dirty="0">
                <a:solidFill>
                  <a:srgbClr val="5B6B73"/>
                </a:solidFill>
                <a:latin typeface="Calibri" pitchFamily="34" charset="0"/>
                <a:ea typeface="Calibri" pitchFamily="34" charset="-122"/>
                <a:cs typeface="Calibri" pitchFamily="34" charset="-120"/>
              </a:rPr>
              <a:t>71,3% · 71,2%</a:t>
            </a:r>
            <a:endParaRPr lang="en-US" sz="1200" dirty="0"/>
          </a:p>
        </p:txBody>
      </p:sp>
      <p:sp>
        <p:nvSpPr>
          <p:cNvPr id="43" name="Shape 41"/>
          <p:cNvSpPr/>
          <p:nvPr/>
        </p:nvSpPr>
        <p:spPr>
          <a:xfrm>
            <a:off x="8010144" y="5120640"/>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44" name="Text 42"/>
          <p:cNvSpPr txBox="1"/>
          <p:nvPr/>
        </p:nvSpPr>
        <p:spPr>
          <a:xfrm>
            <a:off x="8193024" y="5193792"/>
            <a:ext cx="3246120" cy="292608"/>
          </a:xfrm>
          <a:prstGeom prst="rect">
            <a:avLst/>
          </a:prstGeom>
          <a:noFill/>
          <a:ln/>
        </p:spPr>
        <p:txBody>
          <a:bodyPr wrap="square" lIns="0" tIns="0" rIns="0" bIns="0" rtlCol="0" anchor="ctr"/>
          <a:lstStyle/>
          <a:p>
            <a:pPr marL="0" indent="0">
              <a:buNone/>
            </a:pPr>
            <a:r>
              <a:rPr lang="en-US" sz="1400" b="1" dirty="0">
                <a:solidFill>
                  <a:srgbClr val="12232E"/>
                </a:solidFill>
                <a:latin typeface="Calibri" pitchFamily="34" charset="0"/>
                <a:ea typeface="Calibri" pitchFamily="34" charset="-122"/>
                <a:cs typeface="Calibri" pitchFamily="34" charset="-120"/>
              </a:rPr>
              <a:t>A-Mem</a:t>
            </a:r>
            <a:endParaRPr lang="en-US" sz="1400" dirty="0"/>
          </a:p>
        </p:txBody>
      </p:sp>
      <p:sp>
        <p:nvSpPr>
          <p:cNvPr id="45" name="Text 43"/>
          <p:cNvSpPr txBox="1"/>
          <p:nvPr/>
        </p:nvSpPr>
        <p:spPr>
          <a:xfrm>
            <a:off x="8193024" y="5486400"/>
            <a:ext cx="3246120" cy="329184"/>
          </a:xfrm>
          <a:prstGeom prst="rect">
            <a:avLst/>
          </a:prstGeom>
          <a:noFill/>
          <a:ln/>
        </p:spPr>
        <p:txBody>
          <a:bodyPr wrap="square" lIns="0" tIns="0" rIns="0" bIns="0" rtlCol="0" anchor="ctr"/>
          <a:lstStyle/>
          <a:p>
            <a:pPr marL="0" indent="0">
              <a:buNone/>
            </a:pPr>
            <a:r>
              <a:rPr lang="en-US" sz="1200" dirty="0">
                <a:solidFill>
                  <a:srgbClr val="5B6B73"/>
                </a:solidFill>
                <a:latin typeface="Calibri" pitchFamily="34" charset="0"/>
                <a:ea typeface="Calibri" pitchFamily="34" charset="-122"/>
                <a:cs typeface="Calibri" pitchFamily="34" charset="-120"/>
              </a:rPr>
              <a:t>59,3%</a:t>
            </a:r>
            <a:endParaRPr lang="en-US" sz="1200" dirty="0"/>
          </a:p>
        </p:txBody>
      </p:sp>
      <p:sp>
        <p:nvSpPr>
          <p:cNvPr id="46" name="Text 44"/>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Số công bố lấy từ Bảng 4 của APEX-MEM; mỗi hệ dùng LLM nền khác nhau và phần lớn do tác giả hệ đó tự công bố.</a:t>
            </a:r>
            <a:endParaRPr lang="en-US" sz="1000" dirty="0"/>
          </a:p>
        </p:txBody>
      </p:sp>
      <p:sp>
        <p:nvSpPr>
          <p:cNvPr id="48" name="Shape 11">
            <a:extLst>
              <a:ext uri="{FF2B5EF4-FFF2-40B4-BE49-F238E27FC236}">
                <a16:creationId xmlns:a16="http://schemas.microsoft.com/office/drawing/2014/main" id="{727DA629-CC27-9D3E-7CB8-31FB1FD47D4A}"/>
              </a:ext>
            </a:extLst>
          </p:cNvPr>
          <p:cNvSpPr/>
          <p:nvPr/>
        </p:nvSpPr>
        <p:spPr>
          <a:xfrm>
            <a:off x="502920" y="4312920"/>
            <a:ext cx="3611880" cy="749808"/>
          </a:xfrm>
          <a:prstGeom prst="roundRect">
            <a:avLst>
              <a:gd name="adj" fmla="val 9756"/>
            </a:avLst>
          </a:prstGeom>
          <a:solidFill>
            <a:srgbClr val="F3F7F8"/>
          </a:solidFill>
          <a:ln w="9525">
            <a:solidFill>
              <a:srgbClr val="C9D6DA"/>
            </a:solidFill>
            <a:prstDash val="solid"/>
          </a:ln>
        </p:spPr>
        <p:txBody>
          <a:bodyPr/>
          <a:lstStyle/>
          <a:p>
            <a:endParaRPr lang="en-US"/>
          </a:p>
        </p:txBody>
      </p:sp>
      <p:sp>
        <p:nvSpPr>
          <p:cNvPr id="50" name="Text 12">
            <a:extLst>
              <a:ext uri="{FF2B5EF4-FFF2-40B4-BE49-F238E27FC236}">
                <a16:creationId xmlns:a16="http://schemas.microsoft.com/office/drawing/2014/main" id="{B49B2977-8B65-5BE0-FDEE-E0310434F64B}"/>
              </a:ext>
            </a:extLst>
          </p:cNvPr>
          <p:cNvSpPr txBox="1"/>
          <p:nvPr/>
        </p:nvSpPr>
        <p:spPr>
          <a:xfrm>
            <a:off x="685800" y="4386072"/>
            <a:ext cx="3246120" cy="292608"/>
          </a:xfrm>
          <a:prstGeom prst="rect">
            <a:avLst/>
          </a:prstGeom>
          <a:noFill/>
          <a:ln/>
        </p:spPr>
        <p:txBody>
          <a:bodyPr wrap="square" lIns="0" tIns="0" rIns="0" bIns="0" rtlCol="0" anchor="ctr"/>
          <a:lstStyle/>
          <a:p>
            <a:pPr marL="0" indent="0">
              <a:buNone/>
            </a:pPr>
            <a:r>
              <a:rPr lang="en-US" sz="1400" b="1" dirty="0" err="1">
                <a:solidFill>
                  <a:srgbClr val="12232E"/>
                </a:solidFill>
                <a:latin typeface="Calibri" pitchFamily="34" charset="0"/>
                <a:ea typeface="Calibri" pitchFamily="34" charset="-122"/>
                <a:cs typeface="Calibri" pitchFamily="34" charset="-120"/>
              </a:rPr>
              <a:t>LightMEM</a:t>
            </a:r>
            <a:r>
              <a:rPr lang="en-US" sz="1400" b="1" dirty="0">
                <a:solidFill>
                  <a:srgbClr val="12232E"/>
                </a:solidFill>
                <a:latin typeface="Calibri" pitchFamily="34" charset="0"/>
                <a:ea typeface="Calibri" pitchFamily="34" charset="-122"/>
                <a:cs typeface="Calibri" pitchFamily="34" charset="-120"/>
              </a:rPr>
              <a:t> tái hiện</a:t>
            </a:r>
            <a:endParaRPr lang="en-US" sz="1400" dirty="0"/>
          </a:p>
        </p:txBody>
      </p:sp>
      <p:sp>
        <p:nvSpPr>
          <p:cNvPr id="52" name="Text 13">
            <a:extLst>
              <a:ext uri="{FF2B5EF4-FFF2-40B4-BE49-F238E27FC236}">
                <a16:creationId xmlns:a16="http://schemas.microsoft.com/office/drawing/2014/main" id="{C428EBD5-1B15-C447-2955-62ED09E0E777}"/>
              </a:ext>
            </a:extLst>
          </p:cNvPr>
          <p:cNvSpPr txBox="1"/>
          <p:nvPr/>
        </p:nvSpPr>
        <p:spPr>
          <a:xfrm>
            <a:off x="685800" y="4678680"/>
            <a:ext cx="3246120" cy="329184"/>
          </a:xfrm>
          <a:prstGeom prst="rect">
            <a:avLst/>
          </a:prstGeom>
          <a:noFill/>
          <a:ln/>
        </p:spPr>
        <p:txBody>
          <a:bodyPr wrap="square" lIns="0" tIns="0" rIns="0" bIns="0" rtlCol="0" anchor="ctr"/>
          <a:lstStyle/>
          <a:p>
            <a:r>
              <a:rPr lang="en-US" sz="1200" dirty="0" err="1">
                <a:solidFill>
                  <a:srgbClr val="5B6B73"/>
                </a:solidFill>
                <a:latin typeface="Calibri" pitchFamily="34" charset="0"/>
                <a:ea typeface="Calibri" pitchFamily="34" charset="-122"/>
                <a:cs typeface="Calibri" pitchFamily="34" charset="-120"/>
              </a:rPr>
              <a:t>Có</a:t>
            </a:r>
            <a:r>
              <a:rPr lang="en-US" sz="1200" dirty="0">
                <a:solidFill>
                  <a:srgbClr val="5B6B73"/>
                </a:solidFill>
                <a:latin typeface="Calibri" pitchFamily="34" charset="0"/>
                <a:ea typeface="Calibri" pitchFamily="34" charset="-122"/>
                <a:cs typeface="Calibri" pitchFamily="34" charset="-120"/>
              </a:rPr>
              <a:t> </a:t>
            </a:r>
            <a:r>
              <a:rPr lang="en-US" sz="1200" dirty="0" err="1">
                <a:solidFill>
                  <a:srgbClr val="5B6B73"/>
                </a:solidFill>
                <a:latin typeface="Calibri" pitchFamily="34" charset="0"/>
                <a:ea typeface="Calibri" pitchFamily="34" charset="-122"/>
                <a:cs typeface="Calibri" pitchFamily="34" charset="-120"/>
              </a:rPr>
              <a:t>sẵn</a:t>
            </a:r>
            <a:r>
              <a:rPr lang="en-US" sz="1200" dirty="0">
                <a:solidFill>
                  <a:srgbClr val="5B6B73"/>
                </a:solidFill>
                <a:latin typeface="Calibri" pitchFamily="34" charset="0"/>
                <a:ea typeface="Calibri" pitchFamily="34" charset="-122"/>
                <a:cs typeface="Calibri" pitchFamily="34" charset="-120"/>
              </a:rPr>
              <a:t> source </a:t>
            </a:r>
            <a:r>
              <a:rPr lang="en-US" sz="1200" dirty="0" err="1">
                <a:solidFill>
                  <a:srgbClr val="5B6B73"/>
                </a:solidFill>
                <a:latin typeface="Calibri" pitchFamily="34" charset="0"/>
                <a:ea typeface="Calibri" pitchFamily="34" charset="-122"/>
                <a:cs typeface="Calibri" pitchFamily="34" charset="-120"/>
              </a:rPr>
              <a:t>trên</a:t>
            </a:r>
            <a:r>
              <a:rPr lang="en-US" sz="1200" dirty="0">
                <a:solidFill>
                  <a:srgbClr val="5B6B73"/>
                </a:solidFill>
                <a:latin typeface="Calibri" pitchFamily="34" charset="0"/>
                <a:ea typeface="Calibri" pitchFamily="34" charset="-122"/>
                <a:cs typeface="Calibri" pitchFamily="34" charset="-120"/>
              </a:rPr>
              <a:t> git, </a:t>
            </a:r>
            <a:r>
              <a:rPr lang="en-US" sz="1200" dirty="0" err="1">
                <a:solidFill>
                  <a:srgbClr val="5B6B73"/>
                </a:solidFill>
                <a:latin typeface="Calibri" pitchFamily="34" charset="0"/>
                <a:ea typeface="Calibri" pitchFamily="34" charset="-122"/>
                <a:cs typeface="Calibri" pitchFamily="34" charset="-120"/>
              </a:rPr>
              <a:t>nhẹ</a:t>
            </a:r>
            <a:r>
              <a:rPr lang="en-US" sz="1200" dirty="0">
                <a:solidFill>
                  <a:srgbClr val="5B6B73"/>
                </a:solidFill>
                <a:latin typeface="Calibri" pitchFamily="34" charset="0"/>
                <a:ea typeface="Calibri" pitchFamily="34" charset="-122"/>
                <a:cs typeface="Calibri" pitchFamily="34" charset="-120"/>
              </a:rPr>
              <a:t>, </a:t>
            </a:r>
            <a:r>
              <a:rPr lang="en-US" sz="1200" dirty="0" err="1">
                <a:solidFill>
                  <a:srgbClr val="5B6B73"/>
                </a:solidFill>
                <a:latin typeface="Calibri" pitchFamily="34" charset="0"/>
                <a:ea typeface="Calibri" pitchFamily="34" charset="-122"/>
                <a:cs typeface="Calibri" pitchFamily="34" charset="-120"/>
              </a:rPr>
              <a:t>chạy</a:t>
            </a:r>
            <a:r>
              <a:rPr lang="en-US" sz="1200" dirty="0">
                <a:solidFill>
                  <a:srgbClr val="5B6B73"/>
                </a:solidFill>
                <a:latin typeface="Calibri" pitchFamily="34" charset="0"/>
                <a:ea typeface="Calibri" pitchFamily="34" charset="-122"/>
                <a:cs typeface="Calibri" pitchFamily="34" charset="-120"/>
              </a:rPr>
              <a:t> </a:t>
            </a:r>
            <a:r>
              <a:rPr lang="en-US" sz="1200" dirty="0" err="1">
                <a:solidFill>
                  <a:srgbClr val="5B6B73"/>
                </a:solidFill>
                <a:latin typeface="Calibri" pitchFamily="34" charset="0"/>
                <a:ea typeface="Calibri" pitchFamily="34" charset="-122"/>
                <a:cs typeface="Calibri" pitchFamily="34" charset="-120"/>
              </a:rPr>
              <a:t>nhanh</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 0">
            <a:extLst>
              <a:ext uri="{FF2B5EF4-FFF2-40B4-BE49-F238E27FC236}">
                <a16:creationId xmlns:a16="http://schemas.microsoft.com/office/drawing/2014/main" id="{3B4456BE-6B09-C93D-84B3-060739BCF9A0}"/>
              </a:ext>
            </a:extLst>
          </p:cNvPr>
          <p:cNvSpPr txBox="1"/>
          <p:nvPr/>
        </p:nvSpPr>
        <p:spPr>
          <a:xfrm>
            <a:off x="566928" y="502920"/>
            <a:ext cx="6345936" cy="283464"/>
          </a:xfrm>
          <a:prstGeom prst="rect">
            <a:avLst/>
          </a:prstGeom>
          <a:noFill/>
          <a:ln/>
        </p:spPr>
        <p:txBody>
          <a:bodyPr wrap="square" lIns="0" tIns="0" rIns="0" bIns="0" rtlCol="0" anchor="ctr"/>
          <a:lstStyle/>
          <a:p>
            <a:pPr marL="0" indent="0">
              <a:buNone/>
            </a:pPr>
            <a:r>
              <a:rPr lang="en-US" sz="1200" b="1" dirty="0">
                <a:solidFill>
                  <a:srgbClr val="3A36A0"/>
                </a:solidFill>
                <a:latin typeface="Calibri" pitchFamily="34" charset="0"/>
                <a:ea typeface="Calibri" pitchFamily="34" charset="-122"/>
                <a:cs typeface="Calibri" pitchFamily="34" charset="-120"/>
              </a:rPr>
              <a:t>KẾ HOẠCH THỰC HIỆN</a:t>
            </a:r>
            <a:endParaRPr lang="en-US" sz="1200" dirty="0"/>
          </a:p>
        </p:txBody>
      </p:sp>
      <p:sp>
        <p:nvSpPr>
          <p:cNvPr id="69" name="Text 1">
            <a:extLst>
              <a:ext uri="{FF2B5EF4-FFF2-40B4-BE49-F238E27FC236}">
                <a16:creationId xmlns:a16="http://schemas.microsoft.com/office/drawing/2014/main" id="{C111DE67-7DAE-BAF7-251B-B24633BBF1AC}"/>
              </a:ext>
            </a:extLst>
          </p:cNvPr>
          <p:cNvSpPr txBox="1"/>
          <p:nvPr/>
        </p:nvSpPr>
        <p:spPr>
          <a:xfrm>
            <a:off x="566928" y="822960"/>
            <a:ext cx="11045952" cy="640080"/>
          </a:xfrm>
          <a:prstGeom prst="rect">
            <a:avLst/>
          </a:prstGeom>
          <a:noFill/>
          <a:ln/>
        </p:spPr>
        <p:txBody>
          <a:bodyPr wrap="square" lIns="0" tIns="0" rIns="0" bIns="0" rtlCol="0" anchor="ctr"/>
          <a:lstStyle/>
          <a:p>
            <a:pPr marL="0" indent="0">
              <a:buNone/>
            </a:pPr>
            <a:r>
              <a:rPr lang="en-US" sz="3000" b="1" dirty="0">
                <a:solidFill>
                  <a:srgbClr val="13123A"/>
                </a:solidFill>
                <a:latin typeface="Cambria" pitchFamily="34" charset="0"/>
                <a:ea typeface="Cambria" pitchFamily="34" charset="-122"/>
                <a:cs typeface="Cambria" pitchFamily="34" charset="-120"/>
              </a:rPr>
              <a:t>Lộ </a:t>
            </a:r>
            <a:r>
              <a:rPr lang="en-US" sz="3000" b="1" dirty="0" err="1">
                <a:solidFill>
                  <a:srgbClr val="13123A"/>
                </a:solidFill>
                <a:latin typeface="Cambria" pitchFamily="34" charset="0"/>
                <a:ea typeface="Cambria" pitchFamily="34" charset="-122"/>
                <a:cs typeface="Cambria" pitchFamily="34" charset="-120"/>
              </a:rPr>
              <a:t>trình</a:t>
            </a:r>
            <a:r>
              <a:rPr lang="en-US" sz="3000" b="1" dirty="0">
                <a:solidFill>
                  <a:srgbClr val="13123A"/>
                </a:solidFill>
                <a:latin typeface="Cambria" pitchFamily="34" charset="0"/>
                <a:ea typeface="Cambria" pitchFamily="34" charset="-122"/>
                <a:cs typeface="Cambria" pitchFamily="34" charset="-120"/>
              </a:rPr>
              <a:t> 7 </a:t>
            </a:r>
            <a:r>
              <a:rPr lang="en-US" sz="3000" b="1" dirty="0" err="1">
                <a:solidFill>
                  <a:srgbClr val="13123A"/>
                </a:solidFill>
                <a:latin typeface="Cambria" pitchFamily="34" charset="0"/>
                <a:ea typeface="Cambria" pitchFamily="34" charset="-122"/>
                <a:cs typeface="Cambria" pitchFamily="34" charset="-120"/>
              </a:rPr>
              <a:t>tuần</a:t>
            </a:r>
            <a:endParaRPr lang="en-US" sz="3000" dirty="0"/>
          </a:p>
        </p:txBody>
      </p:sp>
      <p:sp>
        <p:nvSpPr>
          <p:cNvPr id="71" name="Shape 2">
            <a:extLst>
              <a:ext uri="{FF2B5EF4-FFF2-40B4-BE49-F238E27FC236}">
                <a16:creationId xmlns:a16="http://schemas.microsoft.com/office/drawing/2014/main" id="{18397019-7095-1EF4-ECE2-368671FD39B8}"/>
              </a:ext>
            </a:extLst>
          </p:cNvPr>
          <p:cNvSpPr/>
          <p:nvPr/>
        </p:nvSpPr>
        <p:spPr>
          <a:xfrm>
            <a:off x="566928" y="1783080"/>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73" name="Shape 3">
            <a:extLst>
              <a:ext uri="{FF2B5EF4-FFF2-40B4-BE49-F238E27FC236}">
                <a16:creationId xmlns:a16="http://schemas.microsoft.com/office/drawing/2014/main" id="{6C25C6DD-9C93-20AB-C976-E61C69E5730A}"/>
              </a:ext>
            </a:extLst>
          </p:cNvPr>
          <p:cNvSpPr/>
          <p:nvPr/>
        </p:nvSpPr>
        <p:spPr>
          <a:xfrm>
            <a:off x="749808" y="1965960"/>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75" name="Text 4">
            <a:extLst>
              <a:ext uri="{FF2B5EF4-FFF2-40B4-BE49-F238E27FC236}">
                <a16:creationId xmlns:a16="http://schemas.microsoft.com/office/drawing/2014/main" id="{71C2BA7B-2DD9-3B6C-E4B0-CF8090C060F2}"/>
              </a:ext>
            </a:extLst>
          </p:cNvPr>
          <p:cNvSpPr txBox="1"/>
          <p:nvPr/>
        </p:nvSpPr>
        <p:spPr>
          <a:xfrm>
            <a:off x="749808" y="1965960"/>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1</a:t>
            </a:r>
            <a:endParaRPr lang="en-US" sz="1400" dirty="0"/>
          </a:p>
        </p:txBody>
      </p:sp>
      <p:sp>
        <p:nvSpPr>
          <p:cNvPr id="77" name="Text 5">
            <a:extLst>
              <a:ext uri="{FF2B5EF4-FFF2-40B4-BE49-F238E27FC236}">
                <a16:creationId xmlns:a16="http://schemas.microsoft.com/office/drawing/2014/main" id="{A55D4EB3-8A02-A972-42B8-FA8BE25FE379}"/>
              </a:ext>
            </a:extLst>
          </p:cNvPr>
          <p:cNvSpPr txBox="1"/>
          <p:nvPr/>
        </p:nvSpPr>
        <p:spPr>
          <a:xfrm>
            <a:off x="1865376" y="1901952"/>
            <a:ext cx="3886200" cy="731520"/>
          </a:xfrm>
          <a:prstGeom prst="rect">
            <a:avLst/>
          </a:prstGeom>
          <a:noFill/>
          <a:ln/>
        </p:spPr>
        <p:txBody>
          <a:bodyPr wrap="square" lIns="0" tIns="0" rIns="0" bIns="0" rtlCol="0" anchor="ctr"/>
          <a:lstStyle/>
          <a:p>
            <a:pPr marL="0" indent="0">
              <a:lnSpc>
                <a:spcPct val="95000"/>
              </a:lnSpc>
              <a:buNone/>
            </a:pPr>
            <a:r>
              <a:rPr lang="en-US" sz="1180" dirty="0">
                <a:solidFill>
                  <a:srgbClr val="20223A"/>
                </a:solidFill>
                <a:latin typeface="Calibri" pitchFamily="34" charset="0"/>
                <a:ea typeface="Calibri" pitchFamily="34" charset="-122"/>
                <a:cs typeface="Calibri" pitchFamily="34" charset="-120"/>
              </a:rPr>
              <a:t>Nghiên cứu nền tảng &amp; khảo sát liên quan; đặt vấn đề, phạm vi.</a:t>
            </a:r>
            <a:endParaRPr lang="en-US" sz="1180" dirty="0"/>
          </a:p>
        </p:txBody>
      </p:sp>
      <p:sp>
        <p:nvSpPr>
          <p:cNvPr id="79" name="Shape 6">
            <a:extLst>
              <a:ext uri="{FF2B5EF4-FFF2-40B4-BE49-F238E27FC236}">
                <a16:creationId xmlns:a16="http://schemas.microsoft.com/office/drawing/2014/main" id="{F4DF2498-D7F9-E8AE-B6C9-27FD6B19F4EA}"/>
              </a:ext>
            </a:extLst>
          </p:cNvPr>
          <p:cNvSpPr/>
          <p:nvPr/>
        </p:nvSpPr>
        <p:spPr>
          <a:xfrm>
            <a:off x="587114" y="3835908"/>
            <a:ext cx="5340096" cy="932688"/>
          </a:xfrm>
          <a:prstGeom prst="roundRect">
            <a:avLst>
              <a:gd name="adj" fmla="val 4902"/>
            </a:avLst>
          </a:prstGeom>
          <a:solidFill>
            <a:srgbClr val="13123A"/>
          </a:solidFill>
          <a:ln w="12700">
            <a:solidFill>
              <a:srgbClr val="13123A"/>
            </a:solidFill>
            <a:prstDash val="solid"/>
          </a:ln>
        </p:spPr>
        <p:txBody>
          <a:bodyPr/>
          <a:lstStyle/>
          <a:p>
            <a:endParaRPr lang="en-US"/>
          </a:p>
        </p:txBody>
      </p:sp>
      <p:sp>
        <p:nvSpPr>
          <p:cNvPr id="81" name="Shape 7">
            <a:extLst>
              <a:ext uri="{FF2B5EF4-FFF2-40B4-BE49-F238E27FC236}">
                <a16:creationId xmlns:a16="http://schemas.microsoft.com/office/drawing/2014/main" id="{2100271F-9E82-B0F3-C223-9DC057293237}"/>
              </a:ext>
            </a:extLst>
          </p:cNvPr>
          <p:cNvSpPr/>
          <p:nvPr/>
        </p:nvSpPr>
        <p:spPr>
          <a:xfrm>
            <a:off x="769994" y="4018788"/>
            <a:ext cx="960120" cy="566928"/>
          </a:xfrm>
          <a:prstGeom prst="roundRect">
            <a:avLst>
              <a:gd name="adj" fmla="val 12903"/>
            </a:avLst>
          </a:prstGeom>
          <a:solidFill>
            <a:srgbClr val="E9970B"/>
          </a:solidFill>
          <a:ln w="12700">
            <a:solidFill>
              <a:srgbClr val="E9970B"/>
            </a:solidFill>
            <a:prstDash val="solid"/>
          </a:ln>
        </p:spPr>
        <p:txBody>
          <a:bodyPr/>
          <a:lstStyle/>
          <a:p>
            <a:endParaRPr lang="en-US"/>
          </a:p>
        </p:txBody>
      </p:sp>
      <p:sp>
        <p:nvSpPr>
          <p:cNvPr id="83" name="Text 8">
            <a:extLst>
              <a:ext uri="{FF2B5EF4-FFF2-40B4-BE49-F238E27FC236}">
                <a16:creationId xmlns:a16="http://schemas.microsoft.com/office/drawing/2014/main" id="{EC26944B-09D0-9A65-DBF7-8670F8D1EECF}"/>
              </a:ext>
            </a:extLst>
          </p:cNvPr>
          <p:cNvSpPr txBox="1"/>
          <p:nvPr/>
        </p:nvSpPr>
        <p:spPr>
          <a:xfrm>
            <a:off x="769994" y="4018788"/>
            <a:ext cx="960120" cy="566928"/>
          </a:xfrm>
          <a:prstGeom prst="rect">
            <a:avLst/>
          </a:prstGeom>
          <a:noFill/>
          <a:ln/>
        </p:spPr>
        <p:txBody>
          <a:bodyPr wrap="square" lIns="0" tIns="0" rIns="0" bIns="0" rtlCol="0" anchor="ctr"/>
          <a:lstStyle/>
          <a:p>
            <a:pPr marL="0" indent="0" algn="ctr">
              <a:buNone/>
            </a:pPr>
            <a:r>
              <a:rPr lang="en-US" sz="1400" b="1" dirty="0" err="1">
                <a:solidFill>
                  <a:srgbClr val="13123A"/>
                </a:solidFill>
                <a:latin typeface="Calibri" pitchFamily="34" charset="0"/>
                <a:ea typeface="Calibri" pitchFamily="34" charset="-122"/>
                <a:cs typeface="Calibri" pitchFamily="34" charset="-120"/>
              </a:rPr>
              <a:t>Tuần</a:t>
            </a:r>
            <a:r>
              <a:rPr lang="en-US" sz="1400" b="1" dirty="0">
                <a:solidFill>
                  <a:srgbClr val="13123A"/>
                </a:solidFill>
                <a:latin typeface="Calibri" pitchFamily="34" charset="0"/>
                <a:ea typeface="Calibri" pitchFamily="34" charset="-122"/>
                <a:cs typeface="Calibri" pitchFamily="34" charset="-120"/>
              </a:rPr>
              <a:t> 3</a:t>
            </a:r>
            <a:endParaRPr lang="en-US" sz="1400" dirty="0"/>
          </a:p>
        </p:txBody>
      </p:sp>
      <p:sp>
        <p:nvSpPr>
          <p:cNvPr id="85" name="Text 9">
            <a:extLst>
              <a:ext uri="{FF2B5EF4-FFF2-40B4-BE49-F238E27FC236}">
                <a16:creationId xmlns:a16="http://schemas.microsoft.com/office/drawing/2014/main" id="{40D85231-48FE-1DA5-8E1E-30238E27FCF4}"/>
              </a:ext>
            </a:extLst>
          </p:cNvPr>
          <p:cNvSpPr txBox="1"/>
          <p:nvPr/>
        </p:nvSpPr>
        <p:spPr>
          <a:xfrm>
            <a:off x="1885562" y="3954780"/>
            <a:ext cx="2788920" cy="731520"/>
          </a:xfrm>
          <a:prstGeom prst="rect">
            <a:avLst/>
          </a:prstGeom>
          <a:noFill/>
          <a:ln/>
        </p:spPr>
        <p:txBody>
          <a:bodyPr wrap="square" lIns="0" tIns="0" rIns="0" bIns="0" rtlCol="0" anchor="ctr"/>
          <a:lstStyle/>
          <a:p>
            <a:pPr>
              <a:lnSpc>
                <a:spcPct val="95000"/>
              </a:lnSpc>
            </a:pPr>
            <a:r>
              <a:rPr lang="en-US" sz="1180" dirty="0" err="1">
                <a:solidFill>
                  <a:srgbClr val="E7E8FB"/>
                </a:solidFill>
                <a:latin typeface="Calibri" pitchFamily="34" charset="0"/>
                <a:ea typeface="Calibri" pitchFamily="34" charset="-122"/>
                <a:cs typeface="Calibri" pitchFamily="34" charset="-120"/>
              </a:rPr>
              <a:t>Thiết</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kế</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kiến</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trúc</a:t>
            </a:r>
            <a:r>
              <a:rPr lang="en-US" sz="1180" dirty="0">
                <a:solidFill>
                  <a:srgbClr val="E7E8FB"/>
                </a:solidFill>
                <a:latin typeface="Calibri" pitchFamily="34" charset="0"/>
                <a:ea typeface="Calibri" pitchFamily="34" charset="-122"/>
                <a:cs typeface="Calibri" pitchFamily="34" charset="-120"/>
              </a:rPr>
              <a:t> chi </a:t>
            </a:r>
            <a:r>
              <a:rPr lang="en-US" sz="1180" dirty="0" err="1">
                <a:solidFill>
                  <a:srgbClr val="E7E8FB"/>
                </a:solidFill>
                <a:latin typeface="Calibri" pitchFamily="34" charset="0"/>
                <a:ea typeface="Calibri" pitchFamily="34" charset="-122"/>
                <a:cs typeface="Calibri" pitchFamily="34" charset="-120"/>
              </a:rPr>
              <a:t>tiết</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xây</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dựng</a:t>
            </a:r>
            <a:r>
              <a:rPr lang="en-US" sz="1180" dirty="0">
                <a:solidFill>
                  <a:srgbClr val="E7E8FB"/>
                </a:solidFill>
                <a:latin typeface="Calibri" pitchFamily="34" charset="0"/>
                <a:ea typeface="Calibri" pitchFamily="34" charset="-122"/>
                <a:cs typeface="Calibri" pitchFamily="34" charset="-120"/>
              </a:rPr>
              <a:t> database SQLite, schema, pipeline </a:t>
            </a:r>
            <a:r>
              <a:rPr lang="en-US" sz="1180" dirty="0" err="1">
                <a:solidFill>
                  <a:srgbClr val="E7E8FB"/>
                </a:solidFill>
                <a:latin typeface="Calibri" pitchFamily="34" charset="0"/>
                <a:ea typeface="Calibri" pitchFamily="34" charset="-122"/>
                <a:cs typeface="Calibri" pitchFamily="34" charset="-120"/>
              </a:rPr>
              <a:t>hoàn</a:t>
            </a:r>
            <a:r>
              <a:rPr lang="en-US" sz="1180" dirty="0">
                <a:solidFill>
                  <a:srgbClr val="E7E8FB"/>
                </a:solidFill>
                <a:latin typeface="Calibri" pitchFamily="34" charset="0"/>
                <a:ea typeface="Calibri" pitchFamily="34" charset="-122"/>
                <a:cs typeface="Calibri" pitchFamily="34" charset="-120"/>
              </a:rPr>
              <a:t> </a:t>
            </a:r>
            <a:r>
              <a:rPr lang="en-US" sz="1180" dirty="0" err="1">
                <a:solidFill>
                  <a:srgbClr val="E7E8FB"/>
                </a:solidFill>
                <a:latin typeface="Calibri" pitchFamily="34" charset="0"/>
                <a:ea typeface="Calibri" pitchFamily="34" charset="-122"/>
                <a:cs typeface="Calibri" pitchFamily="34" charset="-120"/>
              </a:rPr>
              <a:t>chỉnh</a:t>
            </a:r>
            <a:endParaRPr lang="en-US" sz="1180" dirty="0"/>
          </a:p>
        </p:txBody>
      </p:sp>
      <p:sp>
        <p:nvSpPr>
          <p:cNvPr id="87" name="Text 10">
            <a:extLst>
              <a:ext uri="{FF2B5EF4-FFF2-40B4-BE49-F238E27FC236}">
                <a16:creationId xmlns:a16="http://schemas.microsoft.com/office/drawing/2014/main" id="{581D1718-B8A9-29E5-9C69-4FAB6BE99077}"/>
              </a:ext>
            </a:extLst>
          </p:cNvPr>
          <p:cNvSpPr txBox="1"/>
          <p:nvPr/>
        </p:nvSpPr>
        <p:spPr>
          <a:xfrm>
            <a:off x="4747634" y="4165092"/>
            <a:ext cx="1078992" cy="274320"/>
          </a:xfrm>
          <a:prstGeom prst="rect">
            <a:avLst/>
          </a:prstGeom>
          <a:noFill/>
          <a:ln/>
        </p:spPr>
        <p:txBody>
          <a:bodyPr wrap="square" lIns="0" tIns="0" rIns="0" bIns="0" rtlCol="0" anchor="ctr"/>
          <a:lstStyle/>
          <a:p>
            <a:pPr marL="0" indent="0">
              <a:buNone/>
            </a:pPr>
            <a:r>
              <a:rPr lang="en-US" sz="950" b="1" dirty="0">
                <a:solidFill>
                  <a:srgbClr val="E9970B"/>
                </a:solidFill>
                <a:latin typeface="Calibri" pitchFamily="34" charset="0"/>
                <a:ea typeface="Calibri" pitchFamily="34" charset="-122"/>
                <a:cs typeface="Calibri" pitchFamily="34" charset="-120"/>
              </a:rPr>
              <a:t>◀ đang ở đây</a:t>
            </a:r>
            <a:endParaRPr lang="en-US" sz="950" dirty="0"/>
          </a:p>
        </p:txBody>
      </p:sp>
      <p:sp>
        <p:nvSpPr>
          <p:cNvPr id="89" name="Shape 11">
            <a:extLst>
              <a:ext uri="{FF2B5EF4-FFF2-40B4-BE49-F238E27FC236}">
                <a16:creationId xmlns:a16="http://schemas.microsoft.com/office/drawing/2014/main" id="{2803E927-4A04-E358-9E65-2EC54756AFFE}"/>
              </a:ext>
            </a:extLst>
          </p:cNvPr>
          <p:cNvSpPr/>
          <p:nvPr/>
        </p:nvSpPr>
        <p:spPr>
          <a:xfrm>
            <a:off x="566928" y="2839816"/>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91" name="Shape 12">
            <a:extLst>
              <a:ext uri="{FF2B5EF4-FFF2-40B4-BE49-F238E27FC236}">
                <a16:creationId xmlns:a16="http://schemas.microsoft.com/office/drawing/2014/main" id="{639628D0-CD50-3079-9383-FA3E6E0F1B19}"/>
              </a:ext>
            </a:extLst>
          </p:cNvPr>
          <p:cNvSpPr/>
          <p:nvPr/>
        </p:nvSpPr>
        <p:spPr>
          <a:xfrm>
            <a:off x="749808" y="3022696"/>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93" name="Text 13">
            <a:extLst>
              <a:ext uri="{FF2B5EF4-FFF2-40B4-BE49-F238E27FC236}">
                <a16:creationId xmlns:a16="http://schemas.microsoft.com/office/drawing/2014/main" id="{06F3CA37-D31F-5868-D5A6-CC4EEA147C5E}"/>
              </a:ext>
            </a:extLst>
          </p:cNvPr>
          <p:cNvSpPr txBox="1"/>
          <p:nvPr/>
        </p:nvSpPr>
        <p:spPr>
          <a:xfrm>
            <a:off x="749808" y="3022696"/>
            <a:ext cx="960120" cy="566928"/>
          </a:xfrm>
          <a:prstGeom prst="rect">
            <a:avLst/>
          </a:prstGeom>
          <a:noFill/>
          <a:ln/>
        </p:spPr>
        <p:txBody>
          <a:bodyPr wrap="square" lIns="0" tIns="0" rIns="0" bIns="0"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Tuần</a:t>
            </a:r>
            <a:r>
              <a:rPr lang="en-US" sz="1400" b="1" dirty="0">
                <a:solidFill>
                  <a:srgbClr val="FFFFFF"/>
                </a:solidFill>
                <a:latin typeface="Calibri" pitchFamily="34" charset="0"/>
                <a:ea typeface="Calibri" pitchFamily="34" charset="-122"/>
                <a:cs typeface="Calibri" pitchFamily="34" charset="-120"/>
              </a:rPr>
              <a:t> 2</a:t>
            </a:r>
            <a:endParaRPr lang="en-US" sz="1400" dirty="0"/>
          </a:p>
        </p:txBody>
      </p:sp>
      <p:sp>
        <p:nvSpPr>
          <p:cNvPr id="95" name="Text 14">
            <a:extLst>
              <a:ext uri="{FF2B5EF4-FFF2-40B4-BE49-F238E27FC236}">
                <a16:creationId xmlns:a16="http://schemas.microsoft.com/office/drawing/2014/main" id="{435FA8AD-7761-F1F3-A1A1-B287FB6D3C3F}"/>
              </a:ext>
            </a:extLst>
          </p:cNvPr>
          <p:cNvSpPr txBox="1"/>
          <p:nvPr/>
        </p:nvSpPr>
        <p:spPr>
          <a:xfrm>
            <a:off x="1865376" y="2958688"/>
            <a:ext cx="3886200" cy="731520"/>
          </a:xfrm>
          <a:prstGeom prst="rect">
            <a:avLst/>
          </a:prstGeom>
          <a:noFill/>
          <a:ln/>
        </p:spPr>
        <p:txBody>
          <a:bodyPr wrap="square" lIns="0" tIns="0" rIns="0" bIns="0" rtlCol="0" anchor="ctr"/>
          <a:lstStyle/>
          <a:p>
            <a:pPr>
              <a:lnSpc>
                <a:spcPct val="95000"/>
              </a:lnSpc>
            </a:pPr>
            <a:r>
              <a:rPr lang="en-US" sz="1180" dirty="0" err="1">
                <a:latin typeface="Calibri" pitchFamily="34" charset="0"/>
                <a:ea typeface="Calibri" pitchFamily="34" charset="-122"/>
                <a:cs typeface="Calibri" pitchFamily="34" charset="-120"/>
              </a:rPr>
              <a:t>Rà</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soát</a:t>
            </a:r>
            <a:r>
              <a:rPr lang="en-US" sz="1180" dirty="0">
                <a:latin typeface="Calibri" pitchFamily="34" charset="0"/>
                <a:ea typeface="Calibri" pitchFamily="34" charset="-122"/>
                <a:cs typeface="Calibri" pitchFamily="34" charset="-120"/>
              </a:rPr>
              <a:t> benchmark; </a:t>
            </a:r>
            <a:r>
              <a:rPr lang="en-US" sz="1180" dirty="0" err="1">
                <a:latin typeface="Calibri" pitchFamily="34" charset="0"/>
                <a:ea typeface="Calibri" pitchFamily="34" charset="-122"/>
                <a:cs typeface="Calibri" pitchFamily="34" charset="-120"/>
              </a:rPr>
              <a:t>khung</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năng</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lực</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kiến</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trúc</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phân</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lớp</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chốt</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công</a:t>
            </a:r>
            <a:r>
              <a:rPr lang="en-US" sz="1180" dirty="0">
                <a:latin typeface="Calibri" pitchFamily="34" charset="0"/>
                <a:ea typeface="Calibri" pitchFamily="34" charset="-122"/>
                <a:cs typeface="Calibri" pitchFamily="34" charset="-120"/>
              </a:rPr>
              <a:t> </a:t>
            </a:r>
            <a:r>
              <a:rPr lang="en-US" sz="1180" dirty="0" err="1">
                <a:latin typeface="Calibri" pitchFamily="34" charset="0"/>
                <a:ea typeface="Calibri" pitchFamily="34" charset="-122"/>
                <a:cs typeface="Calibri" pitchFamily="34" charset="-120"/>
              </a:rPr>
              <a:t>nghệ</a:t>
            </a:r>
            <a:r>
              <a:rPr lang="en-US" sz="1180" dirty="0">
                <a:latin typeface="Calibri" pitchFamily="34" charset="0"/>
                <a:ea typeface="Calibri" pitchFamily="34" charset="-122"/>
                <a:cs typeface="Calibri" pitchFamily="34" charset="-120"/>
              </a:rPr>
              <a:t>.</a:t>
            </a:r>
            <a:endParaRPr lang="en-US" sz="1180" dirty="0"/>
          </a:p>
        </p:txBody>
      </p:sp>
      <p:sp>
        <p:nvSpPr>
          <p:cNvPr id="97" name="Shape 15">
            <a:extLst>
              <a:ext uri="{FF2B5EF4-FFF2-40B4-BE49-F238E27FC236}">
                <a16:creationId xmlns:a16="http://schemas.microsoft.com/office/drawing/2014/main" id="{C05A664E-EF36-2E26-0AB8-4FE3BA6E23B5}"/>
              </a:ext>
            </a:extLst>
          </p:cNvPr>
          <p:cNvSpPr/>
          <p:nvPr/>
        </p:nvSpPr>
        <p:spPr>
          <a:xfrm>
            <a:off x="566928" y="4855464"/>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99" name="Shape 16">
            <a:extLst>
              <a:ext uri="{FF2B5EF4-FFF2-40B4-BE49-F238E27FC236}">
                <a16:creationId xmlns:a16="http://schemas.microsoft.com/office/drawing/2014/main" id="{D43CEFE4-1CA0-A20D-B93C-EE955F11AF59}"/>
              </a:ext>
            </a:extLst>
          </p:cNvPr>
          <p:cNvSpPr/>
          <p:nvPr/>
        </p:nvSpPr>
        <p:spPr>
          <a:xfrm>
            <a:off x="749808" y="5038344"/>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01" name="Text 17">
            <a:extLst>
              <a:ext uri="{FF2B5EF4-FFF2-40B4-BE49-F238E27FC236}">
                <a16:creationId xmlns:a16="http://schemas.microsoft.com/office/drawing/2014/main" id="{BB5A8E87-AF13-3F96-6A5F-FFFF0AABD3B0}"/>
              </a:ext>
            </a:extLst>
          </p:cNvPr>
          <p:cNvSpPr txBox="1"/>
          <p:nvPr/>
        </p:nvSpPr>
        <p:spPr>
          <a:xfrm>
            <a:off x="749808" y="5038344"/>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4</a:t>
            </a:r>
            <a:endParaRPr lang="en-US" sz="1400" dirty="0"/>
          </a:p>
        </p:txBody>
      </p:sp>
      <p:sp>
        <p:nvSpPr>
          <p:cNvPr id="103" name="Text 18">
            <a:extLst>
              <a:ext uri="{FF2B5EF4-FFF2-40B4-BE49-F238E27FC236}">
                <a16:creationId xmlns:a16="http://schemas.microsoft.com/office/drawing/2014/main" id="{58FBE783-BB58-9BC8-910C-3BEE2FBC2B7E}"/>
              </a:ext>
            </a:extLst>
          </p:cNvPr>
          <p:cNvSpPr txBox="1"/>
          <p:nvPr/>
        </p:nvSpPr>
        <p:spPr>
          <a:xfrm>
            <a:off x="1865376" y="4974336"/>
            <a:ext cx="3886200" cy="731520"/>
          </a:xfrm>
          <a:prstGeom prst="rect">
            <a:avLst/>
          </a:prstGeom>
          <a:noFill/>
          <a:ln/>
        </p:spPr>
        <p:txBody>
          <a:bodyPr wrap="square" lIns="0" tIns="0" rIns="0" bIns="0" rtlCol="0" anchor="ctr"/>
          <a:lstStyle/>
          <a:p>
            <a:pPr>
              <a:lnSpc>
                <a:spcPct val="95000"/>
              </a:lnSpc>
            </a:pPr>
            <a:r>
              <a:rPr lang="en-US" sz="1180" dirty="0"/>
              <a:t>Implement vector </a:t>
            </a:r>
            <a:r>
              <a:rPr lang="en-US" sz="1180" dirty="0" err="1"/>
              <a:t>db</a:t>
            </a:r>
            <a:r>
              <a:rPr lang="en-US" sz="1180" dirty="0"/>
              <a:t> </a:t>
            </a:r>
            <a:r>
              <a:rPr lang="en-US" sz="1180" dirty="0" err="1"/>
              <a:t>và</a:t>
            </a:r>
            <a:r>
              <a:rPr lang="en-US" sz="1180" dirty="0"/>
              <a:t> </a:t>
            </a:r>
            <a:r>
              <a:rPr lang="en-US" sz="1180" dirty="0" err="1"/>
              <a:t>các</a:t>
            </a:r>
            <a:r>
              <a:rPr lang="en-US" sz="1180" dirty="0"/>
              <a:t> tools </a:t>
            </a:r>
            <a:r>
              <a:rPr lang="en-US" sz="1180" dirty="0" err="1"/>
              <a:t>cho</a:t>
            </a:r>
            <a:r>
              <a:rPr lang="en-US" sz="1180" dirty="0"/>
              <a:t> agent, </a:t>
            </a:r>
            <a:r>
              <a:rPr lang="en-US" sz="1180" dirty="0" err="1"/>
              <a:t>chạy</a:t>
            </a:r>
            <a:r>
              <a:rPr lang="en-US" sz="1180" dirty="0"/>
              <a:t> </a:t>
            </a:r>
            <a:r>
              <a:rPr lang="en-US" sz="1180" dirty="0" err="1"/>
              <a:t>thử</a:t>
            </a:r>
            <a:r>
              <a:rPr lang="en-US" sz="1180" dirty="0"/>
              <a:t> </a:t>
            </a:r>
            <a:r>
              <a:rPr lang="en-US" sz="1180" dirty="0" err="1"/>
              <a:t>nghiệm</a:t>
            </a:r>
            <a:r>
              <a:rPr lang="en-US" sz="1180" dirty="0"/>
              <a:t> </a:t>
            </a:r>
            <a:r>
              <a:rPr lang="en-US" sz="1180" dirty="0" err="1"/>
              <a:t>các</a:t>
            </a:r>
            <a:r>
              <a:rPr lang="en-US" sz="1180" dirty="0"/>
              <a:t> paper </a:t>
            </a:r>
            <a:r>
              <a:rPr lang="en-US" sz="1180" dirty="0" err="1"/>
              <a:t>và</a:t>
            </a:r>
            <a:r>
              <a:rPr lang="en-US" sz="1180" dirty="0"/>
              <a:t> baseline </a:t>
            </a:r>
            <a:r>
              <a:rPr lang="en-US" sz="1180" dirty="0" err="1"/>
              <a:t>có</a:t>
            </a:r>
            <a:r>
              <a:rPr lang="en-US" sz="1180" dirty="0"/>
              <a:t> </a:t>
            </a:r>
            <a:r>
              <a:rPr lang="en-US" sz="1180" dirty="0" err="1"/>
              <a:t>sẵn</a:t>
            </a:r>
            <a:r>
              <a:rPr lang="en-US" sz="1180" dirty="0"/>
              <a:t>.</a:t>
            </a:r>
          </a:p>
        </p:txBody>
      </p:sp>
      <p:sp>
        <p:nvSpPr>
          <p:cNvPr id="105" name="Shape 19">
            <a:extLst>
              <a:ext uri="{FF2B5EF4-FFF2-40B4-BE49-F238E27FC236}">
                <a16:creationId xmlns:a16="http://schemas.microsoft.com/office/drawing/2014/main" id="{0B2D5611-F30E-1B61-1627-08A0011C8017}"/>
              </a:ext>
            </a:extLst>
          </p:cNvPr>
          <p:cNvSpPr/>
          <p:nvPr/>
        </p:nvSpPr>
        <p:spPr>
          <a:xfrm>
            <a:off x="6281928" y="1783080"/>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107" name="Shape 20">
            <a:extLst>
              <a:ext uri="{FF2B5EF4-FFF2-40B4-BE49-F238E27FC236}">
                <a16:creationId xmlns:a16="http://schemas.microsoft.com/office/drawing/2014/main" id="{C2C8FD23-B296-EDDE-72CF-622CBCDD3C52}"/>
              </a:ext>
            </a:extLst>
          </p:cNvPr>
          <p:cNvSpPr/>
          <p:nvPr/>
        </p:nvSpPr>
        <p:spPr>
          <a:xfrm>
            <a:off x="6464808" y="1965960"/>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09" name="Text 21">
            <a:extLst>
              <a:ext uri="{FF2B5EF4-FFF2-40B4-BE49-F238E27FC236}">
                <a16:creationId xmlns:a16="http://schemas.microsoft.com/office/drawing/2014/main" id="{EE2C758D-D608-1603-8637-36FEA19E4B5F}"/>
              </a:ext>
            </a:extLst>
          </p:cNvPr>
          <p:cNvSpPr txBox="1"/>
          <p:nvPr/>
        </p:nvSpPr>
        <p:spPr>
          <a:xfrm>
            <a:off x="6464808" y="1965960"/>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5</a:t>
            </a:r>
            <a:endParaRPr lang="en-US" sz="1400" dirty="0"/>
          </a:p>
        </p:txBody>
      </p:sp>
      <p:sp>
        <p:nvSpPr>
          <p:cNvPr id="111" name="Text 22">
            <a:extLst>
              <a:ext uri="{FF2B5EF4-FFF2-40B4-BE49-F238E27FC236}">
                <a16:creationId xmlns:a16="http://schemas.microsoft.com/office/drawing/2014/main" id="{5AAB0A85-0DEA-35F0-8FBA-F30EDBCD050F}"/>
              </a:ext>
            </a:extLst>
          </p:cNvPr>
          <p:cNvSpPr txBox="1"/>
          <p:nvPr/>
        </p:nvSpPr>
        <p:spPr>
          <a:xfrm>
            <a:off x="7580376" y="1901952"/>
            <a:ext cx="3886200" cy="731520"/>
          </a:xfrm>
          <a:prstGeom prst="rect">
            <a:avLst/>
          </a:prstGeom>
          <a:noFill/>
          <a:ln/>
        </p:spPr>
        <p:txBody>
          <a:bodyPr wrap="square" lIns="0" tIns="0" rIns="0" bIns="0" rtlCol="0" anchor="ctr"/>
          <a:lstStyle/>
          <a:p>
            <a:pPr>
              <a:lnSpc>
                <a:spcPct val="95000"/>
              </a:lnSpc>
            </a:pPr>
            <a:r>
              <a:rPr lang="en-US" sz="1180" dirty="0"/>
              <a:t>Hoàn </a:t>
            </a:r>
            <a:r>
              <a:rPr lang="en-US" sz="1180" dirty="0" err="1"/>
              <a:t>thiện</a:t>
            </a:r>
            <a:r>
              <a:rPr lang="en-US" sz="1180" dirty="0"/>
              <a:t> </a:t>
            </a:r>
            <a:r>
              <a:rPr lang="en-US" sz="1180" dirty="0" err="1"/>
              <a:t>hệ</a:t>
            </a:r>
            <a:r>
              <a:rPr lang="en-US" sz="1180" dirty="0"/>
              <a:t> </a:t>
            </a:r>
            <a:r>
              <a:rPr lang="en-US" sz="1180" dirty="0" err="1"/>
              <a:t>thống</a:t>
            </a:r>
            <a:r>
              <a:rPr lang="en-US" sz="1180" dirty="0"/>
              <a:t>, </a:t>
            </a:r>
            <a:r>
              <a:rPr lang="en-US" sz="1180" dirty="0" err="1"/>
              <a:t>thử</a:t>
            </a:r>
            <a:r>
              <a:rPr lang="en-US" sz="1180" dirty="0"/>
              <a:t> benchmark </a:t>
            </a:r>
            <a:r>
              <a:rPr lang="en-US" sz="1180" dirty="0" err="1"/>
              <a:t>trên</a:t>
            </a:r>
            <a:r>
              <a:rPr lang="en-US" sz="1180" dirty="0"/>
              <a:t> </a:t>
            </a:r>
            <a:r>
              <a:rPr lang="en-US" sz="1180" dirty="0" err="1"/>
              <a:t>bộ</a:t>
            </a:r>
            <a:r>
              <a:rPr lang="en-US" sz="1180" dirty="0"/>
              <a:t> dev </a:t>
            </a:r>
            <a:r>
              <a:rPr lang="en-US" sz="1180" dirty="0" err="1"/>
              <a:t>để</a:t>
            </a:r>
            <a:r>
              <a:rPr lang="en-US" sz="1180" dirty="0"/>
              <a:t> </a:t>
            </a:r>
            <a:r>
              <a:rPr lang="en-US" sz="1180" dirty="0" err="1"/>
              <a:t>tối</a:t>
            </a:r>
            <a:r>
              <a:rPr lang="en-US" sz="1180" dirty="0"/>
              <a:t> </a:t>
            </a:r>
            <a:r>
              <a:rPr lang="vi-VN" sz="1180" dirty="0"/>
              <a:t>ư</a:t>
            </a:r>
            <a:r>
              <a:rPr lang="en-US" sz="1180" dirty="0"/>
              <a:t>u </a:t>
            </a:r>
            <a:r>
              <a:rPr lang="en-US" sz="1180" dirty="0" err="1"/>
              <a:t>tham</a:t>
            </a:r>
            <a:r>
              <a:rPr lang="en-US" sz="1180" dirty="0"/>
              <a:t> </a:t>
            </a:r>
            <a:r>
              <a:rPr lang="en-US" sz="1180" dirty="0" err="1"/>
              <a:t>số</a:t>
            </a:r>
            <a:r>
              <a:rPr lang="en-US" sz="1180" dirty="0"/>
              <a:t> </a:t>
            </a:r>
            <a:r>
              <a:rPr lang="en-US" sz="1180" dirty="0" err="1"/>
              <a:t>và</a:t>
            </a:r>
            <a:r>
              <a:rPr lang="en-US" sz="1180" dirty="0"/>
              <a:t> </a:t>
            </a:r>
            <a:r>
              <a:rPr lang="en-US" sz="1180" dirty="0" err="1"/>
              <a:t>độ</a:t>
            </a:r>
            <a:r>
              <a:rPr lang="en-US" sz="1180" dirty="0"/>
              <a:t> </a:t>
            </a:r>
            <a:r>
              <a:rPr lang="en-US" sz="1180" dirty="0" err="1"/>
              <a:t>chính</a:t>
            </a:r>
            <a:r>
              <a:rPr lang="en-US" sz="1180" dirty="0"/>
              <a:t> </a:t>
            </a:r>
            <a:r>
              <a:rPr lang="en-US" sz="1180" dirty="0" err="1"/>
              <a:t>xác</a:t>
            </a:r>
            <a:r>
              <a:rPr lang="en-US" sz="1180"/>
              <a:t>.</a:t>
            </a:r>
            <a:endParaRPr lang="en-US" sz="1180" dirty="0"/>
          </a:p>
        </p:txBody>
      </p:sp>
      <p:sp>
        <p:nvSpPr>
          <p:cNvPr id="113" name="Shape 23">
            <a:extLst>
              <a:ext uri="{FF2B5EF4-FFF2-40B4-BE49-F238E27FC236}">
                <a16:creationId xmlns:a16="http://schemas.microsoft.com/office/drawing/2014/main" id="{578B9B87-5047-7816-C9D8-E42A4CF9EF73}"/>
              </a:ext>
            </a:extLst>
          </p:cNvPr>
          <p:cNvSpPr/>
          <p:nvPr/>
        </p:nvSpPr>
        <p:spPr>
          <a:xfrm>
            <a:off x="6281928" y="2807208"/>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115" name="Shape 24">
            <a:extLst>
              <a:ext uri="{FF2B5EF4-FFF2-40B4-BE49-F238E27FC236}">
                <a16:creationId xmlns:a16="http://schemas.microsoft.com/office/drawing/2014/main" id="{B48B56D0-AB11-4C88-DB2F-B227E2A41144}"/>
              </a:ext>
            </a:extLst>
          </p:cNvPr>
          <p:cNvSpPr/>
          <p:nvPr/>
        </p:nvSpPr>
        <p:spPr>
          <a:xfrm>
            <a:off x="6464808" y="2990088"/>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17" name="Text 25">
            <a:extLst>
              <a:ext uri="{FF2B5EF4-FFF2-40B4-BE49-F238E27FC236}">
                <a16:creationId xmlns:a16="http://schemas.microsoft.com/office/drawing/2014/main" id="{6E9D9832-3D5C-77A5-2A58-6FB65F62A894}"/>
              </a:ext>
            </a:extLst>
          </p:cNvPr>
          <p:cNvSpPr txBox="1"/>
          <p:nvPr/>
        </p:nvSpPr>
        <p:spPr>
          <a:xfrm>
            <a:off x="6464808" y="2990088"/>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6</a:t>
            </a:r>
            <a:endParaRPr lang="en-US" sz="1400" dirty="0"/>
          </a:p>
        </p:txBody>
      </p:sp>
      <p:sp>
        <p:nvSpPr>
          <p:cNvPr id="119" name="Text 26">
            <a:extLst>
              <a:ext uri="{FF2B5EF4-FFF2-40B4-BE49-F238E27FC236}">
                <a16:creationId xmlns:a16="http://schemas.microsoft.com/office/drawing/2014/main" id="{9A699246-53E2-FBFC-FDBA-C95A24F288FD}"/>
              </a:ext>
            </a:extLst>
          </p:cNvPr>
          <p:cNvSpPr txBox="1"/>
          <p:nvPr/>
        </p:nvSpPr>
        <p:spPr>
          <a:xfrm>
            <a:off x="7580376" y="2926080"/>
            <a:ext cx="3886200" cy="731520"/>
          </a:xfrm>
          <a:prstGeom prst="rect">
            <a:avLst/>
          </a:prstGeom>
          <a:noFill/>
          <a:ln/>
        </p:spPr>
        <p:txBody>
          <a:bodyPr wrap="square" lIns="0" tIns="0" rIns="0" bIns="0" rtlCol="0" anchor="ctr"/>
          <a:lstStyle/>
          <a:p>
            <a:pPr>
              <a:lnSpc>
                <a:spcPct val="95000"/>
              </a:lnSpc>
            </a:pPr>
            <a:r>
              <a:rPr lang="en-US" sz="1180" dirty="0"/>
              <a:t>So </a:t>
            </a:r>
            <a:r>
              <a:rPr lang="en-US" sz="1180" dirty="0" err="1"/>
              <a:t>sánh</a:t>
            </a:r>
            <a:r>
              <a:rPr lang="en-US" sz="1180" dirty="0"/>
              <a:t> </a:t>
            </a:r>
            <a:r>
              <a:rPr lang="en-US" sz="1180" dirty="0" err="1"/>
              <a:t>kết</a:t>
            </a:r>
            <a:r>
              <a:rPr lang="en-US" sz="1180" dirty="0"/>
              <a:t> </a:t>
            </a:r>
            <a:r>
              <a:rPr lang="en-US" sz="1180" dirty="0" err="1"/>
              <a:t>quả</a:t>
            </a:r>
            <a:r>
              <a:rPr lang="en-US" sz="1180" dirty="0"/>
              <a:t> </a:t>
            </a:r>
            <a:r>
              <a:rPr lang="en-US" sz="1180" dirty="0" err="1"/>
              <a:t>giữa</a:t>
            </a:r>
            <a:r>
              <a:rPr lang="en-US" sz="1180" dirty="0"/>
              <a:t> </a:t>
            </a:r>
            <a:r>
              <a:rPr lang="en-US" sz="1180" dirty="0" err="1"/>
              <a:t>hệ</a:t>
            </a:r>
            <a:r>
              <a:rPr lang="en-US" sz="1180" dirty="0"/>
              <a:t> </a:t>
            </a:r>
            <a:r>
              <a:rPr lang="en-US" sz="1180" dirty="0" err="1"/>
              <a:t>thống</a:t>
            </a:r>
            <a:r>
              <a:rPr lang="en-US" sz="1180" dirty="0"/>
              <a:t> </a:t>
            </a:r>
            <a:r>
              <a:rPr lang="en-US" sz="1180" dirty="0" err="1"/>
              <a:t>thiết</a:t>
            </a:r>
            <a:r>
              <a:rPr lang="en-US" sz="1180" dirty="0"/>
              <a:t> </a:t>
            </a:r>
            <a:r>
              <a:rPr lang="en-US" sz="1180" dirty="0" err="1"/>
              <a:t>kế</a:t>
            </a:r>
            <a:r>
              <a:rPr lang="en-US" sz="1180" dirty="0"/>
              <a:t> </a:t>
            </a:r>
            <a:r>
              <a:rPr lang="en-US" sz="1180" dirty="0" err="1"/>
              <a:t>và</a:t>
            </a:r>
            <a:r>
              <a:rPr lang="en-US" sz="1180" dirty="0"/>
              <a:t> </a:t>
            </a:r>
            <a:r>
              <a:rPr lang="en-US" sz="1180" dirty="0" err="1"/>
              <a:t>các</a:t>
            </a:r>
            <a:r>
              <a:rPr lang="en-US" sz="1180" dirty="0"/>
              <a:t> paper </a:t>
            </a:r>
            <a:r>
              <a:rPr lang="en-US" sz="1180" dirty="0" err="1"/>
              <a:t>gốc</a:t>
            </a:r>
            <a:r>
              <a:rPr lang="en-US" sz="1180" dirty="0"/>
              <a:t> </a:t>
            </a:r>
            <a:r>
              <a:rPr lang="en-US" sz="1180" dirty="0" err="1"/>
              <a:t>cũng</a:t>
            </a:r>
            <a:r>
              <a:rPr lang="en-US" sz="1180" dirty="0"/>
              <a:t> </a:t>
            </a:r>
            <a:r>
              <a:rPr lang="en-US" sz="1180" dirty="0" err="1"/>
              <a:t>nh</a:t>
            </a:r>
            <a:r>
              <a:rPr lang="vi-VN" sz="1180" dirty="0"/>
              <a:t>ư</a:t>
            </a:r>
            <a:r>
              <a:rPr lang="en-US" sz="1180" dirty="0"/>
              <a:t> baseline </a:t>
            </a:r>
            <a:r>
              <a:rPr lang="en-US" sz="1180" dirty="0" err="1"/>
              <a:t>trên</a:t>
            </a:r>
            <a:r>
              <a:rPr lang="en-US" sz="1180" dirty="0"/>
              <a:t> </a:t>
            </a:r>
            <a:r>
              <a:rPr lang="en-US" sz="1180" dirty="0" err="1"/>
              <a:t>tập</a:t>
            </a:r>
            <a:r>
              <a:rPr lang="en-US" sz="1180" dirty="0"/>
              <a:t> test</a:t>
            </a:r>
          </a:p>
        </p:txBody>
      </p:sp>
      <p:sp>
        <p:nvSpPr>
          <p:cNvPr id="121" name="Shape 27">
            <a:extLst>
              <a:ext uri="{FF2B5EF4-FFF2-40B4-BE49-F238E27FC236}">
                <a16:creationId xmlns:a16="http://schemas.microsoft.com/office/drawing/2014/main" id="{3B0D0647-7094-EA55-75BB-5FDACFB5E9E7}"/>
              </a:ext>
            </a:extLst>
          </p:cNvPr>
          <p:cNvSpPr/>
          <p:nvPr/>
        </p:nvSpPr>
        <p:spPr>
          <a:xfrm>
            <a:off x="6281928" y="3831336"/>
            <a:ext cx="5340096" cy="932688"/>
          </a:xfrm>
          <a:prstGeom prst="roundRect">
            <a:avLst>
              <a:gd name="adj" fmla="val 4902"/>
            </a:avLst>
          </a:prstGeom>
          <a:solidFill>
            <a:srgbClr val="F1F2FB"/>
          </a:solidFill>
          <a:ln w="12700">
            <a:solidFill>
              <a:srgbClr val="F1F2FB"/>
            </a:solidFill>
            <a:prstDash val="solid"/>
          </a:ln>
        </p:spPr>
        <p:txBody>
          <a:bodyPr/>
          <a:lstStyle/>
          <a:p>
            <a:endParaRPr lang="en-US"/>
          </a:p>
        </p:txBody>
      </p:sp>
      <p:sp>
        <p:nvSpPr>
          <p:cNvPr id="123" name="Shape 28">
            <a:extLst>
              <a:ext uri="{FF2B5EF4-FFF2-40B4-BE49-F238E27FC236}">
                <a16:creationId xmlns:a16="http://schemas.microsoft.com/office/drawing/2014/main" id="{0266C35C-31FC-B190-0F97-9D163081C6EB}"/>
              </a:ext>
            </a:extLst>
          </p:cNvPr>
          <p:cNvSpPr/>
          <p:nvPr/>
        </p:nvSpPr>
        <p:spPr>
          <a:xfrm>
            <a:off x="6464808" y="4014216"/>
            <a:ext cx="960120" cy="566928"/>
          </a:xfrm>
          <a:prstGeom prst="roundRect">
            <a:avLst>
              <a:gd name="adj" fmla="val 12903"/>
            </a:avLst>
          </a:prstGeom>
          <a:solidFill>
            <a:srgbClr val="3A36A0"/>
          </a:solidFill>
          <a:ln w="12700">
            <a:solidFill>
              <a:srgbClr val="3A36A0"/>
            </a:solidFill>
            <a:prstDash val="solid"/>
          </a:ln>
        </p:spPr>
        <p:txBody>
          <a:bodyPr/>
          <a:lstStyle/>
          <a:p>
            <a:endParaRPr lang="en-US"/>
          </a:p>
        </p:txBody>
      </p:sp>
      <p:sp>
        <p:nvSpPr>
          <p:cNvPr id="125" name="Text 29">
            <a:extLst>
              <a:ext uri="{FF2B5EF4-FFF2-40B4-BE49-F238E27FC236}">
                <a16:creationId xmlns:a16="http://schemas.microsoft.com/office/drawing/2014/main" id="{AF6B7E6B-0C4C-4612-2D76-C48F9E4112B7}"/>
              </a:ext>
            </a:extLst>
          </p:cNvPr>
          <p:cNvSpPr txBox="1"/>
          <p:nvPr/>
        </p:nvSpPr>
        <p:spPr>
          <a:xfrm>
            <a:off x="6464808" y="4014216"/>
            <a:ext cx="96012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Tuần 7</a:t>
            </a:r>
            <a:endParaRPr lang="en-US" sz="1400" dirty="0"/>
          </a:p>
        </p:txBody>
      </p:sp>
      <p:sp>
        <p:nvSpPr>
          <p:cNvPr id="127" name="Text 30">
            <a:extLst>
              <a:ext uri="{FF2B5EF4-FFF2-40B4-BE49-F238E27FC236}">
                <a16:creationId xmlns:a16="http://schemas.microsoft.com/office/drawing/2014/main" id="{FB39F4A2-D7C1-EDAC-7158-94ABA5A39A77}"/>
              </a:ext>
            </a:extLst>
          </p:cNvPr>
          <p:cNvSpPr txBox="1"/>
          <p:nvPr/>
        </p:nvSpPr>
        <p:spPr>
          <a:xfrm>
            <a:off x="7580376" y="3950208"/>
            <a:ext cx="3886200" cy="731520"/>
          </a:xfrm>
          <a:prstGeom prst="rect">
            <a:avLst/>
          </a:prstGeom>
          <a:noFill/>
          <a:ln/>
        </p:spPr>
        <p:txBody>
          <a:bodyPr wrap="square" lIns="0" tIns="0" rIns="0" bIns="0" rtlCol="0" anchor="ctr"/>
          <a:lstStyle/>
          <a:p>
            <a:pPr>
              <a:lnSpc>
                <a:spcPct val="95000"/>
              </a:lnSpc>
            </a:pPr>
            <a:r>
              <a:rPr lang="en-US" sz="1180">
                <a:solidFill>
                  <a:srgbClr val="20223A"/>
                </a:solidFill>
                <a:latin typeface="Calibri" pitchFamily="34" charset="0"/>
                <a:ea typeface="Calibri" pitchFamily="34" charset="-122"/>
                <a:cs typeface="Calibri" pitchFamily="34" charset="-120"/>
              </a:rPr>
              <a:t>Viết báo cáo &amp; tài liệu; đóng gói mã nguồn; chuẩn bị trình bày cuối.</a:t>
            </a:r>
            <a:endParaRPr lang="en-US" sz="1180" dirty="0"/>
          </a:p>
        </p:txBody>
      </p:sp>
    </p:spTree>
    <p:extLst>
      <p:ext uri="{BB962C8B-B14F-4D97-AF65-F5344CB8AC3E}">
        <p14:creationId xmlns:p14="http://schemas.microsoft.com/office/powerpoint/2010/main" val="2888009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2602</Words>
  <Application>Microsoft Office PowerPoint</Application>
  <PresentationFormat>Widescreen</PresentationFormat>
  <Paragraphs>340</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tuần 3 — Tái cấu trúc theo APEX-MEM</dc:title>
  <dc:subject>PptxGenJS Presentation</dc:subject>
  <dc:creator>PptxGenJS</dc:creator>
  <cp:lastModifiedBy>Phong Đặng Tuấn</cp:lastModifiedBy>
  <cp:revision>6</cp:revision>
  <dcterms:created xsi:type="dcterms:W3CDTF">2026-09-24T08:59:03Z</dcterms:created>
  <dcterms:modified xsi:type="dcterms:W3CDTF">2026-09-28T04:19:56Z</dcterms:modified>
</cp:coreProperties>
</file>