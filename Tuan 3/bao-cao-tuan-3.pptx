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59" r:id="rId5"/>
    <p:sldId id="260" r:id="rId6"/>
    <p:sldId id="261" r:id="rId7"/>
    <p:sldId id="262" r:id="rId8"/>
    <p:sldId id="263" r:id="rId9"/>
    <p:sldId id="264" r:id="rId10"/>
    <p:sldId id="265" r:id="rId11"/>
    <p:sldId id="268" r:id="rId19"/>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trình bày báo cáo tuần 3 của đề tài xây dựng bộ nhớ dài hạn cho LLM Agent.
Tuần 2 nhóm đã khóa thiết kế. Tuần 3 là tuần chuyển từ thiết kế sang mã nguồn: nhóm đã hoàn thành phần sổ cái SQLite kèm bộ kiểm thử, và có kế hoạch chi tiết để dựng pipeline chạy đầu–cuối trong phần còn lại của tuần. Năng lực nhắm tới là năng lực số 1: trích xuất và nhớ chính xác.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Tuần 2 đã khóa các quyết định sau, và nhóm không mở lại trong tuần 3: khung tám năng lực, kiến trúc sáu lớp với việc tách sổ cái khỏi chỉ mục, chuẩn hóa song ngữ ở tầng ghi, đường truy xuất lai, cổng nguồn gốc pending, công nghệ miễn phí, và phương pháp đánh giá ba trục năm cấu hình.
Ngoài thiết kế, nhóm đã có các notebook khảo sát dữ liệu LongMemEval-S, FactConsolidation và BEAM. Đó là cơ sở để tuần này viết loader chuẩn.
Việc còn nợ là khung mã nguồn: hết tuần 2 nhóm có thiết kế và dữ liệu nhưng chưa có gì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tuần 3 là dựng một đường mỏng nhưng thông suốt: nạp hội thoại, trích fact, ghi sổ cái, nhúng, truy xuất, trả lời, chấm điểm. Chưa có logic slot và seq, chưa BM25, chưa reranker, vì mỗi thứ đó có tuần riêng.
Mục tiêu là có con số đầu tiên và hạ tầng để các tuần sau dựa vào.
Định nghĩa xong là một lệnh chạy được và ra bảng số, kèm ba điều kiện: bảng accuracy tách theo loại câu hỏi; mọi lượt để lại một dòng trong nhật ký vết; và pytest xanh, chạy offline bằng LLM giả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chọn làm một module thật sâu thay vì dựng đủ mọi file ở mức sơ sài. Module đó là sổ cái, với ba lý do.
Một: đây là nơi duy nhất không được phép sai. Chroma trả nhầm một ứng viên thì reranker còn vớt lại; sổ cái ghi sai một bản active thì mọi thứ phía sau sai mà không có cách nào biết.
Hai: sổ cái không gọi LLM nên test được hoàn toàn offline.
Ba: toàn bộ logic cập nhật của tuần 4 chỉ là các phép ghi lên đúng bảng này, nên schema đúng từ bây giờ thì tuần 4 không phải nhập lại dữ liệu.
Hợp đồng với tầng chỉ mục: Chroma chỉ lưu id, vector và vài metadata để lọc. Nội dung đưa cho LLM luôn được nạp lại từ sổ cái qua get_by_ids. Nhờ vậy chỉ mục và sổ cái không bao giờ bất đồng về nội dung; cùng lắm là chỉ mục cũ, và rebuild sửa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chi tiết dễ hỏng âm thầm mà nhóm đã xử lý.
Một: PRAGMA foreign_keys mặc định TẮT trong SQLite, nên superseded_by trỏ vào id không tồn tại vẫn ghi được. Nhóm bật cho từng kết nối trong hàm cấu hình, không đặt trong file sql.
Hai: cấp phát seq. Cách select max cộng một bị cấp trùng khi chạy hai tiến trình eval song song. Nhóm dùng UPDATE counter RETURNING, là phép nguyên tử.
Ba: thứ tự get_by_ids. Truy vấn WHERE id IN trả theo rowid, làm xóa sạch thứ hạng của reranker mà không báo lỗi. Nhóm sắp lại đúng thứ tự đầu vào.
Bốn: json.dumps mặc định ensure_ascii True, khiến vết tiếng Việt thành chuỗi escape không đọc nổi. Nhóm đặt ensure_ascii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Lọc bản cũ được làm bằng SQL chứ không bằng LLM, đúng nguyên tắc số 1 của bản thiết kế: việc cần chính xác thì không giao cho mô hình. Một câu window function là tất định và giải thích được. Phương án nhờ LLM chọn bản mới nhất chính là cấu hình đối chứng llm-judge ở tuần 7, nên nhóm sẽ đo chênh lệch chứ không khẳng định suông.
Về ràng buộc unique index trên slot active: nhóm cố ý chưa bật. Tuần 3 chỉ có thao tác ADD. Khi nạp LongMemEval, một người nói N5 rồi sau nói N4 sẽ sinh hai bản active cùng slot, đúng như thiết kế vì MemoryUpdater chưa tồn tại. Bật ràng buộc bây giờ là tự làm vỡ pipeline. Tuần 4, sau khi có UPDATE, chạy đúng một dòng đó; từ lúc ấy mọi lỗi logic cập nhật sẽ nổ ngay tại chỗ thay vì âm thầm làm hỏng số liệu. Đã có sẵn một test chứng minh ràng buộc bắt đúng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kiểm thử của sổ cái: 16 test, xanh toàn bộ, chạy 0,9 giây, không gọi mạng. Mỗi test tương ứng một bất biến đã cam kết trong tài liệu kiến trúc, nên test hỏng nghĩa là kiến trúc bị vi phạm chứ không phải lỗi vặt.
Các bất biến gồm: seq tăng đơn điệu và duy nhất; fact từ lượt trợ lý vào pending, không lọt vào chỉ mục, xác nhận xong mới hiện; mỗi slot chỉ trả bản max seq và loại bản deleted; khóa tiếng Việt có dấu bị từ chối với lý do attribute_not_ascii, còn các khóa như 2nd_language hay Japanese Level bị từ chối với lý do attribute_bad_format; mọi lần từ chối đều vào nhật ký vết, cho ra thẳng tỉ lệ khóa hỏng cho báo cáo; và chỉ mục nhúng text_canon tiếng Anh nhưng metadata vẫn giữ lang là 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bảy ngày, chia cho hai người để không sửa chung một file; giao diện giữa hai phần là dataclass Fact, cố định từ ngày 2.
Ngày 1, người A: khung repo và adapter. Config tập trung ở một chỗ, giao diện LLMAdapter duy nhất để tuần 6 đổi sang Groq hay Ollama chỉ sửa một file, bọc BGE-M3 có cache ngay từ đầu với model nằm trong khóa cache, và FakeLLM cho test offline.
Ngày 2 đến 3, người A: FactExtractor, thành phần duy nhất gọi LLM ở tầng ghi, nên chất lượng của nó quyết định trần điểm của hệ. Cache theo sha1 của lượt là bắt buộc để chạy lại eval không đốt hạn mức. Tiêu chí xong: trích tay 20 lượt, mười Việt mười Anh, tỉ lệ khóa đúng từ 90 phần trăm trở lên.
Ngày 3 đến 4, người B: chỉ mục Chroma với hàm rebuild viết ngay ngày đầu, bộ lắp ngữ cảnh đã chia hạn ngạch và đếm token bằng tokenizer thật, và agent với ingest_turn và answer.
Ngày 4 đến 5, người A: bộ đánh giá gồm loader dữ liệu dạng iterator, judge với prompt chấm chốt luôn tuần này, và vòng chạy với mỗi case một file DB riêng.
Ngày 5 đến 6, cả hai: chạy 100 câu và đọc 10 câu sai đầu tiên. Ngày 7: chốt số và viết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tuần nhóm sẽ báo cáo sáu nhóm số: accuracy theo từng loại câu hỏi của LongMemEval-S làm đường cơ sở; tỉ lệ khóa slot bị từ chối tách theo lý do, đo trực tiếp chất lượng prompt trích xuất; số fact mỗi lượt và số slot phân biệt; p50 và p95 tách theo pha; token mỗi truy vấn tách theo ngôn ngữ, vì gộp tiếng Việt với tiếng Anh là số vô nghĩa; và phân loại mười câu sai đầu tiên để quyết định thứ tự ưu tiên tuần 4 đến 6.
Ba bẫy nhóm tự đặt ra để tránh. Một: không làm logic slot và seq trong tuần 3, dù schema đã có sẵn cột, vì làm sớm thì tuần 4 không còn gì để đo. Hai: cache embedding và cache trích xuất ngay từ ngày đầu. Ba: chốt mô hình chấm và prompt chấm ngay tuần này, vì đổi giữa chừng là mọi số đo trước đó phải bỏ.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rủi ro của riêng tuần 3. Hạn mức Gemini 1.500 lượt mỗi ngày có thể hết giữa lúc chạy eval: xử lý bằng cache trích xuất theo sha1 của lượt, nên chạy lại eval không gọi lại LLM. LongMemEval-S có phiên rất dài nên trích xuất chậm: tuần này chạy 100 câu trước, đo tốc độ rồi mới quyết định mở rộng. BGE-M3 tải lần đầu nặng: tải sẵn về máy và ghim phiên bản. Và hai người sửa cùng một file: sổ cái và extractor tách hẳn hai thư mục, giao diện giữa chúng là dataclass Fact cố định từ ngày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kết tuần 3. Đã xong: sổ cái SQLite với schema, lớp ledger và 16 test xanh; các notebook khảo sát dữ liệu LongMemEval; và kế hoạch chi tiết bảy ngày. Việc còn lại là dựng phần đầu–cuối: adapter, FactExtractor, chỉ mục, agent và bộ đánh giá để có con số đầu tiên.
Em có hai câu hỏi muốn xin ý kiến anh. Một: tuần 3 nhóm chạy 100 câu LongMemEval-S để lấy đường cơ sở; anh thấy nên mở rộng lên cả bộ ngay, hay giữ 100 câu cho tới khi có reranker ở tuần 6 rồi mới chạy toàn bộ? Hai: về cấu hình đối chứng llm-judge, tức để LLM tự chọn bản mới nhất thay cho max seq, anh thấy có đáng dành thời gian chạy không, hay coi cơ chế tất định là hiển nhiên đúng và bỏ cấu hình đó đi?
Em xin hết phần báo cáo tuần 3 và mong nhận được góp ý của 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23A"/>
        </a:solidFill>
      </p:bgPr>
    </p:bg>
    <p:spTree>
      <p:nvGrpSpPr>
        <p:cNvPr id="1" name=""/>
        <p:cNvGrpSpPr/>
        <p:nvPr/>
      </p:nvGrpSpPr>
      <p:grpSpPr>
        <a:xfrm>
          <a:off x="0" y="0"/>
          <a:ext cx="0" cy="0"/>
          <a:chOff x="0" y="0"/>
          <a:chExt cx="0" cy="0"/>
        </a:xfrm>
      </p:grpSpPr>
      <p:sp>
        <p:nvSpPr>
          <p:cNvPr id="2" name="Shape 0"/>
          <p:cNvSpPr/>
          <p:nvPr/>
        </p:nvSpPr>
        <p:spPr>
          <a:xfrm>
            <a:off x="10195560" y="-914400"/>
            <a:ext cx="3108960" cy="3108960"/>
          </a:xfrm>
          <a:prstGeom prst="ellipse">
            <a:avLst/>
          </a:prstGeom>
          <a:solidFill>
            <a:srgbClr val="1E1C55"/>
          </a:solidFill>
          <a:ln w="12700">
            <a:solidFill>
              <a:srgbClr val="1E1C55"/>
            </a:solidFill>
            <a:prstDash val="solid"/>
          </a:ln>
        </p:spPr>
        <p:txBody>
          <a:bodyPr/>
          <a:p/>
        </p:txBody>
      </p:sp>
      <p:sp>
        <p:nvSpPr>
          <p:cNvPr id="3" name="Shape 1"/>
          <p:cNvSpPr/>
          <p:nvPr/>
        </p:nvSpPr>
        <p:spPr>
          <a:xfrm>
            <a:off x="11155680" y="5120640"/>
            <a:ext cx="2377440" cy="2377440"/>
          </a:xfrm>
          <a:prstGeom prst="ellipse">
            <a:avLst/>
          </a:prstGeom>
          <a:solidFill>
            <a:srgbClr val="1E1C55"/>
          </a:solidFill>
          <a:ln w="12700">
            <a:solidFill>
              <a:srgbClr val="1E1C55"/>
            </a:solidFill>
            <a:prstDash val="solid"/>
          </a:ln>
        </p:spPr>
        <p:txBody>
          <a:bodyPr/>
          <a:p/>
        </p:txBody>
      </p:sp>
      <p:sp>
        <p:nvSpPr>
          <p:cNvPr id="4" name="Shape 2"/>
          <p:cNvSpPr/>
          <p:nvPr/>
        </p:nvSpPr>
        <p:spPr>
          <a:xfrm>
            <a:off x="566928" y="1417320"/>
            <a:ext cx="1828800" cy="384048"/>
          </a:xfrm>
          <a:prstGeom prst="rect">
            <a:avLst/>
          </a:prstGeom>
          <a:solidFill>
            <a:srgbClr val="E9970B"/>
          </a:solidFill>
          <a:ln w="12700">
            <a:solidFill>
              <a:srgbClr val="E9970B"/>
            </a:solidFill>
            <a:prstDash val="solid"/>
          </a:ln>
        </p:spPr>
        <p:txBody>
          <a:bodyPr/>
          <a:p/>
        </p:txBody>
      </p:sp>
      <p:sp>
        <p:nvSpPr>
          <p:cNvPr id="5" name="Text 3"/>
          <p:cNvSpPr txBox="1"/>
          <p:nvPr/>
        </p:nvSpPr>
        <p:spPr>
          <a:xfrm>
            <a:off x="566928" y="1417320"/>
            <a:ext cx="1828800" cy="384048"/>
          </a:xfrm>
          <a:prstGeom prst="rect">
            <a:avLst/>
          </a:prstGeom>
          <a:noFill/>
          <a:ln/>
        </p:spPr>
        <p:txBody>
          <a:bodyPr wrap="square" lIns="0" tIns="0" rIns="0" bIns="0" rtlCol="0" anchor="ctr"/>
          <a:lstStyle/>
          <a:p>
            <a:pPr algn="ctr" indent="0" marL="0">
              <a:buNone/>
            </a:pPr>
            <a:r>
              <a:rPr lang="en-US" sz="1500" b="1" dirty="0">
                <a:solidFill>
                  <a:srgbClr val="13123A"/>
                </a:solidFill>
                <a:latin typeface="Calibri" pitchFamily="34" charset="0"/>
                <a:ea typeface="Calibri" pitchFamily="34" charset="-122"/>
                <a:cs typeface="Calibri" pitchFamily="34" charset="-120"/>
              </a:rPr>
              <a:t>BÁO CÁO TUẦN 3</a:t>
            </a:r>
            <a:endParaRPr lang="en-US" sz="1150" dirty="0"/>
          </a:p>
        </p:txBody>
      </p:sp>
      <p:sp>
        <p:nvSpPr>
          <p:cNvPr id="6" name="Text 4"/>
          <p:cNvSpPr txBox="1"/>
          <p:nvPr/>
        </p:nvSpPr>
        <p:spPr>
          <a:xfrm>
            <a:off x="566928" y="1965960"/>
            <a:ext cx="9692640" cy="182880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Kho ký ức và pipeline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đầu–cuối</a:t>
            </a:r>
            <a:endParaRPr lang="en-US" sz="4600" dirty="0"/>
          </a:p>
        </p:txBody>
      </p:sp>
      <p:sp>
        <p:nvSpPr>
          <p:cNvPr id="7" name="Text 5"/>
          <p:cNvSpPr txBox="1"/>
          <p:nvPr/>
        </p:nvSpPr>
        <p:spPr>
          <a:xfrm>
            <a:off x="566928" y="3886200"/>
            <a:ext cx="9692640" cy="548640"/>
          </a:xfrm>
          <a:prstGeom prst="rect">
            <a:avLst/>
          </a:prstGeom>
          <a:noFill/>
          <a:ln/>
        </p:spPr>
        <p:txBody>
          <a:bodyPr wrap="square" lIns="0" tIns="0" rIns="0" bIns="0" rtlCol="0" anchor="t"/>
          <a:lstStyle/>
          <a:p>
            <a:pPr indent="0" marL="0">
              <a:buNone/>
            </a:pPr>
            <a:r>
              <a:rPr lang="en-US" sz="1800" dirty="0">
                <a:solidFill>
                  <a:srgbClr val="C7C9E6"/>
                </a:solidFill>
                <a:latin typeface="Calibri" pitchFamily="34" charset="0"/>
                <a:ea typeface="Calibri" pitchFamily="34" charset="-122"/>
                <a:cs typeface="Calibri" pitchFamily="34" charset="-120"/>
              </a:rPr>
              <a:t>Năng lực #1 · kho ký ức SQLite hoàn thành kèm kiểm thử · kế hoạch dựng pipeline đầu–cuối</a:t>
            </a:r>
            <a:endParaRPr lang="en-US" sz="1800" dirty="0"/>
          </a:p>
        </p:txBody>
      </p:sp>
      <p:sp>
        <p:nvSpPr>
          <p:cNvPr id="8" name="Shape 6"/>
          <p:cNvSpPr/>
          <p:nvPr/>
        </p:nvSpPr>
        <p:spPr>
          <a:xfrm>
            <a:off x="566928" y="4892040"/>
            <a:ext cx="3840480" cy="0"/>
          </a:xfrm>
          <a:prstGeom prst="line">
            <a:avLst/>
          </a:prstGeom>
          <a:noFill/>
          <a:ln w="19050">
            <a:solidFill>
              <a:srgbClr val="E9970B"/>
            </a:solidFill>
            <a:prstDash val="solid"/>
          </a:ln>
        </p:spPr>
        <p:txBody>
          <a:bodyPr/>
          <a:p/>
        </p:txBody>
      </p:sp>
      <p:sp>
        <p:nvSpPr>
          <p:cNvPr id="9" name="Text 7"/>
          <p:cNvSpPr txBox="1"/>
          <p:nvPr/>
        </p:nvSpPr>
        <p:spPr>
          <a:xfrm>
            <a:off x="566928" y="5074920"/>
            <a:ext cx="1051560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Đặng Tuấn Phong - Nguyễn Trí Dũng · Tuần 3/8 · 21/09/2026</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TỔNG KẾT TUẦN 2</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Các quyết định thiết kế đã chốt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Tài liệu thiết kế kiến trúc tuần 2 (bản 0.5) và các notebook khảo sát dữ liệu trong thư mục DataExplore của kho chung.</a:t>
            </a:r>
            <a:endParaRPr lang="en-US" sz="1050" dirty="0"/>
          </a:p>
        </p:txBody>
      </p:sp>
      <p:sp>
        <p:nvSpPr>
          <p:cNvPr id="6" name="Shape 3"/>
          <p:cNvSpPr/>
          <p:nvPr/>
        </p:nvSpPr>
        <p:spPr>
          <a:xfrm>
            <a:off x="566928" y="1645920"/>
            <a:ext cx="11045952" cy="420624"/>
          </a:xfrm>
          <a:prstGeom prst="rect">
            <a:avLst/>
          </a:prstGeom>
          <a:solidFill>
            <a:srgbClr val="ECEBF7"/>
          </a:solidFill>
          <a:ln w="12700">
            <a:solidFill>
              <a:srgbClr val="ECEBF7"/>
            </a:solidFill>
            <a:prstDash val="solid"/>
          </a:ln>
        </p:spPr>
        <p:txBody>
          <a:bodyPr/>
          <a:p/>
        </p:txBody>
      </p:sp>
      <p:sp>
        <p:nvSpPr>
          <p:cNvPr id="7" name="Text 4"/>
          <p:cNvSpPr txBox="1"/>
          <p:nvPr/>
        </p:nvSpPr>
        <p:spPr>
          <a:xfrm>
            <a:off x="777240" y="1645920"/>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Khung năng lực</a:t>
            </a:r>
            <a:endParaRPr lang="en-US" sz="1200" dirty="0"/>
          </a:p>
        </p:txBody>
      </p:sp>
      <p:sp>
        <p:nvSpPr>
          <p:cNvPr id="8" name="Text 5"/>
          <p:cNvSpPr txBox="1"/>
          <p:nvPr/>
        </p:nvSpPr>
        <p:spPr>
          <a:xfrm>
            <a:off x="2926080" y="1645920"/>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8 năng lực, mỗi cái gắn một benchmark, một thành phần, một tuần</a:t>
            </a:r>
            <a:endParaRPr lang="en-US" sz="1250" dirty="0"/>
          </a:p>
        </p:txBody>
      </p:sp>
      <p:sp>
        <p:nvSpPr>
          <p:cNvPr id="9" name="Shape 6"/>
          <p:cNvSpPr/>
          <p:nvPr/>
        </p:nvSpPr>
        <p:spPr>
          <a:xfrm>
            <a:off x="566928" y="2121408"/>
            <a:ext cx="11045952" cy="420624"/>
          </a:xfrm>
          <a:prstGeom prst="rect">
            <a:avLst/>
          </a:prstGeom>
          <a:solidFill>
            <a:srgbClr val="F7F7FB"/>
          </a:solidFill>
          <a:ln w="12700">
            <a:solidFill>
              <a:srgbClr val="F7F7FB"/>
            </a:solidFill>
            <a:prstDash val="solid"/>
          </a:ln>
        </p:spPr>
        <p:txBody>
          <a:bodyPr/>
          <a:p/>
        </p:txBody>
      </p:sp>
      <p:sp>
        <p:nvSpPr>
          <p:cNvPr id="10" name="Text 7"/>
          <p:cNvSpPr txBox="1"/>
          <p:nvPr/>
        </p:nvSpPr>
        <p:spPr>
          <a:xfrm>
            <a:off x="777240" y="2121408"/>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Kiến trúc</a:t>
            </a:r>
            <a:endParaRPr lang="en-US" sz="1200" dirty="0"/>
          </a:p>
        </p:txBody>
      </p:sp>
      <p:sp>
        <p:nvSpPr>
          <p:cNvPr id="11" name="Text 8"/>
          <p:cNvSpPr txBox="1"/>
          <p:nvPr/>
        </p:nvSpPr>
        <p:spPr>
          <a:xfrm>
            <a:off x="2926080" y="2121408"/>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6 lớp; tách kho ký ức (SQLite) khỏi chỉ mục (Chroma, BM25)</a:t>
            </a:r>
            <a:endParaRPr lang="en-US" sz="1250" dirty="0"/>
          </a:p>
        </p:txBody>
      </p:sp>
      <p:sp>
        <p:nvSpPr>
          <p:cNvPr id="12" name="Shape 9"/>
          <p:cNvSpPr/>
          <p:nvPr/>
        </p:nvSpPr>
        <p:spPr>
          <a:xfrm>
            <a:off x="566928" y="2596896"/>
            <a:ext cx="11045952" cy="420624"/>
          </a:xfrm>
          <a:prstGeom prst="rect">
            <a:avLst/>
          </a:prstGeom>
          <a:solidFill>
            <a:srgbClr val="ECEBF7"/>
          </a:solidFill>
          <a:ln w="12700">
            <a:solidFill>
              <a:srgbClr val="ECEBF7"/>
            </a:solidFill>
            <a:prstDash val="solid"/>
          </a:ln>
        </p:spPr>
        <p:txBody>
          <a:bodyPr/>
          <a:p/>
        </p:txBody>
      </p:sp>
      <p:sp>
        <p:nvSpPr>
          <p:cNvPr id="13" name="Text 10"/>
          <p:cNvSpPr txBox="1"/>
          <p:nvPr/>
        </p:nvSpPr>
        <p:spPr>
          <a:xfrm>
            <a:off x="777240" y="2596896"/>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Song ngữ</a:t>
            </a:r>
            <a:endParaRPr lang="en-US" sz="1200" dirty="0"/>
          </a:p>
        </p:txBody>
      </p:sp>
      <p:sp>
        <p:nvSpPr>
          <p:cNvPr id="14" name="Text 11"/>
          <p:cNvSpPr txBox="1"/>
          <p:nvPr/>
        </p:nvSpPr>
        <p:spPr>
          <a:xfrm>
            <a:off x="2926080" y="2596896"/>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text / text_canon / lang; khóa slot luôn tiếng Anh</a:t>
            </a:r>
            <a:endParaRPr lang="en-US" sz="1250" dirty="0"/>
          </a:p>
        </p:txBody>
      </p:sp>
      <p:sp>
        <p:nvSpPr>
          <p:cNvPr id="15" name="Shape 12"/>
          <p:cNvSpPr/>
          <p:nvPr/>
        </p:nvSpPr>
        <p:spPr>
          <a:xfrm>
            <a:off x="566928" y="3072384"/>
            <a:ext cx="11045952" cy="420624"/>
          </a:xfrm>
          <a:prstGeom prst="rect">
            <a:avLst/>
          </a:prstGeom>
          <a:solidFill>
            <a:srgbClr val="F7F7FB"/>
          </a:solidFill>
          <a:ln w="12700">
            <a:solidFill>
              <a:srgbClr val="F7F7FB"/>
            </a:solidFill>
            <a:prstDash val="solid"/>
          </a:ln>
        </p:spPr>
        <p:txBody>
          <a:bodyPr/>
          <a:p/>
        </p:txBody>
      </p:sp>
      <p:sp>
        <p:nvSpPr>
          <p:cNvPr id="16" name="Text 13"/>
          <p:cNvSpPr txBox="1"/>
          <p:nvPr/>
        </p:nvSpPr>
        <p:spPr>
          <a:xfrm>
            <a:off x="777240" y="3072384"/>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Truy xuất</a:t>
            </a:r>
            <a:endParaRPr lang="en-US" sz="1200" dirty="0"/>
          </a:p>
        </p:txBody>
      </p:sp>
      <p:sp>
        <p:nvSpPr>
          <p:cNvPr id="17" name="Text 14"/>
          <p:cNvSpPr txBox="1"/>
          <p:nvPr/>
        </p:nvSpPr>
        <p:spPr>
          <a:xfrm>
            <a:off x="2926080" y="3072384"/>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dense + BM25 → RRF → reranker → lọc max(seq) → lắp ngữ cảnh</a:t>
            </a:r>
            <a:endParaRPr lang="en-US" sz="1250" dirty="0"/>
          </a:p>
        </p:txBody>
      </p:sp>
      <p:sp>
        <p:nvSpPr>
          <p:cNvPr id="18" name="Shape 15"/>
          <p:cNvSpPr/>
          <p:nvPr/>
        </p:nvSpPr>
        <p:spPr>
          <a:xfrm>
            <a:off x="566928" y="3547872"/>
            <a:ext cx="11045952" cy="420624"/>
          </a:xfrm>
          <a:prstGeom prst="rect">
            <a:avLst/>
          </a:prstGeom>
          <a:solidFill>
            <a:srgbClr val="ECEBF7"/>
          </a:solidFill>
          <a:ln w="12700">
            <a:solidFill>
              <a:srgbClr val="ECEBF7"/>
            </a:solidFill>
            <a:prstDash val="solid"/>
          </a:ln>
        </p:spPr>
        <p:txBody>
          <a:bodyPr/>
          <a:p/>
        </p:txBody>
      </p:sp>
      <p:sp>
        <p:nvSpPr>
          <p:cNvPr id="19" name="Text 16"/>
          <p:cNvSpPr txBox="1"/>
          <p:nvPr/>
        </p:nvSpPr>
        <p:spPr>
          <a:xfrm>
            <a:off x="777240" y="3547872"/>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Nguồn gốc</a:t>
            </a:r>
            <a:endParaRPr lang="en-US" sz="1200" dirty="0"/>
          </a:p>
        </p:txBody>
      </p:sp>
      <p:sp>
        <p:nvSpPr>
          <p:cNvPr id="20" name="Text 17"/>
          <p:cNvSpPr txBox="1"/>
          <p:nvPr/>
        </p:nvSpPr>
        <p:spPr>
          <a:xfrm>
            <a:off x="2926080" y="3547872"/>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Fact từ lượt trợ lý vào pending, chờ người dùng xác nhận</a:t>
            </a:r>
            <a:endParaRPr lang="en-US" sz="1250" dirty="0"/>
          </a:p>
        </p:txBody>
      </p:sp>
      <p:sp>
        <p:nvSpPr>
          <p:cNvPr id="21" name="Shape 18"/>
          <p:cNvSpPr/>
          <p:nvPr/>
        </p:nvSpPr>
        <p:spPr>
          <a:xfrm>
            <a:off x="566928" y="4023360"/>
            <a:ext cx="11045952" cy="420624"/>
          </a:xfrm>
          <a:prstGeom prst="rect">
            <a:avLst/>
          </a:prstGeom>
          <a:solidFill>
            <a:srgbClr val="F7F7FB"/>
          </a:solidFill>
          <a:ln w="12700">
            <a:solidFill>
              <a:srgbClr val="F7F7FB"/>
            </a:solidFill>
            <a:prstDash val="solid"/>
          </a:ln>
        </p:spPr>
        <p:txBody>
          <a:bodyPr/>
          <a:p/>
        </p:txBody>
      </p:sp>
      <p:sp>
        <p:nvSpPr>
          <p:cNvPr id="22" name="Text 19"/>
          <p:cNvSpPr txBox="1"/>
          <p:nvPr/>
        </p:nvSpPr>
        <p:spPr>
          <a:xfrm>
            <a:off x="777240" y="4023360"/>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Công nghệ</a:t>
            </a:r>
            <a:endParaRPr lang="en-US" sz="1200" dirty="0"/>
          </a:p>
        </p:txBody>
      </p:sp>
      <p:sp>
        <p:nvSpPr>
          <p:cNvPr id="23" name="Text 20"/>
          <p:cNvSpPr txBox="1"/>
          <p:nvPr/>
        </p:nvSpPr>
        <p:spPr>
          <a:xfrm>
            <a:off x="2926080" y="4023360"/>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Gemini 2.5 Flash · BGE-M3 local · bge-reranker-v2-m3 · SQLite + Chroma</a:t>
            </a:r>
            <a:endParaRPr lang="en-US" sz="1250" dirty="0"/>
          </a:p>
        </p:txBody>
      </p:sp>
      <p:sp>
        <p:nvSpPr>
          <p:cNvPr id="24" name="Shape 21"/>
          <p:cNvSpPr/>
          <p:nvPr/>
        </p:nvSpPr>
        <p:spPr>
          <a:xfrm>
            <a:off x="566928" y="4498848"/>
            <a:ext cx="11045952" cy="420624"/>
          </a:xfrm>
          <a:prstGeom prst="rect">
            <a:avLst/>
          </a:prstGeom>
          <a:solidFill>
            <a:srgbClr val="ECEBF7"/>
          </a:solidFill>
          <a:ln w="12700">
            <a:solidFill>
              <a:srgbClr val="ECEBF7"/>
            </a:solidFill>
            <a:prstDash val="solid"/>
          </a:ln>
        </p:spPr>
        <p:txBody>
          <a:bodyPr/>
          <a:p/>
        </p:txBody>
      </p:sp>
      <p:sp>
        <p:nvSpPr>
          <p:cNvPr id="25" name="Text 22"/>
          <p:cNvSpPr txBox="1"/>
          <p:nvPr/>
        </p:nvSpPr>
        <p:spPr>
          <a:xfrm>
            <a:off x="777240" y="4498848"/>
            <a:ext cx="2103120" cy="420624"/>
          </a:xfrm>
          <a:prstGeom prst="rect">
            <a:avLst/>
          </a:prstGeom>
          <a:noFill/>
          <a:ln/>
        </p:spPr>
        <p:txBody>
          <a:bodyPr wrap="square" lIns="0" tIns="0" rIns="0" bIns="0" rtlCol="0" anchor="ctr"/>
          <a:lstStyle/>
          <a:p>
            <a:pPr indent="0" marL="0">
              <a:buNone/>
            </a:pPr>
            <a:r>
              <a:rPr lang="en-US" sz="1550" b="1" dirty="0">
                <a:solidFill>
                  <a:srgbClr val="3A36A0"/>
                </a:solidFill>
                <a:latin typeface="Calibri" pitchFamily="34" charset="0"/>
                <a:ea typeface="Calibri" pitchFamily="34" charset="-122"/>
                <a:cs typeface="Calibri" pitchFamily="34" charset="-120"/>
              </a:rPr>
              <a:t>Đánh giá</a:t>
            </a:r>
            <a:endParaRPr lang="en-US" sz="1200" dirty="0"/>
          </a:p>
        </p:txBody>
      </p:sp>
      <p:sp>
        <p:nvSpPr>
          <p:cNvPr id="26" name="Text 23"/>
          <p:cNvSpPr txBox="1"/>
          <p:nvPr/>
        </p:nvSpPr>
        <p:spPr>
          <a:xfrm>
            <a:off x="2926080" y="4498848"/>
            <a:ext cx="8503920" cy="420624"/>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3 trục × 5 cấu hình, cùng mô hình nền – cùng k – cùng ngân sách token</a:t>
            </a:r>
            <a:endParaRPr lang="en-US" sz="1250" dirty="0"/>
          </a:p>
        </p:txBody>
      </p:sp>
      <p:sp>
        <p:nvSpPr>
          <p:cNvPr id="27" name="Shape 24"/>
          <p:cNvSpPr/>
          <p:nvPr/>
        </p:nvSpPr>
        <p:spPr>
          <a:xfrm>
            <a:off x="566928" y="5120640"/>
            <a:ext cx="11045952" cy="1143000"/>
          </a:xfrm>
          <a:prstGeom prst="rect">
            <a:avLst/>
          </a:prstGeom>
          <a:solidFill>
            <a:srgbClr val="13123A"/>
          </a:solidFill>
          <a:ln w="12700">
            <a:solidFill>
              <a:srgbClr val="13123A"/>
            </a:solidFill>
            <a:prstDash val="solid"/>
          </a:ln>
        </p:spPr>
        <p:txBody>
          <a:bodyPr/>
          <a:p/>
        </p:txBody>
      </p:sp>
      <p:sp>
        <p:nvSpPr>
          <p:cNvPr id="28" name="Text 25"/>
          <p:cNvSpPr txBox="1"/>
          <p:nvPr/>
        </p:nvSpPr>
        <p:spPr>
          <a:xfrm>
            <a:off x="822960" y="530352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TỒN ĐỌNG SAU TUẦN 2</a:t>
            </a:r>
            <a:endParaRPr lang="en-US" sz="1100" dirty="0"/>
          </a:p>
        </p:txBody>
      </p:sp>
      <p:sp>
        <p:nvSpPr>
          <p:cNvPr id="29" name="Text 26"/>
          <p:cNvSpPr txBox="1"/>
          <p:nvPr/>
        </p:nvSpPr>
        <p:spPr>
          <a:xfrm>
            <a:off x="822960" y="5577840"/>
            <a:ext cx="10533888" cy="594360"/>
          </a:xfrm>
          <a:prstGeom prst="rect">
            <a:avLst/>
          </a:prstGeom>
          <a:noFill/>
          <a:ln/>
        </p:spPr>
        <p:txBody>
          <a:bodyPr wrap="square" lIns="0" tIns="0" rIns="0" bIns="0" rtlCol="0" anchor="t"/>
          <a:lstStyle/>
          <a:p>
            <a:pPr indent="0" marL="0">
              <a:buNone/>
            </a:pPr>
            <a:r>
              <a:rPr lang="en-US" sz="1500" dirty="0">
                <a:solidFill>
                  <a:srgbClr val="EFEFFA"/>
                </a:solidFill>
                <a:latin typeface="Calibri" pitchFamily="34" charset="0"/>
                <a:ea typeface="Calibri" pitchFamily="34" charset="-122"/>
                <a:cs typeface="Calibri" pitchFamily="34" charset="-120"/>
              </a:rPr>
              <a:t>Hết tuần 2, nhóm có tài liệu thiết kế và dữ liệu khảo sát nhưng chưa có mã nguồn chạy được. Tuần 3 giải quyết tồn đọng này: bộ nạp dữ liệu chuẩn thay cho đọc thủ công trong notebook, và khung mã nguồn.</a:t>
            </a:r>
            <a:endParaRPr lang="en-US" sz="125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8229600" cy="279400"/>
          </a:xfrm>
          <a:prstGeom prst="rect">
            <a:avLst/>
          </a:prstGeom>
          <a:noFill/>
        </p:spPr>
        <p:txBody>
          <a:bodyPr wrap="square" lIns="0" rIns="0" tIns="0" bIns="0" anchor="t">
            <a:spAutoFit/>
          </a:bodyPr>
          <a:lstStyle/>
          <a:p>
            <a:r>
              <a:rPr sz="1550" b="1">
                <a:solidFill>
                  <a:srgbClr val="3A36A0"/>
                </a:solidFill>
                <a:latin typeface="Calibri"/>
              </a:rPr>
              <a:t>KHẢO SÁT DỮ LIỆU · NOTEBOOK 01–03</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Khảo sát dữ liệu LongMemEval-S</a:t>
            </a:r>
          </a:p>
        </p:txBody>
      </p:sp>
      <p:sp>
        <p:nvSpPr>
          <p:cNvPr id="4" name="TextBox 3"/>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Recall thuộc tầng truy xuất, không phải accuracy cuối; khoảng chênh giữa hai đại lượng sẽ được baseline oracle đo ở tuần 7. Mọi phân tích chạy trên tập dev; tập test được khóa.</a:t>
            </a:r>
          </a:p>
        </p:txBody>
      </p:sp>
      <p:sp>
        <p:nvSpPr>
          <p:cNvPr id="5" name="Rectangle 4"/>
          <p:cNvSpPr/>
          <p:nvPr/>
        </p:nvSpPr>
        <p:spPr>
          <a:xfrm>
            <a:off x="571500" y="1689100"/>
            <a:ext cx="3289300" cy="4483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1866900"/>
            <a:ext cx="2781300" cy="254000"/>
          </a:xfrm>
          <a:prstGeom prst="rect">
            <a:avLst/>
          </a:prstGeom>
          <a:noFill/>
        </p:spPr>
        <p:txBody>
          <a:bodyPr wrap="square" lIns="0" rIns="0" tIns="0" bIns="0" anchor="t">
            <a:spAutoFit/>
          </a:bodyPr>
          <a:lstStyle/>
          <a:p>
            <a:r>
              <a:rPr sz="1250" b="1">
                <a:solidFill>
                  <a:srgbClr val="1FA6A6"/>
                </a:solidFill>
                <a:latin typeface="Calibri"/>
              </a:rPr>
              <a:t>BA NOTEBOOK · CHI PHÍ API BẰNG 0</a:t>
            </a:r>
          </a:p>
        </p:txBody>
      </p:sp>
      <p:sp>
        <p:nvSpPr>
          <p:cNvPr id="7" name="TextBox 6"/>
          <p:cNvSpPr txBox="1"/>
          <p:nvPr/>
        </p:nvSpPr>
        <p:spPr>
          <a:xfrm>
            <a:off x="825500" y="2235200"/>
            <a:ext cx="2781300" cy="254000"/>
          </a:xfrm>
          <a:prstGeom prst="rect">
            <a:avLst/>
          </a:prstGeom>
          <a:noFill/>
        </p:spPr>
        <p:txBody>
          <a:bodyPr wrap="square" lIns="0" rIns="0" tIns="0" bIns="0" anchor="t">
            <a:spAutoFit/>
          </a:bodyPr>
          <a:lstStyle/>
          <a:p>
            <a:r>
              <a:rPr sz="1600" b="1">
                <a:solidFill>
                  <a:srgbClr val="E9970B"/>
                </a:solidFill>
                <a:latin typeface="Calibri"/>
              </a:rPr>
              <a:t>01 · Khảo sát</a:t>
            </a:r>
          </a:p>
        </p:txBody>
      </p:sp>
      <p:sp>
        <p:nvSpPr>
          <p:cNvPr id="8" name="TextBox 7"/>
          <p:cNvSpPr txBox="1"/>
          <p:nvPr/>
        </p:nvSpPr>
        <p:spPr>
          <a:xfrm>
            <a:off x="825500" y="2501900"/>
            <a:ext cx="2781300" cy="1016000"/>
          </a:xfrm>
          <a:prstGeom prst="rect">
            <a:avLst/>
          </a:prstGeom>
          <a:noFill/>
        </p:spPr>
        <p:txBody>
          <a:bodyPr wrap="square" lIns="0" rIns="0" tIns="0" bIns="0" anchor="t">
            <a:spAutoFit/>
          </a:bodyPr>
          <a:lstStyle/>
          <a:p>
            <a:r>
              <a:rPr sz="1500" b="0">
                <a:solidFill>
                  <a:srgbClr val="EFEFFA"/>
                </a:solidFill>
                <a:latin typeface="Calibri"/>
              </a:rPr>
              <a:t>CPU. Đếm cấu trúc, độ khó, vị trí bằng chứng; chia dev/test phân tầng (seed 42).</a:t>
            </a:r>
          </a:p>
        </p:txBody>
      </p:sp>
      <p:sp>
        <p:nvSpPr>
          <p:cNvPr id="9" name="TextBox 8"/>
          <p:cNvSpPr txBox="1"/>
          <p:nvPr/>
        </p:nvSpPr>
        <p:spPr>
          <a:xfrm>
            <a:off x="825500" y="3505200"/>
            <a:ext cx="2781300" cy="254000"/>
          </a:xfrm>
          <a:prstGeom prst="rect">
            <a:avLst/>
          </a:prstGeom>
          <a:noFill/>
        </p:spPr>
        <p:txBody>
          <a:bodyPr wrap="square" lIns="0" rIns="0" tIns="0" bIns="0" anchor="t">
            <a:spAutoFit/>
          </a:bodyPr>
          <a:lstStyle/>
          <a:p>
            <a:r>
              <a:rPr sz="1600" b="1">
                <a:solidFill>
                  <a:srgbClr val="E9970B"/>
                </a:solidFill>
                <a:latin typeface="Calibri"/>
              </a:rPr>
              <a:t>02 · Nhúng</a:t>
            </a:r>
          </a:p>
        </p:txBody>
      </p:sp>
      <p:sp>
        <p:nvSpPr>
          <p:cNvPr id="10" name="TextBox 9"/>
          <p:cNvSpPr txBox="1"/>
          <p:nvPr/>
        </p:nvSpPr>
        <p:spPr>
          <a:xfrm>
            <a:off x="825500" y="3771900"/>
            <a:ext cx="2781300" cy="1016000"/>
          </a:xfrm>
          <a:prstGeom prst="rect">
            <a:avLst/>
          </a:prstGeom>
          <a:noFill/>
        </p:spPr>
        <p:txBody>
          <a:bodyPr wrap="square" lIns="0" rIns="0" tIns="0" bIns="0" anchor="t">
            <a:spAutoFit/>
          </a:bodyPr>
          <a:lstStyle/>
          <a:p>
            <a:r>
              <a:rPr sz="1500" b="0">
                <a:solidFill>
                  <a:srgbClr val="EFEFFA"/>
                </a:solidFill>
                <a:latin typeface="Calibri"/>
              </a:rPr>
              <a:t>GPU, chạy một lần. BGE-M3 nhúng toàn bộ lượt; lưu emb.npy và manifest ghi rõ mô hình.</a:t>
            </a:r>
          </a:p>
        </p:txBody>
      </p:sp>
      <p:sp>
        <p:nvSpPr>
          <p:cNvPr id="11" name="TextBox 10"/>
          <p:cNvSpPr txBox="1"/>
          <p:nvPr/>
        </p:nvSpPr>
        <p:spPr>
          <a:xfrm>
            <a:off x="825500" y="4775200"/>
            <a:ext cx="2781300" cy="254000"/>
          </a:xfrm>
          <a:prstGeom prst="rect">
            <a:avLst/>
          </a:prstGeom>
          <a:noFill/>
        </p:spPr>
        <p:txBody>
          <a:bodyPr wrap="square" lIns="0" rIns="0" tIns="0" bIns="0" anchor="t">
            <a:spAutoFit/>
          </a:bodyPr>
          <a:lstStyle/>
          <a:p>
            <a:r>
              <a:rPr sz="1600" b="1">
                <a:solidFill>
                  <a:srgbClr val="E9970B"/>
                </a:solidFill>
                <a:latin typeface="Calibri"/>
              </a:rPr>
              <a:t>03 · Recall@k</a:t>
            </a:r>
          </a:p>
        </p:txBody>
      </p:sp>
      <p:sp>
        <p:nvSpPr>
          <p:cNvPr id="12" name="TextBox 11"/>
          <p:cNvSpPr txBox="1"/>
          <p:nvPr/>
        </p:nvSpPr>
        <p:spPr>
          <a:xfrm>
            <a:off x="825500" y="5041900"/>
            <a:ext cx="2781300" cy="1016000"/>
          </a:xfrm>
          <a:prstGeom prst="rect">
            <a:avLst/>
          </a:prstGeom>
          <a:noFill/>
        </p:spPr>
        <p:txBody>
          <a:bodyPr wrap="square" lIns="0" rIns="0" tIns="0" bIns="0" anchor="t">
            <a:spAutoFit/>
          </a:bodyPr>
          <a:lstStyle/>
          <a:p>
            <a:r>
              <a:rPr sz="1500" b="0">
                <a:solidFill>
                  <a:srgbClr val="EFEFFA"/>
                </a:solidFill>
                <a:latin typeface="Calibri"/>
              </a:rPr>
              <a:t>CPU, không nhúng lại. So vector, BM25 và RRF trên dev.</a:t>
            </a:r>
          </a:p>
        </p:txBody>
      </p:sp>
      <p:sp>
        <p:nvSpPr>
          <p:cNvPr id="13" name="Rectangle 12"/>
          <p:cNvSpPr/>
          <p:nvPr/>
        </p:nvSpPr>
        <p:spPr>
          <a:xfrm>
            <a:off x="4114800" y="16891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2600" y="1689100"/>
            <a:ext cx="2159000" cy="812800"/>
          </a:xfrm>
          <a:prstGeom prst="rect">
            <a:avLst/>
          </a:prstGeom>
          <a:noFill/>
        </p:spPr>
        <p:txBody>
          <a:bodyPr wrap="square" lIns="0" rIns="0" tIns="0" bIns="0" anchor="ctr">
            <a:spAutoFit/>
          </a:bodyPr>
          <a:lstStyle/>
          <a:p>
            <a:r>
              <a:rPr sz="1600" b="1">
                <a:solidFill>
                  <a:srgbClr val="3A36A0"/>
                </a:solidFill>
                <a:latin typeface="Calibri"/>
              </a:rPr>
              <a:t>Ngưỡng từ chối dựa trên cosine</a:t>
            </a:r>
          </a:p>
        </p:txBody>
      </p:sp>
      <p:sp>
        <p:nvSpPr>
          <p:cNvPr id="15" name="TextBox 14"/>
          <p:cNvSpPr txBox="1"/>
          <p:nvPr/>
        </p:nvSpPr>
        <p:spPr>
          <a:xfrm>
            <a:off x="6553200" y="1689100"/>
            <a:ext cx="4927600" cy="812800"/>
          </a:xfrm>
          <a:prstGeom prst="rect">
            <a:avLst/>
          </a:prstGeom>
          <a:noFill/>
        </p:spPr>
        <p:txBody>
          <a:bodyPr wrap="square" lIns="0" rIns="0" tIns="0" bIns="0" anchor="ctr">
            <a:spAutoFit/>
          </a:bodyPr>
          <a:lstStyle/>
          <a:p>
            <a:r>
              <a:rPr sz="1500" b="0">
                <a:solidFill>
                  <a:srgbClr val="4A4E63"/>
                </a:solidFill>
                <a:latin typeface="Calibri"/>
              </a:rPr>
              <a:t>Độ chồng lấn cosine giữa câu chứa đáp án và lượt ngẫu nhiên: [__%]. Chồng lấn lớn → dùng điểm reranker (tuần 6).</a:t>
            </a:r>
          </a:p>
        </p:txBody>
      </p:sp>
      <p:sp>
        <p:nvSpPr>
          <p:cNvPr id="16" name="Rectangle 15"/>
          <p:cNvSpPr/>
          <p:nvPr/>
        </p:nvSpPr>
        <p:spPr>
          <a:xfrm>
            <a:off x="4114800" y="26035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2600" y="2603500"/>
            <a:ext cx="2159000" cy="812800"/>
          </a:xfrm>
          <a:prstGeom prst="rect">
            <a:avLst/>
          </a:prstGeom>
          <a:noFill/>
        </p:spPr>
        <p:txBody>
          <a:bodyPr wrap="square" lIns="0" rIns="0" tIns="0" bIns="0" anchor="ctr">
            <a:spAutoFit/>
          </a:bodyPr>
          <a:lstStyle/>
          <a:p>
            <a:r>
              <a:rPr sz="1600" b="1">
                <a:solidFill>
                  <a:srgbClr val="3A36A0"/>
                </a:solidFill>
                <a:latin typeface="Calibri"/>
              </a:rPr>
              <a:t>Giá trị của BM25 và RRF</a:t>
            </a:r>
          </a:p>
        </p:txBody>
      </p:sp>
      <p:sp>
        <p:nvSpPr>
          <p:cNvPr id="18" name="TextBox 17"/>
          <p:cNvSpPr txBox="1"/>
          <p:nvPr/>
        </p:nvSpPr>
        <p:spPr>
          <a:xfrm>
            <a:off x="6553200" y="2603500"/>
            <a:ext cx="4927600" cy="812800"/>
          </a:xfrm>
          <a:prstGeom prst="rect">
            <a:avLst/>
          </a:prstGeom>
          <a:noFill/>
        </p:spPr>
        <p:txBody>
          <a:bodyPr wrap="square" lIns="0" rIns="0" tIns="0" bIns="0" anchor="ctr">
            <a:spAutoFit/>
          </a:bodyPr>
          <a:lstStyle/>
          <a:p>
            <a:r>
              <a:rPr sz="1500" b="0">
                <a:solidFill>
                  <a:srgbClr val="4A4E63"/>
                </a:solidFill>
                <a:latin typeface="Calibri"/>
              </a:rPr>
              <a:t>Recall@30 của RRF cao hơn chỉ-vector [__] điểm. Dưới 2–3 điểm thì loại bỏ truy xuất lai.</a:t>
            </a:r>
          </a:p>
        </p:txBody>
      </p:sp>
      <p:sp>
        <p:nvSpPr>
          <p:cNvPr id="19" name="Rectangle 18"/>
          <p:cNvSpPr/>
          <p:nvPr/>
        </p:nvSpPr>
        <p:spPr>
          <a:xfrm>
            <a:off x="4114800" y="35179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2600" y="3517900"/>
            <a:ext cx="2159000" cy="812800"/>
          </a:xfrm>
          <a:prstGeom prst="rect">
            <a:avLst/>
          </a:prstGeom>
          <a:noFill/>
        </p:spPr>
        <p:txBody>
          <a:bodyPr wrap="square" lIns="0" rIns="0" tIns="0" bIns="0" anchor="ctr">
            <a:spAutoFit/>
          </a:bodyPr>
          <a:lstStyle/>
          <a:p>
            <a:r>
              <a:rPr sz="1600" b="1">
                <a:solidFill>
                  <a:srgbClr val="3A36A0"/>
                </a:solidFill>
                <a:latin typeface="Calibri"/>
              </a:rPr>
              <a:t>Nhu cầu tách truy vấn con</a:t>
            </a:r>
          </a:p>
        </p:txBody>
      </p:sp>
      <p:sp>
        <p:nvSpPr>
          <p:cNvPr id="21" name="TextBox 20"/>
          <p:cNvSpPr txBox="1"/>
          <p:nvPr/>
        </p:nvSpPr>
        <p:spPr>
          <a:xfrm>
            <a:off x="6553200" y="3517900"/>
            <a:ext cx="4927600" cy="812800"/>
          </a:xfrm>
          <a:prstGeom prst="rect">
            <a:avLst/>
          </a:prstGeom>
          <a:noFill/>
        </p:spPr>
        <p:txBody>
          <a:bodyPr wrap="square" lIns="0" rIns="0" tIns="0" bIns="0" anchor="ctr">
            <a:spAutoFit/>
          </a:bodyPr>
          <a:lstStyle/>
          <a:p>
            <a:r>
              <a:rPr sz="1500" b="0">
                <a:solidFill>
                  <a:srgbClr val="4A4E63"/>
                </a:solidFill>
                <a:latin typeface="Calibri"/>
              </a:rPr>
              <a:t>Tỉ lệ câu hỏi cần nhiều hơn một phiên bằng chứng: [__%].</a:t>
            </a:r>
          </a:p>
        </p:txBody>
      </p:sp>
      <p:sp>
        <p:nvSpPr>
          <p:cNvPr id="22" name="Rectangle 21"/>
          <p:cNvSpPr/>
          <p:nvPr/>
        </p:nvSpPr>
        <p:spPr>
          <a:xfrm>
            <a:off x="4114800" y="4432300"/>
            <a:ext cx="7493000" cy="812800"/>
          </a:xfrm>
          <a:prstGeom prst="rect">
            <a:avLst/>
          </a:prstGeom>
          <a:solidFill>
            <a:srgbClr val="F7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2600" y="4432300"/>
            <a:ext cx="2159000" cy="812800"/>
          </a:xfrm>
          <a:prstGeom prst="rect">
            <a:avLst/>
          </a:prstGeom>
          <a:noFill/>
        </p:spPr>
        <p:txBody>
          <a:bodyPr wrap="square" lIns="0" rIns="0" tIns="0" bIns="0" anchor="ctr">
            <a:spAutoFit/>
          </a:bodyPr>
          <a:lstStyle/>
          <a:p>
            <a:r>
              <a:rPr sz="1600" b="1">
                <a:solidFill>
                  <a:srgbClr val="3A36A0"/>
                </a:solidFill>
                <a:latin typeface="Calibri"/>
              </a:rPr>
              <a:t>Lựa chọn giá trị k</a:t>
            </a:r>
          </a:p>
        </p:txBody>
      </p:sp>
      <p:sp>
        <p:nvSpPr>
          <p:cNvPr id="24" name="TextBox 23"/>
          <p:cNvSpPr txBox="1"/>
          <p:nvPr/>
        </p:nvSpPr>
        <p:spPr>
          <a:xfrm>
            <a:off x="6553200" y="4432300"/>
            <a:ext cx="4927600" cy="812800"/>
          </a:xfrm>
          <a:prstGeom prst="rect">
            <a:avLst/>
          </a:prstGeom>
          <a:noFill/>
        </p:spPr>
        <p:txBody>
          <a:bodyPr wrap="square" lIns="0" rIns="0" tIns="0" bIns="0" anchor="ctr">
            <a:spAutoFit/>
          </a:bodyPr>
          <a:lstStyle/>
          <a:p>
            <a:r>
              <a:rPr sz="1500" b="0">
                <a:solidFill>
                  <a:srgbClr val="4A4E63"/>
                </a:solidFill>
                <a:latin typeface="Calibri"/>
              </a:rPr>
              <a:t>Recall bão hòa tại k ≈ [__].</a:t>
            </a:r>
          </a:p>
        </p:txBody>
      </p:sp>
      <p:sp>
        <p:nvSpPr>
          <p:cNvPr id="25" name="Rectangle 24"/>
          <p:cNvSpPr/>
          <p:nvPr/>
        </p:nvSpPr>
        <p:spPr>
          <a:xfrm>
            <a:off x="4114800" y="5346700"/>
            <a:ext cx="7493000" cy="812800"/>
          </a:xfrm>
          <a:prstGeom prst="rect">
            <a:avLst/>
          </a:prstGeom>
          <a:solidFill>
            <a:srgbClr val="EC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2600" y="5346700"/>
            <a:ext cx="2159000" cy="812800"/>
          </a:xfrm>
          <a:prstGeom prst="rect">
            <a:avLst/>
          </a:prstGeom>
          <a:noFill/>
        </p:spPr>
        <p:txBody>
          <a:bodyPr wrap="square" lIns="0" rIns="0" tIns="0" bIns="0" anchor="ctr">
            <a:spAutoFit/>
          </a:bodyPr>
          <a:lstStyle/>
          <a:p>
            <a:r>
              <a:rPr sz="1600" b="1">
                <a:solidFill>
                  <a:srgbClr val="3A36A0"/>
                </a:solidFill>
                <a:latin typeface="Calibri"/>
              </a:rPr>
              <a:t>Loại câu hỏi ưu tiên cải thiện</a:t>
            </a:r>
          </a:p>
        </p:txBody>
      </p:sp>
      <p:sp>
        <p:nvSpPr>
          <p:cNvPr id="27" name="TextBox 26"/>
          <p:cNvSpPr txBox="1"/>
          <p:nvPr/>
        </p:nvSpPr>
        <p:spPr>
          <a:xfrm>
            <a:off x="6553200" y="5346700"/>
            <a:ext cx="4927600" cy="812800"/>
          </a:xfrm>
          <a:prstGeom prst="rect">
            <a:avLst/>
          </a:prstGeom>
          <a:noFill/>
        </p:spPr>
        <p:txBody>
          <a:bodyPr wrap="square" lIns="0" rIns="0" tIns="0" bIns="0" anchor="ctr">
            <a:spAutoFit/>
          </a:bodyPr>
          <a:lstStyle/>
          <a:p>
            <a:r>
              <a:rPr sz="1500" b="0">
                <a:solidFill>
                  <a:srgbClr val="4A4E63"/>
                </a:solidFill>
                <a:latin typeface="Calibri"/>
              </a:rPr>
              <a:t>Loại có Recall@10 thấp nhất: [__].</a:t>
            </a:r>
          </a:p>
        </p:txBody>
      </p:sp>
      <p:sp>
        <p:nvSpPr>
          <p:cNvPr id="28" name="TextBox 27"/>
          <p:cNvSpPr txBox="1"/>
          <p:nvPr/>
        </p:nvSpPr>
        <p:spPr>
          <a:xfrm>
            <a:off x="4114800" y="6235700"/>
            <a:ext cx="7493000" cy="254000"/>
          </a:xfrm>
          <a:prstGeom prst="rect">
            <a:avLst/>
          </a:prstGeom>
          <a:noFill/>
        </p:spPr>
        <p:txBody>
          <a:bodyPr wrap="square" lIns="0" rIns="0" tIns="0" bIns="0" anchor="t">
            <a:spAutoFit/>
          </a:bodyPr>
          <a:lstStyle/>
          <a:p>
            <a:r>
              <a:rPr sz="1450" b="0">
                <a:solidFill>
                  <a:srgbClr val="3A36A0"/>
                </a:solidFill>
                <a:latin typeface="Calibri"/>
              </a:rPr>
              <a:t>Mỗi phép đo phục vụ một quyết định thiết kế cho các tuần 4–6.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MỤC TIÊU TUẦN 3</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Pipeline đầu–cuối tối giản</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00" dirty="0">
                <a:solidFill>
                  <a:srgbClr val="6B6F82"/>
                </a:solidFill>
                <a:latin typeface="Calibri" pitchFamily="34" charset="0"/>
                <a:ea typeface="Calibri" pitchFamily="34" charset="-122"/>
                <a:cs typeface="Calibri" pitchFamily="34" charset="-120"/>
              </a:rPr>
              <a:t>Tiêu chí hoàn thành do nhóm xác định từ đầu tuần; 100 câu lấy từ tập dev (chia ở notebook 01), tập test khóa đến tuần 7.</a:t>
            </a:r>
            <a:endParaRPr lang="en-US" sz="1050" dirty="0"/>
          </a:p>
        </p:txBody>
      </p:sp>
      <p:sp>
        <p:nvSpPr>
          <p:cNvPr id="6" name="Shape 3"/>
          <p:cNvSpPr/>
          <p:nvPr/>
        </p:nvSpPr>
        <p:spPr>
          <a:xfrm>
            <a:off x="566928" y="1691640"/>
            <a:ext cx="1426464" cy="566928"/>
          </a:xfrm>
          <a:prstGeom prst="rect">
            <a:avLst/>
          </a:prstGeom>
          <a:solidFill>
            <a:srgbClr val="ECEBF7"/>
          </a:solidFill>
          <a:ln w="12700">
            <a:solidFill>
              <a:srgbClr val="ECEBF7"/>
            </a:solidFill>
            <a:prstDash val="solid"/>
          </a:ln>
        </p:spPr>
        <p:txBody>
          <a:bodyPr/>
          <a:p/>
        </p:txBody>
      </p:sp>
      <p:sp>
        <p:nvSpPr>
          <p:cNvPr id="7" name="Text 4"/>
          <p:cNvSpPr txBox="1"/>
          <p:nvPr/>
        </p:nvSpPr>
        <p:spPr>
          <a:xfrm>
            <a:off x="566928"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Nạp</a:t>
            </a:r>
            <a:endParaRPr lang="en-US" sz="1250" dirty="0"/>
          </a:p>
        </p:txBody>
      </p:sp>
      <p:sp>
        <p:nvSpPr>
          <p:cNvPr id="8" name="Shape 5"/>
          <p:cNvSpPr/>
          <p:nvPr/>
        </p:nvSpPr>
        <p:spPr>
          <a:xfrm>
            <a:off x="2148840" y="1691640"/>
            <a:ext cx="1426464" cy="566928"/>
          </a:xfrm>
          <a:prstGeom prst="rect">
            <a:avLst/>
          </a:prstGeom>
          <a:solidFill>
            <a:srgbClr val="ECEBF7"/>
          </a:solidFill>
          <a:ln w="12700">
            <a:solidFill>
              <a:srgbClr val="ECEBF7"/>
            </a:solidFill>
            <a:prstDash val="solid"/>
          </a:ln>
        </p:spPr>
        <p:txBody>
          <a:bodyPr/>
          <a:p/>
        </p:txBody>
      </p:sp>
      <p:sp>
        <p:nvSpPr>
          <p:cNvPr id="9" name="Text 6"/>
          <p:cNvSpPr txBox="1"/>
          <p:nvPr/>
        </p:nvSpPr>
        <p:spPr>
          <a:xfrm>
            <a:off x="2148840"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Trích fact</a:t>
            </a:r>
            <a:endParaRPr lang="en-US" sz="1250" dirty="0"/>
          </a:p>
        </p:txBody>
      </p:sp>
      <p:sp>
        <p:nvSpPr>
          <p:cNvPr id="10" name="Shape 7"/>
          <p:cNvSpPr/>
          <p:nvPr/>
        </p:nvSpPr>
        <p:spPr>
          <a:xfrm>
            <a:off x="3730752" y="1691640"/>
            <a:ext cx="1426464" cy="566928"/>
          </a:xfrm>
          <a:prstGeom prst="rect">
            <a:avLst/>
          </a:prstGeom>
          <a:solidFill>
            <a:srgbClr val="13123A"/>
          </a:solidFill>
          <a:ln w="12700">
            <a:solidFill>
              <a:srgbClr val="13123A"/>
            </a:solidFill>
            <a:prstDash val="solid"/>
          </a:ln>
        </p:spPr>
        <p:txBody>
          <a:bodyPr/>
          <a:p/>
        </p:txBody>
      </p:sp>
      <p:sp>
        <p:nvSpPr>
          <p:cNvPr id="11" name="Text 8"/>
          <p:cNvSpPr txBox="1"/>
          <p:nvPr/>
        </p:nvSpPr>
        <p:spPr>
          <a:xfrm>
            <a:off x="3730752" y="1691640"/>
            <a:ext cx="1426464"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Ghi vào kho</a:t>
            </a:r>
            <a:endParaRPr lang="en-US" sz="1250" dirty="0"/>
          </a:p>
        </p:txBody>
      </p:sp>
      <p:sp>
        <p:nvSpPr>
          <p:cNvPr id="12" name="Shape 9"/>
          <p:cNvSpPr/>
          <p:nvPr/>
        </p:nvSpPr>
        <p:spPr>
          <a:xfrm>
            <a:off x="5312664" y="1691640"/>
            <a:ext cx="1426464" cy="566928"/>
          </a:xfrm>
          <a:prstGeom prst="rect">
            <a:avLst/>
          </a:prstGeom>
          <a:solidFill>
            <a:srgbClr val="ECEBF7"/>
          </a:solidFill>
          <a:ln w="12700">
            <a:solidFill>
              <a:srgbClr val="ECEBF7"/>
            </a:solidFill>
            <a:prstDash val="solid"/>
          </a:ln>
        </p:spPr>
        <p:txBody>
          <a:bodyPr/>
          <a:p/>
        </p:txBody>
      </p:sp>
      <p:sp>
        <p:nvSpPr>
          <p:cNvPr id="13" name="Text 10"/>
          <p:cNvSpPr txBox="1"/>
          <p:nvPr/>
        </p:nvSpPr>
        <p:spPr>
          <a:xfrm>
            <a:off x="5312664"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Nhúng</a:t>
            </a:r>
            <a:endParaRPr lang="en-US" sz="1250" dirty="0"/>
          </a:p>
        </p:txBody>
      </p:sp>
      <p:sp>
        <p:nvSpPr>
          <p:cNvPr id="14" name="Shape 11"/>
          <p:cNvSpPr/>
          <p:nvPr/>
        </p:nvSpPr>
        <p:spPr>
          <a:xfrm>
            <a:off x="6894576" y="1691640"/>
            <a:ext cx="1426464" cy="566928"/>
          </a:xfrm>
          <a:prstGeom prst="rect">
            <a:avLst/>
          </a:prstGeom>
          <a:solidFill>
            <a:srgbClr val="ECEBF7"/>
          </a:solidFill>
          <a:ln w="12700">
            <a:solidFill>
              <a:srgbClr val="ECEBF7"/>
            </a:solidFill>
            <a:prstDash val="solid"/>
          </a:ln>
        </p:spPr>
        <p:txBody>
          <a:bodyPr/>
          <a:p/>
        </p:txBody>
      </p:sp>
      <p:sp>
        <p:nvSpPr>
          <p:cNvPr id="15" name="Text 12"/>
          <p:cNvSpPr txBox="1"/>
          <p:nvPr/>
        </p:nvSpPr>
        <p:spPr>
          <a:xfrm>
            <a:off x="6894576"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Truy xuất</a:t>
            </a:r>
            <a:endParaRPr lang="en-US" sz="1250" dirty="0"/>
          </a:p>
        </p:txBody>
      </p:sp>
      <p:sp>
        <p:nvSpPr>
          <p:cNvPr id="16" name="Shape 13"/>
          <p:cNvSpPr/>
          <p:nvPr/>
        </p:nvSpPr>
        <p:spPr>
          <a:xfrm>
            <a:off x="8476488" y="1691640"/>
            <a:ext cx="1426464" cy="566928"/>
          </a:xfrm>
          <a:prstGeom prst="rect">
            <a:avLst/>
          </a:prstGeom>
          <a:solidFill>
            <a:srgbClr val="ECEBF7"/>
          </a:solidFill>
          <a:ln w="12700">
            <a:solidFill>
              <a:srgbClr val="ECEBF7"/>
            </a:solidFill>
            <a:prstDash val="solid"/>
          </a:ln>
        </p:spPr>
        <p:txBody>
          <a:bodyPr/>
          <a:p/>
        </p:txBody>
      </p:sp>
      <p:sp>
        <p:nvSpPr>
          <p:cNvPr id="17" name="Text 14"/>
          <p:cNvSpPr txBox="1"/>
          <p:nvPr/>
        </p:nvSpPr>
        <p:spPr>
          <a:xfrm>
            <a:off x="8476488"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Trả lời</a:t>
            </a:r>
            <a:endParaRPr lang="en-US" sz="1250" dirty="0"/>
          </a:p>
        </p:txBody>
      </p:sp>
      <p:sp>
        <p:nvSpPr>
          <p:cNvPr id="18" name="Shape 15"/>
          <p:cNvSpPr/>
          <p:nvPr/>
        </p:nvSpPr>
        <p:spPr>
          <a:xfrm>
            <a:off x="10058400" y="1691640"/>
            <a:ext cx="1426464" cy="566928"/>
          </a:xfrm>
          <a:prstGeom prst="rect">
            <a:avLst/>
          </a:prstGeom>
          <a:solidFill>
            <a:srgbClr val="ECEBF7"/>
          </a:solidFill>
          <a:ln w="12700">
            <a:solidFill>
              <a:srgbClr val="ECEBF7"/>
            </a:solidFill>
            <a:prstDash val="solid"/>
          </a:ln>
        </p:spPr>
        <p:txBody>
          <a:bodyPr/>
          <a:p/>
        </p:txBody>
      </p:sp>
      <p:sp>
        <p:nvSpPr>
          <p:cNvPr id="19" name="Text 16"/>
          <p:cNvSpPr txBox="1"/>
          <p:nvPr/>
        </p:nvSpPr>
        <p:spPr>
          <a:xfrm>
            <a:off x="10058400" y="1691640"/>
            <a:ext cx="1426464" cy="566928"/>
          </a:xfrm>
          <a:prstGeom prst="rect">
            <a:avLst/>
          </a:prstGeom>
          <a:noFill/>
          <a:ln/>
        </p:spPr>
        <p:txBody>
          <a:bodyPr wrap="square" lIns="0" tIns="0" rIns="0" bIns="0" rtlCol="0" anchor="ctr"/>
          <a:lstStyle/>
          <a:p>
            <a:pPr algn="ctr" indent="0" marL="0">
              <a:buNone/>
            </a:pPr>
            <a:r>
              <a:rPr lang="en-US" sz="1600" b="1" dirty="0">
                <a:solidFill>
                  <a:srgbClr val="13123A"/>
                </a:solidFill>
                <a:latin typeface="Cambria" pitchFamily="34" charset="0"/>
                <a:ea typeface="Cambria" pitchFamily="34" charset="-122"/>
                <a:cs typeface="Cambria" pitchFamily="34" charset="-120"/>
              </a:rPr>
              <a:t>Chấm</a:t>
            </a:r>
            <a:endParaRPr lang="en-US" sz="1250" dirty="0"/>
          </a:p>
        </p:txBody>
      </p:sp>
      <p:sp>
        <p:nvSpPr>
          <p:cNvPr id="20" name="Text 17"/>
          <p:cNvSpPr txBox="1"/>
          <p:nvPr/>
        </p:nvSpPr>
        <p:spPr>
          <a:xfrm>
            <a:off x="566928" y="2377440"/>
            <a:ext cx="10972800" cy="274320"/>
          </a:xfrm>
          <a:prstGeom prst="rect">
            <a:avLst/>
          </a:prstGeom>
          <a:noFill/>
          <a:ln/>
        </p:spPr>
        <p:txBody>
          <a:bodyPr wrap="square" lIns="0" tIns="0" rIns="0" bIns="0" rtlCol="0" anchor="t"/>
          <a:lstStyle/>
          <a:p>
            <a:pPr indent="0" marL="0">
              <a:buNone/>
            </a:pPr>
            <a:r>
              <a:rPr lang="en-US" sz="1450" dirty="0">
                <a:solidFill>
                  <a:srgbClr val="6B6F82"/>
                </a:solidFill>
                <a:latin typeface="Calibri" pitchFamily="34" charset="0"/>
                <a:ea typeface="Calibri" pitchFamily="34" charset="-122"/>
                <a:cs typeface="Calibri" pitchFamily="34" charset="-120"/>
              </a:rPr>
              <a:t>Ô tối: thành phần đã hoàn thành. Các bước còn lại nằm trong kế hoạch của tuần này.</a:t>
            </a:r>
            <a:endParaRPr lang="en-US" sz="1100" dirty="0"/>
          </a:p>
        </p:txBody>
      </p:sp>
      <p:sp>
        <p:nvSpPr>
          <p:cNvPr id="21" name="Text 18"/>
          <p:cNvSpPr txBox="1"/>
          <p:nvPr/>
        </p:nvSpPr>
        <p:spPr>
          <a:xfrm>
            <a:off x="566928" y="283464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TIÊU CHÍ HOÀN THÀNH — LỆNH CHẠY</a:t>
            </a:r>
            <a:endParaRPr lang="en-US" sz="1100" dirty="0"/>
          </a:p>
        </p:txBody>
      </p:sp>
      <p:sp>
        <p:nvSpPr>
          <p:cNvPr id="22" name="Shape 19"/>
          <p:cNvSpPr/>
          <p:nvPr/>
        </p:nvSpPr>
        <p:spPr>
          <a:xfrm>
            <a:off x="566928" y="3127248"/>
            <a:ext cx="11045952" cy="566928"/>
          </a:xfrm>
          <a:prstGeom prst="rect">
            <a:avLst/>
          </a:prstGeom>
          <a:solidFill>
            <a:srgbClr val="ECEBF7"/>
          </a:solidFill>
          <a:ln w="12700">
            <a:solidFill>
              <a:srgbClr val="ECEBF7"/>
            </a:solidFill>
            <a:prstDash val="solid"/>
          </a:ln>
        </p:spPr>
        <p:txBody>
          <a:bodyPr/>
          <a:p/>
        </p:txBody>
      </p:sp>
      <p:sp>
        <p:nvSpPr>
          <p:cNvPr id="23" name="Text 20"/>
          <p:cNvSpPr txBox="1"/>
          <p:nvPr/>
        </p:nvSpPr>
        <p:spPr>
          <a:xfrm>
            <a:off x="795528" y="3264408"/>
            <a:ext cx="10588752" cy="292608"/>
          </a:xfrm>
          <a:prstGeom prst="rect">
            <a:avLst/>
          </a:prstGeom>
          <a:noFill/>
          <a:ln/>
        </p:spPr>
        <p:txBody>
          <a:bodyPr wrap="square" lIns="0" tIns="0" rIns="0" bIns="0" rtlCol="0" anchor="t"/>
          <a:lstStyle/>
          <a:p>
            <a:pPr indent="0" marL="0">
              <a:buNone/>
            </a:pPr>
            <a:r>
              <a:rPr lang="en-US" sz="1600" dirty="0">
                <a:solidFill>
                  <a:srgbClr val="13123A"/>
                </a:solidFill>
                <a:latin typeface="Courier New" pitchFamily="34" charset="0"/>
                <a:ea typeface="Courier New" pitchFamily="34" charset="-122"/>
                <a:cs typeface="Courier New" pitchFamily="34" charset="-120"/>
              </a:rPr>
              <a:t>python -m ltm.eval.run --config dense-only --dataset longmemeval_s --split dev --n 100</a:t>
            </a:r>
            <a:endParaRPr lang="en-US" sz="1400" dirty="0"/>
          </a:p>
        </p:txBody>
      </p:sp>
      <p:sp>
        <p:nvSpPr>
          <p:cNvPr id="24" name="Shape 21"/>
          <p:cNvSpPr/>
          <p:nvPr/>
        </p:nvSpPr>
        <p:spPr>
          <a:xfrm>
            <a:off x="566928" y="3977640"/>
            <a:ext cx="3547872" cy="1417320"/>
          </a:xfrm>
          <a:prstGeom prst="rect">
            <a:avLst/>
          </a:prstGeom>
          <a:solidFill>
            <a:srgbClr val="F7F7FB"/>
          </a:solidFill>
          <a:ln w="12700">
            <a:solidFill>
              <a:srgbClr val="F7F7FB"/>
            </a:solidFill>
            <a:prstDash val="solid"/>
          </a:ln>
        </p:spPr>
        <p:txBody>
          <a:bodyPr/>
          <a:p/>
        </p:txBody>
      </p:sp>
      <p:sp>
        <p:nvSpPr>
          <p:cNvPr id="25" name="Text 22"/>
          <p:cNvSpPr txBox="1"/>
          <p:nvPr/>
        </p:nvSpPr>
        <p:spPr>
          <a:xfrm>
            <a:off x="79552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1</a:t>
            </a:r>
            <a:endParaRPr lang="en-US" sz="2600" dirty="0"/>
          </a:p>
        </p:txBody>
      </p:sp>
      <p:sp>
        <p:nvSpPr>
          <p:cNvPr id="26" name="Text 23"/>
          <p:cNvSpPr txBox="1"/>
          <p:nvPr/>
        </p:nvSpPr>
        <p:spPr>
          <a:xfrm>
            <a:off x="795528" y="4572000"/>
            <a:ext cx="3108960" cy="365760"/>
          </a:xfrm>
          <a:prstGeom prst="rect">
            <a:avLst/>
          </a:prstGeom>
          <a:noFill/>
          <a:ln/>
        </p:spPr>
        <p:txBody>
          <a:bodyPr wrap="square" lIns="0" tIns="0" rIns="0" bIns="0" rtlCol="0" anchor="t"/>
          <a:lstStyle/>
          <a:p>
            <a:pPr indent="0" marL="0">
              <a:buNone/>
            </a:pPr>
            <a:r>
              <a:rPr lang="en-US" sz="1250" b="1" dirty="0">
                <a:solidFill>
                  <a:srgbClr val="13123A"/>
                </a:solidFill>
                <a:latin typeface="Calibri" pitchFamily="34" charset="0"/>
                <a:ea typeface="Calibri" pitchFamily="34" charset="-122"/>
                <a:cs typeface="Calibri" pitchFamily="34" charset="-120"/>
              </a:rPr>
              <a:t>Bảng accuracy tách theo loại câu hỏi</a:t>
            </a:r>
            <a:endParaRPr lang="en-US" sz="1250" dirty="0"/>
          </a:p>
        </p:txBody>
      </p:sp>
      <p:sp>
        <p:nvSpPr>
          <p:cNvPr id="27" name="Text 24"/>
          <p:cNvSpPr txBox="1"/>
          <p:nvPr/>
        </p:nvSpPr>
        <p:spPr>
          <a:xfrm>
            <a:off x="795528" y="4956048"/>
            <a:ext cx="3108960" cy="365760"/>
          </a:xfrm>
          <a:prstGeom prst="rect">
            <a:avLst/>
          </a:prstGeom>
          <a:noFill/>
          <a:ln/>
        </p:spPr>
        <p:txBody>
          <a:bodyPr wrap="square" lIns="0" tIns="0" rIns="0" bIns="0" rtlCol="0" anchor="t"/>
          <a:lstStyle/>
          <a:p>
            <a:pPr indent="0" marL="0">
              <a:buNone/>
            </a:pPr>
            <a:r>
              <a:rPr lang="en-US" sz="1500" dirty="0">
                <a:solidFill>
                  <a:srgbClr val="4A4E63"/>
                </a:solidFill>
                <a:latin typeface="Calibri" pitchFamily="34" charset="0"/>
                <a:ea typeface="Calibri" pitchFamily="34" charset="-122"/>
                <a:cs typeface="Calibri" pitchFamily="34" charset="-120"/>
              </a:rPr>
              <a:t>Không dùng một con số gộp</a:t>
            </a:r>
            <a:endParaRPr lang="en-US" sz="1150" dirty="0"/>
          </a:p>
        </p:txBody>
      </p:sp>
      <p:sp>
        <p:nvSpPr>
          <p:cNvPr id="28" name="Shape 25"/>
          <p:cNvSpPr/>
          <p:nvPr/>
        </p:nvSpPr>
        <p:spPr>
          <a:xfrm>
            <a:off x="4315968" y="3977640"/>
            <a:ext cx="3547872" cy="1417320"/>
          </a:xfrm>
          <a:prstGeom prst="rect">
            <a:avLst/>
          </a:prstGeom>
          <a:solidFill>
            <a:srgbClr val="F7F7FB"/>
          </a:solidFill>
          <a:ln w="12700">
            <a:solidFill>
              <a:srgbClr val="F7F7FB"/>
            </a:solidFill>
            <a:prstDash val="solid"/>
          </a:ln>
        </p:spPr>
        <p:txBody>
          <a:bodyPr/>
          <a:p/>
        </p:txBody>
      </p:sp>
      <p:sp>
        <p:nvSpPr>
          <p:cNvPr id="29" name="Text 26"/>
          <p:cNvSpPr txBox="1"/>
          <p:nvPr/>
        </p:nvSpPr>
        <p:spPr>
          <a:xfrm>
            <a:off x="454456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2</a:t>
            </a:r>
            <a:endParaRPr lang="en-US" sz="2600" dirty="0"/>
          </a:p>
        </p:txBody>
      </p:sp>
      <p:sp>
        <p:nvSpPr>
          <p:cNvPr id="30" name="Text 27"/>
          <p:cNvSpPr txBox="1"/>
          <p:nvPr/>
        </p:nvSpPr>
        <p:spPr>
          <a:xfrm>
            <a:off x="4544568" y="4572000"/>
            <a:ext cx="3108960" cy="365760"/>
          </a:xfrm>
          <a:prstGeom prst="rect">
            <a:avLst/>
          </a:prstGeom>
          <a:noFill/>
          <a:ln/>
        </p:spPr>
        <p:txBody>
          <a:bodyPr wrap="square" lIns="0" tIns="0" rIns="0" bIns="0" rtlCol="0" anchor="t"/>
          <a:lstStyle/>
          <a:p>
            <a:pPr indent="0" marL="0">
              <a:buNone/>
            </a:pPr>
            <a:r>
              <a:rPr lang="en-US" sz="1400" b="1" dirty="0">
                <a:solidFill>
                  <a:srgbClr val="13123A"/>
                </a:solidFill>
                <a:latin typeface="Calibri" pitchFamily="34" charset="0"/>
                <a:ea typeface="Calibri" pitchFamily="34" charset="-122"/>
                <a:cs typeface="Calibri" pitchFamily="34" charset="-120"/>
              </a:rPr>
              <a:t>Mỗi lượt có một dòng nhật ký vết</a:t>
            </a:r>
            <a:endParaRPr lang="en-US" sz="1250" dirty="0"/>
          </a:p>
        </p:txBody>
      </p:sp>
      <p:sp>
        <p:nvSpPr>
          <p:cNvPr id="31" name="Text 28"/>
          <p:cNvSpPr txBox="1"/>
          <p:nvPr/>
        </p:nvSpPr>
        <p:spPr>
          <a:xfrm>
            <a:off x="4544568" y="4956048"/>
            <a:ext cx="3108960" cy="365760"/>
          </a:xfrm>
          <a:prstGeom prst="rect">
            <a:avLst/>
          </a:prstGeom>
          <a:noFill/>
          <a:ln/>
        </p:spPr>
        <p:txBody>
          <a:bodyPr wrap="square" lIns="0" tIns="0" rIns="0" bIns="0" rtlCol="0" anchor="t"/>
          <a:lstStyle/>
          <a:p>
            <a:pPr indent="0" marL="0">
              <a:buNone/>
            </a:pPr>
            <a:r>
              <a:rPr lang="en-US" sz="1150" dirty="0">
                <a:solidFill>
                  <a:srgbClr val="4A4E63"/>
                </a:solidFill>
                <a:latin typeface="Calibri" pitchFamily="34" charset="0"/>
                <a:ea typeface="Calibri" pitchFamily="34" charset="-122"/>
                <a:cs typeface="Calibri" pitchFamily="34" charset="-120"/>
              </a:rPr>
              <a:t>Truy vết được nguyên nhân câu trả lời sai</a:t>
            </a:r>
            <a:endParaRPr lang="en-US" sz="1150" dirty="0"/>
          </a:p>
        </p:txBody>
      </p:sp>
      <p:sp>
        <p:nvSpPr>
          <p:cNvPr id="32" name="Shape 29"/>
          <p:cNvSpPr/>
          <p:nvPr/>
        </p:nvSpPr>
        <p:spPr>
          <a:xfrm>
            <a:off x="8065008" y="3977640"/>
            <a:ext cx="3547872" cy="1417320"/>
          </a:xfrm>
          <a:prstGeom prst="rect">
            <a:avLst/>
          </a:prstGeom>
          <a:solidFill>
            <a:srgbClr val="F7F7FB"/>
          </a:solidFill>
          <a:ln w="12700">
            <a:solidFill>
              <a:srgbClr val="F7F7FB"/>
            </a:solidFill>
            <a:prstDash val="solid"/>
          </a:ln>
        </p:spPr>
        <p:txBody>
          <a:bodyPr/>
          <a:p/>
        </p:txBody>
      </p:sp>
      <p:sp>
        <p:nvSpPr>
          <p:cNvPr id="33" name="Text 30"/>
          <p:cNvSpPr txBox="1"/>
          <p:nvPr/>
        </p:nvSpPr>
        <p:spPr>
          <a:xfrm>
            <a:off x="8293608" y="4114800"/>
            <a:ext cx="457200" cy="457200"/>
          </a:xfrm>
          <a:prstGeom prst="rect">
            <a:avLst/>
          </a:prstGeom>
          <a:noFill/>
          <a:ln/>
        </p:spPr>
        <p:txBody>
          <a:bodyPr wrap="square" lIns="0" tIns="0" rIns="0" bIns="0" rtlCol="0" anchor="t"/>
          <a:lstStyle/>
          <a:p>
            <a:pPr indent="0" marL="0">
              <a:buNone/>
            </a:pPr>
            <a:r>
              <a:rPr lang="en-US" sz="2600" b="1" dirty="0">
                <a:solidFill>
                  <a:srgbClr val="3A36A0"/>
                </a:solidFill>
                <a:latin typeface="Cambria" pitchFamily="34" charset="0"/>
                <a:ea typeface="Cambria" pitchFamily="34" charset="-122"/>
                <a:cs typeface="Cambria" pitchFamily="34" charset="-120"/>
              </a:rPr>
              <a:t>3</a:t>
            </a:r>
            <a:endParaRPr lang="en-US" sz="2600" dirty="0"/>
          </a:p>
        </p:txBody>
      </p:sp>
      <p:sp>
        <p:nvSpPr>
          <p:cNvPr id="34" name="Text 31"/>
          <p:cNvSpPr txBox="1"/>
          <p:nvPr/>
        </p:nvSpPr>
        <p:spPr>
          <a:xfrm>
            <a:off x="8293608" y="4572000"/>
            <a:ext cx="3108960" cy="365760"/>
          </a:xfrm>
          <a:prstGeom prst="rect">
            <a:avLst/>
          </a:prstGeom>
          <a:noFill/>
          <a:ln/>
        </p:spPr>
        <p:txBody>
          <a:bodyPr wrap="square" lIns="0" tIns="0" rIns="0" bIns="0" rtlCol="0" anchor="t"/>
          <a:lstStyle/>
          <a:p>
            <a:pPr indent="0" marL="0">
              <a:buNone/>
            </a:pPr>
            <a:r>
              <a:rPr lang="en-US" sz="1600" b="1" dirty="0">
                <a:solidFill>
                  <a:srgbClr val="13123A"/>
                </a:solidFill>
                <a:latin typeface="Calibri" pitchFamily="34" charset="0"/>
                <a:ea typeface="Calibri" pitchFamily="34" charset="-122"/>
                <a:cs typeface="Calibri" pitchFamily="34" charset="-120"/>
              </a:rPr>
              <a:t>pytest xanh toàn bộ</a:t>
            </a:r>
            <a:endParaRPr lang="en-US" sz="1250" dirty="0"/>
          </a:p>
        </p:txBody>
      </p:sp>
      <p:sp>
        <p:nvSpPr>
          <p:cNvPr id="35" name="Text 32"/>
          <p:cNvSpPr txBox="1"/>
          <p:nvPr/>
        </p:nvSpPr>
        <p:spPr>
          <a:xfrm>
            <a:off x="8293608" y="4956048"/>
            <a:ext cx="3108960" cy="365760"/>
          </a:xfrm>
          <a:prstGeom prst="rect">
            <a:avLst/>
          </a:prstGeom>
          <a:noFill/>
          <a:ln/>
        </p:spPr>
        <p:txBody>
          <a:bodyPr wrap="square" lIns="0" tIns="0" rIns="0" bIns="0" rtlCol="0" anchor="t"/>
          <a:lstStyle/>
          <a:p>
            <a:pPr indent="0" marL="0">
              <a:buNone/>
            </a:pPr>
            <a:r>
              <a:rPr lang="en-US" sz="1150" dirty="0">
                <a:solidFill>
                  <a:srgbClr val="4A4E63"/>
                </a:solidFill>
                <a:latin typeface="Calibri" pitchFamily="34" charset="0"/>
                <a:ea typeface="Calibri" pitchFamily="34" charset="-122"/>
                <a:cs typeface="Calibri" pitchFamily="34" charset="-120"/>
              </a:rPr>
              <a:t>Chạy offline với LLM giả lập, không tiêu hao hạn mức</a:t>
            </a:r>
            <a:endParaRPr lang="en-US" sz="1150" dirty="0"/>
          </a:p>
        </p:txBody>
      </p:sp>
      <p:sp>
        <p:nvSpPr>
          <p:cNvPr id="36" name="Text 33"/>
          <p:cNvSpPr txBox="1"/>
          <p:nvPr/>
        </p:nvSpPr>
        <p:spPr>
          <a:xfrm>
            <a:off x="566928" y="5669280"/>
            <a:ext cx="10972800" cy="365760"/>
          </a:xfrm>
          <a:prstGeom prst="rect">
            <a:avLst/>
          </a:prstGeom>
          <a:noFill/>
          <a:ln/>
        </p:spPr>
        <p:txBody>
          <a:bodyPr wrap="square" lIns="0" tIns="0" rIns="0" bIns="0" rtlCol="0" anchor="t"/>
          <a:lstStyle/>
          <a:p>
            <a:pPr indent="0" marL="0">
              <a:buNone/>
            </a:pPr>
            <a:r>
              <a:rPr lang="en-US" sz="1600" i="1" dirty="0">
                <a:solidFill>
                  <a:srgbClr val="3A36A0"/>
                </a:solidFill>
                <a:latin typeface="Calibri" pitchFamily="34" charset="0"/>
                <a:ea typeface="Calibri" pitchFamily="34" charset="-122"/>
                <a:cs typeface="Calibri" pitchFamily="34" charset="-120"/>
              </a:rPr>
              <a:t>Mục tiêu: đường cơ sở đầu tiên và hạ tầng cho các tuần 4–7.</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1/3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Kho ký ức: nguồn sự thật duy nhất của hệ thống</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Nguyên tắc tách nguồn sự thật khỏi chỉ mục: tài liệu thiết kế tuần 2, mục 2. Mã nguồn: ledger.py, schema.sql.</a:t>
            </a:r>
            <a:endParaRPr lang="en-US" sz="1050" dirty="0"/>
          </a:p>
        </p:txBody>
      </p:sp>
      <p:sp>
        <p:nvSpPr>
          <p:cNvPr id="6" name="Shape 3"/>
          <p:cNvSpPr/>
          <p:nvPr/>
        </p:nvSpPr>
        <p:spPr>
          <a:xfrm>
            <a:off x="566928" y="1691640"/>
            <a:ext cx="3547872" cy="2286000"/>
          </a:xfrm>
          <a:prstGeom prst="rect">
            <a:avLst/>
          </a:prstGeom>
          <a:solidFill>
            <a:srgbClr val="ECEBF7"/>
          </a:solidFill>
          <a:ln w="12700">
            <a:solidFill>
              <a:srgbClr val="ECEBF7"/>
            </a:solidFill>
            <a:prstDash val="solid"/>
          </a:ln>
        </p:spPr>
        <p:txBody>
          <a:bodyPr/>
          <a:p/>
        </p:txBody>
      </p:sp>
      <p:sp>
        <p:nvSpPr>
          <p:cNvPr id="7" name="Text 4"/>
          <p:cNvSpPr txBox="1"/>
          <p:nvPr/>
        </p:nvSpPr>
        <p:spPr>
          <a:xfrm>
            <a:off x="79552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01</a:t>
            </a:r>
            <a:endParaRPr lang="en-US" sz="2600" dirty="0"/>
          </a:p>
        </p:txBody>
      </p:sp>
      <p:sp>
        <p:nvSpPr>
          <p:cNvPr id="8" name="Text 5"/>
          <p:cNvSpPr txBox="1"/>
          <p:nvPr/>
        </p:nvSpPr>
        <p:spPr>
          <a:xfrm>
            <a:off x="795528" y="2377440"/>
            <a:ext cx="310896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Độ chính xác tuyệt đối</a:t>
            </a:r>
            <a:endParaRPr lang="en-US" sz="1300" dirty="0"/>
          </a:p>
        </p:txBody>
      </p:sp>
      <p:sp>
        <p:nvSpPr>
          <p:cNvPr id="9" name="Text 6"/>
          <p:cNvSpPr txBox="1"/>
          <p:nvPr/>
        </p:nvSpPr>
        <p:spPr>
          <a:xfrm>
            <a:off x="795528" y="2743200"/>
            <a:ext cx="3108960" cy="1143000"/>
          </a:xfrm>
          <a:prstGeom prst="rect">
            <a:avLst/>
          </a:prstGeom>
          <a:noFill/>
          <a:ln/>
        </p:spPr>
        <p:txBody>
          <a:bodyPr wrap="square" lIns="0" tIns="0" rIns="0" bIns="0" rtlCol="0" anchor="t"/>
          <a:lstStyle/>
          <a:p>
            <a:pPr indent="0" marL="0">
              <a:buNone/>
            </a:pPr>
            <a:r>
              <a:rPr lang="en-US" sz="1450" dirty="0">
                <a:solidFill>
                  <a:srgbClr val="4A4E63"/>
                </a:solidFill>
                <a:latin typeface="Calibri" pitchFamily="34" charset="0"/>
                <a:ea typeface="Calibri" pitchFamily="34" charset="-122"/>
                <a:cs typeface="Calibri" pitchFamily="34" charset="-120"/>
              </a:rPr>
              <a:t>Chroma trả sai một ứng viên vẫn có thể được reranker loại bỏ. Kho ký ức ghi sai một bản active thì mọi bước sau đều sai mà không có cách phát hiện.</a:t>
            </a:r>
            <a:endParaRPr lang="en-US" sz="1200" dirty="0"/>
          </a:p>
        </p:txBody>
      </p:sp>
      <p:sp>
        <p:nvSpPr>
          <p:cNvPr id="10" name="Shape 7"/>
          <p:cNvSpPr/>
          <p:nvPr/>
        </p:nvSpPr>
        <p:spPr>
          <a:xfrm>
            <a:off x="4315968" y="1691640"/>
            <a:ext cx="3547872" cy="2286000"/>
          </a:xfrm>
          <a:prstGeom prst="rect">
            <a:avLst/>
          </a:prstGeom>
          <a:solidFill>
            <a:srgbClr val="F7F7FB"/>
          </a:solidFill>
          <a:ln w="12700">
            <a:solidFill>
              <a:srgbClr val="F7F7FB"/>
            </a:solidFill>
            <a:prstDash val="solid"/>
          </a:ln>
        </p:spPr>
        <p:txBody>
          <a:bodyPr/>
          <a:p/>
        </p:txBody>
      </p:sp>
      <p:sp>
        <p:nvSpPr>
          <p:cNvPr id="11" name="Text 8"/>
          <p:cNvSpPr txBox="1"/>
          <p:nvPr/>
        </p:nvSpPr>
        <p:spPr>
          <a:xfrm>
            <a:off x="454456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02</a:t>
            </a:r>
            <a:endParaRPr lang="en-US" sz="2600" dirty="0"/>
          </a:p>
        </p:txBody>
      </p:sp>
      <p:sp>
        <p:nvSpPr>
          <p:cNvPr id="12" name="Text 9"/>
          <p:cNvSpPr txBox="1"/>
          <p:nvPr/>
        </p:nvSpPr>
        <p:spPr>
          <a:xfrm>
            <a:off x="4544568" y="2377440"/>
            <a:ext cx="310896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Không gọi LLM</a:t>
            </a:r>
            <a:endParaRPr lang="en-US" sz="1300" dirty="0"/>
          </a:p>
        </p:txBody>
      </p:sp>
      <p:sp>
        <p:nvSpPr>
          <p:cNvPr id="13" name="Text 10"/>
          <p:cNvSpPr txBox="1"/>
          <p:nvPr/>
        </p:nvSpPr>
        <p:spPr>
          <a:xfrm>
            <a:off x="4544568" y="2743200"/>
            <a:ext cx="3108960" cy="114300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Kiểm thử offline hoàn toàn, không tiêu hao hạn mức Gemini.</a:t>
            </a:r>
            <a:endParaRPr lang="en-US" sz="1200" dirty="0"/>
          </a:p>
        </p:txBody>
      </p:sp>
      <p:sp>
        <p:nvSpPr>
          <p:cNvPr id="14" name="Shape 11"/>
          <p:cNvSpPr/>
          <p:nvPr/>
        </p:nvSpPr>
        <p:spPr>
          <a:xfrm>
            <a:off x="8065008" y="1691640"/>
            <a:ext cx="3547872" cy="2286000"/>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8293608" y="1828800"/>
            <a:ext cx="914400" cy="45720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03</a:t>
            </a:r>
            <a:endParaRPr lang="en-US" sz="2600" dirty="0"/>
          </a:p>
        </p:txBody>
      </p:sp>
      <p:sp>
        <p:nvSpPr>
          <p:cNvPr id="16" name="Text 13"/>
          <p:cNvSpPr txBox="1"/>
          <p:nvPr/>
        </p:nvSpPr>
        <p:spPr>
          <a:xfrm>
            <a:off x="8293608" y="2377440"/>
            <a:ext cx="3108960" cy="274320"/>
          </a:xfrm>
          <a:prstGeom prst="rect">
            <a:avLst/>
          </a:prstGeom>
          <a:noFill/>
          <a:ln/>
        </p:spPr>
        <p:txBody>
          <a:bodyPr wrap="square" lIns="0" tIns="0" rIns="0" bIns="0" rtlCol="0" anchor="t"/>
          <a:lstStyle/>
          <a:p>
            <a:pPr indent="0" marL="0">
              <a:buNone/>
            </a:pPr>
            <a:r>
              <a:rPr lang="en-US" sz="1450" b="1" dirty="0">
                <a:solidFill>
                  <a:srgbClr val="13123A"/>
                </a:solidFill>
                <a:latin typeface="Cambria" pitchFamily="34" charset="0"/>
                <a:ea typeface="Cambria" pitchFamily="34" charset="-122"/>
                <a:cs typeface="Cambria" pitchFamily="34" charset="-120"/>
              </a:rPr>
              <a:t>Không nhập lại dữ liệu ở tuần 4</a:t>
            </a:r>
            <a:endParaRPr lang="en-US" sz="1300" dirty="0"/>
          </a:p>
        </p:txBody>
      </p:sp>
      <p:sp>
        <p:nvSpPr>
          <p:cNvPr id="17" name="Text 14"/>
          <p:cNvSpPr txBox="1"/>
          <p:nvPr/>
        </p:nvSpPr>
        <p:spPr>
          <a:xfrm>
            <a:off x="8293608" y="2743200"/>
            <a:ext cx="3108960" cy="114300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Logic cập nhật chỉ là các thao tác ghi lên đúng bảng này; schema được chốt từ tuần 3.</a:t>
            </a:r>
            <a:endParaRPr lang="en-US" sz="1200" dirty="0"/>
          </a:p>
        </p:txBody>
      </p:sp>
      <p:sp>
        <p:nvSpPr>
          <p:cNvPr id="18" name="Shape 15"/>
          <p:cNvSpPr/>
          <p:nvPr/>
        </p:nvSpPr>
        <p:spPr>
          <a:xfrm>
            <a:off x="566928" y="4297680"/>
            <a:ext cx="11045952" cy="1828800"/>
          </a:xfrm>
          <a:prstGeom prst="rect">
            <a:avLst/>
          </a:prstGeom>
          <a:solidFill>
            <a:srgbClr val="13123A"/>
          </a:solidFill>
          <a:ln w="12700">
            <a:solidFill>
              <a:srgbClr val="13123A"/>
            </a:solidFill>
            <a:prstDash val="solid"/>
          </a:ln>
        </p:spPr>
        <p:txBody>
          <a:bodyPr/>
          <a:p/>
        </p:txBody>
      </p:sp>
      <p:sp>
        <p:nvSpPr>
          <p:cNvPr id="19" name="Text 16"/>
          <p:cNvSpPr txBox="1"/>
          <p:nvPr/>
        </p:nvSpPr>
        <p:spPr>
          <a:xfrm>
            <a:off x="822960" y="448056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HỢP ĐỒNG VỚI TẦNG CHỈ MỤC</a:t>
            </a:r>
            <a:endParaRPr lang="en-US" sz="1100" dirty="0"/>
          </a:p>
        </p:txBody>
      </p:sp>
      <p:sp>
        <p:nvSpPr>
          <p:cNvPr id="20" name="Text 17"/>
          <p:cNvSpPr txBox="1"/>
          <p:nvPr/>
        </p:nvSpPr>
        <p:spPr>
          <a:xfrm>
            <a:off x="822960" y="4754880"/>
            <a:ext cx="10533888" cy="1280160"/>
          </a:xfrm>
          <a:prstGeom prst="rect">
            <a:avLst/>
          </a:prstGeom>
          <a:noFill/>
          <a:ln/>
        </p:spPr>
        <p:txBody>
          <a:bodyPr wrap="square" lIns="0" tIns="0" rIns="0" bIns="0" rtlCol="0" anchor="t"/>
          <a:lstStyle/>
          <a:p>
            <a:pPr indent="0" marL="0">
              <a:buNone/>
            </a:pPr>
            <a:r>
              <a:rPr lang="en-US" sz="1600" dirty="0">
                <a:solidFill>
                  <a:srgbClr val="EFEFFA"/>
                </a:solidFill>
                <a:latin typeface="Calibri" pitchFamily="34" charset="0"/>
                <a:ea typeface="Calibri" pitchFamily="34" charset="-122"/>
                <a:cs typeface="Calibri" pitchFamily="34" charset="-120"/>
              </a:rPr>
              <a:t>Chroma chỉ lưu id, vector và một số metadata để lọc. Nội dung đưa cho LLM luôn được nạp lại từ kho ký ức qua get_by_ids(). Nhờ vậy chỉ mục và kho ký ức không mâu thuẫn về nội dung; trường hợp xấu nhất là chỉ mục lỗi thời và được khắc phục bằng rebuild. Đây là điều kiện để tuần 6 quét tham số embedding mà không làm hỏng dữ liệu.</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2/3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Bốn lỗi tiềm ẩn và cách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Bốn chi tiết đều được xử lý trong ledger.py; PRAGMA foreign_keys mặc định TẮT theo tài liệu SQLite.</a:t>
            </a:r>
            <a:endParaRPr lang="en-US" sz="1050" dirty="0"/>
          </a:p>
        </p:txBody>
      </p:sp>
      <p:sp>
        <p:nvSpPr>
          <p:cNvPr id="6" name="Shape 3"/>
          <p:cNvSpPr/>
          <p:nvPr/>
        </p:nvSpPr>
        <p:spPr>
          <a:xfrm>
            <a:off x="566928" y="1691640"/>
            <a:ext cx="5413248" cy="2103120"/>
          </a:xfrm>
          <a:prstGeom prst="rect">
            <a:avLst/>
          </a:prstGeom>
          <a:solidFill>
            <a:srgbClr val="F7F7FB"/>
          </a:solidFill>
          <a:ln w="12700">
            <a:solidFill>
              <a:srgbClr val="F7F7FB"/>
            </a:solidFill>
            <a:prstDash val="solid"/>
          </a:ln>
        </p:spPr>
        <p:txBody>
          <a:bodyPr/>
          <a:p/>
        </p:txBody>
      </p:sp>
      <p:sp>
        <p:nvSpPr>
          <p:cNvPr id="7" name="Text 4"/>
          <p:cNvSpPr txBox="1"/>
          <p:nvPr/>
        </p:nvSpPr>
        <p:spPr>
          <a:xfrm>
            <a:off x="795528" y="1828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PRAGMA foreign_keys</a:t>
            </a:r>
            <a:endParaRPr lang="en-US" sz="1350" dirty="0"/>
          </a:p>
        </p:txBody>
      </p:sp>
      <p:sp>
        <p:nvSpPr>
          <p:cNvPr id="8" name="Text 5"/>
          <p:cNvSpPr txBox="1"/>
          <p:nvPr/>
        </p:nvSpPr>
        <p:spPr>
          <a:xfrm>
            <a:off x="795528" y="2240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9" name="Text 6"/>
          <p:cNvSpPr txBox="1"/>
          <p:nvPr/>
        </p:nvSpPr>
        <p:spPr>
          <a:xfrm>
            <a:off x="795528" y="2459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Mặc định TẮT → superseded_by trỏ tới id không tồn tại vẫn được ghi.</a:t>
            </a:r>
            <a:endParaRPr lang="en-US" sz="1200" dirty="0"/>
          </a:p>
        </p:txBody>
      </p:sp>
      <p:sp>
        <p:nvSpPr>
          <p:cNvPr id="10" name="Text 7"/>
          <p:cNvSpPr txBox="1"/>
          <p:nvPr/>
        </p:nvSpPr>
        <p:spPr>
          <a:xfrm>
            <a:off x="795528" y="3063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1" name="Text 8"/>
          <p:cNvSpPr txBox="1"/>
          <p:nvPr/>
        </p:nvSpPr>
        <p:spPr>
          <a:xfrm>
            <a:off x="795528" y="3282696"/>
            <a:ext cx="4937760" cy="411480"/>
          </a:xfrm>
          <a:prstGeom prst="rect">
            <a:avLst/>
          </a:prstGeom>
          <a:noFill/>
          <a:ln/>
        </p:spPr>
        <p:txBody>
          <a:bodyPr wrap="square" lIns="0" tIns="0" rIns="0" bIns="0" rtlCol="0" anchor="t"/>
          <a:lstStyle/>
          <a:p>
            <a:pPr indent="0" marL="0">
              <a:buNone/>
            </a:pPr>
            <a:r>
              <a:rPr lang="en-US" sz="1300" b="1" dirty="0">
                <a:solidFill>
                  <a:srgbClr val="13123A"/>
                </a:solidFill>
                <a:latin typeface="Calibri" pitchFamily="34" charset="0"/>
                <a:ea typeface="Calibri" pitchFamily="34" charset="-122"/>
                <a:cs typeface="Calibri" pitchFamily="34" charset="-120"/>
              </a:rPr>
              <a:t>Bật cho từng kết nối trong _configure(), không đặt trong file .sql.</a:t>
            </a:r>
            <a:endParaRPr lang="en-US" sz="1200" dirty="0"/>
          </a:p>
        </p:txBody>
      </p:sp>
      <p:sp>
        <p:nvSpPr>
          <p:cNvPr id="12" name="Shape 9"/>
          <p:cNvSpPr/>
          <p:nvPr/>
        </p:nvSpPr>
        <p:spPr>
          <a:xfrm>
            <a:off x="6199632" y="1691640"/>
            <a:ext cx="5413248" cy="2103120"/>
          </a:xfrm>
          <a:prstGeom prst="rect">
            <a:avLst/>
          </a:prstGeom>
          <a:solidFill>
            <a:srgbClr val="F7F7FB"/>
          </a:solidFill>
          <a:ln w="12700">
            <a:solidFill>
              <a:srgbClr val="F7F7FB"/>
            </a:solidFill>
            <a:prstDash val="solid"/>
          </a:ln>
        </p:spPr>
        <p:txBody>
          <a:bodyPr/>
          <a:p/>
        </p:txBody>
      </p:sp>
      <p:sp>
        <p:nvSpPr>
          <p:cNvPr id="13" name="Text 10"/>
          <p:cNvSpPr txBox="1"/>
          <p:nvPr/>
        </p:nvSpPr>
        <p:spPr>
          <a:xfrm>
            <a:off x="6428232" y="1828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Cấp phát seq</a:t>
            </a:r>
            <a:endParaRPr lang="en-US" sz="1350" dirty="0"/>
          </a:p>
        </p:txBody>
      </p:sp>
      <p:sp>
        <p:nvSpPr>
          <p:cNvPr id="14" name="Text 11"/>
          <p:cNvSpPr txBox="1"/>
          <p:nvPr/>
        </p:nvSpPr>
        <p:spPr>
          <a:xfrm>
            <a:off x="6428232" y="2240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15" name="Text 12"/>
          <p:cNvSpPr txBox="1"/>
          <p:nvPr/>
        </p:nvSpPr>
        <p:spPr>
          <a:xfrm>
            <a:off x="6428232" y="2459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SELECT max(seq)+1 có thể cấp trùng khi hai tiến trình eval chạy song song.</a:t>
            </a:r>
            <a:endParaRPr lang="en-US" sz="1200" dirty="0"/>
          </a:p>
        </p:txBody>
      </p:sp>
      <p:sp>
        <p:nvSpPr>
          <p:cNvPr id="16" name="Text 13"/>
          <p:cNvSpPr txBox="1"/>
          <p:nvPr/>
        </p:nvSpPr>
        <p:spPr>
          <a:xfrm>
            <a:off x="6428232" y="3063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17" name="Text 14"/>
          <p:cNvSpPr txBox="1"/>
          <p:nvPr/>
        </p:nvSpPr>
        <p:spPr>
          <a:xfrm>
            <a:off x="6428232" y="3282696"/>
            <a:ext cx="4937760" cy="411480"/>
          </a:xfrm>
          <a:prstGeom prst="rect">
            <a:avLst/>
          </a:prstGeom>
          <a:noFill/>
          <a:ln/>
        </p:spPr>
        <p:txBody>
          <a:bodyPr wrap="square" lIns="0" tIns="0" rIns="0" bIns="0" rtlCol="0" anchor="t"/>
          <a:lstStyle/>
          <a:p>
            <a:pPr indent="0" marL="0">
              <a:buNone/>
            </a:pPr>
            <a:r>
              <a:rPr lang="en-US" sz="1300" b="1" dirty="0">
                <a:solidFill>
                  <a:srgbClr val="13123A"/>
                </a:solidFill>
                <a:latin typeface="Calibri" pitchFamily="34" charset="0"/>
                <a:ea typeface="Calibri" pitchFamily="34" charset="-122"/>
                <a:cs typeface="Calibri" pitchFamily="34" charset="-120"/>
              </a:rPr>
              <a:t>UPDATE counter SET value=value+1 RETURNING value — nguyên tử.</a:t>
            </a:r>
            <a:endParaRPr lang="en-US" sz="1200" dirty="0"/>
          </a:p>
        </p:txBody>
      </p:sp>
      <p:sp>
        <p:nvSpPr>
          <p:cNvPr id="18" name="Shape 15"/>
          <p:cNvSpPr/>
          <p:nvPr/>
        </p:nvSpPr>
        <p:spPr>
          <a:xfrm>
            <a:off x="566928" y="3977640"/>
            <a:ext cx="5413248" cy="2103120"/>
          </a:xfrm>
          <a:prstGeom prst="rect">
            <a:avLst/>
          </a:prstGeom>
          <a:solidFill>
            <a:srgbClr val="F7F7FB"/>
          </a:solidFill>
          <a:ln w="12700">
            <a:solidFill>
              <a:srgbClr val="F7F7FB"/>
            </a:solidFill>
            <a:prstDash val="solid"/>
          </a:ln>
        </p:spPr>
        <p:txBody>
          <a:bodyPr/>
          <a:p/>
        </p:txBody>
      </p:sp>
      <p:sp>
        <p:nvSpPr>
          <p:cNvPr id="19" name="Text 16"/>
          <p:cNvSpPr txBox="1"/>
          <p:nvPr/>
        </p:nvSpPr>
        <p:spPr>
          <a:xfrm>
            <a:off x="795528" y="4114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Thứ tự get_by_ids</a:t>
            </a:r>
            <a:endParaRPr lang="en-US" sz="1350" dirty="0"/>
          </a:p>
        </p:txBody>
      </p:sp>
      <p:sp>
        <p:nvSpPr>
          <p:cNvPr id="20" name="Text 17"/>
          <p:cNvSpPr txBox="1"/>
          <p:nvPr/>
        </p:nvSpPr>
        <p:spPr>
          <a:xfrm>
            <a:off x="795528" y="4526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1" name="Text 18"/>
          <p:cNvSpPr txBox="1"/>
          <p:nvPr/>
        </p:nvSpPr>
        <p:spPr>
          <a:xfrm>
            <a:off x="795528" y="4745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WHERE id IN (...) trả theo rowid → làm mất thứ hạng của reranker mà không báo lỗi.</a:t>
            </a:r>
            <a:endParaRPr lang="en-US" sz="1200" dirty="0"/>
          </a:p>
        </p:txBody>
      </p:sp>
      <p:sp>
        <p:nvSpPr>
          <p:cNvPr id="22" name="Text 19"/>
          <p:cNvSpPr txBox="1"/>
          <p:nvPr/>
        </p:nvSpPr>
        <p:spPr>
          <a:xfrm>
            <a:off x="795528" y="5349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3" name="Text 20"/>
          <p:cNvSpPr txBox="1"/>
          <p:nvPr/>
        </p:nvSpPr>
        <p:spPr>
          <a:xfrm>
            <a:off x="795528" y="5568696"/>
            <a:ext cx="4937760" cy="411480"/>
          </a:xfrm>
          <a:prstGeom prst="rect">
            <a:avLst/>
          </a:prstGeom>
          <a:noFill/>
          <a:ln/>
        </p:spPr>
        <p:txBody>
          <a:bodyPr wrap="square" lIns="0" tIns="0" rIns="0" bIns="0" rtlCol="0" anchor="t"/>
          <a:lstStyle/>
          <a:p>
            <a:pPr indent="0" marL="0">
              <a:buNone/>
            </a:pPr>
            <a:r>
              <a:rPr lang="en-US" sz="1550" b="1" dirty="0">
                <a:solidFill>
                  <a:srgbClr val="13123A"/>
                </a:solidFill>
                <a:latin typeface="Calibri" pitchFamily="34" charset="0"/>
                <a:ea typeface="Calibri" pitchFamily="34" charset="-122"/>
                <a:cs typeface="Calibri" pitchFamily="34" charset="-120"/>
              </a:rPr>
              <a:t>Sắp lại theo đúng thứ tự đầu vào.</a:t>
            </a:r>
            <a:endParaRPr lang="en-US" sz="1200" dirty="0"/>
          </a:p>
        </p:txBody>
      </p:sp>
      <p:sp>
        <p:nvSpPr>
          <p:cNvPr id="24" name="Shape 21"/>
          <p:cNvSpPr/>
          <p:nvPr/>
        </p:nvSpPr>
        <p:spPr>
          <a:xfrm>
            <a:off x="6199632" y="3977640"/>
            <a:ext cx="5413248" cy="2103120"/>
          </a:xfrm>
          <a:prstGeom prst="rect">
            <a:avLst/>
          </a:prstGeom>
          <a:solidFill>
            <a:srgbClr val="F7F7FB"/>
          </a:solidFill>
          <a:ln w="12700">
            <a:solidFill>
              <a:srgbClr val="F7F7FB"/>
            </a:solidFill>
            <a:prstDash val="solid"/>
          </a:ln>
        </p:spPr>
        <p:txBody>
          <a:bodyPr/>
          <a:p/>
        </p:txBody>
      </p:sp>
      <p:sp>
        <p:nvSpPr>
          <p:cNvPr id="25" name="Text 22"/>
          <p:cNvSpPr txBox="1"/>
          <p:nvPr/>
        </p:nvSpPr>
        <p:spPr>
          <a:xfrm>
            <a:off x="6428232" y="4114800"/>
            <a:ext cx="4937760" cy="274320"/>
          </a:xfrm>
          <a:prstGeom prst="rect">
            <a:avLst/>
          </a:prstGeom>
          <a:noFill/>
          <a:ln/>
        </p:spPr>
        <p:txBody>
          <a:bodyPr wrap="square" lIns="0" tIns="0" rIns="0" bIns="0" rtlCol="0" anchor="t"/>
          <a:lstStyle/>
          <a:p>
            <a:pPr indent="0" marL="0">
              <a:buNone/>
            </a:pPr>
            <a:r>
              <a:rPr lang="en-US" sz="1700" b="1" dirty="0">
                <a:solidFill>
                  <a:srgbClr val="3A36A0"/>
                </a:solidFill>
                <a:latin typeface="Cambria" pitchFamily="34" charset="0"/>
                <a:ea typeface="Cambria" pitchFamily="34" charset="-122"/>
                <a:cs typeface="Cambria" pitchFamily="34" charset="-120"/>
              </a:rPr>
              <a:t>json.dumps</a:t>
            </a:r>
            <a:endParaRPr lang="en-US" sz="1350" dirty="0"/>
          </a:p>
        </p:txBody>
      </p:sp>
      <p:sp>
        <p:nvSpPr>
          <p:cNvPr id="26" name="Text 23"/>
          <p:cNvSpPr txBox="1"/>
          <p:nvPr/>
        </p:nvSpPr>
        <p:spPr>
          <a:xfrm>
            <a:off x="6428232" y="4526280"/>
            <a:ext cx="4937760" cy="201168"/>
          </a:xfrm>
          <a:prstGeom prst="rect">
            <a:avLst/>
          </a:prstGeom>
          <a:noFill/>
          <a:ln/>
        </p:spPr>
        <p:txBody>
          <a:bodyPr wrap="square" lIns="0" tIns="0" rIns="0" bIns="0" rtlCol="0" anchor="t"/>
          <a:lstStyle/>
          <a:p>
            <a:pPr indent="0" marL="0">
              <a:buNone/>
            </a:pPr>
            <a:r>
              <a:rPr lang="en-US" sz="1250" b="1" dirty="0">
                <a:solidFill>
                  <a:srgbClr val="B4432E"/>
                </a:solidFill>
                <a:latin typeface="Calibri" pitchFamily="34" charset="0"/>
                <a:ea typeface="Calibri" pitchFamily="34" charset="-122"/>
                <a:cs typeface="Calibri" pitchFamily="34" charset="-120"/>
              </a:rPr>
              <a:t>RỦI RO</a:t>
            </a:r>
            <a:endParaRPr lang="en-US" sz="1000" dirty="0"/>
          </a:p>
        </p:txBody>
      </p:sp>
      <p:sp>
        <p:nvSpPr>
          <p:cNvPr id="27" name="Text 24"/>
          <p:cNvSpPr txBox="1"/>
          <p:nvPr/>
        </p:nvSpPr>
        <p:spPr>
          <a:xfrm>
            <a:off x="6428232" y="4745736"/>
            <a:ext cx="4937760" cy="54864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ensure_ascii=True biến vết tiếng Việt thành chuỗi escape, khó đọc khi gỡ lỗi.</a:t>
            </a:r>
            <a:endParaRPr lang="en-US" sz="1200" dirty="0"/>
          </a:p>
        </p:txBody>
      </p:sp>
      <p:sp>
        <p:nvSpPr>
          <p:cNvPr id="28" name="Text 25"/>
          <p:cNvSpPr txBox="1"/>
          <p:nvPr/>
        </p:nvSpPr>
        <p:spPr>
          <a:xfrm>
            <a:off x="6428232" y="5349240"/>
            <a:ext cx="4937760" cy="201168"/>
          </a:xfrm>
          <a:prstGeom prst="rect">
            <a:avLst/>
          </a:prstGeom>
          <a:noFill/>
          <a:ln/>
        </p:spPr>
        <p:txBody>
          <a:bodyPr wrap="square" lIns="0" tIns="0" rIns="0" bIns="0" rtlCol="0" anchor="t"/>
          <a:lstStyle/>
          <a:p>
            <a:pPr indent="0" marL="0">
              <a:buNone/>
            </a:pPr>
            <a:r>
              <a:rPr lang="en-US" sz="1250" b="1" dirty="0">
                <a:solidFill>
                  <a:srgbClr val="1FA6A6"/>
                </a:solidFill>
                <a:latin typeface="Calibri" pitchFamily="34" charset="0"/>
                <a:ea typeface="Calibri" pitchFamily="34" charset="-122"/>
                <a:cs typeface="Calibri" pitchFamily="34" charset="-120"/>
              </a:rPr>
              <a:t>XỬ LÝ</a:t>
            </a:r>
            <a:endParaRPr lang="en-US" sz="1000" dirty="0"/>
          </a:p>
        </p:txBody>
      </p:sp>
      <p:sp>
        <p:nvSpPr>
          <p:cNvPr id="29" name="Text 26"/>
          <p:cNvSpPr txBox="1"/>
          <p:nvPr/>
        </p:nvSpPr>
        <p:spPr>
          <a:xfrm>
            <a:off x="6428232" y="5568696"/>
            <a:ext cx="4937760" cy="411480"/>
          </a:xfrm>
          <a:prstGeom prst="rect">
            <a:avLst/>
          </a:prstGeom>
          <a:noFill/>
          <a:ln/>
        </p:spPr>
        <p:txBody>
          <a:bodyPr wrap="square" lIns="0" tIns="0" rIns="0" bIns="0" rtlCol="0" anchor="t"/>
          <a:lstStyle/>
          <a:p>
            <a:pPr indent="0" marL="0">
              <a:buNone/>
            </a:pPr>
            <a:r>
              <a:rPr lang="en-US" sz="1550" b="1" dirty="0">
                <a:solidFill>
                  <a:srgbClr val="13123A"/>
                </a:solidFill>
                <a:latin typeface="Calibri" pitchFamily="34" charset="0"/>
                <a:ea typeface="Calibri" pitchFamily="34" charset="-122"/>
                <a:cs typeface="Calibri" pitchFamily="34" charset="-120"/>
              </a:rPr>
              <a:t>Đặt ensure_ascii=False.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SỔ CÁI · 3/3 · ĐÃ XONG</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Lọc bản cũ bằng SQL và ràng buộc dành cho tuần 4</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Cấu hình đối chứng llm-judge (tuần 7) sẽ đo chênh lệch giữa hai cách chọn bản mới nhất.</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MỖI SLOT CHỈ TRẢ VỀ BẢN max(seq) — TẤT ĐỊNH</a:t>
            </a:r>
            <a:endParaRPr lang="en-US" sz="1100" dirty="0"/>
          </a:p>
        </p:txBody>
      </p:sp>
      <p:sp>
        <p:nvSpPr>
          <p:cNvPr id="7" name="Shape 4"/>
          <p:cNvSpPr/>
          <p:nvPr/>
        </p:nvSpPr>
        <p:spPr>
          <a:xfrm>
            <a:off x="566928" y="1938528"/>
            <a:ext cx="11045952" cy="1600200"/>
          </a:xfrm>
          <a:prstGeom prst="rect">
            <a:avLst/>
          </a:prstGeom>
          <a:solidFill>
            <a:srgbClr val="ECEBF7"/>
          </a:solidFill>
          <a:ln w="12700">
            <a:solidFill>
              <a:srgbClr val="ECEBF7"/>
            </a:solidFill>
            <a:prstDash val="solid"/>
          </a:ln>
        </p:spPr>
        <p:txBody>
          <a:bodyPr/>
          <a:p/>
        </p:txBody>
      </p:sp>
      <p:sp>
        <p:nvSpPr>
          <p:cNvPr id="8" name="Text 5"/>
          <p:cNvSpPr txBox="1"/>
          <p:nvPr/>
        </p:nvSpPr>
        <p:spPr>
          <a:xfrm>
            <a:off x="795528" y="2075688"/>
            <a:ext cx="10588752" cy="1325880"/>
          </a:xfrm>
          <a:prstGeom prst="rect">
            <a:avLst/>
          </a:prstGeom>
          <a:noFill/>
          <a:ln/>
        </p:spPr>
        <p:txBody>
          <a:bodyPr wrap="square" lIns="0" tIns="0" rIns="0" bIns="0" rtlCol="0" anchor="t"/>
          <a:lstStyle/>
          <a:p>
            <a:pPr indent="0" marL="0">
              <a:buNone/>
            </a:pPr>
            <a:r>
              <a:rPr lang="en-US" sz="1450" dirty="0">
                <a:solidFill>
                  <a:srgbClr val="13123A"/>
                </a:solidFill>
                <a:latin typeface="Courier New" pitchFamily="34" charset="0"/>
                <a:ea typeface="Courier New" pitchFamily="34" charset="-122"/>
                <a:cs typeface="Courier New" pitchFamily="34" charset="-120"/>
              </a:rPr>
              <a:t>SELECT * FROM (</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SELECT *, ROW_NUMBER() OVER (</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PARTITION BY subject, attribute ORDER BY seq DESC) AS rn</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FROM memory WHERE status = 'active'</a:t>
            </a:r>
            <a:endParaRPr lang="en-US" sz="1300" dirty="0"/>
          </a:p>
          <a:p>
            <a:pPr indent="0" marL="0">
              <a:buNone/>
            </a:pPr>
            <a:r>
              <a:rPr lang="en-US" sz="1450" dirty="0">
                <a:solidFill>
                  <a:srgbClr val="13123A"/>
                </a:solidFill>
                <a:latin typeface="Courier New" pitchFamily="34" charset="0"/>
                <a:ea typeface="Courier New" pitchFamily="34" charset="-122"/>
                <a:cs typeface="Courier New" pitchFamily="34" charset="-120"/>
              </a:rPr>
              <a:t>) WHERE rn = 1</a:t>
            </a:r>
            <a:endParaRPr lang="en-US" sz="1300" dirty="0"/>
          </a:p>
        </p:txBody>
      </p:sp>
      <p:sp>
        <p:nvSpPr>
          <p:cNvPr id="9" name="Text 6"/>
          <p:cNvSpPr txBox="1"/>
          <p:nvPr/>
        </p:nvSpPr>
        <p:spPr>
          <a:xfrm>
            <a:off x="566928" y="3749040"/>
            <a:ext cx="82296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RÀNG BUỘC CHƯA KÍCH HOẠT — SẼ BẬT Ở TUẦN 4</a:t>
            </a:r>
            <a:endParaRPr lang="en-US" sz="1100" dirty="0"/>
          </a:p>
        </p:txBody>
      </p:sp>
      <p:sp>
        <p:nvSpPr>
          <p:cNvPr id="10" name="Shape 7"/>
          <p:cNvSpPr/>
          <p:nvPr/>
        </p:nvSpPr>
        <p:spPr>
          <a:xfrm>
            <a:off x="566928" y="4041648"/>
            <a:ext cx="11045952" cy="502920"/>
          </a:xfrm>
          <a:prstGeom prst="rect">
            <a:avLst/>
          </a:prstGeom>
          <a:solidFill>
            <a:srgbClr val="ECEBF7"/>
          </a:solidFill>
          <a:ln w="12700">
            <a:solidFill>
              <a:srgbClr val="ECEBF7"/>
            </a:solidFill>
            <a:prstDash val="solid"/>
          </a:ln>
        </p:spPr>
        <p:txBody>
          <a:bodyPr/>
          <a:p/>
        </p:txBody>
      </p:sp>
      <p:sp>
        <p:nvSpPr>
          <p:cNvPr id="11" name="Text 8"/>
          <p:cNvSpPr txBox="1"/>
          <p:nvPr/>
        </p:nvSpPr>
        <p:spPr>
          <a:xfrm>
            <a:off x="795528" y="4178808"/>
            <a:ext cx="10588752" cy="228600"/>
          </a:xfrm>
          <a:prstGeom prst="rect">
            <a:avLst/>
          </a:prstGeom>
          <a:noFill/>
          <a:ln/>
        </p:spPr>
        <p:txBody>
          <a:bodyPr wrap="square" lIns="0" tIns="0" rIns="0" bIns="0" rtlCol="0" anchor="t"/>
          <a:lstStyle/>
          <a:p>
            <a:pPr indent="0" marL="0">
              <a:buNone/>
            </a:pPr>
            <a:r>
              <a:rPr lang="en-US" sz="1450" dirty="0">
                <a:solidFill>
                  <a:srgbClr val="13123A"/>
                </a:solidFill>
                <a:latin typeface="Courier New" pitchFamily="34" charset="0"/>
                <a:ea typeface="Courier New" pitchFamily="34" charset="-122"/>
                <a:cs typeface="Courier New" pitchFamily="34" charset="-120"/>
              </a:rPr>
              <a:t>CREATE UNIQUE INDEX ux_active_slot ON memory(subject, attribute) WHERE status='active';</a:t>
            </a:r>
            <a:endParaRPr lang="en-US" sz="1200" dirty="0"/>
          </a:p>
        </p:txBody>
      </p:sp>
      <p:sp>
        <p:nvSpPr>
          <p:cNvPr id="12" name="Shape 9"/>
          <p:cNvSpPr/>
          <p:nvPr/>
        </p:nvSpPr>
        <p:spPr>
          <a:xfrm>
            <a:off x="566928" y="4754880"/>
            <a:ext cx="11045952" cy="1508760"/>
          </a:xfrm>
          <a:prstGeom prst="rect">
            <a:avLst/>
          </a:prstGeom>
          <a:solidFill>
            <a:srgbClr val="13123A"/>
          </a:solidFill>
          <a:ln w="12700">
            <a:solidFill>
              <a:srgbClr val="13123A"/>
            </a:solidFill>
            <a:prstDash val="solid"/>
          </a:ln>
        </p:spPr>
        <p:txBody>
          <a:bodyPr/>
          <a:p/>
        </p:txBody>
      </p:sp>
      <p:sp>
        <p:nvSpPr>
          <p:cNvPr id="13" name="Text 10"/>
          <p:cNvSpPr txBox="1"/>
          <p:nvPr/>
        </p:nvSpPr>
        <p:spPr>
          <a:xfrm>
            <a:off x="822960" y="4937760"/>
            <a:ext cx="105156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LÝ DO CHƯA KÍCH HOẠT</a:t>
            </a:r>
            <a:endParaRPr lang="en-US" sz="1100" dirty="0"/>
          </a:p>
        </p:txBody>
      </p:sp>
      <p:sp>
        <p:nvSpPr>
          <p:cNvPr id="14" name="Text 11"/>
          <p:cNvSpPr txBox="1"/>
          <p:nvPr/>
        </p:nvSpPr>
        <p:spPr>
          <a:xfrm>
            <a:off x="822960" y="5212080"/>
            <a:ext cx="10533888" cy="960120"/>
          </a:xfrm>
          <a:prstGeom prst="rect">
            <a:avLst/>
          </a:prstGeom>
          <a:noFill/>
          <a:ln/>
        </p:spPr>
        <p:txBody>
          <a:bodyPr wrap="square" lIns="0" tIns="0" rIns="0" bIns="0" rtlCol="0" anchor="t"/>
          <a:lstStyle/>
          <a:p>
            <a:pPr indent="0" marL="0">
              <a:buNone/>
            </a:pPr>
            <a:r>
              <a:rPr lang="en-US" sz="1500" dirty="0">
                <a:solidFill>
                  <a:srgbClr val="EFEFFA"/>
                </a:solidFill>
                <a:latin typeface="Calibri" pitchFamily="34" charset="0"/>
                <a:ea typeface="Calibri" pitchFamily="34" charset="-122"/>
                <a:cs typeface="Calibri" pitchFamily="34" charset="-120"/>
              </a:rPr>
              <a:t>Tuần 3 chỉ có thao tác ADD: người dùng nói N5 rồi N4 sẽ sinh hai bản active cùng slot, đúng thiết kế vì MemoryUpdater chưa tồn tại. Bật ràng buộc sớm sẽ làm gián đoạn pipeline. Từ tuần 4, mọi lỗi logic cập nhật được phát hiện ngay thay vì âm thầm làm sai số liệu. Đã có sẵn một test chứng minh ràng buộc bắt đúng lỗi.</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KẾT QUẢ KIỂM THỬ</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Kết quả kiểm thử: 16/16 test đạt</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Số liệu từ test_ledger.py: 16 test, dưới 1 giây, không gọi mạng. Test thất bại nghĩa là kiến trúc bị vi phạm.</a:t>
            </a:r>
            <a:endParaRPr lang="en-US" sz="1050" dirty="0"/>
          </a:p>
        </p:txBody>
      </p:sp>
      <p:sp>
        <p:nvSpPr>
          <p:cNvPr id="6" name="Shape 3"/>
          <p:cNvSpPr/>
          <p:nvPr/>
        </p:nvSpPr>
        <p:spPr>
          <a:xfrm>
            <a:off x="566928" y="1691640"/>
            <a:ext cx="3291840" cy="4480560"/>
          </a:xfrm>
          <a:prstGeom prst="rect">
            <a:avLst/>
          </a:prstGeom>
          <a:solidFill>
            <a:srgbClr val="13123A"/>
          </a:solidFill>
          <a:ln w="12700">
            <a:solidFill>
              <a:srgbClr val="13123A"/>
            </a:solidFill>
            <a:prstDash val="solid"/>
          </a:ln>
        </p:spPr>
        <p:txBody>
          <a:bodyPr/>
          <a:p/>
        </p:txBody>
      </p:sp>
      <p:sp>
        <p:nvSpPr>
          <p:cNvPr id="7" name="Text 4"/>
          <p:cNvSpPr txBox="1"/>
          <p:nvPr/>
        </p:nvSpPr>
        <p:spPr>
          <a:xfrm>
            <a:off x="566928" y="2103120"/>
            <a:ext cx="3291840" cy="1280160"/>
          </a:xfrm>
          <a:prstGeom prst="rect">
            <a:avLst/>
          </a:prstGeom>
          <a:noFill/>
          <a:ln/>
        </p:spPr>
        <p:txBody>
          <a:bodyPr wrap="square" lIns="0" tIns="0" rIns="0" bIns="0" rtlCol="0" anchor="t"/>
          <a:lstStyle/>
          <a:p>
            <a:pPr algn="ctr" indent="0" marL="0">
              <a:buNone/>
            </a:pPr>
            <a:r>
              <a:rPr lang="en-US" sz="8100" b="1" dirty="0">
                <a:solidFill>
                  <a:srgbClr val="FFFFFF"/>
                </a:solidFill>
                <a:latin typeface="Cambria" pitchFamily="34" charset="0"/>
                <a:ea typeface="Cambria" pitchFamily="34" charset="-122"/>
                <a:cs typeface="Cambria" pitchFamily="34" charset="-120"/>
              </a:rPr>
              <a:t>16</a:t>
            </a:r>
            <a:endParaRPr lang="en-US" sz="8800" dirty="0"/>
          </a:p>
        </p:txBody>
      </p:sp>
      <p:sp>
        <p:nvSpPr>
          <p:cNvPr id="8" name="Text 5"/>
          <p:cNvSpPr txBox="1"/>
          <p:nvPr/>
        </p:nvSpPr>
        <p:spPr>
          <a:xfrm>
            <a:off x="566928" y="3566160"/>
            <a:ext cx="3291840" cy="365760"/>
          </a:xfrm>
          <a:prstGeom prst="rect">
            <a:avLst/>
          </a:prstGeom>
          <a:noFill/>
          <a:ln/>
        </p:spPr>
        <p:txBody>
          <a:bodyPr wrap="square" lIns="0" tIns="0" rIns="0" bIns="0" rtlCol="0" anchor="t"/>
          <a:lstStyle/>
          <a:p>
            <a:pPr algn="ctr" indent="0" marL="0">
              <a:buNone/>
            </a:pPr>
            <a:r>
              <a:rPr lang="en-US" sz="1700" b="1" dirty="0">
                <a:solidFill>
                  <a:srgbClr val="E9970B"/>
                </a:solidFill>
                <a:latin typeface="Calibri" pitchFamily="34" charset="0"/>
                <a:ea typeface="Calibri" pitchFamily="34" charset="-122"/>
                <a:cs typeface="Calibri" pitchFamily="34" charset="-120"/>
              </a:rPr>
              <a:t>test đạt toàn bộ</a:t>
            </a:r>
            <a:endParaRPr lang="en-US" sz="1600" dirty="0"/>
          </a:p>
        </p:txBody>
      </p:sp>
      <p:sp>
        <p:nvSpPr>
          <p:cNvPr id="9" name="Text 6"/>
          <p:cNvSpPr txBox="1"/>
          <p:nvPr/>
        </p:nvSpPr>
        <p:spPr>
          <a:xfrm>
            <a:off x="566928" y="4023360"/>
            <a:ext cx="3291840" cy="320040"/>
          </a:xfrm>
          <a:prstGeom prst="rect">
            <a:avLst/>
          </a:prstGeom>
          <a:noFill/>
          <a:ln/>
        </p:spPr>
        <p:txBody>
          <a:bodyPr wrap="square" lIns="0" tIns="0" rIns="0" bIns="0" rtlCol="0" anchor="t"/>
          <a:lstStyle/>
          <a:p>
            <a:pPr algn="ctr" indent="0" marL="0">
              <a:buNone/>
            </a:pPr>
            <a:r>
              <a:rPr lang="en-US" sz="1700" dirty="0">
                <a:solidFill>
                  <a:srgbClr val="C7C9E6"/>
                </a:solidFill>
                <a:latin typeface="Calibri" pitchFamily="34" charset="0"/>
                <a:ea typeface="Calibri" pitchFamily="34" charset="-122"/>
                <a:cs typeface="Calibri" pitchFamily="34" charset="-120"/>
              </a:rPr>
              <a:t>dưới 1 giây · không gọi mạng</a:t>
            </a:r>
            <a:endParaRPr lang="en-US" sz="1300" dirty="0"/>
          </a:p>
        </p:txBody>
      </p:sp>
      <p:sp>
        <p:nvSpPr>
          <p:cNvPr id="10" name="Text 7"/>
          <p:cNvSpPr txBox="1"/>
          <p:nvPr/>
        </p:nvSpPr>
        <p:spPr>
          <a:xfrm>
            <a:off x="822960" y="5029200"/>
            <a:ext cx="2779776" cy="822960"/>
          </a:xfrm>
          <a:prstGeom prst="rect">
            <a:avLst/>
          </a:prstGeom>
          <a:noFill/>
          <a:ln/>
        </p:spPr>
        <p:txBody>
          <a:bodyPr wrap="square" lIns="0" tIns="0" rIns="0" bIns="0" rtlCol="0" anchor="t"/>
          <a:lstStyle/>
          <a:p>
            <a:pPr algn="ctr" indent="0" marL="0">
              <a:buNone/>
            </a:pPr>
            <a:r>
              <a:rPr lang="en-US" sz="1550" dirty="0">
                <a:solidFill>
                  <a:srgbClr val="EFEFFA"/>
                </a:solidFill>
                <a:latin typeface="Calibri" pitchFamily="34" charset="0"/>
                <a:ea typeface="Calibri" pitchFamily="34" charset="-122"/>
                <a:cs typeface="Calibri" pitchFamily="34" charset="-120"/>
              </a:rPr>
              <a:t>Mỗi test kiểm chứng một bất biến đã cam kết trong tài liệu kiến trúc</a:t>
            </a:r>
            <a:endParaRPr lang="en-US" sz="1200" dirty="0"/>
          </a:p>
        </p:txBody>
      </p:sp>
      <p:sp>
        <p:nvSpPr>
          <p:cNvPr id="11" name="Shape 8"/>
          <p:cNvSpPr/>
          <p:nvPr/>
        </p:nvSpPr>
        <p:spPr>
          <a:xfrm>
            <a:off x="4114800" y="1691640"/>
            <a:ext cx="7498080" cy="667512"/>
          </a:xfrm>
          <a:prstGeom prst="rect">
            <a:avLst/>
          </a:prstGeom>
          <a:solidFill>
            <a:srgbClr val="ECEBF7"/>
          </a:solidFill>
          <a:ln w="12700">
            <a:solidFill>
              <a:srgbClr val="ECEBF7"/>
            </a:solidFill>
            <a:prstDash val="solid"/>
          </a:ln>
        </p:spPr>
        <p:txBody>
          <a:bodyPr/>
          <a:p/>
        </p:txBody>
      </p:sp>
      <p:sp>
        <p:nvSpPr>
          <p:cNvPr id="12" name="Text 9"/>
          <p:cNvSpPr txBox="1"/>
          <p:nvPr/>
        </p:nvSpPr>
        <p:spPr>
          <a:xfrm>
            <a:off x="4297680" y="1691640"/>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seq</a:t>
            </a:r>
            <a:endParaRPr lang="en-US" sz="1250" dirty="0"/>
          </a:p>
        </p:txBody>
      </p:sp>
      <p:sp>
        <p:nvSpPr>
          <p:cNvPr id="13" name="Text 10"/>
          <p:cNvSpPr txBox="1"/>
          <p:nvPr/>
        </p:nvSpPr>
        <p:spPr>
          <a:xfrm>
            <a:off x="5943600" y="1691640"/>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tăng đơn điệu, không trùng lặp</a:t>
            </a:r>
            <a:endParaRPr lang="en-US" sz="1200" dirty="0"/>
          </a:p>
        </p:txBody>
      </p:sp>
      <p:sp>
        <p:nvSpPr>
          <p:cNvPr id="14" name="Shape 11"/>
          <p:cNvSpPr/>
          <p:nvPr/>
        </p:nvSpPr>
        <p:spPr>
          <a:xfrm>
            <a:off x="4114800" y="2450592"/>
            <a:ext cx="7498080" cy="667512"/>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4297680" y="2450592"/>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pending</a:t>
            </a:r>
            <a:endParaRPr lang="en-US" sz="1250" dirty="0"/>
          </a:p>
        </p:txBody>
      </p:sp>
      <p:sp>
        <p:nvSpPr>
          <p:cNvPr id="16" name="Text 13"/>
          <p:cNvSpPr txBox="1"/>
          <p:nvPr/>
        </p:nvSpPr>
        <p:spPr>
          <a:xfrm>
            <a:off x="5943600" y="2450592"/>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fact từ lượt trợ lý không vào chỉ mục; chỉ hiển thị sau khi người dùng xác nhận</a:t>
            </a:r>
            <a:endParaRPr lang="en-US" sz="1200" dirty="0"/>
          </a:p>
        </p:txBody>
      </p:sp>
      <p:sp>
        <p:nvSpPr>
          <p:cNvPr id="17" name="Shape 14"/>
          <p:cNvSpPr/>
          <p:nvPr/>
        </p:nvSpPr>
        <p:spPr>
          <a:xfrm>
            <a:off x="4114800" y="3209544"/>
            <a:ext cx="7498080" cy="667512"/>
          </a:xfrm>
          <a:prstGeom prst="rect">
            <a:avLst/>
          </a:prstGeom>
          <a:solidFill>
            <a:srgbClr val="ECEBF7"/>
          </a:solidFill>
          <a:ln w="12700">
            <a:solidFill>
              <a:srgbClr val="ECEBF7"/>
            </a:solidFill>
            <a:prstDash val="solid"/>
          </a:ln>
        </p:spPr>
        <p:txBody>
          <a:bodyPr/>
          <a:p/>
        </p:txBody>
      </p:sp>
      <p:sp>
        <p:nvSpPr>
          <p:cNvPr id="18" name="Text 15"/>
          <p:cNvSpPr txBox="1"/>
          <p:nvPr/>
        </p:nvSpPr>
        <p:spPr>
          <a:xfrm>
            <a:off x="4297680" y="3209544"/>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max(seq)</a:t>
            </a:r>
            <a:endParaRPr lang="en-US" sz="1250" dirty="0"/>
          </a:p>
        </p:txBody>
      </p:sp>
      <p:sp>
        <p:nvSpPr>
          <p:cNvPr id="19" name="Text 16"/>
          <p:cNvSpPr txBox="1"/>
          <p:nvPr/>
        </p:nvSpPr>
        <p:spPr>
          <a:xfrm>
            <a:off x="5943600" y="3209544"/>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mỗi slot chỉ trả một bản, loại bản deleted</a:t>
            </a:r>
            <a:endParaRPr lang="en-US" sz="1200" dirty="0"/>
          </a:p>
        </p:txBody>
      </p:sp>
      <p:sp>
        <p:nvSpPr>
          <p:cNvPr id="20" name="Shape 17"/>
          <p:cNvSpPr/>
          <p:nvPr/>
        </p:nvSpPr>
        <p:spPr>
          <a:xfrm>
            <a:off x="4114800" y="3968496"/>
            <a:ext cx="7498080" cy="667512"/>
          </a:xfrm>
          <a:prstGeom prst="rect">
            <a:avLst/>
          </a:prstGeom>
          <a:solidFill>
            <a:srgbClr val="F7F7FB"/>
          </a:solidFill>
          <a:ln w="12700">
            <a:solidFill>
              <a:srgbClr val="F7F7FB"/>
            </a:solidFill>
            <a:prstDash val="solid"/>
          </a:ln>
        </p:spPr>
        <p:txBody>
          <a:bodyPr/>
          <a:p/>
        </p:txBody>
      </p:sp>
      <p:sp>
        <p:nvSpPr>
          <p:cNvPr id="21" name="Text 18"/>
          <p:cNvSpPr txBox="1"/>
          <p:nvPr/>
        </p:nvSpPr>
        <p:spPr>
          <a:xfrm>
            <a:off x="4297680" y="3968496"/>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Khóa slot</a:t>
            </a:r>
            <a:endParaRPr lang="en-US" sz="1250" dirty="0"/>
          </a:p>
        </p:txBody>
      </p:sp>
      <p:sp>
        <p:nvSpPr>
          <p:cNvPr id="22" name="Text 19"/>
          <p:cNvSpPr txBox="1"/>
          <p:nvPr/>
        </p:nvSpPr>
        <p:spPr>
          <a:xfrm>
            <a:off x="5943600" y="3968496"/>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trình_độ_tiếng_nhật → attribute_not_ascii; 2nd_language, Japanese Level → attribute_bad_format</a:t>
            </a:r>
            <a:endParaRPr lang="en-US" sz="1200" dirty="0"/>
          </a:p>
        </p:txBody>
      </p:sp>
      <p:sp>
        <p:nvSpPr>
          <p:cNvPr id="23" name="Shape 20"/>
          <p:cNvSpPr/>
          <p:nvPr/>
        </p:nvSpPr>
        <p:spPr>
          <a:xfrm>
            <a:off x="4114800" y="4727448"/>
            <a:ext cx="7498080" cy="667512"/>
          </a:xfrm>
          <a:prstGeom prst="rect">
            <a:avLst/>
          </a:prstGeom>
          <a:solidFill>
            <a:srgbClr val="ECEBF7"/>
          </a:solidFill>
          <a:ln w="12700">
            <a:solidFill>
              <a:srgbClr val="ECEBF7"/>
            </a:solidFill>
            <a:prstDash val="solid"/>
          </a:ln>
        </p:spPr>
        <p:txBody>
          <a:bodyPr/>
          <a:p/>
        </p:txBody>
      </p:sp>
      <p:sp>
        <p:nvSpPr>
          <p:cNvPr id="24" name="Text 21"/>
          <p:cNvSpPr txBox="1"/>
          <p:nvPr/>
        </p:nvSpPr>
        <p:spPr>
          <a:xfrm>
            <a:off x="4297680" y="4727448"/>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Nhật ký vết</a:t>
            </a:r>
            <a:endParaRPr lang="en-US" sz="1250" dirty="0"/>
          </a:p>
        </p:txBody>
      </p:sp>
      <p:sp>
        <p:nvSpPr>
          <p:cNvPr id="25" name="Text 22"/>
          <p:cNvSpPr txBox="1"/>
          <p:nvPr/>
        </p:nvSpPr>
        <p:spPr>
          <a:xfrm>
            <a:off x="5943600" y="4727448"/>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mọi lần từ chối đều được ghi lại → tính được tỉ lệ khóa lỗi</a:t>
            </a:r>
            <a:endParaRPr lang="en-US" sz="1200" dirty="0"/>
          </a:p>
        </p:txBody>
      </p:sp>
      <p:sp>
        <p:nvSpPr>
          <p:cNvPr id="26" name="Shape 23"/>
          <p:cNvSpPr/>
          <p:nvPr/>
        </p:nvSpPr>
        <p:spPr>
          <a:xfrm>
            <a:off x="4114800" y="5486400"/>
            <a:ext cx="7498080" cy="667512"/>
          </a:xfrm>
          <a:prstGeom prst="rect">
            <a:avLst/>
          </a:prstGeom>
          <a:solidFill>
            <a:srgbClr val="F7F7FB"/>
          </a:solidFill>
          <a:ln w="12700">
            <a:solidFill>
              <a:srgbClr val="F7F7FB"/>
            </a:solidFill>
            <a:prstDash val="solid"/>
          </a:ln>
        </p:spPr>
        <p:txBody>
          <a:bodyPr/>
          <a:p/>
        </p:txBody>
      </p:sp>
      <p:sp>
        <p:nvSpPr>
          <p:cNvPr id="27" name="Text 24"/>
          <p:cNvSpPr txBox="1"/>
          <p:nvPr/>
        </p:nvSpPr>
        <p:spPr>
          <a:xfrm>
            <a:off x="4297680" y="5486400"/>
            <a:ext cx="1600200" cy="667512"/>
          </a:xfrm>
          <a:prstGeom prst="rect">
            <a:avLst/>
          </a:prstGeom>
          <a:noFill/>
          <a:ln/>
        </p:spPr>
        <p:txBody>
          <a:bodyPr wrap="square" lIns="0" tIns="0" rIns="0" bIns="0" rtlCol="0" anchor="ctr"/>
          <a:lstStyle/>
          <a:p>
            <a:pPr indent="0" marL="0">
              <a:buNone/>
            </a:pPr>
            <a:r>
              <a:rPr lang="en-US" sz="1600" b="1" dirty="0">
                <a:solidFill>
                  <a:srgbClr val="3A36A0"/>
                </a:solidFill>
                <a:latin typeface="Cambria" pitchFamily="34" charset="0"/>
                <a:ea typeface="Cambria" pitchFamily="34" charset="-122"/>
                <a:cs typeface="Cambria" pitchFamily="34" charset="-120"/>
              </a:rPr>
              <a:t>Song ngữ</a:t>
            </a:r>
            <a:endParaRPr lang="en-US" sz="1250" dirty="0"/>
          </a:p>
        </p:txBody>
      </p:sp>
      <p:sp>
        <p:nvSpPr>
          <p:cNvPr id="28" name="Text 25"/>
          <p:cNvSpPr txBox="1"/>
          <p:nvPr/>
        </p:nvSpPr>
        <p:spPr>
          <a:xfrm>
            <a:off x="5943600" y="5486400"/>
            <a:ext cx="5532120" cy="667512"/>
          </a:xfrm>
          <a:prstGeom prst="rect">
            <a:avLst/>
          </a:prstGeom>
          <a:noFill/>
          <a:ln/>
        </p:spPr>
        <p:txBody>
          <a:bodyPr wrap="square" lIns="0" tIns="0" rIns="0" bIns="0" rtlCol="0" anchor="ctr"/>
          <a:lstStyle/>
          <a:p>
            <a:pPr indent="0" marL="0">
              <a:buNone/>
            </a:pPr>
            <a:r>
              <a:rPr lang="en-US" sz="1550" dirty="0">
                <a:solidFill>
                  <a:srgbClr val="4A4E63"/>
                </a:solidFill>
                <a:latin typeface="Calibri" pitchFamily="34" charset="0"/>
                <a:ea typeface="Calibri" pitchFamily="34" charset="-122"/>
                <a:cs typeface="Calibri" pitchFamily="34" charset="-120"/>
              </a:rPr>
              <a:t>chỉ mục nhúng text_canon (tiếng Anh), metadata vẫn giữ lang='vi'</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KẾ HOẠCH THỰC THI</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Kế hoạch thực thi 7 ngày</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150" dirty="0">
                <a:solidFill>
                  <a:srgbClr val="6B6F82"/>
                </a:solidFill>
                <a:latin typeface="Calibri" pitchFamily="34" charset="0"/>
                <a:ea typeface="Calibri" pitchFamily="34" charset="-122"/>
                <a:cs typeface="Calibri" pitchFamily="34" charset="-120"/>
              </a:rPr>
              <a:t>Mục tiêu cuối tuần: 11 file mã nguồn — config, adapters (llm, embed, fake), vector, extractor, assembler, agent, eval (datasets, judge, run).</a:t>
            </a:r>
            <a:endParaRPr lang="en-US" sz="1050" dirty="0"/>
          </a:p>
        </p:txBody>
      </p:sp>
      <p:sp>
        <p:nvSpPr>
          <p:cNvPr id="6" name="Shape 3"/>
          <p:cNvSpPr/>
          <p:nvPr/>
        </p:nvSpPr>
        <p:spPr>
          <a:xfrm>
            <a:off x="566928" y="1645920"/>
            <a:ext cx="11045952" cy="658368"/>
          </a:xfrm>
          <a:prstGeom prst="rect">
            <a:avLst/>
          </a:prstGeom>
          <a:solidFill>
            <a:srgbClr val="ECEBF7"/>
          </a:solidFill>
          <a:ln w="12700">
            <a:solidFill>
              <a:srgbClr val="ECEBF7"/>
            </a:solidFill>
            <a:prstDash val="solid"/>
          </a:ln>
        </p:spPr>
        <p:txBody>
          <a:bodyPr/>
          <a:p/>
        </p:txBody>
      </p:sp>
      <p:sp>
        <p:nvSpPr>
          <p:cNvPr id="7" name="Shape 4"/>
          <p:cNvSpPr/>
          <p:nvPr/>
        </p:nvSpPr>
        <p:spPr>
          <a:xfrm>
            <a:off x="566928" y="1645920"/>
            <a:ext cx="1371600" cy="658368"/>
          </a:xfrm>
          <a:prstGeom prst="rect">
            <a:avLst/>
          </a:prstGeom>
          <a:solidFill>
            <a:srgbClr val="13123A"/>
          </a:solidFill>
          <a:ln w="12700">
            <a:solidFill>
              <a:srgbClr val="13123A"/>
            </a:solidFill>
            <a:prstDash val="solid"/>
          </a:ln>
        </p:spPr>
        <p:txBody>
          <a:bodyPr/>
          <a:p/>
        </p:txBody>
      </p:sp>
      <p:sp>
        <p:nvSpPr>
          <p:cNvPr id="8" name="Text 5"/>
          <p:cNvSpPr txBox="1"/>
          <p:nvPr/>
        </p:nvSpPr>
        <p:spPr>
          <a:xfrm>
            <a:off x="566928" y="1645920"/>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1</a:t>
            </a:r>
            <a:endParaRPr lang="en-US" sz="1200" dirty="0"/>
          </a:p>
        </p:txBody>
      </p:sp>
      <p:sp>
        <p:nvSpPr>
          <p:cNvPr id="9" name="Text 6"/>
          <p:cNvSpPr txBox="1"/>
          <p:nvPr/>
        </p:nvSpPr>
        <p:spPr>
          <a:xfrm>
            <a:off x="2103120" y="1645920"/>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10" name="Text 7"/>
          <p:cNvSpPr txBox="1"/>
          <p:nvPr/>
        </p:nvSpPr>
        <p:spPr>
          <a:xfrm>
            <a:off x="2697480" y="1645920"/>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Khung, adapter, chỉ mục</a:t>
            </a:r>
            <a:endParaRPr lang="en-US" sz="1300" dirty="0"/>
          </a:p>
        </p:txBody>
      </p:sp>
      <p:sp>
        <p:nvSpPr>
          <p:cNvPr id="11" name="Text 8"/>
          <p:cNvSpPr txBox="1"/>
          <p:nvPr/>
        </p:nvSpPr>
        <p:spPr>
          <a:xfrm>
            <a:off x="5394960" y="1645920"/>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A: config · LLMAdapter · BGE-M3 có cache · FakeLLM   |   B: vector.py + rebuild()</a:t>
            </a:r>
            <a:endParaRPr lang="en-US" sz="1150" dirty="0"/>
          </a:p>
        </p:txBody>
      </p:sp>
      <p:sp>
        <p:nvSpPr>
          <p:cNvPr id="12" name="Shape 9"/>
          <p:cNvSpPr/>
          <p:nvPr/>
        </p:nvSpPr>
        <p:spPr>
          <a:xfrm>
            <a:off x="566928" y="2395728"/>
            <a:ext cx="11045952" cy="658368"/>
          </a:xfrm>
          <a:prstGeom prst="rect">
            <a:avLst/>
          </a:prstGeom>
          <a:solidFill>
            <a:srgbClr val="F7F7FB"/>
          </a:solidFill>
          <a:ln w="12700">
            <a:solidFill>
              <a:srgbClr val="F7F7FB"/>
            </a:solidFill>
            <a:prstDash val="solid"/>
          </a:ln>
        </p:spPr>
        <p:txBody>
          <a:bodyPr/>
          <a:p/>
        </p:txBody>
      </p:sp>
      <p:sp>
        <p:nvSpPr>
          <p:cNvPr id="13" name="Shape 10"/>
          <p:cNvSpPr/>
          <p:nvPr/>
        </p:nvSpPr>
        <p:spPr>
          <a:xfrm>
            <a:off x="566928" y="2395728"/>
            <a:ext cx="1371600" cy="658368"/>
          </a:xfrm>
          <a:prstGeom prst="rect">
            <a:avLst/>
          </a:prstGeom>
          <a:solidFill>
            <a:srgbClr val="13123A"/>
          </a:solidFill>
          <a:ln w="12700">
            <a:solidFill>
              <a:srgbClr val="13123A"/>
            </a:solidFill>
            <a:prstDash val="solid"/>
          </a:ln>
        </p:spPr>
        <p:txBody>
          <a:bodyPr/>
          <a:p/>
        </p:txBody>
      </p:sp>
      <p:sp>
        <p:nvSpPr>
          <p:cNvPr id="14" name="Text 11"/>
          <p:cNvSpPr txBox="1"/>
          <p:nvPr/>
        </p:nvSpPr>
        <p:spPr>
          <a:xfrm>
            <a:off x="566928" y="2395728"/>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2–3</a:t>
            </a:r>
            <a:endParaRPr lang="en-US" sz="1200" dirty="0"/>
          </a:p>
        </p:txBody>
      </p:sp>
      <p:sp>
        <p:nvSpPr>
          <p:cNvPr id="15" name="Text 12"/>
          <p:cNvSpPr txBox="1"/>
          <p:nvPr/>
        </p:nvSpPr>
        <p:spPr>
          <a:xfrm>
            <a:off x="2103120" y="2395728"/>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a:t>
            </a:r>
            <a:endParaRPr lang="en-US" sz="1300" dirty="0"/>
          </a:p>
        </p:txBody>
      </p:sp>
      <p:sp>
        <p:nvSpPr>
          <p:cNvPr id="16" name="Text 13"/>
          <p:cNvSpPr txBox="1"/>
          <p:nvPr/>
        </p:nvSpPr>
        <p:spPr>
          <a:xfrm>
            <a:off x="2697480" y="2395728"/>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FactExtractor</a:t>
            </a:r>
            <a:endParaRPr lang="en-US" sz="1300" dirty="0"/>
          </a:p>
        </p:txBody>
      </p:sp>
      <p:sp>
        <p:nvSpPr>
          <p:cNvPr id="17" name="Text 14"/>
          <p:cNvSpPr txBox="1"/>
          <p:nvPr/>
        </p:nvSpPr>
        <p:spPr>
          <a:xfrm>
            <a:off x="5394960" y="2395728"/>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1 lời gọi/lượt · cache sha1 · thử lại 1 lần · hoàn thành khi khóa đúng ≥ 90% trên 20 lượt</a:t>
            </a:r>
            <a:endParaRPr lang="en-US" sz="1150" dirty="0"/>
          </a:p>
        </p:txBody>
      </p:sp>
      <p:sp>
        <p:nvSpPr>
          <p:cNvPr id="18" name="Shape 15"/>
          <p:cNvSpPr/>
          <p:nvPr/>
        </p:nvSpPr>
        <p:spPr>
          <a:xfrm>
            <a:off x="566928" y="3145536"/>
            <a:ext cx="11045952" cy="658368"/>
          </a:xfrm>
          <a:prstGeom prst="rect">
            <a:avLst/>
          </a:prstGeom>
          <a:solidFill>
            <a:srgbClr val="ECEBF7"/>
          </a:solidFill>
          <a:ln w="12700">
            <a:solidFill>
              <a:srgbClr val="ECEBF7"/>
            </a:solidFill>
            <a:prstDash val="solid"/>
          </a:ln>
        </p:spPr>
        <p:txBody>
          <a:bodyPr/>
          <a:p/>
        </p:txBody>
      </p:sp>
      <p:sp>
        <p:nvSpPr>
          <p:cNvPr id="19" name="Shape 16"/>
          <p:cNvSpPr/>
          <p:nvPr/>
        </p:nvSpPr>
        <p:spPr>
          <a:xfrm>
            <a:off x="566928" y="3145536"/>
            <a:ext cx="1371600" cy="658368"/>
          </a:xfrm>
          <a:prstGeom prst="rect">
            <a:avLst/>
          </a:prstGeom>
          <a:solidFill>
            <a:srgbClr val="13123A"/>
          </a:solidFill>
          <a:ln w="12700">
            <a:solidFill>
              <a:srgbClr val="13123A"/>
            </a:solidFill>
            <a:prstDash val="solid"/>
          </a:ln>
        </p:spPr>
        <p:txBody>
          <a:bodyPr/>
          <a:p/>
        </p:txBody>
      </p:sp>
      <p:sp>
        <p:nvSpPr>
          <p:cNvPr id="20" name="Text 17"/>
          <p:cNvSpPr txBox="1"/>
          <p:nvPr/>
        </p:nvSpPr>
        <p:spPr>
          <a:xfrm>
            <a:off x="566928" y="3145536"/>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3–4</a:t>
            </a:r>
            <a:endParaRPr lang="en-US" sz="1200" dirty="0"/>
          </a:p>
        </p:txBody>
      </p:sp>
      <p:sp>
        <p:nvSpPr>
          <p:cNvPr id="21" name="Text 18"/>
          <p:cNvSpPr txBox="1"/>
          <p:nvPr/>
        </p:nvSpPr>
        <p:spPr>
          <a:xfrm>
            <a:off x="2103120" y="3145536"/>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B</a:t>
            </a:r>
            <a:endParaRPr lang="en-US" sz="1300" dirty="0"/>
          </a:p>
        </p:txBody>
      </p:sp>
      <p:sp>
        <p:nvSpPr>
          <p:cNvPr id="22" name="Text 19"/>
          <p:cNvSpPr txBox="1"/>
          <p:nvPr/>
        </p:nvSpPr>
        <p:spPr>
          <a:xfrm>
            <a:off x="2697480" y="3145536"/>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Assembler &amp; agent</a:t>
            </a:r>
            <a:endParaRPr lang="en-US" sz="1300" dirty="0"/>
          </a:p>
        </p:txBody>
      </p:sp>
      <p:sp>
        <p:nvSpPr>
          <p:cNvPr id="23" name="Text 20"/>
          <p:cNvSpPr txBox="1"/>
          <p:nvPr/>
        </p:nvSpPr>
        <p:spPr>
          <a:xfrm>
            <a:off x="5394960" y="3145536"/>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assembler chia hạn ngạch (đếm token bằng tokenizer thật) · agent.py với ingest_turn và answer</a:t>
            </a:r>
            <a:endParaRPr lang="en-US" sz="1150" dirty="0"/>
          </a:p>
        </p:txBody>
      </p:sp>
      <p:sp>
        <p:nvSpPr>
          <p:cNvPr id="24" name="Shape 21"/>
          <p:cNvSpPr/>
          <p:nvPr/>
        </p:nvSpPr>
        <p:spPr>
          <a:xfrm>
            <a:off x="566928" y="3895344"/>
            <a:ext cx="11045952" cy="658368"/>
          </a:xfrm>
          <a:prstGeom prst="rect">
            <a:avLst/>
          </a:prstGeom>
          <a:solidFill>
            <a:srgbClr val="F7F7FB"/>
          </a:solidFill>
          <a:ln w="12700">
            <a:solidFill>
              <a:srgbClr val="F7F7FB"/>
            </a:solidFill>
            <a:prstDash val="solid"/>
          </a:ln>
        </p:spPr>
        <p:txBody>
          <a:bodyPr/>
          <a:p/>
        </p:txBody>
      </p:sp>
      <p:sp>
        <p:nvSpPr>
          <p:cNvPr id="25" name="Shape 22"/>
          <p:cNvSpPr/>
          <p:nvPr/>
        </p:nvSpPr>
        <p:spPr>
          <a:xfrm>
            <a:off x="566928" y="3895344"/>
            <a:ext cx="1371600" cy="658368"/>
          </a:xfrm>
          <a:prstGeom prst="rect">
            <a:avLst/>
          </a:prstGeom>
          <a:solidFill>
            <a:srgbClr val="13123A"/>
          </a:solidFill>
          <a:ln w="12700">
            <a:solidFill>
              <a:srgbClr val="13123A"/>
            </a:solidFill>
            <a:prstDash val="solid"/>
          </a:ln>
        </p:spPr>
        <p:txBody>
          <a:bodyPr/>
          <a:p/>
        </p:txBody>
      </p:sp>
      <p:sp>
        <p:nvSpPr>
          <p:cNvPr id="26" name="Text 23"/>
          <p:cNvSpPr txBox="1"/>
          <p:nvPr/>
        </p:nvSpPr>
        <p:spPr>
          <a:xfrm>
            <a:off x="566928" y="3895344"/>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4–5</a:t>
            </a:r>
            <a:endParaRPr lang="en-US" sz="1200" dirty="0"/>
          </a:p>
        </p:txBody>
      </p:sp>
      <p:sp>
        <p:nvSpPr>
          <p:cNvPr id="27" name="Text 24"/>
          <p:cNvSpPr txBox="1"/>
          <p:nvPr/>
        </p:nvSpPr>
        <p:spPr>
          <a:xfrm>
            <a:off x="2103120" y="3895344"/>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a:t>
            </a:r>
            <a:endParaRPr lang="en-US" sz="1300" dirty="0"/>
          </a:p>
        </p:txBody>
      </p:sp>
      <p:sp>
        <p:nvSpPr>
          <p:cNvPr id="28" name="Text 25"/>
          <p:cNvSpPr txBox="1"/>
          <p:nvPr/>
        </p:nvSpPr>
        <p:spPr>
          <a:xfrm>
            <a:off x="2697480" y="3895344"/>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Bộ đánh giá</a:t>
            </a:r>
            <a:endParaRPr lang="en-US" sz="1300" dirty="0"/>
          </a:p>
        </p:txBody>
      </p:sp>
      <p:sp>
        <p:nvSpPr>
          <p:cNvPr id="29" name="Text 26"/>
          <p:cNvSpPr txBox="1"/>
          <p:nvPr/>
        </p:nvSpPr>
        <p:spPr>
          <a:xfrm>
            <a:off x="5394960" y="3895344"/>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datasets.py · judge.py (chốt prompt chấm) · run.py</a:t>
            </a:r>
            <a:endParaRPr lang="en-US" sz="1150" dirty="0"/>
          </a:p>
        </p:txBody>
      </p:sp>
      <p:sp>
        <p:nvSpPr>
          <p:cNvPr id="30" name="Shape 27"/>
          <p:cNvSpPr/>
          <p:nvPr/>
        </p:nvSpPr>
        <p:spPr>
          <a:xfrm>
            <a:off x="566928" y="4645152"/>
            <a:ext cx="11045952" cy="658368"/>
          </a:xfrm>
          <a:prstGeom prst="rect">
            <a:avLst/>
          </a:prstGeom>
          <a:solidFill>
            <a:srgbClr val="ECEBF7"/>
          </a:solidFill>
          <a:ln w="12700">
            <a:solidFill>
              <a:srgbClr val="ECEBF7"/>
            </a:solidFill>
            <a:prstDash val="solid"/>
          </a:ln>
        </p:spPr>
        <p:txBody>
          <a:bodyPr/>
          <a:p/>
        </p:txBody>
      </p:sp>
      <p:sp>
        <p:nvSpPr>
          <p:cNvPr id="31" name="Shape 28"/>
          <p:cNvSpPr/>
          <p:nvPr/>
        </p:nvSpPr>
        <p:spPr>
          <a:xfrm>
            <a:off x="566928" y="4645152"/>
            <a:ext cx="1371600" cy="658368"/>
          </a:xfrm>
          <a:prstGeom prst="rect">
            <a:avLst/>
          </a:prstGeom>
          <a:solidFill>
            <a:srgbClr val="13123A"/>
          </a:solidFill>
          <a:ln w="12700">
            <a:solidFill>
              <a:srgbClr val="13123A"/>
            </a:solidFill>
            <a:prstDash val="solid"/>
          </a:ln>
        </p:spPr>
        <p:txBody>
          <a:bodyPr/>
          <a:p/>
        </p:txBody>
      </p:sp>
      <p:sp>
        <p:nvSpPr>
          <p:cNvPr id="32" name="Text 29"/>
          <p:cNvSpPr txBox="1"/>
          <p:nvPr/>
        </p:nvSpPr>
        <p:spPr>
          <a:xfrm>
            <a:off x="566928" y="4645152"/>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5–6</a:t>
            </a:r>
            <a:endParaRPr lang="en-US" sz="1200" dirty="0"/>
          </a:p>
        </p:txBody>
      </p:sp>
      <p:sp>
        <p:nvSpPr>
          <p:cNvPr id="33" name="Text 30"/>
          <p:cNvSpPr txBox="1"/>
          <p:nvPr/>
        </p:nvSpPr>
        <p:spPr>
          <a:xfrm>
            <a:off x="2103120" y="4645152"/>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34" name="Text 31"/>
          <p:cNvSpPr txBox="1"/>
          <p:nvPr/>
        </p:nvSpPr>
        <p:spPr>
          <a:xfrm>
            <a:off x="2697480" y="4645152"/>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Thực nghiệm &amp; phân tích lỗi</a:t>
            </a:r>
            <a:endParaRPr lang="en-US" sz="1300" dirty="0"/>
          </a:p>
        </p:txBody>
      </p:sp>
      <p:sp>
        <p:nvSpPr>
          <p:cNvPr id="35" name="Text 32"/>
          <p:cNvSpPr txBox="1"/>
          <p:nvPr/>
        </p:nvSpPr>
        <p:spPr>
          <a:xfrm>
            <a:off x="5394960" y="4645152"/>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chạy --n 100 trên dev · phân tích 10 câu sai đầu tiên · đo tỉ lệ token Việt/Anh bằng tokenizer thật</a:t>
            </a:r>
            <a:endParaRPr lang="en-US" sz="1150" dirty="0"/>
          </a:p>
        </p:txBody>
      </p:sp>
      <p:sp>
        <p:nvSpPr>
          <p:cNvPr id="36" name="Shape 33"/>
          <p:cNvSpPr/>
          <p:nvPr/>
        </p:nvSpPr>
        <p:spPr>
          <a:xfrm>
            <a:off x="566928" y="5394960"/>
            <a:ext cx="11045952" cy="658368"/>
          </a:xfrm>
          <a:prstGeom prst="rect">
            <a:avLst/>
          </a:prstGeom>
          <a:solidFill>
            <a:srgbClr val="F7F7FB"/>
          </a:solidFill>
          <a:ln w="12700">
            <a:solidFill>
              <a:srgbClr val="F7F7FB"/>
            </a:solidFill>
            <a:prstDash val="solid"/>
          </a:ln>
        </p:spPr>
        <p:txBody>
          <a:bodyPr/>
          <a:p/>
        </p:txBody>
      </p:sp>
      <p:sp>
        <p:nvSpPr>
          <p:cNvPr id="37" name="Shape 34"/>
          <p:cNvSpPr/>
          <p:nvPr/>
        </p:nvSpPr>
        <p:spPr>
          <a:xfrm>
            <a:off x="566928" y="5394960"/>
            <a:ext cx="1371600" cy="658368"/>
          </a:xfrm>
          <a:prstGeom prst="rect">
            <a:avLst/>
          </a:prstGeom>
          <a:solidFill>
            <a:srgbClr val="13123A"/>
          </a:solidFill>
          <a:ln w="12700">
            <a:solidFill>
              <a:srgbClr val="13123A"/>
            </a:solidFill>
            <a:prstDash val="solid"/>
          </a:ln>
        </p:spPr>
        <p:txBody>
          <a:bodyPr/>
          <a:p/>
        </p:txBody>
      </p:sp>
      <p:sp>
        <p:nvSpPr>
          <p:cNvPr id="38" name="Text 35"/>
          <p:cNvSpPr txBox="1"/>
          <p:nvPr/>
        </p:nvSpPr>
        <p:spPr>
          <a:xfrm>
            <a:off x="566928" y="5394960"/>
            <a:ext cx="1371600" cy="65836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NGÀY 7</a:t>
            </a:r>
            <a:endParaRPr lang="en-US" sz="1200" dirty="0"/>
          </a:p>
        </p:txBody>
      </p:sp>
      <p:sp>
        <p:nvSpPr>
          <p:cNvPr id="39" name="Text 36"/>
          <p:cNvSpPr txBox="1"/>
          <p:nvPr/>
        </p:nvSpPr>
        <p:spPr>
          <a:xfrm>
            <a:off x="2103120" y="5394960"/>
            <a:ext cx="548640" cy="658368"/>
          </a:xfrm>
          <a:prstGeom prst="rect">
            <a:avLst/>
          </a:prstGeom>
          <a:noFill/>
          <a:ln/>
        </p:spPr>
        <p:txBody>
          <a:bodyPr wrap="square" lIns="0" tIns="0" rIns="0" bIns="0" rtlCol="0" anchor="ctr"/>
          <a:lstStyle/>
          <a:p>
            <a:pPr indent="0" marL="0">
              <a:buNone/>
            </a:pPr>
            <a:r>
              <a:rPr lang="en-US" sz="1700" b="1" dirty="0">
                <a:solidFill>
                  <a:srgbClr val="E9970B"/>
                </a:solidFill>
                <a:latin typeface="Calibri" pitchFamily="34" charset="0"/>
                <a:ea typeface="Calibri" pitchFamily="34" charset="-122"/>
                <a:cs typeface="Calibri" pitchFamily="34" charset="-120"/>
              </a:rPr>
              <a:t>A+B</a:t>
            </a:r>
            <a:endParaRPr lang="en-US" sz="1300" dirty="0"/>
          </a:p>
        </p:txBody>
      </p:sp>
      <p:sp>
        <p:nvSpPr>
          <p:cNvPr id="40" name="Text 37"/>
          <p:cNvSpPr txBox="1"/>
          <p:nvPr/>
        </p:nvSpPr>
        <p:spPr>
          <a:xfrm>
            <a:off x="2697480" y="5394960"/>
            <a:ext cx="2651760" cy="658368"/>
          </a:xfrm>
          <a:prstGeom prst="rect">
            <a:avLst/>
          </a:prstGeom>
          <a:noFill/>
          <a:ln/>
        </p:spPr>
        <p:txBody>
          <a:bodyPr wrap="square" lIns="0" tIns="0" rIns="0" bIns="0" rtlCol="0" anchor="ctr"/>
          <a:lstStyle/>
          <a:p>
            <a:pPr indent="0" marL="0">
              <a:buNone/>
            </a:pPr>
            <a:r>
              <a:rPr lang="en-US" sz="1700" b="1" dirty="0">
                <a:solidFill>
                  <a:srgbClr val="13123A"/>
                </a:solidFill>
                <a:latin typeface="Cambria" pitchFamily="34" charset="0"/>
                <a:ea typeface="Cambria" pitchFamily="34" charset="-122"/>
                <a:cs typeface="Cambria" pitchFamily="34" charset="-120"/>
              </a:rPr>
              <a:t>Tổng hợp &amp; báo cáo</a:t>
            </a:r>
            <a:endParaRPr lang="en-US" sz="1300" dirty="0"/>
          </a:p>
        </p:txBody>
      </p:sp>
      <p:sp>
        <p:nvSpPr>
          <p:cNvPr id="41" name="Text 38"/>
          <p:cNvSpPr txBox="1"/>
          <p:nvPr/>
        </p:nvSpPr>
        <p:spPr>
          <a:xfrm>
            <a:off x="5394960" y="5394960"/>
            <a:ext cx="6080760" cy="658368"/>
          </a:xfrm>
          <a:prstGeom prst="rect">
            <a:avLst/>
          </a:prstGeom>
          <a:noFill/>
          <a:ln/>
        </p:spPr>
        <p:txBody>
          <a:bodyPr wrap="square" lIns="0" tIns="0" rIns="0" bIns="0" rtlCol="0" anchor="ctr"/>
          <a:lstStyle/>
          <a:p>
            <a:pPr indent="0" marL="0">
              <a:buNone/>
            </a:pPr>
            <a:r>
              <a:rPr lang="en-US" sz="1500" dirty="0">
                <a:solidFill>
                  <a:srgbClr val="4A4E63"/>
                </a:solidFill>
                <a:latin typeface="Calibri" pitchFamily="34" charset="0"/>
                <a:ea typeface="Calibri" pitchFamily="34" charset="-122"/>
                <a:cs typeface="Calibri" pitchFamily="34" charset="-120"/>
              </a:rPr>
              <a:t>điền bảng số · báo cáo 1 trang · bảng phân loại lỗi</a:t>
            </a:r>
            <a:endParaRPr lang="en-US" sz="1150" dirty="0"/>
          </a:p>
        </p:txBody>
      </p:sp>
      <p:sp>
        <p:nvSpPr>
          <p:cNvPr id="42" name="Text 39"/>
          <p:cNvSpPr txBox="1"/>
          <p:nvPr/>
        </p:nvSpPr>
        <p:spPr>
          <a:xfrm>
            <a:off x="566928" y="6172200"/>
            <a:ext cx="11045952" cy="256032"/>
          </a:xfrm>
          <a:prstGeom prst="rect">
            <a:avLst/>
          </a:prstGeom>
          <a:noFill/>
          <a:ln/>
        </p:spPr>
        <p:txBody>
          <a:bodyPr wrap="square" lIns="0" tIns="0" rIns="0" bIns="0" rtlCol="0" anchor="t"/>
          <a:lstStyle/>
          <a:p>
            <a:pPr indent="0" marL="0">
              <a:buNone/>
            </a:pPr>
            <a:r>
              <a:rPr lang="en-US" sz="1350" i="1" dirty="0">
                <a:solidFill>
                  <a:srgbClr val="6B6F82"/>
                </a:solidFill>
                <a:latin typeface="Calibri" pitchFamily="34" charset="0"/>
                <a:ea typeface="Calibri" pitchFamily="34" charset="-122"/>
                <a:cs typeface="Calibri" pitchFamily="34" charset="-120"/>
              </a:rPr>
              <a:t>A = trích xuất &amp; đánh giá · B = chỉ mục &amp; agent · giao diện giữa hai bên là dataclass Fact (đã cố định trong ledger.py)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CHỈ SỐ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Các chỉ số báo cáo và ba nguyên tắc đo</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Prompt chấm và mô hình chấm được chốt trong tuần 3, không sửa về sau (Zheng et al., LLM-as-a-Judge, NeurIPS 2023).</a:t>
            </a:r>
            <a:endParaRPr lang="en-US" sz="1050" dirty="0"/>
          </a:p>
        </p:txBody>
      </p:sp>
      <p:sp>
        <p:nvSpPr>
          <p:cNvPr id="6" name="Text 3"/>
          <p:cNvSpPr txBox="1"/>
          <p:nvPr/>
        </p:nvSpPr>
        <p:spPr>
          <a:xfrm>
            <a:off x="566928" y="1645920"/>
            <a:ext cx="5486400" cy="237744"/>
          </a:xfrm>
          <a:prstGeom prst="rect">
            <a:avLst/>
          </a:prstGeom>
          <a:noFill/>
          <a:ln/>
        </p:spPr>
        <p:txBody>
          <a:bodyPr wrap="square" lIns="0" tIns="0" rIns="0" bIns="0" rtlCol="0" anchor="t"/>
          <a:lstStyle/>
          <a:p>
            <a:pPr indent="0" marL="0">
              <a:buNone/>
            </a:pPr>
            <a:r>
              <a:rPr lang="en-US" sz="1450" b="1" dirty="0">
                <a:solidFill>
                  <a:srgbClr val="3A36A0"/>
                </a:solidFill>
                <a:latin typeface="Calibri" pitchFamily="34" charset="0"/>
                <a:ea typeface="Calibri" pitchFamily="34" charset="-122"/>
                <a:cs typeface="Calibri" pitchFamily="34" charset="-120"/>
              </a:rPr>
              <a:t>CHỈ SỐ SẼ BÁO CÁO</a:t>
            </a:r>
            <a:endParaRPr lang="en-US" sz="1100" dirty="0"/>
          </a:p>
        </p:txBody>
      </p:sp>
      <p:sp>
        <p:nvSpPr>
          <p:cNvPr id="7" name="Shape 4"/>
          <p:cNvSpPr/>
          <p:nvPr/>
        </p:nvSpPr>
        <p:spPr>
          <a:xfrm>
            <a:off x="566928" y="1920240"/>
            <a:ext cx="5358384" cy="4206240"/>
          </a:xfrm>
          <a:prstGeom prst="rect">
            <a:avLst/>
          </a:prstGeom>
          <a:solidFill>
            <a:srgbClr val="ECEBF7"/>
          </a:solidFill>
          <a:ln w="12700">
            <a:solidFill>
              <a:srgbClr val="ECEBF7"/>
            </a:solidFill>
            <a:prstDash val="solid"/>
          </a:ln>
        </p:spPr>
        <p:txBody>
          <a:bodyPr/>
          <a:p/>
        </p:txBody>
      </p:sp>
      <p:sp>
        <p:nvSpPr>
          <p:cNvPr id="8" name="Text 5"/>
          <p:cNvSpPr txBox="1"/>
          <p:nvPr/>
        </p:nvSpPr>
        <p:spPr>
          <a:xfrm>
            <a:off x="822960" y="2103120"/>
            <a:ext cx="4846320" cy="3840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Accuracy theo từng loại câu hỏi LongMemEval-S — đường cơ sở</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Tỉ lệ khóa slot bị từ chối, tách theo lý do</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Số fact / lượt và số slot phân biệt</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p50/p95 tách pha: trích xuất · nhúng · truy xuất · sinh</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Token / truy vấn, tách theo lang (tiếng Việt ≈ gấp đôi)</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Phân loại 10 câu sai đầu tiên</a:t>
            </a:r>
            <a:endParaRPr lang="en-US" sz="1250" dirty="0"/>
          </a:p>
        </p:txBody>
      </p:sp>
      <p:sp>
        <p:nvSpPr>
          <p:cNvPr id="9" name="Text 6"/>
          <p:cNvSpPr txBox="1"/>
          <p:nvPr/>
        </p:nvSpPr>
        <p:spPr>
          <a:xfrm>
            <a:off x="6254496" y="1645920"/>
            <a:ext cx="548640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BA NGUYÊN TẮC ĐỂ TRÁNH SAI LỆCH</a:t>
            </a:r>
            <a:endParaRPr lang="en-US" sz="1100" dirty="0"/>
          </a:p>
        </p:txBody>
      </p:sp>
      <p:sp>
        <p:nvSpPr>
          <p:cNvPr id="10" name="Shape 7"/>
          <p:cNvSpPr/>
          <p:nvPr/>
        </p:nvSpPr>
        <p:spPr>
          <a:xfrm>
            <a:off x="6254496" y="1920240"/>
            <a:ext cx="5358384" cy="1280160"/>
          </a:xfrm>
          <a:prstGeom prst="rect">
            <a:avLst/>
          </a:prstGeom>
          <a:solidFill>
            <a:srgbClr val="F7F7FB"/>
          </a:solidFill>
          <a:ln w="12700">
            <a:solidFill>
              <a:srgbClr val="F7F7FB"/>
            </a:solidFill>
            <a:prstDash val="solid"/>
          </a:ln>
        </p:spPr>
        <p:txBody>
          <a:bodyPr/>
          <a:p/>
        </p:txBody>
      </p:sp>
      <p:sp>
        <p:nvSpPr>
          <p:cNvPr id="11" name="Text 8"/>
          <p:cNvSpPr txBox="1"/>
          <p:nvPr/>
        </p:nvSpPr>
        <p:spPr>
          <a:xfrm>
            <a:off x="6446520" y="202996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1</a:t>
            </a:r>
            <a:endParaRPr lang="en-US" sz="2600" dirty="0"/>
          </a:p>
        </p:txBody>
      </p:sp>
      <p:sp>
        <p:nvSpPr>
          <p:cNvPr id="12" name="Text 9"/>
          <p:cNvSpPr txBox="1"/>
          <p:nvPr/>
        </p:nvSpPr>
        <p:spPr>
          <a:xfrm>
            <a:off x="6995160" y="208483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Không triển khai slot/seq trong tuần 3</a:t>
            </a:r>
            <a:endParaRPr lang="en-US" sz="1300" dirty="0"/>
          </a:p>
        </p:txBody>
      </p:sp>
      <p:sp>
        <p:nvSpPr>
          <p:cNvPr id="13" name="Text 10"/>
          <p:cNvSpPr txBox="1"/>
          <p:nvPr/>
        </p:nvSpPr>
        <p:spPr>
          <a:xfrm>
            <a:off x="6995160" y="242316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Schema đã có sẵn cột nên dễ làm sớm; làm sớm thì tuần 4 không còn gì để so sánh.</a:t>
            </a:r>
            <a:endParaRPr lang="en-US" sz="1200" dirty="0"/>
          </a:p>
        </p:txBody>
      </p:sp>
      <p:sp>
        <p:nvSpPr>
          <p:cNvPr id="14" name="Shape 11"/>
          <p:cNvSpPr/>
          <p:nvPr/>
        </p:nvSpPr>
        <p:spPr>
          <a:xfrm>
            <a:off x="6254496" y="3337560"/>
            <a:ext cx="5358384" cy="1280160"/>
          </a:xfrm>
          <a:prstGeom prst="rect">
            <a:avLst/>
          </a:prstGeom>
          <a:solidFill>
            <a:srgbClr val="F7F7FB"/>
          </a:solidFill>
          <a:ln w="12700">
            <a:solidFill>
              <a:srgbClr val="F7F7FB"/>
            </a:solidFill>
            <a:prstDash val="solid"/>
          </a:ln>
        </p:spPr>
        <p:txBody>
          <a:bodyPr/>
          <a:p/>
        </p:txBody>
      </p:sp>
      <p:sp>
        <p:nvSpPr>
          <p:cNvPr id="15" name="Text 12"/>
          <p:cNvSpPr txBox="1"/>
          <p:nvPr/>
        </p:nvSpPr>
        <p:spPr>
          <a:xfrm>
            <a:off x="6446520" y="344728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2</a:t>
            </a:r>
            <a:endParaRPr lang="en-US" sz="2600" dirty="0"/>
          </a:p>
        </p:txBody>
      </p:sp>
      <p:sp>
        <p:nvSpPr>
          <p:cNvPr id="16" name="Text 13"/>
          <p:cNvSpPr txBox="1"/>
          <p:nvPr/>
        </p:nvSpPr>
        <p:spPr>
          <a:xfrm>
            <a:off x="6995160" y="350215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Cache từ ngày đầu</a:t>
            </a:r>
            <a:endParaRPr lang="en-US" sz="1300" dirty="0"/>
          </a:p>
        </p:txBody>
      </p:sp>
      <p:sp>
        <p:nvSpPr>
          <p:cNvPr id="17" name="Text 14"/>
          <p:cNvSpPr txBox="1"/>
          <p:nvPr/>
        </p:nvSpPr>
        <p:spPr>
          <a:xfrm>
            <a:off x="6995160" y="384048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Không có cache thì mỗi lần chạy lại 100 câu phải làm từ đầu, khiến thí nghiệm khó lặp lại.</a:t>
            </a:r>
            <a:endParaRPr lang="en-US" sz="1200" dirty="0"/>
          </a:p>
        </p:txBody>
      </p:sp>
      <p:sp>
        <p:nvSpPr>
          <p:cNvPr id="18" name="Shape 15"/>
          <p:cNvSpPr/>
          <p:nvPr/>
        </p:nvSpPr>
        <p:spPr>
          <a:xfrm>
            <a:off x="6254496" y="4754880"/>
            <a:ext cx="5358384" cy="1280160"/>
          </a:xfrm>
          <a:prstGeom prst="rect">
            <a:avLst/>
          </a:prstGeom>
          <a:solidFill>
            <a:srgbClr val="F7F7FB"/>
          </a:solidFill>
          <a:ln w="12700">
            <a:solidFill>
              <a:srgbClr val="F7F7FB"/>
            </a:solidFill>
            <a:prstDash val="solid"/>
          </a:ln>
        </p:spPr>
        <p:txBody>
          <a:bodyPr/>
          <a:p/>
        </p:txBody>
      </p:sp>
      <p:sp>
        <p:nvSpPr>
          <p:cNvPr id="19" name="Text 16"/>
          <p:cNvSpPr txBox="1"/>
          <p:nvPr/>
        </p:nvSpPr>
        <p:spPr>
          <a:xfrm>
            <a:off x="6446520" y="4864608"/>
            <a:ext cx="457200" cy="548640"/>
          </a:xfrm>
          <a:prstGeom prst="rect">
            <a:avLst/>
          </a:prstGeom>
          <a:noFill/>
          <a:ln/>
        </p:spPr>
        <p:txBody>
          <a:bodyPr wrap="square" lIns="0" tIns="0" rIns="0" bIns="0" rtlCol="0" anchor="t"/>
          <a:lstStyle/>
          <a:p>
            <a:pPr indent="0" marL="0">
              <a:buNone/>
            </a:pPr>
            <a:r>
              <a:rPr lang="en-US" sz="2600" b="1" dirty="0">
                <a:solidFill>
                  <a:srgbClr val="E9970B"/>
                </a:solidFill>
                <a:latin typeface="Cambria" pitchFamily="34" charset="0"/>
                <a:ea typeface="Cambria" pitchFamily="34" charset="-122"/>
                <a:cs typeface="Cambria" pitchFamily="34" charset="-120"/>
              </a:rPr>
              <a:t>3</a:t>
            </a:r>
            <a:endParaRPr lang="en-US" sz="2600" dirty="0"/>
          </a:p>
        </p:txBody>
      </p:sp>
      <p:sp>
        <p:nvSpPr>
          <p:cNvPr id="20" name="Text 17"/>
          <p:cNvSpPr txBox="1"/>
          <p:nvPr/>
        </p:nvSpPr>
        <p:spPr>
          <a:xfrm>
            <a:off x="6995160" y="4919472"/>
            <a:ext cx="4434840" cy="274320"/>
          </a:xfrm>
          <a:prstGeom prst="rect">
            <a:avLst/>
          </a:prstGeom>
          <a:noFill/>
          <a:ln/>
        </p:spPr>
        <p:txBody>
          <a:bodyPr wrap="square" lIns="0" tIns="0" rIns="0" bIns="0" rtlCol="0" anchor="t"/>
          <a:lstStyle/>
          <a:p>
            <a:pPr indent="0" marL="0">
              <a:buNone/>
            </a:pPr>
            <a:r>
              <a:rPr lang="en-US" sz="1700" b="1" dirty="0">
                <a:solidFill>
                  <a:srgbClr val="13123A"/>
                </a:solidFill>
                <a:latin typeface="Cambria" pitchFamily="34" charset="0"/>
                <a:ea typeface="Cambria" pitchFamily="34" charset="-122"/>
                <a:cs typeface="Cambria" pitchFamily="34" charset="-120"/>
              </a:rPr>
              <a:t>Chốt judge ngay tuần này</a:t>
            </a:r>
            <a:endParaRPr lang="en-US" sz="1300" dirty="0"/>
          </a:p>
        </p:txBody>
      </p:sp>
      <p:sp>
        <p:nvSpPr>
          <p:cNvPr id="21" name="Text 18"/>
          <p:cNvSpPr txBox="1"/>
          <p:nvPr/>
        </p:nvSpPr>
        <p:spPr>
          <a:xfrm>
            <a:off x="6995160" y="5257800"/>
            <a:ext cx="4434840" cy="731520"/>
          </a:xfrm>
          <a:prstGeom prst="rect">
            <a:avLst/>
          </a:prstGeom>
          <a:noFill/>
          <a:ln/>
        </p:spPr>
        <p:txBody>
          <a:bodyPr wrap="square" lIns="0" tIns="0" rIns="0" bIns="0" rtlCol="0" anchor="t"/>
          <a:lstStyle/>
          <a:p>
            <a:pPr indent="0" marL="0">
              <a:buNone/>
            </a:pPr>
            <a:r>
              <a:rPr lang="en-US" sz="1550" dirty="0">
                <a:solidFill>
                  <a:srgbClr val="4A4E63"/>
                </a:solidFill>
                <a:latin typeface="Calibri" pitchFamily="34" charset="0"/>
                <a:ea typeface="Calibri" pitchFamily="34" charset="-122"/>
                <a:cs typeface="Calibri" pitchFamily="34" charset="-120"/>
              </a:rPr>
              <a:t>Đổi prompt chấm giữa chừng làm mọi số đo trước đó mất giá trị so sánh.</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RỦI RO</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Rủi ro và biện pháp xử lý</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350" dirty="0">
                <a:solidFill>
                  <a:srgbClr val="6B6F82"/>
                </a:solidFill>
                <a:latin typeface="Calibri" pitchFamily="34" charset="0"/>
                <a:ea typeface="Calibri" pitchFamily="34" charset="-122"/>
                <a:cs typeface="Calibri" pitchFamily="34" charset="-120"/>
              </a:rPr>
              <a:t>Hạn mức Gemini theo tài liệu Google AI for Developers; tuần 2 đã chọn adapter đổi được sang Groq/Ollama trong một file.</a:t>
            </a:r>
            <a:endParaRPr lang="en-US" sz="1050" dirty="0"/>
          </a:p>
        </p:txBody>
      </p:sp>
      <p:sp>
        <p:nvSpPr>
          <p:cNvPr id="6" name="Text 3"/>
          <p:cNvSpPr txBox="1"/>
          <p:nvPr/>
        </p:nvSpPr>
        <p:spPr>
          <a:xfrm>
            <a:off x="822960" y="1664208"/>
            <a:ext cx="4572000" cy="237744"/>
          </a:xfrm>
          <a:prstGeom prst="rect">
            <a:avLst/>
          </a:prstGeom>
          <a:noFill/>
          <a:ln/>
        </p:spPr>
        <p:txBody>
          <a:bodyPr wrap="square" lIns="0" tIns="0" rIns="0" bIns="0" rtlCol="0" anchor="t"/>
          <a:lstStyle/>
          <a:p>
            <a:pPr indent="0" marL="0">
              <a:buNone/>
            </a:pPr>
            <a:r>
              <a:rPr lang="en-US" sz="1450" b="1" dirty="0">
                <a:solidFill>
                  <a:srgbClr val="B4432E"/>
                </a:solidFill>
                <a:latin typeface="Calibri" pitchFamily="34" charset="0"/>
                <a:ea typeface="Calibri" pitchFamily="34" charset="-122"/>
                <a:cs typeface="Calibri" pitchFamily="34" charset="-120"/>
              </a:rPr>
              <a:t>RỦI RO</a:t>
            </a:r>
            <a:endParaRPr lang="en-US" sz="1100" dirty="0"/>
          </a:p>
        </p:txBody>
      </p:sp>
      <p:sp>
        <p:nvSpPr>
          <p:cNvPr id="7" name="Text 4"/>
          <p:cNvSpPr txBox="1"/>
          <p:nvPr/>
        </p:nvSpPr>
        <p:spPr>
          <a:xfrm>
            <a:off x="6766560" y="1664208"/>
            <a:ext cx="45720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XỬ LÝ</a:t>
            </a:r>
            <a:endParaRPr lang="en-US" sz="1100" dirty="0"/>
          </a:p>
        </p:txBody>
      </p:sp>
      <p:sp>
        <p:nvSpPr>
          <p:cNvPr id="8" name="Shape 5"/>
          <p:cNvSpPr/>
          <p:nvPr/>
        </p:nvSpPr>
        <p:spPr>
          <a:xfrm>
            <a:off x="566928" y="1965960"/>
            <a:ext cx="5943600" cy="960120"/>
          </a:xfrm>
          <a:prstGeom prst="rect">
            <a:avLst/>
          </a:prstGeom>
          <a:solidFill>
            <a:srgbClr val="F7F7FB"/>
          </a:solidFill>
          <a:ln w="12700">
            <a:solidFill>
              <a:srgbClr val="F7F7FB"/>
            </a:solidFill>
            <a:prstDash val="solid"/>
          </a:ln>
        </p:spPr>
        <p:txBody>
          <a:bodyPr/>
          <a:p/>
        </p:txBody>
      </p:sp>
      <p:sp>
        <p:nvSpPr>
          <p:cNvPr id="9" name="Shape 6"/>
          <p:cNvSpPr/>
          <p:nvPr/>
        </p:nvSpPr>
        <p:spPr>
          <a:xfrm>
            <a:off x="6620256" y="1965960"/>
            <a:ext cx="4992624" cy="960120"/>
          </a:xfrm>
          <a:prstGeom prst="rect">
            <a:avLst/>
          </a:prstGeom>
          <a:solidFill>
            <a:srgbClr val="ECEBF7"/>
          </a:solidFill>
          <a:ln w="12700">
            <a:solidFill>
              <a:srgbClr val="ECEBF7"/>
            </a:solidFill>
            <a:prstDash val="solid"/>
          </a:ln>
        </p:spPr>
        <p:txBody>
          <a:bodyPr/>
          <a:p/>
        </p:txBody>
      </p:sp>
      <p:sp>
        <p:nvSpPr>
          <p:cNvPr id="10" name="Text 7"/>
          <p:cNvSpPr txBox="1"/>
          <p:nvPr/>
        </p:nvSpPr>
        <p:spPr>
          <a:xfrm>
            <a:off x="777240" y="1965960"/>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Hạn mức Gemini 1.500 lượt/ngày cạn giữa lúc chạy eval</a:t>
            </a:r>
            <a:endParaRPr lang="en-US" sz="1300" dirty="0"/>
          </a:p>
        </p:txBody>
      </p:sp>
      <p:sp>
        <p:nvSpPr>
          <p:cNvPr id="11" name="Text 8"/>
          <p:cNvSpPr txBox="1"/>
          <p:nvPr/>
        </p:nvSpPr>
        <p:spPr>
          <a:xfrm>
            <a:off x="6812280" y="1965960"/>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Cache trích xuất theo sha1(lượt); chạy lại eval không gọi lại LLM</a:t>
            </a:r>
            <a:endParaRPr lang="en-US" sz="1250" dirty="0"/>
          </a:p>
        </p:txBody>
      </p:sp>
      <p:sp>
        <p:nvSpPr>
          <p:cNvPr id="12" name="Shape 9"/>
          <p:cNvSpPr/>
          <p:nvPr/>
        </p:nvSpPr>
        <p:spPr>
          <a:xfrm>
            <a:off x="566928" y="3044952"/>
            <a:ext cx="5943600" cy="960120"/>
          </a:xfrm>
          <a:prstGeom prst="rect">
            <a:avLst/>
          </a:prstGeom>
          <a:solidFill>
            <a:srgbClr val="F7F7FB"/>
          </a:solidFill>
          <a:ln w="12700">
            <a:solidFill>
              <a:srgbClr val="F7F7FB"/>
            </a:solidFill>
            <a:prstDash val="solid"/>
          </a:ln>
        </p:spPr>
        <p:txBody>
          <a:bodyPr/>
          <a:p/>
        </p:txBody>
      </p:sp>
      <p:sp>
        <p:nvSpPr>
          <p:cNvPr id="13" name="Shape 10"/>
          <p:cNvSpPr/>
          <p:nvPr/>
        </p:nvSpPr>
        <p:spPr>
          <a:xfrm>
            <a:off x="6620256" y="3044952"/>
            <a:ext cx="4992624" cy="960120"/>
          </a:xfrm>
          <a:prstGeom prst="rect">
            <a:avLst/>
          </a:prstGeom>
          <a:solidFill>
            <a:srgbClr val="ECEBF7"/>
          </a:solidFill>
          <a:ln w="12700">
            <a:solidFill>
              <a:srgbClr val="ECEBF7"/>
            </a:solidFill>
            <a:prstDash val="solid"/>
          </a:ln>
        </p:spPr>
        <p:txBody>
          <a:bodyPr/>
          <a:p/>
        </p:txBody>
      </p:sp>
      <p:sp>
        <p:nvSpPr>
          <p:cNvPr id="14" name="Text 11"/>
          <p:cNvSpPr txBox="1"/>
          <p:nvPr/>
        </p:nvSpPr>
        <p:spPr>
          <a:xfrm>
            <a:off x="777240" y="3044952"/>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Phiên trong LongMemEval-S rất dài, trích xuất chậm</a:t>
            </a:r>
            <a:endParaRPr lang="en-US" sz="1300" dirty="0"/>
          </a:p>
        </p:txBody>
      </p:sp>
      <p:sp>
        <p:nvSpPr>
          <p:cNvPr id="15" name="Text 12"/>
          <p:cNvSpPr txBox="1"/>
          <p:nvPr/>
        </p:nvSpPr>
        <p:spPr>
          <a:xfrm>
            <a:off x="6812280" y="3044952"/>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Chạy 100 câu trước; đo tốc độ rồi quyết định mở rộng</a:t>
            </a:r>
            <a:endParaRPr lang="en-US" sz="1250" dirty="0"/>
          </a:p>
        </p:txBody>
      </p:sp>
      <p:sp>
        <p:nvSpPr>
          <p:cNvPr id="16" name="Shape 13"/>
          <p:cNvSpPr/>
          <p:nvPr/>
        </p:nvSpPr>
        <p:spPr>
          <a:xfrm>
            <a:off x="566928" y="4123944"/>
            <a:ext cx="5943600" cy="960120"/>
          </a:xfrm>
          <a:prstGeom prst="rect">
            <a:avLst/>
          </a:prstGeom>
          <a:solidFill>
            <a:srgbClr val="F7F7FB"/>
          </a:solidFill>
          <a:ln w="12700">
            <a:solidFill>
              <a:srgbClr val="F7F7FB"/>
            </a:solidFill>
            <a:prstDash val="solid"/>
          </a:ln>
        </p:spPr>
        <p:txBody>
          <a:bodyPr/>
          <a:p/>
        </p:txBody>
      </p:sp>
      <p:sp>
        <p:nvSpPr>
          <p:cNvPr id="17" name="Shape 14"/>
          <p:cNvSpPr/>
          <p:nvPr/>
        </p:nvSpPr>
        <p:spPr>
          <a:xfrm>
            <a:off x="6620256" y="4123944"/>
            <a:ext cx="4992624" cy="960120"/>
          </a:xfrm>
          <a:prstGeom prst="rect">
            <a:avLst/>
          </a:prstGeom>
          <a:solidFill>
            <a:srgbClr val="ECEBF7"/>
          </a:solidFill>
          <a:ln w="12700">
            <a:solidFill>
              <a:srgbClr val="ECEBF7"/>
            </a:solidFill>
            <a:prstDash val="solid"/>
          </a:ln>
        </p:spPr>
        <p:txBody>
          <a:bodyPr/>
          <a:p/>
        </p:txBody>
      </p:sp>
      <p:sp>
        <p:nvSpPr>
          <p:cNvPr id="18" name="Text 15"/>
          <p:cNvSpPr txBox="1"/>
          <p:nvPr/>
        </p:nvSpPr>
        <p:spPr>
          <a:xfrm>
            <a:off x="777240" y="4123944"/>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Lần tải đầu của BGE-M3 nặng</a:t>
            </a:r>
            <a:endParaRPr lang="en-US" sz="1300" dirty="0"/>
          </a:p>
        </p:txBody>
      </p:sp>
      <p:sp>
        <p:nvSpPr>
          <p:cNvPr id="19" name="Text 16"/>
          <p:cNvSpPr txBox="1"/>
          <p:nvPr/>
        </p:nvSpPr>
        <p:spPr>
          <a:xfrm>
            <a:off x="6812280" y="4123944"/>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Tải sẵn về máy, ghim phiên bản trong requirements.txt</a:t>
            </a:r>
            <a:endParaRPr lang="en-US" sz="1250" dirty="0"/>
          </a:p>
        </p:txBody>
      </p:sp>
      <p:sp>
        <p:nvSpPr>
          <p:cNvPr id="20" name="Shape 17"/>
          <p:cNvSpPr/>
          <p:nvPr/>
        </p:nvSpPr>
        <p:spPr>
          <a:xfrm>
            <a:off x="566928" y="5202936"/>
            <a:ext cx="5943600" cy="960120"/>
          </a:xfrm>
          <a:prstGeom prst="rect">
            <a:avLst/>
          </a:prstGeom>
          <a:solidFill>
            <a:srgbClr val="F7F7FB"/>
          </a:solidFill>
          <a:ln w="12700">
            <a:solidFill>
              <a:srgbClr val="F7F7FB"/>
            </a:solidFill>
            <a:prstDash val="solid"/>
          </a:ln>
        </p:spPr>
        <p:txBody>
          <a:bodyPr/>
          <a:p/>
        </p:txBody>
      </p:sp>
      <p:sp>
        <p:nvSpPr>
          <p:cNvPr id="21" name="Shape 18"/>
          <p:cNvSpPr/>
          <p:nvPr/>
        </p:nvSpPr>
        <p:spPr>
          <a:xfrm>
            <a:off x="6620256" y="5202936"/>
            <a:ext cx="4992624" cy="960120"/>
          </a:xfrm>
          <a:prstGeom prst="rect">
            <a:avLst/>
          </a:prstGeom>
          <a:solidFill>
            <a:srgbClr val="ECEBF7"/>
          </a:solidFill>
          <a:ln w="12700">
            <a:solidFill>
              <a:srgbClr val="ECEBF7"/>
            </a:solidFill>
            <a:prstDash val="solid"/>
          </a:ln>
        </p:spPr>
        <p:txBody>
          <a:bodyPr/>
          <a:p/>
        </p:txBody>
      </p:sp>
      <p:sp>
        <p:nvSpPr>
          <p:cNvPr id="22" name="Text 19"/>
          <p:cNvSpPr txBox="1"/>
          <p:nvPr/>
        </p:nvSpPr>
        <p:spPr>
          <a:xfrm>
            <a:off x="777240" y="5202936"/>
            <a:ext cx="5532120" cy="960120"/>
          </a:xfrm>
          <a:prstGeom prst="rect">
            <a:avLst/>
          </a:prstGeom>
          <a:noFill/>
          <a:ln/>
        </p:spPr>
        <p:txBody>
          <a:bodyPr wrap="square" lIns="0" tIns="0" rIns="0" bIns="0" rtlCol="0" anchor="ctr"/>
          <a:lstStyle/>
          <a:p>
            <a:pPr indent="0" marL="0">
              <a:buNone/>
            </a:pPr>
            <a:r>
              <a:rPr lang="en-US" sz="1700" b="1" dirty="0">
                <a:solidFill>
                  <a:srgbClr val="13123A"/>
                </a:solidFill>
                <a:latin typeface="Calibri" pitchFamily="34" charset="0"/>
                <a:ea typeface="Calibri" pitchFamily="34" charset="-122"/>
                <a:cs typeface="Calibri" pitchFamily="34" charset="-120"/>
              </a:rPr>
              <a:t>Hai người cùng sửa một file</a:t>
            </a:r>
            <a:endParaRPr lang="en-US" sz="1300" dirty="0"/>
          </a:p>
        </p:txBody>
      </p:sp>
      <p:sp>
        <p:nvSpPr>
          <p:cNvPr id="23" name="Text 20"/>
          <p:cNvSpPr txBox="1"/>
          <p:nvPr/>
        </p:nvSpPr>
        <p:spPr>
          <a:xfrm>
            <a:off x="6812280" y="5202936"/>
            <a:ext cx="4617720" cy="960120"/>
          </a:xfrm>
          <a:prstGeom prst="rect">
            <a:avLst/>
          </a:prstGeom>
          <a:noFill/>
          <a:ln/>
        </p:spPr>
        <p:txBody>
          <a:bodyPr wrap="square" lIns="0" tIns="0" rIns="0" bIns="0" rtlCol="0" anchor="ctr"/>
          <a:lstStyle/>
          <a:p>
            <a:pPr indent="0" marL="0">
              <a:buNone/>
            </a:pPr>
            <a:r>
              <a:rPr lang="en-US" sz="1600" dirty="0">
                <a:solidFill>
                  <a:srgbClr val="4A4E63"/>
                </a:solidFill>
                <a:latin typeface="Calibri" pitchFamily="34" charset="0"/>
                <a:ea typeface="Calibri" pitchFamily="34" charset="-122"/>
                <a:cs typeface="Calibri" pitchFamily="34" charset="-120"/>
              </a:rPr>
              <a:t>Kho ký ức và extractor ở hai thư mục riêng; giao diện là dataclass Fact đã cố định</a:t>
            </a:r>
            <a:endParaRPr lang="en-US" sz="125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71500" y="508000"/>
            <a:ext cx="8229600" cy="279400"/>
          </a:xfrm>
          <a:prstGeom prst="rect">
            <a:avLst/>
          </a:prstGeom>
          <a:noFill/>
        </p:spPr>
        <p:txBody>
          <a:bodyPr wrap="square" lIns="0" rIns="0" tIns="0" bIns="0" anchor="t">
            <a:spAutoFit/>
          </a:bodyPr>
          <a:lstStyle/>
          <a:p>
            <a:r>
              <a:rPr sz="1550" b="1">
                <a:solidFill>
                  <a:srgbClr val="3A36A0"/>
                </a:solidFill>
                <a:latin typeface="Calibri"/>
              </a:rPr>
              <a:t>KẾ HOẠCH THỰC HIỆN</a:t>
            </a:r>
          </a:p>
        </p:txBody>
      </p:sp>
      <p:sp>
        <p:nvSpPr>
          <p:cNvPr id="3" name="TextBox 2"/>
          <p:cNvSpPr txBox="1"/>
          <p:nvPr/>
        </p:nvSpPr>
        <p:spPr>
          <a:xfrm>
            <a:off x="571500" y="825500"/>
            <a:ext cx="11049000" cy="635000"/>
          </a:xfrm>
          <a:prstGeom prst="rect">
            <a:avLst/>
          </a:prstGeom>
          <a:noFill/>
        </p:spPr>
        <p:txBody>
          <a:bodyPr wrap="square" lIns="0" rIns="0" tIns="0" bIns="0" anchor="t">
            <a:spAutoFit/>
          </a:bodyPr>
          <a:lstStyle/>
          <a:p>
            <a:r>
              <a:rPr sz="3000" b="1">
                <a:solidFill>
                  <a:srgbClr val="13123A"/>
                </a:solidFill>
                <a:latin typeface="Cambria"/>
              </a:rPr>
              <a:t>Lộ trình 8 tuần — mỗi tuần gắn một nhóm năng lực</a:t>
            </a:r>
          </a:p>
        </p:txBody>
      </p:sp>
      <p:sp>
        <p:nvSpPr>
          <p:cNvPr id="4" name="TextBox 3"/>
          <p:cNvSpPr txBox="1"/>
          <p:nvPr/>
        </p:nvSpPr>
        <p:spPr>
          <a:xfrm>
            <a:off x="571500" y="6464300"/>
            <a:ext cx="11049000" cy="330200"/>
          </a:xfrm>
          <a:prstGeom prst="rect">
            <a:avLst/>
          </a:prstGeom>
          <a:noFill/>
        </p:spPr>
        <p:txBody>
          <a:bodyPr wrap="square" lIns="0" rIns="0" tIns="0" bIns="0" anchor="t">
            <a:spAutoFit/>
          </a:bodyPr>
          <a:lstStyle/>
          <a:p>
            <a:r>
              <a:rPr sz="1050" b="0">
                <a:solidFill>
                  <a:srgbClr val="6B6F82"/>
                </a:solidFill>
                <a:latin typeface="Calibri"/>
              </a:rPr>
              <a:t>Lộ trình do nhóm tự lập, đã điều chỉnh sau phản hồi tuần 1 để mỗi năng lực có một tuần chịu trách nhiệm. Tài liệu thiết kế có bảng cốt lõi / nên có / mở rộng định sẵn thứ tự cắt nếu thiếu thời gian.</a:t>
            </a:r>
          </a:p>
        </p:txBody>
      </p:sp>
      <p:sp>
        <p:nvSpPr>
          <p:cNvPr id="5" name="Rectangle 4"/>
          <p:cNvSpPr/>
          <p:nvPr/>
        </p:nvSpPr>
        <p:spPr>
          <a:xfrm>
            <a:off x="571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300" y="19558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1</a:t>
            </a:r>
          </a:p>
        </p:txBody>
      </p:sp>
      <p:sp>
        <p:nvSpPr>
          <p:cNvPr id="8" name="TextBox 7"/>
          <p:cNvSpPr txBox="1"/>
          <p:nvPr/>
        </p:nvSpPr>
        <p:spPr>
          <a:xfrm>
            <a:off x="1866900" y="1892300"/>
            <a:ext cx="2730500" cy="698500"/>
          </a:xfrm>
          <a:prstGeom prst="rect">
            <a:avLst/>
          </a:prstGeom>
          <a:noFill/>
        </p:spPr>
        <p:txBody>
          <a:bodyPr wrap="square" lIns="0" rIns="0" tIns="0" bIns="0" anchor="ctr">
            <a:spAutoFit/>
          </a:bodyPr>
          <a:lstStyle/>
          <a:p>
            <a:r>
              <a:rPr sz="1550" b="0">
                <a:solidFill>
                  <a:srgbClr val="20223A"/>
                </a:solidFill>
                <a:latin typeface="Calibri"/>
              </a:rPr>
              <a:t>Nghiên cứu nền tảng &amp; khảo sát liên quan; đặt vấn đề, phạm vi.</a:t>
            </a:r>
          </a:p>
        </p:txBody>
      </p:sp>
      <p:sp>
        <p:nvSpPr>
          <p:cNvPr id="9" name="TextBox 8"/>
          <p:cNvSpPr txBox="1"/>
          <p:nvPr/>
        </p:nvSpPr>
        <p:spPr>
          <a:xfrm>
            <a:off x="4724400" y="2108200"/>
            <a:ext cx="1079500" cy="279400"/>
          </a:xfrm>
          <a:prstGeom prst="rect">
            <a:avLst/>
          </a:prstGeom>
          <a:noFill/>
        </p:spPr>
        <p:txBody>
          <a:bodyPr wrap="square" lIns="0" rIns="0" tIns="0" bIns="0" anchor="t">
            <a:spAutoFit/>
          </a:bodyPr>
          <a:lstStyle/>
          <a:p>
            <a:r>
              <a:rPr sz="1250" b="1">
                <a:solidFill>
                  <a:srgbClr val="3A36A0"/>
                </a:solidFill>
                <a:latin typeface="Calibri"/>
              </a:rPr>
              <a:t>✓ xong</a:t>
            </a:r>
          </a:p>
        </p:txBody>
      </p:sp>
      <p:sp>
        <p:nvSpPr>
          <p:cNvPr id="10" name="Rectangle 9"/>
          <p:cNvSpPr/>
          <p:nvPr/>
        </p:nvSpPr>
        <p:spPr>
          <a:xfrm>
            <a:off x="571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300" y="29845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2</a:t>
            </a:r>
          </a:p>
        </p:txBody>
      </p:sp>
      <p:sp>
        <p:nvSpPr>
          <p:cNvPr id="13" name="TextBox 12"/>
          <p:cNvSpPr txBox="1"/>
          <p:nvPr/>
        </p:nvSpPr>
        <p:spPr>
          <a:xfrm>
            <a:off x="1866900" y="2921000"/>
            <a:ext cx="2730500" cy="698500"/>
          </a:xfrm>
          <a:prstGeom prst="rect">
            <a:avLst/>
          </a:prstGeom>
          <a:noFill/>
        </p:spPr>
        <p:txBody>
          <a:bodyPr wrap="square" lIns="0" rIns="0" tIns="0" bIns="0" anchor="ctr">
            <a:spAutoFit/>
          </a:bodyPr>
          <a:lstStyle/>
          <a:p>
            <a:r>
              <a:rPr sz="1500" b="0">
                <a:solidFill>
                  <a:srgbClr val="20223A"/>
                </a:solidFill>
                <a:latin typeface="Calibri"/>
              </a:rPr>
              <a:t>Rà soát benchmark; khung 8 năng lực; kiến trúc phân lớp; chốt công nghệ.</a:t>
            </a:r>
          </a:p>
        </p:txBody>
      </p:sp>
      <p:sp>
        <p:nvSpPr>
          <p:cNvPr id="14" name="TextBox 13"/>
          <p:cNvSpPr txBox="1"/>
          <p:nvPr/>
        </p:nvSpPr>
        <p:spPr>
          <a:xfrm>
            <a:off x="4724400" y="3136900"/>
            <a:ext cx="1079500" cy="279400"/>
          </a:xfrm>
          <a:prstGeom prst="rect">
            <a:avLst/>
          </a:prstGeom>
          <a:noFill/>
        </p:spPr>
        <p:txBody>
          <a:bodyPr wrap="square" lIns="0" rIns="0" tIns="0" bIns="0" anchor="t">
            <a:spAutoFit/>
          </a:bodyPr>
          <a:lstStyle/>
          <a:p>
            <a:r>
              <a:rPr sz="1250" b="1">
                <a:solidFill>
                  <a:srgbClr val="3A36A0"/>
                </a:solidFill>
                <a:latin typeface="Calibri"/>
              </a:rPr>
              <a:t>✓ xong</a:t>
            </a:r>
          </a:p>
        </p:txBody>
      </p:sp>
      <p:sp>
        <p:nvSpPr>
          <p:cNvPr id="15" name="Rectangle 14"/>
          <p:cNvSpPr/>
          <p:nvPr/>
        </p:nvSpPr>
        <p:spPr>
          <a:xfrm>
            <a:off x="571500" y="3835400"/>
            <a:ext cx="5334000" cy="927100"/>
          </a:xfrm>
          <a:prstGeom prst="rect">
            <a:avLst/>
          </a:prstGeom>
          <a:solidFill>
            <a:srgbClr val="131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9300" y="4013200"/>
            <a:ext cx="965200" cy="571500"/>
          </a:xfrm>
          <a:prstGeom prst="rect">
            <a:avLst/>
          </a:prstGeom>
          <a:solidFill>
            <a:srgbClr val="E997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300" y="4013200"/>
            <a:ext cx="965200" cy="571500"/>
          </a:xfrm>
          <a:prstGeom prst="rect">
            <a:avLst/>
          </a:prstGeom>
          <a:noFill/>
        </p:spPr>
        <p:txBody>
          <a:bodyPr wrap="square" lIns="0" rIns="0" tIns="0" bIns="0" anchor="ctr">
            <a:spAutoFit/>
          </a:bodyPr>
          <a:lstStyle/>
          <a:p>
            <a:pPr algn="ctr"/>
            <a:r>
              <a:rPr sz="1700" b="1">
                <a:solidFill>
                  <a:srgbClr val="13123A"/>
                </a:solidFill>
                <a:latin typeface="Calibri"/>
              </a:rPr>
              <a:t>Tuần 3</a:t>
            </a:r>
          </a:p>
        </p:txBody>
      </p:sp>
      <p:sp>
        <p:nvSpPr>
          <p:cNvPr id="18" name="TextBox 17"/>
          <p:cNvSpPr txBox="1"/>
          <p:nvPr/>
        </p:nvSpPr>
        <p:spPr>
          <a:xfrm>
            <a:off x="1866900" y="3949700"/>
            <a:ext cx="2794000" cy="698500"/>
          </a:xfrm>
          <a:prstGeom prst="rect">
            <a:avLst/>
          </a:prstGeom>
          <a:noFill/>
        </p:spPr>
        <p:txBody>
          <a:bodyPr wrap="square" lIns="0" rIns="0" tIns="0" bIns="0" anchor="ctr">
            <a:spAutoFit/>
          </a:bodyPr>
          <a:lstStyle/>
          <a:p>
            <a:r>
              <a:rPr sz="1500" b="0">
                <a:solidFill>
                  <a:srgbClr val="E7E8FB"/>
                </a:solidFill>
                <a:latin typeface="Calibri"/>
              </a:rPr>
              <a:t>Kho ký ức SQLite + chỉ mục dense; chạy đầu–cuối; dựng nhật ký vết.</a:t>
            </a:r>
          </a:p>
        </p:txBody>
      </p:sp>
      <p:sp>
        <p:nvSpPr>
          <p:cNvPr id="19" name="TextBox 18"/>
          <p:cNvSpPr txBox="1"/>
          <p:nvPr/>
        </p:nvSpPr>
        <p:spPr>
          <a:xfrm>
            <a:off x="4724400" y="4165600"/>
            <a:ext cx="1079500" cy="279400"/>
          </a:xfrm>
          <a:prstGeom prst="rect">
            <a:avLst/>
          </a:prstGeom>
          <a:noFill/>
        </p:spPr>
        <p:txBody>
          <a:bodyPr wrap="square" lIns="0" rIns="0" tIns="0" bIns="0" anchor="t">
            <a:spAutoFit/>
          </a:bodyPr>
          <a:lstStyle/>
          <a:p>
            <a:r>
              <a:rPr sz="1250" b="1">
                <a:solidFill>
                  <a:srgbClr val="E9970B"/>
                </a:solidFill>
                <a:latin typeface="Calibri"/>
              </a:rPr>
              <a:t>◀ đang ở đây</a:t>
            </a:r>
          </a:p>
        </p:txBody>
      </p:sp>
      <p:sp>
        <p:nvSpPr>
          <p:cNvPr id="20" name="Rectangle 19"/>
          <p:cNvSpPr/>
          <p:nvPr/>
        </p:nvSpPr>
        <p:spPr>
          <a:xfrm>
            <a:off x="571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9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300" y="50419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4</a:t>
            </a:r>
          </a:p>
        </p:txBody>
      </p:sp>
      <p:sp>
        <p:nvSpPr>
          <p:cNvPr id="23" name="TextBox 22"/>
          <p:cNvSpPr txBox="1"/>
          <p:nvPr/>
        </p:nvSpPr>
        <p:spPr>
          <a:xfrm>
            <a:off x="1866900" y="4978400"/>
            <a:ext cx="3886200" cy="698500"/>
          </a:xfrm>
          <a:prstGeom prst="rect">
            <a:avLst/>
          </a:prstGeom>
          <a:noFill/>
        </p:spPr>
        <p:txBody>
          <a:bodyPr wrap="square" lIns="0" rIns="0" tIns="0" bIns="0" anchor="ctr">
            <a:spAutoFit/>
          </a:bodyPr>
          <a:lstStyle/>
          <a:p>
            <a:r>
              <a:rPr sz="1500" b="0">
                <a:solidFill>
                  <a:srgbClr val="20223A"/>
                </a:solidFill>
                <a:latin typeface="Calibri"/>
              </a:rPr>
              <a:t>Slot + seq; ADD/UPDATE/DELETE/NOOP/CONFLICT; cổng nguồn gốc pending.</a:t>
            </a:r>
          </a:p>
        </p:txBody>
      </p:sp>
      <p:sp>
        <p:nvSpPr>
          <p:cNvPr id="24" name="Rectangle 23"/>
          <p:cNvSpPr/>
          <p:nvPr/>
        </p:nvSpPr>
        <p:spPr>
          <a:xfrm>
            <a:off x="6286500" y="17780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64300" y="19558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4300" y="19558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5</a:t>
            </a:r>
          </a:p>
        </p:txBody>
      </p:sp>
      <p:sp>
        <p:nvSpPr>
          <p:cNvPr id="27" name="TextBox 26"/>
          <p:cNvSpPr txBox="1"/>
          <p:nvPr/>
        </p:nvSpPr>
        <p:spPr>
          <a:xfrm>
            <a:off x="7581900" y="1892300"/>
            <a:ext cx="3886200" cy="698500"/>
          </a:xfrm>
          <a:prstGeom prst="rect">
            <a:avLst/>
          </a:prstGeom>
          <a:noFill/>
        </p:spPr>
        <p:txBody>
          <a:bodyPr wrap="square" lIns="0" rIns="0" tIns="0" bIns="0" anchor="ctr">
            <a:spAutoFit/>
          </a:bodyPr>
          <a:lstStyle/>
          <a:p>
            <a:r>
              <a:rPr sz="1550" b="0">
                <a:solidFill>
                  <a:srgbClr val="20223A"/>
                </a:solidFill>
                <a:latin typeface="Calibri"/>
              </a:rPr>
              <a:t>BM25 + hợp nhất RRF; tách truy vấn con; khoảng hiệu lực; ký ức pinned.</a:t>
            </a:r>
          </a:p>
        </p:txBody>
      </p:sp>
      <p:sp>
        <p:nvSpPr>
          <p:cNvPr id="28" name="Rectangle 27"/>
          <p:cNvSpPr/>
          <p:nvPr/>
        </p:nvSpPr>
        <p:spPr>
          <a:xfrm>
            <a:off x="6286500" y="28067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4300" y="29845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300" y="29845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6</a:t>
            </a:r>
          </a:p>
        </p:txBody>
      </p:sp>
      <p:sp>
        <p:nvSpPr>
          <p:cNvPr id="31" name="TextBox 30"/>
          <p:cNvSpPr txBox="1"/>
          <p:nvPr/>
        </p:nvSpPr>
        <p:spPr>
          <a:xfrm>
            <a:off x="7581900" y="2921000"/>
            <a:ext cx="3886200" cy="698500"/>
          </a:xfrm>
          <a:prstGeom prst="rect">
            <a:avLst/>
          </a:prstGeom>
          <a:noFill/>
        </p:spPr>
        <p:txBody>
          <a:bodyPr wrap="square" lIns="0" rIns="0" tIns="0" bIns="0" anchor="ctr">
            <a:spAutoFit/>
          </a:bodyPr>
          <a:lstStyle/>
          <a:p>
            <a:r>
              <a:rPr sz="1550" b="0">
                <a:solidFill>
                  <a:srgbClr val="20223A"/>
                </a:solidFill>
                <a:latin typeface="Calibri"/>
              </a:rPr>
              <a:t>Reranker; hiệu chỉnh ngưỡng từ chối; tóm tắt phiên; bộ test tiếng Việt.</a:t>
            </a:r>
          </a:p>
        </p:txBody>
      </p:sp>
      <p:sp>
        <p:nvSpPr>
          <p:cNvPr id="32" name="Rectangle 31"/>
          <p:cNvSpPr/>
          <p:nvPr/>
        </p:nvSpPr>
        <p:spPr>
          <a:xfrm>
            <a:off x="6286500" y="38354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64300" y="40132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4300" y="40132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7</a:t>
            </a:r>
          </a:p>
        </p:txBody>
      </p:sp>
      <p:sp>
        <p:nvSpPr>
          <p:cNvPr id="35" name="TextBox 34"/>
          <p:cNvSpPr txBox="1"/>
          <p:nvPr/>
        </p:nvSpPr>
        <p:spPr>
          <a:xfrm>
            <a:off x="7581900" y="3949700"/>
            <a:ext cx="3886200" cy="698500"/>
          </a:xfrm>
          <a:prstGeom prst="rect">
            <a:avLst/>
          </a:prstGeom>
          <a:noFill/>
        </p:spPr>
        <p:txBody>
          <a:bodyPr wrap="square" lIns="0" rIns="0" tIns="0" bIns="0" anchor="ctr">
            <a:spAutoFit/>
          </a:bodyPr>
          <a:lstStyle/>
          <a:p>
            <a:r>
              <a:rPr sz="1550" b="0">
                <a:solidFill>
                  <a:srgbClr val="20223A"/>
                </a:solidFill>
                <a:latin typeface="Calibri"/>
              </a:rPr>
              <a:t>Chạy 5 cấu hình × 3 trục; phân tích lỗi từ nhật ký vết; tối ưu; demo.</a:t>
            </a:r>
          </a:p>
        </p:txBody>
      </p:sp>
      <p:sp>
        <p:nvSpPr>
          <p:cNvPr id="36" name="Rectangle 35"/>
          <p:cNvSpPr/>
          <p:nvPr/>
        </p:nvSpPr>
        <p:spPr>
          <a:xfrm>
            <a:off x="6286500" y="4864100"/>
            <a:ext cx="5334000" cy="927100"/>
          </a:xfrm>
          <a:prstGeom prst="rect">
            <a:avLst/>
          </a:prstGeom>
          <a:solidFill>
            <a:srgbClr val="F1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64300" y="5041900"/>
            <a:ext cx="965200" cy="571500"/>
          </a:xfrm>
          <a:prstGeom prst="rect">
            <a:avLst/>
          </a:prstGeom>
          <a:solidFill>
            <a:srgbClr val="3A36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64300" y="5041900"/>
            <a:ext cx="965200" cy="571500"/>
          </a:xfrm>
          <a:prstGeom prst="rect">
            <a:avLst/>
          </a:prstGeom>
          <a:noFill/>
        </p:spPr>
        <p:txBody>
          <a:bodyPr wrap="square" lIns="0" rIns="0" tIns="0" bIns="0" anchor="ctr">
            <a:spAutoFit/>
          </a:bodyPr>
          <a:lstStyle/>
          <a:p>
            <a:pPr algn="ctr"/>
            <a:r>
              <a:rPr sz="1700" b="1">
                <a:solidFill>
                  <a:srgbClr val="FFFFFF"/>
                </a:solidFill>
                <a:latin typeface="Calibri"/>
              </a:rPr>
              <a:t>Tuần 8</a:t>
            </a:r>
          </a:p>
        </p:txBody>
      </p:sp>
      <p:sp>
        <p:nvSpPr>
          <p:cNvPr id="39" name="TextBox 38"/>
          <p:cNvSpPr txBox="1"/>
          <p:nvPr/>
        </p:nvSpPr>
        <p:spPr>
          <a:xfrm>
            <a:off x="7581900" y="4978400"/>
            <a:ext cx="3886200" cy="698500"/>
          </a:xfrm>
          <a:prstGeom prst="rect">
            <a:avLst/>
          </a:prstGeom>
          <a:noFill/>
        </p:spPr>
        <p:txBody>
          <a:bodyPr wrap="square" lIns="0" rIns="0" tIns="0" bIns="0" anchor="ctr">
            <a:spAutoFit/>
          </a:bodyPr>
          <a:lstStyle/>
          <a:p>
            <a:r>
              <a:rPr sz="1550" b="0">
                <a:solidFill>
                  <a:srgbClr val="20223A"/>
                </a:solidFill>
                <a:latin typeface="Calibri"/>
              </a:rPr>
              <a:t>Viết báo cáo &amp; tài liệu; đóng gói mã nguồn; chuẩn bị trình bày cuối.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02920"/>
            <a:ext cx="8229600" cy="283464"/>
          </a:xfrm>
          <a:prstGeom prst="rect">
            <a:avLst/>
          </a:prstGeom>
          <a:noFill/>
          <a:ln/>
        </p:spPr>
        <p:txBody>
          <a:bodyPr wrap="square" lIns="0" tIns="0" rIns="0" bIns="0" rtlCol="0" anchor="t"/>
          <a:lstStyle/>
          <a:p>
            <a:pPr indent="0" marL="0">
              <a:buNone/>
            </a:pPr>
            <a:r>
              <a:rPr lang="en-US" sz="1550" b="1" dirty="0">
                <a:solidFill>
                  <a:srgbClr val="3A36A0"/>
                </a:solidFill>
                <a:latin typeface="Calibri" pitchFamily="34" charset="0"/>
                <a:ea typeface="Calibri" pitchFamily="34" charset="-122"/>
                <a:cs typeface="Calibri" pitchFamily="34" charset="-120"/>
              </a:rPr>
              <a:t>TIẾN ĐỘ · XIN Ý KIẾN MENTOR</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t"/>
          <a:lstStyle/>
          <a:p>
            <a:pPr indent="0" marL="0">
              <a:buNone/>
            </a:pPr>
            <a:r>
              <a:rPr lang="en-US" sz="3000" b="1" dirty="0">
                <a:solidFill>
                  <a:srgbClr val="13123A"/>
                </a:solidFill>
                <a:latin typeface="Cambria" pitchFamily="34" charset="0"/>
                <a:ea typeface="Cambria" pitchFamily="34" charset="-122"/>
                <a:cs typeface="Cambria" pitchFamily="34" charset="-120"/>
              </a:rPr>
              <a:t>Tiến độ và hai vấn đề xin ý kiến</a:t>
            </a:r>
            <a:endParaRPr lang="en-US" sz="3000" dirty="0"/>
          </a:p>
        </p:txBody>
      </p:sp>
      <p:sp>
        <p:nvSpPr>
          <p:cNvPr id="4" name="Text 2"/>
          <p:cNvSpPr txBox="1"/>
          <p:nvPr/>
        </p:nvSpPr>
        <p:spPr>
          <a:xfrm>
            <a:off x="566928" y="6464808"/>
            <a:ext cx="11045952" cy="329184"/>
          </a:xfrm>
          <a:prstGeom prst="rect">
            <a:avLst/>
          </a:prstGeom>
          <a:noFill/>
          <a:ln/>
        </p:spPr>
        <p:txBody>
          <a:bodyPr wrap="square" lIns="0" tIns="0" rIns="0" bIns="0" rtlCol="0" anchor="t"/>
          <a:lstStyle/>
          <a:p>
            <a:pPr indent="0" marL="0">
              <a:buNone/>
            </a:pPr>
            <a:r>
              <a:rPr lang="en-US" sz="1200" dirty="0">
                <a:solidFill>
                  <a:srgbClr val="6B6F82"/>
                </a:solidFill>
                <a:latin typeface="Calibri" pitchFamily="34" charset="0"/>
                <a:ea typeface="Calibri" pitchFamily="34" charset="-122"/>
                <a:cs typeface="Calibri" pitchFamily="34" charset="-120"/>
              </a:rPr>
              <a:t>Kho ký ức, schema, test, ghi chú kế hoạch (Tuan 3/Step1Structure) và ba notebook (Tuan 3/DataExplore) đã được đưa lên kho chung của nhóm.</a:t>
            </a:r>
            <a:endParaRPr lang="en-US" sz="1050" dirty="0"/>
          </a:p>
        </p:txBody>
      </p:sp>
      <p:sp>
        <p:nvSpPr>
          <p:cNvPr id="6" name="Shape 3"/>
          <p:cNvSpPr/>
          <p:nvPr/>
        </p:nvSpPr>
        <p:spPr>
          <a:xfrm>
            <a:off x="566928" y="1673352"/>
            <a:ext cx="5358384" cy="2011680"/>
          </a:xfrm>
          <a:prstGeom prst="rect">
            <a:avLst/>
          </a:prstGeom>
          <a:solidFill>
            <a:srgbClr val="ECEBF7"/>
          </a:solidFill>
          <a:ln w="12700">
            <a:solidFill>
              <a:srgbClr val="ECEBF7"/>
            </a:solidFill>
            <a:prstDash val="solid"/>
          </a:ln>
        </p:spPr>
        <p:txBody>
          <a:bodyPr/>
          <a:p/>
        </p:txBody>
      </p:sp>
      <p:sp>
        <p:nvSpPr>
          <p:cNvPr id="7" name="Text 4"/>
          <p:cNvSpPr txBox="1"/>
          <p:nvPr/>
        </p:nvSpPr>
        <p:spPr>
          <a:xfrm>
            <a:off x="822960" y="1828800"/>
            <a:ext cx="4846320" cy="237744"/>
          </a:xfrm>
          <a:prstGeom prst="rect">
            <a:avLst/>
          </a:prstGeom>
          <a:noFill/>
          <a:ln/>
        </p:spPr>
        <p:txBody>
          <a:bodyPr wrap="square" lIns="0" tIns="0" rIns="0" bIns="0" rtlCol="0" anchor="t"/>
          <a:lstStyle/>
          <a:p>
            <a:pPr indent="0" marL="0">
              <a:buNone/>
            </a:pPr>
            <a:r>
              <a:rPr lang="en-US" sz="1450" b="1" dirty="0">
                <a:solidFill>
                  <a:srgbClr val="3A36A0"/>
                </a:solidFill>
                <a:latin typeface="Calibri" pitchFamily="34" charset="0"/>
                <a:ea typeface="Calibri" pitchFamily="34" charset="-122"/>
                <a:cs typeface="Calibri" pitchFamily="34" charset="-120"/>
              </a:rPr>
              <a:t>ĐÃ XONG</a:t>
            </a:r>
            <a:endParaRPr lang="en-US" sz="1100" dirty="0"/>
          </a:p>
        </p:txBody>
      </p:sp>
      <p:sp>
        <p:nvSpPr>
          <p:cNvPr id="8" name="Text 5"/>
          <p:cNvSpPr txBox="1"/>
          <p:nvPr/>
        </p:nvSpPr>
        <p:spPr>
          <a:xfrm>
            <a:off x="822960" y="2121408"/>
            <a:ext cx="484632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Kho ký ức SQLite: schema + ledger + 16 test xanh</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3 notebook trên LongMemEval-S: khảo sát + chia dev/test, nhúng BGE-M3, Recall@k trên dev</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Kế hoạch chi tiết 7 ngày, 11 file mã nguồn</a:t>
            </a:r>
            <a:endParaRPr lang="en-US" sz="1250" dirty="0"/>
          </a:p>
        </p:txBody>
      </p:sp>
      <p:sp>
        <p:nvSpPr>
          <p:cNvPr id="9" name="Shape 6"/>
          <p:cNvSpPr/>
          <p:nvPr/>
        </p:nvSpPr>
        <p:spPr>
          <a:xfrm>
            <a:off x="6254496" y="1673352"/>
            <a:ext cx="5358384" cy="2011680"/>
          </a:xfrm>
          <a:prstGeom prst="rect">
            <a:avLst/>
          </a:prstGeom>
          <a:solidFill>
            <a:srgbClr val="F7F7FB"/>
          </a:solidFill>
          <a:ln w="12700">
            <a:solidFill>
              <a:srgbClr val="F7F7FB"/>
            </a:solidFill>
            <a:prstDash val="solid"/>
          </a:ln>
        </p:spPr>
        <p:txBody>
          <a:bodyPr/>
          <a:p/>
        </p:txBody>
      </p:sp>
      <p:sp>
        <p:nvSpPr>
          <p:cNvPr id="10" name="Text 7"/>
          <p:cNvSpPr txBox="1"/>
          <p:nvPr/>
        </p:nvSpPr>
        <p:spPr>
          <a:xfrm>
            <a:off x="6510528" y="1828800"/>
            <a:ext cx="4846320" cy="237744"/>
          </a:xfrm>
          <a:prstGeom prst="rect">
            <a:avLst/>
          </a:prstGeom>
          <a:noFill/>
          <a:ln/>
        </p:spPr>
        <p:txBody>
          <a:bodyPr wrap="square" lIns="0" tIns="0" rIns="0" bIns="0" rtlCol="0" anchor="t"/>
          <a:lstStyle/>
          <a:p>
            <a:pPr indent="0" marL="0">
              <a:buNone/>
            </a:pPr>
            <a:r>
              <a:rPr lang="en-US" sz="1450" b="1" dirty="0">
                <a:solidFill>
                  <a:srgbClr val="E9970B"/>
                </a:solidFill>
                <a:latin typeface="Calibri" pitchFamily="34" charset="0"/>
                <a:ea typeface="Calibri" pitchFamily="34" charset="-122"/>
                <a:cs typeface="Calibri" pitchFamily="34" charset="-120"/>
              </a:rPr>
              <a:t>CÒN LẠI TRONG TUẦN 3</a:t>
            </a:r>
            <a:endParaRPr lang="en-US" sz="1100" dirty="0"/>
          </a:p>
        </p:txBody>
      </p:sp>
      <p:sp>
        <p:nvSpPr>
          <p:cNvPr id="11" name="Text 8"/>
          <p:cNvSpPr txBox="1"/>
          <p:nvPr/>
        </p:nvSpPr>
        <p:spPr>
          <a:xfrm>
            <a:off x="6510528" y="2121408"/>
            <a:ext cx="484632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Adapter, FactExtractor, chỉ mục Chroma, agent</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Bộ đánh giá: loader, judge, run.py</a:t>
            </a:r>
            <a:endParaRPr lang="en-US" sz="1250" dirty="0"/>
          </a:p>
          <a:p>
            <a:pPr marL="342900" indent="-342900">
              <a:spcAft>
                <a:spcPts val="600"/>
              </a:spcAft>
              <a:buSzPct val="100000"/>
              <a:buChar char="•"/>
            </a:pPr>
            <a:r>
              <a:rPr lang="en-US" sz="1600" dirty="0">
                <a:solidFill>
                  <a:srgbClr val="4A4E63"/>
                </a:solidFill>
                <a:latin typeface="Calibri" pitchFamily="34" charset="0"/>
                <a:ea typeface="Calibri" pitchFamily="34" charset="-122"/>
                <a:cs typeface="Calibri" pitchFamily="34" charset="-120"/>
              </a:rPr>
              <a:t>Chạy 100 câu và phân loại lỗi → đường cơ sở đầu tiên</a:t>
            </a:r>
            <a:endParaRPr lang="en-US" sz="1250" dirty="0"/>
          </a:p>
        </p:txBody>
      </p:sp>
      <p:sp>
        <p:nvSpPr>
          <p:cNvPr id="12" name="Shape 9"/>
          <p:cNvSpPr/>
          <p:nvPr/>
        </p:nvSpPr>
        <p:spPr>
          <a:xfrm>
            <a:off x="566928" y="3931920"/>
            <a:ext cx="11045952" cy="2286000"/>
          </a:xfrm>
          <a:prstGeom prst="rect">
            <a:avLst/>
          </a:prstGeom>
          <a:solidFill>
            <a:srgbClr val="13123A"/>
          </a:solidFill>
          <a:ln w="12700">
            <a:solidFill>
              <a:srgbClr val="13123A"/>
            </a:solidFill>
            <a:prstDash val="solid"/>
          </a:ln>
        </p:spPr>
        <p:txBody>
          <a:bodyPr/>
          <a:p/>
        </p:txBody>
      </p:sp>
      <p:sp>
        <p:nvSpPr>
          <p:cNvPr id="13" name="Text 10"/>
          <p:cNvSpPr txBox="1"/>
          <p:nvPr/>
        </p:nvSpPr>
        <p:spPr>
          <a:xfrm>
            <a:off x="822960" y="4114800"/>
            <a:ext cx="5486400" cy="237744"/>
          </a:xfrm>
          <a:prstGeom prst="rect">
            <a:avLst/>
          </a:prstGeom>
          <a:noFill/>
          <a:ln/>
        </p:spPr>
        <p:txBody>
          <a:bodyPr wrap="square" lIns="0" tIns="0" rIns="0" bIns="0" rtlCol="0" anchor="t"/>
          <a:lstStyle/>
          <a:p>
            <a:pPr indent="0" marL="0">
              <a:buNone/>
            </a:pPr>
            <a:r>
              <a:rPr lang="en-US" sz="1450" b="1" dirty="0">
                <a:solidFill>
                  <a:srgbClr val="1FA6A6"/>
                </a:solidFill>
                <a:latin typeface="Calibri" pitchFamily="34" charset="0"/>
                <a:ea typeface="Calibri" pitchFamily="34" charset="-122"/>
                <a:cs typeface="Calibri" pitchFamily="34" charset="-120"/>
              </a:rPr>
              <a:t>HAI VẤN ĐỀ XIN Ý KIẾN MENTOR</a:t>
            </a:r>
            <a:endParaRPr lang="en-US" sz="1100" dirty="0"/>
          </a:p>
        </p:txBody>
      </p:sp>
      <p:sp>
        <p:nvSpPr>
          <p:cNvPr id="14" name="Text 11"/>
          <p:cNvSpPr txBox="1"/>
          <p:nvPr/>
        </p:nvSpPr>
        <p:spPr>
          <a:xfrm>
            <a:off x="822960" y="4434840"/>
            <a:ext cx="10515600" cy="1645920"/>
          </a:xfrm>
          <a:prstGeom prst="rect">
            <a:avLst/>
          </a:prstGeom>
          <a:noFill/>
          <a:ln/>
        </p:spPr>
        <p:txBody>
          <a:bodyPr wrap="square" lIns="0" tIns="0" rIns="0" bIns="0" rtlCol="0" anchor="t"/>
          <a:lstStyle/>
          <a:p>
            <a:pPr indent="0" marL="0">
              <a:spcAft>
                <a:spcPts val="1000"/>
              </a:spcAft>
              <a:buNone/>
            </a:pPr>
            <a:r>
              <a:rPr lang="en-US" sz="1700" dirty="0">
                <a:solidFill>
                  <a:srgbClr val="EFEFFA"/>
                </a:solidFill>
                <a:latin typeface="Calibri" pitchFamily="34" charset="0"/>
                <a:ea typeface="Calibri" pitchFamily="34" charset="-122"/>
                <a:cs typeface="Calibri" pitchFamily="34" charset="-120"/>
              </a:rPr>
              <a:t>1. Với đường cơ sở LongMemEval-S (100 câu dev): nên mở rộng ngay lên toàn bộ tập, hay giữ 100 câu đến khi có reranker (tuần 6) rồi mới chạy toàn bộ?</a:t>
            </a:r>
            <a:endParaRPr lang="en-US" sz="1300" dirty="0"/>
          </a:p>
          <a:p>
            <a:pPr indent="0" marL="0">
              <a:buNone/>
            </a:pPr>
            <a:r>
              <a:rPr lang="en-US" sz="1700" dirty="0">
                <a:solidFill>
                  <a:srgbClr val="EFEFFA"/>
                </a:solidFill>
                <a:latin typeface="Calibri" pitchFamily="34" charset="0"/>
                <a:ea typeface="Calibri" pitchFamily="34" charset="-122"/>
                <a:cs typeface="Calibri" pitchFamily="34" charset="-120"/>
              </a:rPr>
              <a:t>2. Với cấu hình đối chứng llm-judge (LLM tự chọn bản mới nhất thay cho max(seq)): có đáng dành thời gian chạy, hay coi cơ chế tất định là hiển nhiên đúng và bỏ cấu hình này?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2026-09-21T10:14:05Z</dcterms:created>
  <dcterms:modified xsi:type="dcterms:W3CDTF">2026-09-21T10:14:05Z</dcterms:modified>
</cp:coreProperties>
</file>