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6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4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Ba phần: trả lời phản hồi về benchmark, trình bày khung chín năng lực và kiến trúc phân lớp, chốt công nghệ. Điểm mới lớn nhất so với tuần 1: hệ thống dùng được cả tiếng Việt lẫn tiếng Anh, và toàn bộ hạ tầng miễn phí.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trả lời trực tiếp câu hỏi tuần trước. Nói rõ đã tra lại từng benchmark. Điểm nối sang phần sau: cả ba benchmark đều tiếng Anh, nên làm song ngữ không phải để cho oai mà để chạy được benchmark chuẩn.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định vị quan trọng nhất. Đề tài nhắm tới hệ HOÀN CHỈNH: mỗi năng lực có một thành phần và một tuần cụ thể. Cập nhật kiến thức chỉ là một dòng trong chín dòng. Dòng ghi chú cuối slide: nhất quán xuyên ngữ là hướng mở rộng, kiến trúc để sẵn chỗ nhưng không nằm trong mục tiêu 8 tuần — nói rõ điều này để tránh bị hiểu là nhóm ôm quá nhiều. Nếu bị hỏi có kịp không: mỗi năng lực chỉ cần chạy được và có test, không cần đạt SOTA; tài liệu thiết kế có bảng cốt lõi / nên có / mở rộng định sẵn thứ tự cắt.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lớp. Điểm cần nhấn: L4 tách SQLite làm sổ cái, Chroma chỉ là chỉ mục. Đây là thay đổi so với bản tuần trước và có ba lý do cụ thể trong khối tối. Hàng XUYÊN SUỐT là các mối quan tâm cắt ngang mọi lớp — đặc biệt là ngôn ngữ, sẽ nói ở slide sau.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ngôn ngữ là mối quan tâm xuyên suốt chứ không phải tính năng gắn thêm. Ba việc ở tầng ghi là CỐT LÕI và phải làm. Chỉ mục kép là mở rộng, chỉ nêu cho đầy đủ kiến trúc. Điểm nguy hiểm nhất cần nêu: khóa slot lẫn hai ngôn ngữ là lỗi IM LẶNG — hệ vẫn chạy, chỉ là không bao giờ phát hiện được cập nhật. Vì vậy có ba lớp bảo vệ và một test riêng cho nó.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Lược đồ có thêm ba nhóm trường so với tuần trước: văn bản song ngữ, trạng thái pending, và nhóm nguồn gốc. Khối tối là điểm đáng nói nhất — đây là một luật kiến trúc ngăn hệ tự đầu độc theo thời gian, không phải tiểu tiết kỹ thuật.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được thiết kế lại nhiều nhất. Nếu thầy/cô hỏi vì sao phức tạp hơn RAG thường: vì cosine của hai câu bất kỳ đã nằm quanh 0,7–0,8 nên không đặt ngưỡng từ chối lên nó được — cần điểm của cross-encoder. Chi phí rerank chỉ trên 30 ứng viên, vài chục ms trên CPU, và có cấu hình no-rerank để đo đóng góp.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pha. Hai điểm mới so với tuần trước: pha 1 trích từ cả hai phía hội thoại, và pha 3 có thêm rerank. Pha 2 vẫn hoàn toàn không gọi mô hình — đó là nguyên tắc số một của thiết kế.</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ngay: đây là MỘT trong tám năng lực, không phải toàn bộ đề tài. Phân biệt cập nhật (có thứ tự thời gian) với mâu thuẫn (không có). BEAM chấm chúng như hai năng lực riêng nên nhóm cũng tách.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đổi so với dự kiến tuần 1: bỏ OpenAI, chuyển sang Gemini gói miễn phí; thêm SQLite làm sổ cái; thêm reranker và BM25. Điểm đáng nói nhất vẫn là quyết định để embedding và reranker chạy local — không phải để tiết kiệm mà vì cấu trúc lời gọi.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trục áp cho cả tám năng lực. Hai điểm dễ bị bỏ qua: phải tách số liệu theo ngôn ngữ vì token tiếng Việt tốn gấp đôi; và phải có nhật ký vết từ tuần 3, nếu để tới tuần 7 mới thêm thì không còn dữ liệu để phân tích.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câu 'rốt cuộc so với cái gì'. Bốn tầng, và quan trọng là chúng KHÁC vai trò chứ không phải bốn cách đo cùng một thứ. Tầng 2 là phần chính. Tầng 3 là thứ đáng nói nhất vì nó tách được lỗi truy xuất khỏi lỗi sinh — nếu anh mentor chỉ nhớ một ý từ slide này thì nên là ý đó. Tầng 4 phải nói rõ là chỉ tham khảo, trừ khi nhóm tự chạy lại được.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trả lời trực tiếp câu anh hỏi tuần này. Ba ý theo thứ tự: (1) anh đúng, không tối ưu cho cả ba được; (2) ba bộ khác VAI TRÒ chứ không phải ba bản sao — dev / chẩn đoán / khái quát hóa; (3) ngay trong LongMemEval cũng phải chia dev-test, vì quét tham số 50 lần trên cả 500 câu rồi báo cáo trên chính 500 câu đó là overfit. Nếu bị hỏi 'có train gì đâu mà overfit' — trả lời: fit siêu tham số cũng là fit, chỉ chậm hơn fit trọng số.</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cho anh mentor thấy nhóm đã hình dung được sản phẩm cuối trông thế nào, chứ không phải làm tới đâu hay tới đó. Hai điều đáng nói: ACC là macro-average chứ không gộp, và dòng mem0 chỉ được nằm trong bảng nếu nhóm tự chạy lại được — nếu chỉ trích số công bố thì xuống phần chú thích.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đã sửa: mỗi tuần gắn với một nhóm năng lực cụ thể trong bảng slide 3, nên theo dõi tiến độ theo năng lực chứ không theo cảm tính. Nếu thầy/cô lo tám năng lực là quá rộng, chỉ ra bảng phạm vi trong tài liệu: cốt lõi phải xong, nên có là mục tiêu chính, mở rộng cắt trước.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buổi. Nhấn: tuần 2 đóng được phần thiết kế, và quan trọng hơn là đã khoanh phạm vi theo tám năng lực thay vì làm chung chung. Hai câu hỏi cuối là hỏi thật, đó là hai điểm nhóm chưa chắc.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23A"/>
        </a:solidFill>
        <a:effectLst/>
      </p:bgPr>
    </p:bg>
    <p:spTree>
      <p:nvGrpSpPr>
        <p:cNvPr id="1" name=""/>
        <p:cNvGrpSpPr/>
        <p:nvPr/>
      </p:nvGrpSpPr>
      <p:grpSpPr>
        <a:xfrm>
          <a:off x="0" y="0"/>
          <a:ext cx="0" cy="0"/>
          <a:chOff x="0" y="0"/>
          <a:chExt cx="0" cy="0"/>
        </a:xfrm>
      </p:grpSpPr>
      <p:sp>
        <p:nvSpPr>
          <p:cNvPr id="2" name="Shape 0"/>
          <p:cNvSpPr/>
          <p:nvPr/>
        </p:nvSpPr>
        <p:spPr>
          <a:xfrm>
            <a:off x="10195560" y="-914400"/>
            <a:ext cx="3108960" cy="3108960"/>
          </a:xfrm>
          <a:prstGeom prst="ellipse">
            <a:avLst/>
          </a:prstGeom>
          <a:solidFill>
            <a:srgbClr val="1E1C55"/>
          </a:solidFill>
          <a:ln w="12700">
            <a:solidFill>
              <a:srgbClr val="1E1C55"/>
            </a:solidFill>
            <a:prstDash val="solid"/>
          </a:ln>
        </p:spPr>
        <p:txBody>
          <a:bodyPr/>
          <a:lstStyle/>
          <a:p>
            <a:endParaRPr lang="en-US"/>
          </a:p>
        </p:txBody>
      </p:sp>
      <p:sp>
        <p:nvSpPr>
          <p:cNvPr id="3" name="Shape 1"/>
          <p:cNvSpPr/>
          <p:nvPr/>
        </p:nvSpPr>
        <p:spPr>
          <a:xfrm>
            <a:off x="11155680" y="5120640"/>
            <a:ext cx="2377440" cy="2377440"/>
          </a:xfrm>
          <a:prstGeom prst="ellipse">
            <a:avLst/>
          </a:prstGeom>
          <a:solidFill>
            <a:srgbClr val="1E1C55"/>
          </a:solidFill>
          <a:ln w="12700">
            <a:solidFill>
              <a:srgbClr val="1E1C55"/>
            </a:solidFill>
            <a:prstDash val="solid"/>
          </a:ln>
        </p:spPr>
        <p:txBody>
          <a:bodyPr/>
          <a:lstStyle/>
          <a:p>
            <a:endParaRPr lang="en-US"/>
          </a:p>
        </p:txBody>
      </p:sp>
      <p:sp>
        <p:nvSpPr>
          <p:cNvPr id="4" name="Shape 2"/>
          <p:cNvSpPr/>
          <p:nvPr/>
        </p:nvSpPr>
        <p:spPr>
          <a:xfrm>
            <a:off x="566928" y="1417320"/>
            <a:ext cx="1828800" cy="384048"/>
          </a:xfrm>
          <a:prstGeom prst="rect">
            <a:avLst/>
          </a:prstGeom>
          <a:solidFill>
            <a:srgbClr val="E9970B"/>
          </a:solidFill>
          <a:ln w="12700">
            <a:solidFill>
              <a:srgbClr val="E9970B"/>
            </a:solidFill>
            <a:prstDash val="solid"/>
          </a:ln>
        </p:spPr>
        <p:txBody>
          <a:bodyPr/>
          <a:lstStyle/>
          <a:p>
            <a:endParaRPr lang="en-US"/>
          </a:p>
        </p:txBody>
      </p:sp>
      <p:sp>
        <p:nvSpPr>
          <p:cNvPr id="5" name="Text 3"/>
          <p:cNvSpPr txBox="1"/>
          <p:nvPr/>
        </p:nvSpPr>
        <p:spPr>
          <a:xfrm>
            <a:off x="566928" y="1417320"/>
            <a:ext cx="1828800" cy="384048"/>
          </a:xfrm>
          <a:prstGeom prst="rect">
            <a:avLst/>
          </a:prstGeom>
          <a:noFill/>
          <a:ln/>
        </p:spPr>
        <p:txBody>
          <a:bodyPr wrap="square" lIns="0" tIns="0" rIns="0" bIns="0" rtlCol="0" anchor="ctr"/>
          <a:lstStyle/>
          <a:p>
            <a:pPr marL="0" indent="0" algn="ctr">
              <a:buNone/>
            </a:pPr>
            <a:r>
              <a:rPr lang="en-US" sz="1150" b="1" dirty="0">
                <a:solidFill>
                  <a:srgbClr val="13123A"/>
                </a:solidFill>
                <a:latin typeface="Calibri" pitchFamily="34" charset="0"/>
                <a:ea typeface="Calibri" pitchFamily="34" charset="-122"/>
                <a:cs typeface="Calibri" pitchFamily="34" charset="-120"/>
              </a:rPr>
              <a:t>BÁO CÁO TUẦN 2</a:t>
            </a:r>
            <a:endParaRPr lang="en-US" sz="1150" dirty="0"/>
          </a:p>
        </p:txBody>
      </p:sp>
      <p:sp>
        <p:nvSpPr>
          <p:cNvPr id="6" name="Text 4"/>
          <p:cNvSpPr txBox="1"/>
          <p:nvPr/>
        </p:nvSpPr>
        <p:spPr>
          <a:xfrm>
            <a:off x="566928" y="1965960"/>
            <a:ext cx="9692640" cy="1828800"/>
          </a:xfrm>
          <a:prstGeom prst="rect">
            <a:avLst/>
          </a:prstGeom>
          <a:noFill/>
          <a:ln/>
        </p:spPr>
        <p:txBody>
          <a:bodyPr wrap="square" lIns="0" tIns="0" rIns="0" bIns="0" rtlCol="0" anchor="ctr"/>
          <a:lstStyle/>
          <a:p>
            <a:pPr marL="0" indent="0">
              <a:lnSpc>
                <a:spcPct val="95000"/>
              </a:lnSpc>
              <a:buNone/>
            </a:pPr>
            <a:r>
              <a:rPr lang="en-US" sz="4600" b="1" dirty="0">
                <a:solidFill>
                  <a:srgbClr val="FFFFFF"/>
                </a:solidFill>
                <a:latin typeface="Cambria" pitchFamily="34" charset="0"/>
                <a:ea typeface="Cambria" pitchFamily="34" charset="-122"/>
                <a:cs typeface="Cambria" pitchFamily="34" charset="-120"/>
              </a:rPr>
              <a:t>Thiết kế kiến trúc</a:t>
            </a:r>
            <a:endParaRPr lang="en-US" sz="4600" dirty="0"/>
          </a:p>
          <a:p>
            <a:pPr>
              <a:lnSpc>
                <a:spcPct val="95000"/>
              </a:lnSpc>
            </a:pPr>
            <a:r>
              <a:rPr lang="en-US" sz="4600" b="1" dirty="0" err="1">
                <a:solidFill>
                  <a:srgbClr val="FFFFFF"/>
                </a:solidFill>
                <a:latin typeface="Cambria" pitchFamily="34" charset="0"/>
                <a:ea typeface="Cambria" pitchFamily="34" charset="-122"/>
              </a:rPr>
              <a:t>bộ</a:t>
            </a:r>
            <a:r>
              <a:rPr lang="en-US" sz="4600" b="1" dirty="0">
                <a:solidFill>
                  <a:srgbClr val="FFFFFF"/>
                </a:solidFill>
                <a:latin typeface="Cambria" pitchFamily="34" charset="0"/>
                <a:ea typeface="Cambria" pitchFamily="34" charset="-122"/>
              </a:rPr>
              <a:t> </a:t>
            </a:r>
            <a:r>
              <a:rPr lang="en-US" sz="4600" b="1" dirty="0" err="1">
                <a:solidFill>
                  <a:srgbClr val="FFFFFF"/>
                </a:solidFill>
                <a:latin typeface="Cambria" pitchFamily="34" charset="0"/>
                <a:ea typeface="Cambria" pitchFamily="34" charset="-122"/>
              </a:rPr>
              <a:t>nhớ</a:t>
            </a:r>
            <a:r>
              <a:rPr lang="en-US" sz="4600" b="1" dirty="0">
                <a:solidFill>
                  <a:srgbClr val="FFFFFF"/>
                </a:solidFill>
                <a:latin typeface="Cambria" pitchFamily="34" charset="0"/>
                <a:ea typeface="Cambria" pitchFamily="34" charset="-122"/>
              </a:rPr>
              <a:t> </a:t>
            </a:r>
            <a:r>
              <a:rPr lang="en-US" sz="4600" b="1" dirty="0" err="1">
                <a:solidFill>
                  <a:srgbClr val="FFFFFF"/>
                </a:solidFill>
                <a:latin typeface="Cambria" pitchFamily="34" charset="0"/>
                <a:ea typeface="Cambria" pitchFamily="34" charset="-122"/>
              </a:rPr>
              <a:t>dài</a:t>
            </a:r>
            <a:r>
              <a:rPr lang="en-US" sz="4600" b="1" dirty="0">
                <a:solidFill>
                  <a:srgbClr val="FFFFFF"/>
                </a:solidFill>
                <a:latin typeface="Cambria" pitchFamily="34" charset="0"/>
                <a:ea typeface="Cambria" pitchFamily="34" charset="-122"/>
              </a:rPr>
              <a:t> </a:t>
            </a:r>
            <a:r>
              <a:rPr lang="en-US" sz="4600" b="1" dirty="0" err="1">
                <a:solidFill>
                  <a:srgbClr val="FFFFFF"/>
                </a:solidFill>
                <a:latin typeface="Cambria" pitchFamily="34" charset="0"/>
                <a:ea typeface="Cambria" pitchFamily="34" charset="-122"/>
              </a:rPr>
              <a:t>hạn</a:t>
            </a:r>
            <a:endParaRPr lang="en-US" sz="4600" dirty="0"/>
          </a:p>
        </p:txBody>
      </p:sp>
      <p:sp>
        <p:nvSpPr>
          <p:cNvPr id="7" name="Text 5"/>
          <p:cNvSpPr txBox="1"/>
          <p:nvPr/>
        </p:nvSpPr>
        <p:spPr>
          <a:xfrm>
            <a:off x="566928" y="3886200"/>
            <a:ext cx="9692640" cy="548640"/>
          </a:xfrm>
          <a:prstGeom prst="rect">
            <a:avLst/>
          </a:prstGeom>
          <a:noFill/>
          <a:ln/>
        </p:spPr>
        <p:txBody>
          <a:bodyPr wrap="square" lIns="0" tIns="0" rIns="0" bIns="0" rtlCol="0" anchor="ctr"/>
          <a:lstStyle/>
          <a:p>
            <a:pPr marL="0" indent="0">
              <a:buNone/>
            </a:pPr>
            <a:r>
              <a:rPr lang="en-US" sz="1800" dirty="0">
                <a:solidFill>
                  <a:srgbClr val="C7C9E6"/>
                </a:solidFill>
                <a:latin typeface="Calibri" pitchFamily="34" charset="0"/>
                <a:ea typeface="Calibri" pitchFamily="34" charset="-122"/>
                <a:cs typeface="Calibri" pitchFamily="34" charset="-120"/>
              </a:rPr>
              <a:t>Tám năng lực · kiến trúc phân lớp · công nghệ miễn phí đã chốt</a:t>
            </a:r>
            <a:endParaRPr lang="en-US" sz="1800" dirty="0"/>
          </a:p>
        </p:txBody>
      </p:sp>
      <p:sp>
        <p:nvSpPr>
          <p:cNvPr id="8" name="Shape 6"/>
          <p:cNvSpPr/>
          <p:nvPr/>
        </p:nvSpPr>
        <p:spPr>
          <a:xfrm>
            <a:off x="566928" y="4892040"/>
            <a:ext cx="3840480" cy="0"/>
          </a:xfrm>
          <a:prstGeom prst="line">
            <a:avLst/>
          </a:prstGeom>
          <a:noFill/>
          <a:ln w="25400">
            <a:solidFill>
              <a:srgbClr val="1FA6A6"/>
            </a:solidFill>
            <a:prstDash val="solid"/>
          </a:ln>
        </p:spPr>
        <p:txBody>
          <a:bodyPr/>
          <a:lstStyle/>
          <a:p>
            <a:endParaRPr lang="en-US"/>
          </a:p>
        </p:txBody>
      </p:sp>
      <p:sp>
        <p:nvSpPr>
          <p:cNvPr id="9" name="Text 7"/>
          <p:cNvSpPr txBox="1"/>
          <p:nvPr/>
        </p:nvSpPr>
        <p:spPr>
          <a:xfrm>
            <a:off x="566928" y="5074920"/>
            <a:ext cx="10515600" cy="365760"/>
          </a:xfrm>
          <a:prstGeom prst="rect">
            <a:avLst/>
          </a:prstGeom>
          <a:noFill/>
          <a:ln/>
        </p:spPr>
        <p:txBody>
          <a:bodyPr wrap="square" lIns="0" tIns="0" rIns="0" bIns="0" rtlCol="0" anchor="ctr"/>
          <a:lstStyle/>
          <a:p>
            <a:r>
              <a:rPr lang="en-US" sz="1350" b="1" dirty="0">
                <a:solidFill>
                  <a:srgbClr val="FFFFFF"/>
                </a:solidFill>
                <a:latin typeface="Calibri" pitchFamily="34" charset="0"/>
                <a:ea typeface="Calibri" pitchFamily="34" charset="-122"/>
                <a:cs typeface="Calibri" pitchFamily="34" charset="-120"/>
              </a:rPr>
              <a:t>Đặng Tuấn Phong - Nguyễn Trí Dũng   </a:t>
            </a:r>
            <a:r>
              <a:rPr lang="en-US" sz="1350" dirty="0">
                <a:solidFill>
                  <a:srgbClr val="9FA2C8"/>
                </a:solidFill>
                <a:latin typeface="Calibri" pitchFamily="34" charset="0"/>
                <a:ea typeface="Calibri" pitchFamily="34" charset="-122"/>
                <a:cs typeface="Calibri" pitchFamily="34" charset="-120"/>
              </a:rPr>
              <a:t>·   Tuần 2 / 8   ·   Hệ thống hỗ trợ đồng thời tiếng Việt và tiếng Anh</a:t>
            </a:r>
            <a:endParaRPr lang="en-US" sz="1350" dirty="0"/>
          </a:p>
        </p:txBody>
      </p:sp>
      <p:sp>
        <p:nvSpPr>
          <p:cNvPr id="10" name="Text 8"/>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Nguồn tham chiếu: các công trình bình duyệt ACL 2024 · SIGIR 2009 · NeurIPS 2023 · ICLR 2025 · ECAI 2025 · ICLR 2026 — liệt kê ở từng slide.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1FA6A6"/>
                </a:solidFill>
                <a:latin typeface="Calibri" pitchFamily="34" charset="0"/>
                <a:ea typeface="Calibri" pitchFamily="34" charset="-122"/>
                <a:cs typeface="Calibri" pitchFamily="34" charset="-120"/>
              </a:rPr>
              <a:t>PHẢN HỒI TUẦN 1</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Benchmark nào thật sự đo việc cập nhật kiến thức?</a:t>
            </a:r>
            <a:endParaRPr lang="en-US" sz="3000" dirty="0"/>
          </a:p>
        </p:txBody>
      </p:sp>
      <p:sp>
        <p:nvSpPr>
          <p:cNvPr id="4" name="Text 2"/>
          <p:cNvSpPr txBox="1"/>
          <p:nvPr/>
        </p:nvSpPr>
        <p:spPr>
          <a:xfrm>
            <a:off x="749808" y="1673352"/>
            <a:ext cx="196596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BENCHMARK</a:t>
            </a:r>
            <a:endParaRPr lang="en-US" sz="1100" dirty="0"/>
          </a:p>
        </p:txBody>
      </p:sp>
      <p:sp>
        <p:nvSpPr>
          <p:cNvPr id="5" name="Text 3"/>
          <p:cNvSpPr txBox="1"/>
          <p:nvPr/>
        </p:nvSpPr>
        <p:spPr>
          <a:xfrm>
            <a:off x="2834640" y="1673352"/>
            <a:ext cx="123444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HỘI NGHỊ</a:t>
            </a:r>
            <a:endParaRPr lang="en-US" sz="1100" dirty="0"/>
          </a:p>
        </p:txBody>
      </p:sp>
      <p:sp>
        <p:nvSpPr>
          <p:cNvPr id="6" name="Text 4"/>
          <p:cNvSpPr txBox="1"/>
          <p:nvPr/>
        </p:nvSpPr>
        <p:spPr>
          <a:xfrm>
            <a:off x="4187952" y="1673352"/>
            <a:ext cx="169164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ĐO CẬP NHẬT?</a:t>
            </a:r>
            <a:endParaRPr lang="en-US" sz="1100" dirty="0"/>
          </a:p>
        </p:txBody>
      </p:sp>
      <p:sp>
        <p:nvSpPr>
          <p:cNvPr id="7" name="Text 5"/>
          <p:cNvSpPr txBox="1"/>
          <p:nvPr/>
        </p:nvSpPr>
        <p:spPr>
          <a:xfrm>
            <a:off x="5998464" y="1673352"/>
            <a:ext cx="5431536"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CÁCH ĐO</a:t>
            </a:r>
            <a:endParaRPr lang="en-US" sz="1100" dirty="0"/>
          </a:p>
        </p:txBody>
      </p:sp>
      <p:sp>
        <p:nvSpPr>
          <p:cNvPr id="8" name="Shape 6"/>
          <p:cNvSpPr/>
          <p:nvPr/>
        </p:nvSpPr>
        <p:spPr>
          <a:xfrm>
            <a:off x="566928" y="2002536"/>
            <a:ext cx="11045952" cy="676656"/>
          </a:xfrm>
          <a:prstGeom prst="roundRect">
            <a:avLst>
              <a:gd name="adj" fmla="val 8108"/>
            </a:avLst>
          </a:prstGeom>
          <a:solidFill>
            <a:srgbClr val="ECEBF7"/>
          </a:solidFill>
          <a:ln w="12700">
            <a:solidFill>
              <a:srgbClr val="FFFFFF"/>
            </a:solidFill>
            <a:prstDash val="solid"/>
          </a:ln>
        </p:spPr>
        <p:txBody>
          <a:bodyPr/>
          <a:lstStyle/>
          <a:p>
            <a:endParaRPr lang="en-US"/>
          </a:p>
        </p:txBody>
      </p:sp>
      <p:sp>
        <p:nvSpPr>
          <p:cNvPr id="9" name="Text 7"/>
          <p:cNvSpPr txBox="1"/>
          <p:nvPr/>
        </p:nvSpPr>
        <p:spPr>
          <a:xfrm>
            <a:off x="749808" y="2075688"/>
            <a:ext cx="1965960" cy="548640"/>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LoCoMo</a:t>
            </a:r>
            <a:endParaRPr lang="en-US" sz="1250" dirty="0"/>
          </a:p>
        </p:txBody>
      </p:sp>
      <p:sp>
        <p:nvSpPr>
          <p:cNvPr id="10" name="Text 8"/>
          <p:cNvSpPr txBox="1"/>
          <p:nvPr/>
        </p:nvSpPr>
        <p:spPr>
          <a:xfrm>
            <a:off x="2834640" y="2075688"/>
            <a:ext cx="12344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ACL 2024</a:t>
            </a:r>
            <a:endParaRPr lang="en-US" sz="1150" dirty="0"/>
          </a:p>
        </p:txBody>
      </p:sp>
      <p:sp>
        <p:nvSpPr>
          <p:cNvPr id="11" name="Text 9"/>
          <p:cNvSpPr txBox="1"/>
          <p:nvPr/>
        </p:nvSpPr>
        <p:spPr>
          <a:xfrm>
            <a:off x="4187952" y="2075688"/>
            <a:ext cx="16916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Không</a:t>
            </a:r>
            <a:endParaRPr lang="en-US" sz="1150" dirty="0"/>
          </a:p>
        </p:txBody>
      </p:sp>
      <p:sp>
        <p:nvSpPr>
          <p:cNvPr id="12" name="Text 10"/>
          <p:cNvSpPr txBox="1"/>
          <p:nvPr/>
        </p:nvSpPr>
        <p:spPr>
          <a:xfrm>
            <a:off x="5998464" y="2075688"/>
            <a:ext cx="5431536"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5 loại câu hỏi: single-hop, multi-hop, temporal, open-domain, adversarial. Không loại nào chấm việc ghi đè thông tin cũ.</a:t>
            </a:r>
            <a:endParaRPr lang="en-US" sz="1150" dirty="0"/>
          </a:p>
        </p:txBody>
      </p:sp>
      <p:sp>
        <p:nvSpPr>
          <p:cNvPr id="13" name="Shape 11"/>
          <p:cNvSpPr/>
          <p:nvPr/>
        </p:nvSpPr>
        <p:spPr>
          <a:xfrm>
            <a:off x="566928" y="2752344"/>
            <a:ext cx="11045952" cy="676656"/>
          </a:xfrm>
          <a:prstGeom prst="roundRect">
            <a:avLst>
              <a:gd name="adj" fmla="val 8108"/>
            </a:avLst>
          </a:prstGeom>
          <a:solidFill>
            <a:srgbClr val="F7F7FB"/>
          </a:solidFill>
          <a:ln w="12700">
            <a:solidFill>
              <a:srgbClr val="FFFFFF"/>
            </a:solidFill>
            <a:prstDash val="solid"/>
          </a:ln>
        </p:spPr>
        <p:txBody>
          <a:bodyPr/>
          <a:lstStyle/>
          <a:p>
            <a:endParaRPr lang="en-US"/>
          </a:p>
        </p:txBody>
      </p:sp>
      <p:sp>
        <p:nvSpPr>
          <p:cNvPr id="14" name="Text 12"/>
          <p:cNvSpPr txBox="1"/>
          <p:nvPr/>
        </p:nvSpPr>
        <p:spPr>
          <a:xfrm>
            <a:off x="749808" y="2825496"/>
            <a:ext cx="1965960" cy="548640"/>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LongMemEval</a:t>
            </a:r>
            <a:endParaRPr lang="en-US" sz="1250" dirty="0"/>
          </a:p>
        </p:txBody>
      </p:sp>
      <p:sp>
        <p:nvSpPr>
          <p:cNvPr id="15" name="Text 13"/>
          <p:cNvSpPr txBox="1"/>
          <p:nvPr/>
        </p:nvSpPr>
        <p:spPr>
          <a:xfrm>
            <a:off x="2834640" y="2825496"/>
            <a:ext cx="12344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ICLR 2025</a:t>
            </a:r>
            <a:endParaRPr lang="en-US" sz="1150" dirty="0"/>
          </a:p>
        </p:txBody>
      </p:sp>
      <p:sp>
        <p:nvSpPr>
          <p:cNvPr id="16" name="Text 14"/>
          <p:cNvSpPr txBox="1"/>
          <p:nvPr/>
        </p:nvSpPr>
        <p:spPr>
          <a:xfrm>
            <a:off x="4187952" y="2825496"/>
            <a:ext cx="16916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Có</a:t>
            </a:r>
            <a:endParaRPr lang="en-US" sz="1150" dirty="0"/>
          </a:p>
        </p:txBody>
      </p:sp>
      <p:sp>
        <p:nvSpPr>
          <p:cNvPr id="17" name="Text 15"/>
          <p:cNvSpPr txBox="1"/>
          <p:nvPr/>
        </p:nvSpPr>
        <p:spPr>
          <a:xfrm>
            <a:off x="5998464" y="2825496"/>
            <a:ext cx="5431536"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Nhóm knowledge-update là 1 trong 5 năng lực cốt lõi — đúng tình huống N5 → N4.</a:t>
            </a:r>
            <a:endParaRPr lang="en-US" sz="1150" dirty="0"/>
          </a:p>
        </p:txBody>
      </p:sp>
      <p:sp>
        <p:nvSpPr>
          <p:cNvPr id="18" name="Shape 16"/>
          <p:cNvSpPr/>
          <p:nvPr/>
        </p:nvSpPr>
        <p:spPr>
          <a:xfrm>
            <a:off x="566928" y="3502152"/>
            <a:ext cx="11045952" cy="676656"/>
          </a:xfrm>
          <a:prstGeom prst="roundRect">
            <a:avLst>
              <a:gd name="adj" fmla="val 8108"/>
            </a:avLst>
          </a:prstGeom>
          <a:solidFill>
            <a:srgbClr val="ECEBF7"/>
          </a:solidFill>
          <a:ln w="12700">
            <a:solidFill>
              <a:srgbClr val="FFFFFF"/>
            </a:solidFill>
            <a:prstDash val="solid"/>
          </a:ln>
        </p:spPr>
        <p:txBody>
          <a:bodyPr/>
          <a:lstStyle/>
          <a:p>
            <a:endParaRPr lang="en-US"/>
          </a:p>
        </p:txBody>
      </p:sp>
      <p:sp>
        <p:nvSpPr>
          <p:cNvPr id="19" name="Text 17"/>
          <p:cNvSpPr txBox="1"/>
          <p:nvPr/>
        </p:nvSpPr>
        <p:spPr>
          <a:xfrm>
            <a:off x="749808" y="3575304"/>
            <a:ext cx="1965960" cy="548640"/>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MemoryAgentBench</a:t>
            </a:r>
            <a:endParaRPr lang="en-US" sz="1250" dirty="0"/>
          </a:p>
        </p:txBody>
      </p:sp>
      <p:sp>
        <p:nvSpPr>
          <p:cNvPr id="20" name="Text 18"/>
          <p:cNvSpPr txBox="1"/>
          <p:nvPr/>
        </p:nvSpPr>
        <p:spPr>
          <a:xfrm>
            <a:off x="2834640" y="3575304"/>
            <a:ext cx="12344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ICLR 2026</a:t>
            </a:r>
            <a:endParaRPr lang="en-US" sz="1150" dirty="0"/>
          </a:p>
        </p:txBody>
      </p:sp>
      <p:sp>
        <p:nvSpPr>
          <p:cNvPr id="21" name="Text 19"/>
          <p:cNvSpPr txBox="1"/>
          <p:nvPr/>
        </p:nvSpPr>
        <p:spPr>
          <a:xfrm>
            <a:off x="4187952" y="3575304"/>
            <a:ext cx="16916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Có — chuyên biệt</a:t>
            </a:r>
            <a:endParaRPr lang="en-US" sz="1150" dirty="0"/>
          </a:p>
        </p:txBody>
      </p:sp>
      <p:sp>
        <p:nvSpPr>
          <p:cNvPr id="22" name="Text 20"/>
          <p:cNvSpPr txBox="1"/>
          <p:nvPr/>
        </p:nvSpPr>
        <p:spPr>
          <a:xfrm>
            <a:off x="5998464" y="3575304"/>
            <a:ext cx="5431536"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Năng lực Conflict Resolution, bộ FactConsolidation: một fact có nhiều phiên bản đánh số, hệ phải trả về bản mới nhất.</a:t>
            </a:r>
            <a:endParaRPr lang="en-US" sz="1150" dirty="0"/>
          </a:p>
        </p:txBody>
      </p:sp>
      <p:sp>
        <p:nvSpPr>
          <p:cNvPr id="23" name="Shape 21"/>
          <p:cNvSpPr/>
          <p:nvPr/>
        </p:nvSpPr>
        <p:spPr>
          <a:xfrm>
            <a:off x="566928" y="4251960"/>
            <a:ext cx="11045952" cy="676656"/>
          </a:xfrm>
          <a:prstGeom prst="roundRect">
            <a:avLst>
              <a:gd name="adj" fmla="val 8108"/>
            </a:avLst>
          </a:prstGeom>
          <a:solidFill>
            <a:srgbClr val="F7F7FB"/>
          </a:solidFill>
          <a:ln w="12700">
            <a:solidFill>
              <a:srgbClr val="FFFFFF"/>
            </a:solidFill>
            <a:prstDash val="solid"/>
          </a:ln>
        </p:spPr>
        <p:txBody>
          <a:bodyPr/>
          <a:lstStyle/>
          <a:p>
            <a:endParaRPr lang="en-US"/>
          </a:p>
        </p:txBody>
      </p:sp>
      <p:sp>
        <p:nvSpPr>
          <p:cNvPr id="24" name="Text 22"/>
          <p:cNvSpPr txBox="1"/>
          <p:nvPr/>
        </p:nvSpPr>
        <p:spPr>
          <a:xfrm>
            <a:off x="749808" y="4325112"/>
            <a:ext cx="1965960" cy="548640"/>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BEAM</a:t>
            </a:r>
            <a:endParaRPr lang="en-US" sz="1250" dirty="0"/>
          </a:p>
        </p:txBody>
      </p:sp>
      <p:sp>
        <p:nvSpPr>
          <p:cNvPr id="25" name="Text 23"/>
          <p:cNvSpPr txBox="1"/>
          <p:nvPr/>
        </p:nvSpPr>
        <p:spPr>
          <a:xfrm>
            <a:off x="2834640" y="4325112"/>
            <a:ext cx="12344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ICLR 2026</a:t>
            </a:r>
            <a:endParaRPr lang="en-US" sz="1150" dirty="0"/>
          </a:p>
        </p:txBody>
      </p:sp>
      <p:sp>
        <p:nvSpPr>
          <p:cNvPr id="26" name="Text 24"/>
          <p:cNvSpPr txBox="1"/>
          <p:nvPr/>
        </p:nvSpPr>
        <p:spPr>
          <a:xfrm>
            <a:off x="4187952" y="4325112"/>
            <a:ext cx="1691640"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Có — 2 trục riêng</a:t>
            </a:r>
            <a:endParaRPr lang="en-US" sz="1150" dirty="0"/>
          </a:p>
        </p:txBody>
      </p:sp>
      <p:sp>
        <p:nvSpPr>
          <p:cNvPr id="27" name="Text 25"/>
          <p:cNvSpPr txBox="1"/>
          <p:nvPr/>
        </p:nvSpPr>
        <p:spPr>
          <a:xfrm>
            <a:off x="5998464" y="4325112"/>
            <a:ext cx="5431536" cy="548640"/>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Knowledge Update và Contradiction Resolution tách riêng trong 10 năng lực. 100 hội thoại tới 10M token.</a:t>
            </a:r>
            <a:endParaRPr lang="en-US" sz="1150" dirty="0"/>
          </a:p>
        </p:txBody>
      </p:sp>
      <p:sp>
        <p:nvSpPr>
          <p:cNvPr id="28" name="Shape 26"/>
          <p:cNvSpPr/>
          <p:nvPr/>
        </p:nvSpPr>
        <p:spPr>
          <a:xfrm>
            <a:off x="566928" y="5074920"/>
            <a:ext cx="11045952" cy="1225296"/>
          </a:xfrm>
          <a:prstGeom prst="roundRect">
            <a:avLst>
              <a:gd name="adj" fmla="val 3731"/>
            </a:avLst>
          </a:prstGeom>
          <a:solidFill>
            <a:srgbClr val="13123A"/>
          </a:solidFill>
          <a:ln w="12700">
            <a:solidFill>
              <a:srgbClr val="13123A"/>
            </a:solidFill>
            <a:prstDash val="solid"/>
          </a:ln>
        </p:spPr>
        <p:txBody>
          <a:bodyPr/>
          <a:lstStyle/>
          <a:p>
            <a:endParaRPr lang="en-US"/>
          </a:p>
        </p:txBody>
      </p:sp>
      <p:sp>
        <p:nvSpPr>
          <p:cNvPr id="29" name="Text 27"/>
          <p:cNvSpPr txBox="1"/>
          <p:nvPr/>
        </p:nvSpPr>
        <p:spPr>
          <a:xfrm>
            <a:off x="822960" y="525780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KẾT LUẬN SAU KHI TRA LẠI</a:t>
            </a:r>
            <a:endParaRPr lang="en-US" sz="1100" dirty="0"/>
          </a:p>
        </p:txBody>
      </p:sp>
      <p:sp>
        <p:nvSpPr>
          <p:cNvPr id="30" name="Text 28"/>
          <p:cNvSpPr txBox="1"/>
          <p:nvPr/>
        </p:nvSpPr>
        <p:spPr>
          <a:xfrm>
            <a:off x="822960" y="5532120"/>
            <a:ext cx="10533888" cy="621792"/>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Thầy/cô đúng với LoCoMo. Nhưng LongMemEval CÓ nhóm câu hỏi cập nhật, và nhóm đã bổ sung hai benchmark ICLR 2026 mới hơn. Cả ba benchmark này đều là tiếng Anh — đây chính là lý do nhóm quyết định làm hệ song ngữ: chạy thẳng được benchmark chuẩn, số liệu so sánh trực tiếp với các paper thay vì phải tự dịch.</a:t>
            </a:r>
            <a:endParaRPr lang="en-US" sz="1250" dirty="0"/>
          </a:p>
        </p:txBody>
      </p:sp>
      <p:sp>
        <p:nvSpPr>
          <p:cNvPr id="31" name="Text 29"/>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Maharana et al., ACL 2024 (arXiv:2402.17753) · Wu et al., ICLR 2025 (arXiv:2410.10813) · Hu et al., ICLR 2026 (arXiv:2507.05257) · Tavakoli et al., ICLR 2026 (arXiv:2510.27246).</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E9970B"/>
                </a:solidFill>
                <a:latin typeface="Calibri" pitchFamily="34" charset="0"/>
                <a:ea typeface="Calibri" pitchFamily="34" charset="-122"/>
                <a:cs typeface="Calibri" pitchFamily="34" charset="-120"/>
              </a:rPr>
              <a:t>PHẠM VI ĐỀ TÀI</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Tám năng lực bộ nhớ và thành phần đảm nhiệm</a:t>
            </a:r>
            <a:endParaRPr lang="en-US" sz="3000" dirty="0"/>
          </a:p>
        </p:txBody>
      </p:sp>
      <p:sp>
        <p:nvSpPr>
          <p:cNvPr id="4" name="Text 2"/>
          <p:cNvSpPr txBox="1"/>
          <p:nvPr/>
        </p:nvSpPr>
        <p:spPr>
          <a:xfrm>
            <a:off x="749808" y="1645920"/>
            <a:ext cx="210312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NĂNG LỰC</a:t>
            </a:r>
            <a:endParaRPr lang="en-US" sz="1100" dirty="0"/>
          </a:p>
        </p:txBody>
      </p:sp>
      <p:sp>
        <p:nvSpPr>
          <p:cNvPr id="5" name="Text 3"/>
          <p:cNvSpPr txBox="1"/>
          <p:nvPr/>
        </p:nvSpPr>
        <p:spPr>
          <a:xfrm>
            <a:off x="2971800" y="1645920"/>
            <a:ext cx="224028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BENCHMARK CHẤM NÓ</a:t>
            </a:r>
            <a:endParaRPr lang="en-US" sz="1100" dirty="0"/>
          </a:p>
        </p:txBody>
      </p:sp>
      <p:sp>
        <p:nvSpPr>
          <p:cNvPr id="6" name="Text 4"/>
          <p:cNvSpPr txBox="1"/>
          <p:nvPr/>
        </p:nvSpPr>
        <p:spPr>
          <a:xfrm>
            <a:off x="5349240" y="1645920"/>
            <a:ext cx="480060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THÀNH PHẦN TRONG HỆ THỐNG</a:t>
            </a:r>
            <a:endParaRPr lang="en-US" sz="1100" dirty="0"/>
          </a:p>
        </p:txBody>
      </p:sp>
      <p:sp>
        <p:nvSpPr>
          <p:cNvPr id="7" name="Text 5"/>
          <p:cNvSpPr txBox="1"/>
          <p:nvPr/>
        </p:nvSpPr>
        <p:spPr>
          <a:xfrm>
            <a:off x="10314432" y="1645920"/>
            <a:ext cx="1115568"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TUẦN</a:t>
            </a:r>
            <a:endParaRPr lang="en-US" sz="1100" dirty="0"/>
          </a:p>
        </p:txBody>
      </p:sp>
      <p:sp>
        <p:nvSpPr>
          <p:cNvPr id="8" name="Shape 6"/>
          <p:cNvSpPr/>
          <p:nvPr/>
        </p:nvSpPr>
        <p:spPr>
          <a:xfrm>
            <a:off x="566928" y="1920240"/>
            <a:ext cx="11045952" cy="429768"/>
          </a:xfrm>
          <a:prstGeom prst="roundRect">
            <a:avLst>
              <a:gd name="adj" fmla="val 12766"/>
            </a:avLst>
          </a:prstGeom>
          <a:solidFill>
            <a:srgbClr val="ECEBF7"/>
          </a:solidFill>
          <a:ln w="12700">
            <a:solidFill>
              <a:srgbClr val="FFFFFF"/>
            </a:solidFill>
            <a:prstDash val="solid"/>
          </a:ln>
        </p:spPr>
        <p:txBody>
          <a:bodyPr/>
          <a:lstStyle/>
          <a:p>
            <a:endParaRPr lang="en-US"/>
          </a:p>
        </p:txBody>
      </p:sp>
      <p:sp>
        <p:nvSpPr>
          <p:cNvPr id="9" name="Text 7"/>
          <p:cNvSpPr txBox="1"/>
          <p:nvPr/>
        </p:nvSpPr>
        <p:spPr>
          <a:xfrm>
            <a:off x="749808" y="1993392"/>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Trích xuất &amp; nhớ chính xác</a:t>
            </a:r>
            <a:endParaRPr lang="en-US" sz="1250" dirty="0"/>
          </a:p>
        </p:txBody>
      </p:sp>
      <p:sp>
        <p:nvSpPr>
          <p:cNvPr id="10" name="Text 8"/>
          <p:cNvSpPr txBox="1"/>
          <p:nvPr/>
        </p:nvSpPr>
        <p:spPr>
          <a:xfrm>
            <a:off x="2971800" y="1993392"/>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IE · BEAM</a:t>
            </a:r>
            <a:endParaRPr lang="en-US" sz="1150" dirty="0"/>
          </a:p>
        </p:txBody>
      </p:sp>
      <p:sp>
        <p:nvSpPr>
          <p:cNvPr id="11" name="Text 9"/>
          <p:cNvSpPr txBox="1"/>
          <p:nvPr/>
        </p:nvSpPr>
        <p:spPr>
          <a:xfrm>
            <a:off x="5349240" y="1993392"/>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FactExtractor + truy xuất lai (dense + BM25)</a:t>
            </a:r>
            <a:endParaRPr lang="en-US" sz="1150" dirty="0"/>
          </a:p>
        </p:txBody>
      </p:sp>
      <p:sp>
        <p:nvSpPr>
          <p:cNvPr id="12" name="Text 10"/>
          <p:cNvSpPr txBox="1"/>
          <p:nvPr/>
        </p:nvSpPr>
        <p:spPr>
          <a:xfrm>
            <a:off x="10314432" y="1993392"/>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3</a:t>
            </a:r>
            <a:endParaRPr lang="en-US" sz="1150" dirty="0"/>
          </a:p>
        </p:txBody>
      </p:sp>
      <p:sp>
        <p:nvSpPr>
          <p:cNvPr id="13" name="Shape 11"/>
          <p:cNvSpPr/>
          <p:nvPr/>
        </p:nvSpPr>
        <p:spPr>
          <a:xfrm>
            <a:off x="566928" y="2404872"/>
            <a:ext cx="11045952" cy="429768"/>
          </a:xfrm>
          <a:prstGeom prst="roundRect">
            <a:avLst>
              <a:gd name="adj" fmla="val 12766"/>
            </a:avLst>
          </a:prstGeom>
          <a:solidFill>
            <a:srgbClr val="F7F7FB"/>
          </a:solidFill>
          <a:ln w="12700">
            <a:solidFill>
              <a:srgbClr val="FFFFFF"/>
            </a:solidFill>
            <a:prstDash val="solid"/>
          </a:ln>
        </p:spPr>
        <p:txBody>
          <a:bodyPr/>
          <a:lstStyle/>
          <a:p>
            <a:endParaRPr lang="en-US"/>
          </a:p>
        </p:txBody>
      </p:sp>
      <p:sp>
        <p:nvSpPr>
          <p:cNvPr id="14" name="Text 12"/>
          <p:cNvSpPr txBox="1"/>
          <p:nvPr/>
        </p:nvSpPr>
        <p:spPr>
          <a:xfrm>
            <a:off x="749808" y="2478024"/>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Suy luận đa phiên</a:t>
            </a:r>
            <a:endParaRPr lang="en-US" sz="1250" dirty="0"/>
          </a:p>
        </p:txBody>
      </p:sp>
      <p:sp>
        <p:nvSpPr>
          <p:cNvPr id="15" name="Text 13"/>
          <p:cNvSpPr txBox="1"/>
          <p:nvPr/>
        </p:nvSpPr>
        <p:spPr>
          <a:xfrm>
            <a:off x="2971800" y="2478024"/>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MR · BEAM</a:t>
            </a:r>
            <a:endParaRPr lang="en-US" sz="1150" dirty="0"/>
          </a:p>
        </p:txBody>
      </p:sp>
      <p:sp>
        <p:nvSpPr>
          <p:cNvPr id="16" name="Text 14"/>
          <p:cNvSpPr txBox="1"/>
          <p:nvPr/>
        </p:nvSpPr>
        <p:spPr>
          <a:xfrm>
            <a:off x="5349240" y="2478024"/>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QueryPlanner tách câu hỏi thành truy vấn con</a:t>
            </a:r>
            <a:endParaRPr lang="en-US" sz="1150" dirty="0"/>
          </a:p>
        </p:txBody>
      </p:sp>
      <p:sp>
        <p:nvSpPr>
          <p:cNvPr id="17" name="Text 15"/>
          <p:cNvSpPr txBox="1"/>
          <p:nvPr/>
        </p:nvSpPr>
        <p:spPr>
          <a:xfrm>
            <a:off x="10314432" y="2478024"/>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18" name="Shape 16"/>
          <p:cNvSpPr/>
          <p:nvPr/>
        </p:nvSpPr>
        <p:spPr>
          <a:xfrm>
            <a:off x="566928" y="2889504"/>
            <a:ext cx="11045952" cy="429768"/>
          </a:xfrm>
          <a:prstGeom prst="roundRect">
            <a:avLst>
              <a:gd name="adj" fmla="val 12766"/>
            </a:avLst>
          </a:prstGeom>
          <a:solidFill>
            <a:srgbClr val="ECEBF7"/>
          </a:solidFill>
          <a:ln w="12700">
            <a:solidFill>
              <a:srgbClr val="FFFFFF"/>
            </a:solidFill>
            <a:prstDash val="solid"/>
          </a:ln>
        </p:spPr>
        <p:txBody>
          <a:bodyPr/>
          <a:lstStyle/>
          <a:p>
            <a:endParaRPr lang="en-US"/>
          </a:p>
        </p:txBody>
      </p:sp>
      <p:sp>
        <p:nvSpPr>
          <p:cNvPr id="19" name="Text 17"/>
          <p:cNvSpPr txBox="1"/>
          <p:nvPr/>
        </p:nvSpPr>
        <p:spPr>
          <a:xfrm>
            <a:off x="749808" y="2962656"/>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Suy luận thời gian</a:t>
            </a:r>
            <a:endParaRPr lang="en-US" sz="1250" dirty="0"/>
          </a:p>
        </p:txBody>
      </p:sp>
      <p:sp>
        <p:nvSpPr>
          <p:cNvPr id="20" name="Text 18"/>
          <p:cNvSpPr txBox="1"/>
          <p:nvPr/>
        </p:nvSpPr>
        <p:spPr>
          <a:xfrm>
            <a:off x="2971800" y="2962656"/>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TR · BEAM</a:t>
            </a:r>
            <a:endParaRPr lang="en-US" sz="1150" dirty="0"/>
          </a:p>
        </p:txBody>
      </p:sp>
      <p:sp>
        <p:nvSpPr>
          <p:cNvPr id="21" name="Text 19"/>
          <p:cNvSpPr txBox="1"/>
          <p:nvPr/>
        </p:nvSpPr>
        <p:spPr>
          <a:xfrm>
            <a:off x="5349240" y="2962656"/>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Khoảng hiệu lực valid_from / invalidated_at</a:t>
            </a:r>
            <a:endParaRPr lang="en-US" sz="1150" dirty="0"/>
          </a:p>
        </p:txBody>
      </p:sp>
      <p:sp>
        <p:nvSpPr>
          <p:cNvPr id="22" name="Text 20"/>
          <p:cNvSpPr txBox="1"/>
          <p:nvPr/>
        </p:nvSpPr>
        <p:spPr>
          <a:xfrm>
            <a:off x="10314432" y="2962656"/>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23" name="Shape 21"/>
          <p:cNvSpPr/>
          <p:nvPr/>
        </p:nvSpPr>
        <p:spPr>
          <a:xfrm>
            <a:off x="566928" y="3374136"/>
            <a:ext cx="11045952" cy="429768"/>
          </a:xfrm>
          <a:prstGeom prst="roundRect">
            <a:avLst>
              <a:gd name="adj" fmla="val 12766"/>
            </a:avLst>
          </a:prstGeom>
          <a:solidFill>
            <a:srgbClr val="F7F7FB"/>
          </a:solidFill>
          <a:ln w="12700">
            <a:solidFill>
              <a:srgbClr val="FFFFFF"/>
            </a:solidFill>
            <a:prstDash val="solid"/>
          </a:ln>
        </p:spPr>
        <p:txBody>
          <a:bodyPr/>
          <a:lstStyle/>
          <a:p>
            <a:endParaRPr lang="en-US"/>
          </a:p>
        </p:txBody>
      </p:sp>
      <p:sp>
        <p:nvSpPr>
          <p:cNvPr id="24" name="Text 22"/>
          <p:cNvSpPr txBox="1"/>
          <p:nvPr/>
        </p:nvSpPr>
        <p:spPr>
          <a:xfrm>
            <a:off x="749808" y="3447288"/>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Cập nhật kiến thức</a:t>
            </a:r>
            <a:endParaRPr lang="en-US" sz="1250" dirty="0"/>
          </a:p>
        </p:txBody>
      </p:sp>
      <p:sp>
        <p:nvSpPr>
          <p:cNvPr id="25" name="Text 23"/>
          <p:cNvSpPr txBox="1"/>
          <p:nvPr/>
        </p:nvSpPr>
        <p:spPr>
          <a:xfrm>
            <a:off x="2971800" y="3447288"/>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KU · FactConsolidation</a:t>
            </a:r>
            <a:endParaRPr lang="en-US" sz="1150" dirty="0"/>
          </a:p>
        </p:txBody>
      </p:sp>
      <p:sp>
        <p:nvSpPr>
          <p:cNvPr id="26" name="Text 24"/>
          <p:cNvSpPr txBox="1"/>
          <p:nvPr/>
        </p:nvSpPr>
        <p:spPr>
          <a:xfrm>
            <a:off x="5349240" y="3447288"/>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Slot + seq; ADD / UPDATE / DELETE / NOOP</a:t>
            </a:r>
            <a:endParaRPr lang="en-US" sz="1150" dirty="0"/>
          </a:p>
        </p:txBody>
      </p:sp>
      <p:sp>
        <p:nvSpPr>
          <p:cNvPr id="27" name="Text 25"/>
          <p:cNvSpPr txBox="1"/>
          <p:nvPr/>
        </p:nvSpPr>
        <p:spPr>
          <a:xfrm>
            <a:off x="10314432" y="3447288"/>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4</a:t>
            </a:r>
            <a:endParaRPr lang="en-US" sz="1150" dirty="0"/>
          </a:p>
        </p:txBody>
      </p:sp>
      <p:sp>
        <p:nvSpPr>
          <p:cNvPr id="28" name="Shape 26"/>
          <p:cNvSpPr/>
          <p:nvPr/>
        </p:nvSpPr>
        <p:spPr>
          <a:xfrm>
            <a:off x="566928" y="3858768"/>
            <a:ext cx="11045952" cy="429768"/>
          </a:xfrm>
          <a:prstGeom prst="roundRect">
            <a:avLst>
              <a:gd name="adj" fmla="val 12766"/>
            </a:avLst>
          </a:prstGeom>
          <a:solidFill>
            <a:srgbClr val="ECEBF7"/>
          </a:solidFill>
          <a:ln w="12700">
            <a:solidFill>
              <a:srgbClr val="FFFFFF"/>
            </a:solidFill>
            <a:prstDash val="solid"/>
          </a:ln>
        </p:spPr>
        <p:txBody>
          <a:bodyPr/>
          <a:lstStyle/>
          <a:p>
            <a:endParaRPr lang="en-US"/>
          </a:p>
        </p:txBody>
      </p:sp>
      <p:sp>
        <p:nvSpPr>
          <p:cNvPr id="29" name="Text 27"/>
          <p:cNvSpPr txBox="1"/>
          <p:nvPr/>
        </p:nvSpPr>
        <p:spPr>
          <a:xfrm>
            <a:off x="749808" y="3931920"/>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Giải quyết mâu thuẫn</a:t>
            </a:r>
            <a:endParaRPr lang="en-US" sz="1250" dirty="0"/>
          </a:p>
        </p:txBody>
      </p:sp>
      <p:sp>
        <p:nvSpPr>
          <p:cNvPr id="30" name="Text 28"/>
          <p:cNvSpPr txBox="1"/>
          <p:nvPr/>
        </p:nvSpPr>
        <p:spPr>
          <a:xfrm>
            <a:off x="2971800" y="3931920"/>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BEAM contradiction</a:t>
            </a:r>
            <a:endParaRPr lang="en-US" sz="1150" dirty="0"/>
          </a:p>
        </p:txBody>
      </p:sp>
      <p:sp>
        <p:nvSpPr>
          <p:cNvPr id="31" name="Text 29"/>
          <p:cNvSpPr txBox="1"/>
          <p:nvPr/>
        </p:nvSpPr>
        <p:spPr>
          <a:xfrm>
            <a:off x="5349240" y="3931920"/>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Thao tác CONFLICT + hàng chờ rà soát</a:t>
            </a:r>
            <a:endParaRPr lang="en-US" sz="1150" dirty="0"/>
          </a:p>
        </p:txBody>
      </p:sp>
      <p:sp>
        <p:nvSpPr>
          <p:cNvPr id="32" name="Text 30"/>
          <p:cNvSpPr txBox="1"/>
          <p:nvPr/>
        </p:nvSpPr>
        <p:spPr>
          <a:xfrm>
            <a:off x="10314432" y="3931920"/>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4</a:t>
            </a:r>
            <a:endParaRPr lang="en-US" sz="1150" dirty="0"/>
          </a:p>
        </p:txBody>
      </p:sp>
      <p:sp>
        <p:nvSpPr>
          <p:cNvPr id="33" name="Shape 31"/>
          <p:cNvSpPr/>
          <p:nvPr/>
        </p:nvSpPr>
        <p:spPr>
          <a:xfrm>
            <a:off x="566928" y="4343400"/>
            <a:ext cx="11045952" cy="429768"/>
          </a:xfrm>
          <a:prstGeom prst="roundRect">
            <a:avLst>
              <a:gd name="adj" fmla="val 12766"/>
            </a:avLst>
          </a:prstGeom>
          <a:solidFill>
            <a:srgbClr val="F7F7FB"/>
          </a:solidFill>
          <a:ln w="12700">
            <a:solidFill>
              <a:srgbClr val="FFFFFF"/>
            </a:solidFill>
            <a:prstDash val="solid"/>
          </a:ln>
        </p:spPr>
        <p:txBody>
          <a:bodyPr/>
          <a:lstStyle/>
          <a:p>
            <a:endParaRPr lang="en-US"/>
          </a:p>
        </p:txBody>
      </p:sp>
      <p:sp>
        <p:nvSpPr>
          <p:cNvPr id="34" name="Text 32"/>
          <p:cNvSpPr txBox="1"/>
          <p:nvPr/>
        </p:nvSpPr>
        <p:spPr>
          <a:xfrm>
            <a:off x="749808" y="4416552"/>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Biết từ chối</a:t>
            </a:r>
            <a:endParaRPr lang="en-US" sz="1250" dirty="0"/>
          </a:p>
        </p:txBody>
      </p:sp>
      <p:sp>
        <p:nvSpPr>
          <p:cNvPr id="35" name="Text 33"/>
          <p:cNvSpPr txBox="1"/>
          <p:nvPr/>
        </p:nvSpPr>
        <p:spPr>
          <a:xfrm>
            <a:off x="2971800" y="4416552"/>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LongMemEval ABS · BEAM</a:t>
            </a:r>
            <a:endParaRPr lang="en-US" sz="1150" dirty="0"/>
          </a:p>
        </p:txBody>
      </p:sp>
      <p:sp>
        <p:nvSpPr>
          <p:cNvPr id="36" name="Text 34"/>
          <p:cNvSpPr txBox="1"/>
          <p:nvPr/>
        </p:nvSpPr>
        <p:spPr>
          <a:xfrm>
            <a:off x="5349240" y="4416552"/>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Ngưỡng đặt trên điểm reranker, hiệu chỉnh thực nghiệm</a:t>
            </a:r>
            <a:endParaRPr lang="en-US" sz="1150" dirty="0"/>
          </a:p>
        </p:txBody>
      </p:sp>
      <p:sp>
        <p:nvSpPr>
          <p:cNvPr id="37" name="Text 35"/>
          <p:cNvSpPr txBox="1"/>
          <p:nvPr/>
        </p:nvSpPr>
        <p:spPr>
          <a:xfrm>
            <a:off x="10314432" y="4416552"/>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6</a:t>
            </a:r>
            <a:endParaRPr lang="en-US" sz="1150" dirty="0"/>
          </a:p>
        </p:txBody>
      </p:sp>
      <p:sp>
        <p:nvSpPr>
          <p:cNvPr id="38" name="Shape 36"/>
          <p:cNvSpPr/>
          <p:nvPr/>
        </p:nvSpPr>
        <p:spPr>
          <a:xfrm>
            <a:off x="566928" y="4828032"/>
            <a:ext cx="11045952" cy="429768"/>
          </a:xfrm>
          <a:prstGeom prst="roundRect">
            <a:avLst>
              <a:gd name="adj" fmla="val 12766"/>
            </a:avLst>
          </a:prstGeom>
          <a:solidFill>
            <a:srgbClr val="ECEBF7"/>
          </a:solidFill>
          <a:ln w="12700">
            <a:solidFill>
              <a:srgbClr val="FFFFFF"/>
            </a:solidFill>
            <a:prstDash val="solid"/>
          </a:ln>
        </p:spPr>
        <p:txBody>
          <a:bodyPr/>
          <a:lstStyle/>
          <a:p>
            <a:endParaRPr lang="en-US"/>
          </a:p>
        </p:txBody>
      </p:sp>
      <p:sp>
        <p:nvSpPr>
          <p:cNvPr id="39" name="Text 37"/>
          <p:cNvSpPr txBox="1"/>
          <p:nvPr/>
        </p:nvSpPr>
        <p:spPr>
          <a:xfrm>
            <a:off x="749808" y="4901184"/>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Tuân theo sở thích</a:t>
            </a:r>
            <a:endParaRPr lang="en-US" sz="1250" dirty="0"/>
          </a:p>
        </p:txBody>
      </p:sp>
      <p:sp>
        <p:nvSpPr>
          <p:cNvPr id="40" name="Text 38"/>
          <p:cNvSpPr txBox="1"/>
          <p:nvPr/>
        </p:nvSpPr>
        <p:spPr>
          <a:xfrm>
            <a:off x="2971800" y="4901184"/>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BEAM preference</a:t>
            </a:r>
            <a:endParaRPr lang="en-US" sz="1150" dirty="0"/>
          </a:p>
        </p:txBody>
      </p:sp>
      <p:sp>
        <p:nvSpPr>
          <p:cNvPr id="41" name="Text 39"/>
          <p:cNvSpPr txBox="1"/>
          <p:nvPr/>
        </p:nvSpPr>
        <p:spPr>
          <a:xfrm>
            <a:off x="5349240" y="4901184"/>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Ký ức pinned, có hạn ngạch riêng trong ngữ cảnh</a:t>
            </a:r>
            <a:endParaRPr lang="en-US" sz="1150" dirty="0"/>
          </a:p>
        </p:txBody>
      </p:sp>
      <p:sp>
        <p:nvSpPr>
          <p:cNvPr id="42" name="Text 40"/>
          <p:cNvSpPr txBox="1"/>
          <p:nvPr/>
        </p:nvSpPr>
        <p:spPr>
          <a:xfrm>
            <a:off x="10314432" y="4901184"/>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43" name="Shape 41"/>
          <p:cNvSpPr/>
          <p:nvPr/>
        </p:nvSpPr>
        <p:spPr>
          <a:xfrm>
            <a:off x="566928" y="5312664"/>
            <a:ext cx="11045952" cy="429768"/>
          </a:xfrm>
          <a:prstGeom prst="roundRect">
            <a:avLst>
              <a:gd name="adj" fmla="val 12766"/>
            </a:avLst>
          </a:prstGeom>
          <a:solidFill>
            <a:srgbClr val="F7F7FB"/>
          </a:solidFill>
          <a:ln w="12700">
            <a:solidFill>
              <a:srgbClr val="FFFFFF"/>
            </a:solidFill>
            <a:prstDash val="solid"/>
          </a:ln>
        </p:spPr>
        <p:txBody>
          <a:bodyPr/>
          <a:lstStyle/>
          <a:p>
            <a:endParaRPr lang="en-US"/>
          </a:p>
        </p:txBody>
      </p:sp>
      <p:sp>
        <p:nvSpPr>
          <p:cNvPr id="44" name="Text 42"/>
          <p:cNvSpPr txBox="1"/>
          <p:nvPr/>
        </p:nvSpPr>
        <p:spPr>
          <a:xfrm>
            <a:off x="749808" y="5385816"/>
            <a:ext cx="2103120" cy="301752"/>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Hiểu dài hạn / tóm tắt</a:t>
            </a:r>
            <a:endParaRPr lang="en-US" sz="1250" dirty="0"/>
          </a:p>
        </p:txBody>
      </p:sp>
      <p:sp>
        <p:nvSpPr>
          <p:cNvPr id="45" name="Text 43"/>
          <p:cNvSpPr txBox="1"/>
          <p:nvPr/>
        </p:nvSpPr>
        <p:spPr>
          <a:xfrm>
            <a:off x="2971800" y="5385816"/>
            <a:ext cx="224028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BEAM summarization</a:t>
            </a:r>
            <a:endParaRPr lang="en-US" sz="1150" dirty="0"/>
          </a:p>
        </p:txBody>
      </p:sp>
      <p:sp>
        <p:nvSpPr>
          <p:cNvPr id="46" name="Text 44"/>
          <p:cNvSpPr txBox="1"/>
          <p:nvPr/>
        </p:nvSpPr>
        <p:spPr>
          <a:xfrm>
            <a:off x="5349240" y="5385816"/>
            <a:ext cx="4800600"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SessionSummarizer cô đọng phiên thành ký ức episodic</a:t>
            </a:r>
            <a:endParaRPr lang="en-US" sz="1150" dirty="0"/>
          </a:p>
        </p:txBody>
      </p:sp>
      <p:sp>
        <p:nvSpPr>
          <p:cNvPr id="47" name="Text 45"/>
          <p:cNvSpPr txBox="1"/>
          <p:nvPr/>
        </p:nvSpPr>
        <p:spPr>
          <a:xfrm>
            <a:off x="10314432" y="5385816"/>
            <a:ext cx="1115568" cy="301752"/>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Tuần 6</a:t>
            </a:r>
            <a:endParaRPr lang="en-US" sz="1150" dirty="0"/>
          </a:p>
        </p:txBody>
      </p:sp>
      <p:sp>
        <p:nvSpPr>
          <p:cNvPr id="48" name="Text 46"/>
          <p:cNvSpPr txBox="1"/>
          <p:nvPr/>
        </p:nvSpPr>
        <p:spPr>
          <a:xfrm>
            <a:off x="566928" y="5870448"/>
            <a:ext cx="11045952" cy="457200"/>
          </a:xfrm>
          <a:prstGeom prst="rect">
            <a:avLst/>
          </a:prstGeom>
          <a:noFill/>
          <a:ln/>
        </p:spPr>
        <p:txBody>
          <a:bodyPr wrap="square" lIns="0" tIns="0" rIns="0" bIns="0" rtlCol="0" anchor="ctr"/>
          <a:lstStyle/>
          <a:p>
            <a:pPr marL="0" indent="0">
              <a:lnSpc>
                <a:spcPct val="95000"/>
              </a:lnSpc>
              <a:buNone/>
            </a:pPr>
            <a:r>
              <a:rPr lang="en-US" sz="1200" b="1" i="1" dirty="0">
                <a:solidFill>
                  <a:srgbClr val="13123A"/>
                </a:solidFill>
                <a:latin typeface="Calibri" pitchFamily="34" charset="0"/>
                <a:ea typeface="Calibri" pitchFamily="34" charset="-122"/>
                <a:cs typeface="Calibri" pitchFamily="34" charset="-120"/>
              </a:rPr>
              <a:t>Ngoài phạm vi — ghi nhận làm hướng mở rộng: </a:t>
            </a:r>
            <a:r>
              <a:rPr lang="en-US" sz="1200" i="1" dirty="0">
                <a:solidFill>
                  <a:srgbClr val="4A4E63"/>
                </a:solidFill>
                <a:latin typeface="Calibri" pitchFamily="34" charset="0"/>
                <a:ea typeface="Calibri" pitchFamily="34" charset="-122"/>
                <a:cs typeface="Calibri" pitchFamily="34" charset="-120"/>
              </a:rPr>
              <a:t>nhất quán xuyên ngữ (lưu bằng tiếng Việt, hỏi bằng tiếng Anh và ngược lại). Kiến trúc để sẵn chỗ cho nó, nhưng nhóm KHÔNG đặt mục tiêu làm trong 8 tuần này.</a:t>
            </a:r>
            <a:endParaRPr lang="en-US" sz="1200" dirty="0"/>
          </a:p>
        </p:txBody>
      </p:sp>
      <p:sp>
        <p:nvSpPr>
          <p:cNvPr id="49" name="Text 47"/>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Khung năng lực tổng hợp từ: Wu et al., LongMemEval, ICLR 2025 · Tavakoli et al., BEAM, ICLR 2026 · Hu et al., MemoryAgentBench, ICLR 2026.</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THIẾT KẾ · 1/5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Kiến trúc phân lớp</a:t>
            </a:r>
            <a:endParaRPr lang="en-US" sz="3000" dirty="0"/>
          </a:p>
        </p:txBody>
      </p:sp>
      <p:sp>
        <p:nvSpPr>
          <p:cNvPr id="4" name="Text 2"/>
          <p:cNvSpPr txBox="1"/>
          <p:nvPr/>
        </p:nvSpPr>
        <p:spPr>
          <a:xfrm>
            <a:off x="566928" y="1773936"/>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L0 · L1</a:t>
            </a:r>
            <a:endParaRPr lang="en-US" sz="1050" dirty="0"/>
          </a:p>
        </p:txBody>
      </p:sp>
      <p:sp>
        <p:nvSpPr>
          <p:cNvPr id="5" name="Shape 3"/>
          <p:cNvSpPr/>
          <p:nvPr/>
        </p:nvSpPr>
        <p:spPr>
          <a:xfrm>
            <a:off x="1755648" y="1664208"/>
            <a:ext cx="4864608" cy="512064"/>
          </a:xfrm>
          <a:prstGeom prst="roundRect">
            <a:avLst>
              <a:gd name="adj" fmla="val 8929"/>
            </a:avLst>
          </a:prstGeom>
          <a:solidFill>
            <a:srgbClr val="ECEBF7"/>
          </a:solidFill>
          <a:ln w="12700">
            <a:solidFill>
              <a:srgbClr val="ECEBF7"/>
            </a:solidFill>
            <a:prstDash val="solid"/>
          </a:ln>
        </p:spPr>
        <p:txBody>
          <a:bodyPr/>
          <a:lstStyle/>
          <a:p>
            <a:endParaRPr lang="en-US"/>
          </a:p>
        </p:txBody>
      </p:sp>
      <p:sp>
        <p:nvSpPr>
          <p:cNvPr id="6" name="Text 4"/>
          <p:cNvSpPr txBox="1"/>
          <p:nvPr/>
        </p:nvSpPr>
        <p:spPr>
          <a:xfrm>
            <a:off x="1883664" y="1801368"/>
            <a:ext cx="4608576"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Giao diện — CLI</a:t>
            </a:r>
            <a:endParaRPr lang="en-US" sz="1200" dirty="0"/>
          </a:p>
        </p:txBody>
      </p:sp>
      <p:sp>
        <p:nvSpPr>
          <p:cNvPr id="7" name="Shape 5"/>
          <p:cNvSpPr/>
          <p:nvPr/>
        </p:nvSpPr>
        <p:spPr>
          <a:xfrm>
            <a:off x="6748272" y="1664208"/>
            <a:ext cx="4864608" cy="512064"/>
          </a:xfrm>
          <a:prstGeom prst="roundRect">
            <a:avLst>
              <a:gd name="adj" fmla="val 8929"/>
            </a:avLst>
          </a:prstGeom>
          <a:solidFill>
            <a:srgbClr val="ECEBF7"/>
          </a:solidFill>
          <a:ln w="12700">
            <a:solidFill>
              <a:srgbClr val="ECEBF7"/>
            </a:solidFill>
            <a:prstDash val="solid"/>
          </a:ln>
        </p:spPr>
        <p:txBody>
          <a:bodyPr/>
          <a:lstStyle/>
          <a:p>
            <a:endParaRPr lang="en-US"/>
          </a:p>
        </p:txBody>
      </p:sp>
      <p:sp>
        <p:nvSpPr>
          <p:cNvPr id="8" name="Text 6"/>
          <p:cNvSpPr txBox="1"/>
          <p:nvPr/>
        </p:nvSpPr>
        <p:spPr>
          <a:xfrm>
            <a:off x="6876288" y="1801368"/>
            <a:ext cx="4608576"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LLM Agent — điều phối một lượt</a:t>
            </a:r>
            <a:endParaRPr lang="en-US" sz="1200" dirty="0"/>
          </a:p>
        </p:txBody>
      </p:sp>
      <p:sp>
        <p:nvSpPr>
          <p:cNvPr id="9" name="Text 7"/>
          <p:cNvSpPr txBox="1"/>
          <p:nvPr/>
        </p:nvSpPr>
        <p:spPr>
          <a:xfrm>
            <a:off x="566928" y="2478024"/>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L2 · DỊCH VỤ</a:t>
            </a:r>
            <a:endParaRPr lang="en-US" sz="1050" dirty="0"/>
          </a:p>
        </p:txBody>
      </p:sp>
      <p:sp>
        <p:nvSpPr>
          <p:cNvPr id="10" name="Shape 8"/>
          <p:cNvSpPr/>
          <p:nvPr/>
        </p:nvSpPr>
        <p:spPr>
          <a:xfrm>
            <a:off x="1755648"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11" name="Text 9"/>
          <p:cNvSpPr txBox="1"/>
          <p:nvPr/>
        </p:nvSpPr>
        <p:spPr>
          <a:xfrm>
            <a:off x="1883664"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Trích xuất</a:t>
            </a:r>
            <a:endParaRPr lang="en-US" sz="1200" dirty="0"/>
          </a:p>
        </p:txBody>
      </p:sp>
      <p:sp>
        <p:nvSpPr>
          <p:cNvPr id="12" name="Text 10"/>
          <p:cNvSpPr txBox="1"/>
          <p:nvPr/>
        </p:nvSpPr>
        <p:spPr>
          <a:xfrm>
            <a:off x="1883664"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song ngữ</a:t>
            </a:r>
            <a:endParaRPr lang="en-US" sz="1000" dirty="0"/>
          </a:p>
        </p:txBody>
      </p:sp>
      <p:sp>
        <p:nvSpPr>
          <p:cNvPr id="13" name="Shape 11"/>
          <p:cNvSpPr/>
          <p:nvPr/>
        </p:nvSpPr>
        <p:spPr>
          <a:xfrm>
            <a:off x="3419856"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14" name="Text 12"/>
          <p:cNvSpPr txBox="1"/>
          <p:nvPr/>
        </p:nvSpPr>
        <p:spPr>
          <a:xfrm>
            <a:off x="3547872"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Chuẩn hóa</a:t>
            </a:r>
            <a:endParaRPr lang="en-US" sz="1200" dirty="0"/>
          </a:p>
        </p:txBody>
      </p:sp>
      <p:sp>
        <p:nvSpPr>
          <p:cNvPr id="15" name="Text 13"/>
          <p:cNvSpPr txBox="1"/>
          <p:nvPr/>
        </p:nvSpPr>
        <p:spPr>
          <a:xfrm>
            <a:off x="3547872"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khóa · giá trị</a:t>
            </a:r>
            <a:endParaRPr lang="en-US" sz="1000" dirty="0"/>
          </a:p>
        </p:txBody>
      </p:sp>
      <p:sp>
        <p:nvSpPr>
          <p:cNvPr id="16" name="Shape 14"/>
          <p:cNvSpPr/>
          <p:nvPr/>
        </p:nvSpPr>
        <p:spPr>
          <a:xfrm>
            <a:off x="5084064"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17" name="Text 15"/>
          <p:cNvSpPr txBox="1"/>
          <p:nvPr/>
        </p:nvSpPr>
        <p:spPr>
          <a:xfrm>
            <a:off x="5212080"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Cập nhật</a:t>
            </a:r>
            <a:endParaRPr lang="en-US" sz="1200" dirty="0"/>
          </a:p>
        </p:txBody>
      </p:sp>
      <p:sp>
        <p:nvSpPr>
          <p:cNvPr id="18" name="Text 16"/>
          <p:cNvSpPr txBox="1"/>
          <p:nvPr/>
        </p:nvSpPr>
        <p:spPr>
          <a:xfrm>
            <a:off x="5212080"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seq · xung đột</a:t>
            </a:r>
            <a:endParaRPr lang="en-US" sz="1000" dirty="0"/>
          </a:p>
        </p:txBody>
      </p:sp>
      <p:sp>
        <p:nvSpPr>
          <p:cNvPr id="19" name="Shape 17"/>
          <p:cNvSpPr/>
          <p:nvPr/>
        </p:nvSpPr>
        <p:spPr>
          <a:xfrm>
            <a:off x="6748272"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20" name="Text 18"/>
          <p:cNvSpPr txBox="1"/>
          <p:nvPr/>
        </p:nvSpPr>
        <p:spPr>
          <a:xfrm>
            <a:off x="6876288"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Truy xuất</a:t>
            </a:r>
            <a:endParaRPr lang="en-US" sz="1200" dirty="0"/>
          </a:p>
        </p:txBody>
      </p:sp>
      <p:sp>
        <p:nvSpPr>
          <p:cNvPr id="21" name="Text 19"/>
          <p:cNvSpPr txBox="1"/>
          <p:nvPr/>
        </p:nvSpPr>
        <p:spPr>
          <a:xfrm>
            <a:off x="6876288"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lai · rerank</a:t>
            </a:r>
            <a:endParaRPr lang="en-US" sz="1000" dirty="0"/>
          </a:p>
        </p:txBody>
      </p:sp>
      <p:sp>
        <p:nvSpPr>
          <p:cNvPr id="22" name="Shape 20"/>
          <p:cNvSpPr/>
          <p:nvPr/>
        </p:nvSpPr>
        <p:spPr>
          <a:xfrm>
            <a:off x="8412480"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23" name="Text 21"/>
          <p:cNvSpPr txBox="1"/>
          <p:nvPr/>
        </p:nvSpPr>
        <p:spPr>
          <a:xfrm>
            <a:off x="8540496"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Lắp ngữ cảnh</a:t>
            </a:r>
            <a:endParaRPr lang="en-US" sz="1200" dirty="0"/>
          </a:p>
        </p:txBody>
      </p:sp>
      <p:sp>
        <p:nvSpPr>
          <p:cNvPr id="24" name="Text 22"/>
          <p:cNvSpPr txBox="1"/>
          <p:nvPr/>
        </p:nvSpPr>
        <p:spPr>
          <a:xfrm>
            <a:off x="8540496"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hạn ngạch token</a:t>
            </a:r>
            <a:endParaRPr lang="en-US" sz="1000" dirty="0"/>
          </a:p>
        </p:txBody>
      </p:sp>
      <p:sp>
        <p:nvSpPr>
          <p:cNvPr id="25" name="Shape 23"/>
          <p:cNvSpPr/>
          <p:nvPr/>
        </p:nvSpPr>
        <p:spPr>
          <a:xfrm>
            <a:off x="10076688" y="2267712"/>
            <a:ext cx="1536192" cy="713232"/>
          </a:xfrm>
          <a:prstGeom prst="roundRect">
            <a:avLst>
              <a:gd name="adj" fmla="val 6410"/>
            </a:avLst>
          </a:prstGeom>
          <a:solidFill>
            <a:srgbClr val="ECEBF7"/>
          </a:solidFill>
          <a:ln w="12700">
            <a:solidFill>
              <a:srgbClr val="ECEBF7"/>
            </a:solidFill>
            <a:prstDash val="solid"/>
          </a:ln>
        </p:spPr>
        <p:txBody>
          <a:bodyPr/>
          <a:lstStyle/>
          <a:p>
            <a:endParaRPr lang="en-US"/>
          </a:p>
        </p:txBody>
      </p:sp>
      <p:sp>
        <p:nvSpPr>
          <p:cNvPr id="26" name="Text 24"/>
          <p:cNvSpPr txBox="1"/>
          <p:nvPr/>
        </p:nvSpPr>
        <p:spPr>
          <a:xfrm>
            <a:off x="10204704" y="2368296"/>
            <a:ext cx="1280160"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Tóm tắt</a:t>
            </a:r>
            <a:endParaRPr lang="en-US" sz="1200" dirty="0"/>
          </a:p>
        </p:txBody>
      </p:sp>
      <p:sp>
        <p:nvSpPr>
          <p:cNvPr id="27" name="Text 25"/>
          <p:cNvSpPr txBox="1"/>
          <p:nvPr/>
        </p:nvSpPr>
        <p:spPr>
          <a:xfrm>
            <a:off x="10204704" y="2633472"/>
            <a:ext cx="1280160" cy="256032"/>
          </a:xfrm>
          <a:prstGeom prst="rect">
            <a:avLst/>
          </a:prstGeom>
          <a:noFill/>
          <a:ln/>
        </p:spPr>
        <p:txBody>
          <a:bodyPr wrap="square" lIns="0" tIns="0" rIns="0" bIns="0" rtlCol="0" anchor="t"/>
          <a:lstStyle/>
          <a:p>
            <a:pPr marL="0" indent="0">
              <a:lnSpc>
                <a:spcPct val="92000"/>
              </a:lnSpc>
              <a:buNone/>
            </a:pPr>
            <a:r>
              <a:rPr lang="en-US" sz="1000" dirty="0">
                <a:solidFill>
                  <a:srgbClr val="4A4E63"/>
                </a:solidFill>
                <a:latin typeface="Calibri" pitchFamily="34" charset="0"/>
                <a:ea typeface="Calibri" pitchFamily="34" charset="-122"/>
                <a:cs typeface="Calibri" pitchFamily="34" charset="-120"/>
              </a:rPr>
              <a:t>theo phiên</a:t>
            </a:r>
            <a:endParaRPr lang="en-US" sz="1000" dirty="0"/>
          </a:p>
        </p:txBody>
      </p:sp>
      <p:sp>
        <p:nvSpPr>
          <p:cNvPr id="28" name="Text 26"/>
          <p:cNvSpPr txBox="1"/>
          <p:nvPr/>
        </p:nvSpPr>
        <p:spPr>
          <a:xfrm>
            <a:off x="566928" y="3236976"/>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L3 · CHỈ MỤC</a:t>
            </a:r>
            <a:endParaRPr lang="en-US" sz="1050" dirty="0"/>
          </a:p>
        </p:txBody>
      </p:sp>
      <p:sp>
        <p:nvSpPr>
          <p:cNvPr id="29" name="Shape 27"/>
          <p:cNvSpPr/>
          <p:nvPr/>
        </p:nvSpPr>
        <p:spPr>
          <a:xfrm>
            <a:off x="1755648" y="3072384"/>
            <a:ext cx="2368296" cy="621792"/>
          </a:xfrm>
          <a:prstGeom prst="roundRect">
            <a:avLst>
              <a:gd name="adj" fmla="val 7353"/>
            </a:avLst>
          </a:prstGeom>
          <a:solidFill>
            <a:srgbClr val="ECEBF7"/>
          </a:solidFill>
          <a:ln w="12700">
            <a:solidFill>
              <a:srgbClr val="ECEBF7"/>
            </a:solidFill>
            <a:prstDash val="solid"/>
          </a:ln>
        </p:spPr>
        <p:txBody>
          <a:bodyPr/>
          <a:lstStyle/>
          <a:p>
            <a:endParaRPr lang="en-US"/>
          </a:p>
        </p:txBody>
      </p:sp>
      <p:sp>
        <p:nvSpPr>
          <p:cNvPr id="30" name="Text 28"/>
          <p:cNvSpPr txBox="1"/>
          <p:nvPr/>
        </p:nvSpPr>
        <p:spPr>
          <a:xfrm>
            <a:off x="1883664" y="3264408"/>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Vector gốc-ngữ</a:t>
            </a:r>
            <a:endParaRPr lang="en-US" sz="1200" dirty="0"/>
          </a:p>
        </p:txBody>
      </p:sp>
      <p:sp>
        <p:nvSpPr>
          <p:cNvPr id="31" name="Shape 29"/>
          <p:cNvSpPr/>
          <p:nvPr/>
        </p:nvSpPr>
        <p:spPr>
          <a:xfrm>
            <a:off x="4251960" y="3072384"/>
            <a:ext cx="2368296" cy="621792"/>
          </a:xfrm>
          <a:prstGeom prst="roundRect">
            <a:avLst>
              <a:gd name="adj" fmla="val 7353"/>
            </a:avLst>
          </a:prstGeom>
          <a:solidFill>
            <a:srgbClr val="ECEBF7"/>
          </a:solidFill>
          <a:ln w="12700">
            <a:solidFill>
              <a:srgbClr val="ECEBF7"/>
            </a:solidFill>
            <a:prstDash val="solid"/>
          </a:ln>
        </p:spPr>
        <p:txBody>
          <a:bodyPr/>
          <a:lstStyle/>
          <a:p>
            <a:endParaRPr lang="en-US"/>
          </a:p>
        </p:txBody>
      </p:sp>
      <p:sp>
        <p:nvSpPr>
          <p:cNvPr id="32" name="Text 30"/>
          <p:cNvSpPr txBox="1"/>
          <p:nvPr/>
        </p:nvSpPr>
        <p:spPr>
          <a:xfrm>
            <a:off x="4379976" y="3264408"/>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Vector chuẩn-hóa</a:t>
            </a:r>
            <a:endParaRPr lang="en-US" sz="1200" dirty="0"/>
          </a:p>
        </p:txBody>
      </p:sp>
      <p:sp>
        <p:nvSpPr>
          <p:cNvPr id="33" name="Shape 31"/>
          <p:cNvSpPr/>
          <p:nvPr/>
        </p:nvSpPr>
        <p:spPr>
          <a:xfrm>
            <a:off x="6748272" y="3072384"/>
            <a:ext cx="2368296" cy="621792"/>
          </a:xfrm>
          <a:prstGeom prst="roundRect">
            <a:avLst>
              <a:gd name="adj" fmla="val 7353"/>
            </a:avLst>
          </a:prstGeom>
          <a:solidFill>
            <a:srgbClr val="ECEBF7"/>
          </a:solidFill>
          <a:ln w="12700">
            <a:solidFill>
              <a:srgbClr val="ECEBF7"/>
            </a:solidFill>
            <a:prstDash val="solid"/>
          </a:ln>
        </p:spPr>
        <p:txBody>
          <a:bodyPr/>
          <a:lstStyle/>
          <a:p>
            <a:endParaRPr lang="en-US"/>
          </a:p>
        </p:txBody>
      </p:sp>
      <p:sp>
        <p:nvSpPr>
          <p:cNvPr id="34" name="Text 32"/>
          <p:cNvSpPr txBox="1"/>
          <p:nvPr/>
        </p:nvSpPr>
        <p:spPr>
          <a:xfrm>
            <a:off x="6876288" y="3264408"/>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BM25 từ khóa</a:t>
            </a:r>
            <a:endParaRPr lang="en-US" sz="1200" dirty="0"/>
          </a:p>
        </p:txBody>
      </p:sp>
      <p:sp>
        <p:nvSpPr>
          <p:cNvPr id="35" name="Shape 33"/>
          <p:cNvSpPr/>
          <p:nvPr/>
        </p:nvSpPr>
        <p:spPr>
          <a:xfrm>
            <a:off x="9244584" y="3072384"/>
            <a:ext cx="2368296" cy="621792"/>
          </a:xfrm>
          <a:prstGeom prst="roundRect">
            <a:avLst>
              <a:gd name="adj" fmla="val 7353"/>
            </a:avLst>
          </a:prstGeom>
          <a:solidFill>
            <a:srgbClr val="ECEBF7"/>
          </a:solidFill>
          <a:ln w="12700">
            <a:solidFill>
              <a:srgbClr val="ECEBF7"/>
            </a:solidFill>
            <a:prstDash val="solid"/>
          </a:ln>
        </p:spPr>
        <p:txBody>
          <a:bodyPr/>
          <a:lstStyle/>
          <a:p>
            <a:endParaRPr lang="en-US"/>
          </a:p>
        </p:txBody>
      </p:sp>
      <p:sp>
        <p:nvSpPr>
          <p:cNvPr id="36" name="Text 34"/>
          <p:cNvSpPr txBox="1"/>
          <p:nvPr/>
        </p:nvSpPr>
        <p:spPr>
          <a:xfrm>
            <a:off x="9372600" y="3264408"/>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Sổ slot</a:t>
            </a:r>
            <a:endParaRPr lang="en-US" sz="1200" dirty="0"/>
          </a:p>
        </p:txBody>
      </p:sp>
      <p:sp>
        <p:nvSpPr>
          <p:cNvPr id="37" name="Text 35"/>
          <p:cNvSpPr txBox="1"/>
          <p:nvPr/>
        </p:nvSpPr>
        <p:spPr>
          <a:xfrm>
            <a:off x="566928" y="3931920"/>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L4 · LƯU TRỮ</a:t>
            </a:r>
            <a:endParaRPr lang="en-US" sz="1050" dirty="0"/>
          </a:p>
        </p:txBody>
      </p:sp>
      <p:sp>
        <p:nvSpPr>
          <p:cNvPr id="38" name="Shape 36"/>
          <p:cNvSpPr/>
          <p:nvPr/>
        </p:nvSpPr>
        <p:spPr>
          <a:xfrm>
            <a:off x="1755648" y="3785616"/>
            <a:ext cx="4864608" cy="585216"/>
          </a:xfrm>
          <a:prstGeom prst="roundRect">
            <a:avLst>
              <a:gd name="adj" fmla="val 7813"/>
            </a:avLst>
          </a:prstGeom>
          <a:solidFill>
            <a:srgbClr val="13123A"/>
          </a:solidFill>
          <a:ln w="12700">
            <a:solidFill>
              <a:srgbClr val="13123A"/>
            </a:solidFill>
            <a:prstDash val="solid"/>
          </a:ln>
        </p:spPr>
        <p:txBody>
          <a:bodyPr/>
          <a:lstStyle/>
          <a:p>
            <a:endParaRPr lang="en-US"/>
          </a:p>
        </p:txBody>
      </p:sp>
      <p:sp>
        <p:nvSpPr>
          <p:cNvPr id="39" name="Text 37"/>
          <p:cNvSpPr txBox="1"/>
          <p:nvPr/>
        </p:nvSpPr>
        <p:spPr>
          <a:xfrm>
            <a:off x="1883664" y="3959352"/>
            <a:ext cx="4608576" cy="237744"/>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SQLite — sổ cái, nguồn sự thật</a:t>
            </a:r>
            <a:endParaRPr lang="en-US" sz="1200" dirty="0"/>
          </a:p>
        </p:txBody>
      </p:sp>
      <p:sp>
        <p:nvSpPr>
          <p:cNvPr id="40" name="Shape 38"/>
          <p:cNvSpPr/>
          <p:nvPr/>
        </p:nvSpPr>
        <p:spPr>
          <a:xfrm>
            <a:off x="6748272" y="3785616"/>
            <a:ext cx="4864608" cy="585216"/>
          </a:xfrm>
          <a:prstGeom prst="roundRect">
            <a:avLst>
              <a:gd name="adj" fmla="val 7813"/>
            </a:avLst>
          </a:prstGeom>
          <a:solidFill>
            <a:srgbClr val="13123A"/>
          </a:solidFill>
          <a:ln w="12700">
            <a:solidFill>
              <a:srgbClr val="13123A"/>
            </a:solidFill>
            <a:prstDash val="solid"/>
          </a:ln>
        </p:spPr>
        <p:txBody>
          <a:bodyPr/>
          <a:lstStyle/>
          <a:p>
            <a:endParaRPr lang="en-US"/>
          </a:p>
        </p:txBody>
      </p:sp>
      <p:sp>
        <p:nvSpPr>
          <p:cNvPr id="41" name="Text 39"/>
          <p:cNvSpPr txBox="1"/>
          <p:nvPr/>
        </p:nvSpPr>
        <p:spPr>
          <a:xfrm>
            <a:off x="6876288" y="3959352"/>
            <a:ext cx="4608576" cy="237744"/>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ChromaDB — chỉ mục vector</a:t>
            </a:r>
            <a:endParaRPr lang="en-US" sz="1200" dirty="0"/>
          </a:p>
        </p:txBody>
      </p:sp>
      <p:sp>
        <p:nvSpPr>
          <p:cNvPr id="42" name="Text 40"/>
          <p:cNvSpPr txBox="1"/>
          <p:nvPr/>
        </p:nvSpPr>
        <p:spPr>
          <a:xfrm>
            <a:off x="566928" y="4581144"/>
            <a:ext cx="1078992" cy="292608"/>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XUYÊN SUỐT</a:t>
            </a:r>
            <a:endParaRPr lang="en-US" sz="1050" dirty="0"/>
          </a:p>
        </p:txBody>
      </p:sp>
      <p:sp>
        <p:nvSpPr>
          <p:cNvPr id="43" name="Shape 41"/>
          <p:cNvSpPr/>
          <p:nvPr/>
        </p:nvSpPr>
        <p:spPr>
          <a:xfrm>
            <a:off x="1755648" y="4462272"/>
            <a:ext cx="2368296" cy="530352"/>
          </a:xfrm>
          <a:prstGeom prst="roundRect">
            <a:avLst>
              <a:gd name="adj" fmla="val 8621"/>
            </a:avLst>
          </a:prstGeom>
          <a:solidFill>
            <a:srgbClr val="ECEBF7"/>
          </a:solidFill>
          <a:ln w="12700">
            <a:solidFill>
              <a:srgbClr val="ECEBF7"/>
            </a:solidFill>
            <a:prstDash val="solid"/>
          </a:ln>
        </p:spPr>
        <p:txBody>
          <a:bodyPr/>
          <a:lstStyle/>
          <a:p>
            <a:endParaRPr lang="en-US"/>
          </a:p>
        </p:txBody>
      </p:sp>
      <p:sp>
        <p:nvSpPr>
          <p:cNvPr id="44" name="Text 42"/>
          <p:cNvSpPr txBox="1"/>
          <p:nvPr/>
        </p:nvSpPr>
        <p:spPr>
          <a:xfrm>
            <a:off x="1883664" y="4608576"/>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Ngôn ngữ</a:t>
            </a:r>
            <a:endParaRPr lang="en-US" sz="1200" dirty="0"/>
          </a:p>
        </p:txBody>
      </p:sp>
      <p:sp>
        <p:nvSpPr>
          <p:cNvPr id="45" name="Shape 43"/>
          <p:cNvSpPr/>
          <p:nvPr/>
        </p:nvSpPr>
        <p:spPr>
          <a:xfrm>
            <a:off x="4251960" y="4462272"/>
            <a:ext cx="2368296" cy="530352"/>
          </a:xfrm>
          <a:prstGeom prst="roundRect">
            <a:avLst>
              <a:gd name="adj" fmla="val 8621"/>
            </a:avLst>
          </a:prstGeom>
          <a:solidFill>
            <a:srgbClr val="ECEBF7"/>
          </a:solidFill>
          <a:ln w="12700">
            <a:solidFill>
              <a:srgbClr val="ECEBF7"/>
            </a:solidFill>
            <a:prstDash val="solid"/>
          </a:ln>
        </p:spPr>
        <p:txBody>
          <a:bodyPr/>
          <a:lstStyle/>
          <a:p>
            <a:endParaRPr lang="en-US"/>
          </a:p>
        </p:txBody>
      </p:sp>
      <p:sp>
        <p:nvSpPr>
          <p:cNvPr id="46" name="Text 44"/>
          <p:cNvSpPr txBox="1"/>
          <p:nvPr/>
        </p:nvSpPr>
        <p:spPr>
          <a:xfrm>
            <a:off x="4379976" y="4608576"/>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Nguồn gốc</a:t>
            </a:r>
            <a:endParaRPr lang="en-US" sz="1200" dirty="0"/>
          </a:p>
        </p:txBody>
      </p:sp>
      <p:sp>
        <p:nvSpPr>
          <p:cNvPr id="47" name="Shape 45"/>
          <p:cNvSpPr/>
          <p:nvPr/>
        </p:nvSpPr>
        <p:spPr>
          <a:xfrm>
            <a:off x="6748272" y="4462272"/>
            <a:ext cx="2368296" cy="530352"/>
          </a:xfrm>
          <a:prstGeom prst="roundRect">
            <a:avLst>
              <a:gd name="adj" fmla="val 8621"/>
            </a:avLst>
          </a:prstGeom>
          <a:solidFill>
            <a:srgbClr val="ECEBF7"/>
          </a:solidFill>
          <a:ln w="12700">
            <a:solidFill>
              <a:srgbClr val="ECEBF7"/>
            </a:solidFill>
            <a:prstDash val="solid"/>
          </a:ln>
        </p:spPr>
        <p:txBody>
          <a:bodyPr/>
          <a:lstStyle/>
          <a:p>
            <a:endParaRPr lang="en-US"/>
          </a:p>
        </p:txBody>
      </p:sp>
      <p:sp>
        <p:nvSpPr>
          <p:cNvPr id="48" name="Text 46"/>
          <p:cNvSpPr txBox="1"/>
          <p:nvPr/>
        </p:nvSpPr>
        <p:spPr>
          <a:xfrm>
            <a:off x="6876288" y="4608576"/>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Cache</a:t>
            </a:r>
            <a:endParaRPr lang="en-US" sz="1200" dirty="0"/>
          </a:p>
        </p:txBody>
      </p:sp>
      <p:sp>
        <p:nvSpPr>
          <p:cNvPr id="49" name="Shape 47"/>
          <p:cNvSpPr/>
          <p:nvPr/>
        </p:nvSpPr>
        <p:spPr>
          <a:xfrm>
            <a:off x="9244584" y="4462272"/>
            <a:ext cx="2368296" cy="530352"/>
          </a:xfrm>
          <a:prstGeom prst="roundRect">
            <a:avLst>
              <a:gd name="adj" fmla="val 8621"/>
            </a:avLst>
          </a:prstGeom>
          <a:solidFill>
            <a:srgbClr val="ECEBF7"/>
          </a:solidFill>
          <a:ln w="12700">
            <a:solidFill>
              <a:srgbClr val="ECEBF7"/>
            </a:solidFill>
            <a:prstDash val="solid"/>
          </a:ln>
        </p:spPr>
        <p:txBody>
          <a:bodyPr/>
          <a:lstStyle/>
          <a:p>
            <a:endParaRPr lang="en-US"/>
          </a:p>
        </p:txBody>
      </p:sp>
      <p:sp>
        <p:nvSpPr>
          <p:cNvPr id="50" name="Text 48"/>
          <p:cNvSpPr txBox="1"/>
          <p:nvPr/>
        </p:nvSpPr>
        <p:spPr>
          <a:xfrm>
            <a:off x="9372600" y="4608576"/>
            <a:ext cx="2112264" cy="237744"/>
          </a:xfrm>
          <a:prstGeom prst="rect">
            <a:avLst/>
          </a:prstGeom>
          <a:noFill/>
          <a:ln/>
        </p:spPr>
        <p:txBody>
          <a:bodyPr wrap="square" lIns="0" tIns="0" rIns="0" bIns="0" rtlCol="0" anchor="ctr"/>
          <a:lstStyle/>
          <a:p>
            <a:pPr marL="0" indent="0">
              <a:buNone/>
            </a:pPr>
            <a:r>
              <a:rPr lang="en-US" sz="1200" b="1" dirty="0">
                <a:solidFill>
                  <a:srgbClr val="13123A"/>
                </a:solidFill>
                <a:latin typeface="Cambria" pitchFamily="34" charset="0"/>
                <a:ea typeface="Cambria" pitchFamily="34" charset="-122"/>
                <a:cs typeface="Cambria" pitchFamily="34" charset="-120"/>
              </a:rPr>
              <a:t>Nhật ký vết</a:t>
            </a:r>
            <a:endParaRPr lang="en-US" sz="1200" dirty="0"/>
          </a:p>
        </p:txBody>
      </p:sp>
      <p:sp>
        <p:nvSpPr>
          <p:cNvPr id="51" name="Shape 49"/>
          <p:cNvSpPr/>
          <p:nvPr/>
        </p:nvSpPr>
        <p:spPr>
          <a:xfrm>
            <a:off x="566928" y="5138928"/>
            <a:ext cx="11045952" cy="1133856"/>
          </a:xfrm>
          <a:prstGeom prst="roundRect">
            <a:avLst>
              <a:gd name="adj" fmla="val 4032"/>
            </a:avLst>
          </a:prstGeom>
          <a:solidFill>
            <a:srgbClr val="13123A"/>
          </a:solidFill>
          <a:ln w="12700">
            <a:solidFill>
              <a:srgbClr val="13123A"/>
            </a:solidFill>
            <a:prstDash val="solid"/>
          </a:ln>
        </p:spPr>
        <p:txBody>
          <a:bodyPr/>
          <a:lstStyle/>
          <a:p>
            <a:endParaRPr lang="en-US"/>
          </a:p>
        </p:txBody>
      </p:sp>
      <p:sp>
        <p:nvSpPr>
          <p:cNvPr id="52" name="Text 50"/>
          <p:cNvSpPr txBox="1"/>
          <p:nvPr/>
        </p:nvSpPr>
        <p:spPr>
          <a:xfrm>
            <a:off x="822960" y="5321808"/>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VÌ SAO TÁCH SỔ CÁI KHỎI CHỈ MỤC</a:t>
            </a:r>
            <a:endParaRPr lang="en-US" sz="1100" dirty="0"/>
          </a:p>
        </p:txBody>
      </p:sp>
      <p:sp>
        <p:nvSpPr>
          <p:cNvPr id="53" name="Text 51"/>
          <p:cNvSpPr txBox="1"/>
          <p:nvPr/>
        </p:nvSpPr>
        <p:spPr>
          <a:xfrm>
            <a:off x="822960" y="5596128"/>
            <a:ext cx="10533888" cy="530352"/>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Tuần trước Chroma vừa là kho vừa là chỉ mục. Ba vấn đề: max(seq) phải quét toàn bộ bản ghi thay vì một câu SQL; không có ràng buộc toàn vẹn nên lỗi logic lọt âm thầm; và đổi mô hình embedding là phải nhúng lại tất cả. Sau khi tách, Chroma và BM25 chỉ là chỉ mục dẫn xuất — dựng lại được từ SQLite bằng một lệnh, nên quét tham số ở tuần 6 không sợ hỏng dữ liệu.</a:t>
            </a:r>
            <a:endParaRPr lang="en-US" sz="1250" dirty="0"/>
          </a:p>
        </p:txBody>
      </p:sp>
      <p:sp>
        <p:nvSpPr>
          <p:cNvPr id="54" name="Text 52"/>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Nguyên tắc tách nguồn sự thật khỏi chỉ mục là thực hành chuẩn trong hệ truy xuất; cảnh báo về phương sai theo mô hình nền: Jiang et al., arXiv:2602.19320 (2026).</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E9970B"/>
                </a:solidFill>
                <a:latin typeface="Calibri" pitchFamily="34" charset="0"/>
                <a:ea typeface="Calibri" pitchFamily="34" charset="-122"/>
                <a:cs typeface="Calibri" pitchFamily="34" charset="-120"/>
              </a:rPr>
              <a:t>THIẾT KẾ · 2/5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Xử lý song ngữ Việt – Anh</a:t>
            </a:r>
            <a:endParaRPr lang="en-US" sz="3000" dirty="0"/>
          </a:p>
        </p:txBody>
      </p:sp>
      <p:sp>
        <p:nvSpPr>
          <p:cNvPr id="4" name="Shape 2"/>
          <p:cNvSpPr/>
          <p:nvPr/>
        </p:nvSpPr>
        <p:spPr>
          <a:xfrm>
            <a:off x="566928" y="1673352"/>
            <a:ext cx="3483864" cy="1737360"/>
          </a:xfrm>
          <a:prstGeom prst="roundRect">
            <a:avLst>
              <a:gd name="adj" fmla="val 2632"/>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804672" y="1847088"/>
            <a:ext cx="300837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TẦNG GHI</a:t>
            </a:r>
            <a:endParaRPr lang="en-US" sz="1050" dirty="0"/>
          </a:p>
        </p:txBody>
      </p:sp>
      <p:sp>
        <p:nvSpPr>
          <p:cNvPr id="6" name="Text 4"/>
          <p:cNvSpPr txBox="1"/>
          <p:nvPr/>
        </p:nvSpPr>
        <p:spPr>
          <a:xfrm>
            <a:off x="804672" y="2121408"/>
            <a:ext cx="300837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Lưu hai dạng văn bản</a:t>
            </a:r>
            <a:endParaRPr lang="en-US" sz="1400" dirty="0"/>
          </a:p>
        </p:txBody>
      </p:sp>
      <p:sp>
        <p:nvSpPr>
          <p:cNvPr id="7" name="Text 5"/>
          <p:cNvSpPr txBox="1"/>
          <p:nvPr/>
        </p:nvSpPr>
        <p:spPr>
          <a:xfrm>
            <a:off x="804672" y="2468880"/>
            <a:ext cx="3008376" cy="81381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text giữ nguyên câu người dùng nói; text_canon là bản tiếng Anh chuẩn hóa. Bộ trích xuất vốn đã đọc lượt đó nên xuất thêm một trường — không tốn lời gọi LLM nào.</a:t>
            </a:r>
            <a:endParaRPr lang="en-US" sz="1150" dirty="0"/>
          </a:p>
        </p:txBody>
      </p:sp>
      <p:sp>
        <p:nvSpPr>
          <p:cNvPr id="8" name="Shape 6"/>
          <p:cNvSpPr/>
          <p:nvPr/>
        </p:nvSpPr>
        <p:spPr>
          <a:xfrm>
            <a:off x="4352544" y="1673352"/>
            <a:ext cx="3483864" cy="1737360"/>
          </a:xfrm>
          <a:prstGeom prst="roundRect">
            <a:avLst>
              <a:gd name="adj" fmla="val 2632"/>
            </a:avLst>
          </a:prstGeom>
          <a:solidFill>
            <a:srgbClr val="F7F7FB"/>
          </a:solidFill>
          <a:ln w="12700">
            <a:solidFill>
              <a:srgbClr val="F7F7FB"/>
            </a:solidFill>
            <a:prstDash val="solid"/>
          </a:ln>
        </p:spPr>
        <p:txBody>
          <a:bodyPr/>
          <a:lstStyle/>
          <a:p>
            <a:endParaRPr lang="en-US"/>
          </a:p>
        </p:txBody>
      </p:sp>
      <p:sp>
        <p:nvSpPr>
          <p:cNvPr id="9" name="Text 7"/>
          <p:cNvSpPr txBox="1"/>
          <p:nvPr/>
        </p:nvSpPr>
        <p:spPr>
          <a:xfrm>
            <a:off x="4590288" y="1847088"/>
            <a:ext cx="300837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KHÓA SLOT</a:t>
            </a:r>
            <a:endParaRPr lang="en-US" sz="1050" dirty="0"/>
          </a:p>
        </p:txBody>
      </p:sp>
      <p:sp>
        <p:nvSpPr>
          <p:cNvPr id="10" name="Text 8"/>
          <p:cNvSpPr txBox="1"/>
          <p:nvPr/>
        </p:nvSpPr>
        <p:spPr>
          <a:xfrm>
            <a:off x="4590288" y="2121408"/>
            <a:ext cx="300837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Luôn bằng tiếng Anh</a:t>
            </a:r>
            <a:endParaRPr lang="en-US" sz="1400" dirty="0"/>
          </a:p>
        </p:txBody>
      </p:sp>
      <p:sp>
        <p:nvSpPr>
          <p:cNvPr id="11" name="Text 9"/>
          <p:cNvSpPr txBox="1"/>
          <p:nvPr/>
        </p:nvSpPr>
        <p:spPr>
          <a:xfrm>
            <a:off x="4590288" y="2468880"/>
            <a:ext cx="3008376" cy="81381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Nếu “trình độ tiếng Nhật” sinh khóa tiếng Việt còn “Japanese level” sinh khóa tiếng Anh, hệ coi là hai thuộc tính khác nhau và mất khả năng phát hiện cập nhật — mà không báo lỗi.</a:t>
            </a:r>
            <a:endParaRPr lang="en-US" sz="1150" dirty="0"/>
          </a:p>
        </p:txBody>
      </p:sp>
      <p:sp>
        <p:nvSpPr>
          <p:cNvPr id="12" name="Shape 10"/>
          <p:cNvSpPr/>
          <p:nvPr/>
        </p:nvSpPr>
        <p:spPr>
          <a:xfrm>
            <a:off x="8138160" y="1673352"/>
            <a:ext cx="3483864" cy="1737360"/>
          </a:xfrm>
          <a:prstGeom prst="roundRect">
            <a:avLst>
              <a:gd name="adj" fmla="val 2632"/>
            </a:avLst>
          </a:prstGeom>
          <a:solidFill>
            <a:srgbClr val="ECEBF7"/>
          </a:solidFill>
          <a:ln w="12700">
            <a:solidFill>
              <a:srgbClr val="ECEBF7"/>
            </a:solidFill>
            <a:prstDash val="solid"/>
          </a:ln>
        </p:spPr>
        <p:txBody>
          <a:bodyPr/>
          <a:lstStyle/>
          <a:p>
            <a:endParaRPr lang="en-US"/>
          </a:p>
        </p:txBody>
      </p:sp>
      <p:sp>
        <p:nvSpPr>
          <p:cNvPr id="13" name="Text 11"/>
          <p:cNvSpPr txBox="1"/>
          <p:nvPr/>
        </p:nvSpPr>
        <p:spPr>
          <a:xfrm>
            <a:off x="8375904" y="1847088"/>
            <a:ext cx="300837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GIÁ TRỊ</a:t>
            </a:r>
            <a:endParaRPr lang="en-US" sz="1050" dirty="0"/>
          </a:p>
        </p:txBody>
      </p:sp>
      <p:sp>
        <p:nvSpPr>
          <p:cNvPr id="14" name="Text 12"/>
          <p:cNvSpPr txBox="1"/>
          <p:nvPr/>
        </p:nvSpPr>
        <p:spPr>
          <a:xfrm>
            <a:off x="8375904" y="2121408"/>
            <a:ext cx="300837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Chuẩn hóa trước khi so</a:t>
            </a:r>
            <a:endParaRPr lang="en-US" sz="1400" dirty="0"/>
          </a:p>
        </p:txBody>
      </p:sp>
      <p:sp>
        <p:nvSpPr>
          <p:cNvPr id="15" name="Text 13"/>
          <p:cNvSpPr txBox="1"/>
          <p:nvPr/>
        </p:nvSpPr>
        <p:spPr>
          <a:xfrm>
            <a:off x="8375904" y="2468880"/>
            <a:ext cx="3008376" cy="81381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Hà Nội · Hanoi · HN phải so được với nhau. Ngày về ISO, cấp độ viết hoa, tên riêng giữ bản dài nhất. Không chuẩn hóa thì hệ báo UPDATE trong khi không có gì đổi.</a:t>
            </a:r>
            <a:endParaRPr lang="en-US" sz="1150" dirty="0"/>
          </a:p>
        </p:txBody>
      </p:sp>
      <p:sp>
        <p:nvSpPr>
          <p:cNvPr id="16" name="Shape 14"/>
          <p:cNvSpPr/>
          <p:nvPr/>
        </p:nvSpPr>
        <p:spPr>
          <a:xfrm>
            <a:off x="566928" y="3584448"/>
            <a:ext cx="5358384" cy="1188720"/>
          </a:xfrm>
          <a:prstGeom prst="roundRect">
            <a:avLst>
              <a:gd name="adj" fmla="val 3846"/>
            </a:avLst>
          </a:prstGeom>
          <a:solidFill>
            <a:srgbClr val="F7F7FB"/>
          </a:solidFill>
          <a:ln w="12700">
            <a:solidFill>
              <a:srgbClr val="F7F7FB"/>
            </a:solidFill>
            <a:prstDash val="solid"/>
          </a:ln>
        </p:spPr>
        <p:txBody>
          <a:bodyPr/>
          <a:lstStyle/>
          <a:p>
            <a:endParaRPr lang="en-US"/>
          </a:p>
        </p:txBody>
      </p:sp>
      <p:sp>
        <p:nvSpPr>
          <p:cNvPr id="17" name="Text 15"/>
          <p:cNvSpPr txBox="1"/>
          <p:nvPr/>
        </p:nvSpPr>
        <p:spPr>
          <a:xfrm>
            <a:off x="804672" y="3758184"/>
            <a:ext cx="4882896" cy="219456"/>
          </a:xfrm>
          <a:prstGeom prst="rect">
            <a:avLst/>
          </a:prstGeom>
          <a:noFill/>
          <a:ln/>
        </p:spPr>
        <p:txBody>
          <a:bodyPr wrap="square" lIns="0" tIns="0" rIns="0" bIns="0" rtlCol="0" anchor="ctr"/>
          <a:lstStyle/>
          <a:p>
            <a:pPr marL="0" indent="0">
              <a:buNone/>
            </a:pPr>
            <a:r>
              <a:rPr lang="en-US" sz="1050" b="1" dirty="0">
                <a:solidFill>
                  <a:srgbClr val="1FA6A6"/>
                </a:solidFill>
                <a:latin typeface="Calibri" pitchFamily="34" charset="0"/>
                <a:ea typeface="Calibri" pitchFamily="34" charset="-122"/>
                <a:cs typeface="Calibri" pitchFamily="34" charset="-120"/>
              </a:rPr>
              <a:t>TẦNG ĐỌC · CỐT LÕI</a:t>
            </a:r>
            <a:endParaRPr lang="en-US" sz="1050" dirty="0"/>
          </a:p>
        </p:txBody>
      </p:sp>
      <p:sp>
        <p:nvSpPr>
          <p:cNvPr id="18" name="Text 16"/>
          <p:cNvSpPr txBox="1"/>
          <p:nvPr/>
        </p:nvSpPr>
        <p:spPr>
          <a:xfrm>
            <a:off x="804672" y="4032504"/>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Một chỉ mục, mô hình xuyên ngữ</a:t>
            </a:r>
            <a:endParaRPr lang="en-US" sz="1400" dirty="0"/>
          </a:p>
        </p:txBody>
      </p:sp>
      <p:sp>
        <p:nvSpPr>
          <p:cNvPr id="19" name="Text 17"/>
          <p:cNvSpPr txBox="1"/>
          <p:nvPr/>
        </p:nvSpPr>
        <p:spPr>
          <a:xfrm>
            <a:off x="804672" y="4379976"/>
            <a:ext cx="4882896" cy="2651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Nhúng text_canon bằng BGE-M3. Một chỉ mục duy nhất phục vụ cả hai ngôn ngữ — đủ cho phạm vi đồ án.</a:t>
            </a:r>
            <a:endParaRPr lang="en-US" sz="1150" dirty="0"/>
          </a:p>
        </p:txBody>
      </p:sp>
      <p:sp>
        <p:nvSpPr>
          <p:cNvPr id="20" name="Shape 18"/>
          <p:cNvSpPr/>
          <p:nvPr/>
        </p:nvSpPr>
        <p:spPr>
          <a:xfrm>
            <a:off x="6254496" y="3584448"/>
            <a:ext cx="5358384" cy="1188720"/>
          </a:xfrm>
          <a:prstGeom prst="roundRect">
            <a:avLst>
              <a:gd name="adj" fmla="val 3846"/>
            </a:avLst>
          </a:prstGeom>
          <a:solidFill>
            <a:srgbClr val="F7F7FB"/>
          </a:solidFill>
          <a:ln w="12700">
            <a:solidFill>
              <a:srgbClr val="F7F7FB"/>
            </a:solidFill>
            <a:prstDash val="solid"/>
          </a:ln>
        </p:spPr>
        <p:txBody>
          <a:bodyPr/>
          <a:lstStyle/>
          <a:p>
            <a:endParaRPr lang="en-US"/>
          </a:p>
        </p:txBody>
      </p:sp>
      <p:sp>
        <p:nvSpPr>
          <p:cNvPr id="21" name="Text 19"/>
          <p:cNvSpPr txBox="1"/>
          <p:nvPr/>
        </p:nvSpPr>
        <p:spPr>
          <a:xfrm>
            <a:off x="6492240" y="3758184"/>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TẦNG ĐỌC · MỞ RỘNG, CHƯA LÀM</a:t>
            </a:r>
            <a:endParaRPr lang="en-US" sz="1050" dirty="0"/>
          </a:p>
        </p:txBody>
      </p:sp>
      <p:sp>
        <p:nvSpPr>
          <p:cNvPr id="22" name="Text 20"/>
          <p:cNvSpPr txBox="1"/>
          <p:nvPr/>
        </p:nvSpPr>
        <p:spPr>
          <a:xfrm>
            <a:off x="6492240" y="4032504"/>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Chỉ mục kép + RRF</a:t>
            </a:r>
            <a:endParaRPr lang="en-US" sz="1400" dirty="0"/>
          </a:p>
        </p:txBody>
      </p:sp>
      <p:sp>
        <p:nvSpPr>
          <p:cNvPr id="23" name="Text 21"/>
          <p:cNvSpPr txBox="1"/>
          <p:nvPr/>
        </p:nvSpPr>
        <p:spPr>
          <a:xfrm>
            <a:off x="6492240" y="4379976"/>
            <a:ext cx="4882896" cy="2651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Thêm một chỉ mục nhúng text gốc-ngữ rồi hợp nhất bằng RRF. Chỉ cần khi muốn tối ưu riêng trường hợp hỏi khác ngôn ngữ lúc ghi — ngoài phạm vi.</a:t>
            </a:r>
            <a:endParaRPr lang="en-US" sz="1150" dirty="0"/>
          </a:p>
        </p:txBody>
      </p:sp>
      <p:sp>
        <p:nvSpPr>
          <p:cNvPr id="24" name="Shape 22"/>
          <p:cNvSpPr/>
          <p:nvPr/>
        </p:nvSpPr>
        <p:spPr>
          <a:xfrm>
            <a:off x="566928" y="4956048"/>
            <a:ext cx="11045952" cy="1298448"/>
          </a:xfrm>
          <a:prstGeom prst="roundRect">
            <a:avLst>
              <a:gd name="adj" fmla="val 3521"/>
            </a:avLst>
          </a:prstGeom>
          <a:solidFill>
            <a:srgbClr val="13123A"/>
          </a:solidFill>
          <a:ln w="12700">
            <a:solidFill>
              <a:srgbClr val="13123A"/>
            </a:solidFill>
            <a:prstDash val="solid"/>
          </a:ln>
        </p:spPr>
        <p:txBody>
          <a:bodyPr/>
          <a:lstStyle/>
          <a:p>
            <a:endParaRPr lang="en-US"/>
          </a:p>
        </p:txBody>
      </p:sp>
      <p:sp>
        <p:nvSpPr>
          <p:cNvPr id="25" name="Text 23"/>
          <p:cNvSpPr txBox="1"/>
          <p:nvPr/>
        </p:nvSpPr>
        <p:spPr>
          <a:xfrm>
            <a:off x="822960" y="5138928"/>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PHẠM VI: LÀM GÌ VÀ KHÔNG LÀM GÌ</a:t>
            </a:r>
            <a:endParaRPr lang="en-US" sz="1100" dirty="0"/>
          </a:p>
        </p:txBody>
      </p:sp>
      <p:sp>
        <p:nvSpPr>
          <p:cNvPr id="26" name="Text 24"/>
          <p:cNvSpPr txBox="1"/>
          <p:nvPr/>
        </p:nvSpPr>
        <p:spPr>
          <a:xfrm>
            <a:off x="822960" y="5413248"/>
            <a:ext cx="10533888" cy="69494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TRONG phạm vi: hệ dùng được cả tiếng Việt lẫn tiếng Anh — ba việc ở tầng ghi phía trên, cộng một chỉ mục dùng mô hình xuyên ngữ. Đây là điều kiện bắt buộc vì cả ba benchmark chuẩn đều là tiếng Anh. NGOÀI phạm vi: tối ưu riêng cho trường hợp hỏi khác ngôn ngữ lúc ghi, và bộ test xuyên ngữ. Vì text_canon đã được lưu ngay từ đầu nên bật phần mở rộng sau này không phải nhập lại dữ liệu.</a:t>
            </a:r>
            <a:endParaRPr lang="en-US" sz="1250" dirty="0"/>
          </a:p>
        </p:txBody>
      </p:sp>
      <p:sp>
        <p:nvSpPr>
          <p:cNvPr id="27" name="Text 25"/>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Reciprocal Rank Fusion: Cormack et al., SIGIR 2009. Mô hình embedding xuyên ngữ dự kiến: BGE-M3, chạy local.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THIẾT KẾ · 3/5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Lược đồ bộ nhớ và nguồn gốc thông tin</a:t>
            </a:r>
            <a:endParaRPr lang="en-US" sz="3000" dirty="0"/>
          </a:p>
        </p:txBody>
      </p:sp>
      <p:sp>
        <p:nvSpPr>
          <p:cNvPr id="4" name="Shape 2"/>
          <p:cNvSpPr/>
          <p:nvPr/>
        </p:nvSpPr>
        <p:spPr>
          <a:xfrm>
            <a:off x="566928" y="1673352"/>
            <a:ext cx="11045952" cy="841248"/>
          </a:xfrm>
          <a:prstGeom prst="roundRect">
            <a:avLst>
              <a:gd name="adj" fmla="val 5435"/>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566928" y="1810512"/>
            <a:ext cx="11045952" cy="274320"/>
          </a:xfrm>
          <a:prstGeom prst="rect">
            <a:avLst/>
          </a:prstGeom>
          <a:noFill/>
          <a:ln/>
        </p:spPr>
        <p:txBody>
          <a:bodyPr wrap="square" lIns="0" tIns="0" rIns="0" bIns="0" rtlCol="0" anchor="ctr"/>
          <a:lstStyle/>
          <a:p>
            <a:pPr marL="0" indent="0" algn="ctr">
              <a:buNone/>
            </a:pPr>
            <a:r>
              <a:rPr lang="en-US" sz="1600" b="1" dirty="0">
                <a:solidFill>
                  <a:srgbClr val="3A36A0"/>
                </a:solidFill>
                <a:latin typeface="Courier New" pitchFamily="34" charset="0"/>
                <a:ea typeface="Courier New" pitchFamily="34" charset="-122"/>
                <a:cs typeface="Courier New" pitchFamily="34" charset="-120"/>
              </a:rPr>
              <a:t>( subject , attribute )</a:t>
            </a:r>
            <a:r>
              <a:rPr lang="en-US" sz="1600" dirty="0">
                <a:solidFill>
                  <a:srgbClr val="4A4E63"/>
                </a:solidFill>
                <a:latin typeface="Courier New" pitchFamily="34" charset="0"/>
                <a:ea typeface="Courier New" pitchFamily="34" charset="-122"/>
                <a:cs typeface="Courier New" pitchFamily="34" charset="-120"/>
              </a:rPr>
              <a:t>  →  </a:t>
            </a:r>
            <a:r>
              <a:rPr lang="en-US" sz="1600" b="1" dirty="0">
                <a:solidFill>
                  <a:srgbClr val="13123A"/>
                </a:solidFill>
                <a:latin typeface="Courier New" pitchFamily="34" charset="0"/>
                <a:ea typeface="Courier New" pitchFamily="34" charset="-122"/>
                <a:cs typeface="Courier New" pitchFamily="34" charset="-120"/>
              </a:rPr>
              <a:t>value</a:t>
            </a:r>
            <a:r>
              <a:rPr lang="en-US" sz="1600" dirty="0">
                <a:solidFill>
                  <a:srgbClr val="4A4E63"/>
                </a:solidFill>
                <a:latin typeface="Courier New" pitchFamily="34" charset="0"/>
                <a:ea typeface="Courier New" pitchFamily="34" charset="-122"/>
                <a:cs typeface="Courier New" pitchFamily="34" charset="-120"/>
              </a:rPr>
              <a:t>   +   </a:t>
            </a:r>
            <a:r>
              <a:rPr lang="en-US" sz="1600" b="1" dirty="0">
                <a:solidFill>
                  <a:srgbClr val="E9970B"/>
                </a:solidFill>
                <a:latin typeface="Courier New" pitchFamily="34" charset="0"/>
                <a:ea typeface="Courier New" pitchFamily="34" charset="-122"/>
                <a:cs typeface="Courier New" pitchFamily="34" charset="-120"/>
              </a:rPr>
              <a:t>seq</a:t>
            </a:r>
            <a:r>
              <a:rPr lang="en-US" sz="1600" dirty="0">
                <a:solidFill>
                  <a:srgbClr val="4A4E63"/>
                </a:solidFill>
                <a:latin typeface="Courier New" pitchFamily="34" charset="0"/>
                <a:ea typeface="Courier New" pitchFamily="34" charset="-122"/>
                <a:cs typeface="Courier New" pitchFamily="34" charset="-120"/>
              </a:rPr>
              <a:t>   +   </a:t>
            </a:r>
            <a:r>
              <a:rPr lang="en-US" sz="1600" b="1" dirty="0">
                <a:solidFill>
                  <a:srgbClr val="1FA6A6"/>
                </a:solidFill>
                <a:latin typeface="Courier New" pitchFamily="34" charset="0"/>
                <a:ea typeface="Courier New" pitchFamily="34" charset="-122"/>
                <a:cs typeface="Courier New" pitchFamily="34" charset="-120"/>
              </a:rPr>
              <a:t>lang</a:t>
            </a:r>
            <a:endParaRPr lang="en-US" sz="1600" dirty="0"/>
          </a:p>
        </p:txBody>
      </p:sp>
      <p:sp>
        <p:nvSpPr>
          <p:cNvPr id="6" name="Text 4"/>
          <p:cNvSpPr txBox="1"/>
          <p:nvPr/>
        </p:nvSpPr>
        <p:spPr>
          <a:xfrm>
            <a:off x="566928" y="2157984"/>
            <a:ext cx="11045952" cy="274320"/>
          </a:xfrm>
          <a:prstGeom prst="rect">
            <a:avLst/>
          </a:prstGeom>
          <a:noFill/>
          <a:ln/>
        </p:spPr>
        <p:txBody>
          <a:bodyPr wrap="square" lIns="0" tIns="0" rIns="0" bIns="0" rtlCol="0" anchor="ctr"/>
          <a:lstStyle/>
          <a:p>
            <a:pPr marL="0" indent="0" algn="ctr">
              <a:buNone/>
            </a:pPr>
            <a:r>
              <a:rPr lang="en-US" sz="1300" dirty="0">
                <a:solidFill>
                  <a:srgbClr val="4A4E63"/>
                </a:solidFill>
                <a:latin typeface="Courier New" pitchFamily="34" charset="0"/>
                <a:ea typeface="Courier New" pitchFamily="34" charset="-122"/>
                <a:cs typeface="Courier New" pitchFamily="34" charset="-120"/>
              </a:rPr>
              <a:t>( "user" , "japanese_level" )  →  "N4"   +   #4   +   vi</a:t>
            </a:r>
            <a:endParaRPr lang="en-US" sz="1300" dirty="0"/>
          </a:p>
        </p:txBody>
      </p:sp>
      <p:sp>
        <p:nvSpPr>
          <p:cNvPr id="7" name="Shape 5"/>
          <p:cNvSpPr/>
          <p:nvPr/>
        </p:nvSpPr>
        <p:spPr>
          <a:xfrm>
            <a:off x="566928" y="2688336"/>
            <a:ext cx="5358384" cy="859536"/>
          </a:xfrm>
          <a:prstGeom prst="roundRect">
            <a:avLst>
              <a:gd name="adj" fmla="val 5319"/>
            </a:avLst>
          </a:prstGeom>
          <a:solidFill>
            <a:srgbClr val="F7F7FB"/>
          </a:solidFill>
          <a:ln w="12700">
            <a:solidFill>
              <a:srgbClr val="F7F7FB"/>
            </a:solidFill>
            <a:prstDash val="solid"/>
          </a:ln>
        </p:spPr>
        <p:txBody>
          <a:bodyPr/>
          <a:lstStyle/>
          <a:p>
            <a:endParaRPr lang="en-US"/>
          </a:p>
        </p:txBody>
      </p:sp>
      <p:sp>
        <p:nvSpPr>
          <p:cNvPr id="8" name="Text 6"/>
          <p:cNvSpPr txBox="1"/>
          <p:nvPr/>
        </p:nvSpPr>
        <p:spPr>
          <a:xfrm>
            <a:off x="804672" y="2807208"/>
            <a:ext cx="4882896" cy="237744"/>
          </a:xfrm>
          <a:prstGeom prst="rect">
            <a:avLst/>
          </a:prstGeom>
          <a:noFill/>
          <a:ln/>
        </p:spPr>
        <p:txBody>
          <a:bodyPr wrap="square" lIns="0" tIns="0" rIns="0" bIns="0" rtlCol="0" anchor="ctr"/>
          <a:lstStyle/>
          <a:p>
            <a:pPr marL="0" indent="0">
              <a:buNone/>
            </a:pPr>
            <a:r>
              <a:rPr lang="en-US" sz="1300" b="1" dirty="0">
                <a:solidFill>
                  <a:srgbClr val="3A36A0"/>
                </a:solidFill>
                <a:latin typeface="Cambria" pitchFamily="34" charset="0"/>
                <a:ea typeface="Cambria" pitchFamily="34" charset="-122"/>
                <a:cs typeface="Cambria" pitchFamily="34" charset="-120"/>
              </a:rPr>
              <a:t>Nhận dạng &amp; văn bản</a:t>
            </a:r>
            <a:endParaRPr lang="en-US" sz="1300" dirty="0"/>
          </a:p>
        </p:txBody>
      </p:sp>
      <p:sp>
        <p:nvSpPr>
          <p:cNvPr id="9" name="Text 7"/>
          <p:cNvSpPr txBox="1"/>
          <p:nvPr/>
        </p:nvSpPr>
        <p:spPr>
          <a:xfrm>
            <a:off x="804672" y="3072384"/>
            <a:ext cx="4882896" cy="402336"/>
          </a:xfrm>
          <a:prstGeom prst="rect">
            <a:avLst/>
          </a:prstGeom>
          <a:noFill/>
          <a:ln/>
        </p:spPr>
        <p:txBody>
          <a:bodyPr wrap="square" lIns="0" tIns="0" rIns="0" bIns="0" rtlCol="0" anchor="t"/>
          <a:lstStyle/>
          <a:p>
            <a:pPr marL="0" indent="0">
              <a:lnSpc>
                <a:spcPct val="95000"/>
              </a:lnSpc>
              <a:buNone/>
            </a:pPr>
            <a:r>
              <a:rPr lang="en-US" sz="1100" dirty="0">
                <a:solidFill>
                  <a:srgbClr val="4A4E63"/>
                </a:solidFill>
                <a:latin typeface="Courier New" pitchFamily="34" charset="0"/>
                <a:ea typeface="Courier New" pitchFamily="34" charset="-122"/>
                <a:cs typeface="Courier New" pitchFamily="34" charset="-120"/>
              </a:rPr>
              <a:t>subject · attribute (luôn tiếng Anh) · value · value_canon · text · text_canon · lang</a:t>
            </a:r>
            <a:endParaRPr lang="en-US" sz="1100" dirty="0"/>
          </a:p>
        </p:txBody>
      </p:sp>
      <p:sp>
        <p:nvSpPr>
          <p:cNvPr id="10" name="Shape 8"/>
          <p:cNvSpPr/>
          <p:nvPr/>
        </p:nvSpPr>
        <p:spPr>
          <a:xfrm>
            <a:off x="6254496" y="2688336"/>
            <a:ext cx="5358384" cy="859536"/>
          </a:xfrm>
          <a:prstGeom prst="roundRect">
            <a:avLst>
              <a:gd name="adj" fmla="val 5319"/>
            </a:avLst>
          </a:prstGeom>
          <a:solidFill>
            <a:srgbClr val="F7F7FB"/>
          </a:solidFill>
          <a:ln w="12700">
            <a:solidFill>
              <a:srgbClr val="F7F7FB"/>
            </a:solidFill>
            <a:prstDash val="solid"/>
          </a:ln>
        </p:spPr>
        <p:txBody>
          <a:bodyPr/>
          <a:lstStyle/>
          <a:p>
            <a:endParaRPr lang="en-US"/>
          </a:p>
        </p:txBody>
      </p:sp>
      <p:sp>
        <p:nvSpPr>
          <p:cNvPr id="11" name="Text 9"/>
          <p:cNvSpPr txBox="1"/>
          <p:nvPr/>
        </p:nvSpPr>
        <p:spPr>
          <a:xfrm>
            <a:off x="6492240" y="2807208"/>
            <a:ext cx="4882896" cy="237744"/>
          </a:xfrm>
          <a:prstGeom prst="rect">
            <a:avLst/>
          </a:prstGeom>
          <a:noFill/>
          <a:ln/>
        </p:spPr>
        <p:txBody>
          <a:bodyPr wrap="square" lIns="0" tIns="0" rIns="0" bIns="0" rtlCol="0" anchor="ctr"/>
          <a:lstStyle/>
          <a:p>
            <a:pPr marL="0" indent="0">
              <a:buNone/>
            </a:pPr>
            <a:r>
              <a:rPr lang="en-US" sz="1300" b="1" dirty="0">
                <a:solidFill>
                  <a:srgbClr val="3A36A0"/>
                </a:solidFill>
                <a:latin typeface="Cambria" pitchFamily="34" charset="0"/>
                <a:ea typeface="Cambria" pitchFamily="34" charset="-122"/>
                <a:cs typeface="Cambria" pitchFamily="34" charset="-120"/>
              </a:rPr>
              <a:t>Độ mới</a:t>
            </a:r>
            <a:endParaRPr lang="en-US" sz="1300" dirty="0"/>
          </a:p>
        </p:txBody>
      </p:sp>
      <p:sp>
        <p:nvSpPr>
          <p:cNvPr id="12" name="Text 10"/>
          <p:cNvSpPr txBox="1"/>
          <p:nvPr/>
        </p:nvSpPr>
        <p:spPr>
          <a:xfrm>
            <a:off x="6492240" y="3072384"/>
            <a:ext cx="4882896" cy="402336"/>
          </a:xfrm>
          <a:prstGeom prst="rect">
            <a:avLst/>
          </a:prstGeom>
          <a:noFill/>
          <a:ln/>
        </p:spPr>
        <p:txBody>
          <a:bodyPr wrap="square" lIns="0" tIns="0" rIns="0" bIns="0" rtlCol="0" anchor="t"/>
          <a:lstStyle/>
          <a:p>
            <a:pPr marL="0" indent="0">
              <a:lnSpc>
                <a:spcPct val="95000"/>
              </a:lnSpc>
              <a:buNone/>
            </a:pPr>
            <a:r>
              <a:rPr lang="en-US" sz="1100" dirty="0">
                <a:solidFill>
                  <a:srgbClr val="4A4E63"/>
                </a:solidFill>
                <a:latin typeface="Courier New" pitchFamily="34" charset="0"/>
                <a:ea typeface="Courier New" pitchFamily="34" charset="-122"/>
                <a:cs typeface="Courier New" pitchFamily="34" charset="-120"/>
              </a:rPr>
              <a:t>seq · status (active / pending / superseded / deleted) · superseded_by</a:t>
            </a:r>
            <a:endParaRPr lang="en-US" sz="1100" dirty="0"/>
          </a:p>
        </p:txBody>
      </p:sp>
      <p:sp>
        <p:nvSpPr>
          <p:cNvPr id="13" name="Shape 11"/>
          <p:cNvSpPr/>
          <p:nvPr/>
        </p:nvSpPr>
        <p:spPr>
          <a:xfrm>
            <a:off x="566928" y="3675888"/>
            <a:ext cx="5358384" cy="859536"/>
          </a:xfrm>
          <a:prstGeom prst="roundRect">
            <a:avLst>
              <a:gd name="adj" fmla="val 5319"/>
            </a:avLst>
          </a:prstGeom>
          <a:solidFill>
            <a:srgbClr val="F7F7FB"/>
          </a:solidFill>
          <a:ln w="12700">
            <a:solidFill>
              <a:srgbClr val="F7F7FB"/>
            </a:solidFill>
            <a:prstDash val="solid"/>
          </a:ln>
        </p:spPr>
        <p:txBody>
          <a:bodyPr/>
          <a:lstStyle/>
          <a:p>
            <a:endParaRPr lang="en-US"/>
          </a:p>
        </p:txBody>
      </p:sp>
      <p:sp>
        <p:nvSpPr>
          <p:cNvPr id="14" name="Text 12"/>
          <p:cNvSpPr txBox="1"/>
          <p:nvPr/>
        </p:nvSpPr>
        <p:spPr>
          <a:xfrm>
            <a:off x="804672" y="3794760"/>
            <a:ext cx="4882896" cy="237744"/>
          </a:xfrm>
          <a:prstGeom prst="rect">
            <a:avLst/>
          </a:prstGeom>
          <a:noFill/>
          <a:ln/>
        </p:spPr>
        <p:txBody>
          <a:bodyPr wrap="square" lIns="0" tIns="0" rIns="0" bIns="0" rtlCol="0" anchor="ctr"/>
          <a:lstStyle/>
          <a:p>
            <a:pPr marL="0" indent="0">
              <a:buNone/>
            </a:pPr>
            <a:r>
              <a:rPr lang="en-US" sz="1300" b="1" dirty="0">
                <a:solidFill>
                  <a:srgbClr val="3A36A0"/>
                </a:solidFill>
                <a:latin typeface="Cambria" pitchFamily="34" charset="0"/>
                <a:ea typeface="Cambria" pitchFamily="34" charset="-122"/>
                <a:cs typeface="Cambria" pitchFamily="34" charset="-120"/>
              </a:rPr>
              <a:t>Thời gian &amp; phân loại</a:t>
            </a:r>
            <a:endParaRPr lang="en-US" sz="1300" dirty="0"/>
          </a:p>
        </p:txBody>
      </p:sp>
      <p:sp>
        <p:nvSpPr>
          <p:cNvPr id="15" name="Text 13"/>
          <p:cNvSpPr txBox="1"/>
          <p:nvPr/>
        </p:nvSpPr>
        <p:spPr>
          <a:xfrm>
            <a:off x="804672" y="4059936"/>
            <a:ext cx="4882896" cy="402336"/>
          </a:xfrm>
          <a:prstGeom prst="rect">
            <a:avLst/>
          </a:prstGeom>
          <a:noFill/>
          <a:ln/>
        </p:spPr>
        <p:txBody>
          <a:bodyPr wrap="square" lIns="0" tIns="0" rIns="0" bIns="0" rtlCol="0" anchor="t"/>
          <a:lstStyle/>
          <a:p>
            <a:pPr marL="0" indent="0">
              <a:lnSpc>
                <a:spcPct val="95000"/>
              </a:lnSpc>
              <a:buNone/>
            </a:pPr>
            <a:r>
              <a:rPr lang="en-US" sz="1100" dirty="0">
                <a:solidFill>
                  <a:srgbClr val="4A4E63"/>
                </a:solidFill>
                <a:latin typeface="Courier New" pitchFamily="34" charset="0"/>
                <a:ea typeface="Courier New" pitchFamily="34" charset="-122"/>
                <a:cs typeface="Courier New" pitchFamily="34" charset="-120"/>
              </a:rPr>
              <a:t>valid_from · invalidated_at · event_time · memory_type · pinned</a:t>
            </a:r>
            <a:endParaRPr lang="en-US" sz="1100" dirty="0"/>
          </a:p>
        </p:txBody>
      </p:sp>
      <p:sp>
        <p:nvSpPr>
          <p:cNvPr id="16" name="Shape 14"/>
          <p:cNvSpPr/>
          <p:nvPr/>
        </p:nvSpPr>
        <p:spPr>
          <a:xfrm>
            <a:off x="6254496" y="3675888"/>
            <a:ext cx="5358384" cy="859536"/>
          </a:xfrm>
          <a:prstGeom prst="roundRect">
            <a:avLst>
              <a:gd name="adj" fmla="val 5319"/>
            </a:avLst>
          </a:prstGeom>
          <a:solidFill>
            <a:srgbClr val="F7F7FB"/>
          </a:solidFill>
          <a:ln w="12700">
            <a:solidFill>
              <a:srgbClr val="F7F7FB"/>
            </a:solidFill>
            <a:prstDash val="solid"/>
          </a:ln>
        </p:spPr>
        <p:txBody>
          <a:bodyPr/>
          <a:lstStyle/>
          <a:p>
            <a:endParaRPr lang="en-US"/>
          </a:p>
        </p:txBody>
      </p:sp>
      <p:sp>
        <p:nvSpPr>
          <p:cNvPr id="17" name="Text 15"/>
          <p:cNvSpPr txBox="1"/>
          <p:nvPr/>
        </p:nvSpPr>
        <p:spPr>
          <a:xfrm>
            <a:off x="6492240" y="3794760"/>
            <a:ext cx="4882896" cy="237744"/>
          </a:xfrm>
          <a:prstGeom prst="rect">
            <a:avLst/>
          </a:prstGeom>
          <a:noFill/>
          <a:ln/>
        </p:spPr>
        <p:txBody>
          <a:bodyPr wrap="square" lIns="0" tIns="0" rIns="0" bIns="0" rtlCol="0" anchor="ctr"/>
          <a:lstStyle/>
          <a:p>
            <a:pPr marL="0" indent="0">
              <a:buNone/>
            </a:pPr>
            <a:r>
              <a:rPr lang="en-US" sz="1300" b="1" dirty="0">
                <a:solidFill>
                  <a:srgbClr val="3A36A0"/>
                </a:solidFill>
                <a:latin typeface="Cambria" pitchFamily="34" charset="0"/>
                <a:ea typeface="Cambria" pitchFamily="34" charset="-122"/>
                <a:cs typeface="Cambria" pitchFamily="34" charset="-120"/>
              </a:rPr>
              <a:t>Nguồn gốc</a:t>
            </a:r>
            <a:endParaRPr lang="en-US" sz="1300" dirty="0"/>
          </a:p>
        </p:txBody>
      </p:sp>
      <p:sp>
        <p:nvSpPr>
          <p:cNvPr id="18" name="Text 16"/>
          <p:cNvSpPr txBox="1"/>
          <p:nvPr/>
        </p:nvSpPr>
        <p:spPr>
          <a:xfrm>
            <a:off x="6492240" y="4059936"/>
            <a:ext cx="4882896" cy="402336"/>
          </a:xfrm>
          <a:prstGeom prst="rect">
            <a:avLst/>
          </a:prstGeom>
          <a:noFill/>
          <a:ln/>
        </p:spPr>
        <p:txBody>
          <a:bodyPr wrap="square" lIns="0" tIns="0" rIns="0" bIns="0" rtlCol="0" anchor="t"/>
          <a:lstStyle/>
          <a:p>
            <a:pPr marL="0" indent="0">
              <a:lnSpc>
                <a:spcPct val="95000"/>
              </a:lnSpc>
              <a:buNone/>
            </a:pPr>
            <a:r>
              <a:rPr lang="en-US" sz="1100" dirty="0">
                <a:solidFill>
                  <a:srgbClr val="4A4E63"/>
                </a:solidFill>
                <a:latin typeface="Courier New" pitchFamily="34" charset="0"/>
                <a:ea typeface="Courier New" pitchFamily="34" charset="-122"/>
                <a:cs typeface="Courier New" pitchFamily="34" charset="-120"/>
              </a:rPr>
              <a:t>speaker (user / assistant) · confirmed · needs_review · source_text (không nhúng)</a:t>
            </a:r>
            <a:endParaRPr lang="en-US" sz="1100" dirty="0"/>
          </a:p>
        </p:txBody>
      </p:sp>
      <p:sp>
        <p:nvSpPr>
          <p:cNvPr id="19" name="Shape 17"/>
          <p:cNvSpPr/>
          <p:nvPr/>
        </p:nvSpPr>
        <p:spPr>
          <a:xfrm>
            <a:off x="566928" y="4736592"/>
            <a:ext cx="11045952" cy="1389888"/>
          </a:xfrm>
          <a:prstGeom prst="roundRect">
            <a:avLst>
              <a:gd name="adj" fmla="val 3289"/>
            </a:avLst>
          </a:prstGeom>
          <a:solidFill>
            <a:srgbClr val="13123A"/>
          </a:solidFill>
          <a:ln w="12700">
            <a:solidFill>
              <a:srgbClr val="13123A"/>
            </a:solidFill>
            <a:prstDash val="solid"/>
          </a:ln>
        </p:spPr>
        <p:txBody>
          <a:bodyPr/>
          <a:lstStyle/>
          <a:p>
            <a:endParaRPr lang="en-US"/>
          </a:p>
        </p:txBody>
      </p:sp>
      <p:sp>
        <p:nvSpPr>
          <p:cNvPr id="20" name="Text 18"/>
          <p:cNvSpPr txBox="1"/>
          <p:nvPr/>
        </p:nvSpPr>
        <p:spPr>
          <a:xfrm>
            <a:off x="822960" y="4919472"/>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TRẠNG THÁI PENDING — CHỐNG ẢO GIÁC TỰ CỦNG CỐ</a:t>
            </a:r>
            <a:endParaRPr lang="en-US" sz="1100" dirty="0"/>
          </a:p>
        </p:txBody>
      </p:sp>
      <p:sp>
        <p:nvSpPr>
          <p:cNvPr id="21" name="Text 19"/>
          <p:cNvSpPr txBox="1"/>
          <p:nvPr/>
        </p:nvSpPr>
        <p:spPr>
          <a:xfrm>
            <a:off x="822960" y="5193792"/>
            <a:ext cx="10533888" cy="78638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LongMemEval có loại câu hỏi single-session-assistant: thông tin do TRỢ LÝ nói ra mà người dùng cần nhớ. Bỏ phía trợ lý là mất trọn một nhóm điểm. Nhưng nếu lưu vô điều kiện, hệ sẽ ghi lại chính thứ mô hình vừa bịa ra, rồi lượt sau truy xuất chúng như sự thật đã xác lập. Giải pháp: fact từ phía trợ lý vào trạng thái pending, không được truy xuất, cho tới khi người dùng xác nhận. Quá ba lượt không ai nhắc lại thì bỏ.</a:t>
            </a:r>
            <a:endParaRPr lang="en-US" sz="1250" dirty="0"/>
          </a:p>
        </p:txBody>
      </p:sp>
      <p:sp>
        <p:nvSpPr>
          <p:cNvPr id="22" name="Text 20"/>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Loại câu hỏi single-session-assistant: Wu et al., LongMemEval, ICLR 2025 (arXiv:2410.10813).</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THIẾT KẾ · 4/5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Đường truy xuất: lai, hợp nhất, xếp lại</a:t>
            </a:r>
            <a:endParaRPr lang="en-US" sz="3000" dirty="0"/>
          </a:p>
        </p:txBody>
      </p:sp>
      <p:sp>
        <p:nvSpPr>
          <p:cNvPr id="4" name="Shape 2"/>
          <p:cNvSpPr/>
          <p:nvPr/>
        </p:nvSpPr>
        <p:spPr>
          <a:xfrm>
            <a:off x="566928" y="1719072"/>
            <a:ext cx="2011680" cy="1316736"/>
          </a:xfrm>
          <a:prstGeom prst="roundRect">
            <a:avLst>
              <a:gd name="adj" fmla="val 3472"/>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749808" y="1865376"/>
            <a:ext cx="457200" cy="219456"/>
          </a:xfrm>
          <a:prstGeom prst="rect">
            <a:avLst/>
          </a:prstGeom>
          <a:noFill/>
          <a:ln/>
        </p:spPr>
        <p:txBody>
          <a:bodyPr wrap="square" lIns="0" tIns="0" rIns="0" bIns="0" rtlCol="0" anchor="ctr"/>
          <a:lstStyle/>
          <a:p>
            <a:pPr marL="0" indent="0">
              <a:buNone/>
            </a:pPr>
            <a:r>
              <a:rPr lang="en-US" sz="1050" b="1" dirty="0">
                <a:solidFill>
                  <a:srgbClr val="3A36A0"/>
                </a:solidFill>
                <a:latin typeface="Courier New" pitchFamily="34" charset="0"/>
                <a:ea typeface="Courier New" pitchFamily="34" charset="-122"/>
                <a:cs typeface="Courier New" pitchFamily="34" charset="-120"/>
              </a:rPr>
              <a:t>1</a:t>
            </a:r>
            <a:endParaRPr lang="en-US" sz="1050" dirty="0"/>
          </a:p>
        </p:txBody>
      </p:sp>
      <p:sp>
        <p:nvSpPr>
          <p:cNvPr id="6" name="Text 4"/>
          <p:cNvSpPr txBox="1"/>
          <p:nvPr/>
        </p:nvSpPr>
        <p:spPr>
          <a:xfrm>
            <a:off x="749808" y="2121408"/>
            <a:ext cx="1645920" cy="274320"/>
          </a:xfrm>
          <a:prstGeom prst="rect">
            <a:avLst/>
          </a:prstGeom>
          <a:noFill/>
          <a:ln/>
        </p:spPr>
        <p:txBody>
          <a:bodyPr wrap="square" lIns="0" tIns="0" rIns="0" bIns="0" rtlCol="0" anchor="ctr"/>
          <a:lstStyle/>
          <a:p>
            <a:pPr marL="0" indent="0">
              <a:buNone/>
            </a:pPr>
            <a:r>
              <a:rPr lang="en-US" sz="1300" b="1" dirty="0">
                <a:solidFill>
                  <a:srgbClr val="13123A"/>
                </a:solidFill>
                <a:latin typeface="Cambria" pitchFamily="34" charset="0"/>
                <a:ea typeface="Cambria" pitchFamily="34" charset="-122"/>
                <a:cs typeface="Cambria" pitchFamily="34" charset="-120"/>
              </a:rPr>
              <a:t>Tách truy vấn</a:t>
            </a:r>
            <a:endParaRPr lang="en-US" sz="1300" dirty="0"/>
          </a:p>
        </p:txBody>
      </p:sp>
      <p:sp>
        <p:nvSpPr>
          <p:cNvPr id="7" name="Text 5"/>
          <p:cNvSpPr txBox="1"/>
          <p:nvPr/>
        </p:nvSpPr>
        <p:spPr>
          <a:xfrm>
            <a:off x="749808"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4A4E63"/>
                </a:solidFill>
                <a:latin typeface="Calibri" pitchFamily="34" charset="0"/>
                <a:ea typeface="Calibri" pitchFamily="34" charset="-122"/>
                <a:cs typeface="Calibri" pitchFamily="34" charset="-120"/>
              </a:rPr>
              <a:t>Câu hỏi phức → 2–3 truy vấn con</a:t>
            </a:r>
            <a:endParaRPr lang="en-US" sz="1050" dirty="0"/>
          </a:p>
        </p:txBody>
      </p:sp>
      <p:sp>
        <p:nvSpPr>
          <p:cNvPr id="8" name="Text 6"/>
          <p:cNvSpPr txBox="1"/>
          <p:nvPr/>
        </p:nvSpPr>
        <p:spPr>
          <a:xfrm>
            <a:off x="2578608" y="2212848"/>
            <a:ext cx="246888" cy="274320"/>
          </a:xfrm>
          <a:prstGeom prst="rect">
            <a:avLst/>
          </a:prstGeom>
          <a:noFill/>
          <a:ln/>
        </p:spPr>
        <p:txBody>
          <a:bodyPr wrap="square" lIns="0" tIns="0" rIns="0" bIns="0" rtlCol="0" anchor="ctr"/>
          <a:lstStyle/>
          <a:p>
            <a:pPr marL="0" indent="0" algn="ctr">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825496" y="1719072"/>
            <a:ext cx="2011680" cy="1316736"/>
          </a:xfrm>
          <a:prstGeom prst="roundRect">
            <a:avLst>
              <a:gd name="adj" fmla="val 3472"/>
            </a:avLst>
          </a:prstGeom>
          <a:solidFill>
            <a:srgbClr val="ECEBF7"/>
          </a:solidFill>
          <a:ln w="12700">
            <a:solidFill>
              <a:srgbClr val="ECEBF7"/>
            </a:solidFill>
            <a:prstDash val="solid"/>
          </a:ln>
        </p:spPr>
        <p:txBody>
          <a:bodyPr/>
          <a:lstStyle/>
          <a:p>
            <a:endParaRPr lang="en-US"/>
          </a:p>
        </p:txBody>
      </p:sp>
      <p:sp>
        <p:nvSpPr>
          <p:cNvPr id="10" name="Text 8"/>
          <p:cNvSpPr txBox="1"/>
          <p:nvPr/>
        </p:nvSpPr>
        <p:spPr>
          <a:xfrm>
            <a:off x="3008376" y="1865376"/>
            <a:ext cx="457200" cy="219456"/>
          </a:xfrm>
          <a:prstGeom prst="rect">
            <a:avLst/>
          </a:prstGeom>
          <a:noFill/>
          <a:ln/>
        </p:spPr>
        <p:txBody>
          <a:bodyPr wrap="square" lIns="0" tIns="0" rIns="0" bIns="0" rtlCol="0" anchor="ctr"/>
          <a:lstStyle/>
          <a:p>
            <a:pPr marL="0" indent="0">
              <a:buNone/>
            </a:pPr>
            <a:r>
              <a:rPr lang="en-US" sz="1050" b="1" dirty="0">
                <a:solidFill>
                  <a:srgbClr val="3A36A0"/>
                </a:solidFill>
                <a:latin typeface="Courier New" pitchFamily="34" charset="0"/>
                <a:ea typeface="Courier New" pitchFamily="34" charset="-122"/>
                <a:cs typeface="Courier New" pitchFamily="34" charset="-120"/>
              </a:rPr>
              <a:t>2</a:t>
            </a:r>
            <a:endParaRPr lang="en-US" sz="1050" dirty="0"/>
          </a:p>
        </p:txBody>
      </p:sp>
      <p:sp>
        <p:nvSpPr>
          <p:cNvPr id="11" name="Text 9"/>
          <p:cNvSpPr txBox="1"/>
          <p:nvPr/>
        </p:nvSpPr>
        <p:spPr>
          <a:xfrm>
            <a:off x="3008376" y="2121408"/>
            <a:ext cx="1645920" cy="274320"/>
          </a:xfrm>
          <a:prstGeom prst="rect">
            <a:avLst/>
          </a:prstGeom>
          <a:noFill/>
          <a:ln/>
        </p:spPr>
        <p:txBody>
          <a:bodyPr wrap="square" lIns="0" tIns="0" rIns="0" bIns="0" rtlCol="0" anchor="ctr"/>
          <a:lstStyle/>
          <a:p>
            <a:pPr marL="0" indent="0">
              <a:buNone/>
            </a:pPr>
            <a:r>
              <a:rPr lang="en-US" sz="1300" b="1" dirty="0">
                <a:solidFill>
                  <a:srgbClr val="13123A"/>
                </a:solidFill>
                <a:latin typeface="Cambria" pitchFamily="34" charset="0"/>
                <a:ea typeface="Cambria" pitchFamily="34" charset="-122"/>
                <a:cs typeface="Cambria" pitchFamily="34" charset="-120"/>
              </a:rPr>
              <a:t>Ba chỉ mục song song</a:t>
            </a:r>
            <a:endParaRPr lang="en-US" sz="1300" dirty="0"/>
          </a:p>
        </p:txBody>
      </p:sp>
      <p:sp>
        <p:nvSpPr>
          <p:cNvPr id="12" name="Text 10"/>
          <p:cNvSpPr txBox="1"/>
          <p:nvPr/>
        </p:nvSpPr>
        <p:spPr>
          <a:xfrm>
            <a:off x="3008376"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4A4E63"/>
                </a:solidFill>
                <a:latin typeface="Calibri" pitchFamily="34" charset="0"/>
                <a:ea typeface="Calibri" pitchFamily="34" charset="-122"/>
                <a:cs typeface="Calibri" pitchFamily="34" charset="-120"/>
              </a:rPr>
              <a:t>Dense gốc-ngữ · Dense chuẩn-hóa · BM25</a:t>
            </a:r>
            <a:endParaRPr lang="en-US" sz="1050" dirty="0"/>
          </a:p>
        </p:txBody>
      </p:sp>
      <p:sp>
        <p:nvSpPr>
          <p:cNvPr id="13" name="Text 11"/>
          <p:cNvSpPr txBox="1"/>
          <p:nvPr/>
        </p:nvSpPr>
        <p:spPr>
          <a:xfrm>
            <a:off x="4837176" y="2212848"/>
            <a:ext cx="246888" cy="274320"/>
          </a:xfrm>
          <a:prstGeom prst="rect">
            <a:avLst/>
          </a:prstGeom>
          <a:noFill/>
          <a:ln/>
        </p:spPr>
        <p:txBody>
          <a:bodyPr wrap="square" lIns="0" tIns="0" rIns="0" bIns="0" rtlCol="0" anchor="ctr"/>
          <a:lstStyle/>
          <a:p>
            <a:pPr marL="0" indent="0" algn="ctr">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5084064" y="1719072"/>
            <a:ext cx="2011680" cy="1316736"/>
          </a:xfrm>
          <a:prstGeom prst="roundRect">
            <a:avLst>
              <a:gd name="adj" fmla="val 3472"/>
            </a:avLst>
          </a:prstGeom>
          <a:solidFill>
            <a:srgbClr val="ECEBF7"/>
          </a:solidFill>
          <a:ln w="12700">
            <a:solidFill>
              <a:srgbClr val="ECEBF7"/>
            </a:solidFill>
            <a:prstDash val="solid"/>
          </a:ln>
        </p:spPr>
        <p:txBody>
          <a:bodyPr/>
          <a:lstStyle/>
          <a:p>
            <a:endParaRPr lang="en-US"/>
          </a:p>
        </p:txBody>
      </p:sp>
      <p:sp>
        <p:nvSpPr>
          <p:cNvPr id="15" name="Text 13"/>
          <p:cNvSpPr txBox="1"/>
          <p:nvPr/>
        </p:nvSpPr>
        <p:spPr>
          <a:xfrm>
            <a:off x="5266944" y="1865376"/>
            <a:ext cx="457200" cy="219456"/>
          </a:xfrm>
          <a:prstGeom prst="rect">
            <a:avLst/>
          </a:prstGeom>
          <a:noFill/>
          <a:ln/>
        </p:spPr>
        <p:txBody>
          <a:bodyPr wrap="square" lIns="0" tIns="0" rIns="0" bIns="0" rtlCol="0" anchor="ctr"/>
          <a:lstStyle/>
          <a:p>
            <a:pPr marL="0" indent="0">
              <a:buNone/>
            </a:pPr>
            <a:r>
              <a:rPr lang="en-US" sz="1050" b="1" dirty="0">
                <a:solidFill>
                  <a:srgbClr val="3A36A0"/>
                </a:solidFill>
                <a:latin typeface="Courier New" pitchFamily="34" charset="0"/>
                <a:ea typeface="Courier New" pitchFamily="34" charset="-122"/>
                <a:cs typeface="Courier New" pitchFamily="34" charset="-120"/>
              </a:rPr>
              <a:t>3</a:t>
            </a:r>
            <a:endParaRPr lang="en-US" sz="1050" dirty="0"/>
          </a:p>
        </p:txBody>
      </p:sp>
      <p:sp>
        <p:nvSpPr>
          <p:cNvPr id="16" name="Text 14"/>
          <p:cNvSpPr txBox="1"/>
          <p:nvPr/>
        </p:nvSpPr>
        <p:spPr>
          <a:xfrm>
            <a:off x="5266944" y="2121408"/>
            <a:ext cx="1645920" cy="274320"/>
          </a:xfrm>
          <a:prstGeom prst="rect">
            <a:avLst/>
          </a:prstGeom>
          <a:noFill/>
          <a:ln/>
        </p:spPr>
        <p:txBody>
          <a:bodyPr wrap="square" lIns="0" tIns="0" rIns="0" bIns="0" rtlCol="0" anchor="ctr"/>
          <a:lstStyle/>
          <a:p>
            <a:pPr marL="0" indent="0">
              <a:buNone/>
            </a:pPr>
            <a:r>
              <a:rPr lang="en-US" sz="1300" b="1" dirty="0">
                <a:solidFill>
                  <a:srgbClr val="13123A"/>
                </a:solidFill>
                <a:latin typeface="Cambria" pitchFamily="34" charset="0"/>
                <a:ea typeface="Cambria" pitchFamily="34" charset="-122"/>
                <a:cs typeface="Cambria" pitchFamily="34" charset="-120"/>
              </a:rPr>
              <a:t>Hợp nhất RRF</a:t>
            </a:r>
            <a:endParaRPr lang="en-US" sz="1300" dirty="0"/>
          </a:p>
        </p:txBody>
      </p:sp>
      <p:sp>
        <p:nvSpPr>
          <p:cNvPr id="17" name="Text 15"/>
          <p:cNvSpPr txBox="1"/>
          <p:nvPr/>
        </p:nvSpPr>
        <p:spPr>
          <a:xfrm>
            <a:off x="5266944"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4A4E63"/>
                </a:solidFill>
                <a:latin typeface="Calibri" pitchFamily="34" charset="0"/>
                <a:ea typeface="Calibri" pitchFamily="34" charset="-122"/>
                <a:cs typeface="Calibri" pitchFamily="34" charset="-120"/>
              </a:rPr>
              <a:t>~30 ứng viên, không cần chỉnh trọng số</a:t>
            </a:r>
            <a:endParaRPr lang="en-US" sz="1050" dirty="0"/>
          </a:p>
        </p:txBody>
      </p:sp>
      <p:sp>
        <p:nvSpPr>
          <p:cNvPr id="18" name="Text 16"/>
          <p:cNvSpPr txBox="1"/>
          <p:nvPr/>
        </p:nvSpPr>
        <p:spPr>
          <a:xfrm>
            <a:off x="7095744" y="2212848"/>
            <a:ext cx="246888" cy="274320"/>
          </a:xfrm>
          <a:prstGeom prst="rect">
            <a:avLst/>
          </a:prstGeom>
          <a:noFill/>
          <a:ln/>
        </p:spPr>
        <p:txBody>
          <a:bodyPr wrap="square" lIns="0" tIns="0" rIns="0" bIns="0" rtlCol="0" anchor="ctr"/>
          <a:lstStyle/>
          <a:p>
            <a:pPr marL="0" indent="0" algn="ctr">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7342632" y="1719072"/>
            <a:ext cx="2011680" cy="1316736"/>
          </a:xfrm>
          <a:prstGeom prst="roundRect">
            <a:avLst>
              <a:gd name="adj" fmla="val 3472"/>
            </a:avLst>
          </a:prstGeom>
          <a:solidFill>
            <a:srgbClr val="13123A"/>
          </a:solidFill>
          <a:ln w="12700">
            <a:solidFill>
              <a:srgbClr val="13123A"/>
            </a:solidFill>
            <a:prstDash val="solid"/>
          </a:ln>
        </p:spPr>
        <p:txBody>
          <a:bodyPr/>
          <a:lstStyle/>
          <a:p>
            <a:endParaRPr lang="en-US"/>
          </a:p>
        </p:txBody>
      </p:sp>
      <p:sp>
        <p:nvSpPr>
          <p:cNvPr id="20" name="Text 18"/>
          <p:cNvSpPr txBox="1"/>
          <p:nvPr/>
        </p:nvSpPr>
        <p:spPr>
          <a:xfrm>
            <a:off x="7525512" y="1865376"/>
            <a:ext cx="457200" cy="219456"/>
          </a:xfrm>
          <a:prstGeom prst="rect">
            <a:avLst/>
          </a:prstGeom>
          <a:noFill/>
          <a:ln/>
        </p:spPr>
        <p:txBody>
          <a:bodyPr wrap="square" lIns="0" tIns="0" rIns="0" bIns="0" rtlCol="0" anchor="ctr"/>
          <a:lstStyle/>
          <a:p>
            <a:pPr marL="0" indent="0">
              <a:buNone/>
            </a:pPr>
            <a:r>
              <a:rPr lang="en-US" sz="1050" b="1" dirty="0">
                <a:solidFill>
                  <a:srgbClr val="1FA6A6"/>
                </a:solidFill>
                <a:latin typeface="Courier New" pitchFamily="34" charset="0"/>
                <a:ea typeface="Courier New" pitchFamily="34" charset="-122"/>
                <a:cs typeface="Courier New" pitchFamily="34" charset="-120"/>
              </a:rPr>
              <a:t>4</a:t>
            </a:r>
            <a:endParaRPr lang="en-US" sz="1050" dirty="0"/>
          </a:p>
        </p:txBody>
      </p:sp>
      <p:sp>
        <p:nvSpPr>
          <p:cNvPr id="21" name="Text 19"/>
          <p:cNvSpPr txBox="1"/>
          <p:nvPr/>
        </p:nvSpPr>
        <p:spPr>
          <a:xfrm>
            <a:off x="7525512" y="2121408"/>
            <a:ext cx="1645920" cy="27432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Reranker</a:t>
            </a:r>
            <a:endParaRPr lang="en-US" sz="1300" dirty="0"/>
          </a:p>
        </p:txBody>
      </p:sp>
      <p:sp>
        <p:nvSpPr>
          <p:cNvPr id="22" name="Text 20"/>
          <p:cNvSpPr txBox="1"/>
          <p:nvPr/>
        </p:nvSpPr>
        <p:spPr>
          <a:xfrm>
            <a:off x="7525512"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C7C9E6"/>
                </a:solidFill>
                <a:latin typeface="Calibri" pitchFamily="34" charset="0"/>
                <a:ea typeface="Calibri" pitchFamily="34" charset="-122"/>
                <a:cs typeface="Calibri" pitchFamily="34" charset="-120"/>
              </a:rPr>
              <a:t>Cross-encoder đọc cặp câu hỏi – ký ức</a:t>
            </a:r>
            <a:endParaRPr lang="en-US" sz="1050" dirty="0"/>
          </a:p>
        </p:txBody>
      </p:sp>
      <p:sp>
        <p:nvSpPr>
          <p:cNvPr id="23" name="Text 21"/>
          <p:cNvSpPr txBox="1"/>
          <p:nvPr/>
        </p:nvSpPr>
        <p:spPr>
          <a:xfrm>
            <a:off x="9354312" y="2212848"/>
            <a:ext cx="246888" cy="274320"/>
          </a:xfrm>
          <a:prstGeom prst="rect">
            <a:avLst/>
          </a:prstGeom>
          <a:noFill/>
          <a:ln/>
        </p:spPr>
        <p:txBody>
          <a:bodyPr wrap="square" lIns="0" tIns="0" rIns="0" bIns="0" rtlCol="0" anchor="ctr"/>
          <a:lstStyle/>
          <a:p>
            <a:pPr marL="0" indent="0" algn="ctr">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9601200" y="1719072"/>
            <a:ext cx="2011680" cy="1316736"/>
          </a:xfrm>
          <a:prstGeom prst="roundRect">
            <a:avLst>
              <a:gd name="adj" fmla="val 3472"/>
            </a:avLst>
          </a:prstGeom>
          <a:solidFill>
            <a:srgbClr val="ECEBF7"/>
          </a:solidFill>
          <a:ln w="12700">
            <a:solidFill>
              <a:srgbClr val="ECEBF7"/>
            </a:solidFill>
            <a:prstDash val="solid"/>
          </a:ln>
        </p:spPr>
        <p:txBody>
          <a:bodyPr/>
          <a:lstStyle/>
          <a:p>
            <a:endParaRPr lang="en-US"/>
          </a:p>
        </p:txBody>
      </p:sp>
      <p:sp>
        <p:nvSpPr>
          <p:cNvPr id="25" name="Text 23"/>
          <p:cNvSpPr txBox="1"/>
          <p:nvPr/>
        </p:nvSpPr>
        <p:spPr>
          <a:xfrm>
            <a:off x="9784080" y="1865376"/>
            <a:ext cx="457200" cy="219456"/>
          </a:xfrm>
          <a:prstGeom prst="rect">
            <a:avLst/>
          </a:prstGeom>
          <a:noFill/>
          <a:ln/>
        </p:spPr>
        <p:txBody>
          <a:bodyPr wrap="square" lIns="0" tIns="0" rIns="0" bIns="0" rtlCol="0" anchor="ctr"/>
          <a:lstStyle/>
          <a:p>
            <a:pPr marL="0" indent="0">
              <a:buNone/>
            </a:pPr>
            <a:r>
              <a:rPr lang="en-US" sz="1050" b="1" dirty="0">
                <a:solidFill>
                  <a:srgbClr val="3A36A0"/>
                </a:solidFill>
                <a:latin typeface="Courier New" pitchFamily="34" charset="0"/>
                <a:ea typeface="Courier New" pitchFamily="34" charset="-122"/>
                <a:cs typeface="Courier New" pitchFamily="34" charset="-120"/>
              </a:rPr>
              <a:t>5</a:t>
            </a:r>
            <a:endParaRPr lang="en-US" sz="1050" dirty="0"/>
          </a:p>
        </p:txBody>
      </p:sp>
      <p:sp>
        <p:nvSpPr>
          <p:cNvPr id="26" name="Text 24"/>
          <p:cNvSpPr txBox="1"/>
          <p:nvPr/>
        </p:nvSpPr>
        <p:spPr>
          <a:xfrm>
            <a:off x="9784080" y="2121408"/>
            <a:ext cx="1645920" cy="274320"/>
          </a:xfrm>
          <a:prstGeom prst="rect">
            <a:avLst/>
          </a:prstGeom>
          <a:noFill/>
          <a:ln/>
        </p:spPr>
        <p:txBody>
          <a:bodyPr wrap="square" lIns="0" tIns="0" rIns="0" bIns="0" rtlCol="0" anchor="ctr"/>
          <a:lstStyle/>
          <a:p>
            <a:pPr marL="0" indent="0">
              <a:buNone/>
            </a:pPr>
            <a:r>
              <a:rPr lang="en-US" sz="1300" b="1" dirty="0">
                <a:solidFill>
                  <a:srgbClr val="13123A"/>
                </a:solidFill>
                <a:latin typeface="Cambria" pitchFamily="34" charset="0"/>
                <a:ea typeface="Cambria" pitchFamily="34" charset="-122"/>
                <a:cs typeface="Cambria" pitchFamily="34" charset="-120"/>
              </a:rPr>
              <a:t>Lắp ngữ cảnh</a:t>
            </a:r>
            <a:endParaRPr lang="en-US" sz="1300" dirty="0"/>
          </a:p>
        </p:txBody>
      </p:sp>
      <p:sp>
        <p:nvSpPr>
          <p:cNvPr id="27" name="Text 25"/>
          <p:cNvSpPr txBox="1"/>
          <p:nvPr/>
        </p:nvSpPr>
        <p:spPr>
          <a:xfrm>
            <a:off x="9784080" y="2432304"/>
            <a:ext cx="1645920" cy="512064"/>
          </a:xfrm>
          <a:prstGeom prst="rect">
            <a:avLst/>
          </a:prstGeom>
          <a:noFill/>
          <a:ln/>
        </p:spPr>
        <p:txBody>
          <a:bodyPr wrap="square" lIns="0" tIns="0" rIns="0" bIns="0" rtlCol="0" anchor="t"/>
          <a:lstStyle/>
          <a:p>
            <a:pPr marL="0" indent="0">
              <a:lnSpc>
                <a:spcPct val="92000"/>
              </a:lnSpc>
              <a:buNone/>
            </a:pPr>
            <a:r>
              <a:rPr lang="en-US" sz="1050" dirty="0">
                <a:solidFill>
                  <a:srgbClr val="4A4E63"/>
                </a:solidFill>
                <a:latin typeface="Calibri" pitchFamily="34" charset="0"/>
                <a:ea typeface="Calibri" pitchFamily="34" charset="-122"/>
                <a:cs typeface="Calibri" pitchFamily="34" charset="-120"/>
              </a:rPr>
              <a:t>Lọc bản cũ, chia hạn ngạch token</a:t>
            </a:r>
            <a:endParaRPr lang="en-US" sz="1050" dirty="0"/>
          </a:p>
        </p:txBody>
      </p:sp>
      <p:sp>
        <p:nvSpPr>
          <p:cNvPr id="28" name="Shape 26"/>
          <p:cNvSpPr/>
          <p:nvPr/>
        </p:nvSpPr>
        <p:spPr>
          <a:xfrm>
            <a:off x="566928" y="3218688"/>
            <a:ext cx="5358384" cy="1572768"/>
          </a:xfrm>
          <a:prstGeom prst="roundRect">
            <a:avLst>
              <a:gd name="adj" fmla="val 2907"/>
            </a:avLst>
          </a:prstGeom>
          <a:solidFill>
            <a:srgbClr val="F7F7FB"/>
          </a:solidFill>
          <a:ln w="12700">
            <a:solidFill>
              <a:srgbClr val="F7F7FB"/>
            </a:solidFill>
            <a:prstDash val="solid"/>
          </a:ln>
        </p:spPr>
        <p:txBody>
          <a:bodyPr/>
          <a:lstStyle/>
          <a:p>
            <a:endParaRPr lang="en-US"/>
          </a:p>
        </p:txBody>
      </p:sp>
      <p:sp>
        <p:nvSpPr>
          <p:cNvPr id="29" name="Text 27"/>
          <p:cNvSpPr txBox="1"/>
          <p:nvPr/>
        </p:nvSpPr>
        <p:spPr>
          <a:xfrm>
            <a:off x="804672" y="3392424"/>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VÌ SAO THÊM BM25</a:t>
            </a:r>
            <a:endParaRPr lang="en-US" sz="1050" dirty="0"/>
          </a:p>
        </p:txBody>
      </p:sp>
      <p:sp>
        <p:nvSpPr>
          <p:cNvPr id="30" name="Text 28"/>
          <p:cNvSpPr txBox="1"/>
          <p:nvPr/>
        </p:nvSpPr>
        <p:spPr>
          <a:xfrm>
            <a:off x="804672" y="3666744"/>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Vector trượt chuỗi chính xác</a:t>
            </a:r>
            <a:endParaRPr lang="en-US" sz="1400" dirty="0"/>
          </a:p>
        </p:txBody>
      </p:sp>
      <p:sp>
        <p:nvSpPr>
          <p:cNvPr id="31" name="Text 29"/>
          <p:cNvSpPr txBox="1"/>
          <p:nvPr/>
        </p:nvSpPr>
        <p:spPr>
          <a:xfrm>
            <a:off x="804672" y="4014216"/>
            <a:ext cx="4882896" cy="649224"/>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Embedding tìm theo nghĩa nhưng hay trượt “N4”, mã lớp, tên riêng — đúng loại thông tin mà bộ nhớ cá nhân hay lưu. BM25 bắt chính xác chuỗi. Với tiếng Việt lợi ích còn lớn hơn vì chất lượng embedding yếu hơn tiếng Anh.</a:t>
            </a:r>
            <a:endParaRPr lang="en-US" sz="1150" dirty="0"/>
          </a:p>
        </p:txBody>
      </p:sp>
      <p:sp>
        <p:nvSpPr>
          <p:cNvPr id="32" name="Shape 30"/>
          <p:cNvSpPr/>
          <p:nvPr/>
        </p:nvSpPr>
        <p:spPr>
          <a:xfrm>
            <a:off x="6254496" y="3218688"/>
            <a:ext cx="5358384" cy="1572768"/>
          </a:xfrm>
          <a:prstGeom prst="roundRect">
            <a:avLst>
              <a:gd name="adj" fmla="val 2907"/>
            </a:avLst>
          </a:prstGeom>
          <a:solidFill>
            <a:srgbClr val="F7F7FB"/>
          </a:solidFill>
          <a:ln w="12700">
            <a:solidFill>
              <a:srgbClr val="F7F7FB"/>
            </a:solidFill>
            <a:prstDash val="solid"/>
          </a:ln>
        </p:spPr>
        <p:txBody>
          <a:bodyPr/>
          <a:lstStyle/>
          <a:p>
            <a:endParaRPr lang="en-US"/>
          </a:p>
        </p:txBody>
      </p:sp>
      <p:sp>
        <p:nvSpPr>
          <p:cNvPr id="33" name="Text 31"/>
          <p:cNvSpPr txBox="1"/>
          <p:nvPr/>
        </p:nvSpPr>
        <p:spPr>
          <a:xfrm>
            <a:off x="6492240" y="3392424"/>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VÌ SAO THÊM RERANKER</a:t>
            </a:r>
            <a:endParaRPr lang="en-US" sz="1050" dirty="0"/>
          </a:p>
        </p:txBody>
      </p:sp>
      <p:sp>
        <p:nvSpPr>
          <p:cNvPr id="34" name="Text 32"/>
          <p:cNvSpPr txBox="1"/>
          <p:nvPr/>
        </p:nvSpPr>
        <p:spPr>
          <a:xfrm>
            <a:off x="6492240" y="3666744"/>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Điểm hiệu chỉnh tốt hơn nhiều</a:t>
            </a:r>
            <a:endParaRPr lang="en-US" sz="1400" dirty="0"/>
          </a:p>
        </p:txBody>
      </p:sp>
      <p:sp>
        <p:nvSpPr>
          <p:cNvPr id="35" name="Text 33"/>
          <p:cNvSpPr txBox="1"/>
          <p:nvPr/>
        </p:nvSpPr>
        <p:spPr>
          <a:xfrm>
            <a:off x="6492240" y="4014216"/>
            <a:ext cx="4882896" cy="649224"/>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Bi-encoder nhúng câu hỏi và ký ức độc lập nên chỉ đo độ giống chung chung. Cross-encoder đọc cả cặp nên phân biệt được “liên quan” với “cùng chủ đề”. Quan trọng hơn: năng lực biết từ chối là đặt một ngưỡng lên điểm này.</a:t>
            </a:r>
            <a:endParaRPr lang="en-US" sz="1150" dirty="0"/>
          </a:p>
        </p:txBody>
      </p:sp>
      <p:sp>
        <p:nvSpPr>
          <p:cNvPr id="36" name="Shape 34"/>
          <p:cNvSpPr/>
          <p:nvPr/>
        </p:nvSpPr>
        <p:spPr>
          <a:xfrm>
            <a:off x="566928" y="4974336"/>
            <a:ext cx="11045952" cy="1280160"/>
          </a:xfrm>
          <a:prstGeom prst="roundRect">
            <a:avLst>
              <a:gd name="adj" fmla="val 3571"/>
            </a:avLst>
          </a:prstGeom>
          <a:solidFill>
            <a:srgbClr val="13123A"/>
          </a:solidFill>
          <a:ln w="12700">
            <a:solidFill>
              <a:srgbClr val="13123A"/>
            </a:solidFill>
            <a:prstDash val="solid"/>
          </a:ln>
        </p:spPr>
        <p:txBody>
          <a:bodyPr/>
          <a:lstStyle/>
          <a:p>
            <a:endParaRPr lang="en-US"/>
          </a:p>
        </p:txBody>
      </p:sp>
      <p:sp>
        <p:nvSpPr>
          <p:cNvPr id="37" name="Text 35"/>
          <p:cNvSpPr txBox="1"/>
          <p:nvPr/>
        </p:nvSpPr>
        <p:spPr>
          <a:xfrm>
            <a:off x="822960" y="5157216"/>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HẠN NGẠCH TOKEN — TRỤC CHI PHÍ PHẢI ĐIỀU KHIỂN ĐƯỢC</a:t>
            </a:r>
            <a:endParaRPr lang="en-US" sz="1100" dirty="0"/>
          </a:p>
        </p:txBody>
      </p:sp>
      <p:sp>
        <p:nvSpPr>
          <p:cNvPr id="38" name="Text 36"/>
          <p:cNvSpPr txBox="1"/>
          <p:nvPr/>
        </p:nvSpPr>
        <p:spPr>
          <a:xfrm>
            <a:off x="822960" y="5431536"/>
            <a:ext cx="10533888" cy="676656"/>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Không nạp top-k một cách mù quáng. Ký ức pinned giữ ~25% ngân sách (luôn có mặt), ký ức đã rerank ~55%, tóm tắt phiên ~20% và chỉ khi câu hỏi mang tính hồi tưởng. Nhờ có hạn ngạch, chi phí token thành tham số điều khiển được chứ không phải hệ quả ngẫu nhiên — và so sánh giữa các cấu hình mới hợp lệ.</a:t>
            </a:r>
            <a:endParaRPr lang="en-US" sz="1250" dirty="0"/>
          </a:p>
        </p:txBody>
      </p:sp>
      <p:sp>
        <p:nvSpPr>
          <p:cNvPr id="39" name="Text 37"/>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Reciprocal Rank Fusion: Cormack et al., SIGIR 2009. Reranker dự kiến: bge-reranker-v2-m3, chạy local, miễn phí.</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THIẾT KẾ · 5/5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Vòng lặp xử lý một lượt hội thoại</a:t>
            </a:r>
            <a:endParaRPr lang="en-US" sz="3000" dirty="0"/>
          </a:p>
        </p:txBody>
      </p:sp>
      <p:sp>
        <p:nvSpPr>
          <p:cNvPr id="4" name="Shape 2"/>
          <p:cNvSpPr/>
          <p:nvPr/>
        </p:nvSpPr>
        <p:spPr>
          <a:xfrm>
            <a:off x="566928" y="1737360"/>
            <a:ext cx="5358384" cy="1444752"/>
          </a:xfrm>
          <a:prstGeom prst="roundRect">
            <a:avLst>
              <a:gd name="adj" fmla="val 3165"/>
            </a:avLst>
          </a:prstGeom>
          <a:solidFill>
            <a:srgbClr val="ECEBF7"/>
          </a:solidFill>
          <a:ln w="12700">
            <a:solidFill>
              <a:srgbClr val="ECEBF7"/>
            </a:solidFill>
            <a:prstDash val="solid"/>
          </a:ln>
        </p:spPr>
        <p:txBody>
          <a:bodyPr/>
          <a:lstStyle/>
          <a:p>
            <a:endParaRPr lang="en-US"/>
          </a:p>
        </p:txBody>
      </p:sp>
      <p:sp>
        <p:nvSpPr>
          <p:cNvPr id="5" name="Shape 3"/>
          <p:cNvSpPr/>
          <p:nvPr/>
        </p:nvSpPr>
        <p:spPr>
          <a:xfrm>
            <a:off x="822960" y="1965960"/>
            <a:ext cx="429768" cy="429768"/>
          </a:xfrm>
          <a:prstGeom prst="ellipse">
            <a:avLst/>
          </a:prstGeom>
          <a:solidFill>
            <a:srgbClr val="3A36A0"/>
          </a:solidFill>
          <a:ln w="12700">
            <a:solidFill>
              <a:srgbClr val="3A36A0"/>
            </a:solidFill>
            <a:prstDash val="solid"/>
          </a:ln>
        </p:spPr>
        <p:txBody>
          <a:bodyPr/>
          <a:lstStyle/>
          <a:p>
            <a:endParaRPr lang="en-US"/>
          </a:p>
        </p:txBody>
      </p:sp>
      <p:sp>
        <p:nvSpPr>
          <p:cNvPr id="6" name="Text 4"/>
          <p:cNvSpPr txBox="1"/>
          <p:nvPr/>
        </p:nvSpPr>
        <p:spPr>
          <a:xfrm>
            <a:off x="822960" y="1965960"/>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80744" y="2020824"/>
            <a:ext cx="430682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Trích xuất   ·   LLM</a:t>
            </a:r>
            <a:endParaRPr lang="en-US" sz="1500" dirty="0"/>
          </a:p>
        </p:txBody>
      </p:sp>
      <p:sp>
        <p:nvSpPr>
          <p:cNvPr id="8" name="Text 6"/>
          <p:cNvSpPr txBox="1"/>
          <p:nvPr/>
        </p:nvSpPr>
        <p:spPr>
          <a:xfrm>
            <a:off x="822960" y="2478024"/>
            <a:ext cx="4846320" cy="576072"/>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Lượt hội thoại → fact có cấu trúc, kèm bản tiếng Anh chuẩn hóa và phân loại ký ức. Trích từ CẢ HAI phía; phía trợ lý vào trạng thái pending.</a:t>
            </a:r>
            <a:endParaRPr lang="en-US" sz="1200" dirty="0"/>
          </a:p>
        </p:txBody>
      </p:sp>
      <p:sp>
        <p:nvSpPr>
          <p:cNvPr id="9" name="Shape 7"/>
          <p:cNvSpPr/>
          <p:nvPr/>
        </p:nvSpPr>
        <p:spPr>
          <a:xfrm>
            <a:off x="6254496" y="1737360"/>
            <a:ext cx="5358384" cy="1444752"/>
          </a:xfrm>
          <a:prstGeom prst="roundRect">
            <a:avLst>
              <a:gd name="adj" fmla="val 3165"/>
            </a:avLst>
          </a:prstGeom>
          <a:solidFill>
            <a:srgbClr val="ECEBF7"/>
          </a:solidFill>
          <a:ln w="12700">
            <a:solidFill>
              <a:srgbClr val="ECEBF7"/>
            </a:solidFill>
            <a:prstDash val="solid"/>
          </a:ln>
        </p:spPr>
        <p:txBody>
          <a:bodyPr/>
          <a:lstStyle/>
          <a:p>
            <a:endParaRPr lang="en-US"/>
          </a:p>
        </p:txBody>
      </p:sp>
      <p:sp>
        <p:nvSpPr>
          <p:cNvPr id="10" name="Shape 8"/>
          <p:cNvSpPr/>
          <p:nvPr/>
        </p:nvSpPr>
        <p:spPr>
          <a:xfrm>
            <a:off x="6510528" y="1965960"/>
            <a:ext cx="429768" cy="429768"/>
          </a:xfrm>
          <a:prstGeom prst="ellipse">
            <a:avLst/>
          </a:prstGeom>
          <a:solidFill>
            <a:srgbClr val="3A36A0"/>
          </a:solidFill>
          <a:ln w="12700">
            <a:solidFill>
              <a:srgbClr val="3A36A0"/>
            </a:solidFill>
            <a:prstDash val="solid"/>
          </a:ln>
        </p:spPr>
        <p:txBody>
          <a:bodyPr/>
          <a:lstStyle/>
          <a:p>
            <a:endParaRPr lang="en-US"/>
          </a:p>
        </p:txBody>
      </p:sp>
      <p:sp>
        <p:nvSpPr>
          <p:cNvPr id="11" name="Text 9"/>
          <p:cNvSpPr txBox="1"/>
          <p:nvPr/>
        </p:nvSpPr>
        <p:spPr>
          <a:xfrm>
            <a:off x="6510528" y="1965960"/>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7068312" y="2020824"/>
            <a:ext cx="430682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Cập nhật   ·   Python</a:t>
            </a:r>
            <a:endParaRPr lang="en-US" sz="1500" dirty="0"/>
          </a:p>
        </p:txBody>
      </p:sp>
      <p:sp>
        <p:nvSpPr>
          <p:cNvPr id="13" name="Text 11"/>
          <p:cNvSpPr txBox="1"/>
          <p:nvPr/>
        </p:nvSpPr>
        <p:spPr>
          <a:xfrm>
            <a:off x="6510528" y="2478024"/>
            <a:ext cx="4846320" cy="576072"/>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Chuẩn hóa giá trị, ghép slot, chọn ADD / UPDATE / DELETE / NOOP / CONFLICT. Bản cũ chuyển superseded chứ không xóa. Không gọi mô hình.</a:t>
            </a:r>
            <a:endParaRPr lang="en-US" sz="1200" dirty="0"/>
          </a:p>
        </p:txBody>
      </p:sp>
      <p:sp>
        <p:nvSpPr>
          <p:cNvPr id="14" name="Shape 12"/>
          <p:cNvSpPr/>
          <p:nvPr/>
        </p:nvSpPr>
        <p:spPr>
          <a:xfrm>
            <a:off x="566928" y="3310128"/>
            <a:ext cx="5358384" cy="1444752"/>
          </a:xfrm>
          <a:prstGeom prst="roundRect">
            <a:avLst>
              <a:gd name="adj" fmla="val 3165"/>
            </a:avLst>
          </a:prstGeom>
          <a:solidFill>
            <a:srgbClr val="ECEBF7"/>
          </a:solidFill>
          <a:ln w="12700">
            <a:solidFill>
              <a:srgbClr val="ECEBF7"/>
            </a:solidFill>
            <a:prstDash val="solid"/>
          </a:ln>
        </p:spPr>
        <p:txBody>
          <a:bodyPr/>
          <a:lstStyle/>
          <a:p>
            <a:endParaRPr lang="en-US"/>
          </a:p>
        </p:txBody>
      </p:sp>
      <p:sp>
        <p:nvSpPr>
          <p:cNvPr id="15" name="Shape 13"/>
          <p:cNvSpPr/>
          <p:nvPr/>
        </p:nvSpPr>
        <p:spPr>
          <a:xfrm>
            <a:off x="822960" y="3538728"/>
            <a:ext cx="429768" cy="429768"/>
          </a:xfrm>
          <a:prstGeom prst="ellipse">
            <a:avLst/>
          </a:prstGeom>
          <a:solidFill>
            <a:srgbClr val="3A36A0"/>
          </a:solidFill>
          <a:ln w="12700">
            <a:solidFill>
              <a:srgbClr val="3A36A0"/>
            </a:solidFill>
            <a:prstDash val="solid"/>
          </a:ln>
        </p:spPr>
        <p:txBody>
          <a:bodyPr/>
          <a:lstStyle/>
          <a:p>
            <a:endParaRPr lang="en-US"/>
          </a:p>
        </p:txBody>
      </p:sp>
      <p:sp>
        <p:nvSpPr>
          <p:cNvPr id="16" name="Text 14"/>
          <p:cNvSpPr txBox="1"/>
          <p:nvPr/>
        </p:nvSpPr>
        <p:spPr>
          <a:xfrm>
            <a:off x="822960" y="3538728"/>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380744" y="3593592"/>
            <a:ext cx="430682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Truy xuất   ·   Chỉ mục + Reranker</a:t>
            </a:r>
            <a:endParaRPr lang="en-US" sz="1500" dirty="0"/>
          </a:p>
        </p:txBody>
      </p:sp>
      <p:sp>
        <p:nvSpPr>
          <p:cNvPr id="18" name="Text 16"/>
          <p:cNvSpPr txBox="1"/>
          <p:nvPr/>
        </p:nvSpPr>
        <p:spPr>
          <a:xfrm>
            <a:off x="822960" y="4050792"/>
            <a:ext cx="4846320" cy="576072"/>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Tách truy vấn con → ba chỉ mục → RRF → rerank → lọc bản cũ hai lớp → lắp ngữ cảnh theo hạn ngạch → phát tín hiệu từ chối.</a:t>
            </a:r>
            <a:endParaRPr lang="en-US" sz="1200" dirty="0"/>
          </a:p>
        </p:txBody>
      </p:sp>
      <p:sp>
        <p:nvSpPr>
          <p:cNvPr id="19" name="Shape 17"/>
          <p:cNvSpPr/>
          <p:nvPr/>
        </p:nvSpPr>
        <p:spPr>
          <a:xfrm>
            <a:off x="6254496" y="3310128"/>
            <a:ext cx="5358384" cy="1444752"/>
          </a:xfrm>
          <a:prstGeom prst="roundRect">
            <a:avLst>
              <a:gd name="adj" fmla="val 3165"/>
            </a:avLst>
          </a:prstGeom>
          <a:solidFill>
            <a:srgbClr val="ECEBF7"/>
          </a:solidFill>
          <a:ln w="12700">
            <a:solidFill>
              <a:srgbClr val="ECEBF7"/>
            </a:solidFill>
            <a:prstDash val="solid"/>
          </a:ln>
        </p:spPr>
        <p:txBody>
          <a:bodyPr/>
          <a:lstStyle/>
          <a:p>
            <a:endParaRPr lang="en-US"/>
          </a:p>
        </p:txBody>
      </p:sp>
      <p:sp>
        <p:nvSpPr>
          <p:cNvPr id="20" name="Shape 18"/>
          <p:cNvSpPr/>
          <p:nvPr/>
        </p:nvSpPr>
        <p:spPr>
          <a:xfrm>
            <a:off x="6510528" y="3538728"/>
            <a:ext cx="429768" cy="429768"/>
          </a:xfrm>
          <a:prstGeom prst="ellipse">
            <a:avLst/>
          </a:prstGeom>
          <a:solidFill>
            <a:srgbClr val="3A36A0"/>
          </a:solidFill>
          <a:ln w="12700">
            <a:solidFill>
              <a:srgbClr val="3A36A0"/>
            </a:solidFill>
            <a:prstDash val="solid"/>
          </a:ln>
        </p:spPr>
        <p:txBody>
          <a:bodyPr/>
          <a:lstStyle/>
          <a:p>
            <a:endParaRPr lang="en-US"/>
          </a:p>
        </p:txBody>
      </p:sp>
      <p:sp>
        <p:nvSpPr>
          <p:cNvPr id="21" name="Text 19"/>
          <p:cNvSpPr txBox="1"/>
          <p:nvPr/>
        </p:nvSpPr>
        <p:spPr>
          <a:xfrm>
            <a:off x="6510528" y="3538728"/>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7068312" y="3593592"/>
            <a:ext cx="430682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Sinh phản hồi   ·   LLM</a:t>
            </a:r>
            <a:endParaRPr lang="en-US" sz="1500" dirty="0"/>
          </a:p>
        </p:txBody>
      </p:sp>
      <p:sp>
        <p:nvSpPr>
          <p:cNvPr id="23" name="Text 21"/>
          <p:cNvSpPr txBox="1"/>
          <p:nvPr/>
        </p:nvSpPr>
        <p:spPr>
          <a:xfrm>
            <a:off x="6510528" y="4050792"/>
            <a:ext cx="4846320" cy="576072"/>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Ký ức vào lời nhắc kèm seq; ký ức procedural vào system prompt. Ngôn ngữ trả lời theo lượt hiện tại, trừ khi người dùng đã đặt khác.</a:t>
            </a:r>
            <a:endParaRPr lang="en-US" sz="1200" dirty="0"/>
          </a:p>
        </p:txBody>
      </p:sp>
      <p:sp>
        <p:nvSpPr>
          <p:cNvPr id="24" name="Shape 22"/>
          <p:cNvSpPr/>
          <p:nvPr/>
        </p:nvSpPr>
        <p:spPr>
          <a:xfrm>
            <a:off x="566928" y="4956048"/>
            <a:ext cx="11045952" cy="1225296"/>
          </a:xfrm>
          <a:prstGeom prst="roundRect">
            <a:avLst>
              <a:gd name="adj" fmla="val 3731"/>
            </a:avLst>
          </a:prstGeom>
          <a:solidFill>
            <a:srgbClr val="13123A"/>
          </a:solidFill>
          <a:ln w="12700">
            <a:solidFill>
              <a:srgbClr val="13123A"/>
            </a:solidFill>
            <a:prstDash val="solid"/>
          </a:ln>
        </p:spPr>
        <p:txBody>
          <a:bodyPr/>
          <a:lstStyle/>
          <a:p>
            <a:endParaRPr lang="en-US"/>
          </a:p>
        </p:txBody>
      </p:sp>
      <p:sp>
        <p:nvSpPr>
          <p:cNvPr id="25" name="Text 23"/>
          <p:cNvSpPr txBox="1"/>
          <p:nvPr/>
        </p:nvSpPr>
        <p:spPr>
          <a:xfrm>
            <a:off x="822960" y="5138928"/>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CHI TIẾT DỄ BỊ BỎ QUA</a:t>
            </a:r>
            <a:endParaRPr lang="en-US" sz="1100" dirty="0"/>
          </a:p>
        </p:txBody>
      </p:sp>
      <p:sp>
        <p:nvSpPr>
          <p:cNvPr id="26" name="Text 24"/>
          <p:cNvSpPr txBox="1"/>
          <p:nvPr/>
        </p:nvSpPr>
        <p:spPr>
          <a:xfrm>
            <a:off x="822960" y="5413248"/>
            <a:ext cx="10533888" cy="621792"/>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Pha 3 lọc bản cũ HAI lớp, không phải một. Lớp một lọc status ở tầng truy vấn; lớp hai gom theo slot chỉ giữ bản seq lớn nhất. Cần cả hai vì embedding của “trình độ N5” và “trình độ N4” gần như trùng nhau, nên top-k rất dễ trả về cả hai — và khi lời nhắc chứa hai fact mâu thuẫn thì mô hình đoán bừa.</a:t>
            </a:r>
            <a:endParaRPr lang="en-US" sz="1250" dirty="0"/>
          </a:p>
        </p:txBody>
      </p:sp>
      <p:sp>
        <p:nvSpPr>
          <p:cNvPr id="27" name="Text 25"/>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Cấu trúc vòng lặp tham chiếu: Chhikara et al., Mem0, ECAI 2025 · Zhang et al., survey cơ chế bộ nhớ, ACM TOIS 2025 (DOI 10.1145/3748302).</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E9970B"/>
                </a:solidFill>
                <a:latin typeface="Calibri" pitchFamily="34" charset="0"/>
                <a:ea typeface="Calibri" pitchFamily="34" charset="-122"/>
                <a:cs typeface="Calibri" pitchFamily="34" charset="-120"/>
              </a:rPr>
              <a:t>MỘT TRONG TÁM NĂNG LỰC</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Cập nhật kiến thức và giải quyết mâu thuẫn</a:t>
            </a:r>
            <a:endParaRPr lang="en-US" sz="3000" dirty="0"/>
          </a:p>
        </p:txBody>
      </p:sp>
      <p:sp>
        <p:nvSpPr>
          <p:cNvPr id="4" name="Shape 2"/>
          <p:cNvSpPr/>
          <p:nvPr/>
        </p:nvSpPr>
        <p:spPr>
          <a:xfrm>
            <a:off x="566928" y="1673352"/>
            <a:ext cx="5358384" cy="2011680"/>
          </a:xfrm>
          <a:prstGeom prst="roundRect">
            <a:avLst>
              <a:gd name="adj" fmla="val 2273"/>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804672" y="1847088"/>
            <a:ext cx="488289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CẬP NHẬT KIẾN THỨC</a:t>
            </a:r>
            <a:endParaRPr lang="en-US" sz="1050" dirty="0"/>
          </a:p>
        </p:txBody>
      </p:sp>
      <p:sp>
        <p:nvSpPr>
          <p:cNvPr id="6" name="Text 4"/>
          <p:cNvSpPr txBox="1"/>
          <p:nvPr/>
        </p:nvSpPr>
        <p:spPr>
          <a:xfrm>
            <a:off x="804672" y="212140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Giá trị đổi theo thời gian — có thứ tự</a:t>
            </a:r>
            <a:endParaRPr lang="en-US" sz="1400" dirty="0"/>
          </a:p>
        </p:txBody>
      </p:sp>
      <p:sp>
        <p:nvSpPr>
          <p:cNvPr id="7" name="Text 5"/>
          <p:cNvSpPr txBox="1"/>
          <p:nvPr/>
        </p:nvSpPr>
        <p:spPr>
          <a:xfrm>
            <a:off x="804672" y="2468880"/>
            <a:ext cx="4882896" cy="10881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Bản mới nhận seq lớn hơn, bản cũ chuyển superseded và giữ lại khoảng hiệu lực. Câu hỏi “giá trị hiện tại là gì” trở thành một phép max(seq) — thuần Python, tất định, không phụ thuộc mô hình.</a:t>
            </a:r>
            <a:endParaRPr lang="en-US" sz="1150" dirty="0"/>
          </a:p>
        </p:txBody>
      </p:sp>
      <p:sp>
        <p:nvSpPr>
          <p:cNvPr id="8" name="Text 6"/>
          <p:cNvSpPr txBox="1"/>
          <p:nvPr/>
        </p:nvSpPr>
        <p:spPr>
          <a:xfrm>
            <a:off x="804672" y="3310128"/>
            <a:ext cx="4882896" cy="256032"/>
          </a:xfrm>
          <a:prstGeom prst="rect">
            <a:avLst/>
          </a:prstGeom>
          <a:noFill/>
          <a:ln/>
        </p:spPr>
        <p:txBody>
          <a:bodyPr wrap="square" lIns="0" tIns="0" rIns="0" bIns="0" rtlCol="0" anchor="ctr"/>
          <a:lstStyle/>
          <a:p>
            <a:pPr marL="0" indent="0">
              <a:buNone/>
            </a:pPr>
            <a:r>
              <a:rPr lang="en-US" sz="1250" b="1" dirty="0">
                <a:solidFill>
                  <a:srgbClr val="4A4E63"/>
                </a:solidFill>
                <a:latin typeface="Courier New" pitchFamily="34" charset="0"/>
                <a:ea typeface="Courier New" pitchFamily="34" charset="-122"/>
                <a:cs typeface="Courier New" pitchFamily="34" charset="-120"/>
              </a:rPr>
              <a:t>#1 N5</a:t>
            </a:r>
            <a:r>
              <a:rPr lang="en-US" sz="1250" dirty="0">
                <a:solidFill>
                  <a:srgbClr val="6A6E85"/>
                </a:solidFill>
                <a:latin typeface="Courier New" pitchFamily="34" charset="0"/>
                <a:ea typeface="Courier New" pitchFamily="34" charset="-122"/>
                <a:cs typeface="Courier New" pitchFamily="34" charset="-120"/>
              </a:rPr>
              <a:t>  superseded   →   </a:t>
            </a:r>
            <a:r>
              <a:rPr lang="en-US" sz="1250" b="1" dirty="0">
                <a:solidFill>
                  <a:srgbClr val="13123A"/>
                </a:solidFill>
                <a:latin typeface="Courier New" pitchFamily="34" charset="0"/>
                <a:ea typeface="Courier New" pitchFamily="34" charset="-122"/>
                <a:cs typeface="Courier New" pitchFamily="34" charset="-120"/>
              </a:rPr>
              <a:t>#4 N4</a:t>
            </a:r>
            <a:r>
              <a:rPr lang="en-US" sz="1250" b="1" dirty="0">
                <a:solidFill>
                  <a:srgbClr val="1FA6A6"/>
                </a:solidFill>
                <a:latin typeface="Courier New" pitchFamily="34" charset="0"/>
                <a:ea typeface="Courier New" pitchFamily="34" charset="-122"/>
                <a:cs typeface="Courier New" pitchFamily="34" charset="-120"/>
              </a:rPr>
              <a:t>  active</a:t>
            </a:r>
            <a:endParaRPr lang="en-US" sz="1250" dirty="0"/>
          </a:p>
        </p:txBody>
      </p:sp>
      <p:sp>
        <p:nvSpPr>
          <p:cNvPr id="9" name="Shape 7"/>
          <p:cNvSpPr/>
          <p:nvPr/>
        </p:nvSpPr>
        <p:spPr>
          <a:xfrm>
            <a:off x="6254496" y="1673352"/>
            <a:ext cx="5358384" cy="2011680"/>
          </a:xfrm>
          <a:prstGeom prst="roundRect">
            <a:avLst>
              <a:gd name="adj" fmla="val 2273"/>
            </a:avLst>
          </a:prstGeom>
          <a:solidFill>
            <a:srgbClr val="F7F7FB"/>
          </a:solidFill>
          <a:ln w="12700">
            <a:solidFill>
              <a:srgbClr val="F7F7FB"/>
            </a:solidFill>
            <a:prstDash val="solid"/>
          </a:ln>
        </p:spPr>
        <p:txBody>
          <a:bodyPr/>
          <a:lstStyle/>
          <a:p>
            <a:endParaRPr lang="en-US"/>
          </a:p>
        </p:txBody>
      </p:sp>
      <p:sp>
        <p:nvSpPr>
          <p:cNvPr id="10" name="Text 8"/>
          <p:cNvSpPr txBox="1"/>
          <p:nvPr/>
        </p:nvSpPr>
        <p:spPr>
          <a:xfrm>
            <a:off x="6492240" y="1847088"/>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GIẢI QUYẾT MÂU THUẪN</a:t>
            </a:r>
            <a:endParaRPr lang="en-US" sz="1050" dirty="0"/>
          </a:p>
        </p:txBody>
      </p:sp>
      <p:sp>
        <p:nvSpPr>
          <p:cNvPr id="11" name="Text 9"/>
          <p:cNvSpPr txBox="1"/>
          <p:nvPr/>
        </p:nvSpPr>
        <p:spPr>
          <a:xfrm>
            <a:off x="6492240" y="212140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Hai giá trị trái nhau cùng lúc — không thứ tự</a:t>
            </a:r>
            <a:endParaRPr lang="en-US" sz="1400" dirty="0"/>
          </a:p>
        </p:txBody>
      </p:sp>
      <p:sp>
        <p:nvSpPr>
          <p:cNvPr id="12" name="Text 10"/>
          <p:cNvSpPr txBox="1"/>
          <p:nvPr/>
        </p:nvSpPr>
        <p:spPr>
          <a:xfrm>
            <a:off x="6492240" y="2468880"/>
            <a:ext cx="4882896" cy="10881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Khi hai giá trị trái nhau xuất hiện trong cùng một lượt, không có căn cứ thời gian để phân xử. Hệ giữ bản sau nhưng đánh dấu cần rà soát, thay vì âm thầm chọn bừa. BEAM chấm đây là một năng lực riêng.</a:t>
            </a:r>
            <a:endParaRPr lang="en-US" sz="1150" dirty="0"/>
          </a:p>
        </p:txBody>
      </p:sp>
      <p:sp>
        <p:nvSpPr>
          <p:cNvPr id="13" name="Text 11"/>
          <p:cNvSpPr txBox="1"/>
          <p:nvPr/>
        </p:nvSpPr>
        <p:spPr>
          <a:xfrm>
            <a:off x="6492240" y="3310128"/>
            <a:ext cx="4882896" cy="256032"/>
          </a:xfrm>
          <a:prstGeom prst="rect">
            <a:avLst/>
          </a:prstGeom>
          <a:noFill/>
          <a:ln/>
        </p:spPr>
        <p:txBody>
          <a:bodyPr wrap="square" lIns="0" tIns="0" rIns="0" bIns="0" rtlCol="0" anchor="ctr"/>
          <a:lstStyle/>
          <a:p>
            <a:pPr marL="0" indent="0">
              <a:buNone/>
            </a:pPr>
            <a:r>
              <a:rPr lang="en-US" sz="1250" b="1" dirty="0">
                <a:solidFill>
                  <a:srgbClr val="13123A"/>
                </a:solidFill>
                <a:latin typeface="Courier New" pitchFamily="34" charset="0"/>
                <a:ea typeface="Courier New" pitchFamily="34" charset="-122"/>
                <a:cs typeface="Courier New" pitchFamily="34" charset="-120"/>
              </a:rPr>
              <a:t>N4</a:t>
            </a:r>
            <a:r>
              <a:rPr lang="en-US" sz="1250" dirty="0">
                <a:solidFill>
                  <a:srgbClr val="6A6E85"/>
                </a:solidFill>
                <a:latin typeface="Courier New" pitchFamily="34" charset="0"/>
                <a:ea typeface="Courier New" pitchFamily="34" charset="-122"/>
                <a:cs typeface="Courier New" pitchFamily="34" charset="-120"/>
              </a:rPr>
              <a:t>  vs  </a:t>
            </a:r>
            <a:r>
              <a:rPr lang="en-US" sz="1250" b="1" dirty="0">
                <a:solidFill>
                  <a:srgbClr val="13123A"/>
                </a:solidFill>
                <a:latin typeface="Courier New" pitchFamily="34" charset="0"/>
                <a:ea typeface="Courier New" pitchFamily="34" charset="-122"/>
                <a:cs typeface="Courier New" pitchFamily="34" charset="-120"/>
              </a:rPr>
              <a:t>N3</a:t>
            </a:r>
            <a:r>
              <a:rPr lang="en-US" sz="1250" dirty="0">
                <a:solidFill>
                  <a:srgbClr val="6A6E85"/>
                </a:solidFill>
                <a:latin typeface="Courier New" pitchFamily="34" charset="0"/>
                <a:ea typeface="Courier New" pitchFamily="34" charset="-122"/>
                <a:cs typeface="Courier New" pitchFamily="34" charset="-120"/>
              </a:rPr>
              <a:t>  →  </a:t>
            </a:r>
            <a:r>
              <a:rPr lang="en-US" sz="1250" b="1" dirty="0">
                <a:solidFill>
                  <a:srgbClr val="E9970B"/>
                </a:solidFill>
                <a:latin typeface="Courier New" pitchFamily="34" charset="0"/>
                <a:ea typeface="Courier New" pitchFamily="34" charset="-122"/>
                <a:cs typeface="Courier New" pitchFamily="34" charset="-120"/>
              </a:rPr>
              <a:t>CONFLICT</a:t>
            </a:r>
            <a:endParaRPr lang="en-US" sz="1250" dirty="0"/>
          </a:p>
        </p:txBody>
      </p:sp>
      <p:sp>
        <p:nvSpPr>
          <p:cNvPr id="14" name="Shape 12"/>
          <p:cNvSpPr/>
          <p:nvPr/>
        </p:nvSpPr>
        <p:spPr>
          <a:xfrm>
            <a:off x="566928" y="3858768"/>
            <a:ext cx="3483864" cy="1115568"/>
          </a:xfrm>
          <a:prstGeom prst="roundRect">
            <a:avLst>
              <a:gd name="adj" fmla="val 4098"/>
            </a:avLst>
          </a:prstGeom>
          <a:solidFill>
            <a:srgbClr val="F7F7FB"/>
          </a:solidFill>
          <a:ln w="12700">
            <a:solidFill>
              <a:srgbClr val="F7F7FB"/>
            </a:solidFill>
            <a:prstDash val="solid"/>
          </a:ln>
        </p:spPr>
        <p:txBody>
          <a:bodyPr/>
          <a:lstStyle/>
          <a:p>
            <a:endParaRPr lang="en-US"/>
          </a:p>
        </p:txBody>
      </p:sp>
      <p:sp>
        <p:nvSpPr>
          <p:cNvPr id="15" name="Text 13"/>
          <p:cNvSpPr txBox="1"/>
          <p:nvPr/>
        </p:nvSpPr>
        <p:spPr>
          <a:xfrm>
            <a:off x="804672" y="3986784"/>
            <a:ext cx="3008376" cy="475488"/>
          </a:xfrm>
          <a:prstGeom prst="rect">
            <a:avLst/>
          </a:prstGeom>
          <a:noFill/>
          <a:ln/>
        </p:spPr>
        <p:txBody>
          <a:bodyPr wrap="square" lIns="0" tIns="0" rIns="0" bIns="0" rtlCol="0" anchor="ctr"/>
          <a:lstStyle/>
          <a:p>
            <a:pPr marL="0" indent="0">
              <a:buNone/>
            </a:pPr>
            <a:r>
              <a:rPr lang="en-US" sz="2800" b="1" dirty="0">
                <a:solidFill>
                  <a:srgbClr val="E9970B"/>
                </a:solidFill>
                <a:latin typeface="Cambria" pitchFamily="34" charset="0"/>
                <a:ea typeface="Cambria" pitchFamily="34" charset="-122"/>
                <a:cs typeface="Cambria" pitchFamily="34" charset="-120"/>
              </a:rPr>
              <a:t>~7%</a:t>
            </a:r>
            <a:endParaRPr lang="en-US" sz="2800" dirty="0"/>
          </a:p>
        </p:txBody>
      </p:sp>
      <p:sp>
        <p:nvSpPr>
          <p:cNvPr id="16" name="Text 14"/>
          <p:cNvSpPr txBox="1"/>
          <p:nvPr/>
        </p:nvSpPr>
        <p:spPr>
          <a:xfrm>
            <a:off x="804672" y="4498848"/>
            <a:ext cx="3008376" cy="237744"/>
          </a:xfrm>
          <a:prstGeom prst="rect">
            <a:avLst/>
          </a:prstGeom>
          <a:noFill/>
          <a:ln/>
        </p:spPr>
        <p:txBody>
          <a:bodyPr wrap="square" lIns="0" tIns="0" rIns="0" bIns="0" rtlCol="0" anchor="ctr"/>
          <a:lstStyle/>
          <a:p>
            <a:pPr marL="0" indent="0">
              <a:buNone/>
            </a:pPr>
            <a:r>
              <a:rPr lang="en-US" sz="1250" b="1" dirty="0">
                <a:solidFill>
                  <a:srgbClr val="13123A"/>
                </a:solidFill>
                <a:latin typeface="Calibri" pitchFamily="34" charset="0"/>
                <a:ea typeface="Calibri" pitchFamily="34" charset="-122"/>
                <a:cs typeface="Calibri" pitchFamily="34" charset="-120"/>
              </a:rPr>
              <a:t>Zep / Graphiti</a:t>
            </a:r>
            <a:endParaRPr lang="en-US" sz="1250" dirty="0"/>
          </a:p>
        </p:txBody>
      </p:sp>
      <p:sp>
        <p:nvSpPr>
          <p:cNvPr id="17" name="Text 15"/>
          <p:cNvSpPr txBox="1"/>
          <p:nvPr/>
        </p:nvSpPr>
        <p:spPr>
          <a:xfrm>
            <a:off x="804672" y="4709160"/>
            <a:ext cx="3008376" cy="219456"/>
          </a:xfrm>
          <a:prstGeom prst="rect">
            <a:avLst/>
          </a:prstGeom>
          <a:noFill/>
          <a:ln/>
        </p:spPr>
        <p:txBody>
          <a:bodyPr wrap="square" lIns="0" tIns="0" rIns="0" bIns="0" rtlCol="0" anchor="ctr"/>
          <a:lstStyle/>
          <a:p>
            <a:pPr marL="0" indent="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18" name="Shape 16"/>
          <p:cNvSpPr/>
          <p:nvPr/>
        </p:nvSpPr>
        <p:spPr>
          <a:xfrm>
            <a:off x="4352544" y="3858768"/>
            <a:ext cx="3483864" cy="1115568"/>
          </a:xfrm>
          <a:prstGeom prst="roundRect">
            <a:avLst>
              <a:gd name="adj" fmla="val 4098"/>
            </a:avLst>
          </a:prstGeom>
          <a:solidFill>
            <a:srgbClr val="F7F7FB"/>
          </a:solidFill>
          <a:ln w="12700">
            <a:solidFill>
              <a:srgbClr val="F7F7FB"/>
            </a:solidFill>
            <a:prstDash val="solid"/>
          </a:ln>
        </p:spPr>
        <p:txBody>
          <a:bodyPr/>
          <a:lstStyle/>
          <a:p>
            <a:endParaRPr lang="en-US"/>
          </a:p>
        </p:txBody>
      </p:sp>
      <p:sp>
        <p:nvSpPr>
          <p:cNvPr id="19" name="Text 17"/>
          <p:cNvSpPr txBox="1"/>
          <p:nvPr/>
        </p:nvSpPr>
        <p:spPr>
          <a:xfrm>
            <a:off x="4590288" y="3986784"/>
            <a:ext cx="3008376" cy="475488"/>
          </a:xfrm>
          <a:prstGeom prst="rect">
            <a:avLst/>
          </a:prstGeom>
          <a:noFill/>
          <a:ln/>
        </p:spPr>
        <p:txBody>
          <a:bodyPr wrap="square" lIns="0" tIns="0" rIns="0" bIns="0" rtlCol="0" anchor="ctr"/>
          <a:lstStyle/>
          <a:p>
            <a:pPr marL="0" indent="0">
              <a:buNone/>
            </a:pPr>
            <a:r>
              <a:rPr lang="en-US" sz="2800" b="1" dirty="0">
                <a:solidFill>
                  <a:srgbClr val="E9970B"/>
                </a:solidFill>
                <a:latin typeface="Cambria" pitchFamily="34" charset="0"/>
                <a:ea typeface="Cambria" pitchFamily="34" charset="-122"/>
                <a:cs typeface="Cambria" pitchFamily="34" charset="-120"/>
              </a:rPr>
              <a:t>~54%</a:t>
            </a:r>
            <a:endParaRPr lang="en-US" sz="2800" dirty="0"/>
          </a:p>
        </p:txBody>
      </p:sp>
      <p:sp>
        <p:nvSpPr>
          <p:cNvPr id="20" name="Text 18"/>
          <p:cNvSpPr txBox="1"/>
          <p:nvPr/>
        </p:nvSpPr>
        <p:spPr>
          <a:xfrm>
            <a:off x="4590288" y="4498848"/>
            <a:ext cx="3008376" cy="237744"/>
          </a:xfrm>
          <a:prstGeom prst="rect">
            <a:avLst/>
          </a:prstGeom>
          <a:noFill/>
          <a:ln/>
        </p:spPr>
        <p:txBody>
          <a:bodyPr wrap="square" lIns="0" tIns="0" rIns="0" bIns="0" rtlCol="0" anchor="ctr"/>
          <a:lstStyle/>
          <a:p>
            <a:pPr marL="0" indent="0">
              <a:buNone/>
            </a:pPr>
            <a:r>
              <a:rPr lang="en-US" sz="1250" b="1" dirty="0">
                <a:solidFill>
                  <a:srgbClr val="13123A"/>
                </a:solidFill>
                <a:latin typeface="Calibri" pitchFamily="34" charset="0"/>
                <a:ea typeface="Calibri" pitchFamily="34" charset="-122"/>
                <a:cs typeface="Calibri" pitchFamily="34" charset="-120"/>
              </a:rPr>
              <a:t>HippoRAG-v2</a:t>
            </a:r>
            <a:endParaRPr lang="en-US" sz="1250" dirty="0"/>
          </a:p>
        </p:txBody>
      </p:sp>
      <p:sp>
        <p:nvSpPr>
          <p:cNvPr id="21" name="Text 19"/>
          <p:cNvSpPr txBox="1"/>
          <p:nvPr/>
        </p:nvSpPr>
        <p:spPr>
          <a:xfrm>
            <a:off x="4590288" y="4709160"/>
            <a:ext cx="3008376" cy="219456"/>
          </a:xfrm>
          <a:prstGeom prst="rect">
            <a:avLst/>
          </a:prstGeom>
          <a:noFill/>
          <a:ln/>
        </p:spPr>
        <p:txBody>
          <a:bodyPr wrap="square" lIns="0" tIns="0" rIns="0" bIns="0" rtlCol="0" anchor="ctr"/>
          <a:lstStyle/>
          <a:p>
            <a:pPr marL="0" indent="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22" name="Shape 20"/>
          <p:cNvSpPr/>
          <p:nvPr/>
        </p:nvSpPr>
        <p:spPr>
          <a:xfrm>
            <a:off x="8138160" y="3858768"/>
            <a:ext cx="3483864" cy="1115568"/>
          </a:xfrm>
          <a:prstGeom prst="roundRect">
            <a:avLst>
              <a:gd name="adj" fmla="val 4098"/>
            </a:avLst>
          </a:prstGeom>
          <a:solidFill>
            <a:srgbClr val="F7F7FB"/>
          </a:solidFill>
          <a:ln w="12700">
            <a:solidFill>
              <a:srgbClr val="F7F7FB"/>
            </a:solidFill>
            <a:prstDash val="solid"/>
          </a:ln>
        </p:spPr>
        <p:txBody>
          <a:bodyPr/>
          <a:lstStyle/>
          <a:p>
            <a:endParaRPr lang="en-US"/>
          </a:p>
        </p:txBody>
      </p:sp>
      <p:sp>
        <p:nvSpPr>
          <p:cNvPr id="23" name="Text 21"/>
          <p:cNvSpPr txBox="1"/>
          <p:nvPr/>
        </p:nvSpPr>
        <p:spPr>
          <a:xfrm>
            <a:off x="8375904" y="3986784"/>
            <a:ext cx="3008376" cy="475488"/>
          </a:xfrm>
          <a:prstGeom prst="rect">
            <a:avLst/>
          </a:prstGeom>
          <a:noFill/>
          <a:ln/>
        </p:spPr>
        <p:txBody>
          <a:bodyPr wrap="square" lIns="0" tIns="0" rIns="0" bIns="0" rtlCol="0" anchor="ctr"/>
          <a:lstStyle/>
          <a:p>
            <a:pPr marL="0" indent="0">
              <a:buNone/>
            </a:pPr>
            <a:r>
              <a:rPr lang="en-US" sz="2800" b="1" dirty="0">
                <a:solidFill>
                  <a:srgbClr val="E9970B"/>
                </a:solidFill>
                <a:latin typeface="Cambria" pitchFamily="34" charset="0"/>
                <a:ea typeface="Cambria" pitchFamily="34" charset="-122"/>
                <a:cs typeface="Cambria" pitchFamily="34" charset="-120"/>
              </a:rPr>
              <a:t>~60%</a:t>
            </a:r>
            <a:endParaRPr lang="en-US" sz="2800" dirty="0"/>
          </a:p>
        </p:txBody>
      </p:sp>
      <p:sp>
        <p:nvSpPr>
          <p:cNvPr id="24" name="Text 22"/>
          <p:cNvSpPr txBox="1"/>
          <p:nvPr/>
        </p:nvSpPr>
        <p:spPr>
          <a:xfrm>
            <a:off x="8375904" y="4498848"/>
            <a:ext cx="3008376" cy="237744"/>
          </a:xfrm>
          <a:prstGeom prst="rect">
            <a:avLst/>
          </a:prstGeom>
          <a:noFill/>
          <a:ln/>
        </p:spPr>
        <p:txBody>
          <a:bodyPr wrap="square" lIns="0" tIns="0" rIns="0" bIns="0" rtlCol="0" anchor="ctr"/>
          <a:lstStyle/>
          <a:p>
            <a:pPr marL="0" indent="0">
              <a:buNone/>
            </a:pPr>
            <a:r>
              <a:rPr lang="en-US" sz="1250" b="1" dirty="0">
                <a:solidFill>
                  <a:srgbClr val="13123A"/>
                </a:solidFill>
                <a:latin typeface="Calibri" pitchFamily="34" charset="0"/>
                <a:ea typeface="Calibri" pitchFamily="34" charset="-122"/>
                <a:cs typeface="Calibri" pitchFamily="34" charset="-120"/>
              </a:rPr>
              <a:t>GPT-4o full-context</a:t>
            </a:r>
            <a:endParaRPr lang="en-US" sz="1250" dirty="0"/>
          </a:p>
        </p:txBody>
      </p:sp>
      <p:sp>
        <p:nvSpPr>
          <p:cNvPr id="25" name="Text 23"/>
          <p:cNvSpPr txBox="1"/>
          <p:nvPr/>
        </p:nvSpPr>
        <p:spPr>
          <a:xfrm>
            <a:off x="8375904" y="4709160"/>
            <a:ext cx="3008376" cy="219456"/>
          </a:xfrm>
          <a:prstGeom prst="rect">
            <a:avLst/>
          </a:prstGeom>
          <a:noFill/>
          <a:ln/>
        </p:spPr>
        <p:txBody>
          <a:bodyPr wrap="square" lIns="0" tIns="0" rIns="0" bIns="0" rtlCol="0" anchor="ctr"/>
          <a:lstStyle/>
          <a:p>
            <a:pPr marL="0" indent="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26" name="Shape 24"/>
          <p:cNvSpPr/>
          <p:nvPr/>
        </p:nvSpPr>
        <p:spPr>
          <a:xfrm>
            <a:off x="566928" y="5120640"/>
            <a:ext cx="11045952" cy="1207008"/>
          </a:xfrm>
          <a:prstGeom prst="roundRect">
            <a:avLst>
              <a:gd name="adj" fmla="val 3788"/>
            </a:avLst>
          </a:prstGeom>
          <a:solidFill>
            <a:srgbClr val="13123A"/>
          </a:solidFill>
          <a:ln w="12700">
            <a:solidFill>
              <a:srgbClr val="13123A"/>
            </a:solidFill>
            <a:prstDash val="solid"/>
          </a:ln>
        </p:spPr>
        <p:txBody>
          <a:bodyPr/>
          <a:lstStyle/>
          <a:p>
            <a:endParaRPr lang="en-US"/>
          </a:p>
        </p:txBody>
      </p:sp>
      <p:sp>
        <p:nvSpPr>
          <p:cNvPr id="27" name="Text 25"/>
          <p:cNvSpPr txBox="1"/>
          <p:nvPr/>
        </p:nvSpPr>
        <p:spPr>
          <a:xfrm>
            <a:off x="822960" y="530352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VÌ SAO NĂNG LỰC NÀY ĐÁNG CHÚ Ý</a:t>
            </a:r>
            <a:endParaRPr lang="en-US" sz="1100" dirty="0"/>
          </a:p>
        </p:txBody>
      </p:sp>
      <p:sp>
        <p:nvSpPr>
          <p:cNvPr id="28" name="Text 26"/>
          <p:cNvSpPr txBox="1"/>
          <p:nvPr/>
        </p:nvSpPr>
        <p:spPr>
          <a:xfrm>
            <a:off x="822960" y="5577840"/>
            <a:ext cx="10533888" cy="60350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Cả ba hệ trên đều được chỉ dẫn rõ trong lời nhắc rằng fact mới có số thứ tự lớn hơn — và vẫn sai. Vấn đề không ở truy xuất, cũng không ở độ dài ngữ cảnh, mà ở chỗ giao cho mô hình việc phán đoán độ mới. Đây là một trong tám năng lực, và là chỗ nhóm kỳ vọng có cải tiến rõ nhất.</a:t>
            </a:r>
            <a:endParaRPr lang="en-US" sz="1250" dirty="0"/>
          </a:p>
        </p:txBody>
      </p:sp>
      <p:sp>
        <p:nvSpPr>
          <p:cNvPr id="29" name="Text 27"/>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Số liệu trên FactConsolidation (MemoryAgentBench, ICLR 2026), báo cáo bởi Reddy &amp; Challaram, arXiv:2606.01435 (2026) — theo công bố của tác giả.</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CÔNG NGHỆ</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Chốt công nghệ — toàn bộ hạ tầng miễn phí</a:t>
            </a:r>
            <a:endParaRPr lang="en-US" sz="3000" dirty="0"/>
          </a:p>
        </p:txBody>
      </p:sp>
      <p:sp>
        <p:nvSpPr>
          <p:cNvPr id="4" name="Text 2"/>
          <p:cNvSpPr txBox="1"/>
          <p:nvPr/>
        </p:nvSpPr>
        <p:spPr>
          <a:xfrm>
            <a:off x="749808" y="1673352"/>
            <a:ext cx="178308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TẦNG</a:t>
            </a:r>
            <a:endParaRPr lang="en-US" sz="1100" dirty="0"/>
          </a:p>
        </p:txBody>
      </p:sp>
      <p:sp>
        <p:nvSpPr>
          <p:cNvPr id="5" name="Text 3"/>
          <p:cNvSpPr txBox="1"/>
          <p:nvPr/>
        </p:nvSpPr>
        <p:spPr>
          <a:xfrm>
            <a:off x="2651760" y="1673352"/>
            <a:ext cx="292608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LỰA CHỌN</a:t>
            </a:r>
            <a:endParaRPr lang="en-US" sz="1100" dirty="0"/>
          </a:p>
        </p:txBody>
      </p:sp>
      <p:sp>
        <p:nvSpPr>
          <p:cNvPr id="6" name="Text 4"/>
          <p:cNvSpPr txBox="1"/>
          <p:nvPr/>
        </p:nvSpPr>
        <p:spPr>
          <a:xfrm>
            <a:off x="5715000" y="1673352"/>
            <a:ext cx="571500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VÌ SAO CHỌN NÓ</a:t>
            </a:r>
            <a:endParaRPr lang="en-US" sz="1100" dirty="0"/>
          </a:p>
        </p:txBody>
      </p:sp>
      <p:sp>
        <p:nvSpPr>
          <p:cNvPr id="7" name="Shape 5"/>
          <p:cNvSpPr/>
          <p:nvPr/>
        </p:nvSpPr>
        <p:spPr>
          <a:xfrm>
            <a:off x="566928" y="2002536"/>
            <a:ext cx="11045952" cy="786384"/>
          </a:xfrm>
          <a:prstGeom prst="roundRect">
            <a:avLst>
              <a:gd name="adj" fmla="val 6977"/>
            </a:avLst>
          </a:prstGeom>
          <a:solidFill>
            <a:srgbClr val="ECEBF7"/>
          </a:solidFill>
          <a:ln w="12700">
            <a:solidFill>
              <a:srgbClr val="FFFFFF"/>
            </a:solidFill>
            <a:prstDash val="solid"/>
          </a:ln>
        </p:spPr>
        <p:txBody>
          <a:bodyPr/>
          <a:lstStyle/>
          <a:p>
            <a:endParaRPr lang="en-US"/>
          </a:p>
        </p:txBody>
      </p:sp>
      <p:sp>
        <p:nvSpPr>
          <p:cNvPr id="8" name="Text 6"/>
          <p:cNvSpPr txBox="1"/>
          <p:nvPr/>
        </p:nvSpPr>
        <p:spPr>
          <a:xfrm>
            <a:off x="749808" y="2075688"/>
            <a:ext cx="1783080" cy="658368"/>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Mô hình ngôn ngữ</a:t>
            </a:r>
            <a:endParaRPr lang="en-US" sz="1250" dirty="0"/>
          </a:p>
        </p:txBody>
      </p:sp>
      <p:sp>
        <p:nvSpPr>
          <p:cNvPr id="9" name="Text 7"/>
          <p:cNvSpPr txBox="1"/>
          <p:nvPr/>
        </p:nvSpPr>
        <p:spPr>
          <a:xfrm>
            <a:off x="2651760" y="2075688"/>
            <a:ext cx="292608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Gemini 2.5 Flash — gói miễn phí. Dự phòng: Groq free tier, Ollama local</a:t>
            </a:r>
            <a:endParaRPr lang="en-US" sz="1150" dirty="0"/>
          </a:p>
        </p:txBody>
      </p:sp>
      <p:sp>
        <p:nvSpPr>
          <p:cNvPr id="10" name="Text 8"/>
          <p:cNvSpPr txBox="1"/>
          <p:nvPr/>
        </p:nvSpPr>
        <p:spPr>
          <a:xfrm>
            <a:off x="5715000" y="2075688"/>
            <a:ext cx="571500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~1.500 lượt/ngày, ~15 lượt/phút, không cần thẻ tín dụng. Dư cho quy mô đồ án. Có dự phòng vì phần đánh giá cần đổi mô hình nền để đo phương sai.</a:t>
            </a:r>
            <a:endParaRPr lang="en-US" sz="1150" dirty="0"/>
          </a:p>
        </p:txBody>
      </p:sp>
      <p:sp>
        <p:nvSpPr>
          <p:cNvPr id="11" name="Shape 9"/>
          <p:cNvSpPr/>
          <p:nvPr/>
        </p:nvSpPr>
        <p:spPr>
          <a:xfrm>
            <a:off x="566928" y="2862072"/>
            <a:ext cx="11045952" cy="786384"/>
          </a:xfrm>
          <a:prstGeom prst="roundRect">
            <a:avLst>
              <a:gd name="adj" fmla="val 6977"/>
            </a:avLst>
          </a:prstGeom>
          <a:solidFill>
            <a:srgbClr val="F7F7FB"/>
          </a:solidFill>
          <a:ln w="12700">
            <a:solidFill>
              <a:srgbClr val="FFFFFF"/>
            </a:solidFill>
            <a:prstDash val="solid"/>
          </a:ln>
        </p:spPr>
        <p:txBody>
          <a:bodyPr/>
          <a:lstStyle/>
          <a:p>
            <a:endParaRPr lang="en-US"/>
          </a:p>
        </p:txBody>
      </p:sp>
      <p:sp>
        <p:nvSpPr>
          <p:cNvPr id="12" name="Text 10"/>
          <p:cNvSpPr txBox="1"/>
          <p:nvPr/>
        </p:nvSpPr>
        <p:spPr>
          <a:xfrm>
            <a:off x="749808" y="2935224"/>
            <a:ext cx="1783080" cy="658368"/>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Embedding &amp; Reranker</a:t>
            </a:r>
            <a:endParaRPr lang="en-US" sz="1250" dirty="0"/>
          </a:p>
        </p:txBody>
      </p:sp>
      <p:sp>
        <p:nvSpPr>
          <p:cNvPr id="13" name="Text 11"/>
          <p:cNvSpPr txBox="1"/>
          <p:nvPr/>
        </p:nvSpPr>
        <p:spPr>
          <a:xfrm>
            <a:off x="2651760" y="2935224"/>
            <a:ext cx="292608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BGE-M3 và bge-reranker-v2-m3 — chạy local, miễn phí</a:t>
            </a:r>
            <a:endParaRPr lang="en-US" sz="1150" dirty="0"/>
          </a:p>
        </p:txBody>
      </p:sp>
      <p:sp>
        <p:nvSpPr>
          <p:cNvPr id="14" name="Text 12"/>
          <p:cNvSpPr txBox="1"/>
          <p:nvPr/>
        </p:nvSpPr>
        <p:spPr>
          <a:xfrm>
            <a:off x="5715000" y="2935224"/>
            <a:ext cx="571500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Cả hai đều xuyên ngữ, phục vụ trực tiếp năng lực song ngữ. Chạy local vì embedding bị gọi nhiều nhất: mỗi fact, mỗi truy vấn con, mỗi lần quét tham số — đặt lên API là đốt sạch hạn mức trong một buổi.</a:t>
            </a:r>
            <a:endParaRPr lang="en-US" sz="1150" dirty="0"/>
          </a:p>
        </p:txBody>
      </p:sp>
      <p:sp>
        <p:nvSpPr>
          <p:cNvPr id="15" name="Shape 13"/>
          <p:cNvSpPr/>
          <p:nvPr/>
        </p:nvSpPr>
        <p:spPr>
          <a:xfrm>
            <a:off x="566928" y="3721608"/>
            <a:ext cx="11045952" cy="786384"/>
          </a:xfrm>
          <a:prstGeom prst="roundRect">
            <a:avLst>
              <a:gd name="adj" fmla="val 6977"/>
            </a:avLst>
          </a:prstGeom>
          <a:solidFill>
            <a:srgbClr val="ECEBF7"/>
          </a:solidFill>
          <a:ln w="12700">
            <a:solidFill>
              <a:srgbClr val="FFFFFF"/>
            </a:solidFill>
            <a:prstDash val="solid"/>
          </a:ln>
        </p:spPr>
        <p:txBody>
          <a:bodyPr/>
          <a:lstStyle/>
          <a:p>
            <a:endParaRPr lang="en-US"/>
          </a:p>
        </p:txBody>
      </p:sp>
      <p:sp>
        <p:nvSpPr>
          <p:cNvPr id="16" name="Text 14"/>
          <p:cNvSpPr txBox="1"/>
          <p:nvPr/>
        </p:nvSpPr>
        <p:spPr>
          <a:xfrm>
            <a:off x="749808" y="3794760"/>
            <a:ext cx="1783080" cy="658368"/>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Lưu trữ &amp; chỉ mục</a:t>
            </a:r>
            <a:endParaRPr lang="en-US" sz="1250" dirty="0"/>
          </a:p>
        </p:txBody>
      </p:sp>
      <p:sp>
        <p:nvSpPr>
          <p:cNvPr id="17" name="Text 15"/>
          <p:cNvSpPr txBox="1"/>
          <p:nvPr/>
        </p:nvSpPr>
        <p:spPr>
          <a:xfrm>
            <a:off x="2651760" y="3794760"/>
            <a:ext cx="292608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SQLite (sổ cái) · ChromaDB (vector) · rank_bm25 (từ khóa)</a:t>
            </a:r>
            <a:endParaRPr lang="en-US" sz="1150" dirty="0"/>
          </a:p>
        </p:txBody>
      </p:sp>
      <p:sp>
        <p:nvSpPr>
          <p:cNvPr id="18" name="Text 16"/>
          <p:cNvSpPr txBox="1"/>
          <p:nvPr/>
        </p:nvSpPr>
        <p:spPr>
          <a:xfrm>
            <a:off x="5715000" y="3794760"/>
            <a:ext cx="571500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SQLite giữ bản ghi và ràng buộc toàn vẹn; hai chỉ mục còn lại là dẫn xuất, dựng lại được bất cứ lúc nào. Chroma có metadata filter, cần để lọc status ngay ở tầng truy vấn.</a:t>
            </a:r>
            <a:endParaRPr lang="en-US" sz="1150" dirty="0"/>
          </a:p>
        </p:txBody>
      </p:sp>
      <p:sp>
        <p:nvSpPr>
          <p:cNvPr id="19" name="Shape 17"/>
          <p:cNvSpPr/>
          <p:nvPr/>
        </p:nvSpPr>
        <p:spPr>
          <a:xfrm>
            <a:off x="566928" y="4581144"/>
            <a:ext cx="11045952" cy="786384"/>
          </a:xfrm>
          <a:prstGeom prst="roundRect">
            <a:avLst>
              <a:gd name="adj" fmla="val 6977"/>
            </a:avLst>
          </a:prstGeom>
          <a:solidFill>
            <a:srgbClr val="F7F7FB"/>
          </a:solidFill>
          <a:ln w="12700">
            <a:solidFill>
              <a:srgbClr val="FFFFFF"/>
            </a:solidFill>
            <a:prstDash val="solid"/>
          </a:ln>
        </p:spPr>
        <p:txBody>
          <a:bodyPr/>
          <a:lstStyle/>
          <a:p>
            <a:endParaRPr lang="en-US"/>
          </a:p>
        </p:txBody>
      </p:sp>
      <p:sp>
        <p:nvSpPr>
          <p:cNvPr id="20" name="Text 18"/>
          <p:cNvSpPr txBox="1"/>
          <p:nvPr/>
        </p:nvSpPr>
        <p:spPr>
          <a:xfrm>
            <a:off x="749808" y="4654296"/>
            <a:ext cx="1783080" cy="658368"/>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Ngôn ngữ &amp; kiểm thử</a:t>
            </a:r>
            <a:endParaRPr lang="en-US" sz="1250" dirty="0"/>
          </a:p>
        </p:txBody>
      </p:sp>
      <p:sp>
        <p:nvSpPr>
          <p:cNvPr id="21" name="Text 19"/>
          <p:cNvSpPr txBox="1"/>
          <p:nvPr/>
        </p:nvSpPr>
        <p:spPr>
          <a:xfrm>
            <a:off x="2651760" y="4654296"/>
            <a:ext cx="292608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Python 3.11 · pytest + LLM giả lập</a:t>
            </a:r>
            <a:endParaRPr lang="en-US" sz="1150" dirty="0"/>
          </a:p>
        </p:txBody>
      </p:sp>
      <p:sp>
        <p:nvSpPr>
          <p:cNvPr id="22" name="Text 20"/>
          <p:cNvSpPr txBox="1"/>
          <p:nvPr/>
        </p:nvSpPr>
        <p:spPr>
          <a:xfrm>
            <a:off x="5715000" y="4654296"/>
            <a:ext cx="5715000" cy="658368"/>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Test chạy offline, không tốn hạn mức, kết quả lặp lại được. LLM giả lập đồng thời là baseline không-LLM để tách bạch phần nào của kết quả đến từ mô hình.</a:t>
            </a:r>
            <a:endParaRPr lang="en-US" sz="1150" dirty="0"/>
          </a:p>
        </p:txBody>
      </p:sp>
      <p:sp>
        <p:nvSpPr>
          <p:cNvPr id="23" name="Shape 21"/>
          <p:cNvSpPr/>
          <p:nvPr/>
        </p:nvSpPr>
        <p:spPr>
          <a:xfrm>
            <a:off x="566928" y="5486400"/>
            <a:ext cx="11045952" cy="841248"/>
          </a:xfrm>
          <a:prstGeom prst="roundRect">
            <a:avLst>
              <a:gd name="adj" fmla="val 5435"/>
            </a:avLst>
          </a:prstGeom>
          <a:solidFill>
            <a:srgbClr val="13123A"/>
          </a:solidFill>
          <a:ln w="12700">
            <a:solidFill>
              <a:srgbClr val="13123A"/>
            </a:solidFill>
            <a:prstDash val="solid"/>
          </a:ln>
        </p:spPr>
        <p:txBody>
          <a:bodyPr/>
          <a:lstStyle/>
          <a:p>
            <a:endParaRPr lang="en-US"/>
          </a:p>
        </p:txBody>
      </p:sp>
      <p:sp>
        <p:nvSpPr>
          <p:cNvPr id="24" name="Text 22"/>
          <p:cNvSpPr txBox="1"/>
          <p:nvPr/>
        </p:nvSpPr>
        <p:spPr>
          <a:xfrm>
            <a:off x="822960" y="566928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HỆ QUẢ VÀ ĐÁNH ĐỔI</a:t>
            </a:r>
            <a:endParaRPr lang="en-US" sz="1100" dirty="0"/>
          </a:p>
        </p:txBody>
      </p:sp>
      <p:sp>
        <p:nvSpPr>
          <p:cNvPr id="25" name="Text 23"/>
          <p:cNvSpPr txBox="1"/>
          <p:nvPr/>
        </p:nvSpPr>
        <p:spPr>
          <a:xfrm>
            <a:off x="822960" y="5943600"/>
            <a:ext cx="10533888" cy="23774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Không hạng mục nào phải trả tiền, nên số lần chạy lại thí nghiệm không bị giới hạn bởi ngân sách. Đánh đổi: gói miễn phí của Gemini có thể dùng dữ liệu để huấn luyện, nên nhóm chỉ dùng dữ liệu tự sinh và benchmark công khai, không dùng dữ liệu cá nhân thật.</a:t>
            </a:r>
            <a:endParaRPr lang="en-US" sz="1250" dirty="0"/>
          </a:p>
        </p:txBody>
      </p:sp>
      <p:sp>
        <p:nvSpPr>
          <p:cNvPr id="26" name="Text 24"/>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Hạn mức gói miễn phí theo tài liệu Google AI for Developers, tra cứu tháng 9/2026 — cần kiểm tra lại trước khi báo cáo cuối vì hạn mức có thể thay đổi.</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1FA6A6"/>
                </a:solidFill>
                <a:latin typeface="Calibri" pitchFamily="34" charset="0"/>
                <a:ea typeface="Calibri" pitchFamily="34" charset="-122"/>
                <a:cs typeface="Calibri" pitchFamily="34" charset="-120"/>
              </a:rPr>
              <a:t>PHƯƠNG PHÁP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Ba trục đo cho toàn bộ tám năng lực</a:t>
            </a:r>
            <a:endParaRPr lang="en-US" sz="3000" dirty="0"/>
          </a:p>
        </p:txBody>
      </p:sp>
      <p:sp>
        <p:nvSpPr>
          <p:cNvPr id="4" name="Shape 2"/>
          <p:cNvSpPr/>
          <p:nvPr/>
        </p:nvSpPr>
        <p:spPr>
          <a:xfrm>
            <a:off x="566928" y="1673352"/>
            <a:ext cx="3483864" cy="2103120"/>
          </a:xfrm>
          <a:prstGeom prst="roundRect">
            <a:avLst>
              <a:gd name="adj" fmla="val 2174"/>
            </a:avLst>
          </a:prstGeom>
          <a:solidFill>
            <a:srgbClr val="ECEBF7"/>
          </a:solidFill>
          <a:ln w="12700">
            <a:solidFill>
              <a:srgbClr val="ECEBF7"/>
            </a:solidFill>
            <a:prstDash val="solid"/>
          </a:ln>
        </p:spPr>
        <p:txBody>
          <a:bodyPr/>
          <a:lstStyle/>
          <a:p>
            <a:endParaRPr lang="en-US"/>
          </a:p>
        </p:txBody>
      </p:sp>
      <p:sp>
        <p:nvSpPr>
          <p:cNvPr id="5" name="Shape 3"/>
          <p:cNvSpPr/>
          <p:nvPr/>
        </p:nvSpPr>
        <p:spPr>
          <a:xfrm>
            <a:off x="822960" y="1901952"/>
            <a:ext cx="429768" cy="429768"/>
          </a:xfrm>
          <a:prstGeom prst="ellipse">
            <a:avLst/>
          </a:prstGeom>
          <a:solidFill>
            <a:srgbClr val="3A36A0"/>
          </a:solidFill>
          <a:ln w="12700">
            <a:solidFill>
              <a:srgbClr val="3A36A0"/>
            </a:solidFill>
            <a:prstDash val="solid"/>
          </a:ln>
        </p:spPr>
        <p:txBody>
          <a:bodyPr/>
          <a:lstStyle/>
          <a:p>
            <a:endParaRPr lang="en-US"/>
          </a:p>
        </p:txBody>
      </p:sp>
      <p:sp>
        <p:nvSpPr>
          <p:cNvPr id="6" name="Text 4"/>
          <p:cNvSpPr txBox="1"/>
          <p:nvPr/>
        </p:nvSpPr>
        <p:spPr>
          <a:xfrm>
            <a:off x="822960" y="1901952"/>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80744" y="1956816"/>
            <a:ext cx="243230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Độ chính xác</a:t>
            </a:r>
            <a:endParaRPr lang="en-US" sz="1500" dirty="0"/>
          </a:p>
        </p:txBody>
      </p:sp>
      <p:sp>
        <p:nvSpPr>
          <p:cNvPr id="8" name="Text 6"/>
          <p:cNvSpPr txBox="1"/>
          <p:nvPr/>
        </p:nvSpPr>
        <p:spPr>
          <a:xfrm>
            <a:off x="822960" y="2414016"/>
            <a:ext cx="2971800" cy="1234440"/>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Tỉ lệ trả lời đúng tách theo TỪNG loại câu hỏi và theo NGÔN NGỮ, không gộp một con số chung. Chấm bằng LLM-as-a-Judge, công bố kèm mô hình chấm và lời nhắc chấm.</a:t>
            </a:r>
            <a:endParaRPr lang="en-US" sz="1200" dirty="0"/>
          </a:p>
        </p:txBody>
      </p:sp>
      <p:sp>
        <p:nvSpPr>
          <p:cNvPr id="9" name="Shape 7"/>
          <p:cNvSpPr/>
          <p:nvPr/>
        </p:nvSpPr>
        <p:spPr>
          <a:xfrm>
            <a:off x="4352544" y="1673352"/>
            <a:ext cx="3483864" cy="2103120"/>
          </a:xfrm>
          <a:prstGeom prst="roundRect">
            <a:avLst>
              <a:gd name="adj" fmla="val 2174"/>
            </a:avLst>
          </a:prstGeom>
          <a:solidFill>
            <a:srgbClr val="ECEBF7"/>
          </a:solidFill>
          <a:ln w="12700">
            <a:solidFill>
              <a:srgbClr val="ECEBF7"/>
            </a:solidFill>
            <a:prstDash val="solid"/>
          </a:ln>
        </p:spPr>
        <p:txBody>
          <a:bodyPr/>
          <a:lstStyle/>
          <a:p>
            <a:endParaRPr lang="en-US"/>
          </a:p>
        </p:txBody>
      </p:sp>
      <p:sp>
        <p:nvSpPr>
          <p:cNvPr id="10" name="Shape 8"/>
          <p:cNvSpPr/>
          <p:nvPr/>
        </p:nvSpPr>
        <p:spPr>
          <a:xfrm>
            <a:off x="4608576" y="1901952"/>
            <a:ext cx="429768" cy="429768"/>
          </a:xfrm>
          <a:prstGeom prst="ellipse">
            <a:avLst/>
          </a:prstGeom>
          <a:solidFill>
            <a:srgbClr val="3A36A0"/>
          </a:solidFill>
          <a:ln w="12700">
            <a:solidFill>
              <a:srgbClr val="3A36A0"/>
            </a:solidFill>
            <a:prstDash val="solid"/>
          </a:ln>
        </p:spPr>
        <p:txBody>
          <a:bodyPr/>
          <a:lstStyle/>
          <a:p>
            <a:endParaRPr lang="en-US"/>
          </a:p>
        </p:txBody>
      </p:sp>
      <p:sp>
        <p:nvSpPr>
          <p:cNvPr id="11" name="Text 9"/>
          <p:cNvSpPr txBox="1"/>
          <p:nvPr/>
        </p:nvSpPr>
        <p:spPr>
          <a:xfrm>
            <a:off x="4608576" y="1901952"/>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5166360" y="1956816"/>
            <a:ext cx="243230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Tính nhất quán</a:t>
            </a:r>
            <a:endParaRPr lang="en-US" sz="1500" dirty="0"/>
          </a:p>
        </p:txBody>
      </p:sp>
      <p:sp>
        <p:nvSpPr>
          <p:cNvPr id="13" name="Text 11"/>
          <p:cNvSpPr txBox="1"/>
          <p:nvPr/>
        </p:nvSpPr>
        <p:spPr>
          <a:xfrm>
            <a:off x="4608576" y="2414016"/>
            <a:ext cx="2971800" cy="1234440"/>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Tỉ lệ dùng đúng fact sau cập nhật · tỉ lệ tự mâu thuẫn · tỉ lệ từ chối đúng lúc · tỉ lệ tôn trọng ràng buộc đã ghi nhớ.</a:t>
            </a:r>
            <a:endParaRPr lang="en-US" sz="1200" dirty="0"/>
          </a:p>
        </p:txBody>
      </p:sp>
      <p:sp>
        <p:nvSpPr>
          <p:cNvPr id="14" name="Shape 12"/>
          <p:cNvSpPr/>
          <p:nvPr/>
        </p:nvSpPr>
        <p:spPr>
          <a:xfrm>
            <a:off x="8138160" y="1673352"/>
            <a:ext cx="3483864" cy="2103120"/>
          </a:xfrm>
          <a:prstGeom prst="roundRect">
            <a:avLst>
              <a:gd name="adj" fmla="val 2174"/>
            </a:avLst>
          </a:prstGeom>
          <a:solidFill>
            <a:srgbClr val="ECEBF7"/>
          </a:solidFill>
          <a:ln w="12700">
            <a:solidFill>
              <a:srgbClr val="ECEBF7"/>
            </a:solidFill>
            <a:prstDash val="solid"/>
          </a:ln>
        </p:spPr>
        <p:txBody>
          <a:bodyPr/>
          <a:lstStyle/>
          <a:p>
            <a:endParaRPr lang="en-US"/>
          </a:p>
        </p:txBody>
      </p:sp>
      <p:sp>
        <p:nvSpPr>
          <p:cNvPr id="15" name="Shape 13"/>
          <p:cNvSpPr/>
          <p:nvPr/>
        </p:nvSpPr>
        <p:spPr>
          <a:xfrm>
            <a:off x="8394192" y="1901952"/>
            <a:ext cx="429768" cy="429768"/>
          </a:xfrm>
          <a:prstGeom prst="ellipse">
            <a:avLst/>
          </a:prstGeom>
          <a:solidFill>
            <a:srgbClr val="3A36A0"/>
          </a:solidFill>
          <a:ln w="12700">
            <a:solidFill>
              <a:srgbClr val="3A36A0"/>
            </a:solidFill>
            <a:prstDash val="solid"/>
          </a:ln>
        </p:spPr>
        <p:txBody>
          <a:bodyPr/>
          <a:lstStyle/>
          <a:p>
            <a:endParaRPr lang="en-US"/>
          </a:p>
        </p:txBody>
      </p:sp>
      <p:sp>
        <p:nvSpPr>
          <p:cNvPr id="16" name="Text 14"/>
          <p:cNvSpPr txBox="1"/>
          <p:nvPr/>
        </p:nvSpPr>
        <p:spPr>
          <a:xfrm>
            <a:off x="8394192" y="1901952"/>
            <a:ext cx="429768" cy="4297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8951976" y="1956816"/>
            <a:ext cx="2432304" cy="329184"/>
          </a:xfrm>
          <a:prstGeom prst="rect">
            <a:avLst/>
          </a:prstGeom>
          <a:noFill/>
          <a:ln/>
        </p:spPr>
        <p:txBody>
          <a:bodyPr wrap="square" lIns="0" tIns="0" rIns="0" bIns="0" rtlCol="0" anchor="ctr"/>
          <a:lstStyle/>
          <a:p>
            <a:pPr marL="0" indent="0">
              <a:buNone/>
            </a:pPr>
            <a:r>
              <a:rPr lang="en-US" sz="1500" b="1" dirty="0">
                <a:solidFill>
                  <a:srgbClr val="13123A"/>
                </a:solidFill>
                <a:latin typeface="Cambria" pitchFamily="34" charset="0"/>
                <a:ea typeface="Cambria" pitchFamily="34" charset="-122"/>
                <a:cs typeface="Cambria" pitchFamily="34" charset="-120"/>
              </a:rPr>
              <a:t>Hiệu năng</a:t>
            </a:r>
            <a:endParaRPr lang="en-US" sz="1500" dirty="0"/>
          </a:p>
        </p:txBody>
      </p:sp>
      <p:sp>
        <p:nvSpPr>
          <p:cNvPr id="18" name="Text 16"/>
          <p:cNvSpPr txBox="1"/>
          <p:nvPr/>
        </p:nvSpPr>
        <p:spPr>
          <a:xfrm>
            <a:off x="8394192" y="2414016"/>
            <a:ext cx="2971800" cy="1234440"/>
          </a:xfrm>
          <a:prstGeom prst="rect">
            <a:avLst/>
          </a:prstGeom>
          <a:noFill/>
          <a:ln/>
        </p:spPr>
        <p:txBody>
          <a:bodyPr wrap="square" lIns="0" tIns="0" rIns="0" bIns="0" rtlCol="0" anchor="t"/>
          <a:lstStyle/>
          <a:p>
            <a:pPr marL="0" indent="0">
              <a:lnSpc>
                <a:spcPct val="95000"/>
              </a:lnSpc>
              <a:buNone/>
            </a:pPr>
            <a:r>
              <a:rPr lang="en-US" sz="1200" dirty="0">
                <a:solidFill>
                  <a:srgbClr val="4A4E63"/>
                </a:solidFill>
                <a:latin typeface="Calibri" pitchFamily="34" charset="0"/>
                <a:ea typeface="Calibri" pitchFamily="34" charset="-122"/>
                <a:cs typeface="Calibri" pitchFamily="34" charset="-120"/>
              </a:rPr>
              <a:t>Độ trễ p50/p95 tách theo từng pha: dense, BM25, rerank, sinh phản hồi. Token mỗi truy vấn tách theo ngôn ngữ. Số bản ghi trong kho theo thời gian.</a:t>
            </a:r>
            <a:endParaRPr lang="en-US" sz="1200" dirty="0"/>
          </a:p>
        </p:txBody>
      </p:sp>
      <p:sp>
        <p:nvSpPr>
          <p:cNvPr id="19" name="Shape 17"/>
          <p:cNvSpPr/>
          <p:nvPr/>
        </p:nvSpPr>
        <p:spPr>
          <a:xfrm>
            <a:off x="566928" y="4023360"/>
            <a:ext cx="11045952" cy="1481328"/>
          </a:xfrm>
          <a:prstGeom prst="roundRect">
            <a:avLst>
              <a:gd name="adj" fmla="val 3086"/>
            </a:avLst>
          </a:prstGeom>
          <a:solidFill>
            <a:srgbClr val="13123A"/>
          </a:solidFill>
          <a:ln w="12700">
            <a:solidFill>
              <a:srgbClr val="13123A"/>
            </a:solidFill>
            <a:prstDash val="solid"/>
          </a:ln>
        </p:spPr>
        <p:txBody>
          <a:bodyPr/>
          <a:lstStyle/>
          <a:p>
            <a:endParaRPr lang="en-US"/>
          </a:p>
        </p:txBody>
      </p:sp>
      <p:sp>
        <p:nvSpPr>
          <p:cNvPr id="20" name="Text 18"/>
          <p:cNvSpPr txBox="1"/>
          <p:nvPr/>
        </p:nvSpPr>
        <p:spPr>
          <a:xfrm>
            <a:off x="822960" y="420624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HAI ĐIỀU KIỆN BẮT BUỘC</a:t>
            </a:r>
            <a:endParaRPr lang="en-US" sz="1100" dirty="0"/>
          </a:p>
        </p:txBody>
      </p:sp>
      <p:sp>
        <p:nvSpPr>
          <p:cNvPr id="21" name="Text 19"/>
          <p:cNvSpPr txBox="1"/>
          <p:nvPr/>
        </p:nvSpPr>
        <p:spPr>
          <a:xfrm>
            <a:off x="822960" y="4480560"/>
            <a:ext cx="10533888" cy="87782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Một: mọi so sánh cố định cùng mô hình nền, cùng k, cùng ngân sách token — không cố định thì điểm có thể tăng chỉ vì truy xuất mạnh tay hơn hoặc mô hình nền khỏe hơn. Hai: token của tiếng Việt tốn khoảng gấp đôi tiếng Anh cho cùng nội dung, vì dấu thanh không nằm trong từ vựng gốc của tokenizer — nên KHÔNG được so token/truy vấn giữa bộ test tiếng Việt và benchmark tiếng Anh. Phải báo cáo tách theo ngôn ngữ.</a:t>
            </a:r>
            <a:endParaRPr lang="en-US" sz="1250" dirty="0"/>
          </a:p>
        </p:txBody>
      </p:sp>
      <p:sp>
        <p:nvSpPr>
          <p:cNvPr id="22" name="Text 20"/>
          <p:cNvSpPr txBox="1"/>
          <p:nvPr/>
        </p:nvSpPr>
        <p:spPr>
          <a:xfrm>
            <a:off x="566928" y="5669280"/>
            <a:ext cx="11045952" cy="566928"/>
          </a:xfrm>
          <a:prstGeom prst="rect">
            <a:avLst/>
          </a:prstGeom>
          <a:noFill/>
          <a:ln/>
        </p:spPr>
        <p:txBody>
          <a:bodyPr wrap="square" lIns="0" tIns="0" rIns="0" bIns="0" rtlCol="0" anchor="ctr"/>
          <a:lstStyle/>
          <a:p>
            <a:pPr marL="0" indent="0">
              <a:lnSpc>
                <a:spcPct val="95000"/>
              </a:lnSpc>
              <a:buNone/>
            </a:pPr>
            <a:r>
              <a:rPr lang="en-US" sz="1250" i="1" dirty="0">
                <a:solidFill>
                  <a:srgbClr val="4A4E63"/>
                </a:solidFill>
                <a:latin typeface="Calibri" pitchFamily="34" charset="0"/>
                <a:ea typeface="Calibri" pitchFamily="34" charset="-122"/>
                <a:cs typeface="Calibri" pitchFamily="34" charset="-120"/>
              </a:rPr>
              <a:t>Mỗi lượt ghi một dòng nhật ký vết: truy vấn con, ứng viên từng chỉ mục, điểm trước và sau rerank, ký ức được nạp, thao tác bộ nhớ, token, độ trễ từng pha. Không có nhật ký vết thì tuần 7 không phân tích được vì sao một câu sai.</a:t>
            </a:r>
            <a:endParaRPr lang="en-US" sz="1250" dirty="0"/>
          </a:p>
        </p:txBody>
      </p:sp>
      <p:sp>
        <p:nvSpPr>
          <p:cNvPr id="23" name="Text 21"/>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Zheng et al., LLM-as-a-Judge, NeurIPS 2023 (arXiv:2306.05685) · Wu et al., ICLR 2025 · Jiang et al., arXiv:2602.19320 (2026).</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1FA6A6"/>
                </a:solidFill>
                <a:latin typeface="Calibri" pitchFamily="34" charset="0"/>
                <a:ea typeface="Calibri" pitchFamily="34" charset="-122"/>
                <a:cs typeface="Calibri" pitchFamily="34" charset="-120"/>
              </a:rPr>
              <a:t>PHƯƠNG PHÁP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Bốn tầng so sánh — rốt cuộc so với cái gì?</a:t>
            </a:r>
            <a:endParaRPr lang="en-US" sz="3000" dirty="0"/>
          </a:p>
        </p:txBody>
      </p:sp>
      <p:sp>
        <p:nvSpPr>
          <p:cNvPr id="4" name="Shape 2"/>
          <p:cNvSpPr/>
          <p:nvPr/>
        </p:nvSpPr>
        <p:spPr>
          <a:xfrm>
            <a:off x="566928" y="1673352"/>
            <a:ext cx="5358384" cy="1783080"/>
          </a:xfrm>
          <a:prstGeom prst="roundRect">
            <a:avLst>
              <a:gd name="adj" fmla="val 2564"/>
            </a:avLst>
          </a:prstGeom>
          <a:solidFill>
            <a:srgbClr val="F7F7FB"/>
          </a:solidFill>
          <a:ln w="12700">
            <a:solidFill>
              <a:srgbClr val="F7F7FB"/>
            </a:solidFill>
            <a:prstDash val="solid"/>
          </a:ln>
        </p:spPr>
        <p:txBody>
          <a:bodyPr/>
          <a:lstStyle/>
          <a:p>
            <a:endParaRPr lang="en-US"/>
          </a:p>
        </p:txBody>
      </p:sp>
      <p:sp>
        <p:nvSpPr>
          <p:cNvPr id="5" name="Text 3"/>
          <p:cNvSpPr txBox="1"/>
          <p:nvPr/>
        </p:nvSpPr>
        <p:spPr>
          <a:xfrm>
            <a:off x="804672" y="1847088"/>
            <a:ext cx="4882896" cy="219456"/>
          </a:xfrm>
          <a:prstGeom prst="rect">
            <a:avLst/>
          </a:prstGeom>
          <a:noFill/>
          <a:ln/>
        </p:spPr>
        <p:txBody>
          <a:bodyPr wrap="square" lIns="0" tIns="0" rIns="0" bIns="0" rtlCol="0" anchor="ctr"/>
          <a:lstStyle/>
          <a:p>
            <a:pPr marL="0" indent="0">
              <a:buNone/>
            </a:pPr>
            <a:r>
              <a:rPr lang="en-US" sz="1050" b="1" dirty="0">
                <a:solidFill>
                  <a:srgbClr val="6A6E85"/>
                </a:solidFill>
                <a:latin typeface="Calibri" pitchFamily="34" charset="0"/>
                <a:ea typeface="Calibri" pitchFamily="34" charset="-122"/>
                <a:cs typeface="Calibri" pitchFamily="34" charset="-120"/>
              </a:rPr>
              <a:t>TẦNG 1 · SÀN</a:t>
            </a:r>
            <a:endParaRPr lang="en-US" sz="1050" dirty="0"/>
          </a:p>
        </p:txBody>
      </p:sp>
      <p:sp>
        <p:nvSpPr>
          <p:cNvPr id="6" name="Text 4"/>
          <p:cNvSpPr txBox="1"/>
          <p:nvPr/>
        </p:nvSpPr>
        <p:spPr>
          <a:xfrm>
            <a:off x="804672" y="212140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Điểm thấp nhất còn có nghĩa</a:t>
            </a:r>
            <a:endParaRPr lang="en-US" sz="1400" dirty="0"/>
          </a:p>
        </p:txBody>
      </p:sp>
      <p:sp>
        <p:nvSpPr>
          <p:cNvPr id="7" name="Text 5"/>
          <p:cNvSpPr txBox="1"/>
          <p:nvPr/>
        </p:nvSpPr>
        <p:spPr>
          <a:xfrm>
            <a:off x="804672" y="2468880"/>
            <a:ext cx="4882896" cy="8595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no-memory — trả lời chỉ từ câu hỏi, không có lịch sử: bao nhiêu câu đoán được mà chẳng cần nhớ gì. random-k — truy xuất k ký ức ngẫu nhiên: nếu hệ không hơn hẳn thì truy xuất không hoạt động, chỉ là mô hình giỏi.</a:t>
            </a:r>
            <a:endParaRPr lang="en-US" sz="1150" dirty="0"/>
          </a:p>
        </p:txBody>
      </p:sp>
      <p:sp>
        <p:nvSpPr>
          <p:cNvPr id="8" name="Shape 6"/>
          <p:cNvSpPr/>
          <p:nvPr/>
        </p:nvSpPr>
        <p:spPr>
          <a:xfrm>
            <a:off x="6254496" y="1673352"/>
            <a:ext cx="5358384" cy="1783080"/>
          </a:xfrm>
          <a:prstGeom prst="roundRect">
            <a:avLst>
              <a:gd name="adj" fmla="val 2564"/>
            </a:avLst>
          </a:prstGeom>
          <a:solidFill>
            <a:srgbClr val="ECEBF7"/>
          </a:solidFill>
          <a:ln w="12700">
            <a:solidFill>
              <a:srgbClr val="ECEBF7"/>
            </a:solidFill>
            <a:prstDash val="solid"/>
          </a:ln>
        </p:spPr>
        <p:txBody>
          <a:bodyPr/>
          <a:lstStyle/>
          <a:p>
            <a:endParaRPr lang="en-US"/>
          </a:p>
        </p:txBody>
      </p:sp>
      <p:sp>
        <p:nvSpPr>
          <p:cNvPr id="9" name="Text 7"/>
          <p:cNvSpPr txBox="1"/>
          <p:nvPr/>
        </p:nvSpPr>
        <p:spPr>
          <a:xfrm>
            <a:off x="6492240" y="1847088"/>
            <a:ext cx="4882896"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TẦNG 2 · ĐỐI CHỨNG NỘI BỘ</a:t>
            </a:r>
            <a:endParaRPr lang="en-US" sz="1050" dirty="0"/>
          </a:p>
        </p:txBody>
      </p:sp>
      <p:sp>
        <p:nvSpPr>
          <p:cNvPr id="10" name="Text 8"/>
          <p:cNvSpPr txBox="1"/>
          <p:nvPr/>
        </p:nvSpPr>
        <p:spPr>
          <a:xfrm>
            <a:off x="6492240" y="212140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Năm cấu hình cắt bỏ thành phần</a:t>
            </a:r>
            <a:endParaRPr lang="en-US" sz="1400" dirty="0"/>
          </a:p>
        </p:txBody>
      </p:sp>
      <p:sp>
        <p:nvSpPr>
          <p:cNvPr id="11" name="Text 9"/>
          <p:cNvSpPr txBox="1"/>
          <p:nvPr/>
        </p:nvSpPr>
        <p:spPr>
          <a:xfrm>
            <a:off x="6492240" y="2468880"/>
            <a:ext cx="4882896" cy="8595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full-context · dense-only · no-rerank · llm-judge · ours. Mỗi cấu hình bỏ đúng MỘT phần để đo phần đó đóng góp bao nhiêu. Đây là phần được chấm nặng nhất.</a:t>
            </a:r>
            <a:endParaRPr lang="en-US" sz="1150" dirty="0"/>
          </a:p>
        </p:txBody>
      </p:sp>
      <p:sp>
        <p:nvSpPr>
          <p:cNvPr id="12" name="Shape 10"/>
          <p:cNvSpPr/>
          <p:nvPr/>
        </p:nvSpPr>
        <p:spPr>
          <a:xfrm>
            <a:off x="566928" y="3593592"/>
            <a:ext cx="5358384" cy="1783080"/>
          </a:xfrm>
          <a:prstGeom prst="roundRect">
            <a:avLst>
              <a:gd name="adj" fmla="val 2564"/>
            </a:avLst>
          </a:prstGeom>
          <a:solidFill>
            <a:srgbClr val="ECEBF7"/>
          </a:solidFill>
          <a:ln w="12700">
            <a:solidFill>
              <a:srgbClr val="ECEBF7"/>
            </a:solidFill>
            <a:prstDash val="solid"/>
          </a:ln>
        </p:spPr>
        <p:txBody>
          <a:bodyPr/>
          <a:lstStyle/>
          <a:p>
            <a:endParaRPr lang="en-US"/>
          </a:p>
        </p:txBody>
      </p:sp>
      <p:sp>
        <p:nvSpPr>
          <p:cNvPr id="13" name="Text 11"/>
          <p:cNvSpPr txBox="1"/>
          <p:nvPr/>
        </p:nvSpPr>
        <p:spPr>
          <a:xfrm>
            <a:off x="804672" y="3767328"/>
            <a:ext cx="4882896" cy="219456"/>
          </a:xfrm>
          <a:prstGeom prst="rect">
            <a:avLst/>
          </a:prstGeom>
          <a:noFill/>
          <a:ln/>
        </p:spPr>
        <p:txBody>
          <a:bodyPr wrap="square" lIns="0" tIns="0" rIns="0" bIns="0" rtlCol="0" anchor="ctr"/>
          <a:lstStyle/>
          <a:p>
            <a:pPr marL="0" indent="0">
              <a:buNone/>
            </a:pPr>
            <a:r>
              <a:rPr lang="en-US" sz="1050" b="1" dirty="0">
                <a:solidFill>
                  <a:srgbClr val="1FA6A6"/>
                </a:solidFill>
                <a:latin typeface="Calibri" pitchFamily="34" charset="0"/>
                <a:ea typeface="Calibri" pitchFamily="34" charset="-122"/>
                <a:cs typeface="Calibri" pitchFamily="34" charset="-120"/>
              </a:rPr>
              <a:t>TẦNG 3 · TRẦN</a:t>
            </a:r>
            <a:endParaRPr lang="en-US" sz="1050" dirty="0"/>
          </a:p>
        </p:txBody>
      </p:sp>
      <p:sp>
        <p:nvSpPr>
          <p:cNvPr id="14" name="Text 12"/>
          <p:cNvSpPr txBox="1"/>
          <p:nvPr/>
        </p:nvSpPr>
        <p:spPr>
          <a:xfrm>
            <a:off x="804672" y="404164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longmemeval_oracle.json</a:t>
            </a:r>
            <a:endParaRPr lang="en-US" sz="1400" dirty="0"/>
          </a:p>
        </p:txBody>
      </p:sp>
      <p:sp>
        <p:nvSpPr>
          <p:cNvPr id="15" name="Text 13"/>
          <p:cNvSpPr txBox="1"/>
          <p:nvPr/>
        </p:nvSpPr>
        <p:spPr>
          <a:xfrm>
            <a:off x="804672" y="4389120"/>
            <a:ext cx="4882896" cy="8595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Repo cung cấp sẵn bản chỉ chứa các phiên có bằng chứng, bỏ hết nhiễu. Nạp thẳng vào mô hình = truy xuất hoàn hảo. Cho biết trần tuyệt đối mà bộ sinh có thể đạt.</a:t>
            </a:r>
            <a:endParaRPr lang="en-US" sz="1150" dirty="0"/>
          </a:p>
        </p:txBody>
      </p:sp>
      <p:sp>
        <p:nvSpPr>
          <p:cNvPr id="16" name="Shape 14"/>
          <p:cNvSpPr/>
          <p:nvPr/>
        </p:nvSpPr>
        <p:spPr>
          <a:xfrm>
            <a:off x="6254496" y="3593592"/>
            <a:ext cx="5358384" cy="1783080"/>
          </a:xfrm>
          <a:prstGeom prst="roundRect">
            <a:avLst>
              <a:gd name="adj" fmla="val 2564"/>
            </a:avLst>
          </a:prstGeom>
          <a:solidFill>
            <a:srgbClr val="F7F7FB"/>
          </a:solidFill>
          <a:ln w="12700">
            <a:solidFill>
              <a:srgbClr val="F7F7FB"/>
            </a:solidFill>
            <a:prstDash val="solid"/>
          </a:ln>
        </p:spPr>
        <p:txBody>
          <a:bodyPr/>
          <a:lstStyle/>
          <a:p>
            <a:endParaRPr lang="en-US"/>
          </a:p>
        </p:txBody>
      </p:sp>
      <p:sp>
        <p:nvSpPr>
          <p:cNvPr id="17" name="Text 15"/>
          <p:cNvSpPr txBox="1"/>
          <p:nvPr/>
        </p:nvSpPr>
        <p:spPr>
          <a:xfrm>
            <a:off x="6492240" y="3767328"/>
            <a:ext cx="4882896" cy="219456"/>
          </a:xfrm>
          <a:prstGeom prst="rect">
            <a:avLst/>
          </a:prstGeom>
          <a:noFill/>
          <a:ln/>
        </p:spPr>
        <p:txBody>
          <a:bodyPr wrap="square" lIns="0" tIns="0" rIns="0" bIns="0" rtlCol="0" anchor="ctr"/>
          <a:lstStyle/>
          <a:p>
            <a:pPr marL="0" indent="0">
              <a:buNone/>
            </a:pPr>
            <a:r>
              <a:rPr lang="en-US" sz="1050" b="1" dirty="0">
                <a:solidFill>
                  <a:srgbClr val="E9970B"/>
                </a:solidFill>
                <a:latin typeface="Calibri" pitchFamily="34" charset="0"/>
                <a:ea typeface="Calibri" pitchFamily="34" charset="-122"/>
                <a:cs typeface="Calibri" pitchFamily="34" charset="-120"/>
              </a:rPr>
              <a:t>TẦNG 4 · THAM KHẢO NGOÀI</a:t>
            </a:r>
            <a:endParaRPr lang="en-US" sz="1050" dirty="0"/>
          </a:p>
        </p:txBody>
      </p:sp>
      <p:sp>
        <p:nvSpPr>
          <p:cNvPr id="18" name="Text 16"/>
          <p:cNvSpPr txBox="1"/>
          <p:nvPr/>
        </p:nvSpPr>
        <p:spPr>
          <a:xfrm>
            <a:off x="6492240" y="4041648"/>
            <a:ext cx="4882896" cy="292608"/>
          </a:xfrm>
          <a:prstGeom prst="rect">
            <a:avLst/>
          </a:prstGeom>
          <a:noFill/>
          <a:ln/>
        </p:spPr>
        <p:txBody>
          <a:bodyPr wrap="square" lIns="0" tIns="0" rIns="0" bIns="0" rtlCol="0" anchor="ctr"/>
          <a:lstStyle/>
          <a:p>
            <a:pPr marL="0" indent="0">
              <a:buNone/>
            </a:pPr>
            <a:r>
              <a:rPr lang="en-US" sz="1400" b="1" dirty="0">
                <a:solidFill>
                  <a:srgbClr val="13123A"/>
                </a:solidFill>
                <a:latin typeface="Cambria" pitchFamily="34" charset="0"/>
                <a:ea typeface="Cambria" pitchFamily="34" charset="-122"/>
                <a:cs typeface="Cambria" pitchFamily="34" charset="-120"/>
              </a:rPr>
              <a:t>Mem0 · Zep · Hindsight</a:t>
            </a:r>
            <a:endParaRPr lang="en-US" sz="1400" dirty="0"/>
          </a:p>
        </p:txBody>
      </p:sp>
      <p:sp>
        <p:nvSpPr>
          <p:cNvPr id="19" name="Text 17"/>
          <p:cNvSpPr txBox="1"/>
          <p:nvPr/>
        </p:nvSpPr>
        <p:spPr>
          <a:xfrm>
            <a:off x="6492240" y="4389120"/>
            <a:ext cx="4882896" cy="85953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Chỉ so được nếu TỰ CHẠY lại trên cùng mô hình nền, cùng k, cùng bộ chấm. Trích số đã công bố thì khác mô hình nền — để ở phần chú thích, không đặt chung bảng với số của nhóm.</a:t>
            </a:r>
            <a:endParaRPr lang="en-US" sz="1150" dirty="0"/>
          </a:p>
        </p:txBody>
      </p:sp>
      <p:sp>
        <p:nvSpPr>
          <p:cNvPr id="20" name="Shape 18"/>
          <p:cNvSpPr/>
          <p:nvPr/>
        </p:nvSpPr>
        <p:spPr>
          <a:xfrm>
            <a:off x="566928" y="5486400"/>
            <a:ext cx="11045952" cy="841248"/>
          </a:xfrm>
          <a:prstGeom prst="roundRect">
            <a:avLst>
              <a:gd name="adj" fmla="val 5435"/>
            </a:avLst>
          </a:prstGeom>
          <a:solidFill>
            <a:srgbClr val="13123A"/>
          </a:solidFill>
          <a:ln w="12700">
            <a:solidFill>
              <a:srgbClr val="13123A"/>
            </a:solidFill>
            <a:prstDash val="solid"/>
          </a:ln>
        </p:spPr>
        <p:txBody>
          <a:bodyPr/>
          <a:lstStyle/>
          <a:p>
            <a:endParaRPr lang="en-US"/>
          </a:p>
        </p:txBody>
      </p:sp>
      <p:sp>
        <p:nvSpPr>
          <p:cNvPr id="21" name="Text 19"/>
          <p:cNvSpPr txBox="1"/>
          <p:nvPr/>
        </p:nvSpPr>
        <p:spPr>
          <a:xfrm>
            <a:off x="822960" y="5669280"/>
            <a:ext cx="5486400" cy="237744"/>
          </a:xfrm>
          <a:prstGeom prst="rect">
            <a:avLst/>
          </a:prstGeom>
          <a:noFill/>
          <a:ln/>
        </p:spPr>
        <p:txBody>
          <a:bodyPr wrap="square" lIns="0" tIns="0" rIns="0" bIns="0" rtlCol="0" anchor="ctr"/>
          <a:lstStyle/>
          <a:p>
            <a:pPr marL="0" indent="0">
              <a:buNone/>
            </a:pPr>
            <a:r>
              <a:rPr lang="en-US" sz="1100" b="1" dirty="0">
                <a:solidFill>
                  <a:srgbClr val="1FA6A6"/>
                </a:solidFill>
                <a:latin typeface="Calibri" pitchFamily="34" charset="0"/>
                <a:ea typeface="Calibri" pitchFamily="34" charset="-122"/>
                <a:cs typeface="Calibri" pitchFamily="34" charset="-120"/>
              </a:rPr>
              <a:t>VÌ SAO TRẦN LÀ BASELINE CÓ GIÁ TRỊ CHẨN ĐOÁN NHẤT</a:t>
            </a:r>
            <a:endParaRPr lang="en-US" sz="1100" dirty="0"/>
          </a:p>
        </p:txBody>
      </p:sp>
      <p:sp>
        <p:nvSpPr>
          <p:cNvPr id="22" name="Text 20"/>
          <p:cNvSpPr txBox="1"/>
          <p:nvPr/>
        </p:nvSpPr>
        <p:spPr>
          <a:xfrm>
            <a:off x="822960" y="5943600"/>
            <a:ext cx="10533888" cy="237744"/>
          </a:xfrm>
          <a:prstGeom prst="rect">
            <a:avLst/>
          </a:prstGeom>
          <a:noFill/>
          <a:ln/>
        </p:spPr>
        <p:txBody>
          <a:bodyPr wrap="square" lIns="0" tIns="0" rIns="0" bIns="0" rtlCol="0" anchor="t"/>
          <a:lstStyle/>
          <a:p>
            <a:pPr marL="0" indent="0">
              <a:lnSpc>
                <a:spcPct val="98000"/>
              </a:lnSpc>
              <a:buNone/>
            </a:pPr>
            <a:r>
              <a:rPr lang="en-US" sz="1250" dirty="0">
                <a:solidFill>
                  <a:srgbClr val="EFEFFA"/>
                </a:solidFill>
                <a:latin typeface="Calibri" pitchFamily="34" charset="0"/>
                <a:ea typeface="Calibri" pitchFamily="34" charset="-122"/>
                <a:cs typeface="Calibri" pitchFamily="34" charset="-120"/>
              </a:rPr>
              <a:t>Giả sử oracle 82% còn ours 64%: mất 18 điểm do truy xuất, 18 điểm do sinh. Không có oracle thì khi hệ đạt 64% nhóm không biết nên đi tối ưu truy xuất hay tối ưu lời nhắc. Và nếu oracle chỉ 82% thì dù truy xuất hoàn hảo cũng không vượt được — biết trước để không phí tuần 7 đuổi theo 90%.</a:t>
            </a:r>
            <a:endParaRPr lang="en-US" sz="1250" dirty="0"/>
          </a:p>
        </p:txBody>
      </p:sp>
      <p:sp>
        <p:nvSpPr>
          <p:cNvPr id="23" name="Text 21"/>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Bản oracle do chính repo LongMemEval cung cấp (Wu et al., ICLR 2025). Thiết kế đối chứng theo Jiang et al., arXiv:2602.19320 (2026).</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E9970B"/>
                </a:solidFill>
                <a:latin typeface="Calibri" pitchFamily="34" charset="0"/>
                <a:ea typeface="Calibri" pitchFamily="34" charset="-122"/>
                <a:cs typeface="Calibri" pitchFamily="34" charset="-120"/>
              </a:rPr>
              <a:t>PHẢN HỒI MENTOR</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Tối ưu trên bộ nào — và không trên bộ nào</a:t>
            </a:r>
            <a:endParaRPr lang="en-US" sz="3000" dirty="0"/>
          </a:p>
        </p:txBody>
      </p:sp>
      <p:sp>
        <p:nvSpPr>
          <p:cNvPr id="4" name="Shape 2"/>
          <p:cNvSpPr/>
          <p:nvPr/>
        </p:nvSpPr>
        <p:spPr>
          <a:xfrm>
            <a:off x="566928" y="1673352"/>
            <a:ext cx="11045952" cy="1024128"/>
          </a:xfrm>
          <a:prstGeom prst="roundRect">
            <a:avLst>
              <a:gd name="adj" fmla="val 4464"/>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877824" y="1810512"/>
            <a:ext cx="10424160" cy="237744"/>
          </a:xfrm>
          <a:prstGeom prst="rect">
            <a:avLst/>
          </a:prstGeom>
          <a:noFill/>
          <a:ln/>
        </p:spPr>
        <p:txBody>
          <a:bodyPr wrap="square" lIns="0" tIns="0" rIns="0" bIns="0" rtlCol="0" anchor="ctr"/>
          <a:lstStyle/>
          <a:p>
            <a:pPr marL="0" indent="0">
              <a:buNone/>
            </a:pPr>
            <a:r>
              <a:rPr lang="en-US" sz="1300" b="1" dirty="0">
                <a:solidFill>
                  <a:srgbClr val="13123A"/>
                </a:solidFill>
                <a:latin typeface="Courier New" pitchFamily="34" charset="0"/>
                <a:ea typeface="Courier New" pitchFamily="34" charset="-122"/>
                <a:cs typeface="Courier New" pitchFamily="34" charset="-120"/>
              </a:rPr>
              <a:t>LongMemEval-S  (500 câu)</a:t>
            </a:r>
            <a:endParaRPr lang="en-US" sz="1300" dirty="0"/>
          </a:p>
        </p:txBody>
      </p:sp>
      <p:sp>
        <p:nvSpPr>
          <p:cNvPr id="6" name="Text 4"/>
          <p:cNvSpPr txBox="1"/>
          <p:nvPr/>
        </p:nvSpPr>
        <p:spPr>
          <a:xfrm>
            <a:off x="877824" y="2084832"/>
            <a:ext cx="10424160" cy="237744"/>
          </a:xfrm>
          <a:prstGeom prst="rect">
            <a:avLst/>
          </a:prstGeom>
          <a:noFill/>
          <a:ln/>
        </p:spPr>
        <p:txBody>
          <a:bodyPr wrap="square" lIns="0" tIns="0" rIns="0" bIns="0" rtlCol="0" anchor="ctr"/>
          <a:lstStyle/>
          <a:p>
            <a:pPr marL="0" indent="0">
              <a:buNone/>
            </a:pPr>
            <a:r>
              <a:rPr lang="en-US" sz="1200" dirty="0">
                <a:solidFill>
                  <a:srgbClr val="4A4E63"/>
                </a:solidFill>
                <a:latin typeface="Courier New" pitchFamily="34" charset="0"/>
                <a:ea typeface="Courier New" pitchFamily="34" charset="-122"/>
                <a:cs typeface="Courier New" pitchFamily="34" charset="-120"/>
              </a:rPr>
              <a:t>├── dev   ~150 câu  →  </a:t>
            </a:r>
            <a:r>
              <a:rPr lang="en-US" sz="1200" b="1" dirty="0">
                <a:solidFill>
                  <a:srgbClr val="3A36A0"/>
                </a:solidFill>
                <a:latin typeface="Calibri" pitchFamily="34" charset="0"/>
                <a:ea typeface="Calibri" pitchFamily="34" charset="-122"/>
                <a:cs typeface="Calibri" pitchFamily="34" charset="-120"/>
              </a:rPr>
              <a:t>quét k, τ, ngưỡng slot, thử lời nhắc — nhìn bao nhiêu lần cũng được</a:t>
            </a:r>
            <a:endParaRPr lang="en-US" sz="1200" dirty="0"/>
          </a:p>
        </p:txBody>
      </p:sp>
      <p:sp>
        <p:nvSpPr>
          <p:cNvPr id="7" name="Text 5"/>
          <p:cNvSpPr txBox="1"/>
          <p:nvPr/>
        </p:nvSpPr>
        <p:spPr>
          <a:xfrm>
            <a:off x="877824" y="2340864"/>
            <a:ext cx="10424160" cy="237744"/>
          </a:xfrm>
          <a:prstGeom prst="rect">
            <a:avLst/>
          </a:prstGeom>
          <a:noFill/>
          <a:ln/>
        </p:spPr>
        <p:txBody>
          <a:bodyPr wrap="square" lIns="0" tIns="0" rIns="0" bIns="0" rtlCol="0" anchor="ctr"/>
          <a:lstStyle/>
          <a:p>
            <a:pPr marL="0" indent="0">
              <a:buNone/>
            </a:pPr>
            <a:r>
              <a:rPr lang="en-US" sz="1200" dirty="0">
                <a:solidFill>
                  <a:srgbClr val="4A4E63"/>
                </a:solidFill>
                <a:latin typeface="Courier New" pitchFamily="34" charset="0"/>
                <a:ea typeface="Courier New" pitchFamily="34" charset="-122"/>
                <a:cs typeface="Courier New" pitchFamily="34" charset="-120"/>
              </a:rPr>
              <a:t>└── test  ~350 câu  →  </a:t>
            </a:r>
            <a:r>
              <a:rPr lang="en-US" sz="1200" b="1" dirty="0">
                <a:solidFill>
                  <a:srgbClr val="E9970B"/>
                </a:solidFill>
                <a:latin typeface="Calibri" pitchFamily="34" charset="0"/>
                <a:ea typeface="Calibri" pitchFamily="34" charset="-122"/>
                <a:cs typeface="Calibri" pitchFamily="34" charset="-120"/>
              </a:rPr>
              <a:t>KHÓA LẠI, mở đúng một lần ở tuần 7</a:t>
            </a:r>
            <a:endParaRPr lang="en-US" sz="1200" dirty="0"/>
          </a:p>
        </p:txBody>
      </p:sp>
      <p:sp>
        <p:nvSpPr>
          <p:cNvPr id="8" name="Text 6"/>
          <p:cNvSpPr txBox="1"/>
          <p:nvPr/>
        </p:nvSpPr>
        <p:spPr>
          <a:xfrm>
            <a:off x="749808" y="2880360"/>
            <a:ext cx="246888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BỘ DỮ LIỆU</a:t>
            </a:r>
            <a:endParaRPr lang="en-US" sz="1100" dirty="0"/>
          </a:p>
        </p:txBody>
      </p:sp>
      <p:sp>
        <p:nvSpPr>
          <p:cNvPr id="9" name="Text 7"/>
          <p:cNvSpPr txBox="1"/>
          <p:nvPr/>
        </p:nvSpPr>
        <p:spPr>
          <a:xfrm>
            <a:off x="3337560" y="2880360"/>
            <a:ext cx="534924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VAI TRÒ</a:t>
            </a:r>
            <a:endParaRPr lang="en-US" sz="1100" dirty="0"/>
          </a:p>
        </p:txBody>
      </p:sp>
      <p:sp>
        <p:nvSpPr>
          <p:cNvPr id="10" name="Text 8"/>
          <p:cNvSpPr txBox="1"/>
          <p:nvPr/>
        </p:nvSpPr>
        <p:spPr>
          <a:xfrm>
            <a:off x="8823960" y="2880360"/>
            <a:ext cx="260604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ĐƯỢC CHỈNH THAM SỐ TRÊN NÓ?</a:t>
            </a:r>
            <a:endParaRPr lang="en-US" sz="1100" dirty="0"/>
          </a:p>
        </p:txBody>
      </p:sp>
      <p:sp>
        <p:nvSpPr>
          <p:cNvPr id="11" name="Shape 9"/>
          <p:cNvSpPr/>
          <p:nvPr/>
        </p:nvSpPr>
        <p:spPr>
          <a:xfrm>
            <a:off x="566928" y="3127248"/>
            <a:ext cx="11045952" cy="621792"/>
          </a:xfrm>
          <a:prstGeom prst="roundRect">
            <a:avLst>
              <a:gd name="adj" fmla="val 8824"/>
            </a:avLst>
          </a:prstGeom>
          <a:solidFill>
            <a:srgbClr val="ECEBF7"/>
          </a:solidFill>
          <a:ln w="12700">
            <a:solidFill>
              <a:srgbClr val="FFFFFF"/>
            </a:solidFill>
            <a:prstDash val="solid"/>
          </a:ln>
        </p:spPr>
        <p:txBody>
          <a:bodyPr/>
          <a:lstStyle/>
          <a:p>
            <a:endParaRPr lang="en-US"/>
          </a:p>
        </p:txBody>
      </p:sp>
      <p:sp>
        <p:nvSpPr>
          <p:cNvPr id="12" name="Text 10"/>
          <p:cNvSpPr txBox="1"/>
          <p:nvPr/>
        </p:nvSpPr>
        <p:spPr>
          <a:xfrm>
            <a:off x="749808" y="3200400"/>
            <a:ext cx="2468880" cy="493776"/>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LongMemEval-S (dev)</a:t>
            </a:r>
            <a:endParaRPr lang="en-US" sz="1250" dirty="0"/>
          </a:p>
        </p:txBody>
      </p:sp>
      <p:sp>
        <p:nvSpPr>
          <p:cNvPr id="13" name="Text 11"/>
          <p:cNvSpPr txBox="1"/>
          <p:nvPr/>
        </p:nvSpPr>
        <p:spPr>
          <a:xfrm>
            <a:off x="3337560" y="3200400"/>
            <a:ext cx="53492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Bộ phát triển — nơi duy nhất quét k, τ, ngưỡng ghép slot, và thử cách viết lời nhắc</a:t>
            </a:r>
            <a:endParaRPr lang="en-US" sz="1150" dirty="0"/>
          </a:p>
        </p:txBody>
      </p:sp>
      <p:sp>
        <p:nvSpPr>
          <p:cNvPr id="14" name="Text 12"/>
          <p:cNvSpPr txBox="1"/>
          <p:nvPr/>
        </p:nvSpPr>
        <p:spPr>
          <a:xfrm>
            <a:off x="8823960" y="3200400"/>
            <a:ext cx="26060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Có</a:t>
            </a:r>
            <a:endParaRPr lang="en-US" sz="1150" dirty="0"/>
          </a:p>
        </p:txBody>
      </p:sp>
      <p:sp>
        <p:nvSpPr>
          <p:cNvPr id="15" name="Shape 13"/>
          <p:cNvSpPr/>
          <p:nvPr/>
        </p:nvSpPr>
        <p:spPr>
          <a:xfrm>
            <a:off x="566928" y="3822192"/>
            <a:ext cx="11045952" cy="621792"/>
          </a:xfrm>
          <a:prstGeom prst="roundRect">
            <a:avLst>
              <a:gd name="adj" fmla="val 8824"/>
            </a:avLst>
          </a:prstGeom>
          <a:solidFill>
            <a:srgbClr val="F7F7FB"/>
          </a:solidFill>
          <a:ln w="12700">
            <a:solidFill>
              <a:srgbClr val="FFFFFF"/>
            </a:solidFill>
            <a:prstDash val="solid"/>
          </a:ln>
        </p:spPr>
        <p:txBody>
          <a:bodyPr/>
          <a:lstStyle/>
          <a:p>
            <a:endParaRPr lang="en-US"/>
          </a:p>
        </p:txBody>
      </p:sp>
      <p:sp>
        <p:nvSpPr>
          <p:cNvPr id="16" name="Text 14"/>
          <p:cNvSpPr txBox="1"/>
          <p:nvPr/>
        </p:nvSpPr>
        <p:spPr>
          <a:xfrm>
            <a:off x="749808" y="3895344"/>
            <a:ext cx="2468880" cy="493776"/>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FactConsolidation</a:t>
            </a:r>
            <a:endParaRPr lang="en-US" sz="1250" dirty="0"/>
          </a:p>
        </p:txBody>
      </p:sp>
      <p:sp>
        <p:nvSpPr>
          <p:cNvPr id="17" name="Text 15"/>
          <p:cNvSpPr txBox="1"/>
          <p:nvPr/>
        </p:nvSpPr>
        <p:spPr>
          <a:xfrm>
            <a:off x="3337560" y="3895344"/>
            <a:ext cx="53492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Bộ chẩn đoán riêng năng lực cập nhật và giải quyết mâu thuẫn</a:t>
            </a:r>
            <a:endParaRPr lang="en-US" sz="1150" dirty="0"/>
          </a:p>
        </p:txBody>
      </p:sp>
      <p:sp>
        <p:nvSpPr>
          <p:cNvPr id="18" name="Text 16"/>
          <p:cNvSpPr txBox="1"/>
          <p:nvPr/>
        </p:nvSpPr>
        <p:spPr>
          <a:xfrm>
            <a:off x="8823960" y="3895344"/>
            <a:ext cx="26060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Không — chỉ báo cáo</a:t>
            </a:r>
            <a:endParaRPr lang="en-US" sz="1150" dirty="0"/>
          </a:p>
        </p:txBody>
      </p:sp>
      <p:sp>
        <p:nvSpPr>
          <p:cNvPr id="19" name="Shape 17"/>
          <p:cNvSpPr/>
          <p:nvPr/>
        </p:nvSpPr>
        <p:spPr>
          <a:xfrm>
            <a:off x="566928" y="4517136"/>
            <a:ext cx="11045952" cy="621792"/>
          </a:xfrm>
          <a:prstGeom prst="roundRect">
            <a:avLst>
              <a:gd name="adj" fmla="val 8824"/>
            </a:avLst>
          </a:prstGeom>
          <a:solidFill>
            <a:srgbClr val="ECEBF7"/>
          </a:solidFill>
          <a:ln w="12700">
            <a:solidFill>
              <a:srgbClr val="FFFFFF"/>
            </a:solidFill>
            <a:prstDash val="solid"/>
          </a:ln>
        </p:spPr>
        <p:txBody>
          <a:bodyPr/>
          <a:lstStyle/>
          <a:p>
            <a:endParaRPr lang="en-US"/>
          </a:p>
        </p:txBody>
      </p:sp>
      <p:sp>
        <p:nvSpPr>
          <p:cNvPr id="20" name="Text 18"/>
          <p:cNvSpPr txBox="1"/>
          <p:nvPr/>
        </p:nvSpPr>
        <p:spPr>
          <a:xfrm>
            <a:off x="749808" y="4590288"/>
            <a:ext cx="2468880" cy="493776"/>
          </a:xfrm>
          <a:prstGeom prst="rect">
            <a:avLst/>
          </a:prstGeom>
          <a:noFill/>
          <a:ln/>
        </p:spPr>
        <p:txBody>
          <a:bodyPr wrap="square" lIns="0" tIns="0" rIns="0" bIns="0" rtlCol="0" anchor="t"/>
          <a:lstStyle/>
          <a:p>
            <a:pPr marL="0" indent="0">
              <a:lnSpc>
                <a:spcPct val="95000"/>
              </a:lnSpc>
              <a:buNone/>
            </a:pPr>
            <a:r>
              <a:rPr lang="en-US" sz="1250" b="1" dirty="0">
                <a:solidFill>
                  <a:srgbClr val="13123A"/>
                </a:solidFill>
                <a:latin typeface="Cambria" pitchFamily="34" charset="0"/>
                <a:ea typeface="Cambria" pitchFamily="34" charset="-122"/>
                <a:cs typeface="Cambria" pitchFamily="34" charset="-120"/>
              </a:rPr>
              <a:t>BEAM 128K</a:t>
            </a:r>
            <a:endParaRPr lang="en-US" sz="1250" dirty="0"/>
          </a:p>
        </p:txBody>
      </p:sp>
      <p:sp>
        <p:nvSpPr>
          <p:cNvPr id="21" name="Text 19"/>
          <p:cNvSpPr txBox="1"/>
          <p:nvPr/>
        </p:nvSpPr>
        <p:spPr>
          <a:xfrm>
            <a:off x="3337560" y="4590288"/>
            <a:ext cx="53492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Bộ kiểm tra khái quát hóa, chạy một lần duy nhất ở cuối</a:t>
            </a:r>
            <a:endParaRPr lang="en-US" sz="1150" dirty="0"/>
          </a:p>
        </p:txBody>
      </p:sp>
      <p:sp>
        <p:nvSpPr>
          <p:cNvPr id="22" name="Text 20"/>
          <p:cNvSpPr txBox="1"/>
          <p:nvPr/>
        </p:nvSpPr>
        <p:spPr>
          <a:xfrm>
            <a:off x="8823960" y="4590288"/>
            <a:ext cx="2606040" cy="493776"/>
          </a:xfrm>
          <a:prstGeom prst="rect">
            <a:avLst/>
          </a:prstGeom>
          <a:noFill/>
          <a:ln/>
        </p:spPr>
        <p:txBody>
          <a:bodyPr wrap="square" lIns="0" tIns="0" rIns="0" bIns="0" rtlCol="0" anchor="t"/>
          <a:lstStyle/>
          <a:p>
            <a:pPr marL="0" indent="0">
              <a:lnSpc>
                <a:spcPct val="95000"/>
              </a:lnSpc>
              <a:buNone/>
            </a:pPr>
            <a:r>
              <a:rPr lang="en-US" sz="1150" dirty="0">
                <a:solidFill>
                  <a:srgbClr val="4A4E63"/>
                </a:solidFill>
                <a:latin typeface="Calibri" pitchFamily="34" charset="0"/>
                <a:ea typeface="Calibri" pitchFamily="34" charset="-122"/>
                <a:cs typeface="Calibri" pitchFamily="34" charset="-120"/>
              </a:rPr>
              <a:t>Không — và không nhìn trước</a:t>
            </a:r>
            <a:endParaRPr lang="en-US" sz="1150" dirty="0"/>
          </a:p>
        </p:txBody>
      </p:sp>
      <p:sp>
        <p:nvSpPr>
          <p:cNvPr id="23" name="Shape 21"/>
          <p:cNvSpPr/>
          <p:nvPr/>
        </p:nvSpPr>
        <p:spPr>
          <a:xfrm>
            <a:off x="566928" y="5230368"/>
            <a:ext cx="11045952" cy="1097280"/>
          </a:xfrm>
          <a:prstGeom prst="roundRect">
            <a:avLst>
              <a:gd name="adj" fmla="val 4167"/>
            </a:avLst>
          </a:prstGeom>
          <a:solidFill>
            <a:srgbClr val="13123A"/>
          </a:solidFill>
          <a:ln w="12700">
            <a:solidFill>
              <a:srgbClr val="13123A"/>
            </a:solidFill>
            <a:prstDash val="solid"/>
          </a:ln>
        </p:spPr>
        <p:txBody>
          <a:bodyPr/>
          <a:lstStyle/>
          <a:p>
            <a:endParaRPr lang="en-US"/>
          </a:p>
        </p:txBody>
      </p:sp>
      <p:sp>
        <p:nvSpPr>
          <p:cNvPr id="24" name="Text 22"/>
          <p:cNvSpPr txBox="1"/>
          <p:nvPr/>
        </p:nvSpPr>
        <p:spPr>
          <a:xfrm>
            <a:off x="822960" y="5413248"/>
            <a:ext cx="5486400" cy="237744"/>
          </a:xfrm>
          <a:prstGeom prst="rect">
            <a:avLst/>
          </a:prstGeom>
          <a:noFill/>
          <a:ln/>
        </p:spPr>
        <p:txBody>
          <a:bodyPr wrap="square" lIns="0" tIns="0" rIns="0" bIns="0" rtlCol="0" anchor="ctr"/>
          <a:lstStyle/>
          <a:p>
            <a:r>
              <a:rPr lang="en-US" sz="1100" b="1" dirty="0">
                <a:solidFill>
                  <a:srgbClr val="1FA6A6"/>
                </a:solidFill>
                <a:latin typeface="Calibri" pitchFamily="34" charset="0"/>
                <a:ea typeface="Calibri" pitchFamily="34" charset="-122"/>
                <a:cs typeface="Calibri" pitchFamily="34" charset="-120"/>
              </a:rPr>
              <a:t>LÍ DO TỐI </a:t>
            </a:r>
            <a:r>
              <a:rPr lang="vi-VN" sz="1100" b="1" dirty="0">
                <a:solidFill>
                  <a:srgbClr val="1FA6A6"/>
                </a:solidFill>
                <a:latin typeface="Calibri" pitchFamily="34" charset="0"/>
                <a:ea typeface="Calibri" pitchFamily="34" charset="-122"/>
                <a:cs typeface="Calibri" pitchFamily="34" charset="-120"/>
              </a:rPr>
              <a:t>Ư</a:t>
            </a:r>
            <a:r>
              <a:rPr lang="en-US" sz="1100" b="1" dirty="0">
                <a:solidFill>
                  <a:srgbClr val="1FA6A6"/>
                </a:solidFill>
                <a:latin typeface="Calibri" pitchFamily="34" charset="0"/>
                <a:ea typeface="Calibri" pitchFamily="34" charset="-122"/>
                <a:cs typeface="Calibri" pitchFamily="34" charset="-120"/>
              </a:rPr>
              <a:t>U TRÊN BỘ </a:t>
            </a:r>
            <a:r>
              <a:rPr lang="en-US" sz="1100" b="1" dirty="0" err="1">
                <a:solidFill>
                  <a:srgbClr val="1FA6A6"/>
                </a:solidFill>
                <a:latin typeface="Calibri" pitchFamily="34" charset="0"/>
                <a:ea typeface="Calibri" pitchFamily="34" charset="-122"/>
                <a:cs typeface="Calibri" pitchFamily="34" charset="-120"/>
              </a:rPr>
              <a:t>LongMemEval</a:t>
            </a:r>
            <a:r>
              <a:rPr lang="en-US" sz="1100" b="1" dirty="0">
                <a:solidFill>
                  <a:srgbClr val="1FA6A6"/>
                </a:solidFill>
                <a:latin typeface="Calibri" pitchFamily="34" charset="0"/>
                <a:ea typeface="Calibri" pitchFamily="34" charset="-122"/>
                <a:cs typeface="Calibri" pitchFamily="34" charset="-120"/>
              </a:rPr>
              <a:t>-S</a:t>
            </a:r>
            <a:endParaRPr lang="en-US" sz="1100" dirty="0"/>
          </a:p>
        </p:txBody>
      </p:sp>
      <p:sp>
        <p:nvSpPr>
          <p:cNvPr id="25" name="Text 23"/>
          <p:cNvSpPr txBox="1"/>
          <p:nvPr/>
        </p:nvSpPr>
        <p:spPr>
          <a:xfrm>
            <a:off x="822960" y="5687568"/>
            <a:ext cx="10533888" cy="493776"/>
          </a:xfrm>
          <a:prstGeom prst="rect">
            <a:avLst/>
          </a:prstGeom>
          <a:noFill/>
          <a:ln/>
        </p:spPr>
        <p:txBody>
          <a:bodyPr wrap="square" lIns="0" tIns="0" rIns="0" bIns="0" rtlCol="0" anchor="t"/>
          <a:lstStyle/>
          <a:p>
            <a:pPr>
              <a:lnSpc>
                <a:spcPct val="98000"/>
              </a:lnSpc>
            </a:pPr>
            <a:r>
              <a:rPr lang="en-US" sz="1250" dirty="0" err="1">
                <a:solidFill>
                  <a:srgbClr val="EFEFFA"/>
                </a:solidFill>
                <a:latin typeface="Calibri" pitchFamily="34" charset="0"/>
                <a:ea typeface="Calibri" pitchFamily="34" charset="-122"/>
                <a:cs typeface="Calibri" pitchFamily="34" charset="-120"/>
              </a:rPr>
              <a:t>Không</a:t>
            </a:r>
            <a:r>
              <a:rPr lang="en-US" sz="1250" dirty="0">
                <a:solidFill>
                  <a:srgbClr val="EFEFFA"/>
                </a:solidFill>
                <a:latin typeface="Calibri" pitchFamily="34" charset="0"/>
                <a:ea typeface="Calibri" pitchFamily="34" charset="-122"/>
                <a:cs typeface="Calibri" pitchFamily="34" charset="-120"/>
              </a:rPr>
              <a:t> </a:t>
            </a:r>
            <a:r>
              <a:rPr lang="en-US" sz="1250" dirty="0" err="1">
                <a:solidFill>
                  <a:srgbClr val="EFEFFA"/>
                </a:solidFill>
                <a:latin typeface="Calibri" pitchFamily="34" charset="0"/>
                <a:ea typeface="Calibri" pitchFamily="34" charset="-122"/>
                <a:cs typeface="Calibri" pitchFamily="34" charset="-120"/>
              </a:rPr>
              <a:t>thể</a:t>
            </a:r>
            <a:r>
              <a:rPr lang="en-US" sz="1250" dirty="0">
                <a:solidFill>
                  <a:srgbClr val="EFEFFA"/>
                </a:solidFill>
                <a:latin typeface="Calibri" pitchFamily="34" charset="0"/>
                <a:ea typeface="Calibri" pitchFamily="34" charset="-122"/>
                <a:cs typeface="Calibri" pitchFamily="34" charset="-120"/>
              </a:rPr>
              <a:t> </a:t>
            </a:r>
            <a:r>
              <a:rPr lang="en-US" sz="1250" dirty="0" err="1">
                <a:solidFill>
                  <a:srgbClr val="EFEFFA"/>
                </a:solidFill>
                <a:latin typeface="Calibri" pitchFamily="34" charset="0"/>
                <a:ea typeface="Calibri" pitchFamily="34" charset="-122"/>
                <a:cs typeface="Calibri" pitchFamily="34" charset="-120"/>
              </a:rPr>
              <a:t>tối</a:t>
            </a:r>
            <a:r>
              <a:rPr lang="en-US" sz="1250" dirty="0">
                <a:solidFill>
                  <a:srgbClr val="EFEFFA"/>
                </a:solidFill>
                <a:latin typeface="Calibri" pitchFamily="34" charset="0"/>
                <a:ea typeface="Calibri" pitchFamily="34" charset="-122"/>
                <a:cs typeface="Calibri" pitchFamily="34" charset="-120"/>
              </a:rPr>
              <a:t> </a:t>
            </a:r>
            <a:r>
              <a:rPr lang="vi-VN" sz="1250" dirty="0">
                <a:solidFill>
                  <a:srgbClr val="EFEFFA"/>
                </a:solidFill>
                <a:latin typeface="Calibri" pitchFamily="34" charset="0"/>
                <a:ea typeface="Calibri" pitchFamily="34" charset="-122"/>
                <a:cs typeface="Calibri" pitchFamily="34" charset="-120"/>
              </a:rPr>
              <a:t>ư</a:t>
            </a:r>
            <a:r>
              <a:rPr lang="en-US" sz="1250" dirty="0">
                <a:solidFill>
                  <a:srgbClr val="EFEFFA"/>
                </a:solidFill>
                <a:latin typeface="Calibri" pitchFamily="34" charset="0"/>
                <a:ea typeface="Calibri" pitchFamily="34" charset="-122"/>
                <a:cs typeface="Calibri" pitchFamily="34" charset="-120"/>
              </a:rPr>
              <a:t>u </a:t>
            </a:r>
            <a:r>
              <a:rPr lang="en-US" sz="1250" dirty="0" err="1">
                <a:solidFill>
                  <a:srgbClr val="EFEFFA"/>
                </a:solidFill>
                <a:latin typeface="Calibri" pitchFamily="34" charset="0"/>
                <a:ea typeface="Calibri" pitchFamily="34" charset="-122"/>
                <a:cs typeface="Calibri" pitchFamily="34" charset="-120"/>
              </a:rPr>
              <a:t>đồng</a:t>
            </a:r>
            <a:r>
              <a:rPr lang="en-US" sz="1250" dirty="0">
                <a:solidFill>
                  <a:srgbClr val="EFEFFA"/>
                </a:solidFill>
                <a:latin typeface="Calibri" pitchFamily="34" charset="0"/>
                <a:ea typeface="Calibri" pitchFamily="34" charset="-122"/>
                <a:cs typeface="Calibri" pitchFamily="34" charset="-120"/>
              </a:rPr>
              <a:t> </a:t>
            </a:r>
            <a:r>
              <a:rPr lang="en-US" sz="1250" dirty="0" err="1">
                <a:solidFill>
                  <a:srgbClr val="EFEFFA"/>
                </a:solidFill>
                <a:latin typeface="Calibri" pitchFamily="34" charset="0"/>
                <a:ea typeface="Calibri" pitchFamily="34" charset="-122"/>
                <a:cs typeface="Calibri" pitchFamily="34" charset="-120"/>
              </a:rPr>
              <a:t>thời</a:t>
            </a:r>
            <a:r>
              <a:rPr lang="en-US" sz="1250" dirty="0">
                <a:solidFill>
                  <a:srgbClr val="EFEFFA"/>
                </a:solidFill>
                <a:latin typeface="Calibri" pitchFamily="34" charset="0"/>
                <a:ea typeface="Calibri" pitchFamily="34" charset="-122"/>
                <a:cs typeface="Calibri" pitchFamily="34" charset="-120"/>
              </a:rPr>
              <a:t> 3 </a:t>
            </a:r>
            <a:r>
              <a:rPr lang="en-US" sz="1250" dirty="0" err="1">
                <a:solidFill>
                  <a:srgbClr val="EFEFFA"/>
                </a:solidFill>
                <a:latin typeface="Calibri" pitchFamily="34" charset="0"/>
                <a:ea typeface="Calibri" pitchFamily="34" charset="-122"/>
                <a:cs typeface="Calibri" pitchFamily="34" charset="-120"/>
              </a:rPr>
              <a:t>bộ</a:t>
            </a:r>
            <a:r>
              <a:rPr lang="en-US" sz="1250" dirty="0">
                <a:solidFill>
                  <a:srgbClr val="EFEFFA"/>
                </a:solidFill>
                <a:latin typeface="Calibri" pitchFamily="34" charset="0"/>
                <a:ea typeface="Calibri" pitchFamily="34" charset="-122"/>
                <a:cs typeface="Calibri" pitchFamily="34" charset="-120"/>
              </a:rPr>
              <a:t> </a:t>
            </a:r>
            <a:r>
              <a:rPr lang="en-US" sz="1250" dirty="0">
                <a:solidFill>
                  <a:srgbClr val="EFEFFA"/>
                </a:solidFill>
                <a:latin typeface="Calibri" pitchFamily="34" charset="0"/>
                <a:ea typeface="Calibri" pitchFamily="34" charset="-122"/>
                <a:cs typeface="Calibri" pitchFamily="34" charset="-120"/>
                <a:sym typeface="Wingdings" panose="05000000000000000000" pitchFamily="2" charset="2"/>
              </a:rPr>
              <a:t> </a:t>
            </a:r>
            <a:r>
              <a:rPr lang="en-US" sz="1250" dirty="0" err="1">
                <a:solidFill>
                  <a:srgbClr val="EFEFFA"/>
                </a:solidFill>
                <a:latin typeface="Calibri" pitchFamily="34" charset="0"/>
                <a:ea typeface="Calibri" pitchFamily="34" charset="-122"/>
                <a:cs typeface="Calibri" pitchFamily="34" charset="-120"/>
              </a:rPr>
              <a:t>cố</a:t>
            </a:r>
            <a:r>
              <a:rPr lang="en-US" sz="1250" dirty="0">
                <a:solidFill>
                  <a:srgbClr val="EFEFFA"/>
                </a:solidFill>
                <a:latin typeface="Calibri" pitchFamily="34" charset="0"/>
                <a:ea typeface="Calibri" pitchFamily="34" charset="-122"/>
                <a:cs typeface="Calibri" pitchFamily="34" charset="-120"/>
              </a:rPr>
              <a:t> định ràng buộc ngân sách token, tối </a:t>
            </a:r>
            <a:r>
              <a:rPr lang="en-US" sz="1250" dirty="0" err="1">
                <a:solidFill>
                  <a:srgbClr val="EFEFFA"/>
                </a:solidFill>
                <a:latin typeface="Calibri" pitchFamily="34" charset="0"/>
                <a:ea typeface="Calibri" pitchFamily="34" charset="-122"/>
                <a:cs typeface="Calibri" pitchFamily="34" charset="-120"/>
              </a:rPr>
              <a:t>ưu</a:t>
            </a:r>
            <a:r>
              <a:rPr lang="en-US" sz="1250" dirty="0">
                <a:solidFill>
                  <a:srgbClr val="EFEFFA"/>
                </a:solidFill>
                <a:latin typeface="Calibri" pitchFamily="34" charset="0"/>
                <a:ea typeface="Calibri" pitchFamily="34" charset="-122"/>
                <a:cs typeface="Calibri" pitchFamily="34" charset="-120"/>
              </a:rPr>
              <a:t> 1 chỉ số (macro-average accuracy theo loại câu hỏi) </a:t>
            </a:r>
            <a:r>
              <a:rPr lang="en-US" sz="1250" dirty="0" err="1">
                <a:solidFill>
                  <a:srgbClr val="EFEFFA"/>
                </a:solidFill>
                <a:latin typeface="Calibri" pitchFamily="34" charset="0"/>
                <a:ea typeface="Calibri" pitchFamily="34" charset="-122"/>
                <a:cs typeface="Calibri" pitchFamily="34" charset="-120"/>
              </a:rPr>
              <a:t>trên</a:t>
            </a:r>
            <a:r>
              <a:rPr lang="en-US" sz="1250" dirty="0">
                <a:solidFill>
                  <a:srgbClr val="EFEFFA"/>
                </a:solidFill>
                <a:latin typeface="Calibri" pitchFamily="34" charset="0"/>
                <a:ea typeface="Calibri" pitchFamily="34" charset="-122"/>
                <a:cs typeface="Calibri" pitchFamily="34" charset="-120"/>
              </a:rPr>
              <a:t> 1 bộ (dev), hai bộ còn lại là bằng chứng không overfit. Nếu điểm BEAM thấp hơn LongMemEval nhiều thì đó là một KẾT QUẢ chứ không phải thất bại: nó nói rằng hệ đã bám hơi sát đặc điểm </a:t>
            </a:r>
            <a:r>
              <a:rPr lang="en-US" sz="1250" dirty="0" err="1">
                <a:solidFill>
                  <a:srgbClr val="EFEFFA"/>
                </a:solidFill>
                <a:latin typeface="Calibri" pitchFamily="34" charset="0"/>
                <a:ea typeface="Calibri" pitchFamily="34" charset="-122"/>
                <a:cs typeface="Calibri" pitchFamily="34" charset="-120"/>
              </a:rPr>
              <a:t>của</a:t>
            </a:r>
            <a:r>
              <a:rPr lang="en-US" sz="1250" dirty="0">
                <a:solidFill>
                  <a:srgbClr val="EFEFFA"/>
                </a:solidFill>
                <a:latin typeface="Calibri" pitchFamily="34" charset="0"/>
                <a:ea typeface="Calibri" pitchFamily="34" charset="-122"/>
                <a:cs typeface="Calibri" pitchFamily="34" charset="-120"/>
              </a:rPr>
              <a:t> </a:t>
            </a:r>
            <a:r>
              <a:rPr lang="en-US" sz="1250" dirty="0" err="1">
                <a:solidFill>
                  <a:srgbClr val="EFEFFA"/>
                </a:solidFill>
                <a:latin typeface="Calibri" pitchFamily="34" charset="0"/>
                <a:ea typeface="Calibri" pitchFamily="34" charset="-122"/>
                <a:cs typeface="Calibri" pitchFamily="34" charset="-120"/>
              </a:rPr>
              <a:t>LongMemEval</a:t>
            </a:r>
            <a:r>
              <a:rPr lang="en-US" sz="1250" dirty="0">
                <a:solidFill>
                  <a:srgbClr val="EFEFFA"/>
                </a:solidFill>
                <a:latin typeface="Calibri" pitchFamily="34" charset="0"/>
                <a:ea typeface="Calibri" pitchFamily="34" charset="-122"/>
                <a:cs typeface="Calibri" pitchFamily="34" charset="-120"/>
              </a:rPr>
              <a:t>.</a:t>
            </a:r>
            <a:endParaRPr lang="en-US" sz="1250" dirty="0"/>
          </a:p>
        </p:txBody>
      </p:sp>
      <p:sp>
        <p:nvSpPr>
          <p:cNvPr id="26" name="Text 24"/>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Kỷ luật dev/test là thực hành chuẩn trong học máy; ở đây áp cho việc quét siêu tham số chứ không phải huấn luyện trọng số.</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1FA6A6"/>
                </a:solidFill>
                <a:latin typeface="Calibri" pitchFamily="34" charset="0"/>
                <a:ea typeface="Calibri" pitchFamily="34" charset="-122"/>
                <a:cs typeface="Calibri" pitchFamily="34" charset="-120"/>
              </a:rPr>
              <a:t>PHƯƠNG PHÁP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Bảng kết quả cuối sẽ có dạng này</a:t>
            </a:r>
            <a:endParaRPr lang="en-US" sz="3000" dirty="0"/>
          </a:p>
        </p:txBody>
      </p:sp>
      <p:sp>
        <p:nvSpPr>
          <p:cNvPr id="4" name="Text 2"/>
          <p:cNvSpPr txBox="1"/>
          <p:nvPr/>
        </p:nvSpPr>
        <p:spPr>
          <a:xfrm>
            <a:off x="749808" y="1444752"/>
            <a:ext cx="228600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CẤU HÌNH</a:t>
            </a:r>
            <a:endParaRPr lang="en-US" sz="1050" dirty="0"/>
          </a:p>
        </p:txBody>
      </p:sp>
      <p:sp>
        <p:nvSpPr>
          <p:cNvPr id="5" name="Text 3"/>
          <p:cNvSpPr txBox="1"/>
          <p:nvPr/>
        </p:nvSpPr>
        <p:spPr>
          <a:xfrm>
            <a:off x="3200400"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ACC</a:t>
            </a:r>
            <a:endParaRPr lang="en-US" sz="1050" dirty="0"/>
          </a:p>
        </p:txBody>
      </p:sp>
      <p:sp>
        <p:nvSpPr>
          <p:cNvPr id="6" name="Text 4"/>
          <p:cNvSpPr txBox="1"/>
          <p:nvPr/>
        </p:nvSpPr>
        <p:spPr>
          <a:xfrm>
            <a:off x="4370832"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IE</a:t>
            </a:r>
            <a:endParaRPr lang="en-US" sz="1050" dirty="0"/>
          </a:p>
        </p:txBody>
      </p:sp>
      <p:sp>
        <p:nvSpPr>
          <p:cNvPr id="7" name="Text 5"/>
          <p:cNvSpPr txBox="1"/>
          <p:nvPr/>
        </p:nvSpPr>
        <p:spPr>
          <a:xfrm>
            <a:off x="5541264"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MR</a:t>
            </a:r>
            <a:endParaRPr lang="en-US" sz="1050" dirty="0"/>
          </a:p>
        </p:txBody>
      </p:sp>
      <p:sp>
        <p:nvSpPr>
          <p:cNvPr id="8" name="Text 6"/>
          <p:cNvSpPr txBox="1"/>
          <p:nvPr/>
        </p:nvSpPr>
        <p:spPr>
          <a:xfrm>
            <a:off x="6711696"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TR</a:t>
            </a:r>
            <a:endParaRPr lang="en-US" sz="1050" dirty="0"/>
          </a:p>
        </p:txBody>
      </p:sp>
      <p:sp>
        <p:nvSpPr>
          <p:cNvPr id="9" name="Text 7"/>
          <p:cNvSpPr txBox="1"/>
          <p:nvPr/>
        </p:nvSpPr>
        <p:spPr>
          <a:xfrm>
            <a:off x="7882128"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KU</a:t>
            </a:r>
            <a:endParaRPr lang="en-US" sz="1050" dirty="0"/>
          </a:p>
        </p:txBody>
      </p:sp>
      <p:sp>
        <p:nvSpPr>
          <p:cNvPr id="10" name="Text 8"/>
          <p:cNvSpPr txBox="1"/>
          <p:nvPr/>
        </p:nvSpPr>
        <p:spPr>
          <a:xfrm>
            <a:off x="9052560"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PREF</a:t>
            </a:r>
            <a:endParaRPr lang="en-US" sz="1050" dirty="0"/>
          </a:p>
        </p:txBody>
      </p:sp>
      <p:sp>
        <p:nvSpPr>
          <p:cNvPr id="11" name="Text 9"/>
          <p:cNvSpPr txBox="1"/>
          <p:nvPr/>
        </p:nvSpPr>
        <p:spPr>
          <a:xfrm>
            <a:off x="10222992" y="1444752"/>
            <a:ext cx="1005840" cy="219456"/>
          </a:xfrm>
          <a:prstGeom prst="rect">
            <a:avLst/>
          </a:prstGeom>
          <a:noFill/>
          <a:ln/>
        </p:spPr>
        <p:txBody>
          <a:bodyPr wrap="square" lIns="0" tIns="0" rIns="0" bIns="0" rtlCol="0" anchor="ctr"/>
          <a:lstStyle/>
          <a:p>
            <a:pPr marL="0" indent="0">
              <a:buNone/>
            </a:pPr>
            <a:r>
              <a:rPr lang="en-US" sz="1050" b="1" dirty="0">
                <a:solidFill>
                  <a:srgbClr val="3A36A0"/>
                </a:solidFill>
                <a:latin typeface="Calibri" pitchFamily="34" charset="0"/>
                <a:ea typeface="Calibri" pitchFamily="34" charset="-122"/>
                <a:cs typeface="Calibri" pitchFamily="34" charset="-120"/>
              </a:rPr>
              <a:t>ABS</a:t>
            </a:r>
            <a:endParaRPr lang="en-US" sz="1050" dirty="0"/>
          </a:p>
        </p:txBody>
      </p:sp>
      <p:sp>
        <p:nvSpPr>
          <p:cNvPr id="12" name="Text 10"/>
          <p:cNvSpPr txBox="1"/>
          <p:nvPr/>
        </p:nvSpPr>
        <p:spPr>
          <a:xfrm>
            <a:off x="566928" y="1719072"/>
            <a:ext cx="11045952" cy="164592"/>
          </a:xfrm>
          <a:prstGeom prst="rect">
            <a:avLst/>
          </a:prstGeom>
          <a:noFill/>
          <a:ln/>
        </p:spPr>
        <p:txBody>
          <a:bodyPr wrap="square" lIns="0" tIns="0" rIns="0" bIns="0" rtlCol="0" anchor="ctr"/>
          <a:lstStyle/>
          <a:p>
            <a:pPr marL="0" indent="0">
              <a:buNone/>
            </a:pPr>
            <a:r>
              <a:rPr lang="en-US" sz="900" b="1" dirty="0">
                <a:solidFill>
                  <a:srgbClr val="E9970B"/>
                </a:solidFill>
                <a:latin typeface="Calibri" pitchFamily="34" charset="0"/>
                <a:ea typeface="Calibri" pitchFamily="34" charset="-122"/>
                <a:cs typeface="Calibri" pitchFamily="34" charset="-120"/>
              </a:rPr>
              <a:t>TẦNG 1 · SÀN</a:t>
            </a:r>
            <a:endParaRPr lang="en-US" sz="900" dirty="0"/>
          </a:p>
        </p:txBody>
      </p:sp>
      <p:sp>
        <p:nvSpPr>
          <p:cNvPr id="13" name="Shape 11"/>
          <p:cNvSpPr/>
          <p:nvPr/>
        </p:nvSpPr>
        <p:spPr>
          <a:xfrm>
            <a:off x="566928" y="1901952"/>
            <a:ext cx="11045952" cy="329184"/>
          </a:xfrm>
          <a:prstGeom prst="roundRect">
            <a:avLst>
              <a:gd name="adj" fmla="val 13889"/>
            </a:avLst>
          </a:prstGeom>
          <a:solidFill>
            <a:srgbClr val="F7F7FB"/>
          </a:solidFill>
          <a:ln w="12700">
            <a:solidFill>
              <a:srgbClr val="F7F7FB"/>
            </a:solidFill>
            <a:prstDash val="solid"/>
          </a:ln>
        </p:spPr>
        <p:txBody>
          <a:bodyPr/>
          <a:lstStyle/>
          <a:p>
            <a:endParaRPr lang="en-US"/>
          </a:p>
        </p:txBody>
      </p:sp>
      <p:sp>
        <p:nvSpPr>
          <p:cNvPr id="14" name="Text 12"/>
          <p:cNvSpPr txBox="1"/>
          <p:nvPr/>
        </p:nvSpPr>
        <p:spPr>
          <a:xfrm>
            <a:off x="749808" y="1965960"/>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no-memory</a:t>
            </a:r>
            <a:endParaRPr lang="en-US" sz="1150" dirty="0"/>
          </a:p>
        </p:txBody>
      </p:sp>
      <p:sp>
        <p:nvSpPr>
          <p:cNvPr id="15" name="Text 13"/>
          <p:cNvSpPr txBox="1"/>
          <p:nvPr/>
        </p:nvSpPr>
        <p:spPr>
          <a:xfrm>
            <a:off x="3200400"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16" name="Text 14"/>
          <p:cNvSpPr txBox="1"/>
          <p:nvPr/>
        </p:nvSpPr>
        <p:spPr>
          <a:xfrm>
            <a:off x="4370832"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17" name="Text 15"/>
          <p:cNvSpPr txBox="1"/>
          <p:nvPr/>
        </p:nvSpPr>
        <p:spPr>
          <a:xfrm>
            <a:off x="5541264"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18" name="Text 16"/>
          <p:cNvSpPr txBox="1"/>
          <p:nvPr/>
        </p:nvSpPr>
        <p:spPr>
          <a:xfrm>
            <a:off x="6711696"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19" name="Text 17"/>
          <p:cNvSpPr txBox="1"/>
          <p:nvPr/>
        </p:nvSpPr>
        <p:spPr>
          <a:xfrm>
            <a:off x="7882128"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0" name="Text 18"/>
          <p:cNvSpPr txBox="1"/>
          <p:nvPr/>
        </p:nvSpPr>
        <p:spPr>
          <a:xfrm>
            <a:off x="9052560"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1" name="Text 19"/>
          <p:cNvSpPr txBox="1"/>
          <p:nvPr/>
        </p:nvSpPr>
        <p:spPr>
          <a:xfrm>
            <a:off x="10222992" y="196596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2" name="Shape 20"/>
          <p:cNvSpPr/>
          <p:nvPr/>
        </p:nvSpPr>
        <p:spPr>
          <a:xfrm>
            <a:off x="566928" y="2267712"/>
            <a:ext cx="11045952" cy="329184"/>
          </a:xfrm>
          <a:prstGeom prst="roundRect">
            <a:avLst>
              <a:gd name="adj" fmla="val 13889"/>
            </a:avLst>
          </a:prstGeom>
          <a:solidFill>
            <a:srgbClr val="F7F7FB"/>
          </a:solidFill>
          <a:ln w="12700">
            <a:solidFill>
              <a:srgbClr val="F7F7FB"/>
            </a:solidFill>
            <a:prstDash val="solid"/>
          </a:ln>
        </p:spPr>
        <p:txBody>
          <a:bodyPr/>
          <a:lstStyle/>
          <a:p>
            <a:endParaRPr lang="en-US"/>
          </a:p>
        </p:txBody>
      </p:sp>
      <p:sp>
        <p:nvSpPr>
          <p:cNvPr id="23" name="Text 21"/>
          <p:cNvSpPr txBox="1"/>
          <p:nvPr/>
        </p:nvSpPr>
        <p:spPr>
          <a:xfrm>
            <a:off x="749808" y="2331720"/>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random-k</a:t>
            </a:r>
            <a:endParaRPr lang="en-US" sz="1150" dirty="0"/>
          </a:p>
        </p:txBody>
      </p:sp>
      <p:sp>
        <p:nvSpPr>
          <p:cNvPr id="24" name="Text 22"/>
          <p:cNvSpPr txBox="1"/>
          <p:nvPr/>
        </p:nvSpPr>
        <p:spPr>
          <a:xfrm>
            <a:off x="3200400"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5" name="Text 23"/>
          <p:cNvSpPr txBox="1"/>
          <p:nvPr/>
        </p:nvSpPr>
        <p:spPr>
          <a:xfrm>
            <a:off x="4370832"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6" name="Text 24"/>
          <p:cNvSpPr txBox="1"/>
          <p:nvPr/>
        </p:nvSpPr>
        <p:spPr>
          <a:xfrm>
            <a:off x="5541264"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7" name="Text 25"/>
          <p:cNvSpPr txBox="1"/>
          <p:nvPr/>
        </p:nvSpPr>
        <p:spPr>
          <a:xfrm>
            <a:off x="6711696"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8" name="Text 26"/>
          <p:cNvSpPr txBox="1"/>
          <p:nvPr/>
        </p:nvSpPr>
        <p:spPr>
          <a:xfrm>
            <a:off x="7882128"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29" name="Text 27"/>
          <p:cNvSpPr txBox="1"/>
          <p:nvPr/>
        </p:nvSpPr>
        <p:spPr>
          <a:xfrm>
            <a:off x="9052560"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0" name="Text 28"/>
          <p:cNvSpPr txBox="1"/>
          <p:nvPr/>
        </p:nvSpPr>
        <p:spPr>
          <a:xfrm>
            <a:off x="10222992" y="2331720"/>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1" name="Text 29"/>
          <p:cNvSpPr txBox="1"/>
          <p:nvPr/>
        </p:nvSpPr>
        <p:spPr>
          <a:xfrm>
            <a:off x="566928" y="2651760"/>
            <a:ext cx="11045952" cy="164592"/>
          </a:xfrm>
          <a:prstGeom prst="rect">
            <a:avLst/>
          </a:prstGeom>
          <a:noFill/>
          <a:ln/>
        </p:spPr>
        <p:txBody>
          <a:bodyPr wrap="square" lIns="0" tIns="0" rIns="0" bIns="0" rtlCol="0" anchor="ctr"/>
          <a:lstStyle/>
          <a:p>
            <a:pPr marL="0" indent="0">
              <a:buNone/>
            </a:pPr>
            <a:r>
              <a:rPr lang="en-US" sz="900" b="1" dirty="0">
                <a:solidFill>
                  <a:srgbClr val="E9970B"/>
                </a:solidFill>
                <a:latin typeface="Calibri" pitchFamily="34" charset="0"/>
                <a:ea typeface="Calibri" pitchFamily="34" charset="-122"/>
                <a:cs typeface="Calibri" pitchFamily="34" charset="-120"/>
              </a:rPr>
              <a:t>TẦNG 2 · ĐỐI CHỨNG NỘI BỘ — CẮT BỎ THÀNH PHẦN</a:t>
            </a:r>
            <a:endParaRPr lang="en-US" sz="900" dirty="0"/>
          </a:p>
        </p:txBody>
      </p:sp>
      <p:sp>
        <p:nvSpPr>
          <p:cNvPr id="32" name="Shape 30"/>
          <p:cNvSpPr/>
          <p:nvPr/>
        </p:nvSpPr>
        <p:spPr>
          <a:xfrm>
            <a:off x="566928" y="283464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33" name="Text 31"/>
          <p:cNvSpPr txBox="1"/>
          <p:nvPr/>
        </p:nvSpPr>
        <p:spPr>
          <a:xfrm>
            <a:off x="749808" y="289864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full-context</a:t>
            </a:r>
            <a:endParaRPr lang="en-US" sz="1150" dirty="0"/>
          </a:p>
        </p:txBody>
      </p:sp>
      <p:sp>
        <p:nvSpPr>
          <p:cNvPr id="34" name="Text 32"/>
          <p:cNvSpPr txBox="1"/>
          <p:nvPr/>
        </p:nvSpPr>
        <p:spPr>
          <a:xfrm>
            <a:off x="3200400"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5" name="Text 33"/>
          <p:cNvSpPr txBox="1"/>
          <p:nvPr/>
        </p:nvSpPr>
        <p:spPr>
          <a:xfrm>
            <a:off x="4370832"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6" name="Text 34"/>
          <p:cNvSpPr txBox="1"/>
          <p:nvPr/>
        </p:nvSpPr>
        <p:spPr>
          <a:xfrm>
            <a:off x="5541264"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7" name="Text 35"/>
          <p:cNvSpPr txBox="1"/>
          <p:nvPr/>
        </p:nvSpPr>
        <p:spPr>
          <a:xfrm>
            <a:off x="6711696"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8" name="Text 36"/>
          <p:cNvSpPr txBox="1"/>
          <p:nvPr/>
        </p:nvSpPr>
        <p:spPr>
          <a:xfrm>
            <a:off x="7882128"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39" name="Text 37"/>
          <p:cNvSpPr txBox="1"/>
          <p:nvPr/>
        </p:nvSpPr>
        <p:spPr>
          <a:xfrm>
            <a:off x="9052560"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0" name="Text 38"/>
          <p:cNvSpPr txBox="1"/>
          <p:nvPr/>
        </p:nvSpPr>
        <p:spPr>
          <a:xfrm>
            <a:off x="10222992" y="289864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1" name="Shape 39"/>
          <p:cNvSpPr/>
          <p:nvPr/>
        </p:nvSpPr>
        <p:spPr>
          <a:xfrm>
            <a:off x="566928" y="320040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42" name="Text 40"/>
          <p:cNvSpPr txBox="1"/>
          <p:nvPr/>
        </p:nvSpPr>
        <p:spPr>
          <a:xfrm>
            <a:off x="749808" y="326440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dense-only</a:t>
            </a:r>
            <a:endParaRPr lang="en-US" sz="1150" dirty="0"/>
          </a:p>
        </p:txBody>
      </p:sp>
      <p:sp>
        <p:nvSpPr>
          <p:cNvPr id="43" name="Text 41"/>
          <p:cNvSpPr txBox="1"/>
          <p:nvPr/>
        </p:nvSpPr>
        <p:spPr>
          <a:xfrm>
            <a:off x="3200400"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4" name="Text 42"/>
          <p:cNvSpPr txBox="1"/>
          <p:nvPr/>
        </p:nvSpPr>
        <p:spPr>
          <a:xfrm>
            <a:off x="4370832"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5" name="Text 43"/>
          <p:cNvSpPr txBox="1"/>
          <p:nvPr/>
        </p:nvSpPr>
        <p:spPr>
          <a:xfrm>
            <a:off x="5541264"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6" name="Text 44"/>
          <p:cNvSpPr txBox="1"/>
          <p:nvPr/>
        </p:nvSpPr>
        <p:spPr>
          <a:xfrm>
            <a:off x="6711696"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7" name="Text 45"/>
          <p:cNvSpPr txBox="1"/>
          <p:nvPr/>
        </p:nvSpPr>
        <p:spPr>
          <a:xfrm>
            <a:off x="7882128"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8" name="Text 46"/>
          <p:cNvSpPr txBox="1"/>
          <p:nvPr/>
        </p:nvSpPr>
        <p:spPr>
          <a:xfrm>
            <a:off x="9052560"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49" name="Text 47"/>
          <p:cNvSpPr txBox="1"/>
          <p:nvPr/>
        </p:nvSpPr>
        <p:spPr>
          <a:xfrm>
            <a:off x="10222992" y="326440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0" name="Shape 48"/>
          <p:cNvSpPr/>
          <p:nvPr/>
        </p:nvSpPr>
        <p:spPr>
          <a:xfrm>
            <a:off x="566928" y="356616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51" name="Text 49"/>
          <p:cNvSpPr txBox="1"/>
          <p:nvPr/>
        </p:nvSpPr>
        <p:spPr>
          <a:xfrm>
            <a:off x="749808" y="363016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no-rerank</a:t>
            </a:r>
            <a:endParaRPr lang="en-US" sz="1150" dirty="0"/>
          </a:p>
        </p:txBody>
      </p:sp>
      <p:sp>
        <p:nvSpPr>
          <p:cNvPr id="52" name="Text 50"/>
          <p:cNvSpPr txBox="1"/>
          <p:nvPr/>
        </p:nvSpPr>
        <p:spPr>
          <a:xfrm>
            <a:off x="3200400"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3" name="Text 51"/>
          <p:cNvSpPr txBox="1"/>
          <p:nvPr/>
        </p:nvSpPr>
        <p:spPr>
          <a:xfrm>
            <a:off x="4370832"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4" name="Text 52"/>
          <p:cNvSpPr txBox="1"/>
          <p:nvPr/>
        </p:nvSpPr>
        <p:spPr>
          <a:xfrm>
            <a:off x="5541264"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5" name="Text 53"/>
          <p:cNvSpPr txBox="1"/>
          <p:nvPr/>
        </p:nvSpPr>
        <p:spPr>
          <a:xfrm>
            <a:off x="6711696"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6" name="Text 54"/>
          <p:cNvSpPr txBox="1"/>
          <p:nvPr/>
        </p:nvSpPr>
        <p:spPr>
          <a:xfrm>
            <a:off x="7882128"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7" name="Text 55"/>
          <p:cNvSpPr txBox="1"/>
          <p:nvPr/>
        </p:nvSpPr>
        <p:spPr>
          <a:xfrm>
            <a:off x="9052560"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8" name="Text 56"/>
          <p:cNvSpPr txBox="1"/>
          <p:nvPr/>
        </p:nvSpPr>
        <p:spPr>
          <a:xfrm>
            <a:off x="10222992" y="363016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59" name="Shape 57"/>
          <p:cNvSpPr/>
          <p:nvPr/>
        </p:nvSpPr>
        <p:spPr>
          <a:xfrm>
            <a:off x="566928" y="393192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60" name="Text 58"/>
          <p:cNvSpPr txBox="1"/>
          <p:nvPr/>
        </p:nvSpPr>
        <p:spPr>
          <a:xfrm>
            <a:off x="749808" y="399592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llm-judge</a:t>
            </a:r>
            <a:endParaRPr lang="en-US" sz="1150" dirty="0"/>
          </a:p>
        </p:txBody>
      </p:sp>
      <p:sp>
        <p:nvSpPr>
          <p:cNvPr id="61" name="Text 59"/>
          <p:cNvSpPr txBox="1"/>
          <p:nvPr/>
        </p:nvSpPr>
        <p:spPr>
          <a:xfrm>
            <a:off x="3200400"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2" name="Text 60"/>
          <p:cNvSpPr txBox="1"/>
          <p:nvPr/>
        </p:nvSpPr>
        <p:spPr>
          <a:xfrm>
            <a:off x="4370832"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3" name="Text 61"/>
          <p:cNvSpPr txBox="1"/>
          <p:nvPr/>
        </p:nvSpPr>
        <p:spPr>
          <a:xfrm>
            <a:off x="5541264"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4" name="Text 62"/>
          <p:cNvSpPr txBox="1"/>
          <p:nvPr/>
        </p:nvSpPr>
        <p:spPr>
          <a:xfrm>
            <a:off x="6711696"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5" name="Text 63"/>
          <p:cNvSpPr txBox="1"/>
          <p:nvPr/>
        </p:nvSpPr>
        <p:spPr>
          <a:xfrm>
            <a:off x="7882128"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6" name="Text 64"/>
          <p:cNvSpPr txBox="1"/>
          <p:nvPr/>
        </p:nvSpPr>
        <p:spPr>
          <a:xfrm>
            <a:off x="9052560"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7" name="Text 65"/>
          <p:cNvSpPr txBox="1"/>
          <p:nvPr/>
        </p:nvSpPr>
        <p:spPr>
          <a:xfrm>
            <a:off x="10222992" y="399592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68" name="Shape 66"/>
          <p:cNvSpPr/>
          <p:nvPr/>
        </p:nvSpPr>
        <p:spPr>
          <a:xfrm>
            <a:off x="566928" y="4297680"/>
            <a:ext cx="11045952" cy="329184"/>
          </a:xfrm>
          <a:prstGeom prst="roundRect">
            <a:avLst>
              <a:gd name="adj" fmla="val 13889"/>
            </a:avLst>
          </a:prstGeom>
          <a:solidFill>
            <a:srgbClr val="ECEBF7"/>
          </a:solidFill>
          <a:ln w="12700">
            <a:solidFill>
              <a:srgbClr val="ECEBF7"/>
            </a:solidFill>
            <a:prstDash val="solid"/>
          </a:ln>
        </p:spPr>
        <p:txBody>
          <a:bodyPr/>
          <a:lstStyle/>
          <a:p>
            <a:endParaRPr lang="en-US"/>
          </a:p>
        </p:txBody>
      </p:sp>
      <p:sp>
        <p:nvSpPr>
          <p:cNvPr id="69" name="Text 67"/>
          <p:cNvSpPr txBox="1"/>
          <p:nvPr/>
        </p:nvSpPr>
        <p:spPr>
          <a:xfrm>
            <a:off x="749808" y="4361688"/>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ours</a:t>
            </a:r>
            <a:endParaRPr lang="en-US" sz="1150" dirty="0"/>
          </a:p>
        </p:txBody>
      </p:sp>
      <p:sp>
        <p:nvSpPr>
          <p:cNvPr id="70" name="Text 68"/>
          <p:cNvSpPr txBox="1"/>
          <p:nvPr/>
        </p:nvSpPr>
        <p:spPr>
          <a:xfrm>
            <a:off x="3200400"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1" name="Text 69"/>
          <p:cNvSpPr txBox="1"/>
          <p:nvPr/>
        </p:nvSpPr>
        <p:spPr>
          <a:xfrm>
            <a:off x="4370832"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2" name="Text 70"/>
          <p:cNvSpPr txBox="1"/>
          <p:nvPr/>
        </p:nvSpPr>
        <p:spPr>
          <a:xfrm>
            <a:off x="5541264"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3" name="Text 71"/>
          <p:cNvSpPr txBox="1"/>
          <p:nvPr/>
        </p:nvSpPr>
        <p:spPr>
          <a:xfrm>
            <a:off x="6711696"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4" name="Text 72"/>
          <p:cNvSpPr txBox="1"/>
          <p:nvPr/>
        </p:nvSpPr>
        <p:spPr>
          <a:xfrm>
            <a:off x="7882128"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5" name="Text 73"/>
          <p:cNvSpPr txBox="1"/>
          <p:nvPr/>
        </p:nvSpPr>
        <p:spPr>
          <a:xfrm>
            <a:off x="9052560"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6" name="Text 74"/>
          <p:cNvSpPr txBox="1"/>
          <p:nvPr/>
        </p:nvSpPr>
        <p:spPr>
          <a:xfrm>
            <a:off x="10222992" y="4361688"/>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77" name="Text 75"/>
          <p:cNvSpPr txBox="1"/>
          <p:nvPr/>
        </p:nvSpPr>
        <p:spPr>
          <a:xfrm>
            <a:off x="566928" y="4681728"/>
            <a:ext cx="11045952" cy="164592"/>
          </a:xfrm>
          <a:prstGeom prst="rect">
            <a:avLst/>
          </a:prstGeom>
          <a:noFill/>
          <a:ln/>
        </p:spPr>
        <p:txBody>
          <a:bodyPr wrap="square" lIns="0" tIns="0" rIns="0" bIns="0" rtlCol="0" anchor="ctr"/>
          <a:lstStyle/>
          <a:p>
            <a:pPr marL="0" indent="0">
              <a:buNone/>
            </a:pPr>
            <a:r>
              <a:rPr lang="en-US" sz="900" b="1" dirty="0">
                <a:solidFill>
                  <a:srgbClr val="E9970B"/>
                </a:solidFill>
                <a:latin typeface="Calibri" pitchFamily="34" charset="0"/>
                <a:ea typeface="Calibri" pitchFamily="34" charset="-122"/>
                <a:cs typeface="Calibri" pitchFamily="34" charset="-120"/>
              </a:rPr>
              <a:t>TẦNG 3 · TRẦN</a:t>
            </a:r>
            <a:endParaRPr lang="en-US" sz="900" dirty="0"/>
          </a:p>
        </p:txBody>
      </p:sp>
      <p:sp>
        <p:nvSpPr>
          <p:cNvPr id="78" name="Shape 76"/>
          <p:cNvSpPr/>
          <p:nvPr/>
        </p:nvSpPr>
        <p:spPr>
          <a:xfrm>
            <a:off x="566928" y="4864608"/>
            <a:ext cx="11045952" cy="329184"/>
          </a:xfrm>
          <a:prstGeom prst="roundRect">
            <a:avLst>
              <a:gd name="adj" fmla="val 13889"/>
            </a:avLst>
          </a:prstGeom>
          <a:solidFill>
            <a:srgbClr val="13123A"/>
          </a:solidFill>
          <a:ln w="12700">
            <a:solidFill>
              <a:srgbClr val="13123A"/>
            </a:solidFill>
            <a:prstDash val="solid"/>
          </a:ln>
        </p:spPr>
        <p:txBody>
          <a:bodyPr/>
          <a:lstStyle/>
          <a:p>
            <a:endParaRPr lang="en-US"/>
          </a:p>
        </p:txBody>
      </p:sp>
      <p:sp>
        <p:nvSpPr>
          <p:cNvPr id="79" name="Text 77"/>
          <p:cNvSpPr txBox="1"/>
          <p:nvPr/>
        </p:nvSpPr>
        <p:spPr>
          <a:xfrm>
            <a:off x="749808" y="4928616"/>
            <a:ext cx="2286000" cy="219456"/>
          </a:xfrm>
          <a:prstGeom prst="rect">
            <a:avLst/>
          </a:prstGeom>
          <a:noFill/>
          <a:ln/>
        </p:spPr>
        <p:txBody>
          <a:bodyPr wrap="square" lIns="0" tIns="0" rIns="0" bIns="0" rtlCol="0" anchor="ctr"/>
          <a:lstStyle/>
          <a:p>
            <a:pPr marL="0" indent="0">
              <a:buNone/>
            </a:pPr>
            <a:r>
              <a:rPr lang="en-US" sz="1150" b="1" dirty="0">
                <a:solidFill>
                  <a:srgbClr val="FFFFFF"/>
                </a:solidFill>
                <a:latin typeface="Courier New" pitchFamily="34" charset="0"/>
                <a:ea typeface="Courier New" pitchFamily="34" charset="-122"/>
                <a:cs typeface="Courier New" pitchFamily="34" charset="-120"/>
              </a:rPr>
              <a:t>oracle</a:t>
            </a:r>
            <a:endParaRPr lang="en-US" sz="1150" dirty="0"/>
          </a:p>
        </p:txBody>
      </p:sp>
      <p:sp>
        <p:nvSpPr>
          <p:cNvPr id="80" name="Text 78"/>
          <p:cNvSpPr txBox="1"/>
          <p:nvPr/>
        </p:nvSpPr>
        <p:spPr>
          <a:xfrm>
            <a:off x="3200400"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1" name="Text 79"/>
          <p:cNvSpPr txBox="1"/>
          <p:nvPr/>
        </p:nvSpPr>
        <p:spPr>
          <a:xfrm>
            <a:off x="4370832"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2" name="Text 80"/>
          <p:cNvSpPr txBox="1"/>
          <p:nvPr/>
        </p:nvSpPr>
        <p:spPr>
          <a:xfrm>
            <a:off x="5541264"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3" name="Text 81"/>
          <p:cNvSpPr txBox="1"/>
          <p:nvPr/>
        </p:nvSpPr>
        <p:spPr>
          <a:xfrm>
            <a:off x="6711696"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4" name="Text 82"/>
          <p:cNvSpPr txBox="1"/>
          <p:nvPr/>
        </p:nvSpPr>
        <p:spPr>
          <a:xfrm>
            <a:off x="7882128"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5" name="Text 83"/>
          <p:cNvSpPr txBox="1"/>
          <p:nvPr/>
        </p:nvSpPr>
        <p:spPr>
          <a:xfrm>
            <a:off x="9052560"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6" name="Text 84"/>
          <p:cNvSpPr txBox="1"/>
          <p:nvPr/>
        </p:nvSpPr>
        <p:spPr>
          <a:xfrm>
            <a:off x="10222992" y="4928616"/>
            <a:ext cx="1005840" cy="219456"/>
          </a:xfrm>
          <a:prstGeom prst="rect">
            <a:avLst/>
          </a:prstGeom>
          <a:noFill/>
          <a:ln/>
        </p:spPr>
        <p:txBody>
          <a:bodyPr wrap="square" lIns="0" tIns="0" rIns="0" bIns="0" rtlCol="0" anchor="ctr"/>
          <a:lstStyle/>
          <a:p>
            <a:pPr marL="0" indent="0">
              <a:buNone/>
            </a:pPr>
            <a:r>
              <a:rPr lang="en-US" sz="1150" dirty="0">
                <a:solidFill>
                  <a:srgbClr val="C7C9E6"/>
                </a:solidFill>
                <a:latin typeface="Courier New" pitchFamily="34" charset="0"/>
                <a:ea typeface="Courier New" pitchFamily="34" charset="-122"/>
                <a:cs typeface="Courier New" pitchFamily="34" charset="-120"/>
              </a:rPr>
              <a:t>—</a:t>
            </a:r>
            <a:endParaRPr lang="en-US" sz="1150" dirty="0"/>
          </a:p>
        </p:txBody>
      </p:sp>
      <p:sp>
        <p:nvSpPr>
          <p:cNvPr id="87" name="Text 85"/>
          <p:cNvSpPr txBox="1"/>
          <p:nvPr/>
        </p:nvSpPr>
        <p:spPr>
          <a:xfrm>
            <a:off x="566928" y="5248656"/>
            <a:ext cx="11045952" cy="164592"/>
          </a:xfrm>
          <a:prstGeom prst="rect">
            <a:avLst/>
          </a:prstGeom>
          <a:noFill/>
          <a:ln/>
        </p:spPr>
        <p:txBody>
          <a:bodyPr wrap="square" lIns="0" tIns="0" rIns="0" bIns="0" rtlCol="0" anchor="ctr"/>
          <a:lstStyle/>
          <a:p>
            <a:pPr marL="0" indent="0">
              <a:buNone/>
            </a:pPr>
            <a:r>
              <a:rPr lang="en-US" sz="900" b="1" dirty="0">
                <a:solidFill>
                  <a:srgbClr val="E9970B"/>
                </a:solidFill>
                <a:latin typeface="Calibri" pitchFamily="34" charset="0"/>
                <a:ea typeface="Calibri" pitchFamily="34" charset="-122"/>
                <a:cs typeface="Calibri" pitchFamily="34" charset="-120"/>
              </a:rPr>
              <a:t>TẦNG 4 · THAM KHẢO — CHỈ KHI TỰ CHẠY LẠI CÙNG MÔ HÌNH NỀN</a:t>
            </a:r>
            <a:endParaRPr lang="en-US" sz="900" dirty="0"/>
          </a:p>
        </p:txBody>
      </p:sp>
      <p:sp>
        <p:nvSpPr>
          <p:cNvPr id="88" name="Shape 86"/>
          <p:cNvSpPr/>
          <p:nvPr/>
        </p:nvSpPr>
        <p:spPr>
          <a:xfrm>
            <a:off x="566928" y="5431536"/>
            <a:ext cx="11045952" cy="329184"/>
          </a:xfrm>
          <a:prstGeom prst="roundRect">
            <a:avLst>
              <a:gd name="adj" fmla="val 13889"/>
            </a:avLst>
          </a:prstGeom>
          <a:solidFill>
            <a:srgbClr val="F7F7FB"/>
          </a:solidFill>
          <a:ln w="12700">
            <a:solidFill>
              <a:srgbClr val="F7F7FB"/>
            </a:solidFill>
            <a:prstDash val="solid"/>
          </a:ln>
        </p:spPr>
        <p:txBody>
          <a:bodyPr/>
          <a:lstStyle/>
          <a:p>
            <a:endParaRPr lang="en-US"/>
          </a:p>
        </p:txBody>
      </p:sp>
      <p:sp>
        <p:nvSpPr>
          <p:cNvPr id="89" name="Text 87"/>
          <p:cNvSpPr txBox="1"/>
          <p:nvPr/>
        </p:nvSpPr>
        <p:spPr>
          <a:xfrm>
            <a:off x="749808" y="5495544"/>
            <a:ext cx="2286000" cy="219456"/>
          </a:xfrm>
          <a:prstGeom prst="rect">
            <a:avLst/>
          </a:prstGeom>
          <a:noFill/>
          <a:ln/>
        </p:spPr>
        <p:txBody>
          <a:bodyPr wrap="square" lIns="0" tIns="0" rIns="0" bIns="0" rtlCol="0" anchor="ctr"/>
          <a:lstStyle/>
          <a:p>
            <a:pPr marL="0" indent="0">
              <a:buNone/>
            </a:pPr>
            <a:r>
              <a:rPr lang="en-US" sz="1150" b="1" dirty="0">
                <a:solidFill>
                  <a:srgbClr val="13123A"/>
                </a:solidFill>
                <a:latin typeface="Courier New" pitchFamily="34" charset="0"/>
                <a:ea typeface="Courier New" pitchFamily="34" charset="-122"/>
                <a:cs typeface="Courier New" pitchFamily="34" charset="-120"/>
              </a:rPr>
              <a:t>mem0</a:t>
            </a:r>
            <a:endParaRPr lang="en-US" sz="1150" dirty="0"/>
          </a:p>
        </p:txBody>
      </p:sp>
      <p:sp>
        <p:nvSpPr>
          <p:cNvPr id="90" name="Text 88"/>
          <p:cNvSpPr txBox="1"/>
          <p:nvPr/>
        </p:nvSpPr>
        <p:spPr>
          <a:xfrm>
            <a:off x="3200400"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1" name="Text 89"/>
          <p:cNvSpPr txBox="1"/>
          <p:nvPr/>
        </p:nvSpPr>
        <p:spPr>
          <a:xfrm>
            <a:off x="4370832"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2" name="Text 90"/>
          <p:cNvSpPr txBox="1"/>
          <p:nvPr/>
        </p:nvSpPr>
        <p:spPr>
          <a:xfrm>
            <a:off x="5541264"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3" name="Text 91"/>
          <p:cNvSpPr txBox="1"/>
          <p:nvPr/>
        </p:nvSpPr>
        <p:spPr>
          <a:xfrm>
            <a:off x="6711696"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4" name="Text 92"/>
          <p:cNvSpPr txBox="1"/>
          <p:nvPr/>
        </p:nvSpPr>
        <p:spPr>
          <a:xfrm>
            <a:off x="7882128"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5" name="Text 93"/>
          <p:cNvSpPr txBox="1"/>
          <p:nvPr/>
        </p:nvSpPr>
        <p:spPr>
          <a:xfrm>
            <a:off x="9052560"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6" name="Text 94"/>
          <p:cNvSpPr txBox="1"/>
          <p:nvPr/>
        </p:nvSpPr>
        <p:spPr>
          <a:xfrm>
            <a:off x="10222992" y="5495544"/>
            <a:ext cx="1005840" cy="219456"/>
          </a:xfrm>
          <a:prstGeom prst="rect">
            <a:avLst/>
          </a:prstGeom>
          <a:noFill/>
          <a:ln/>
        </p:spPr>
        <p:txBody>
          <a:bodyPr wrap="square" lIns="0" tIns="0" rIns="0" bIns="0" rtlCol="0" anchor="ctr"/>
          <a:lstStyle/>
          <a:p>
            <a:pPr marL="0" indent="0">
              <a:buNone/>
            </a:pPr>
            <a:r>
              <a:rPr lang="en-US" sz="1150" dirty="0">
                <a:solidFill>
                  <a:srgbClr val="6A6E85"/>
                </a:solidFill>
                <a:latin typeface="Courier New" pitchFamily="34" charset="0"/>
                <a:ea typeface="Courier New" pitchFamily="34" charset="-122"/>
                <a:cs typeface="Courier New" pitchFamily="34" charset="-120"/>
              </a:rPr>
              <a:t>—</a:t>
            </a:r>
            <a:endParaRPr lang="en-US" sz="1150" dirty="0"/>
          </a:p>
        </p:txBody>
      </p:sp>
      <p:sp>
        <p:nvSpPr>
          <p:cNvPr id="97" name="Text 95"/>
          <p:cNvSpPr txBox="1"/>
          <p:nvPr/>
        </p:nvSpPr>
        <p:spPr>
          <a:xfrm>
            <a:off x="566928" y="5888736"/>
            <a:ext cx="11045952" cy="438912"/>
          </a:xfrm>
          <a:prstGeom prst="rect">
            <a:avLst/>
          </a:prstGeom>
          <a:noFill/>
          <a:ln/>
        </p:spPr>
        <p:txBody>
          <a:bodyPr wrap="square" lIns="0" tIns="0" rIns="0" bIns="0" rtlCol="0" anchor="ctr"/>
          <a:lstStyle/>
          <a:p>
            <a:pPr marL="0" indent="0">
              <a:lnSpc>
                <a:spcPct val="95000"/>
              </a:lnSpc>
              <a:buNone/>
            </a:pPr>
            <a:r>
              <a:rPr lang="en-US" sz="1150" i="1" dirty="0">
                <a:solidFill>
                  <a:srgbClr val="13123A"/>
                </a:solidFill>
                <a:latin typeface="Calibri" pitchFamily="34" charset="0"/>
                <a:ea typeface="Calibri" pitchFamily="34" charset="-122"/>
                <a:cs typeface="Calibri" pitchFamily="34" charset="-120"/>
              </a:rPr>
              <a:t>Mọi ô số sẽ được điền ở tuần 7. Bốn tầng tách nhau bằng nhãn nên nhìn là biết cái nào so được với cái nào. Cột ACC là macro-average theo loại câu hỏi, không phải accuracy gộp — để một loại câu hỏi đông không lấn át bảy loại còn lại.</a:t>
            </a:r>
            <a:endParaRPr lang="en-US" sz="1150" dirty="0"/>
          </a:p>
        </p:txBody>
      </p:sp>
      <p:sp>
        <p:nvSpPr>
          <p:cNvPr id="98" name="Text 96"/>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Viết tắt cột: IE trích xuất · MR đa phiên · TR thời gian · KU cập nhật · PREF sở thích · ABS biết từ chối — theo phân loại câu hỏi của LongMemEval (Wu et al., ICLR 2025).</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KẾ HOẠCH THỰC HIỆN</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Lộ trình 8 tuần — mỗi tuần gắn một nhóm năng lực</a:t>
            </a:r>
            <a:endParaRPr lang="en-US" sz="3000" dirty="0"/>
          </a:p>
        </p:txBody>
      </p:sp>
      <p:sp>
        <p:nvSpPr>
          <p:cNvPr id="4" name="Shape 2"/>
          <p:cNvSpPr/>
          <p:nvPr/>
        </p:nvSpPr>
        <p:spPr>
          <a:xfrm>
            <a:off x="566928" y="1783080"/>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5" name="Shape 3"/>
          <p:cNvSpPr/>
          <p:nvPr/>
        </p:nvSpPr>
        <p:spPr>
          <a:xfrm>
            <a:off x="749808" y="1965960"/>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6" name="Text 4"/>
          <p:cNvSpPr txBox="1"/>
          <p:nvPr/>
        </p:nvSpPr>
        <p:spPr>
          <a:xfrm>
            <a:off x="749808" y="1965960"/>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1</a:t>
            </a:r>
            <a:endParaRPr lang="en-US" sz="1400" dirty="0"/>
          </a:p>
        </p:txBody>
      </p:sp>
      <p:sp>
        <p:nvSpPr>
          <p:cNvPr id="7" name="Text 5"/>
          <p:cNvSpPr txBox="1"/>
          <p:nvPr/>
        </p:nvSpPr>
        <p:spPr>
          <a:xfrm>
            <a:off x="1865376" y="1901952"/>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Nghiên cứu nền tảng &amp; khảo sát liên quan; đặt vấn đề, phạm vi.</a:t>
            </a:r>
            <a:endParaRPr lang="en-US" sz="1180" dirty="0"/>
          </a:p>
        </p:txBody>
      </p:sp>
      <p:sp>
        <p:nvSpPr>
          <p:cNvPr id="8" name="Shape 6"/>
          <p:cNvSpPr/>
          <p:nvPr/>
        </p:nvSpPr>
        <p:spPr>
          <a:xfrm>
            <a:off x="566928" y="2807208"/>
            <a:ext cx="5340096" cy="932688"/>
          </a:xfrm>
          <a:prstGeom prst="roundRect">
            <a:avLst>
              <a:gd name="adj" fmla="val 4902"/>
            </a:avLst>
          </a:prstGeom>
          <a:solidFill>
            <a:srgbClr val="13123A"/>
          </a:solidFill>
          <a:ln w="12700">
            <a:solidFill>
              <a:srgbClr val="13123A"/>
            </a:solidFill>
            <a:prstDash val="solid"/>
          </a:ln>
        </p:spPr>
        <p:txBody>
          <a:bodyPr/>
          <a:lstStyle/>
          <a:p>
            <a:endParaRPr lang="en-US"/>
          </a:p>
        </p:txBody>
      </p:sp>
      <p:sp>
        <p:nvSpPr>
          <p:cNvPr id="9" name="Shape 7"/>
          <p:cNvSpPr/>
          <p:nvPr/>
        </p:nvSpPr>
        <p:spPr>
          <a:xfrm>
            <a:off x="749808" y="2990088"/>
            <a:ext cx="960120" cy="566928"/>
          </a:xfrm>
          <a:prstGeom prst="roundRect">
            <a:avLst>
              <a:gd name="adj" fmla="val 12903"/>
            </a:avLst>
          </a:prstGeom>
          <a:solidFill>
            <a:srgbClr val="E9970B"/>
          </a:solidFill>
          <a:ln w="12700">
            <a:solidFill>
              <a:srgbClr val="E9970B"/>
            </a:solidFill>
            <a:prstDash val="solid"/>
          </a:ln>
        </p:spPr>
        <p:txBody>
          <a:bodyPr/>
          <a:lstStyle/>
          <a:p>
            <a:endParaRPr lang="en-US"/>
          </a:p>
        </p:txBody>
      </p:sp>
      <p:sp>
        <p:nvSpPr>
          <p:cNvPr id="10" name="Text 8"/>
          <p:cNvSpPr txBox="1"/>
          <p:nvPr/>
        </p:nvSpPr>
        <p:spPr>
          <a:xfrm>
            <a:off x="749808" y="2990088"/>
            <a:ext cx="960120" cy="566928"/>
          </a:xfrm>
          <a:prstGeom prst="rect">
            <a:avLst/>
          </a:prstGeom>
          <a:noFill/>
          <a:ln/>
        </p:spPr>
        <p:txBody>
          <a:bodyPr wrap="square" lIns="0" tIns="0" rIns="0" bIns="0" rtlCol="0" anchor="ctr"/>
          <a:lstStyle/>
          <a:p>
            <a:pPr marL="0" indent="0" algn="ctr">
              <a:buNone/>
            </a:pPr>
            <a:r>
              <a:rPr lang="en-US" sz="1400" b="1" dirty="0">
                <a:solidFill>
                  <a:srgbClr val="13123A"/>
                </a:solidFill>
                <a:latin typeface="Calibri" pitchFamily="34" charset="0"/>
                <a:ea typeface="Calibri" pitchFamily="34" charset="-122"/>
                <a:cs typeface="Calibri" pitchFamily="34" charset="-120"/>
              </a:rPr>
              <a:t>Tuần 2</a:t>
            </a:r>
            <a:endParaRPr lang="en-US" sz="1400" dirty="0"/>
          </a:p>
        </p:txBody>
      </p:sp>
      <p:sp>
        <p:nvSpPr>
          <p:cNvPr id="11" name="Text 9"/>
          <p:cNvSpPr txBox="1"/>
          <p:nvPr/>
        </p:nvSpPr>
        <p:spPr>
          <a:xfrm>
            <a:off x="1865376" y="2926080"/>
            <a:ext cx="2788920" cy="731520"/>
          </a:xfrm>
          <a:prstGeom prst="rect">
            <a:avLst/>
          </a:prstGeom>
          <a:noFill/>
          <a:ln/>
        </p:spPr>
        <p:txBody>
          <a:bodyPr wrap="square" lIns="0" tIns="0" rIns="0" bIns="0" rtlCol="0" anchor="ctr"/>
          <a:lstStyle/>
          <a:p>
            <a:pPr marL="0" indent="0">
              <a:lnSpc>
                <a:spcPct val="95000"/>
              </a:lnSpc>
              <a:buNone/>
            </a:pPr>
            <a:r>
              <a:rPr lang="en-US" sz="1180" dirty="0">
                <a:solidFill>
                  <a:srgbClr val="E7E8FB"/>
                </a:solidFill>
                <a:latin typeface="Calibri" pitchFamily="34" charset="0"/>
                <a:ea typeface="Calibri" pitchFamily="34" charset="-122"/>
                <a:cs typeface="Calibri" pitchFamily="34" charset="-120"/>
              </a:rPr>
              <a:t>Rà soát benchmark; </a:t>
            </a:r>
            <a:r>
              <a:rPr lang="en-US" sz="1180" dirty="0" err="1">
                <a:solidFill>
                  <a:srgbClr val="E7E8FB"/>
                </a:solidFill>
                <a:latin typeface="Calibri" pitchFamily="34" charset="0"/>
                <a:ea typeface="Calibri" pitchFamily="34" charset="-122"/>
                <a:cs typeface="Calibri" pitchFamily="34" charset="-120"/>
              </a:rPr>
              <a:t>khung</a:t>
            </a:r>
            <a:r>
              <a:rPr lang="en-US" sz="1180" dirty="0">
                <a:solidFill>
                  <a:srgbClr val="E7E8FB"/>
                </a:solidFill>
                <a:latin typeface="Calibri" pitchFamily="34" charset="0"/>
                <a:ea typeface="Calibri" pitchFamily="34" charset="-122"/>
                <a:cs typeface="Calibri" pitchFamily="34" charset="-120"/>
              </a:rPr>
              <a:t> 8 năng lực; kiến trúc phân lớp; chốt công nghệ.</a:t>
            </a:r>
            <a:endParaRPr lang="en-US" sz="1180" dirty="0"/>
          </a:p>
        </p:txBody>
      </p:sp>
      <p:sp>
        <p:nvSpPr>
          <p:cNvPr id="12" name="Text 10"/>
          <p:cNvSpPr txBox="1"/>
          <p:nvPr/>
        </p:nvSpPr>
        <p:spPr>
          <a:xfrm>
            <a:off x="4727448" y="3136392"/>
            <a:ext cx="1078992" cy="274320"/>
          </a:xfrm>
          <a:prstGeom prst="rect">
            <a:avLst/>
          </a:prstGeom>
          <a:noFill/>
          <a:ln/>
        </p:spPr>
        <p:txBody>
          <a:bodyPr wrap="square" lIns="0" tIns="0" rIns="0" bIns="0" rtlCol="0" anchor="ctr"/>
          <a:lstStyle/>
          <a:p>
            <a:pPr marL="0" indent="0">
              <a:buNone/>
            </a:pPr>
            <a:r>
              <a:rPr lang="en-US" sz="950" b="1" dirty="0">
                <a:solidFill>
                  <a:srgbClr val="E9970B"/>
                </a:solidFill>
                <a:latin typeface="Calibri" pitchFamily="34" charset="0"/>
                <a:ea typeface="Calibri" pitchFamily="34" charset="-122"/>
                <a:cs typeface="Calibri" pitchFamily="34" charset="-120"/>
              </a:rPr>
              <a:t>◀ đang ở đây</a:t>
            </a:r>
            <a:endParaRPr lang="en-US" sz="950" dirty="0"/>
          </a:p>
        </p:txBody>
      </p:sp>
      <p:sp>
        <p:nvSpPr>
          <p:cNvPr id="13" name="Shape 11"/>
          <p:cNvSpPr/>
          <p:nvPr/>
        </p:nvSpPr>
        <p:spPr>
          <a:xfrm>
            <a:off x="566928" y="3831336"/>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4" name="Shape 12"/>
          <p:cNvSpPr/>
          <p:nvPr/>
        </p:nvSpPr>
        <p:spPr>
          <a:xfrm>
            <a:off x="749808" y="4014216"/>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5" name="Text 13"/>
          <p:cNvSpPr txBox="1"/>
          <p:nvPr/>
        </p:nvSpPr>
        <p:spPr>
          <a:xfrm>
            <a:off x="749808" y="4014216"/>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3</a:t>
            </a:r>
            <a:endParaRPr lang="en-US" sz="1400" dirty="0"/>
          </a:p>
        </p:txBody>
      </p:sp>
      <p:sp>
        <p:nvSpPr>
          <p:cNvPr id="16" name="Text 14"/>
          <p:cNvSpPr txBox="1"/>
          <p:nvPr/>
        </p:nvSpPr>
        <p:spPr>
          <a:xfrm>
            <a:off x="1865376" y="3950208"/>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Sổ cái SQLite + chỉ mục dense; chạy đầu–cuối; dựng nhật ký vết.</a:t>
            </a:r>
            <a:endParaRPr lang="en-US" sz="1180" dirty="0"/>
          </a:p>
        </p:txBody>
      </p:sp>
      <p:sp>
        <p:nvSpPr>
          <p:cNvPr id="17" name="Shape 15"/>
          <p:cNvSpPr/>
          <p:nvPr/>
        </p:nvSpPr>
        <p:spPr>
          <a:xfrm>
            <a:off x="566928" y="4855464"/>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8" name="Shape 16"/>
          <p:cNvSpPr/>
          <p:nvPr/>
        </p:nvSpPr>
        <p:spPr>
          <a:xfrm>
            <a:off x="749808" y="5038344"/>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9" name="Text 17"/>
          <p:cNvSpPr txBox="1"/>
          <p:nvPr/>
        </p:nvSpPr>
        <p:spPr>
          <a:xfrm>
            <a:off x="749808" y="5038344"/>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4</a:t>
            </a:r>
            <a:endParaRPr lang="en-US" sz="1400" dirty="0"/>
          </a:p>
        </p:txBody>
      </p:sp>
      <p:sp>
        <p:nvSpPr>
          <p:cNvPr id="20" name="Text 18"/>
          <p:cNvSpPr txBox="1"/>
          <p:nvPr/>
        </p:nvSpPr>
        <p:spPr>
          <a:xfrm>
            <a:off x="1865376" y="4974336"/>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Slot + seq; ADD/UPDATE/DELETE/NOOP/CONFLICT; cổng nguồn gốc pending.</a:t>
            </a:r>
            <a:endParaRPr lang="en-US" sz="1180" dirty="0"/>
          </a:p>
        </p:txBody>
      </p:sp>
      <p:sp>
        <p:nvSpPr>
          <p:cNvPr id="21" name="Shape 19"/>
          <p:cNvSpPr/>
          <p:nvPr/>
        </p:nvSpPr>
        <p:spPr>
          <a:xfrm>
            <a:off x="6281928" y="1783080"/>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22" name="Shape 20"/>
          <p:cNvSpPr/>
          <p:nvPr/>
        </p:nvSpPr>
        <p:spPr>
          <a:xfrm>
            <a:off x="6464808" y="1965960"/>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23" name="Text 21"/>
          <p:cNvSpPr txBox="1"/>
          <p:nvPr/>
        </p:nvSpPr>
        <p:spPr>
          <a:xfrm>
            <a:off x="6464808" y="1965960"/>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5</a:t>
            </a:r>
            <a:endParaRPr lang="en-US" sz="1400" dirty="0"/>
          </a:p>
        </p:txBody>
      </p:sp>
      <p:sp>
        <p:nvSpPr>
          <p:cNvPr id="24" name="Text 22"/>
          <p:cNvSpPr txBox="1"/>
          <p:nvPr/>
        </p:nvSpPr>
        <p:spPr>
          <a:xfrm>
            <a:off x="7580376" y="1901952"/>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BM25 + hợp nhất RRF; tách truy vấn con; khoảng hiệu lực; ký ức pinned.</a:t>
            </a:r>
            <a:endParaRPr lang="en-US" sz="1180" dirty="0"/>
          </a:p>
        </p:txBody>
      </p:sp>
      <p:sp>
        <p:nvSpPr>
          <p:cNvPr id="25" name="Shape 23"/>
          <p:cNvSpPr/>
          <p:nvPr/>
        </p:nvSpPr>
        <p:spPr>
          <a:xfrm>
            <a:off x="6281928" y="2807208"/>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26" name="Shape 24"/>
          <p:cNvSpPr/>
          <p:nvPr/>
        </p:nvSpPr>
        <p:spPr>
          <a:xfrm>
            <a:off x="6464808" y="2990088"/>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27" name="Text 25"/>
          <p:cNvSpPr txBox="1"/>
          <p:nvPr/>
        </p:nvSpPr>
        <p:spPr>
          <a:xfrm>
            <a:off x="6464808" y="2990088"/>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6</a:t>
            </a:r>
            <a:endParaRPr lang="en-US" sz="1400" dirty="0"/>
          </a:p>
        </p:txBody>
      </p:sp>
      <p:sp>
        <p:nvSpPr>
          <p:cNvPr id="28" name="Text 26"/>
          <p:cNvSpPr txBox="1"/>
          <p:nvPr/>
        </p:nvSpPr>
        <p:spPr>
          <a:xfrm>
            <a:off x="7580376" y="2926080"/>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Reranker; hiệu chỉnh ngưỡng từ chối; tóm tắt phiên; bộ test tiếng Việt.</a:t>
            </a:r>
            <a:endParaRPr lang="en-US" sz="1180" dirty="0"/>
          </a:p>
        </p:txBody>
      </p:sp>
      <p:sp>
        <p:nvSpPr>
          <p:cNvPr id="29" name="Shape 27"/>
          <p:cNvSpPr/>
          <p:nvPr/>
        </p:nvSpPr>
        <p:spPr>
          <a:xfrm>
            <a:off x="6281928" y="3831336"/>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30" name="Shape 28"/>
          <p:cNvSpPr/>
          <p:nvPr/>
        </p:nvSpPr>
        <p:spPr>
          <a:xfrm>
            <a:off x="6464808" y="4014216"/>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31" name="Text 29"/>
          <p:cNvSpPr txBox="1"/>
          <p:nvPr/>
        </p:nvSpPr>
        <p:spPr>
          <a:xfrm>
            <a:off x="6464808" y="4014216"/>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7</a:t>
            </a:r>
            <a:endParaRPr lang="en-US" sz="1400" dirty="0"/>
          </a:p>
        </p:txBody>
      </p:sp>
      <p:sp>
        <p:nvSpPr>
          <p:cNvPr id="32" name="Text 30"/>
          <p:cNvSpPr txBox="1"/>
          <p:nvPr/>
        </p:nvSpPr>
        <p:spPr>
          <a:xfrm>
            <a:off x="7580376" y="3950208"/>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Chạy 5 cấu hình × 3 trục; phân tích lỗi từ nhật ký vết; tối ưu; demo.</a:t>
            </a:r>
            <a:endParaRPr lang="en-US" sz="1180" dirty="0"/>
          </a:p>
        </p:txBody>
      </p:sp>
      <p:sp>
        <p:nvSpPr>
          <p:cNvPr id="33" name="Shape 31"/>
          <p:cNvSpPr/>
          <p:nvPr/>
        </p:nvSpPr>
        <p:spPr>
          <a:xfrm>
            <a:off x="6281928" y="4855464"/>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34" name="Shape 32"/>
          <p:cNvSpPr/>
          <p:nvPr/>
        </p:nvSpPr>
        <p:spPr>
          <a:xfrm>
            <a:off x="6464808" y="5038344"/>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35" name="Text 33"/>
          <p:cNvSpPr txBox="1"/>
          <p:nvPr/>
        </p:nvSpPr>
        <p:spPr>
          <a:xfrm>
            <a:off x="6464808" y="5038344"/>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8</a:t>
            </a:r>
            <a:endParaRPr lang="en-US" sz="1400" dirty="0"/>
          </a:p>
        </p:txBody>
      </p:sp>
      <p:sp>
        <p:nvSpPr>
          <p:cNvPr id="36" name="Text 34"/>
          <p:cNvSpPr txBox="1"/>
          <p:nvPr/>
        </p:nvSpPr>
        <p:spPr>
          <a:xfrm>
            <a:off x="7580376" y="4974336"/>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Viết báo cáo &amp; tài liệu; đóng gói mã nguồn; chuẩn bị trình bày cuối.</a:t>
            </a:r>
            <a:endParaRPr lang="en-US" sz="1180" dirty="0"/>
          </a:p>
        </p:txBody>
      </p:sp>
      <p:sp>
        <p:nvSpPr>
          <p:cNvPr id="37" name="Text 35"/>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Lộ trình do nhóm tự lập, đã điều chỉnh sau phản hồi tuần 1 để mỗi năng lực có một tuần chịu trách nhiệm. Tài liệu thiết kế có bảng cốt lõi / nên có / mở rộng định sẵn thứ tự cắt nếu thiếu thời gian.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TIẾN ĐỘ</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Đã xong tuần 2 · Việc tuần 3</a:t>
            </a:r>
            <a:endParaRPr lang="en-US" sz="3000" dirty="0"/>
          </a:p>
        </p:txBody>
      </p:sp>
      <p:sp>
        <p:nvSpPr>
          <p:cNvPr id="4" name="Shape 2"/>
          <p:cNvSpPr/>
          <p:nvPr/>
        </p:nvSpPr>
        <p:spPr>
          <a:xfrm>
            <a:off x="566928" y="1673352"/>
            <a:ext cx="5358384" cy="3931920"/>
          </a:xfrm>
          <a:prstGeom prst="roundRect">
            <a:avLst>
              <a:gd name="adj" fmla="val 1163"/>
            </a:avLst>
          </a:prstGeom>
          <a:solidFill>
            <a:srgbClr val="ECEBF7"/>
          </a:solidFill>
          <a:ln w="12700">
            <a:solidFill>
              <a:srgbClr val="ECEBF7"/>
            </a:solidFill>
            <a:prstDash val="solid"/>
          </a:ln>
        </p:spPr>
        <p:txBody>
          <a:bodyPr/>
          <a:lstStyle/>
          <a:p>
            <a:endParaRPr lang="en-US"/>
          </a:p>
        </p:txBody>
      </p:sp>
      <p:sp>
        <p:nvSpPr>
          <p:cNvPr id="5" name="Text 3"/>
          <p:cNvSpPr txBox="1"/>
          <p:nvPr/>
        </p:nvSpPr>
        <p:spPr>
          <a:xfrm>
            <a:off x="822960" y="1874520"/>
            <a:ext cx="4846320" cy="237744"/>
          </a:xfrm>
          <a:prstGeom prst="rect">
            <a:avLst/>
          </a:prstGeom>
          <a:noFill/>
          <a:ln/>
        </p:spPr>
        <p:txBody>
          <a:bodyPr wrap="square" lIns="0" tIns="0" rIns="0" bIns="0" rtlCol="0" anchor="ctr"/>
          <a:lstStyle/>
          <a:p>
            <a:pPr marL="0" indent="0">
              <a:buNone/>
            </a:pPr>
            <a:r>
              <a:rPr lang="en-US" sz="1100" b="1" dirty="0">
                <a:solidFill>
                  <a:srgbClr val="3A36A0"/>
                </a:solidFill>
                <a:latin typeface="Calibri" pitchFamily="34" charset="0"/>
                <a:ea typeface="Calibri" pitchFamily="34" charset="-122"/>
                <a:cs typeface="Calibri" pitchFamily="34" charset="-120"/>
              </a:rPr>
              <a:t>ĐÃ XONG — TUẦN 2</a:t>
            </a:r>
            <a:endParaRPr lang="en-US" sz="1100" dirty="0"/>
          </a:p>
        </p:txBody>
      </p:sp>
      <p:sp>
        <p:nvSpPr>
          <p:cNvPr id="6" name="Text 4"/>
          <p:cNvSpPr txBox="1"/>
          <p:nvPr/>
        </p:nvSpPr>
        <p:spPr>
          <a:xfrm>
            <a:off x="822960" y="2176272"/>
            <a:ext cx="4846320" cy="3291840"/>
          </a:xfrm>
          <a:prstGeom prst="rect">
            <a:avLst/>
          </a:prstGeom>
          <a:noFill/>
          <a:ln/>
        </p:spPr>
        <p:txBody>
          <a:bodyPr wrap="square" lIns="0" tIns="0" rIns="0" bIns="0" rtlCol="0" anchor="t"/>
          <a:lstStyle/>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Rà soát lại cả bốn benchmark theo phản hồi của thầy/cô</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Khung tám năng lực, mỗi năng lực gắn một thành phần và một tuần</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Kiến trúc phân lớp; </a:t>
            </a:r>
            <a:r>
              <a:rPr lang="en-US" sz="1250" dirty="0" err="1">
                <a:solidFill>
                  <a:srgbClr val="4A4E63"/>
                </a:solidFill>
                <a:latin typeface="Calibri" pitchFamily="34" charset="0"/>
                <a:ea typeface="Calibri" pitchFamily="34" charset="-122"/>
                <a:cs typeface="Calibri" pitchFamily="34" charset="-120"/>
              </a:rPr>
              <a:t>tách</a:t>
            </a:r>
            <a:r>
              <a:rPr lang="en-US" sz="1250" dirty="0">
                <a:solidFill>
                  <a:srgbClr val="4A4E63"/>
                </a:solidFill>
                <a:latin typeface="Calibri" pitchFamily="34" charset="0"/>
                <a:ea typeface="Calibri" pitchFamily="34" charset="-122"/>
                <a:cs typeface="Calibri" pitchFamily="34" charset="-120"/>
              </a:rPr>
              <a:t> data SQLite khỏi chỉ mục vector</a:t>
            </a:r>
            <a:endParaRPr lang="en-US" sz="1250" dirty="0"/>
          </a:p>
          <a:p>
            <a:pPr marL="342900" indent="-342900">
              <a:lnSpc>
                <a:spcPct val="95000"/>
              </a:lnSpc>
              <a:spcAft>
                <a:spcPts val="700"/>
              </a:spcAft>
              <a:buSzPct val="100000"/>
              <a:buChar char="•"/>
            </a:pPr>
            <a:r>
              <a:rPr lang="en-US" sz="1250" dirty="0" err="1">
                <a:solidFill>
                  <a:srgbClr val="4A4E63"/>
                </a:solidFill>
                <a:latin typeface="Calibri" pitchFamily="34" charset="0"/>
                <a:ea typeface="Calibri" pitchFamily="34" charset="-122"/>
                <a:cs typeface="Calibri" pitchFamily="34" charset="-120"/>
              </a:rPr>
              <a:t>Đường</a:t>
            </a:r>
            <a:r>
              <a:rPr lang="en-US" sz="1250" dirty="0">
                <a:solidFill>
                  <a:srgbClr val="4A4E63"/>
                </a:solidFill>
                <a:latin typeface="Calibri" pitchFamily="34" charset="0"/>
                <a:ea typeface="Calibri" pitchFamily="34" charset="-122"/>
                <a:cs typeface="Calibri" pitchFamily="34" charset="-120"/>
              </a:rPr>
              <a:t> truy xuất lai: dense + BM25, hợp nhất RRF, xếp lại bằng cross-encoder</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Cổng nguồn gốc pending để chống ảo giác tự củng cố</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Chốt công nghệ miễn phí và năm cấu hình đối chứng</a:t>
            </a:r>
            <a:endParaRPr lang="en-US" sz="1250" dirty="0"/>
          </a:p>
        </p:txBody>
      </p:sp>
      <p:sp>
        <p:nvSpPr>
          <p:cNvPr id="7" name="Shape 5"/>
          <p:cNvSpPr/>
          <p:nvPr/>
        </p:nvSpPr>
        <p:spPr>
          <a:xfrm>
            <a:off x="6254496" y="1673352"/>
            <a:ext cx="5358384" cy="3931920"/>
          </a:xfrm>
          <a:prstGeom prst="roundRect">
            <a:avLst>
              <a:gd name="adj" fmla="val 1163"/>
            </a:avLst>
          </a:prstGeom>
          <a:solidFill>
            <a:srgbClr val="F7F7FB"/>
          </a:solidFill>
          <a:ln w="12700">
            <a:solidFill>
              <a:srgbClr val="F7F7FB"/>
            </a:solidFill>
            <a:prstDash val="solid"/>
          </a:ln>
        </p:spPr>
        <p:txBody>
          <a:bodyPr/>
          <a:lstStyle/>
          <a:p>
            <a:endParaRPr lang="en-US"/>
          </a:p>
        </p:txBody>
      </p:sp>
      <p:sp>
        <p:nvSpPr>
          <p:cNvPr id="8" name="Text 6"/>
          <p:cNvSpPr txBox="1"/>
          <p:nvPr/>
        </p:nvSpPr>
        <p:spPr>
          <a:xfrm>
            <a:off x="6510528" y="1874520"/>
            <a:ext cx="4846320" cy="237744"/>
          </a:xfrm>
          <a:prstGeom prst="rect">
            <a:avLst/>
          </a:prstGeom>
          <a:noFill/>
          <a:ln/>
        </p:spPr>
        <p:txBody>
          <a:bodyPr wrap="square" lIns="0" tIns="0" rIns="0" bIns="0" rtlCol="0" anchor="ctr"/>
          <a:lstStyle/>
          <a:p>
            <a:pPr marL="0" indent="0">
              <a:buNone/>
            </a:pPr>
            <a:r>
              <a:rPr lang="en-US" sz="1100" b="1" dirty="0">
                <a:solidFill>
                  <a:srgbClr val="E9970B"/>
                </a:solidFill>
                <a:latin typeface="Calibri" pitchFamily="34" charset="0"/>
                <a:ea typeface="Calibri" pitchFamily="34" charset="-122"/>
                <a:cs typeface="Calibri" pitchFamily="34" charset="-120"/>
              </a:rPr>
              <a:t>VIỆC TUẦN 3</a:t>
            </a:r>
            <a:endParaRPr lang="en-US" sz="1100" dirty="0"/>
          </a:p>
        </p:txBody>
      </p:sp>
      <p:sp>
        <p:nvSpPr>
          <p:cNvPr id="9" name="Text 7"/>
          <p:cNvSpPr txBox="1"/>
          <p:nvPr/>
        </p:nvSpPr>
        <p:spPr>
          <a:xfrm>
            <a:off x="6510528" y="2176272"/>
            <a:ext cx="4846320" cy="3291840"/>
          </a:xfrm>
          <a:prstGeom prst="rect">
            <a:avLst/>
          </a:prstGeom>
          <a:noFill/>
          <a:ln/>
        </p:spPr>
        <p:txBody>
          <a:bodyPr wrap="square" lIns="0" tIns="0" rIns="0" bIns="0" rtlCol="0" anchor="t"/>
          <a:lstStyle/>
          <a:p>
            <a:pPr marL="342900" indent="-342900">
              <a:lnSpc>
                <a:spcPct val="95000"/>
              </a:lnSpc>
              <a:spcAft>
                <a:spcPts val="700"/>
              </a:spcAft>
              <a:buSzPct val="100000"/>
              <a:buChar char="•"/>
            </a:pPr>
            <a:r>
              <a:rPr lang="en-US" sz="1250" dirty="0" err="1">
                <a:solidFill>
                  <a:srgbClr val="4A4E63"/>
                </a:solidFill>
                <a:latin typeface="Calibri" pitchFamily="34" charset="0"/>
                <a:ea typeface="Calibri" pitchFamily="34" charset="-122"/>
                <a:cs typeface="Calibri" pitchFamily="34" charset="-120"/>
              </a:rPr>
              <a:t>Dựng</a:t>
            </a:r>
            <a:r>
              <a:rPr lang="en-US" sz="1250" dirty="0">
                <a:solidFill>
                  <a:srgbClr val="4A4E63"/>
                </a:solidFill>
                <a:latin typeface="Calibri" pitchFamily="34" charset="0"/>
                <a:ea typeface="Calibri" pitchFamily="34" charset="-122"/>
                <a:cs typeface="Calibri" pitchFamily="34" charset="-120"/>
              </a:rPr>
              <a:t> data SQLite và chỉ mục dense; pipeline chạy đầu–cuối</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Nối Gemini gói miễn phí và BGE-M3 chạy local</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Dựng nhật ký vết ngay từ đầu, không để tới tuần 7</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Đo tỉ lệ token Việt / Anh bằng tokenizer thật, đưa số vào báo cáo</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Chạy thử LongMemEval-S, lấy số riêng từng loại câu hỏi</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Cache embedding ra đĩa để chạy lại thí nghiệm không tốn hạn mức</a:t>
            </a:r>
            <a:endParaRPr lang="en-US" sz="1250" dirty="0"/>
          </a:p>
        </p:txBody>
      </p:sp>
      <p:sp>
        <p:nvSpPr>
          <p:cNvPr id="11" name="Text 9"/>
          <p:cNvSpPr txBox="1"/>
          <p:nvPr/>
        </p:nvSpPr>
        <p:spPr>
          <a:xfrm>
            <a:off x="566928" y="6464808"/>
            <a:ext cx="11045952" cy="329184"/>
          </a:xfrm>
          <a:prstGeom prst="rect">
            <a:avLst/>
          </a:prstGeom>
          <a:noFill/>
          <a:ln/>
        </p:spPr>
        <p:txBody>
          <a:bodyPr wrap="square" lIns="0" tIns="0" rIns="0" bIns="0" rtlCol="0" anchor="ctr"/>
          <a:lstStyle/>
          <a:p>
            <a:pPr marL="0" indent="0">
              <a:buNone/>
            </a:pPr>
            <a:r>
              <a:rPr lang="en-US" sz="1050" dirty="0">
                <a:solidFill>
                  <a:srgbClr val="6B6F82"/>
                </a:solidFill>
                <a:latin typeface="Calibri" pitchFamily="34" charset="0"/>
                <a:ea typeface="Calibri" pitchFamily="34" charset="-122"/>
                <a:cs typeface="Calibri" pitchFamily="34" charset="-120"/>
              </a:rPr>
              <a:t>Toàn bộ tài liệu thiết kế đã được đưa lên kho chung của nhóm.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5433</Words>
  <Application>Microsoft Office PowerPoint</Application>
  <PresentationFormat>Widescreen</PresentationFormat>
  <Paragraphs>438</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tuần 2 — Bộ nhớ dài hạn cho LLM Agent</dc:title>
  <dc:subject>PptxGenJS Presentation</dc:subject>
  <dc:creator>Nhóm đồ án</dc:creator>
  <cp:lastModifiedBy>Phong Đặng Tuấn</cp:lastModifiedBy>
  <cp:revision>11</cp:revision>
  <dcterms:created xsi:type="dcterms:W3CDTF">2026-09-15T11:16:50Z</dcterms:created>
  <dcterms:modified xsi:type="dcterms:W3CDTF">2026-09-20T20:15:29Z</dcterms:modified>
</cp:coreProperties>
</file>