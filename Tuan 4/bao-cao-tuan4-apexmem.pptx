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A32"/>
                </a:solidFill>
                <a:latin typeface="Arial"/>
              </a:defRPr>
            </a:pPr>
            <a:r>
              <a:rPr sz="1200" b="0" i="0" u="none" strike="noStrike">
                <a:solidFill>
                  <a:srgbClr val="1E2A32"/>
                </a:solidFill>
                <a:latin typeface="Arial"/>
              </a:rPr>
              <a:t>Accuracy theo loại câu hỏi (%)</a:t>
            </a:r>
          </a:p>
        </c:rich>
      </c:tx>
      <c:layout/>
      <c:overlay val="0"/>
    </c:title>
    <c:autoTitleDeleted val="0"/>
    <c:plotArea>
      <c:layout/>
      <c:barChart>
        <c:barDir val="bar"/>
        <c:grouping val="clustered"/>
        <c:varyColors val="0"/>
        <c:ser>
          <c:idx val="0"/>
          <c:order val="0"/>
          <c:tx>
            <c:strRef>
              <c:f>Sheet1!$B$1</c:f>
              <c:strCache>
                <c:ptCount val="1"/>
                <c:pt idx="0">
                  <c:v>full — APEX-MEM</c:v>
                </c:pt>
              </c:strCache>
            </c:strRef>
          </c:tx>
          <c:spPr>
            <a:solidFill>
              <a:srgbClr val="0F5C6B"/>
            </a:solidFill>
            <a:effectLst/>
          </c:spPr>
          <c:invertIfNegative val="0"/>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single-session-user (3)</c:v>
                  </c:pt>
                  <c:pt idx="1">
                    <c:v>single-session-assistant (3)</c:v>
                  </c:pt>
                  <c:pt idx="2">
                    <c:v>single-session-preference (2)</c:v>
                  </c:pt>
                  <c:pt idx="3">
                    <c:v>multi-session (7)</c:v>
                  </c:pt>
                  <c:pt idx="4">
                    <c:v>temporal-reasoning (1)</c:v>
                  </c:pt>
                  <c:pt idx="5">
                    <c:v>knowledge-update (4)</c:v>
                  </c:pt>
                </c:lvl>
              </c:multiLvlStrCache>
            </c:multiLvlStrRef>
          </c:cat>
          <c:val>
            <c:numRef>
              <c:f>Sheet1!$B$2:$B$7</c:f>
              <c:numCache>
                <c:formatCode>General</c:formatCode>
                <c:ptCount val="6"/>
                <c:pt idx="0">
                  <c:v>100</c:v>
                </c:pt>
                <c:pt idx="1">
                  <c:v>100</c:v>
                </c:pt>
                <c:pt idx="2">
                  <c:v>100</c:v>
                </c:pt>
                <c:pt idx="3">
                  <c:v>85.7</c:v>
                </c:pt>
                <c:pt idx="4">
                  <c:v>0</c:v>
                </c:pt>
                <c:pt idx="5">
                  <c:v>100</c:v>
                </c:pt>
              </c:numCache>
            </c:numRef>
          </c:val>
        </c:ser>
        <c:ser>
          <c:idx val="1"/>
          <c:order val="1"/>
          <c:tx>
            <c:strRef>
              <c:f>Sheet1!$C$1</c:f>
              <c:strCache>
                <c:ptCount val="1"/>
                <c:pt idx="0">
                  <c:v>simple_search — baseline</c:v>
                </c:pt>
              </c:strCache>
            </c:strRef>
          </c:tx>
          <c:spPr>
            <a:solidFill>
              <a:srgbClr val="D98C1F"/>
            </a:solidFill>
            <a:effectLst/>
          </c:spPr>
          <c:invertIfNegative val="0"/>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single-session-user (3)</c:v>
                  </c:pt>
                  <c:pt idx="1">
                    <c:v>single-session-assistant (3)</c:v>
                  </c:pt>
                  <c:pt idx="2">
                    <c:v>single-session-preference (2)</c:v>
                  </c:pt>
                  <c:pt idx="3">
                    <c:v>multi-session (7)</c:v>
                  </c:pt>
                  <c:pt idx="4">
                    <c:v>temporal-reasoning (1)</c:v>
                  </c:pt>
                  <c:pt idx="5">
                    <c:v>knowledge-update (4)</c:v>
                  </c:pt>
                </c:lvl>
              </c:multiLvlStrCache>
            </c:multiLvlStrRef>
          </c:cat>
          <c:val>
            <c:numRef>
              <c:f>Sheet1!$C$2:$C$7</c:f>
              <c:numCache>
                <c:formatCode>General</c:formatCode>
                <c:ptCount val="6"/>
                <c:pt idx="0">
                  <c:v>100</c:v>
                </c:pt>
                <c:pt idx="1">
                  <c:v>100</c:v>
                </c:pt>
                <c:pt idx="2">
                  <c:v>50</c:v>
                </c:pt>
                <c:pt idx="3">
                  <c:v>85.7</c:v>
                </c:pt>
                <c:pt idx="4">
                  <c:v>0</c:v>
                </c:pt>
                <c:pt idx="5">
                  <c:v>75</c:v>
                </c:pt>
              </c:numCache>
            </c:numRef>
          </c:val>
        </c:ser>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E2A32"/>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A32"/>
                </a:solidFill>
                <a:latin typeface="Arial"/>
              </a:defRPr>
            </a:pPr>
            <a:r>
              <a:rPr sz="1200" b="0" i="0" u="none" strike="noStrike">
                <a:solidFill>
                  <a:srgbClr val="1E2A32"/>
                </a:solidFill>
                <a:latin typeface="Arial"/>
              </a:rPr>
              <a:t>Công cụ agent đã gọi — 58 lần / 20 câu</a:t>
            </a:r>
          </a:p>
        </c:rich>
      </c:tx>
      <c:layout/>
      <c:overlay val="0"/>
    </c:title>
    <c:autoTitleDeleted val="0"/>
    <c:plotArea>
      <c:layout/>
      <c:barChart>
        <c:barDir val="bar"/>
        <c:grouping val="clustered"/>
        <c:varyColors val="0"/>
        <c:ser>
          <c:idx val="0"/>
          <c:order val="0"/>
          <c:tx>
            <c:strRef>
              <c:f>Sheet1!$B$1</c:f>
              <c:strCache>
                <c:ptCount val="1"/>
                <c:pt idx="0">
                  <c:v>Số lần gọi</c:v>
                </c:pt>
              </c:strCache>
            </c:strRef>
          </c:tx>
          <c:spPr>
            <a:solidFill>
              <a:srgbClr val="0F5C6B"/>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Search</c:v>
                  </c:pt>
                  <c:pt idx="1">
                    <c:v>GraphSQL</c:v>
                  </c:pt>
                  <c:pt idx="2">
                    <c:v>SchemaViewer</c:v>
                  </c:pt>
                  <c:pt idx="3">
                    <c:v>EntityLookup</c:v>
                  </c:pt>
                  <c:pt idx="4">
                    <c:v>PropertySearch</c:v>
                  </c:pt>
                </c:lvl>
              </c:multiLvlStrCache>
            </c:multiLvlStrRef>
          </c:cat>
          <c:val>
            <c:numRef>
              <c:f>Sheet1!$B$2:$B$6</c:f>
              <c:numCache>
                <c:formatCode>General</c:formatCode>
                <c:ptCount val="5"/>
                <c:pt idx="0">
                  <c:v>23</c:v>
                </c:pt>
                <c:pt idx="1">
                  <c:v>13</c:v>
                </c:pt>
                <c:pt idx="2">
                  <c:v>11</c:v>
                </c:pt>
                <c:pt idx="3">
                  <c:v>10</c:v>
                </c:pt>
                <c:pt idx="4">
                  <c:v>1</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A32"/>
                </a:solidFill>
                <a:latin typeface="Arial"/>
              </a:defRPr>
            </a:pPr>
            <a:endParaRPr lang="en-US"/>
          </a:p>
        </c:txPr>
        <c:crossAx val="2094734552"/>
        <c:crosses val="autoZero"/>
        <c:auto val="1"/>
        <c:lblAlgn val="ctr"/>
        <c:noMultiLvlLbl val="1"/>
      </c:catAx>
      <c:valAx>
        <c:axId val="2094734552"/>
        <c:scaling>
          <c:orientation val="minMax"/>
          <c:max val="27"/>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chào anh. Tuần này nhóm đã triển khai xong toàn bộ hệ thống theo APEX-MEM và chạy được những kết quả đầu tiên. Báo cáo gồm ba phần: một là lược đồ bộ nhớ, hai là luồng chạy của hệ trên một câu hỏi thật — từng bước gọi công cụ nào, để làm gì — và ba là các kết quả hiện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nhanh bốn việc. Điểm quan trọng: hệ đã chạy thông từ đầu đến cuối, và mọi số liệu hôm nay đều từ lần chạy thật trên dữ liệu LongMemEval-S, không phải số ước lượng. Mô hình nền đổi từ GPT-5.5 sang GPT-5.6 Luna vì giới hạn tài khoản; mọi cấu hình so sánh đều dùng cùng một mô hình nên so sánh nội bộ vẫn hợp lệ.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lược đồ bộ nhớ. Ô màu cam ở giữa là bảng facts — trái tim của hệ. Mỗi fact là một bộ ba chủ thể, thuộc tính, giá trị, kèm khoảng thời gian hiệu lực t_from, t_to. Chủ thể trỏ sang bảng entities — người, nơi chốn, đồ vật; người dùng luôn là thực thể tên User. Tên thuộc tính nằm ở bảng properties, bắt buộc snake_case tiếng Anh. Mỗi fact thuộc một sự kiện ở bảng events, sự kiện có mốc thời gian anchor_datetime đã quy về chuẩn ISO lúc ghi — ví dụ người dùng nói 'last week' trong phiên ngày 27/5 thì mốc là 20/5. Cuối cùng, mỗi fact có ít nhất một dòng evidence trỏ về đúng lượt hội thoại gốc trong bảng turns, nên luôn truy ngược được vì sao hệ nhớ điều đó. Chỉ mục vector và tìm kiếm từ khóa chỉ là dẫn xuất, xóa đi dựng lại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cho thấy lược đồ hoạt động thế nào với câu hỏi cập nhật kiến thức — đúng tình huống N5 lên N4 anh hỏi ở tuần 1. Người dùng nói có 500 follower ở phiên ngày 27/5 — 'tuần trước' nên t_from là 20/5 — rồi phiên sau nói đã lên 600. Hệ không ghi đè: cả hai dòng cùng nằm trong bảng facts. Ba bất biến bên phải: một, append-only được chặn bằng trigger ngay trong SQLite; hai, bản mới nhất được chọn lúc đọc theo thời điểm hiệu lực, bằng SQL tất định chứ không để LLM đoán; ba, agent chỉ có quyền đọc, với ba lớp chặn.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Bây giờ em đi qua luồng chạy trên một câu hỏi thật: tổng tiền người dùng kiếm được khi bán hàng ở các chợ, đáp án 495 đô, bằng chứng rải ở 3 phiên trong 47 phiên. Bước 1 lọc phiên, không gọi LLM: chấm điểm từng phiên bằng embedding, giữ 9 phiên, trong đó có đủ 3 phiên bằng chứng. Bước 2 trích xuất: 9 lời gọi LLM, mỗi phiên một lời gọi, ra 64 sự kiện và 149 fact; mọi kiểm tra kiểu dữ liệu làm bằng Python. Bước 3 giải quyết thực thể: User và Assistant là cố định, trùng tên thì dùng lại, không có ứng viên gần thì tạo mới luôn — chỉ khi mơ hồ mới hỏi LLM, như 'Harvest Festival Market' ở đây. Bước 4 ghi append-only. Tổng cộng 13 lời gọi, khoảng 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bên trong bước trích xuất với đúng một lượt thật. Câu người dùng nói trong phiên ngày 1/6: vừa bán 15 hũ mứt ở chợ Homemade and Handmade ngày 29/5, thu 225 đô. LLM trả về JSON: một sự kiện market_sale, mốc thời gian là 29/5 chứ không phải ngày của phiên, kèm hai fact là số hũ và doanh thu, đúng kiểu int và float để sau này SQL cộng được. Python kiểm tra tên thuộc tính, kiểu dữ liệu, ngày tháng rồi mới ghi. Bảng dưới là các dòng thực sự được ghi vào 4 bảng; mỗi fact có bằng chứng trỏ về lượt số 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có đồ thị, agent ReAct bắt đầu trả lời. Với câu này agent gọi 4 công cụ. Đầu tiên SchemaViewer để biết có những bảng và thuộc tính nào. Thứ hai Search — tìm lai giữa vector và từ khóa — trả về ngay ba khoản thu 150, 225, 120 từ đúng ba phiên bằng chứng. Thứ ba EntityLookup để xem hồ sơ người dùng. Thứ tư GraphSQL để liệt kê đủ mọi khoản thu, tránh sót. Kết quả 495 đô, đúng. Cả quá trình 3 lời gọi LLM, khoảng 25 giây. Một điểm em muốn nêu thẳng: cùng ý doanh thu nhưng có hai tên thuộc tính khác nhau, bước giải quyết thuộc tính chưa gộp được — ở đây SQL cứu, nhưng đây là chỗ cần cải thiện.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thứ hai cho loại câu cập nhật kiến thức. Search trả về cả 600 lẫn 500, mỗi dòng kèm thời điểm hiệu lực. EntityLookup cho thấy bảng giá trị mới nhất của User chỉ còn 600. Agent trả lời 600 và nêu cả mốc 28/5. Tại sao không ghi đè ngay lúc ghi như Mem0? Vì những câu như 'trước đây tôi có bao nhiêu' hay 'tăng bao nhiêu' cần cả bản cũ. Trong 20 câu, 4 câu knowledge-update đều đúng, nhưng số còn nhỏ.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Thiết lập: mô hình nền là GPT-5.6 Luna cho mọi vai trò; em ghi lại mô hình thực sự phục vụ ở mọi lời gọi và cả 362 lời gọi đều là Luna, nghĩa là router không lén đổi mô hình. Embedding BGE-M3 nhúng sẵn trên Kaggle, máy local chỉ đọc cache. Tập dev trùng đúng tập dev của notebook tuần 2, tập test chưa mở. Hôm nay em báo cáo trên 20 câu đầu của dev, so hai cấu hình: hệ đầy đủ và baseline SimpleSearch của chính LongMemEval.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chạy LLM, nhóm chọn ngưỡng lọc phiên bằng số đo trên 150 câu dev, hoàn toàn không tốn lời gọi LLM. Hai thang đo: recall là tỉ lệ phiên bằng chứng được giữ, so với nhãn answer_session_ids của LongMemEval; 'đủ bằng chứng' là phần trăm câu giữ được tất cả phiên bằng chứng — thang này quan trọng hơn vì câu đa phiên thiếu một phiên là sai. Ngưỡng 0,475 chỉ giữ trung bình 7,7 phiên nhưng bằng hoặc tốt hơn top-10 ở mọi cột. Nhóm không dùng con số 0,2 của bài báo vì bài không nói điểm đó đo trên thang nào; với BGE-M3, hai câu không liên quan đã có cosine khoảng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chính: hệ đầy đủ đúng 18/20, baseline SimpleSearch đúng 16/20. Hai câu hệ đầy đủ thắng là một câu preference và một câu knowledge-update. Nhưng em xin nói rõ: với 20 câu, khoảng tin cậy của 90% là khoảng 70 đến 97%, và chênh lệch 2 câu có p bằng 0,5 theo kiểm định McNemar, nên chưa thể khẳng định hệ đầy đủ tốt hơn baseline. Các ô có 1–2 câu như temporal chỉ để tham khảo. Đây là lý do bước tiếp theo là mở rộng số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chi phí: mỗi câu hệ đầy đủ tốn khoảng 18 lời gọi LLM, trong đó gần 14 là để dựng đồ thị, chiếm 87% token. Nên muốn giảm chi phí phải nhắm vào pha dựng. Pha trả lời của hệ đầy đủ lại tốn ít token hơn baseline vì chỉ đọc fact liên quan, nhưng chậm hơn vì nhiều vòng gọi công cụ. Biểu đồ bên phải: Search là công cụ được dùng nhiều nhất, GraphSQL xuất hiện ở 12 trên 20 câu, chủ yếu cho phép cộng, đếm và xếp theo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câu sai đều sai ở cả hai hệ. Câu thứ nhất là câu cần từ chối: người dùng chưa từng nói giá vé bus, nhưng trợ lý trong hội thoại cũ đã ước lượng giá; agent lấy luôn con số đó như thông tin của người dùng. Câu thứ hai là câu thời gian: 'hai tháng trước' là 11/1, lúc đó người dùng đi nghe giảng ở bảo tàng một mình; nhưng bước trích xuất làm mất chi tiết bảo tàng và người đi cùng, và agent không quy đổi 'hai tháng trước' ra ngày cụ thể, nên chọn nhầm lần đi gần nhất. Để kiểm tra việc Luna tự chấm cho chính mình, em đã chấm lại độc lập 20 câu bằng một mô hình khác: trùng cả 20. Nhóm sẽ chấm tay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tổng kết bằng ba hạn chế nhóm tự nhận thấy: mẫu còn nhỏ; bộ lọc biết trước câu hỏi — giống bài báo nhưng khác trợ lý thật; và mô hình chấm trùng mô hình trả lời. Kế hoạch tuần tới: sửa prompt agent cho hai lỗi vừa thấy — việc rẻ vì không phải dựng lại đồ thị; chạy thêm câu temporal và mở rộng tập dev, đo trên câu khác với câu đã soi lỗi; làm thí nghiệm không lọc phiên; và chấm tay. Em xin hỏi anh một câu: nên ưu tiên mở rộng số câu hay thí nghiệm không lọc phiên trước 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731520" y="1737360"/>
            <a:ext cx="6400800" cy="320040"/>
          </a:xfrm>
          <a:prstGeom prst="rect">
            <a:avLst/>
          </a:prstGeom>
          <a:noFill/>
          <a:ln/>
        </p:spPr>
        <p:txBody>
          <a:bodyPr wrap="square" lIns="0" tIns="0" rIns="0" bIns="0" rtlCol="0" anchor="t"/>
          <a:lstStyle/>
          <a:p>
            <a:pPr indent="0" marL="0">
              <a:buNone/>
            </a:pPr>
            <a:r>
              <a:rPr lang="en-US" sz="1200" b="1" spc="300" kern="0" dirty="0">
                <a:solidFill>
                  <a:srgbClr val="D98C1F"/>
                </a:solidFill>
                <a:latin typeface="Calibri" pitchFamily="34" charset="0"/>
                <a:ea typeface="Calibri" pitchFamily="34" charset="-122"/>
                <a:cs typeface="Calibri" pitchFamily="34" charset="-120"/>
              </a:rPr>
              <a:t>BÁO CÁO TUẦN 4</a:t>
            </a:r>
            <a:endParaRPr lang="en-US" sz="1200" dirty="0"/>
          </a:p>
        </p:txBody>
      </p:sp>
      <p:sp>
        <p:nvSpPr>
          <p:cNvPr id="3" name="Text 1"/>
          <p:cNvSpPr txBox="1"/>
          <p:nvPr/>
        </p:nvSpPr>
        <p:spPr>
          <a:xfrm>
            <a:off x="731520" y="2103120"/>
            <a:ext cx="694944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Bộ nhớ dài hạn cho LLM Agent</a:t>
            </a:r>
            <a:endParaRPr lang="en-US" sz="3800" dirty="0"/>
          </a:p>
        </p:txBody>
      </p:sp>
      <p:sp>
        <p:nvSpPr>
          <p:cNvPr id="4" name="Text 2"/>
          <p:cNvSpPr txBox="1"/>
          <p:nvPr/>
        </p:nvSpPr>
        <p:spPr>
          <a:xfrm>
            <a:off x="731520" y="3017520"/>
            <a:ext cx="6949440" cy="822960"/>
          </a:xfrm>
          <a:prstGeom prst="rect">
            <a:avLst/>
          </a:prstGeom>
          <a:noFill/>
          <a:ln/>
        </p:spPr>
        <p:txBody>
          <a:bodyPr wrap="square" lIns="0" tIns="0" rIns="0" bIns="0" rtlCol="0" anchor="t"/>
          <a:lstStyle/>
          <a:p>
            <a:pPr indent="0" marL="0">
              <a:buNone/>
            </a:pPr>
            <a:r>
              <a:rPr lang="en-US" sz="1600" dirty="0">
                <a:solidFill>
                  <a:srgbClr val="C9D6DB"/>
                </a:solidFill>
                <a:latin typeface="Calibri" pitchFamily="34" charset="0"/>
                <a:ea typeface="Calibri" pitchFamily="34" charset="-122"/>
                <a:cs typeface="Calibri" pitchFamily="34" charset="-120"/>
              </a:rPr>
              <a:t>Triển khai APEX-MEM: lược đồ bộ nhớ, luồng chạy trên một ví dụ thật,</a:t>
            </a:r>
            <a:endParaRPr lang="en-US" sz="1600" dirty="0"/>
          </a:p>
          <a:p>
            <a:pPr indent="0" marL="0">
              <a:buNone/>
            </a:pPr>
            <a:r>
              <a:rPr lang="en-US" sz="1600" dirty="0">
                <a:solidFill>
                  <a:srgbClr val="C9D6DB"/>
                </a:solidFill>
                <a:latin typeface="Calibri" pitchFamily="34" charset="0"/>
                <a:ea typeface="Calibri" pitchFamily="34" charset="-122"/>
                <a:cs typeface="Calibri" pitchFamily="34" charset="-120"/>
              </a:rPr>
              <a:t>và kết quả đầu tiên trên LongMemEval-S</a:t>
            </a:r>
            <a:endParaRPr lang="en-US" sz="1600" dirty="0"/>
          </a:p>
        </p:txBody>
      </p:sp>
      <p:sp>
        <p:nvSpPr>
          <p:cNvPr id="5" name="Text 3"/>
          <p:cNvSpPr txBox="1"/>
          <p:nvPr/>
        </p:nvSpPr>
        <p:spPr>
          <a:xfrm>
            <a:off x="731520" y="5394960"/>
            <a:ext cx="5486400" cy="320040"/>
          </a:xfrm>
          <a:prstGeom prst="rect">
            <a:avLst/>
          </a:prstGeom>
          <a:noFill/>
          <a:ln/>
        </p:spPr>
        <p:txBody>
          <a:bodyPr wrap="square" lIns="0" tIns="0" rIns="0" bIns="0" rtlCol="0" anchor="t"/>
          <a:lstStyle/>
          <a:p>
            <a:pPr indent="0" marL="0">
              <a:buNone/>
            </a:pPr>
            <a:r>
              <a:rPr lang="en-US" sz="1200" dirty="0">
                <a:solidFill>
                  <a:srgbClr val="8FA3AB"/>
                </a:solidFill>
                <a:latin typeface="Calibri" pitchFamily="34" charset="0"/>
                <a:ea typeface="Calibri" pitchFamily="34" charset="-122"/>
                <a:cs typeface="Calibri" pitchFamily="34" charset="-120"/>
              </a:rPr>
              <a:t>Nhóm 2 thành viên  ·  09/2026</a:t>
            </a:r>
            <a:endParaRPr lang="en-US" sz="1200" dirty="0"/>
          </a:p>
        </p:txBody>
      </p:sp>
      <p:sp>
        <p:nvSpPr>
          <p:cNvPr id="6" name="Shape 4"/>
          <p:cNvSpPr/>
          <p:nvPr/>
        </p:nvSpPr>
        <p:spPr>
          <a:xfrm>
            <a:off x="9006840" y="1783080"/>
            <a:ext cx="777240" cy="1691640"/>
          </a:xfrm>
          <a:prstGeom prst="line">
            <a:avLst/>
          </a:prstGeom>
          <a:noFill/>
          <a:ln w="19050">
            <a:solidFill>
              <a:srgbClr val="3C5560"/>
            </a:solidFill>
            <a:prstDash val="solid"/>
          </a:ln>
        </p:spPr>
      </p:sp>
      <p:sp>
        <p:nvSpPr>
          <p:cNvPr id="7" name="Shape 5"/>
          <p:cNvSpPr/>
          <p:nvPr/>
        </p:nvSpPr>
        <p:spPr>
          <a:xfrm flipH="1">
            <a:off x="9784080" y="2185416"/>
            <a:ext cx="722376" cy="1289304"/>
          </a:xfrm>
          <a:prstGeom prst="line">
            <a:avLst/>
          </a:prstGeom>
          <a:noFill/>
          <a:ln w="19050">
            <a:solidFill>
              <a:srgbClr val="3C5560"/>
            </a:solidFill>
            <a:prstDash val="solid"/>
          </a:ln>
        </p:spPr>
      </p:sp>
      <p:sp>
        <p:nvSpPr>
          <p:cNvPr id="8" name="Shape 6"/>
          <p:cNvSpPr/>
          <p:nvPr/>
        </p:nvSpPr>
        <p:spPr>
          <a:xfrm flipH="1">
            <a:off x="8330184" y="3474720"/>
            <a:ext cx="1453896" cy="649224"/>
          </a:xfrm>
          <a:prstGeom prst="line">
            <a:avLst/>
          </a:prstGeom>
          <a:noFill/>
          <a:ln w="19050">
            <a:solidFill>
              <a:srgbClr val="3C5560"/>
            </a:solidFill>
            <a:prstDash val="solid"/>
          </a:ln>
        </p:spPr>
      </p:sp>
      <p:sp>
        <p:nvSpPr>
          <p:cNvPr id="9" name="Shape 7"/>
          <p:cNvSpPr/>
          <p:nvPr/>
        </p:nvSpPr>
        <p:spPr>
          <a:xfrm>
            <a:off x="9784080" y="3474720"/>
            <a:ext cx="1033272" cy="484632"/>
          </a:xfrm>
          <a:prstGeom prst="line">
            <a:avLst/>
          </a:prstGeom>
          <a:noFill/>
          <a:ln w="19050">
            <a:solidFill>
              <a:srgbClr val="3C5560"/>
            </a:solidFill>
            <a:prstDash val="solid"/>
          </a:ln>
        </p:spPr>
      </p:sp>
      <p:sp>
        <p:nvSpPr>
          <p:cNvPr id="10" name="Shape 8"/>
          <p:cNvSpPr/>
          <p:nvPr/>
        </p:nvSpPr>
        <p:spPr>
          <a:xfrm>
            <a:off x="8330184" y="4123944"/>
            <a:ext cx="978408" cy="978408"/>
          </a:xfrm>
          <a:prstGeom prst="line">
            <a:avLst/>
          </a:prstGeom>
          <a:noFill/>
          <a:ln w="19050">
            <a:solidFill>
              <a:srgbClr val="3C5560"/>
            </a:solidFill>
            <a:prstDash val="solid"/>
          </a:ln>
        </p:spPr>
      </p:sp>
      <p:sp>
        <p:nvSpPr>
          <p:cNvPr id="11" name="Shape 9"/>
          <p:cNvSpPr/>
          <p:nvPr/>
        </p:nvSpPr>
        <p:spPr>
          <a:xfrm>
            <a:off x="10817352" y="3959352"/>
            <a:ext cx="475488" cy="1298448"/>
          </a:xfrm>
          <a:prstGeom prst="line">
            <a:avLst/>
          </a:prstGeom>
          <a:noFill/>
          <a:ln w="19050">
            <a:solidFill>
              <a:srgbClr val="3C5560"/>
            </a:solidFill>
            <a:prstDash val="solid"/>
          </a:ln>
        </p:spPr>
      </p:sp>
      <p:sp>
        <p:nvSpPr>
          <p:cNvPr id="12" name="Shape 10"/>
          <p:cNvSpPr/>
          <p:nvPr/>
        </p:nvSpPr>
        <p:spPr>
          <a:xfrm flipH="1">
            <a:off x="9308592" y="3959352"/>
            <a:ext cx="1508760" cy="1143000"/>
          </a:xfrm>
          <a:prstGeom prst="line">
            <a:avLst/>
          </a:prstGeom>
          <a:noFill/>
          <a:ln w="19050">
            <a:solidFill>
              <a:srgbClr val="3C5560"/>
            </a:solidFill>
            <a:prstDash val="solid"/>
          </a:ln>
        </p:spPr>
      </p:sp>
      <p:sp>
        <p:nvSpPr>
          <p:cNvPr id="13" name="Shape 11"/>
          <p:cNvSpPr/>
          <p:nvPr/>
        </p:nvSpPr>
        <p:spPr>
          <a:xfrm>
            <a:off x="9006840" y="1783080"/>
            <a:ext cx="1499616" cy="402336"/>
          </a:xfrm>
          <a:prstGeom prst="line">
            <a:avLst/>
          </a:prstGeom>
          <a:noFill/>
          <a:ln w="19050">
            <a:solidFill>
              <a:srgbClr val="3C5560"/>
            </a:solidFill>
            <a:prstDash val="solid"/>
          </a:ln>
        </p:spPr>
      </p:sp>
      <p:sp>
        <p:nvSpPr>
          <p:cNvPr id="14" name="Shape 12"/>
          <p:cNvSpPr/>
          <p:nvPr/>
        </p:nvSpPr>
        <p:spPr>
          <a:xfrm>
            <a:off x="8778240" y="1554480"/>
            <a:ext cx="457200" cy="457200"/>
          </a:xfrm>
          <a:prstGeom prst="ellipse">
            <a:avLst/>
          </a:prstGeom>
          <a:solidFill>
            <a:srgbClr val="2A8A99"/>
          </a:solidFill>
          <a:ln w="12700">
            <a:solidFill>
              <a:srgbClr val="2A8A99"/>
            </a:solidFill>
            <a:prstDash val="solid"/>
          </a:ln>
        </p:spPr>
      </p:sp>
      <p:sp>
        <p:nvSpPr>
          <p:cNvPr id="15" name="Shape 13"/>
          <p:cNvSpPr/>
          <p:nvPr/>
        </p:nvSpPr>
        <p:spPr>
          <a:xfrm>
            <a:off x="10332720" y="2011680"/>
            <a:ext cx="347472" cy="347472"/>
          </a:xfrm>
          <a:prstGeom prst="ellipse">
            <a:avLst/>
          </a:prstGeom>
          <a:solidFill>
            <a:srgbClr val="2A8A99"/>
          </a:solidFill>
          <a:ln w="12700">
            <a:solidFill>
              <a:srgbClr val="2A8A99"/>
            </a:solidFill>
            <a:prstDash val="solid"/>
          </a:ln>
        </p:spPr>
      </p:sp>
      <p:sp>
        <p:nvSpPr>
          <p:cNvPr id="16" name="Shape 14"/>
          <p:cNvSpPr/>
          <p:nvPr/>
        </p:nvSpPr>
        <p:spPr>
          <a:xfrm>
            <a:off x="9418320" y="3108960"/>
            <a:ext cx="731520" cy="731520"/>
          </a:xfrm>
          <a:prstGeom prst="ellipse">
            <a:avLst/>
          </a:prstGeom>
          <a:solidFill>
            <a:srgbClr val="D98C1F"/>
          </a:solidFill>
          <a:ln w="12700">
            <a:solidFill>
              <a:srgbClr val="D98C1F"/>
            </a:solidFill>
            <a:prstDash val="solid"/>
          </a:ln>
        </p:spPr>
      </p:sp>
      <p:sp>
        <p:nvSpPr>
          <p:cNvPr id="17" name="Shape 15"/>
          <p:cNvSpPr/>
          <p:nvPr/>
        </p:nvSpPr>
        <p:spPr>
          <a:xfrm>
            <a:off x="8138160" y="3931920"/>
            <a:ext cx="384048" cy="384048"/>
          </a:xfrm>
          <a:prstGeom prst="ellipse">
            <a:avLst/>
          </a:prstGeom>
          <a:solidFill>
            <a:srgbClr val="2A8A99"/>
          </a:solidFill>
          <a:ln w="12700">
            <a:solidFill>
              <a:srgbClr val="2A8A99"/>
            </a:solidFill>
            <a:prstDash val="solid"/>
          </a:ln>
        </p:spPr>
      </p:sp>
      <p:sp>
        <p:nvSpPr>
          <p:cNvPr id="18" name="Shape 16"/>
          <p:cNvSpPr/>
          <p:nvPr/>
        </p:nvSpPr>
        <p:spPr>
          <a:xfrm>
            <a:off x="10607040" y="3749040"/>
            <a:ext cx="420624" cy="420624"/>
          </a:xfrm>
          <a:prstGeom prst="ellipse">
            <a:avLst/>
          </a:prstGeom>
          <a:solidFill>
            <a:srgbClr val="2A8A99"/>
          </a:solidFill>
          <a:ln w="12700">
            <a:solidFill>
              <a:srgbClr val="2A8A99"/>
            </a:solidFill>
            <a:prstDash val="solid"/>
          </a:ln>
        </p:spPr>
      </p:sp>
      <p:sp>
        <p:nvSpPr>
          <p:cNvPr id="19" name="Shape 17"/>
          <p:cNvSpPr/>
          <p:nvPr/>
        </p:nvSpPr>
        <p:spPr>
          <a:xfrm>
            <a:off x="9144000" y="4937760"/>
            <a:ext cx="329184" cy="329184"/>
          </a:xfrm>
          <a:prstGeom prst="ellipse">
            <a:avLst/>
          </a:prstGeom>
          <a:solidFill>
            <a:srgbClr val="2A8A99"/>
          </a:solidFill>
          <a:ln w="12700">
            <a:solidFill>
              <a:srgbClr val="2A8A99"/>
            </a:solidFill>
            <a:prstDash val="solid"/>
          </a:ln>
        </p:spPr>
      </p:sp>
      <p:sp>
        <p:nvSpPr>
          <p:cNvPr id="20" name="Shape 18"/>
          <p:cNvSpPr/>
          <p:nvPr/>
        </p:nvSpPr>
        <p:spPr>
          <a:xfrm>
            <a:off x="11155680" y="5120640"/>
            <a:ext cx="274320" cy="274320"/>
          </a:xfrm>
          <a:prstGeom prst="ellipse">
            <a:avLst/>
          </a:prstGeom>
          <a:solidFill>
            <a:srgbClr val="2A8A99"/>
          </a:solidFill>
          <a:ln w="12700">
            <a:solidFill>
              <a:srgbClr val="2A8A9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TUẦN 4 · ĐÃ LÀM</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Bốn việc chính của tuần này</a:t>
            </a:r>
            <a:endParaRPr lang="en-US" sz="2800" dirty="0"/>
          </a:p>
        </p:txBody>
      </p:sp>
      <p:sp>
        <p:nvSpPr>
          <p:cNvPr id="4" name="Shape 2"/>
          <p:cNvSpPr/>
          <p:nvPr/>
        </p:nvSpPr>
        <p:spPr>
          <a:xfrm>
            <a:off x="548640" y="1600200"/>
            <a:ext cx="2606040" cy="3017520"/>
          </a:xfrm>
          <a:prstGeom prst="roundRect">
            <a:avLst>
              <a:gd name="adj" fmla="val 2105"/>
            </a:avLst>
          </a:prstGeom>
          <a:solidFill>
            <a:srgbClr val="F3F7F8"/>
          </a:solidFill>
          <a:ln w="12700">
            <a:solidFill>
              <a:srgbClr val="F3F7F8"/>
            </a:solidFill>
            <a:prstDash val="solid"/>
          </a:ln>
        </p:spPr>
      </p:sp>
      <p:sp>
        <p:nvSpPr>
          <p:cNvPr id="5" name="Shape 3"/>
          <p:cNvSpPr/>
          <p:nvPr/>
        </p:nvSpPr>
        <p:spPr>
          <a:xfrm>
            <a:off x="822960" y="1874520"/>
            <a:ext cx="384048" cy="384048"/>
          </a:xfrm>
          <a:prstGeom prst="ellipse">
            <a:avLst/>
          </a:prstGeom>
          <a:solidFill>
            <a:srgbClr val="0F5C6B"/>
          </a:solidFill>
          <a:ln w="12700">
            <a:solidFill>
              <a:srgbClr val="0F5C6B"/>
            </a:solidFill>
            <a:prstDash val="solid"/>
          </a:ln>
        </p:spPr>
      </p:sp>
      <p:sp>
        <p:nvSpPr>
          <p:cNvPr id="6" name="Text 4"/>
          <p:cNvSpPr txBox="1"/>
          <p:nvPr/>
        </p:nvSpPr>
        <p:spPr>
          <a:xfrm>
            <a:off x="82296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22960" y="2468880"/>
            <a:ext cx="2103120" cy="685800"/>
          </a:xfrm>
          <a:prstGeom prst="rect">
            <a:avLst/>
          </a:prstGeom>
          <a:noFill/>
          <a:ln/>
        </p:spPr>
        <p:txBody>
          <a:bodyPr wrap="square" lIns="0" tIns="0" rIns="0" bIns="0" rtlCol="0" anchor="t"/>
          <a:lstStyle/>
          <a:p>
            <a:pPr indent="0" marL="0">
              <a:buNone/>
            </a:pPr>
            <a:r>
              <a:rPr lang="en-US" sz="1800" b="1" dirty="0">
                <a:solidFill>
                  <a:srgbClr val="12232E"/>
                </a:solidFill>
                <a:latin typeface="Cambria" pitchFamily="34" charset="0"/>
                <a:ea typeface="Cambria" pitchFamily="34" charset="-122"/>
                <a:cs typeface="Cambria" pitchFamily="34" charset="-120"/>
              </a:rPr>
              <a:t>Hệ thống chạy đầu–cuối</a:t>
            </a:r>
            <a:endParaRPr lang="en-US" sz="1800" dirty="0"/>
          </a:p>
        </p:txBody>
      </p:sp>
      <p:sp>
        <p:nvSpPr>
          <p:cNvPr id="8" name="Text 6"/>
          <p:cNvSpPr txBox="1"/>
          <p:nvPr/>
        </p:nvSpPr>
        <p:spPr>
          <a:xfrm>
            <a:off x="822960" y="3246120"/>
            <a:ext cx="2103120" cy="1280160"/>
          </a:xfrm>
          <a:prstGeom prst="rect">
            <a:avLst/>
          </a:prstGeom>
          <a:noFill/>
          <a:ln/>
        </p:spPr>
        <p:txBody>
          <a:bodyPr wrap="square" lIns="0" tIns="0" rIns="0" bIns="0" rtlCol="0" anchor="t"/>
          <a:lstStyle/>
          <a:p>
            <a:pPr indent="0" marL="0">
              <a:buNone/>
            </a:pPr>
            <a:r>
              <a:rPr lang="en-US" sz="1400" dirty="0">
                <a:solidFill>
                  <a:srgbClr val="5B6B73"/>
                </a:solidFill>
                <a:latin typeface="Calibri" pitchFamily="34" charset="0"/>
                <a:ea typeface="Calibri" pitchFamily="34" charset="-122"/>
                <a:cs typeface="Calibri" pitchFamily="34" charset="-120"/>
              </a:rPr>
              <a:t>Luồng ghi (lọc → trích xuất → giải quyết → ghi) và agent ReAct với 5 công cụ. 105 test chạy offline.</a:t>
            </a:r>
            <a:endParaRPr lang="en-US" sz="1400" dirty="0"/>
          </a:p>
        </p:txBody>
      </p:sp>
      <p:sp>
        <p:nvSpPr>
          <p:cNvPr id="9" name="Shape 7"/>
          <p:cNvSpPr/>
          <p:nvPr/>
        </p:nvSpPr>
        <p:spPr>
          <a:xfrm>
            <a:off x="3364992" y="1600200"/>
            <a:ext cx="2606040" cy="3017520"/>
          </a:xfrm>
          <a:prstGeom prst="roundRect">
            <a:avLst>
              <a:gd name="adj" fmla="val 2105"/>
            </a:avLst>
          </a:prstGeom>
          <a:solidFill>
            <a:srgbClr val="F3F7F8"/>
          </a:solidFill>
          <a:ln w="12700">
            <a:solidFill>
              <a:srgbClr val="F3F7F8"/>
            </a:solidFill>
            <a:prstDash val="solid"/>
          </a:ln>
        </p:spPr>
      </p:sp>
      <p:sp>
        <p:nvSpPr>
          <p:cNvPr id="10" name="Shape 8"/>
          <p:cNvSpPr/>
          <p:nvPr/>
        </p:nvSpPr>
        <p:spPr>
          <a:xfrm>
            <a:off x="3639312" y="1874520"/>
            <a:ext cx="384048" cy="384048"/>
          </a:xfrm>
          <a:prstGeom prst="ellipse">
            <a:avLst/>
          </a:prstGeom>
          <a:solidFill>
            <a:srgbClr val="0F5C6B"/>
          </a:solidFill>
          <a:ln w="12700">
            <a:solidFill>
              <a:srgbClr val="0F5C6B"/>
            </a:solidFill>
            <a:prstDash val="solid"/>
          </a:ln>
        </p:spPr>
      </p:sp>
      <p:sp>
        <p:nvSpPr>
          <p:cNvPr id="11" name="Text 9"/>
          <p:cNvSpPr txBox="1"/>
          <p:nvPr/>
        </p:nvSpPr>
        <p:spPr>
          <a:xfrm>
            <a:off x="3639312"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3639312" y="2468880"/>
            <a:ext cx="2103120" cy="685800"/>
          </a:xfrm>
          <a:prstGeom prst="rect">
            <a:avLst/>
          </a:prstGeom>
          <a:noFill/>
          <a:ln/>
        </p:spPr>
        <p:txBody>
          <a:bodyPr wrap="square" lIns="0" tIns="0" rIns="0" bIns="0" rtlCol="0" anchor="t"/>
          <a:lstStyle/>
          <a:p>
            <a:pPr indent="0" marL="0">
              <a:buNone/>
            </a:pPr>
            <a:r>
              <a:rPr lang="en-US" sz="1800" b="1" dirty="0">
                <a:solidFill>
                  <a:srgbClr val="12232E"/>
                </a:solidFill>
                <a:latin typeface="Cambria" pitchFamily="34" charset="0"/>
                <a:ea typeface="Cambria" pitchFamily="34" charset="-122"/>
                <a:cs typeface="Cambria" pitchFamily="34" charset="-120"/>
              </a:rPr>
              <a:t>Embedding trên GPU Kaggle</a:t>
            </a:r>
            <a:endParaRPr lang="en-US" sz="1800" dirty="0"/>
          </a:p>
        </p:txBody>
      </p:sp>
      <p:sp>
        <p:nvSpPr>
          <p:cNvPr id="13" name="Text 11"/>
          <p:cNvSpPr txBox="1"/>
          <p:nvPr/>
        </p:nvSpPr>
        <p:spPr>
          <a:xfrm>
            <a:off x="3639312" y="3246120"/>
            <a:ext cx="2103120" cy="1280160"/>
          </a:xfrm>
          <a:prstGeom prst="rect">
            <a:avLst/>
          </a:prstGeom>
          <a:noFill/>
          <a:ln/>
        </p:spPr>
        <p:txBody>
          <a:bodyPr wrap="square" lIns="0" tIns="0" rIns="0" bIns="0" rtlCol="0" anchor="t"/>
          <a:lstStyle/>
          <a:p>
            <a:pPr indent="0" marL="0">
              <a:buNone/>
            </a:pPr>
            <a:r>
              <a:rPr lang="en-US" sz="1400" dirty="0">
                <a:solidFill>
                  <a:srgbClr val="5B6B73"/>
                </a:solidFill>
                <a:latin typeface="Calibri" pitchFamily="34" charset="0"/>
                <a:ea typeface="Calibri" pitchFamily="34" charset="-122"/>
                <a:cs typeface="Calibri" pitchFamily="34" charset="-120"/>
              </a:rPr>
              <a:t>Nhúng sẵn ~247K lượt hội thoại bằng BGE-M3, dùng lại ở máy local — không nhúng lại.</a:t>
            </a:r>
            <a:endParaRPr lang="en-US" sz="1400" dirty="0"/>
          </a:p>
        </p:txBody>
      </p:sp>
      <p:sp>
        <p:nvSpPr>
          <p:cNvPr id="14" name="Shape 12"/>
          <p:cNvSpPr/>
          <p:nvPr/>
        </p:nvSpPr>
        <p:spPr>
          <a:xfrm>
            <a:off x="6181344" y="1600200"/>
            <a:ext cx="2606040" cy="3017520"/>
          </a:xfrm>
          <a:prstGeom prst="roundRect">
            <a:avLst>
              <a:gd name="adj" fmla="val 2105"/>
            </a:avLst>
          </a:prstGeom>
          <a:solidFill>
            <a:srgbClr val="F3F7F8"/>
          </a:solidFill>
          <a:ln w="12700">
            <a:solidFill>
              <a:srgbClr val="F3F7F8"/>
            </a:solidFill>
            <a:prstDash val="solid"/>
          </a:ln>
        </p:spPr>
      </p:sp>
      <p:sp>
        <p:nvSpPr>
          <p:cNvPr id="15" name="Shape 13"/>
          <p:cNvSpPr/>
          <p:nvPr/>
        </p:nvSpPr>
        <p:spPr>
          <a:xfrm>
            <a:off x="6455664" y="1874520"/>
            <a:ext cx="384048" cy="384048"/>
          </a:xfrm>
          <a:prstGeom prst="ellipse">
            <a:avLst/>
          </a:prstGeom>
          <a:solidFill>
            <a:srgbClr val="0F5C6B"/>
          </a:solidFill>
          <a:ln w="12700">
            <a:solidFill>
              <a:srgbClr val="0F5C6B"/>
            </a:solidFill>
            <a:prstDash val="solid"/>
          </a:ln>
        </p:spPr>
      </p:sp>
      <p:sp>
        <p:nvSpPr>
          <p:cNvPr id="16" name="Text 14"/>
          <p:cNvSpPr txBox="1"/>
          <p:nvPr/>
        </p:nvSpPr>
        <p:spPr>
          <a:xfrm>
            <a:off x="6455664"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6455664" y="2468880"/>
            <a:ext cx="2103120" cy="685800"/>
          </a:xfrm>
          <a:prstGeom prst="rect">
            <a:avLst/>
          </a:prstGeom>
          <a:noFill/>
          <a:ln/>
        </p:spPr>
        <p:txBody>
          <a:bodyPr wrap="square" lIns="0" tIns="0" rIns="0" bIns="0" rtlCol="0" anchor="t"/>
          <a:lstStyle/>
          <a:p>
            <a:pPr indent="0" marL="0">
              <a:buNone/>
            </a:pPr>
            <a:r>
              <a:rPr lang="en-US" sz="1800" b="1" dirty="0">
                <a:solidFill>
                  <a:srgbClr val="12232E"/>
                </a:solidFill>
                <a:latin typeface="Cambria" pitchFamily="34" charset="0"/>
                <a:ea typeface="Cambria" pitchFamily="34" charset="-122"/>
                <a:cs typeface="Cambria" pitchFamily="34" charset="-120"/>
              </a:rPr>
              <a:t>Hiệu chỉnh bộ lọc phiên</a:t>
            </a:r>
            <a:endParaRPr lang="en-US" sz="1800" dirty="0"/>
          </a:p>
        </p:txBody>
      </p:sp>
      <p:sp>
        <p:nvSpPr>
          <p:cNvPr id="18" name="Text 16"/>
          <p:cNvSpPr txBox="1"/>
          <p:nvPr/>
        </p:nvSpPr>
        <p:spPr>
          <a:xfrm>
            <a:off x="6455664" y="3246120"/>
            <a:ext cx="2103120" cy="1280160"/>
          </a:xfrm>
          <a:prstGeom prst="rect">
            <a:avLst/>
          </a:prstGeom>
          <a:noFill/>
          <a:ln/>
        </p:spPr>
        <p:txBody>
          <a:bodyPr wrap="square" lIns="0" tIns="0" rIns="0" bIns="0" rtlCol="0" anchor="t"/>
          <a:lstStyle/>
          <a:p>
            <a:pPr indent="0" marL="0">
              <a:buNone/>
            </a:pPr>
            <a:r>
              <a:rPr lang="en-US" sz="1400" dirty="0">
                <a:solidFill>
                  <a:srgbClr val="5B6B73"/>
                </a:solidFill>
                <a:latin typeface="Calibri" pitchFamily="34" charset="0"/>
                <a:ea typeface="Calibri" pitchFamily="34" charset="-122"/>
                <a:cs typeface="Calibri" pitchFamily="34" charset="-120"/>
              </a:rPr>
              <a:t>Chọn ngưỡng bằng số đo trên 150 câu dev, không tốn lời gọi LLM.</a:t>
            </a:r>
            <a:endParaRPr lang="en-US" sz="1400" dirty="0"/>
          </a:p>
        </p:txBody>
      </p:sp>
      <p:sp>
        <p:nvSpPr>
          <p:cNvPr id="19" name="Shape 17"/>
          <p:cNvSpPr/>
          <p:nvPr/>
        </p:nvSpPr>
        <p:spPr>
          <a:xfrm>
            <a:off x="8997696" y="1600200"/>
            <a:ext cx="2606040" cy="3017520"/>
          </a:xfrm>
          <a:prstGeom prst="roundRect">
            <a:avLst>
              <a:gd name="adj" fmla="val 2105"/>
            </a:avLst>
          </a:prstGeom>
          <a:solidFill>
            <a:srgbClr val="F3F7F8"/>
          </a:solidFill>
          <a:ln w="12700">
            <a:solidFill>
              <a:srgbClr val="F3F7F8"/>
            </a:solidFill>
            <a:prstDash val="solid"/>
          </a:ln>
        </p:spPr>
      </p:sp>
      <p:sp>
        <p:nvSpPr>
          <p:cNvPr id="20" name="Shape 18"/>
          <p:cNvSpPr/>
          <p:nvPr/>
        </p:nvSpPr>
        <p:spPr>
          <a:xfrm>
            <a:off x="9272016" y="1874520"/>
            <a:ext cx="384048" cy="384048"/>
          </a:xfrm>
          <a:prstGeom prst="ellipse">
            <a:avLst/>
          </a:prstGeom>
          <a:solidFill>
            <a:srgbClr val="0F5C6B"/>
          </a:solidFill>
          <a:ln w="12700">
            <a:solidFill>
              <a:srgbClr val="0F5C6B"/>
            </a:solidFill>
            <a:prstDash val="solid"/>
          </a:ln>
        </p:spPr>
      </p:sp>
      <p:sp>
        <p:nvSpPr>
          <p:cNvPr id="21" name="Text 19"/>
          <p:cNvSpPr txBox="1"/>
          <p:nvPr/>
        </p:nvSpPr>
        <p:spPr>
          <a:xfrm>
            <a:off x="9272016"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9272016" y="2468880"/>
            <a:ext cx="2103120" cy="685800"/>
          </a:xfrm>
          <a:prstGeom prst="rect">
            <a:avLst/>
          </a:prstGeom>
          <a:noFill/>
          <a:ln/>
        </p:spPr>
        <p:txBody>
          <a:bodyPr wrap="square" lIns="0" tIns="0" rIns="0" bIns="0" rtlCol="0" anchor="t"/>
          <a:lstStyle/>
          <a:p>
            <a:pPr indent="0" marL="0">
              <a:buNone/>
            </a:pPr>
            <a:r>
              <a:rPr lang="en-US" sz="1800" b="1" dirty="0">
                <a:solidFill>
                  <a:srgbClr val="12232E"/>
                </a:solidFill>
                <a:latin typeface="Cambria" pitchFamily="34" charset="0"/>
                <a:ea typeface="Cambria" pitchFamily="34" charset="-122"/>
                <a:cs typeface="Cambria" pitchFamily="34" charset="-120"/>
              </a:rPr>
              <a:t>Kết quả đầu tiên</a:t>
            </a:r>
            <a:endParaRPr lang="en-US" sz="1800" dirty="0"/>
          </a:p>
        </p:txBody>
      </p:sp>
      <p:sp>
        <p:nvSpPr>
          <p:cNvPr id="23" name="Text 21"/>
          <p:cNvSpPr txBox="1"/>
          <p:nvPr/>
        </p:nvSpPr>
        <p:spPr>
          <a:xfrm>
            <a:off x="9272016" y="3246120"/>
            <a:ext cx="2103120" cy="1280160"/>
          </a:xfrm>
          <a:prstGeom prst="rect">
            <a:avLst/>
          </a:prstGeom>
          <a:noFill/>
          <a:ln/>
        </p:spPr>
        <p:txBody>
          <a:bodyPr wrap="square" lIns="0" tIns="0" rIns="0" bIns="0" rtlCol="0" anchor="t"/>
          <a:lstStyle/>
          <a:p>
            <a:pPr indent="0" marL="0">
              <a:buNone/>
            </a:pPr>
            <a:r>
              <a:rPr lang="en-US" sz="1400" dirty="0">
                <a:solidFill>
                  <a:srgbClr val="5B6B73"/>
                </a:solidFill>
                <a:latin typeface="Calibri" pitchFamily="34" charset="0"/>
                <a:ea typeface="Calibri" pitchFamily="34" charset="-122"/>
                <a:cs typeface="Calibri" pitchFamily="34" charset="-120"/>
              </a:rPr>
              <a:t>20 câu dev: hệ đầy đủ 18/20, baseline SimpleSearch 16/20. Phân tích từng câu sai.</a:t>
            </a:r>
            <a:endParaRPr lang="en-US" sz="1400" dirty="0"/>
          </a:p>
        </p:txBody>
      </p:sp>
      <p:sp>
        <p:nvSpPr>
          <p:cNvPr id="24" name="Shape 22"/>
          <p:cNvSpPr/>
          <p:nvPr/>
        </p:nvSpPr>
        <p:spPr>
          <a:xfrm>
            <a:off x="548640" y="4937760"/>
            <a:ext cx="11064240" cy="868680"/>
          </a:xfrm>
          <a:prstGeom prst="roundRect">
            <a:avLst>
              <a:gd name="adj" fmla="val 6316"/>
            </a:avLst>
          </a:prstGeom>
          <a:solidFill>
            <a:srgbClr val="E6F0F2"/>
          </a:solidFill>
          <a:ln w="12700">
            <a:solidFill>
              <a:srgbClr val="E6F0F2"/>
            </a:solidFill>
            <a:prstDash val="solid"/>
          </a:ln>
        </p:spPr>
      </p:sp>
      <p:sp>
        <p:nvSpPr>
          <p:cNvPr id="25" name="Text 23"/>
          <p:cNvSpPr txBox="1"/>
          <p:nvPr/>
        </p:nvSpPr>
        <p:spPr>
          <a:xfrm>
            <a:off x="777240" y="5074920"/>
            <a:ext cx="10607040" cy="640080"/>
          </a:xfrm>
          <a:prstGeom prst="rect">
            <a:avLst/>
          </a:prstGeom>
          <a:noFill/>
          <a:ln/>
        </p:spPr>
        <p:txBody>
          <a:bodyPr wrap="square" lIns="0" tIns="0" rIns="0" bIns="0" rtlCol="0" anchor="ctr"/>
          <a:lstStyle/>
          <a:p>
            <a:pPr indent="0" marL="0">
              <a:buNone/>
            </a:pPr>
            <a:r>
              <a:rPr lang="en-US" sz="1300" b="1" dirty="0">
                <a:solidFill>
                  <a:srgbClr val="1E2A32"/>
                </a:solidFill>
                <a:latin typeface="Calibri" pitchFamily="34" charset="0"/>
                <a:ea typeface="Calibri" pitchFamily="34" charset="-122"/>
                <a:cs typeface="Calibri" pitchFamily="34" charset="-120"/>
              </a:rPr>
              <a:t>Mô hình nền: </a:t>
            </a:r>
            <a:pPr indent="0" marL="0">
              <a:buNone/>
            </a:pPr>
            <a:r>
              <a:rPr lang="en-US" sz="1300" dirty="0">
                <a:solidFill>
                  <a:srgbClr val="1E2A32"/>
                </a:solidFill>
                <a:latin typeface="Calibri" pitchFamily="34" charset="0"/>
                <a:ea typeface="Calibri" pitchFamily="34" charset="-122"/>
                <a:cs typeface="Calibri" pitchFamily="34" charset="-120"/>
              </a:rPr>
              <a:t>GPT-5.6 Luna qua 9router cho cả trích xuất, agent và chấm điểm. Embedding: BGE-M3. Lưu trữ: SQLite. Benchmark: LongMemEval-S (chia dev/test giống notebook tuần 2, seed 42).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1 · LƯỢC ĐỒ BỘ NHỚ</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Đồ thị thuộc tính trên SQLite: 7 bảng</a:t>
            </a:r>
            <a:endParaRPr lang="en-US" sz="2800" dirty="0"/>
          </a:p>
        </p:txBody>
      </p:sp>
      <p:sp>
        <p:nvSpPr>
          <p:cNvPr id="4" name="Shape 2"/>
          <p:cNvSpPr/>
          <p:nvPr/>
        </p:nvSpPr>
        <p:spPr>
          <a:xfrm>
            <a:off x="457200" y="1417320"/>
            <a:ext cx="2240280" cy="1513332"/>
          </a:xfrm>
          <a:prstGeom prst="roundRect">
            <a:avLst>
              <a:gd name="adj" fmla="val 3625"/>
            </a:avLst>
          </a:prstGeom>
          <a:solidFill>
            <a:srgbClr val="F3F7F8"/>
          </a:solidFill>
          <a:ln w="9525">
            <a:solidFill>
              <a:srgbClr val="BFD8DD"/>
            </a:solidFill>
            <a:prstDash val="solid"/>
          </a:ln>
        </p:spPr>
      </p:sp>
      <p:sp>
        <p:nvSpPr>
          <p:cNvPr id="5" name="Shape 3"/>
          <p:cNvSpPr/>
          <p:nvPr/>
        </p:nvSpPr>
        <p:spPr>
          <a:xfrm>
            <a:off x="457200" y="1417320"/>
            <a:ext cx="2240280" cy="329184"/>
          </a:xfrm>
          <a:prstGeom prst="rect">
            <a:avLst/>
          </a:prstGeom>
          <a:solidFill>
            <a:srgbClr val="0F5C6B"/>
          </a:solidFill>
          <a:ln w="12700">
            <a:solidFill>
              <a:srgbClr val="0F5C6B"/>
            </a:solidFill>
            <a:prstDash val="solid"/>
          </a:ln>
        </p:spPr>
      </p:sp>
      <p:sp>
        <p:nvSpPr>
          <p:cNvPr id="6" name="Text 4"/>
          <p:cNvSpPr txBox="1"/>
          <p:nvPr/>
        </p:nvSpPr>
        <p:spPr>
          <a:xfrm>
            <a:off x="566928" y="1417320"/>
            <a:ext cx="205740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entities</a:t>
            </a:r>
            <a:endParaRPr lang="en-US" sz="1200" dirty="0"/>
          </a:p>
        </p:txBody>
      </p:sp>
      <p:sp>
        <p:nvSpPr>
          <p:cNvPr id="7" name="Text 5"/>
          <p:cNvSpPr txBox="1"/>
          <p:nvPr/>
        </p:nvSpPr>
        <p:spPr>
          <a:xfrm>
            <a:off x="566928" y="1801368"/>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entity_id  PK</a:t>
            </a:r>
            <a:endParaRPr lang="en-US" sz="950" dirty="0"/>
          </a:p>
        </p:txBody>
      </p:sp>
      <p:sp>
        <p:nvSpPr>
          <p:cNvPr id="8" name="Text 6"/>
          <p:cNvSpPr txBox="1"/>
          <p:nvPr/>
        </p:nvSpPr>
        <p:spPr>
          <a:xfrm>
            <a:off x="566928" y="2016252"/>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name</a:t>
            </a:r>
            <a:endParaRPr lang="en-US" sz="950" dirty="0"/>
          </a:p>
        </p:txBody>
      </p:sp>
      <p:sp>
        <p:nvSpPr>
          <p:cNvPr id="9" name="Text 7"/>
          <p:cNvSpPr txBox="1"/>
          <p:nvPr/>
        </p:nvSpPr>
        <p:spPr>
          <a:xfrm>
            <a:off x="566928" y="2231136"/>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type   (35 lớp)</a:t>
            </a:r>
            <a:endParaRPr lang="en-US" sz="950" dirty="0"/>
          </a:p>
        </p:txBody>
      </p:sp>
      <p:sp>
        <p:nvSpPr>
          <p:cNvPr id="10" name="Text 8"/>
          <p:cNvSpPr txBox="1"/>
          <p:nvPr/>
        </p:nvSpPr>
        <p:spPr>
          <a:xfrm>
            <a:off x="566928" y="2446020"/>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role</a:t>
            </a:r>
            <a:endParaRPr lang="en-US" sz="950" dirty="0"/>
          </a:p>
        </p:txBody>
      </p:sp>
      <p:sp>
        <p:nvSpPr>
          <p:cNvPr id="11" name="Text 9"/>
          <p:cNvSpPr txBox="1"/>
          <p:nvPr/>
        </p:nvSpPr>
        <p:spPr>
          <a:xfrm>
            <a:off x="566928" y="2660904"/>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aliases_json</a:t>
            </a:r>
            <a:endParaRPr lang="en-US" sz="950" dirty="0"/>
          </a:p>
        </p:txBody>
      </p:sp>
      <p:sp>
        <p:nvSpPr>
          <p:cNvPr id="12" name="Shape 10"/>
          <p:cNvSpPr/>
          <p:nvPr/>
        </p:nvSpPr>
        <p:spPr>
          <a:xfrm>
            <a:off x="3200400" y="1417320"/>
            <a:ext cx="2194560" cy="868680"/>
          </a:xfrm>
          <a:prstGeom prst="roundRect">
            <a:avLst>
              <a:gd name="adj" fmla="val 6316"/>
            </a:avLst>
          </a:prstGeom>
          <a:solidFill>
            <a:srgbClr val="F3F7F8"/>
          </a:solidFill>
          <a:ln w="9525">
            <a:solidFill>
              <a:srgbClr val="BFD8DD"/>
            </a:solidFill>
            <a:prstDash val="solid"/>
          </a:ln>
        </p:spPr>
      </p:sp>
      <p:sp>
        <p:nvSpPr>
          <p:cNvPr id="13" name="Shape 11"/>
          <p:cNvSpPr/>
          <p:nvPr/>
        </p:nvSpPr>
        <p:spPr>
          <a:xfrm>
            <a:off x="3200400" y="1417320"/>
            <a:ext cx="2194560" cy="329184"/>
          </a:xfrm>
          <a:prstGeom prst="rect">
            <a:avLst/>
          </a:prstGeom>
          <a:solidFill>
            <a:srgbClr val="0F5C6B"/>
          </a:solidFill>
          <a:ln w="12700">
            <a:solidFill>
              <a:srgbClr val="0F5C6B"/>
            </a:solidFill>
            <a:prstDash val="solid"/>
          </a:ln>
        </p:spPr>
      </p:sp>
      <p:sp>
        <p:nvSpPr>
          <p:cNvPr id="14" name="Text 12"/>
          <p:cNvSpPr txBox="1"/>
          <p:nvPr/>
        </p:nvSpPr>
        <p:spPr>
          <a:xfrm>
            <a:off x="3310128" y="1417320"/>
            <a:ext cx="20116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event_participants</a:t>
            </a:r>
            <a:endParaRPr lang="en-US" sz="1200" dirty="0"/>
          </a:p>
        </p:txBody>
      </p:sp>
      <p:sp>
        <p:nvSpPr>
          <p:cNvPr id="15" name="Text 13"/>
          <p:cNvSpPr txBox="1"/>
          <p:nvPr/>
        </p:nvSpPr>
        <p:spPr>
          <a:xfrm>
            <a:off x="3310128" y="1801368"/>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event_id  → events</a:t>
            </a:r>
            <a:endParaRPr lang="en-US" sz="950" dirty="0"/>
          </a:p>
        </p:txBody>
      </p:sp>
      <p:sp>
        <p:nvSpPr>
          <p:cNvPr id="16" name="Text 14"/>
          <p:cNvSpPr txBox="1"/>
          <p:nvPr/>
        </p:nvSpPr>
        <p:spPr>
          <a:xfrm>
            <a:off x="3310128" y="2016252"/>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entity_id → entities</a:t>
            </a:r>
            <a:endParaRPr lang="en-US" sz="950" dirty="0"/>
          </a:p>
        </p:txBody>
      </p:sp>
      <p:sp>
        <p:nvSpPr>
          <p:cNvPr id="17" name="Shape 15"/>
          <p:cNvSpPr/>
          <p:nvPr/>
        </p:nvSpPr>
        <p:spPr>
          <a:xfrm>
            <a:off x="5897880" y="1417320"/>
            <a:ext cx="2057400" cy="1513332"/>
          </a:xfrm>
          <a:prstGeom prst="roundRect">
            <a:avLst>
              <a:gd name="adj" fmla="val 3625"/>
            </a:avLst>
          </a:prstGeom>
          <a:solidFill>
            <a:srgbClr val="F3F7F8"/>
          </a:solidFill>
          <a:ln w="9525">
            <a:solidFill>
              <a:srgbClr val="BFD8DD"/>
            </a:solidFill>
            <a:prstDash val="solid"/>
          </a:ln>
        </p:spPr>
      </p:sp>
      <p:sp>
        <p:nvSpPr>
          <p:cNvPr id="18" name="Shape 16"/>
          <p:cNvSpPr/>
          <p:nvPr/>
        </p:nvSpPr>
        <p:spPr>
          <a:xfrm>
            <a:off x="5897880" y="1417320"/>
            <a:ext cx="2057400" cy="329184"/>
          </a:xfrm>
          <a:prstGeom prst="rect">
            <a:avLst/>
          </a:prstGeom>
          <a:solidFill>
            <a:srgbClr val="0F5C6B"/>
          </a:solidFill>
          <a:ln w="12700">
            <a:solidFill>
              <a:srgbClr val="0F5C6B"/>
            </a:solidFill>
            <a:prstDash val="solid"/>
          </a:ln>
        </p:spPr>
      </p:sp>
      <p:sp>
        <p:nvSpPr>
          <p:cNvPr id="19" name="Text 17"/>
          <p:cNvSpPr txBox="1"/>
          <p:nvPr/>
        </p:nvSpPr>
        <p:spPr>
          <a:xfrm>
            <a:off x="6007608" y="1417320"/>
            <a:ext cx="187452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events</a:t>
            </a:r>
            <a:endParaRPr lang="en-US" sz="1200" dirty="0"/>
          </a:p>
        </p:txBody>
      </p:sp>
      <p:sp>
        <p:nvSpPr>
          <p:cNvPr id="20" name="Text 18"/>
          <p:cNvSpPr txBox="1"/>
          <p:nvPr/>
        </p:nvSpPr>
        <p:spPr>
          <a:xfrm>
            <a:off x="6007608" y="1801368"/>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event_id  PK</a:t>
            </a:r>
            <a:endParaRPr lang="en-US" sz="950" dirty="0"/>
          </a:p>
        </p:txBody>
      </p:sp>
      <p:sp>
        <p:nvSpPr>
          <p:cNvPr id="21" name="Text 19"/>
          <p:cNvSpPr txBox="1"/>
          <p:nvPr/>
        </p:nvSpPr>
        <p:spPr>
          <a:xfrm>
            <a:off x="6007608" y="2016252"/>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type</a:t>
            </a:r>
            <a:endParaRPr lang="en-US" sz="950" dirty="0"/>
          </a:p>
        </p:txBody>
      </p:sp>
      <p:sp>
        <p:nvSpPr>
          <p:cNvPr id="22" name="Text 20"/>
          <p:cNvSpPr txBox="1"/>
          <p:nvPr/>
        </p:nvSpPr>
        <p:spPr>
          <a:xfrm>
            <a:off x="6007608" y="2231136"/>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anchor_datetime</a:t>
            </a:r>
            <a:endParaRPr lang="en-US" sz="950" dirty="0"/>
          </a:p>
        </p:txBody>
      </p:sp>
      <p:sp>
        <p:nvSpPr>
          <p:cNvPr id="23" name="Text 21"/>
          <p:cNvSpPr txBox="1"/>
          <p:nvPr/>
        </p:nvSpPr>
        <p:spPr>
          <a:xfrm>
            <a:off x="6007608" y="2446020"/>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location</a:t>
            </a:r>
            <a:endParaRPr lang="en-US" sz="950" dirty="0"/>
          </a:p>
        </p:txBody>
      </p:sp>
      <p:sp>
        <p:nvSpPr>
          <p:cNvPr id="24" name="Text 22"/>
          <p:cNvSpPr txBox="1"/>
          <p:nvPr/>
        </p:nvSpPr>
        <p:spPr>
          <a:xfrm>
            <a:off x="6007608" y="2660904"/>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session_id</a:t>
            </a:r>
            <a:endParaRPr lang="en-US" sz="950" dirty="0"/>
          </a:p>
        </p:txBody>
      </p:sp>
      <p:sp>
        <p:nvSpPr>
          <p:cNvPr id="25" name="Shape 23"/>
          <p:cNvSpPr/>
          <p:nvPr/>
        </p:nvSpPr>
        <p:spPr>
          <a:xfrm>
            <a:off x="457200" y="3337560"/>
            <a:ext cx="2240280" cy="1083564"/>
          </a:xfrm>
          <a:prstGeom prst="roundRect">
            <a:avLst>
              <a:gd name="adj" fmla="val 5063"/>
            </a:avLst>
          </a:prstGeom>
          <a:solidFill>
            <a:srgbClr val="F3F7F8"/>
          </a:solidFill>
          <a:ln w="9525">
            <a:solidFill>
              <a:srgbClr val="BFD8DD"/>
            </a:solidFill>
            <a:prstDash val="solid"/>
          </a:ln>
        </p:spPr>
      </p:sp>
      <p:sp>
        <p:nvSpPr>
          <p:cNvPr id="26" name="Shape 24"/>
          <p:cNvSpPr/>
          <p:nvPr/>
        </p:nvSpPr>
        <p:spPr>
          <a:xfrm>
            <a:off x="457200" y="3337560"/>
            <a:ext cx="2240280" cy="329184"/>
          </a:xfrm>
          <a:prstGeom prst="rect">
            <a:avLst/>
          </a:prstGeom>
          <a:solidFill>
            <a:srgbClr val="0F5C6B"/>
          </a:solidFill>
          <a:ln w="12700">
            <a:solidFill>
              <a:srgbClr val="0F5C6B"/>
            </a:solidFill>
            <a:prstDash val="solid"/>
          </a:ln>
        </p:spPr>
      </p:sp>
      <p:sp>
        <p:nvSpPr>
          <p:cNvPr id="27" name="Text 25"/>
          <p:cNvSpPr txBox="1"/>
          <p:nvPr/>
        </p:nvSpPr>
        <p:spPr>
          <a:xfrm>
            <a:off x="566928" y="3337560"/>
            <a:ext cx="205740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properties</a:t>
            </a:r>
            <a:endParaRPr lang="en-US" sz="1200" dirty="0"/>
          </a:p>
        </p:txBody>
      </p:sp>
      <p:sp>
        <p:nvSpPr>
          <p:cNvPr id="28" name="Text 26"/>
          <p:cNvSpPr txBox="1"/>
          <p:nvPr/>
        </p:nvSpPr>
        <p:spPr>
          <a:xfrm>
            <a:off x="566928" y="3721608"/>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property_id  PK</a:t>
            </a:r>
            <a:endParaRPr lang="en-US" sz="950" dirty="0"/>
          </a:p>
        </p:txBody>
      </p:sp>
      <p:sp>
        <p:nvSpPr>
          <p:cNvPr id="29" name="Text 27"/>
          <p:cNvSpPr txBox="1"/>
          <p:nvPr/>
        </p:nvSpPr>
        <p:spPr>
          <a:xfrm>
            <a:off x="566928" y="3936492"/>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name   (snake_case)</a:t>
            </a:r>
            <a:endParaRPr lang="en-US" sz="950" dirty="0"/>
          </a:p>
        </p:txBody>
      </p:sp>
      <p:sp>
        <p:nvSpPr>
          <p:cNvPr id="30" name="Text 28"/>
          <p:cNvSpPr txBox="1"/>
          <p:nvPr/>
        </p:nvSpPr>
        <p:spPr>
          <a:xfrm>
            <a:off x="566928" y="4151376"/>
            <a:ext cx="205740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dtype</a:t>
            </a:r>
            <a:endParaRPr lang="en-US" sz="950" dirty="0"/>
          </a:p>
        </p:txBody>
      </p:sp>
      <p:sp>
        <p:nvSpPr>
          <p:cNvPr id="31" name="Shape 29"/>
          <p:cNvSpPr/>
          <p:nvPr/>
        </p:nvSpPr>
        <p:spPr>
          <a:xfrm>
            <a:off x="3200400" y="2697480"/>
            <a:ext cx="2194560" cy="1943100"/>
          </a:xfrm>
          <a:prstGeom prst="roundRect">
            <a:avLst>
              <a:gd name="adj" fmla="val 2824"/>
            </a:avLst>
          </a:prstGeom>
          <a:solidFill>
            <a:srgbClr val="F3F7F8"/>
          </a:solidFill>
          <a:ln w="9525">
            <a:solidFill>
              <a:srgbClr val="BFD8DD"/>
            </a:solidFill>
            <a:prstDash val="solid"/>
          </a:ln>
        </p:spPr>
      </p:sp>
      <p:sp>
        <p:nvSpPr>
          <p:cNvPr id="32" name="Shape 30"/>
          <p:cNvSpPr/>
          <p:nvPr/>
        </p:nvSpPr>
        <p:spPr>
          <a:xfrm>
            <a:off x="3200400" y="2697480"/>
            <a:ext cx="2194560" cy="329184"/>
          </a:xfrm>
          <a:prstGeom prst="rect">
            <a:avLst/>
          </a:prstGeom>
          <a:solidFill>
            <a:srgbClr val="D98C1F"/>
          </a:solidFill>
          <a:ln w="12700">
            <a:solidFill>
              <a:srgbClr val="D98C1F"/>
            </a:solidFill>
            <a:prstDash val="solid"/>
          </a:ln>
        </p:spPr>
      </p:sp>
      <p:sp>
        <p:nvSpPr>
          <p:cNvPr id="33" name="Text 31"/>
          <p:cNvSpPr txBox="1"/>
          <p:nvPr/>
        </p:nvSpPr>
        <p:spPr>
          <a:xfrm>
            <a:off x="3310128" y="2697480"/>
            <a:ext cx="20116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facts</a:t>
            </a:r>
            <a:endParaRPr lang="en-US" sz="1200" dirty="0"/>
          </a:p>
        </p:txBody>
      </p:sp>
      <p:sp>
        <p:nvSpPr>
          <p:cNvPr id="34" name="Text 32"/>
          <p:cNvSpPr txBox="1"/>
          <p:nvPr/>
        </p:nvSpPr>
        <p:spPr>
          <a:xfrm>
            <a:off x="3310128" y="3081528"/>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fact_id  PK</a:t>
            </a:r>
            <a:endParaRPr lang="en-US" sz="950" dirty="0"/>
          </a:p>
        </p:txBody>
      </p:sp>
      <p:sp>
        <p:nvSpPr>
          <p:cNvPr id="35" name="Text 33"/>
          <p:cNvSpPr txBox="1"/>
          <p:nvPr/>
        </p:nvSpPr>
        <p:spPr>
          <a:xfrm>
            <a:off x="3310128" y="3296412"/>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subject_id  → entities</a:t>
            </a:r>
            <a:endParaRPr lang="en-US" sz="950" dirty="0"/>
          </a:p>
        </p:txBody>
      </p:sp>
      <p:sp>
        <p:nvSpPr>
          <p:cNvPr id="36" name="Text 34"/>
          <p:cNvSpPr txBox="1"/>
          <p:nvPr/>
        </p:nvSpPr>
        <p:spPr>
          <a:xfrm>
            <a:off x="3310128" y="3511296"/>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property_id → properties</a:t>
            </a:r>
            <a:endParaRPr lang="en-US" sz="950" dirty="0"/>
          </a:p>
        </p:txBody>
      </p:sp>
      <p:sp>
        <p:nvSpPr>
          <p:cNvPr id="37" name="Text 35"/>
          <p:cNvSpPr txBox="1"/>
          <p:nvPr/>
        </p:nvSpPr>
        <p:spPr>
          <a:xfrm>
            <a:off x="3310128" y="3726180"/>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value_json · dtype</a:t>
            </a:r>
            <a:endParaRPr lang="en-US" sz="950" dirty="0"/>
          </a:p>
        </p:txBody>
      </p:sp>
      <p:sp>
        <p:nvSpPr>
          <p:cNvPr id="38" name="Text 36"/>
          <p:cNvSpPr txBox="1"/>
          <p:nvPr/>
        </p:nvSpPr>
        <p:spPr>
          <a:xfrm>
            <a:off x="3310128" y="3941064"/>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t_from · t_to</a:t>
            </a:r>
            <a:endParaRPr lang="en-US" sz="950" dirty="0"/>
          </a:p>
        </p:txBody>
      </p:sp>
      <p:sp>
        <p:nvSpPr>
          <p:cNvPr id="39" name="Text 37"/>
          <p:cNvSpPr txBox="1"/>
          <p:nvPr/>
        </p:nvSpPr>
        <p:spPr>
          <a:xfrm>
            <a:off x="3310128" y="4155948"/>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confidence</a:t>
            </a:r>
            <a:endParaRPr lang="en-US" sz="950" dirty="0"/>
          </a:p>
        </p:txBody>
      </p:sp>
      <p:sp>
        <p:nvSpPr>
          <p:cNvPr id="40" name="Text 38"/>
          <p:cNvSpPr txBox="1"/>
          <p:nvPr/>
        </p:nvSpPr>
        <p:spPr>
          <a:xfrm>
            <a:off x="3310128" y="4370832"/>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event_id    → events</a:t>
            </a:r>
            <a:endParaRPr lang="en-US" sz="950" dirty="0"/>
          </a:p>
        </p:txBody>
      </p:sp>
      <p:sp>
        <p:nvSpPr>
          <p:cNvPr id="41" name="Shape 39"/>
          <p:cNvSpPr/>
          <p:nvPr/>
        </p:nvSpPr>
        <p:spPr>
          <a:xfrm>
            <a:off x="3200400" y="4892040"/>
            <a:ext cx="2194560" cy="1083564"/>
          </a:xfrm>
          <a:prstGeom prst="roundRect">
            <a:avLst>
              <a:gd name="adj" fmla="val 5063"/>
            </a:avLst>
          </a:prstGeom>
          <a:solidFill>
            <a:srgbClr val="F3F7F8"/>
          </a:solidFill>
          <a:ln w="9525">
            <a:solidFill>
              <a:srgbClr val="BFD8DD"/>
            </a:solidFill>
            <a:prstDash val="solid"/>
          </a:ln>
        </p:spPr>
      </p:sp>
      <p:sp>
        <p:nvSpPr>
          <p:cNvPr id="42" name="Shape 40"/>
          <p:cNvSpPr/>
          <p:nvPr/>
        </p:nvSpPr>
        <p:spPr>
          <a:xfrm>
            <a:off x="3200400" y="4892040"/>
            <a:ext cx="2194560" cy="329184"/>
          </a:xfrm>
          <a:prstGeom prst="rect">
            <a:avLst/>
          </a:prstGeom>
          <a:solidFill>
            <a:srgbClr val="0F5C6B"/>
          </a:solidFill>
          <a:ln w="12700">
            <a:solidFill>
              <a:srgbClr val="0F5C6B"/>
            </a:solidFill>
            <a:prstDash val="solid"/>
          </a:ln>
        </p:spPr>
      </p:sp>
      <p:sp>
        <p:nvSpPr>
          <p:cNvPr id="43" name="Text 41"/>
          <p:cNvSpPr txBox="1"/>
          <p:nvPr/>
        </p:nvSpPr>
        <p:spPr>
          <a:xfrm>
            <a:off x="3310128" y="4892040"/>
            <a:ext cx="20116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evidence</a:t>
            </a:r>
            <a:endParaRPr lang="en-US" sz="1200" dirty="0"/>
          </a:p>
        </p:txBody>
      </p:sp>
      <p:sp>
        <p:nvSpPr>
          <p:cNvPr id="44" name="Text 42"/>
          <p:cNvSpPr txBox="1"/>
          <p:nvPr/>
        </p:nvSpPr>
        <p:spPr>
          <a:xfrm>
            <a:off x="3310128" y="5276088"/>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fact_id → facts</a:t>
            </a:r>
            <a:endParaRPr lang="en-US" sz="950" dirty="0"/>
          </a:p>
        </p:txBody>
      </p:sp>
      <p:sp>
        <p:nvSpPr>
          <p:cNvPr id="45" name="Text 43"/>
          <p:cNvSpPr txBox="1"/>
          <p:nvPr/>
        </p:nvSpPr>
        <p:spPr>
          <a:xfrm>
            <a:off x="3310128" y="5490972"/>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turn_id → turns</a:t>
            </a:r>
            <a:endParaRPr lang="en-US" sz="950" dirty="0"/>
          </a:p>
        </p:txBody>
      </p:sp>
      <p:sp>
        <p:nvSpPr>
          <p:cNvPr id="46" name="Text 44"/>
          <p:cNvSpPr txBox="1"/>
          <p:nvPr/>
        </p:nvSpPr>
        <p:spPr>
          <a:xfrm>
            <a:off x="3310128" y="5705856"/>
            <a:ext cx="201168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span  (trích nguyên văn)</a:t>
            </a:r>
            <a:endParaRPr lang="en-US" sz="950" dirty="0"/>
          </a:p>
        </p:txBody>
      </p:sp>
      <p:sp>
        <p:nvSpPr>
          <p:cNvPr id="47" name="Shape 45"/>
          <p:cNvSpPr/>
          <p:nvPr/>
        </p:nvSpPr>
        <p:spPr>
          <a:xfrm>
            <a:off x="5897880" y="4526280"/>
            <a:ext cx="2057400" cy="1298448"/>
          </a:xfrm>
          <a:prstGeom prst="roundRect">
            <a:avLst>
              <a:gd name="adj" fmla="val 4225"/>
            </a:avLst>
          </a:prstGeom>
          <a:solidFill>
            <a:srgbClr val="F3F7F8"/>
          </a:solidFill>
          <a:ln w="9525">
            <a:solidFill>
              <a:srgbClr val="BFD8DD"/>
            </a:solidFill>
            <a:prstDash val="solid"/>
          </a:ln>
        </p:spPr>
      </p:sp>
      <p:sp>
        <p:nvSpPr>
          <p:cNvPr id="48" name="Shape 46"/>
          <p:cNvSpPr/>
          <p:nvPr/>
        </p:nvSpPr>
        <p:spPr>
          <a:xfrm>
            <a:off x="5897880" y="4526280"/>
            <a:ext cx="2057400" cy="329184"/>
          </a:xfrm>
          <a:prstGeom prst="rect">
            <a:avLst/>
          </a:prstGeom>
          <a:solidFill>
            <a:srgbClr val="0F5C6B"/>
          </a:solidFill>
          <a:ln w="12700">
            <a:solidFill>
              <a:srgbClr val="0F5C6B"/>
            </a:solidFill>
            <a:prstDash val="solid"/>
          </a:ln>
        </p:spPr>
      </p:sp>
      <p:sp>
        <p:nvSpPr>
          <p:cNvPr id="49" name="Text 47"/>
          <p:cNvSpPr txBox="1"/>
          <p:nvPr/>
        </p:nvSpPr>
        <p:spPr>
          <a:xfrm>
            <a:off x="6007608" y="4526280"/>
            <a:ext cx="187452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turns</a:t>
            </a:r>
            <a:endParaRPr lang="en-US" sz="1200" dirty="0"/>
          </a:p>
        </p:txBody>
      </p:sp>
      <p:sp>
        <p:nvSpPr>
          <p:cNvPr id="50" name="Text 48"/>
          <p:cNvSpPr txBox="1"/>
          <p:nvPr/>
        </p:nvSpPr>
        <p:spPr>
          <a:xfrm>
            <a:off x="6007608" y="4910328"/>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turn_id  PK</a:t>
            </a:r>
            <a:endParaRPr lang="en-US" sz="950" dirty="0"/>
          </a:p>
        </p:txBody>
      </p:sp>
      <p:sp>
        <p:nvSpPr>
          <p:cNvPr id="51" name="Text 49"/>
          <p:cNvSpPr txBox="1"/>
          <p:nvPr/>
        </p:nvSpPr>
        <p:spPr>
          <a:xfrm>
            <a:off x="6007608" y="5125212"/>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session_id</a:t>
            </a:r>
            <a:endParaRPr lang="en-US" sz="950" dirty="0"/>
          </a:p>
        </p:txBody>
      </p:sp>
      <p:sp>
        <p:nvSpPr>
          <p:cNvPr id="52" name="Text 50"/>
          <p:cNvSpPr txBox="1"/>
          <p:nvPr/>
        </p:nvSpPr>
        <p:spPr>
          <a:xfrm>
            <a:off x="6007608" y="5340096"/>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speaker · text</a:t>
            </a:r>
            <a:endParaRPr lang="en-US" sz="950" dirty="0"/>
          </a:p>
        </p:txBody>
      </p:sp>
      <p:sp>
        <p:nvSpPr>
          <p:cNvPr id="53" name="Text 51"/>
          <p:cNvSpPr txBox="1"/>
          <p:nvPr/>
        </p:nvSpPr>
        <p:spPr>
          <a:xfrm>
            <a:off x="6007608" y="5554980"/>
            <a:ext cx="1874520" cy="214884"/>
          </a:xfrm>
          <a:prstGeom prst="rect">
            <a:avLst/>
          </a:prstGeom>
          <a:noFill/>
          <a:ln/>
        </p:spPr>
        <p:txBody>
          <a:bodyPr wrap="square" lIns="0" tIns="0" rIns="0" bIns="0" rtlCol="0" anchor="ctr"/>
          <a:lstStyle/>
          <a:p>
            <a:pPr indent="0" marL="0">
              <a:buNone/>
            </a:pPr>
            <a:r>
              <a:rPr lang="en-US" sz="950" dirty="0">
                <a:solidFill>
                  <a:srgbClr val="1E2A32"/>
                </a:solidFill>
                <a:latin typeface="Courier New" pitchFamily="34" charset="0"/>
                <a:ea typeface="Courier New" pitchFamily="34" charset="-122"/>
                <a:cs typeface="Courier New" pitchFamily="34" charset="-120"/>
              </a:rPr>
              <a:t>session_date</a:t>
            </a:r>
            <a:endParaRPr lang="en-US" sz="950" dirty="0"/>
          </a:p>
        </p:txBody>
      </p:sp>
      <p:sp>
        <p:nvSpPr>
          <p:cNvPr id="54" name="Shape 52"/>
          <p:cNvSpPr/>
          <p:nvPr/>
        </p:nvSpPr>
        <p:spPr>
          <a:xfrm flipH="1">
            <a:off x="2697480" y="1874520"/>
            <a:ext cx="502920" cy="914"/>
          </a:xfrm>
          <a:prstGeom prst="line">
            <a:avLst/>
          </a:prstGeom>
          <a:noFill/>
          <a:ln w="19050">
            <a:solidFill>
              <a:srgbClr val="2A8A99"/>
            </a:solidFill>
            <a:prstDash val="solid"/>
            <a:tailEnd type="triangle"/>
          </a:ln>
        </p:spPr>
      </p:sp>
      <p:sp>
        <p:nvSpPr>
          <p:cNvPr id="55" name="Shape 53"/>
          <p:cNvSpPr/>
          <p:nvPr/>
        </p:nvSpPr>
        <p:spPr>
          <a:xfrm>
            <a:off x="5394960" y="1874520"/>
            <a:ext cx="502920" cy="914"/>
          </a:xfrm>
          <a:prstGeom prst="line">
            <a:avLst/>
          </a:prstGeom>
          <a:noFill/>
          <a:ln w="19050">
            <a:solidFill>
              <a:srgbClr val="2A8A99"/>
            </a:solidFill>
            <a:prstDash val="solid"/>
            <a:tailEnd type="triangle"/>
          </a:ln>
        </p:spPr>
      </p:sp>
      <p:sp>
        <p:nvSpPr>
          <p:cNvPr id="56" name="Shape 54"/>
          <p:cNvSpPr/>
          <p:nvPr/>
        </p:nvSpPr>
        <p:spPr>
          <a:xfrm flipH="1" flipV="1">
            <a:off x="2697480" y="2606040"/>
            <a:ext cx="502920" cy="548640"/>
          </a:xfrm>
          <a:prstGeom prst="line">
            <a:avLst/>
          </a:prstGeom>
          <a:noFill/>
          <a:ln w="19050">
            <a:solidFill>
              <a:srgbClr val="2A8A99"/>
            </a:solidFill>
            <a:prstDash val="solid"/>
            <a:tailEnd type="triangle"/>
          </a:ln>
        </p:spPr>
      </p:sp>
      <p:sp>
        <p:nvSpPr>
          <p:cNvPr id="57" name="Shape 55"/>
          <p:cNvSpPr/>
          <p:nvPr/>
        </p:nvSpPr>
        <p:spPr>
          <a:xfrm flipH="1">
            <a:off x="2697480" y="3749040"/>
            <a:ext cx="502920" cy="914"/>
          </a:xfrm>
          <a:prstGeom prst="line">
            <a:avLst/>
          </a:prstGeom>
          <a:noFill/>
          <a:ln w="19050">
            <a:solidFill>
              <a:srgbClr val="2A8A99"/>
            </a:solidFill>
            <a:prstDash val="solid"/>
            <a:tailEnd type="triangle"/>
          </a:ln>
        </p:spPr>
      </p:sp>
      <p:sp>
        <p:nvSpPr>
          <p:cNvPr id="58" name="Shape 56"/>
          <p:cNvSpPr/>
          <p:nvPr/>
        </p:nvSpPr>
        <p:spPr>
          <a:xfrm flipV="1">
            <a:off x="5394960" y="2606040"/>
            <a:ext cx="502920" cy="548640"/>
          </a:xfrm>
          <a:prstGeom prst="line">
            <a:avLst/>
          </a:prstGeom>
          <a:noFill/>
          <a:ln w="19050">
            <a:solidFill>
              <a:srgbClr val="2A8A99"/>
            </a:solidFill>
            <a:prstDash val="solid"/>
            <a:tailEnd type="triangle"/>
          </a:ln>
        </p:spPr>
      </p:sp>
      <p:sp>
        <p:nvSpPr>
          <p:cNvPr id="59" name="Shape 57"/>
          <p:cNvSpPr/>
          <p:nvPr/>
        </p:nvSpPr>
        <p:spPr>
          <a:xfrm flipV="1">
            <a:off x="4297680" y="4572000"/>
            <a:ext cx="914" cy="320040"/>
          </a:xfrm>
          <a:prstGeom prst="line">
            <a:avLst/>
          </a:prstGeom>
          <a:noFill/>
          <a:ln w="19050">
            <a:solidFill>
              <a:srgbClr val="2A8A99"/>
            </a:solidFill>
            <a:prstDash val="solid"/>
            <a:tailEnd type="triangle"/>
          </a:ln>
        </p:spPr>
      </p:sp>
      <p:sp>
        <p:nvSpPr>
          <p:cNvPr id="60" name="Shape 58"/>
          <p:cNvSpPr/>
          <p:nvPr/>
        </p:nvSpPr>
        <p:spPr>
          <a:xfrm>
            <a:off x="5394960" y="5349240"/>
            <a:ext cx="502920" cy="914"/>
          </a:xfrm>
          <a:prstGeom prst="line">
            <a:avLst/>
          </a:prstGeom>
          <a:noFill/>
          <a:ln w="19050">
            <a:solidFill>
              <a:srgbClr val="2A8A99"/>
            </a:solidFill>
            <a:prstDash val="solid"/>
            <a:tailEnd type="triangle"/>
          </a:ln>
        </p:spPr>
      </p:sp>
      <p:sp>
        <p:nvSpPr>
          <p:cNvPr id="61" name="Shape 59"/>
          <p:cNvSpPr/>
          <p:nvPr/>
        </p:nvSpPr>
        <p:spPr>
          <a:xfrm>
            <a:off x="8321040" y="1417320"/>
            <a:ext cx="384048" cy="384048"/>
          </a:xfrm>
          <a:prstGeom prst="ellipse">
            <a:avLst/>
          </a:prstGeom>
          <a:solidFill>
            <a:srgbClr val="0F5C6B"/>
          </a:solidFill>
          <a:ln w="12700">
            <a:solidFill>
              <a:srgbClr val="0F5C6B"/>
            </a:solidFill>
            <a:prstDash val="solid"/>
          </a:ln>
        </p:spPr>
      </p:sp>
      <p:sp>
        <p:nvSpPr>
          <p:cNvPr id="62" name="Text 60"/>
          <p:cNvSpPr txBox="1"/>
          <p:nvPr/>
        </p:nvSpPr>
        <p:spPr>
          <a:xfrm>
            <a:off x="8321040"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3" name="Text 61"/>
          <p:cNvSpPr txBox="1"/>
          <p:nvPr/>
        </p:nvSpPr>
        <p:spPr>
          <a:xfrm>
            <a:off x="8823960" y="1399032"/>
            <a:ext cx="2880360" cy="566928"/>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Fact = chủ thể · thuộc tính · giá trị + thời gian hiệu lực</a:t>
            </a:r>
            <a:endParaRPr lang="en-US" sz="1350" dirty="0"/>
          </a:p>
        </p:txBody>
      </p:sp>
      <p:sp>
        <p:nvSpPr>
          <p:cNvPr id="64" name="Text 62"/>
          <p:cNvSpPr txBox="1"/>
          <p:nvPr/>
        </p:nvSpPr>
        <p:spPr>
          <a:xfrm>
            <a:off x="8823960" y="1965960"/>
            <a:ext cx="2880360" cy="7315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User · instagram_follower_count · 600 · từ 2023-05-28. Kiểu dữ liệu (int, date, list…) kiểm tra bằng Python lúc ghi.</a:t>
            </a:r>
            <a:endParaRPr lang="en-US" sz="1150" dirty="0"/>
          </a:p>
        </p:txBody>
      </p:sp>
      <p:sp>
        <p:nvSpPr>
          <p:cNvPr id="65" name="Shape 63"/>
          <p:cNvSpPr/>
          <p:nvPr/>
        </p:nvSpPr>
        <p:spPr>
          <a:xfrm>
            <a:off x="8321040" y="2788920"/>
            <a:ext cx="384048" cy="384048"/>
          </a:xfrm>
          <a:prstGeom prst="ellipse">
            <a:avLst/>
          </a:prstGeom>
          <a:solidFill>
            <a:srgbClr val="0F5C6B"/>
          </a:solidFill>
          <a:ln w="12700">
            <a:solidFill>
              <a:srgbClr val="0F5C6B"/>
            </a:solidFill>
            <a:prstDash val="solid"/>
          </a:ln>
        </p:spPr>
      </p:sp>
      <p:sp>
        <p:nvSpPr>
          <p:cNvPr id="66" name="Text 64"/>
          <p:cNvSpPr txBox="1"/>
          <p:nvPr/>
        </p:nvSpPr>
        <p:spPr>
          <a:xfrm>
            <a:off x="832104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67" name="Text 65"/>
          <p:cNvSpPr txBox="1"/>
          <p:nvPr/>
        </p:nvSpPr>
        <p:spPr>
          <a:xfrm>
            <a:off x="8823960" y="2770632"/>
            <a:ext cx="2880360" cy="566928"/>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Sự kiện neo mỗi fact vào một mốc thời gian</a:t>
            </a:r>
            <a:endParaRPr lang="en-US" sz="1350" dirty="0"/>
          </a:p>
        </p:txBody>
      </p:sp>
      <p:sp>
        <p:nvSpPr>
          <p:cNvPr id="68" name="Text 66"/>
          <p:cNvSpPr txBox="1"/>
          <p:nvPr/>
        </p:nvSpPr>
        <p:spPr>
          <a:xfrm>
            <a:off x="8823960" y="3337560"/>
            <a:ext cx="2880360" cy="7315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Mốc quy về ISO ngay lúc ghi: "last week" nói ngày 27/05 → 2023-05-20.</a:t>
            </a:r>
            <a:endParaRPr lang="en-US" sz="1150" dirty="0"/>
          </a:p>
        </p:txBody>
      </p:sp>
      <p:sp>
        <p:nvSpPr>
          <p:cNvPr id="69" name="Shape 67"/>
          <p:cNvSpPr/>
          <p:nvPr/>
        </p:nvSpPr>
        <p:spPr>
          <a:xfrm>
            <a:off x="8321040" y="4160520"/>
            <a:ext cx="384048" cy="384048"/>
          </a:xfrm>
          <a:prstGeom prst="ellipse">
            <a:avLst/>
          </a:prstGeom>
          <a:solidFill>
            <a:srgbClr val="0F5C6B"/>
          </a:solidFill>
          <a:ln w="12700">
            <a:solidFill>
              <a:srgbClr val="0F5C6B"/>
            </a:solidFill>
            <a:prstDash val="solid"/>
          </a:ln>
        </p:spPr>
      </p:sp>
      <p:sp>
        <p:nvSpPr>
          <p:cNvPr id="70" name="Text 68"/>
          <p:cNvSpPr txBox="1"/>
          <p:nvPr/>
        </p:nvSpPr>
        <p:spPr>
          <a:xfrm>
            <a:off x="8321040" y="4160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71" name="Text 69"/>
          <p:cNvSpPr txBox="1"/>
          <p:nvPr/>
        </p:nvSpPr>
        <p:spPr>
          <a:xfrm>
            <a:off x="8823960" y="4142232"/>
            <a:ext cx="2880360" cy="566928"/>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Bằng chứng nối fact về đúng lượt gốc</a:t>
            </a:r>
            <a:endParaRPr lang="en-US" sz="1350" dirty="0"/>
          </a:p>
        </p:txBody>
      </p:sp>
      <p:sp>
        <p:nvSpPr>
          <p:cNvPr id="72" name="Text 70"/>
          <p:cNvSpPr txBox="1"/>
          <p:nvPr/>
        </p:nvSpPr>
        <p:spPr>
          <a:xfrm>
            <a:off x="8823960" y="4709160"/>
            <a:ext cx="2880360" cy="7315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Truy ngược được "vì sao hệ nhớ điều này"; agent đọc lại nguyên văn khi fact chưa đủ.</a:t>
            </a:r>
            <a:endParaRPr lang="en-US" sz="1150" dirty="0"/>
          </a:p>
        </p:txBody>
      </p:sp>
      <p:sp>
        <p:nvSpPr>
          <p:cNvPr id="73" name="Shape 71"/>
          <p:cNvSpPr/>
          <p:nvPr/>
        </p:nvSpPr>
        <p:spPr>
          <a:xfrm>
            <a:off x="8321040" y="5532120"/>
            <a:ext cx="3383280" cy="731520"/>
          </a:xfrm>
          <a:prstGeom prst="roundRect">
            <a:avLst>
              <a:gd name="adj" fmla="val 7500"/>
            </a:avLst>
          </a:prstGeom>
          <a:solidFill>
            <a:srgbClr val="E6F0F2"/>
          </a:solidFill>
          <a:ln w="12700">
            <a:solidFill>
              <a:srgbClr val="E6F0F2"/>
            </a:solidFill>
            <a:prstDash val="solid"/>
          </a:ln>
        </p:spPr>
      </p:sp>
      <p:sp>
        <p:nvSpPr>
          <p:cNvPr id="74" name="Text 72"/>
          <p:cNvSpPr txBox="1"/>
          <p:nvPr/>
        </p:nvSpPr>
        <p:spPr>
          <a:xfrm>
            <a:off x="8458200" y="5577840"/>
            <a:ext cx="3154680" cy="640080"/>
          </a:xfrm>
          <a:prstGeom prst="rect">
            <a:avLst/>
          </a:prstGeom>
          <a:noFill/>
          <a:ln/>
        </p:spPr>
        <p:txBody>
          <a:bodyPr wrap="square" lIns="0" tIns="0" rIns="0" bIns="0" rtlCol="0" anchor="ctr"/>
          <a:lstStyle/>
          <a:p>
            <a:pPr indent="0" marL="0">
              <a:buNone/>
            </a:pPr>
            <a:r>
              <a:rPr lang="en-US" sz="1050" dirty="0">
                <a:solidFill>
                  <a:srgbClr val="1E2A32"/>
                </a:solidFill>
                <a:latin typeface="Calibri" pitchFamily="34" charset="0"/>
                <a:ea typeface="Calibri" pitchFamily="34" charset="-122"/>
                <a:cs typeface="Calibri" pitchFamily="34" charset="-120"/>
              </a:rPr>
              <a:t>Chỉ mục vector (BGE-M3) và FTS5 là dẫn xuất — dựng lại được từ 7 bảng. Bảng trace/meta ghi nhật ký, agent không đọc được.</a:t>
            </a:r>
            <a:endParaRPr lang="en-US" sz="1050" dirty="0"/>
          </a:p>
        </p:txBody>
      </p:sp>
      <p:sp>
        <p:nvSpPr>
          <p:cNvPr id="75" name="Text 73"/>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Tên 7 bảng theo Banerjee et al., APEX-MEM, ACL 2026 (§4.3); cột do nhóm thiết kế từ định nghĩa hình thức ở §3.1.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1 · LƯỢC ĐỒ BỘ NHỚ</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Cập nhật kiến thức: giữ mọi phiên bản, chọn bản mới lúc đọc</a:t>
            </a:r>
            <a:endParaRPr lang="en-US" sz="2800" dirty="0"/>
          </a:p>
        </p:txBody>
      </p:sp>
      <p:sp>
        <p:nvSpPr>
          <p:cNvPr id="4" name="Text 2"/>
          <p:cNvSpPr txBox="1"/>
          <p:nvPr/>
        </p:nvSpPr>
        <p:spPr>
          <a:xfrm>
            <a:off x="548640" y="1325880"/>
            <a:ext cx="10972800" cy="320040"/>
          </a:xfrm>
          <a:prstGeom prst="rect">
            <a:avLst/>
          </a:prstGeom>
          <a:noFill/>
          <a:ln/>
        </p:spPr>
        <p:txBody>
          <a:bodyPr wrap="square" lIns="0" tIns="0" rIns="0" bIns="0" rtlCol="0" anchor="t"/>
          <a:lstStyle/>
          <a:p>
            <a:pPr indent="0" marL="0">
              <a:buNone/>
            </a:pPr>
            <a:r>
              <a:rPr lang="en-US" sz="1300" i="1" dirty="0">
                <a:solidFill>
                  <a:srgbClr val="5B6B73"/>
                </a:solidFill>
                <a:latin typeface="Calibri" pitchFamily="34" charset="0"/>
                <a:ea typeface="Calibri" pitchFamily="34" charset="-122"/>
                <a:cs typeface="Calibri" pitchFamily="34" charset="-120"/>
              </a:rPr>
              <a:t>Ví dụ thật — câu knowledge-update 1cea1afa: “How many Instagram followers do I currently have?”</a:t>
            </a:r>
            <a:endParaRPr lang="en-US" sz="1300" dirty="0"/>
          </a:p>
        </p:txBody>
      </p:sp>
      <p:sp>
        <p:nvSpPr>
          <p:cNvPr id="5" name="Shape 3"/>
          <p:cNvSpPr/>
          <p:nvPr/>
        </p:nvSpPr>
        <p:spPr>
          <a:xfrm>
            <a:off x="548640" y="1828800"/>
            <a:ext cx="5120640" cy="914400"/>
          </a:xfrm>
          <a:prstGeom prst="roundRect">
            <a:avLst>
              <a:gd name="adj" fmla="val 6000"/>
            </a:avLst>
          </a:prstGeom>
          <a:solidFill>
            <a:srgbClr val="F3F7F8"/>
          </a:solidFill>
          <a:ln w="12700">
            <a:solidFill>
              <a:srgbClr val="F3F7F8"/>
            </a:solidFill>
            <a:prstDash val="solid"/>
          </a:ln>
        </p:spPr>
      </p:sp>
      <p:sp>
        <p:nvSpPr>
          <p:cNvPr id="6" name="Text 4"/>
          <p:cNvSpPr txBox="1"/>
          <p:nvPr/>
        </p:nvSpPr>
        <p:spPr>
          <a:xfrm>
            <a:off x="731520" y="1920240"/>
            <a:ext cx="1828800" cy="274320"/>
          </a:xfrm>
          <a:prstGeom prst="rect">
            <a:avLst/>
          </a:prstGeom>
          <a:noFill/>
          <a:ln/>
        </p:spPr>
        <p:txBody>
          <a:bodyPr wrap="square" lIns="0" tIns="0" rIns="0" bIns="0" rtlCol="0" anchor="t"/>
          <a:lstStyle/>
          <a:p>
            <a:pPr indent="0" marL="0">
              <a:buNone/>
            </a:pPr>
            <a:r>
              <a:rPr lang="en-US" sz="1100" b="1" dirty="0">
                <a:solidFill>
                  <a:srgbClr val="0F5C6B"/>
                </a:solidFill>
                <a:latin typeface="Calibri" pitchFamily="34" charset="0"/>
                <a:ea typeface="Calibri" pitchFamily="34" charset="-122"/>
                <a:cs typeface="Calibri" pitchFamily="34" charset="-120"/>
              </a:rPr>
              <a:t>Phiên 27/05/2023</a:t>
            </a:r>
            <a:endParaRPr lang="en-US" sz="1100" dirty="0"/>
          </a:p>
        </p:txBody>
      </p:sp>
      <p:sp>
        <p:nvSpPr>
          <p:cNvPr id="7" name="Text 5"/>
          <p:cNvSpPr txBox="1"/>
          <p:nvPr/>
        </p:nvSpPr>
        <p:spPr>
          <a:xfrm>
            <a:off x="731520" y="2176272"/>
            <a:ext cx="4846320" cy="274320"/>
          </a:xfrm>
          <a:prstGeom prst="rect">
            <a:avLst/>
          </a:prstGeom>
          <a:noFill/>
          <a:ln/>
        </p:spPr>
        <p:txBody>
          <a:bodyPr wrap="square" lIns="0" tIns="0" rIns="0" bIns="0" rtlCol="0" anchor="t"/>
          <a:lstStyle/>
          <a:p>
            <a:pPr indent="0" marL="0">
              <a:buNone/>
            </a:pPr>
            <a:r>
              <a:rPr lang="en-US" sz="1300" i="1" dirty="0">
                <a:solidFill>
                  <a:srgbClr val="1E2A32"/>
                </a:solidFill>
                <a:latin typeface="Calibri" pitchFamily="34" charset="0"/>
                <a:ea typeface="Calibri" pitchFamily="34" charset="-122"/>
                <a:cs typeface="Calibri" pitchFamily="34" charset="-120"/>
              </a:rPr>
              <a:t>“I just reached 500 followers last week”</a:t>
            </a:r>
            <a:endParaRPr lang="en-US" sz="1300" dirty="0"/>
          </a:p>
        </p:txBody>
      </p:sp>
      <p:sp>
        <p:nvSpPr>
          <p:cNvPr id="8" name="Text 6"/>
          <p:cNvSpPr txBox="1"/>
          <p:nvPr/>
        </p:nvSpPr>
        <p:spPr>
          <a:xfrm>
            <a:off x="731520" y="2432304"/>
            <a:ext cx="4846320" cy="274320"/>
          </a:xfrm>
          <a:prstGeom prst="rect">
            <a:avLst/>
          </a:prstGeom>
          <a:noFill/>
          <a:ln/>
        </p:spPr>
        <p:txBody>
          <a:bodyPr wrap="square" lIns="0" tIns="0" rIns="0" bIns="0" rtlCol="0" anchor="t"/>
          <a:lstStyle/>
          <a:p>
            <a:pPr indent="0" marL="0">
              <a:buNone/>
            </a:pPr>
            <a:r>
              <a:rPr lang="en-US" sz="1050" dirty="0">
                <a:solidFill>
                  <a:srgbClr val="5B6B73"/>
                </a:solidFill>
                <a:latin typeface="Courier New" pitchFamily="34" charset="0"/>
                <a:ea typeface="Courier New" pitchFamily="34" charset="-122"/>
                <a:cs typeface="Courier New" pitchFamily="34" charset="-120"/>
              </a:rPr>
              <a:t>→ fact 500, t_from = 2023-05-20</a:t>
            </a:r>
            <a:endParaRPr lang="en-US" sz="1050" dirty="0"/>
          </a:p>
        </p:txBody>
      </p:sp>
      <p:sp>
        <p:nvSpPr>
          <p:cNvPr id="9" name="Shape 7"/>
          <p:cNvSpPr/>
          <p:nvPr/>
        </p:nvSpPr>
        <p:spPr>
          <a:xfrm>
            <a:off x="548640" y="2926080"/>
            <a:ext cx="5120640" cy="914400"/>
          </a:xfrm>
          <a:prstGeom prst="roundRect">
            <a:avLst>
              <a:gd name="adj" fmla="val 6000"/>
            </a:avLst>
          </a:prstGeom>
          <a:solidFill>
            <a:srgbClr val="F3F7F8"/>
          </a:solidFill>
          <a:ln w="12700">
            <a:solidFill>
              <a:srgbClr val="F3F7F8"/>
            </a:solidFill>
            <a:prstDash val="solid"/>
          </a:ln>
        </p:spPr>
      </p:sp>
      <p:sp>
        <p:nvSpPr>
          <p:cNvPr id="10" name="Text 8"/>
          <p:cNvSpPr txBox="1"/>
          <p:nvPr/>
        </p:nvSpPr>
        <p:spPr>
          <a:xfrm>
            <a:off x="731520" y="3017520"/>
            <a:ext cx="1828800" cy="274320"/>
          </a:xfrm>
          <a:prstGeom prst="rect">
            <a:avLst/>
          </a:prstGeom>
          <a:noFill/>
          <a:ln/>
        </p:spPr>
        <p:txBody>
          <a:bodyPr wrap="square" lIns="0" tIns="0" rIns="0" bIns="0" rtlCol="0" anchor="t"/>
          <a:lstStyle/>
          <a:p>
            <a:pPr indent="0" marL="0">
              <a:buNone/>
            </a:pPr>
            <a:r>
              <a:rPr lang="en-US" sz="1100" b="1" dirty="0">
                <a:solidFill>
                  <a:srgbClr val="0F5C6B"/>
                </a:solidFill>
                <a:latin typeface="Calibri" pitchFamily="34" charset="0"/>
                <a:ea typeface="Calibri" pitchFamily="34" charset="-122"/>
                <a:cs typeface="Calibri" pitchFamily="34" charset="-120"/>
              </a:rPr>
              <a:t>Phiên 28/05/2023</a:t>
            </a:r>
            <a:endParaRPr lang="en-US" sz="1100" dirty="0"/>
          </a:p>
        </p:txBody>
      </p:sp>
      <p:sp>
        <p:nvSpPr>
          <p:cNvPr id="11" name="Text 9"/>
          <p:cNvSpPr txBox="1"/>
          <p:nvPr/>
        </p:nvSpPr>
        <p:spPr>
          <a:xfrm>
            <a:off x="731520" y="3273552"/>
            <a:ext cx="4846320" cy="274320"/>
          </a:xfrm>
          <a:prstGeom prst="rect">
            <a:avLst/>
          </a:prstGeom>
          <a:noFill/>
          <a:ln/>
        </p:spPr>
        <p:txBody>
          <a:bodyPr wrap="square" lIns="0" tIns="0" rIns="0" bIns="0" rtlCol="0" anchor="t"/>
          <a:lstStyle/>
          <a:p>
            <a:pPr indent="0" marL="0">
              <a:buNone/>
            </a:pPr>
            <a:r>
              <a:rPr lang="en-US" sz="1300" i="1" dirty="0">
                <a:solidFill>
                  <a:srgbClr val="1E2A32"/>
                </a:solidFill>
                <a:latin typeface="Calibri" pitchFamily="34" charset="0"/>
                <a:ea typeface="Calibri" pitchFamily="34" charset="-122"/>
                <a:cs typeface="Calibri" pitchFamily="34" charset="-120"/>
              </a:rPr>
              <a:t>“I'm now at 600 followers”</a:t>
            </a:r>
            <a:endParaRPr lang="en-US" sz="1300" dirty="0"/>
          </a:p>
        </p:txBody>
      </p:sp>
      <p:sp>
        <p:nvSpPr>
          <p:cNvPr id="12" name="Text 10"/>
          <p:cNvSpPr txBox="1"/>
          <p:nvPr/>
        </p:nvSpPr>
        <p:spPr>
          <a:xfrm>
            <a:off x="731520" y="3529584"/>
            <a:ext cx="4846320" cy="274320"/>
          </a:xfrm>
          <a:prstGeom prst="rect">
            <a:avLst/>
          </a:prstGeom>
          <a:noFill/>
          <a:ln/>
        </p:spPr>
        <p:txBody>
          <a:bodyPr wrap="square" lIns="0" tIns="0" rIns="0" bIns="0" rtlCol="0" anchor="t"/>
          <a:lstStyle/>
          <a:p>
            <a:pPr indent="0" marL="0">
              <a:buNone/>
            </a:pPr>
            <a:r>
              <a:rPr lang="en-US" sz="1050" dirty="0">
                <a:solidFill>
                  <a:srgbClr val="5B6B73"/>
                </a:solidFill>
                <a:latin typeface="Courier New" pitchFamily="34" charset="0"/>
                <a:ea typeface="Courier New" pitchFamily="34" charset="-122"/>
                <a:cs typeface="Courier New" pitchFamily="34" charset="-120"/>
              </a:rPr>
              <a:t>→ fact 600, t_from = 2023-05-28</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5120640" cy="914400"/>
        </p:xfrm>
        <a:graphic>
          <a:graphicData uri="http://schemas.openxmlformats.org/drawingml/2006/table">
            <a:tbl>
              <a:tblPr/>
              <a:tblGrid>
                <a:gridCol w="731520"/>
                <a:gridCol w="2514600"/>
                <a:gridCol w="685800"/>
                <a:gridCol w="1188720"/>
              </a:tblGrid>
              <a:tr h="31089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fact_id</a:t>
                      </a:r>
                      <a:endParaRPr lang="en-US" sz="10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property (subject = User)</a:t>
                      </a:r>
                      <a:endParaRPr lang="en-US" sz="10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t_from</a:t>
                      </a:r>
                      <a:endParaRPr lang="en-US" sz="10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310896">
                <a:tc>
                  <a:txBody>
                    <a:bodyPr/>
                    <a:lstStyle/>
                    <a:p>
                      <a:pPr indent="0" marL="0">
                        <a:buNone/>
                      </a:pPr>
                      <a:r>
                        <a:rPr lang="en-US" sz="1000" dirty="0">
                          <a:solidFill>
                            <a:srgbClr val="1E2A32"/>
                          </a:solidFill>
                          <a:latin typeface="Courier New" pitchFamily="34" charset="0"/>
                          <a:ea typeface="Courier New" pitchFamily="34" charset="-122"/>
                          <a:cs typeface="Courier New" pitchFamily="34" charset="-120"/>
                        </a:rPr>
                        <a:t>1</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950" dirty="0">
                          <a:solidFill>
                            <a:srgbClr val="1E2A32"/>
                          </a:solidFill>
                          <a:latin typeface="Courier New" pitchFamily="34" charset="0"/>
                          <a:ea typeface="Courier New" pitchFamily="34" charset="-122"/>
                          <a:cs typeface="Courier New" pitchFamily="34" charset="-120"/>
                        </a:rPr>
                        <a:t>instagram_follower_count</a:t>
                      </a:r>
                      <a:endParaRPr lang="en-US" sz="9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00" dirty="0">
                          <a:solidFill>
                            <a:srgbClr val="1E2A32"/>
                          </a:solidFill>
                          <a:latin typeface="Courier New" pitchFamily="34" charset="0"/>
                          <a:ea typeface="Courier New" pitchFamily="34" charset="-122"/>
                          <a:cs typeface="Courier New" pitchFamily="34" charset="-120"/>
                        </a:rPr>
                        <a:t>2023-05-20</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1E2A32"/>
                          </a:solidFill>
                          <a:latin typeface="Courier New" pitchFamily="34" charset="0"/>
                          <a:ea typeface="Courier New" pitchFamily="34" charset="-122"/>
                          <a:cs typeface="Courier New" pitchFamily="34" charset="-120"/>
                        </a:rPr>
                        <a:t>64</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950" b="1" dirty="0">
                          <a:solidFill>
                            <a:srgbClr val="1E2A32"/>
                          </a:solidFill>
                          <a:latin typeface="Courier New" pitchFamily="34" charset="0"/>
                          <a:ea typeface="Courier New" pitchFamily="34" charset="-122"/>
                          <a:cs typeface="Courier New" pitchFamily="34" charset="-120"/>
                        </a:rPr>
                        <a:t>instagram_follower_count</a:t>
                      </a:r>
                      <a:endParaRPr lang="en-US" sz="9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b="1" dirty="0">
                          <a:solidFill>
                            <a:srgbClr val="1E2A32"/>
                          </a:solidFill>
                          <a:latin typeface="Calibri" pitchFamily="34" charset="0"/>
                          <a:ea typeface="Calibri" pitchFamily="34" charset="-122"/>
                          <a:cs typeface="Calibri" pitchFamily="34" charset="-120"/>
                        </a:rPr>
                        <a:t>600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00" b="1" dirty="0">
                          <a:solidFill>
                            <a:srgbClr val="1E2A32"/>
                          </a:solidFill>
                          <a:latin typeface="Courier New" pitchFamily="34" charset="0"/>
                          <a:ea typeface="Courier New" pitchFamily="34" charset="-122"/>
                          <a:cs typeface="Courier New" pitchFamily="34" charset="-120"/>
                        </a:rPr>
                        <a:t>2023-05-28</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bl>
          </a:graphicData>
        </a:graphic>
      </p:graphicFrame>
      <p:sp>
        <p:nvSpPr>
          <p:cNvPr id="14" name="Shape 11"/>
          <p:cNvSpPr/>
          <p:nvPr/>
        </p:nvSpPr>
        <p:spPr>
          <a:xfrm>
            <a:off x="548640" y="5230368"/>
            <a:ext cx="5120640" cy="868680"/>
          </a:xfrm>
          <a:prstGeom prst="roundRect">
            <a:avLst>
              <a:gd name="adj" fmla="val 6316"/>
            </a:avLst>
          </a:prstGeom>
          <a:solidFill>
            <a:srgbClr val="FBF1E3"/>
          </a:solidFill>
          <a:ln w="12700">
            <a:solidFill>
              <a:srgbClr val="FBF1E3"/>
            </a:solidFill>
            <a:prstDash val="solid"/>
          </a:ln>
        </p:spPr>
      </p:sp>
      <p:sp>
        <p:nvSpPr>
          <p:cNvPr id="15" name="Text 12"/>
          <p:cNvSpPr txBox="1"/>
          <p:nvPr/>
        </p:nvSpPr>
        <p:spPr>
          <a:xfrm>
            <a:off x="731520" y="5285232"/>
            <a:ext cx="4800600" cy="777240"/>
          </a:xfrm>
          <a:prstGeom prst="rect">
            <a:avLst/>
          </a:prstGeom>
          <a:noFill/>
          <a:ln/>
        </p:spPr>
        <p:txBody>
          <a:bodyPr wrap="square" lIns="0" tIns="0" rIns="0" bIns="0" rtlCol="0" anchor="ctr"/>
          <a:lstStyle/>
          <a:p>
            <a:pPr indent="0" marL="0">
              <a:buNone/>
            </a:pPr>
            <a:r>
              <a:rPr lang="en-US" sz="1250" dirty="0">
                <a:solidFill>
                  <a:srgbClr val="1E2A32"/>
                </a:solidFill>
                <a:latin typeface="Calibri" pitchFamily="34" charset="0"/>
                <a:ea typeface="Calibri" pitchFamily="34" charset="-122"/>
                <a:cs typeface="Calibri" pitchFamily="34" charset="-120"/>
              </a:rPr>
              <a:t>Cả hai dòng cùng tồn tại. Hỏi “hiện tại” → dòng có t_from mới nhất (600). Hỏi “trước đây” → vẫn còn 500.</a:t>
            </a:r>
            <a:endParaRPr lang="en-US" sz="1250" dirty="0"/>
          </a:p>
        </p:txBody>
      </p:sp>
      <p:sp>
        <p:nvSpPr>
          <p:cNvPr id="16" name="Shape 13"/>
          <p:cNvSpPr/>
          <p:nvPr/>
        </p:nvSpPr>
        <p:spPr>
          <a:xfrm>
            <a:off x="6126480" y="1828800"/>
            <a:ext cx="5486400" cy="1143000"/>
          </a:xfrm>
          <a:prstGeom prst="roundRect">
            <a:avLst>
              <a:gd name="adj" fmla="val 4800"/>
            </a:avLst>
          </a:prstGeom>
          <a:solidFill>
            <a:srgbClr val="F3F7F8"/>
          </a:solidFill>
          <a:ln w="12700">
            <a:solidFill>
              <a:srgbClr val="F3F7F8"/>
            </a:solidFill>
            <a:prstDash val="solid"/>
          </a:ln>
        </p:spPr>
      </p:sp>
      <p:sp>
        <p:nvSpPr>
          <p:cNvPr id="17" name="Shape 14"/>
          <p:cNvSpPr/>
          <p:nvPr/>
        </p:nvSpPr>
        <p:spPr>
          <a:xfrm>
            <a:off x="6355080" y="2011680"/>
            <a:ext cx="384048" cy="384048"/>
          </a:xfrm>
          <a:prstGeom prst="ellipse">
            <a:avLst/>
          </a:prstGeom>
          <a:solidFill>
            <a:srgbClr val="D98C1F"/>
          </a:solidFill>
          <a:ln w="12700">
            <a:solidFill>
              <a:srgbClr val="D98C1F"/>
            </a:solidFill>
            <a:prstDash val="solid"/>
          </a:ln>
        </p:spPr>
      </p:sp>
      <p:sp>
        <p:nvSpPr>
          <p:cNvPr id="18" name="Text 15"/>
          <p:cNvSpPr txBox="1"/>
          <p:nvPr/>
        </p:nvSpPr>
        <p:spPr>
          <a:xfrm>
            <a:off x="635508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9" name="Text 16"/>
          <p:cNvSpPr txBox="1"/>
          <p:nvPr/>
        </p:nvSpPr>
        <p:spPr>
          <a:xfrm>
            <a:off x="6903720" y="1984248"/>
            <a:ext cx="4572000" cy="320040"/>
          </a:xfrm>
          <a:prstGeom prst="rect">
            <a:avLst/>
          </a:prstGeom>
          <a:noFill/>
          <a:ln/>
        </p:spPr>
        <p:txBody>
          <a:bodyPr wrap="square" lIns="0" tIns="0" rIns="0" bIns="0" rtlCol="0" anchor="t"/>
          <a:lstStyle/>
          <a:p>
            <a:pPr indent="0" marL="0">
              <a:buNone/>
            </a:pPr>
            <a:r>
              <a:rPr lang="en-US" sz="1400" b="1" dirty="0">
                <a:solidFill>
                  <a:srgbClr val="12232E"/>
                </a:solidFill>
                <a:latin typeface="Calibri" pitchFamily="34" charset="0"/>
                <a:ea typeface="Calibri" pitchFamily="34" charset="-122"/>
                <a:cs typeface="Calibri" pitchFamily="34" charset="-120"/>
              </a:rPr>
              <a:t>Append-only, chặn ngay trong DB</a:t>
            </a:r>
            <a:endParaRPr lang="en-US" sz="1400" dirty="0"/>
          </a:p>
        </p:txBody>
      </p:sp>
      <p:sp>
        <p:nvSpPr>
          <p:cNvPr id="20" name="Text 17"/>
          <p:cNvSpPr txBox="1"/>
          <p:nvPr/>
        </p:nvSpPr>
        <p:spPr>
          <a:xfrm>
            <a:off x="6903720" y="2331720"/>
            <a:ext cx="4572000" cy="5943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Trigger SQLite từ chối mọi UPDATE/DELETE trên facts, evidence, events, turns — không chỉ dựa vào code Python.</a:t>
            </a:r>
            <a:endParaRPr lang="en-US" sz="1150" dirty="0"/>
          </a:p>
        </p:txBody>
      </p:sp>
      <p:sp>
        <p:nvSpPr>
          <p:cNvPr id="21" name="Shape 18"/>
          <p:cNvSpPr/>
          <p:nvPr/>
        </p:nvSpPr>
        <p:spPr>
          <a:xfrm>
            <a:off x="6126480" y="3154680"/>
            <a:ext cx="5486400" cy="1143000"/>
          </a:xfrm>
          <a:prstGeom prst="roundRect">
            <a:avLst>
              <a:gd name="adj" fmla="val 4800"/>
            </a:avLst>
          </a:prstGeom>
          <a:solidFill>
            <a:srgbClr val="F3F7F8"/>
          </a:solidFill>
          <a:ln w="12700">
            <a:solidFill>
              <a:srgbClr val="F3F7F8"/>
            </a:solidFill>
            <a:prstDash val="solid"/>
          </a:ln>
        </p:spPr>
      </p:sp>
      <p:sp>
        <p:nvSpPr>
          <p:cNvPr id="22" name="Shape 19"/>
          <p:cNvSpPr/>
          <p:nvPr/>
        </p:nvSpPr>
        <p:spPr>
          <a:xfrm>
            <a:off x="6355080" y="3337560"/>
            <a:ext cx="384048" cy="384048"/>
          </a:xfrm>
          <a:prstGeom prst="ellipse">
            <a:avLst/>
          </a:prstGeom>
          <a:solidFill>
            <a:srgbClr val="D98C1F"/>
          </a:solidFill>
          <a:ln w="12700">
            <a:solidFill>
              <a:srgbClr val="D98C1F"/>
            </a:solidFill>
            <a:prstDash val="solid"/>
          </a:ln>
        </p:spPr>
      </p:sp>
      <p:sp>
        <p:nvSpPr>
          <p:cNvPr id="23" name="Text 20"/>
          <p:cNvSpPr txBox="1"/>
          <p:nvPr/>
        </p:nvSpPr>
        <p:spPr>
          <a:xfrm>
            <a:off x="6355080" y="3337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4" name="Text 21"/>
          <p:cNvSpPr txBox="1"/>
          <p:nvPr/>
        </p:nvSpPr>
        <p:spPr>
          <a:xfrm>
            <a:off x="6903720" y="3310128"/>
            <a:ext cx="4572000" cy="320040"/>
          </a:xfrm>
          <a:prstGeom prst="rect">
            <a:avLst/>
          </a:prstGeom>
          <a:noFill/>
          <a:ln/>
        </p:spPr>
        <p:txBody>
          <a:bodyPr wrap="square" lIns="0" tIns="0" rIns="0" bIns="0" rtlCol="0" anchor="t"/>
          <a:lstStyle/>
          <a:p>
            <a:pPr indent="0" marL="0">
              <a:buNone/>
            </a:pPr>
            <a:r>
              <a:rPr lang="en-US" sz="1400" b="1" dirty="0">
                <a:solidFill>
                  <a:srgbClr val="12232E"/>
                </a:solidFill>
                <a:latin typeface="Calibri" pitchFamily="34" charset="0"/>
                <a:ea typeface="Calibri" pitchFamily="34" charset="-122"/>
                <a:cs typeface="Calibri" pitchFamily="34" charset="-120"/>
              </a:rPr>
              <a:t>“Mới nhất” quyết định lúc đọc</a:t>
            </a:r>
            <a:endParaRPr lang="en-US" sz="1400" dirty="0"/>
          </a:p>
        </p:txBody>
      </p:sp>
      <p:sp>
        <p:nvSpPr>
          <p:cNvPr id="25" name="Text 22"/>
          <p:cNvSpPr txBox="1"/>
          <p:nvPr/>
        </p:nvSpPr>
        <p:spPr>
          <a:xfrm>
            <a:off x="6903720" y="3657600"/>
            <a:ext cx="4572000" cy="5943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Thời điểm hiệu lực = COALESCE(t_from, anchor_datetime). Lấy bản mới nhất bằng SQL, tất định, không nhờ LLM đoán.</a:t>
            </a:r>
            <a:endParaRPr lang="en-US" sz="1150" dirty="0"/>
          </a:p>
        </p:txBody>
      </p:sp>
      <p:sp>
        <p:nvSpPr>
          <p:cNvPr id="26" name="Shape 23"/>
          <p:cNvSpPr/>
          <p:nvPr/>
        </p:nvSpPr>
        <p:spPr>
          <a:xfrm>
            <a:off x="6126480" y="4480560"/>
            <a:ext cx="5486400" cy="1143000"/>
          </a:xfrm>
          <a:prstGeom prst="roundRect">
            <a:avLst>
              <a:gd name="adj" fmla="val 4800"/>
            </a:avLst>
          </a:prstGeom>
          <a:solidFill>
            <a:srgbClr val="F3F7F8"/>
          </a:solidFill>
          <a:ln w="12700">
            <a:solidFill>
              <a:srgbClr val="F3F7F8"/>
            </a:solidFill>
            <a:prstDash val="solid"/>
          </a:ln>
        </p:spPr>
      </p:sp>
      <p:sp>
        <p:nvSpPr>
          <p:cNvPr id="27" name="Shape 24"/>
          <p:cNvSpPr/>
          <p:nvPr/>
        </p:nvSpPr>
        <p:spPr>
          <a:xfrm>
            <a:off x="6355080" y="4663440"/>
            <a:ext cx="384048" cy="384048"/>
          </a:xfrm>
          <a:prstGeom prst="ellipse">
            <a:avLst/>
          </a:prstGeom>
          <a:solidFill>
            <a:srgbClr val="D98C1F"/>
          </a:solidFill>
          <a:ln w="12700">
            <a:solidFill>
              <a:srgbClr val="D98C1F"/>
            </a:solidFill>
            <a:prstDash val="solid"/>
          </a:ln>
        </p:spPr>
      </p:sp>
      <p:sp>
        <p:nvSpPr>
          <p:cNvPr id="28" name="Text 25"/>
          <p:cNvSpPr txBox="1"/>
          <p:nvPr/>
        </p:nvSpPr>
        <p:spPr>
          <a:xfrm>
            <a:off x="6355080" y="4663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9" name="Text 26"/>
          <p:cNvSpPr txBox="1"/>
          <p:nvPr/>
        </p:nvSpPr>
        <p:spPr>
          <a:xfrm>
            <a:off x="6903720" y="4636008"/>
            <a:ext cx="4572000" cy="320040"/>
          </a:xfrm>
          <a:prstGeom prst="rect">
            <a:avLst/>
          </a:prstGeom>
          <a:noFill/>
          <a:ln/>
        </p:spPr>
        <p:txBody>
          <a:bodyPr wrap="square" lIns="0" tIns="0" rIns="0" bIns="0" rtlCol="0" anchor="t"/>
          <a:lstStyle/>
          <a:p>
            <a:pPr indent="0" marL="0">
              <a:buNone/>
            </a:pPr>
            <a:r>
              <a:rPr lang="en-US" sz="1400" b="1" dirty="0">
                <a:solidFill>
                  <a:srgbClr val="12232E"/>
                </a:solidFill>
                <a:latin typeface="Calibri" pitchFamily="34" charset="0"/>
                <a:ea typeface="Calibri" pitchFamily="34" charset="-122"/>
                <a:cs typeface="Calibri" pitchFamily="34" charset="-120"/>
              </a:rPr>
              <a:t>Agent chỉ được đọc</a:t>
            </a:r>
            <a:endParaRPr lang="en-US" sz="1400" dirty="0"/>
          </a:p>
        </p:txBody>
      </p:sp>
      <p:sp>
        <p:nvSpPr>
          <p:cNvPr id="30" name="Text 27"/>
          <p:cNvSpPr txBox="1"/>
          <p:nvPr/>
        </p:nvSpPr>
        <p:spPr>
          <a:xfrm>
            <a:off x="6903720" y="4983480"/>
            <a:ext cx="4572000" cy="5943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GraphSQL có 3 lớp chặn: kết nối mode=ro · PRAGMA query_only · authorizer chỉ cho 7 bảng.</a:t>
            </a:r>
            <a:endParaRPr lang="en-US" sz="1150" dirty="0"/>
          </a:p>
        </p:txBody>
      </p:sp>
      <p:sp>
        <p:nvSpPr>
          <p:cNvPr id="31" name="Text 28"/>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Số liệu từ đồ thị thật của câu 1cea1afa (LongMemEval-S dev). Chính là tình huống N5 → N4 anh đã hỏi ở tuần 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2 · LUỒNG CHẠY — GHI</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Dựng bộ nhớ cho một câu hỏi: 4 bước</a:t>
            </a:r>
            <a:endParaRPr lang="en-US" sz="2800" dirty="0"/>
          </a:p>
        </p:txBody>
      </p:sp>
      <p:sp>
        <p:nvSpPr>
          <p:cNvPr id="4" name="Shape 2"/>
          <p:cNvSpPr/>
          <p:nvPr/>
        </p:nvSpPr>
        <p:spPr>
          <a:xfrm>
            <a:off x="548640" y="1325880"/>
            <a:ext cx="11064240" cy="548640"/>
          </a:xfrm>
          <a:prstGeom prst="roundRect">
            <a:avLst>
              <a:gd name="adj" fmla="val 10000"/>
            </a:avLst>
          </a:prstGeom>
          <a:solidFill>
            <a:srgbClr val="E6F0F2"/>
          </a:solidFill>
          <a:ln w="12700">
            <a:solidFill>
              <a:srgbClr val="E6F0F2"/>
            </a:solidFill>
            <a:prstDash val="solid"/>
          </a:ln>
        </p:spPr>
      </p:sp>
      <p:sp>
        <p:nvSpPr>
          <p:cNvPr id="5" name="Text 3"/>
          <p:cNvSpPr txBox="1"/>
          <p:nvPr/>
        </p:nvSpPr>
        <p:spPr>
          <a:xfrm>
            <a:off x="731520" y="1371600"/>
            <a:ext cx="10789920" cy="457200"/>
          </a:xfrm>
          <a:prstGeom prst="rect">
            <a:avLst/>
          </a:prstGeom>
          <a:noFill/>
          <a:ln/>
        </p:spPr>
        <p:txBody>
          <a:bodyPr wrap="square" lIns="0" tIns="0" rIns="0" bIns="0" rtlCol="0" anchor="ctr"/>
          <a:lstStyle/>
          <a:p>
            <a:pPr indent="0" marL="0">
              <a:buNone/>
            </a:pPr>
            <a:r>
              <a:rPr lang="en-US" sz="1250" b="1" dirty="0">
                <a:solidFill>
                  <a:srgbClr val="1E2A32"/>
                </a:solidFill>
                <a:latin typeface="Calibri" pitchFamily="34" charset="0"/>
                <a:ea typeface="Calibri" pitchFamily="34" charset="-122"/>
                <a:cs typeface="Calibri" pitchFamily="34" charset="-120"/>
              </a:rPr>
              <a:t>Ví dụ: câu multi-session 2b8f3739 — </a:t>
            </a:r>
            <a:pPr indent="0" marL="0">
              <a:buNone/>
            </a:pPr>
            <a:r>
              <a:rPr lang="en-US" sz="1250" dirty="0">
                <a:solidFill>
                  <a:srgbClr val="1E2A32"/>
                </a:solidFill>
                <a:latin typeface="Calibri" pitchFamily="34" charset="0"/>
                <a:ea typeface="Calibri" pitchFamily="34" charset="-122"/>
                <a:cs typeface="Calibri" pitchFamily="34" charset="-120"/>
              </a:rPr>
              <a:t>“What is the total amount of money I earned from selling my products at the markets?”  · đáp án chuẩn $495 · haystack 47 phiên, 491 lượt</a:t>
            </a:r>
            <a:endParaRPr lang="en-US" sz="1250" dirty="0"/>
          </a:p>
        </p:txBody>
      </p:sp>
      <p:sp>
        <p:nvSpPr>
          <p:cNvPr id="6" name="Shape 4"/>
          <p:cNvSpPr/>
          <p:nvPr/>
        </p:nvSpPr>
        <p:spPr>
          <a:xfrm>
            <a:off x="548640" y="2103120"/>
            <a:ext cx="2606040" cy="4023360"/>
          </a:xfrm>
          <a:prstGeom prst="roundRect">
            <a:avLst>
              <a:gd name="adj" fmla="val 2105"/>
            </a:avLst>
          </a:prstGeom>
          <a:solidFill>
            <a:srgbClr val="F3F7F8"/>
          </a:solidFill>
          <a:ln w="12700">
            <a:solidFill>
              <a:srgbClr val="F3F7F8"/>
            </a:solidFill>
            <a:prstDash val="solid"/>
          </a:ln>
        </p:spPr>
      </p:sp>
      <p:sp>
        <p:nvSpPr>
          <p:cNvPr id="7" name="Shape 5"/>
          <p:cNvSpPr/>
          <p:nvPr/>
        </p:nvSpPr>
        <p:spPr>
          <a:xfrm>
            <a:off x="777240" y="2286000"/>
            <a:ext cx="384048" cy="384048"/>
          </a:xfrm>
          <a:prstGeom prst="ellipse">
            <a:avLst/>
          </a:prstGeom>
          <a:solidFill>
            <a:srgbClr val="0F5C6B"/>
          </a:solidFill>
          <a:ln w="12700">
            <a:solidFill>
              <a:srgbClr val="0F5C6B"/>
            </a:solidFill>
            <a:prstDash val="solid"/>
          </a:ln>
        </p:spPr>
      </p:sp>
      <p:sp>
        <p:nvSpPr>
          <p:cNvPr id="8" name="Text 6"/>
          <p:cNvSpPr txBox="1"/>
          <p:nvPr/>
        </p:nvSpPr>
        <p:spPr>
          <a:xfrm>
            <a:off x="777240"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Shape 7"/>
          <p:cNvSpPr/>
          <p:nvPr/>
        </p:nvSpPr>
        <p:spPr>
          <a:xfrm>
            <a:off x="2011680" y="2350008"/>
            <a:ext cx="960120" cy="256032"/>
          </a:xfrm>
          <a:prstGeom prst="roundRect">
            <a:avLst>
              <a:gd name="adj" fmla="val 21429"/>
            </a:avLst>
          </a:prstGeom>
          <a:solidFill>
            <a:srgbClr val="E6F4EC"/>
          </a:solidFill>
          <a:ln w="12700">
            <a:solidFill>
              <a:srgbClr val="E6F4EC"/>
            </a:solidFill>
            <a:prstDash val="solid"/>
          </a:ln>
        </p:spPr>
      </p:sp>
      <p:sp>
        <p:nvSpPr>
          <p:cNvPr id="10" name="Text 8"/>
          <p:cNvSpPr txBox="1"/>
          <p:nvPr/>
        </p:nvSpPr>
        <p:spPr>
          <a:xfrm>
            <a:off x="2011680" y="2350008"/>
            <a:ext cx="960120" cy="256032"/>
          </a:xfrm>
          <a:prstGeom prst="rect">
            <a:avLst/>
          </a:prstGeom>
          <a:noFill/>
          <a:ln/>
        </p:spPr>
        <p:txBody>
          <a:bodyPr wrap="square" lIns="0" tIns="0" rIns="0" bIns="0" rtlCol="0" anchor="ctr"/>
          <a:lstStyle/>
          <a:p>
            <a:pPr algn="ctr" indent="0" marL="0">
              <a:buNone/>
            </a:pPr>
            <a:r>
              <a:rPr lang="en-US" sz="950" b="1" dirty="0">
                <a:solidFill>
                  <a:srgbClr val="1F7A4D"/>
                </a:solidFill>
                <a:latin typeface="Calibri" pitchFamily="34" charset="0"/>
                <a:ea typeface="Calibri" pitchFamily="34" charset="-122"/>
                <a:cs typeface="Calibri" pitchFamily="34" charset="-120"/>
              </a:rPr>
              <a:t>0 LLM</a:t>
            </a:r>
            <a:endParaRPr lang="en-US" sz="950" dirty="0"/>
          </a:p>
        </p:txBody>
      </p:sp>
      <p:sp>
        <p:nvSpPr>
          <p:cNvPr id="11" name="Text 9"/>
          <p:cNvSpPr txBox="1"/>
          <p:nvPr/>
        </p:nvSpPr>
        <p:spPr>
          <a:xfrm>
            <a:off x="777240" y="2788920"/>
            <a:ext cx="2194560" cy="365760"/>
          </a:xfrm>
          <a:prstGeom prst="rect">
            <a:avLst/>
          </a:prstGeom>
          <a:noFill/>
          <a:ln/>
        </p:spPr>
        <p:txBody>
          <a:bodyPr wrap="square" lIns="0" tIns="0" rIns="0" bIns="0" rtlCol="0" anchor="t"/>
          <a:lstStyle/>
          <a:p>
            <a:pPr indent="0" marL="0">
              <a:buNone/>
            </a:pPr>
            <a:r>
              <a:rPr lang="en-US" sz="1700" b="1" dirty="0">
                <a:solidFill>
                  <a:srgbClr val="12232E"/>
                </a:solidFill>
                <a:latin typeface="Cambria" pitchFamily="34" charset="0"/>
                <a:ea typeface="Cambria" pitchFamily="34" charset="-122"/>
                <a:cs typeface="Cambria" pitchFamily="34" charset="-120"/>
              </a:rPr>
              <a:t>Lọc phiên</a:t>
            </a:r>
            <a:endParaRPr lang="en-US" sz="1700" dirty="0"/>
          </a:p>
        </p:txBody>
      </p:sp>
      <p:sp>
        <p:nvSpPr>
          <p:cNvPr id="12" name="Text 10"/>
          <p:cNvSpPr txBox="1"/>
          <p:nvPr/>
        </p:nvSpPr>
        <p:spPr>
          <a:xfrm>
            <a:off x="777240" y="3200400"/>
            <a:ext cx="2194560" cy="178308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Điểm mỗi phiên = cosine lớn nhất giữa câu hỏi và các lượt (BGE-M3, lấy từ cache Kaggle).</a:t>
            </a:r>
            <a:endParaRPr lang="en-US" sz="1250" dirty="0"/>
          </a:p>
          <a:p>
            <a:pPr indent="0" marL="0">
              <a:buNone/>
            </a:pPr>
            <a:r>
              <a:rPr lang="en-US" sz="1250" dirty="0">
                <a:solidFill>
                  <a:srgbClr val="5B6B73"/>
                </a:solidFill>
                <a:latin typeface="Calibri" pitchFamily="34" charset="0"/>
                <a:ea typeface="Calibri" pitchFamily="34" charset="-122"/>
                <a:cs typeface="Calibri" pitchFamily="34" charset="-120"/>
              </a:rPr>
              <a:t>Giữ phiên ≥ 0,475; ít nhất 5, nhiều nhất 20.</a:t>
            </a:r>
            <a:endParaRPr lang="en-US" sz="1250" dirty="0"/>
          </a:p>
        </p:txBody>
      </p:sp>
      <p:sp>
        <p:nvSpPr>
          <p:cNvPr id="13" name="Shape 11"/>
          <p:cNvSpPr/>
          <p:nvPr/>
        </p:nvSpPr>
        <p:spPr>
          <a:xfrm>
            <a:off x="731520" y="5074920"/>
            <a:ext cx="2240280" cy="868680"/>
          </a:xfrm>
          <a:prstGeom prst="roundRect">
            <a:avLst>
              <a:gd name="adj" fmla="val 6316"/>
            </a:avLst>
          </a:prstGeom>
          <a:solidFill>
            <a:srgbClr val="FFFFFF"/>
          </a:solidFill>
          <a:ln w="9525">
            <a:solidFill>
              <a:srgbClr val="BFD8DD"/>
            </a:solidFill>
            <a:prstDash val="solid"/>
          </a:ln>
        </p:spPr>
      </p:sp>
      <p:sp>
        <p:nvSpPr>
          <p:cNvPr id="14" name="Text 12"/>
          <p:cNvSpPr txBox="1"/>
          <p:nvPr/>
        </p:nvSpPr>
        <p:spPr>
          <a:xfrm>
            <a:off x="822960" y="5120640"/>
            <a:ext cx="2057400" cy="777240"/>
          </a:xfrm>
          <a:prstGeom prst="rect">
            <a:avLst/>
          </a:prstGeom>
          <a:noFill/>
          <a:ln/>
        </p:spPr>
        <p:txBody>
          <a:bodyPr wrap="square" lIns="0" tIns="0" rIns="0" bIns="0" rtlCol="0" anchor="ctr"/>
          <a:lstStyle/>
          <a:p>
            <a:pPr indent="0" marL="0">
              <a:buNone/>
            </a:pPr>
            <a:r>
              <a:rPr lang="en-US" sz="1250" b="1" dirty="0">
                <a:solidFill>
                  <a:srgbClr val="0F5C6B"/>
                </a:solidFill>
                <a:latin typeface="Calibri" pitchFamily="34" charset="0"/>
                <a:ea typeface="Calibri" pitchFamily="34" charset="-122"/>
                <a:cs typeface="Calibri" pitchFamily="34" charset="-120"/>
              </a:rPr>
              <a:t>47 → 9 phiên</a:t>
            </a:r>
            <a:endParaRPr lang="en-US" sz="1250" dirty="0"/>
          </a:p>
          <a:p>
            <a:pPr indent="0" marL="0">
              <a:buNone/>
            </a:pPr>
            <a:r>
              <a:rPr lang="en-US" sz="1250" b="1" dirty="0">
                <a:solidFill>
                  <a:srgbClr val="0F5C6B"/>
                </a:solidFill>
                <a:latin typeface="Calibri" pitchFamily="34" charset="0"/>
                <a:ea typeface="Calibri" pitchFamily="34" charset="-122"/>
                <a:cs typeface="Calibri" pitchFamily="34" charset="-120"/>
              </a:rPr>
              <a:t>giữ đủ 3/3 phiên bằng chứng</a:t>
            </a:r>
            <a:endParaRPr lang="en-US" sz="1250" dirty="0"/>
          </a:p>
        </p:txBody>
      </p:sp>
      <p:sp>
        <p:nvSpPr>
          <p:cNvPr id="15" name="Shape 13"/>
          <p:cNvSpPr/>
          <p:nvPr/>
        </p:nvSpPr>
        <p:spPr>
          <a:xfrm>
            <a:off x="3172968" y="4069080"/>
            <a:ext cx="173736" cy="914"/>
          </a:xfrm>
          <a:prstGeom prst="line">
            <a:avLst/>
          </a:prstGeom>
          <a:noFill/>
          <a:ln w="19050">
            <a:solidFill>
              <a:srgbClr val="D98C1F"/>
            </a:solidFill>
            <a:prstDash val="solid"/>
            <a:tailEnd type="triangle"/>
          </a:ln>
        </p:spPr>
      </p:sp>
      <p:sp>
        <p:nvSpPr>
          <p:cNvPr id="16" name="Shape 14"/>
          <p:cNvSpPr/>
          <p:nvPr/>
        </p:nvSpPr>
        <p:spPr>
          <a:xfrm>
            <a:off x="3364992" y="2103120"/>
            <a:ext cx="2606040" cy="4023360"/>
          </a:xfrm>
          <a:prstGeom prst="roundRect">
            <a:avLst>
              <a:gd name="adj" fmla="val 2105"/>
            </a:avLst>
          </a:prstGeom>
          <a:solidFill>
            <a:srgbClr val="F3F7F8"/>
          </a:solidFill>
          <a:ln w="12700">
            <a:solidFill>
              <a:srgbClr val="F3F7F8"/>
            </a:solidFill>
            <a:prstDash val="solid"/>
          </a:ln>
        </p:spPr>
      </p:sp>
      <p:sp>
        <p:nvSpPr>
          <p:cNvPr id="17" name="Shape 15"/>
          <p:cNvSpPr/>
          <p:nvPr/>
        </p:nvSpPr>
        <p:spPr>
          <a:xfrm>
            <a:off x="3593592" y="2286000"/>
            <a:ext cx="384048" cy="384048"/>
          </a:xfrm>
          <a:prstGeom prst="ellipse">
            <a:avLst/>
          </a:prstGeom>
          <a:solidFill>
            <a:srgbClr val="0F5C6B"/>
          </a:solidFill>
          <a:ln w="12700">
            <a:solidFill>
              <a:srgbClr val="0F5C6B"/>
            </a:solidFill>
            <a:prstDash val="solid"/>
          </a:ln>
        </p:spPr>
      </p:sp>
      <p:sp>
        <p:nvSpPr>
          <p:cNvPr id="18" name="Text 16"/>
          <p:cNvSpPr txBox="1"/>
          <p:nvPr/>
        </p:nvSpPr>
        <p:spPr>
          <a:xfrm>
            <a:off x="3593592"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4828032" y="2350008"/>
            <a:ext cx="960120" cy="256032"/>
          </a:xfrm>
          <a:prstGeom prst="roundRect">
            <a:avLst>
              <a:gd name="adj" fmla="val 21429"/>
            </a:avLst>
          </a:prstGeom>
          <a:solidFill>
            <a:srgbClr val="FBF1E3"/>
          </a:solidFill>
          <a:ln w="12700">
            <a:solidFill>
              <a:srgbClr val="FBF1E3"/>
            </a:solidFill>
            <a:prstDash val="solid"/>
          </a:ln>
        </p:spPr>
      </p:sp>
      <p:sp>
        <p:nvSpPr>
          <p:cNvPr id="20" name="Text 18"/>
          <p:cNvSpPr txBox="1"/>
          <p:nvPr/>
        </p:nvSpPr>
        <p:spPr>
          <a:xfrm>
            <a:off x="4828032" y="2350008"/>
            <a:ext cx="960120" cy="256032"/>
          </a:xfrm>
          <a:prstGeom prst="rect">
            <a:avLst/>
          </a:prstGeom>
          <a:noFill/>
          <a:ln/>
        </p:spPr>
        <p:txBody>
          <a:bodyPr wrap="square" lIns="0" tIns="0" rIns="0" bIns="0" rtlCol="0" anchor="ctr"/>
          <a:lstStyle/>
          <a:p>
            <a:pPr algn="ctr" indent="0" marL="0">
              <a:buNone/>
            </a:pPr>
            <a:r>
              <a:rPr lang="en-US" sz="950" b="1" dirty="0">
                <a:solidFill>
                  <a:srgbClr val="D98C1F"/>
                </a:solidFill>
                <a:latin typeface="Calibri" pitchFamily="34" charset="0"/>
                <a:ea typeface="Calibri" pitchFamily="34" charset="-122"/>
                <a:cs typeface="Calibri" pitchFamily="34" charset="-120"/>
              </a:rPr>
              <a:t>9 lời gọi</a:t>
            </a:r>
            <a:endParaRPr lang="en-US" sz="950" dirty="0"/>
          </a:p>
        </p:txBody>
      </p:sp>
      <p:sp>
        <p:nvSpPr>
          <p:cNvPr id="21" name="Text 19"/>
          <p:cNvSpPr txBox="1"/>
          <p:nvPr/>
        </p:nvSpPr>
        <p:spPr>
          <a:xfrm>
            <a:off x="3593592" y="2788920"/>
            <a:ext cx="2194560" cy="365760"/>
          </a:xfrm>
          <a:prstGeom prst="rect">
            <a:avLst/>
          </a:prstGeom>
          <a:noFill/>
          <a:ln/>
        </p:spPr>
        <p:txBody>
          <a:bodyPr wrap="square" lIns="0" tIns="0" rIns="0" bIns="0" rtlCol="0" anchor="t"/>
          <a:lstStyle/>
          <a:p>
            <a:pPr indent="0" marL="0">
              <a:buNone/>
            </a:pPr>
            <a:r>
              <a:rPr lang="en-US" sz="1700" b="1" dirty="0">
                <a:solidFill>
                  <a:srgbClr val="12232E"/>
                </a:solidFill>
                <a:latin typeface="Cambria" pitchFamily="34" charset="0"/>
                <a:ea typeface="Cambria" pitchFamily="34" charset="-122"/>
                <a:cs typeface="Cambria" pitchFamily="34" charset="-120"/>
              </a:rPr>
              <a:t>Trích xuất</a:t>
            </a:r>
            <a:endParaRPr lang="en-US" sz="1700" dirty="0"/>
          </a:p>
        </p:txBody>
      </p:sp>
      <p:sp>
        <p:nvSpPr>
          <p:cNvPr id="22" name="Text 20"/>
          <p:cNvSpPr txBox="1"/>
          <p:nvPr/>
        </p:nvSpPr>
        <p:spPr>
          <a:xfrm>
            <a:off x="3593592" y="3200400"/>
            <a:ext cx="2194560" cy="178308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Mỗi đoạn ≤ 12 lượt → 1 lời gọi LLM, ra JSON: sự kiện + fact + lượt bằng chứng.</a:t>
            </a:r>
            <a:endParaRPr lang="en-US" sz="1250" dirty="0"/>
          </a:p>
          <a:p>
            <a:pPr indent="0" marL="0">
              <a:buNone/>
            </a:pPr>
            <a:r>
              <a:rPr lang="en-US" sz="1250" dirty="0">
                <a:solidFill>
                  <a:srgbClr val="5B6B73"/>
                </a:solidFill>
                <a:latin typeface="Calibri" pitchFamily="34" charset="0"/>
                <a:ea typeface="Calibri" pitchFamily="34" charset="-122"/>
                <a:cs typeface="Calibri" pitchFamily="34" charset="-120"/>
              </a:rPr>
              <a:t>Python kiểm tra: tên snake_case, ép kiểu, ngày ISO.</a:t>
            </a:r>
            <a:endParaRPr lang="en-US" sz="1250" dirty="0"/>
          </a:p>
        </p:txBody>
      </p:sp>
      <p:sp>
        <p:nvSpPr>
          <p:cNvPr id="23" name="Shape 21"/>
          <p:cNvSpPr/>
          <p:nvPr/>
        </p:nvSpPr>
        <p:spPr>
          <a:xfrm>
            <a:off x="3547872" y="5074920"/>
            <a:ext cx="2240280" cy="868680"/>
          </a:xfrm>
          <a:prstGeom prst="roundRect">
            <a:avLst>
              <a:gd name="adj" fmla="val 6316"/>
            </a:avLst>
          </a:prstGeom>
          <a:solidFill>
            <a:srgbClr val="FFFFFF"/>
          </a:solidFill>
          <a:ln w="9525">
            <a:solidFill>
              <a:srgbClr val="BFD8DD"/>
            </a:solidFill>
            <a:prstDash val="solid"/>
          </a:ln>
        </p:spPr>
      </p:sp>
      <p:sp>
        <p:nvSpPr>
          <p:cNvPr id="24" name="Text 22"/>
          <p:cNvSpPr txBox="1"/>
          <p:nvPr/>
        </p:nvSpPr>
        <p:spPr>
          <a:xfrm>
            <a:off x="3639312" y="5120640"/>
            <a:ext cx="2057400" cy="777240"/>
          </a:xfrm>
          <a:prstGeom prst="rect">
            <a:avLst/>
          </a:prstGeom>
          <a:noFill/>
          <a:ln/>
        </p:spPr>
        <p:txBody>
          <a:bodyPr wrap="square" lIns="0" tIns="0" rIns="0" bIns="0" rtlCol="0" anchor="ctr"/>
          <a:lstStyle/>
          <a:p>
            <a:pPr indent="0" marL="0">
              <a:buNone/>
            </a:pPr>
            <a:r>
              <a:rPr lang="en-US" sz="1250" b="1" dirty="0">
                <a:solidFill>
                  <a:srgbClr val="0F5C6B"/>
                </a:solidFill>
                <a:latin typeface="Calibri" pitchFamily="34" charset="0"/>
                <a:ea typeface="Calibri" pitchFamily="34" charset="-122"/>
                <a:cs typeface="Calibri" pitchFamily="34" charset="-120"/>
              </a:rPr>
              <a:t>64 sự kiện · 149 fact</a:t>
            </a:r>
            <a:endParaRPr lang="en-US" sz="1250" dirty="0"/>
          </a:p>
          <a:p>
            <a:pPr indent="0" marL="0">
              <a:buNone/>
            </a:pPr>
            <a:r>
              <a:rPr lang="en-US" sz="1250" b="1" dirty="0">
                <a:solidFill>
                  <a:srgbClr val="0F5C6B"/>
                </a:solidFill>
                <a:latin typeface="Calibri" pitchFamily="34" charset="0"/>
                <a:ea typeface="Calibri" pitchFamily="34" charset="-122"/>
                <a:cs typeface="Calibri" pitchFamily="34" charset="-120"/>
              </a:rPr>
              <a:t>0 fact bị loại</a:t>
            </a:r>
            <a:endParaRPr lang="en-US" sz="1250" dirty="0"/>
          </a:p>
        </p:txBody>
      </p:sp>
      <p:sp>
        <p:nvSpPr>
          <p:cNvPr id="25" name="Shape 23"/>
          <p:cNvSpPr/>
          <p:nvPr/>
        </p:nvSpPr>
        <p:spPr>
          <a:xfrm>
            <a:off x="5989320" y="4069080"/>
            <a:ext cx="173736" cy="914"/>
          </a:xfrm>
          <a:prstGeom prst="line">
            <a:avLst/>
          </a:prstGeom>
          <a:noFill/>
          <a:ln w="19050">
            <a:solidFill>
              <a:srgbClr val="D98C1F"/>
            </a:solidFill>
            <a:prstDash val="solid"/>
            <a:tailEnd type="triangle"/>
          </a:ln>
        </p:spPr>
      </p:sp>
      <p:sp>
        <p:nvSpPr>
          <p:cNvPr id="26" name="Shape 24"/>
          <p:cNvSpPr/>
          <p:nvPr/>
        </p:nvSpPr>
        <p:spPr>
          <a:xfrm>
            <a:off x="6181344" y="2103120"/>
            <a:ext cx="2606040" cy="4023360"/>
          </a:xfrm>
          <a:prstGeom prst="roundRect">
            <a:avLst>
              <a:gd name="adj" fmla="val 2105"/>
            </a:avLst>
          </a:prstGeom>
          <a:solidFill>
            <a:srgbClr val="F3F7F8"/>
          </a:solidFill>
          <a:ln w="12700">
            <a:solidFill>
              <a:srgbClr val="F3F7F8"/>
            </a:solidFill>
            <a:prstDash val="solid"/>
          </a:ln>
        </p:spPr>
      </p:sp>
      <p:sp>
        <p:nvSpPr>
          <p:cNvPr id="27" name="Shape 25"/>
          <p:cNvSpPr/>
          <p:nvPr/>
        </p:nvSpPr>
        <p:spPr>
          <a:xfrm>
            <a:off x="6409944" y="2286000"/>
            <a:ext cx="384048" cy="384048"/>
          </a:xfrm>
          <a:prstGeom prst="ellipse">
            <a:avLst/>
          </a:prstGeom>
          <a:solidFill>
            <a:srgbClr val="0F5C6B"/>
          </a:solidFill>
          <a:ln w="12700">
            <a:solidFill>
              <a:srgbClr val="0F5C6B"/>
            </a:solidFill>
            <a:prstDash val="solid"/>
          </a:ln>
        </p:spPr>
      </p:sp>
      <p:sp>
        <p:nvSpPr>
          <p:cNvPr id="28" name="Text 26"/>
          <p:cNvSpPr txBox="1"/>
          <p:nvPr/>
        </p:nvSpPr>
        <p:spPr>
          <a:xfrm>
            <a:off x="6409944"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9" name="Shape 27"/>
          <p:cNvSpPr/>
          <p:nvPr/>
        </p:nvSpPr>
        <p:spPr>
          <a:xfrm>
            <a:off x="7644384" y="2350008"/>
            <a:ext cx="960120" cy="256032"/>
          </a:xfrm>
          <a:prstGeom prst="roundRect">
            <a:avLst>
              <a:gd name="adj" fmla="val 21429"/>
            </a:avLst>
          </a:prstGeom>
          <a:solidFill>
            <a:srgbClr val="FBF1E3"/>
          </a:solidFill>
          <a:ln w="12700">
            <a:solidFill>
              <a:srgbClr val="FBF1E3"/>
            </a:solidFill>
            <a:prstDash val="solid"/>
          </a:ln>
        </p:spPr>
      </p:sp>
      <p:sp>
        <p:nvSpPr>
          <p:cNvPr id="30" name="Text 28"/>
          <p:cNvSpPr txBox="1"/>
          <p:nvPr/>
        </p:nvSpPr>
        <p:spPr>
          <a:xfrm>
            <a:off x="7644384" y="2350008"/>
            <a:ext cx="960120" cy="256032"/>
          </a:xfrm>
          <a:prstGeom prst="rect">
            <a:avLst/>
          </a:prstGeom>
          <a:noFill/>
          <a:ln/>
        </p:spPr>
        <p:txBody>
          <a:bodyPr wrap="square" lIns="0" tIns="0" rIns="0" bIns="0" rtlCol="0" anchor="ctr"/>
          <a:lstStyle/>
          <a:p>
            <a:pPr algn="ctr" indent="0" marL="0">
              <a:buNone/>
            </a:pPr>
            <a:r>
              <a:rPr lang="en-US" sz="950" b="1" dirty="0">
                <a:solidFill>
                  <a:srgbClr val="D98C1F"/>
                </a:solidFill>
                <a:latin typeface="Calibri" pitchFamily="34" charset="0"/>
                <a:ea typeface="Calibri" pitchFamily="34" charset="-122"/>
                <a:cs typeface="Calibri" pitchFamily="34" charset="-120"/>
              </a:rPr>
              <a:t>4 lời gọi</a:t>
            </a:r>
            <a:endParaRPr lang="en-US" sz="950" dirty="0"/>
          </a:p>
        </p:txBody>
      </p:sp>
      <p:sp>
        <p:nvSpPr>
          <p:cNvPr id="31" name="Text 29"/>
          <p:cNvSpPr txBox="1"/>
          <p:nvPr/>
        </p:nvSpPr>
        <p:spPr>
          <a:xfrm>
            <a:off x="6409944" y="2788920"/>
            <a:ext cx="2194560" cy="365760"/>
          </a:xfrm>
          <a:prstGeom prst="rect">
            <a:avLst/>
          </a:prstGeom>
          <a:noFill/>
          <a:ln/>
        </p:spPr>
        <p:txBody>
          <a:bodyPr wrap="square" lIns="0" tIns="0" rIns="0" bIns="0" rtlCol="0" anchor="t"/>
          <a:lstStyle/>
          <a:p>
            <a:pPr indent="0" marL="0">
              <a:buNone/>
            </a:pPr>
            <a:r>
              <a:rPr lang="en-US" sz="1700" b="1" dirty="0">
                <a:solidFill>
                  <a:srgbClr val="12232E"/>
                </a:solidFill>
                <a:latin typeface="Cambria" pitchFamily="34" charset="0"/>
                <a:ea typeface="Cambria" pitchFamily="34" charset="-122"/>
                <a:cs typeface="Cambria" pitchFamily="34" charset="-120"/>
              </a:rPr>
              <a:t>Giải quyết</a:t>
            </a:r>
            <a:endParaRPr lang="en-US" sz="1700" dirty="0"/>
          </a:p>
        </p:txBody>
      </p:sp>
      <p:sp>
        <p:nvSpPr>
          <p:cNvPr id="32" name="Text 30"/>
          <p:cNvSpPr txBox="1"/>
          <p:nvPr/>
        </p:nvSpPr>
        <p:spPr>
          <a:xfrm>
            <a:off x="6409944" y="3200400"/>
            <a:ext cx="2194560" cy="178308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“User”/“Assistant” cố định · trùng tên → dùng lại · không có ứng viên gần → tạo mới · mơ hồ → hỏi LLM.</a:t>
            </a:r>
            <a:endParaRPr lang="en-US" sz="1250" dirty="0"/>
          </a:p>
        </p:txBody>
      </p:sp>
      <p:sp>
        <p:nvSpPr>
          <p:cNvPr id="33" name="Shape 31"/>
          <p:cNvSpPr/>
          <p:nvPr/>
        </p:nvSpPr>
        <p:spPr>
          <a:xfrm>
            <a:off x="6364224" y="5074920"/>
            <a:ext cx="2240280" cy="868680"/>
          </a:xfrm>
          <a:prstGeom prst="roundRect">
            <a:avLst>
              <a:gd name="adj" fmla="val 6316"/>
            </a:avLst>
          </a:prstGeom>
          <a:solidFill>
            <a:srgbClr val="FFFFFF"/>
          </a:solidFill>
          <a:ln w="9525">
            <a:solidFill>
              <a:srgbClr val="BFD8DD"/>
            </a:solidFill>
            <a:prstDash val="solid"/>
          </a:ln>
        </p:spPr>
      </p:sp>
      <p:sp>
        <p:nvSpPr>
          <p:cNvPr id="34" name="Text 32"/>
          <p:cNvSpPr txBox="1"/>
          <p:nvPr/>
        </p:nvSpPr>
        <p:spPr>
          <a:xfrm>
            <a:off x="6455664" y="5120640"/>
            <a:ext cx="2057400" cy="777240"/>
          </a:xfrm>
          <a:prstGeom prst="rect">
            <a:avLst/>
          </a:prstGeom>
          <a:noFill/>
          <a:ln/>
        </p:spPr>
        <p:txBody>
          <a:bodyPr wrap="square" lIns="0" tIns="0" rIns="0" bIns="0" rtlCol="0" anchor="ctr"/>
          <a:lstStyle/>
          <a:p>
            <a:pPr indent="0" marL="0">
              <a:buNone/>
            </a:pPr>
            <a:r>
              <a:rPr lang="en-US" sz="1250" b="1" dirty="0">
                <a:solidFill>
                  <a:srgbClr val="0F5C6B"/>
                </a:solidFill>
                <a:latin typeface="Calibri" pitchFamily="34" charset="0"/>
                <a:ea typeface="Calibri" pitchFamily="34" charset="-122"/>
                <a:cs typeface="Calibri" pitchFamily="34" charset="-120"/>
              </a:rPr>
              <a:t>8 thực thể</a:t>
            </a:r>
            <a:endParaRPr lang="en-US" sz="1250" dirty="0"/>
          </a:p>
          <a:p>
            <a:pPr indent="0" marL="0">
              <a:buNone/>
            </a:pPr>
            <a:r>
              <a:rPr lang="en-US" sz="1250" b="1" dirty="0">
                <a:solidFill>
                  <a:srgbClr val="0F5C6B"/>
                </a:solidFill>
                <a:latin typeface="Calibri" pitchFamily="34" charset="0"/>
                <a:ea typeface="Calibri" pitchFamily="34" charset="-122"/>
                <a:cs typeface="Calibri" pitchFamily="34" charset="-120"/>
              </a:rPr>
              <a:t>VD “Harvest Festival Market” → propose_new</a:t>
            </a:r>
            <a:endParaRPr lang="en-US" sz="1250" dirty="0"/>
          </a:p>
        </p:txBody>
      </p:sp>
      <p:sp>
        <p:nvSpPr>
          <p:cNvPr id="35" name="Shape 33"/>
          <p:cNvSpPr/>
          <p:nvPr/>
        </p:nvSpPr>
        <p:spPr>
          <a:xfrm>
            <a:off x="8805672" y="4069080"/>
            <a:ext cx="173736" cy="914"/>
          </a:xfrm>
          <a:prstGeom prst="line">
            <a:avLst/>
          </a:prstGeom>
          <a:noFill/>
          <a:ln w="19050">
            <a:solidFill>
              <a:srgbClr val="D98C1F"/>
            </a:solidFill>
            <a:prstDash val="solid"/>
            <a:tailEnd type="triangle"/>
          </a:ln>
        </p:spPr>
      </p:sp>
      <p:sp>
        <p:nvSpPr>
          <p:cNvPr id="36" name="Shape 34"/>
          <p:cNvSpPr/>
          <p:nvPr/>
        </p:nvSpPr>
        <p:spPr>
          <a:xfrm>
            <a:off x="8997696" y="2103120"/>
            <a:ext cx="2606040" cy="4023360"/>
          </a:xfrm>
          <a:prstGeom prst="roundRect">
            <a:avLst>
              <a:gd name="adj" fmla="val 2105"/>
            </a:avLst>
          </a:prstGeom>
          <a:solidFill>
            <a:srgbClr val="F3F7F8"/>
          </a:solidFill>
          <a:ln w="12700">
            <a:solidFill>
              <a:srgbClr val="F3F7F8"/>
            </a:solidFill>
            <a:prstDash val="solid"/>
          </a:ln>
        </p:spPr>
      </p:sp>
      <p:sp>
        <p:nvSpPr>
          <p:cNvPr id="37" name="Shape 35"/>
          <p:cNvSpPr/>
          <p:nvPr/>
        </p:nvSpPr>
        <p:spPr>
          <a:xfrm>
            <a:off x="9226296" y="2286000"/>
            <a:ext cx="384048" cy="384048"/>
          </a:xfrm>
          <a:prstGeom prst="ellipse">
            <a:avLst/>
          </a:prstGeom>
          <a:solidFill>
            <a:srgbClr val="0F5C6B"/>
          </a:solidFill>
          <a:ln w="12700">
            <a:solidFill>
              <a:srgbClr val="0F5C6B"/>
            </a:solidFill>
            <a:prstDash val="solid"/>
          </a:ln>
        </p:spPr>
      </p:sp>
      <p:sp>
        <p:nvSpPr>
          <p:cNvPr id="38" name="Text 36"/>
          <p:cNvSpPr txBox="1"/>
          <p:nvPr/>
        </p:nvSpPr>
        <p:spPr>
          <a:xfrm>
            <a:off x="9226296"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Shape 37"/>
          <p:cNvSpPr/>
          <p:nvPr/>
        </p:nvSpPr>
        <p:spPr>
          <a:xfrm>
            <a:off x="10460736" y="2350008"/>
            <a:ext cx="960120" cy="256032"/>
          </a:xfrm>
          <a:prstGeom prst="roundRect">
            <a:avLst>
              <a:gd name="adj" fmla="val 21429"/>
            </a:avLst>
          </a:prstGeom>
          <a:solidFill>
            <a:srgbClr val="E6F4EC"/>
          </a:solidFill>
          <a:ln w="12700">
            <a:solidFill>
              <a:srgbClr val="E6F4EC"/>
            </a:solidFill>
            <a:prstDash val="solid"/>
          </a:ln>
        </p:spPr>
      </p:sp>
      <p:sp>
        <p:nvSpPr>
          <p:cNvPr id="40" name="Text 38"/>
          <p:cNvSpPr txBox="1"/>
          <p:nvPr/>
        </p:nvSpPr>
        <p:spPr>
          <a:xfrm>
            <a:off x="10460736" y="2350008"/>
            <a:ext cx="960120" cy="256032"/>
          </a:xfrm>
          <a:prstGeom prst="rect">
            <a:avLst/>
          </a:prstGeom>
          <a:noFill/>
          <a:ln/>
        </p:spPr>
        <p:txBody>
          <a:bodyPr wrap="square" lIns="0" tIns="0" rIns="0" bIns="0" rtlCol="0" anchor="ctr"/>
          <a:lstStyle/>
          <a:p>
            <a:pPr algn="ctr" indent="0" marL="0">
              <a:buNone/>
            </a:pPr>
            <a:r>
              <a:rPr lang="en-US" sz="950" b="1" dirty="0">
                <a:solidFill>
                  <a:srgbClr val="1F7A4D"/>
                </a:solidFill>
                <a:latin typeface="Calibri" pitchFamily="34" charset="0"/>
                <a:ea typeface="Calibri" pitchFamily="34" charset="-122"/>
                <a:cs typeface="Calibri" pitchFamily="34" charset="-120"/>
              </a:rPr>
              <a:t>0 LLM</a:t>
            </a:r>
            <a:endParaRPr lang="en-US" sz="950" dirty="0"/>
          </a:p>
        </p:txBody>
      </p:sp>
      <p:sp>
        <p:nvSpPr>
          <p:cNvPr id="41" name="Text 39"/>
          <p:cNvSpPr txBox="1"/>
          <p:nvPr/>
        </p:nvSpPr>
        <p:spPr>
          <a:xfrm>
            <a:off x="9226296" y="2788920"/>
            <a:ext cx="2194560" cy="365760"/>
          </a:xfrm>
          <a:prstGeom prst="rect">
            <a:avLst/>
          </a:prstGeom>
          <a:noFill/>
          <a:ln/>
        </p:spPr>
        <p:txBody>
          <a:bodyPr wrap="square" lIns="0" tIns="0" rIns="0" bIns="0" rtlCol="0" anchor="t"/>
          <a:lstStyle/>
          <a:p>
            <a:pPr indent="0" marL="0">
              <a:buNone/>
            </a:pPr>
            <a:r>
              <a:rPr lang="en-US" sz="1700" b="1" dirty="0">
                <a:solidFill>
                  <a:srgbClr val="12232E"/>
                </a:solidFill>
                <a:latin typeface="Cambria" pitchFamily="34" charset="0"/>
                <a:ea typeface="Cambria" pitchFamily="34" charset="-122"/>
                <a:cs typeface="Cambria" pitchFamily="34" charset="-120"/>
              </a:rPr>
              <a:t>Ghi</a:t>
            </a:r>
            <a:endParaRPr lang="en-US" sz="1700" dirty="0"/>
          </a:p>
        </p:txBody>
      </p:sp>
      <p:sp>
        <p:nvSpPr>
          <p:cNvPr id="42" name="Text 40"/>
          <p:cNvSpPr txBox="1"/>
          <p:nvPr/>
        </p:nvSpPr>
        <p:spPr>
          <a:xfrm>
            <a:off x="9226296" y="3200400"/>
            <a:ext cx="2194560" cy="178308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Chèn thêm vào 7 bảng (append-only), cập nhật chỉ mục vector + FTS5. Lượt gốc của cả 47 phiên vẫn được lưu cho công cụ Search.</a:t>
            </a:r>
            <a:endParaRPr lang="en-US" sz="1250" dirty="0"/>
          </a:p>
        </p:txBody>
      </p:sp>
      <p:sp>
        <p:nvSpPr>
          <p:cNvPr id="43" name="Shape 41"/>
          <p:cNvSpPr/>
          <p:nvPr/>
        </p:nvSpPr>
        <p:spPr>
          <a:xfrm>
            <a:off x="9180576" y="5074920"/>
            <a:ext cx="2240280" cy="868680"/>
          </a:xfrm>
          <a:prstGeom prst="roundRect">
            <a:avLst>
              <a:gd name="adj" fmla="val 6316"/>
            </a:avLst>
          </a:prstGeom>
          <a:solidFill>
            <a:srgbClr val="FFFFFF"/>
          </a:solidFill>
          <a:ln w="9525">
            <a:solidFill>
              <a:srgbClr val="BFD8DD"/>
            </a:solidFill>
            <a:prstDash val="solid"/>
          </a:ln>
        </p:spPr>
      </p:sp>
      <p:sp>
        <p:nvSpPr>
          <p:cNvPr id="44" name="Text 42"/>
          <p:cNvSpPr txBox="1"/>
          <p:nvPr/>
        </p:nvSpPr>
        <p:spPr>
          <a:xfrm>
            <a:off x="9272016" y="5120640"/>
            <a:ext cx="2057400" cy="777240"/>
          </a:xfrm>
          <a:prstGeom prst="rect">
            <a:avLst/>
          </a:prstGeom>
          <a:noFill/>
          <a:ln/>
        </p:spPr>
        <p:txBody>
          <a:bodyPr wrap="square" lIns="0" tIns="0" rIns="0" bIns="0" rtlCol="0" anchor="ctr"/>
          <a:lstStyle/>
          <a:p>
            <a:pPr indent="0" marL="0">
              <a:buNone/>
            </a:pPr>
            <a:r>
              <a:rPr lang="en-US" sz="1250" b="1" dirty="0">
                <a:solidFill>
                  <a:srgbClr val="0F5C6B"/>
                </a:solidFill>
                <a:latin typeface="Calibri" pitchFamily="34" charset="0"/>
                <a:ea typeface="Calibri" pitchFamily="34" charset="-122"/>
                <a:cs typeface="Calibri" pitchFamily="34" charset="-120"/>
              </a:rPr>
              <a:t>13 lời gọi LLM</a:t>
            </a:r>
            <a:endParaRPr lang="en-US" sz="1250" dirty="0"/>
          </a:p>
          <a:p>
            <a:pPr indent="0" marL="0">
              <a:buNone/>
            </a:pPr>
            <a:r>
              <a:rPr lang="en-US" sz="1250" b="1" dirty="0">
                <a:solidFill>
                  <a:srgbClr val="0F5C6B"/>
                </a:solidFill>
                <a:latin typeface="Calibri" pitchFamily="34" charset="0"/>
                <a:ea typeface="Calibri" pitchFamily="34" charset="-122"/>
                <a:cs typeface="Calibri" pitchFamily="34" charset="-120"/>
              </a:rPr>
              <a:t>~5,2 phút cho cả câu</a:t>
            </a:r>
            <a:endParaRPr lang="en-US" sz="1250" dirty="0"/>
          </a:p>
        </p:txBody>
      </p:sp>
      <p:sp>
        <p:nvSpPr>
          <p:cNvPr id="45" name="Text 43"/>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Số liệu từ bảng trace của đồ thị 2b8f3739.db. Khác bài báo: gom ≤12 lượt/lời gọi (bài báo 1 lượt/lời gọi); LLM chỉ được hỏi khi giải quyết thực thể mơ hồ.</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2 · LUỒNG CHẠY — GHI</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Bên trong bước trích xuất: một lượt → các dòng trong đồ thị</a:t>
            </a:r>
            <a:endParaRPr lang="en-US" sz="2800" dirty="0"/>
          </a:p>
        </p:txBody>
      </p:sp>
      <p:sp>
        <p:nvSpPr>
          <p:cNvPr id="4" name="Text 2"/>
          <p:cNvSpPr txBox="1"/>
          <p:nvPr/>
        </p:nvSpPr>
        <p:spPr>
          <a:xfrm>
            <a:off x="548640" y="1371600"/>
            <a:ext cx="4754880" cy="274320"/>
          </a:xfrm>
          <a:prstGeom prst="rect">
            <a:avLst/>
          </a:prstGeom>
          <a:noFill/>
          <a:ln/>
        </p:spPr>
        <p:txBody>
          <a:bodyPr wrap="square" lIns="0" tIns="0" rIns="0" bIns="0" rtlCol="0" anchor="t"/>
          <a:lstStyle/>
          <a:p>
            <a:pPr indent="0" marL="0">
              <a:buNone/>
            </a:pPr>
            <a:r>
              <a:rPr lang="en-US" sz="1050" b="1" dirty="0">
                <a:solidFill>
                  <a:srgbClr val="0F5C6B"/>
                </a:solidFill>
                <a:latin typeface="Calibri" pitchFamily="34" charset="0"/>
                <a:ea typeface="Calibri" pitchFamily="34" charset="-122"/>
                <a:cs typeface="Calibri" pitchFamily="34" charset="-120"/>
              </a:rPr>
              <a:t>ĐẦU VÀO — lượt 0, phiên answer_23759615_2 (ngày phiên 01/06/2023)</a:t>
            </a:r>
            <a:endParaRPr lang="en-US" sz="1050" dirty="0"/>
          </a:p>
        </p:txBody>
      </p:sp>
      <p:sp>
        <p:nvSpPr>
          <p:cNvPr id="5" name="Shape 3"/>
          <p:cNvSpPr/>
          <p:nvPr/>
        </p:nvSpPr>
        <p:spPr>
          <a:xfrm>
            <a:off x="548640" y="1691640"/>
            <a:ext cx="4754880" cy="1691640"/>
          </a:xfrm>
          <a:prstGeom prst="roundRect">
            <a:avLst>
              <a:gd name="adj" fmla="val 3243"/>
            </a:avLst>
          </a:prstGeom>
          <a:solidFill>
            <a:srgbClr val="F3F7F8"/>
          </a:solidFill>
          <a:ln w="12700">
            <a:solidFill>
              <a:srgbClr val="F3F7F8"/>
            </a:solidFill>
            <a:prstDash val="solid"/>
          </a:ln>
        </p:spPr>
      </p:sp>
      <p:sp>
        <p:nvSpPr>
          <p:cNvPr id="6" name="Text 4"/>
          <p:cNvSpPr txBox="1"/>
          <p:nvPr/>
        </p:nvSpPr>
        <p:spPr>
          <a:xfrm>
            <a:off x="731520" y="1828800"/>
            <a:ext cx="4434840" cy="1463040"/>
          </a:xfrm>
          <a:prstGeom prst="rect">
            <a:avLst/>
          </a:prstGeom>
          <a:noFill/>
          <a:ln/>
        </p:spPr>
        <p:txBody>
          <a:bodyPr wrap="square" lIns="0" tIns="0" rIns="0" bIns="0" rtlCol="0" anchor="t"/>
          <a:lstStyle/>
          <a:p>
            <a:pPr indent="0" marL="0">
              <a:buNone/>
            </a:pPr>
            <a:r>
              <a:rPr lang="en-US" sz="1200" i="1" dirty="0">
                <a:solidFill>
                  <a:srgbClr val="1E2A32"/>
                </a:solidFill>
                <a:latin typeface="Calibri" pitchFamily="34" charset="0"/>
                <a:ea typeface="Calibri" pitchFamily="34" charset="-122"/>
                <a:cs typeface="Calibri" pitchFamily="34" charset="-120"/>
              </a:rPr>
              <a:t>USER: I'm considering participating in the Harvest Festival Market on October 2nd … By the way, I've had a pretty successful few weeks, I just sold 15 jars of my homemade jam at the Homemade and Handmade Market on May 29th, earning $225.</a:t>
            </a:r>
            <a:endParaRPr lang="en-US" sz="1200" dirty="0"/>
          </a:p>
        </p:txBody>
      </p:sp>
      <p:sp>
        <p:nvSpPr>
          <p:cNvPr id="7" name="Text 5"/>
          <p:cNvSpPr txBox="1"/>
          <p:nvPr/>
        </p:nvSpPr>
        <p:spPr>
          <a:xfrm>
            <a:off x="548640" y="3611880"/>
            <a:ext cx="4754880" cy="274320"/>
          </a:xfrm>
          <a:prstGeom prst="rect">
            <a:avLst/>
          </a:prstGeom>
          <a:noFill/>
          <a:ln/>
        </p:spPr>
        <p:txBody>
          <a:bodyPr wrap="square" lIns="0" tIns="0" rIns="0" bIns="0" rtlCol="0" anchor="t"/>
          <a:lstStyle/>
          <a:p>
            <a:pPr indent="0" marL="0">
              <a:buNone/>
            </a:pPr>
            <a:r>
              <a:rPr lang="en-US" sz="1050" b="1" dirty="0">
                <a:solidFill>
                  <a:srgbClr val="0F5C6B"/>
                </a:solidFill>
                <a:latin typeface="Calibri" pitchFamily="34" charset="0"/>
                <a:ea typeface="Calibri" pitchFamily="34" charset="-122"/>
                <a:cs typeface="Calibri" pitchFamily="34" charset="-120"/>
              </a:rPr>
              <a:t>ĐIỂM ĐÁNG CHÚ Ý</a:t>
            </a:r>
            <a:endParaRPr lang="en-US" sz="1050" dirty="0"/>
          </a:p>
        </p:txBody>
      </p:sp>
      <p:sp>
        <p:nvSpPr>
          <p:cNvPr id="8" name="Text 6"/>
          <p:cNvSpPr txBox="1"/>
          <p:nvPr/>
        </p:nvSpPr>
        <p:spPr>
          <a:xfrm>
            <a:off x="548640" y="3931920"/>
            <a:ext cx="4754880" cy="2011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32"/>
                </a:solidFill>
                <a:latin typeface="Calibri" pitchFamily="34" charset="0"/>
                <a:ea typeface="Calibri" pitchFamily="34" charset="-122"/>
                <a:cs typeface="Calibri" pitchFamily="34" charset="-120"/>
              </a:rPr>
              <a:t>“May 29th” nói trong phiên ngày 01/06 → mốc sự kiện 2023-05-29, không lấy ngày phiên.</a:t>
            </a:r>
            <a:endParaRPr lang="en-US" sz="1200" dirty="0"/>
          </a:p>
          <a:p>
            <a:pPr marL="342900" indent="-342900">
              <a:spcAft>
                <a:spcPts val="600"/>
              </a:spcAft>
              <a:buSzPct val="100000"/>
              <a:buChar char="•"/>
            </a:pPr>
            <a:r>
              <a:rPr lang="en-US" sz="1200" dirty="0">
                <a:solidFill>
                  <a:srgbClr val="1E2A32"/>
                </a:solidFill>
                <a:latin typeface="Calibri" pitchFamily="34" charset="0"/>
                <a:ea typeface="Calibri" pitchFamily="34" charset="-122"/>
                <a:cs typeface="Calibri" pitchFamily="34" charset="-120"/>
              </a:rPr>
              <a:t>Một câu → 2 sự kiện: bán hàng (quá khứ) và kế hoạch dự chợ 02/10 (tương lai).</a:t>
            </a:r>
            <a:endParaRPr lang="en-US" sz="1200" dirty="0"/>
          </a:p>
          <a:p>
            <a:pPr marL="342900" indent="-342900">
              <a:spcAft>
                <a:spcPts val="600"/>
              </a:spcAft>
              <a:buSzPct val="100000"/>
              <a:buChar char="•"/>
            </a:pPr>
            <a:r>
              <a:rPr lang="en-US" sz="1200" dirty="0">
                <a:solidFill>
                  <a:srgbClr val="1E2A32"/>
                </a:solidFill>
                <a:latin typeface="Calibri" pitchFamily="34" charset="0"/>
                <a:ea typeface="Calibri" pitchFamily="34" charset="-122"/>
                <a:cs typeface="Calibri" pitchFamily="34" charset="-120"/>
              </a:rPr>
              <a:t>Số giữ đúng kiểu: 15 là int, 225.0 là float → SQL cộng trừ được.</a:t>
            </a:r>
            <a:endParaRPr lang="en-US" sz="1200" dirty="0"/>
          </a:p>
          <a:p>
            <a:pPr marL="342900" indent="-342900">
              <a:spcAft>
                <a:spcPts val="600"/>
              </a:spcAft>
              <a:buSzPct val="100000"/>
              <a:buChar char="•"/>
            </a:pPr>
            <a:r>
              <a:rPr lang="en-US" sz="1200" dirty="0">
                <a:solidFill>
                  <a:srgbClr val="1E2A32"/>
                </a:solidFill>
                <a:latin typeface="Calibri" pitchFamily="34" charset="0"/>
                <a:ea typeface="Calibri" pitchFamily="34" charset="-122"/>
                <a:cs typeface="Calibri" pitchFamily="34" charset="-120"/>
              </a:rPr>
              <a:t>Mỗi fact mang span nguyên văn làm bằng chứng.</a:t>
            </a:r>
            <a:endParaRPr lang="en-US" sz="1200" dirty="0"/>
          </a:p>
        </p:txBody>
      </p:sp>
      <p:sp>
        <p:nvSpPr>
          <p:cNvPr id="9" name="Shape 7"/>
          <p:cNvSpPr/>
          <p:nvPr/>
        </p:nvSpPr>
        <p:spPr>
          <a:xfrm>
            <a:off x="5440680" y="2514600"/>
            <a:ext cx="457200" cy="914"/>
          </a:xfrm>
          <a:prstGeom prst="line">
            <a:avLst/>
          </a:prstGeom>
          <a:noFill/>
          <a:ln w="19050">
            <a:solidFill>
              <a:srgbClr val="D98C1F"/>
            </a:solidFill>
            <a:prstDash val="solid"/>
            <a:tailEnd type="triangle"/>
          </a:ln>
        </p:spPr>
      </p:sp>
      <p:sp>
        <p:nvSpPr>
          <p:cNvPr id="10" name="Text 8"/>
          <p:cNvSpPr txBox="1"/>
          <p:nvPr/>
        </p:nvSpPr>
        <p:spPr>
          <a:xfrm>
            <a:off x="6035040" y="1371600"/>
            <a:ext cx="5577840" cy="274320"/>
          </a:xfrm>
          <a:prstGeom prst="rect">
            <a:avLst/>
          </a:prstGeom>
          <a:noFill/>
          <a:ln/>
        </p:spPr>
        <p:txBody>
          <a:bodyPr wrap="square" lIns="0" tIns="0" rIns="0" bIns="0" rtlCol="0" anchor="t"/>
          <a:lstStyle/>
          <a:p>
            <a:pPr indent="0" marL="0">
              <a:buNone/>
            </a:pPr>
            <a:r>
              <a:rPr lang="en-US" sz="1050" b="1" dirty="0">
                <a:solidFill>
                  <a:srgbClr val="0F5C6B"/>
                </a:solidFill>
                <a:latin typeface="Calibri" pitchFamily="34" charset="0"/>
                <a:ea typeface="Calibri" pitchFamily="34" charset="-122"/>
                <a:cs typeface="Calibri" pitchFamily="34" charset="-120"/>
              </a:rPr>
              <a:t>ĐẦU RA LLM (rút gọn) → PYTHON KIỂM TRA → GHI</a:t>
            </a:r>
            <a:endParaRPr lang="en-US" sz="1050" dirty="0"/>
          </a:p>
        </p:txBody>
      </p:sp>
      <p:sp>
        <p:nvSpPr>
          <p:cNvPr id="11" name="Shape 9"/>
          <p:cNvSpPr/>
          <p:nvPr/>
        </p:nvSpPr>
        <p:spPr>
          <a:xfrm>
            <a:off x="6035040" y="1691640"/>
            <a:ext cx="5577840" cy="2514600"/>
          </a:xfrm>
          <a:prstGeom prst="roundRect">
            <a:avLst>
              <a:gd name="adj" fmla="val 2182"/>
            </a:avLst>
          </a:prstGeom>
          <a:solidFill>
            <a:srgbClr val="12232E"/>
          </a:solidFill>
          <a:ln w="12700">
            <a:solidFill>
              <a:srgbClr val="12232E"/>
            </a:solidFill>
            <a:prstDash val="solid"/>
          </a:ln>
        </p:spPr>
      </p:sp>
      <p:sp>
        <p:nvSpPr>
          <p:cNvPr id="12" name="Text 10"/>
          <p:cNvSpPr txBox="1"/>
          <p:nvPr/>
        </p:nvSpPr>
        <p:spPr>
          <a:xfrm>
            <a:off x="6217920" y="1828800"/>
            <a:ext cx="5303520" cy="2286000"/>
          </a:xfrm>
          <a:prstGeom prst="rect">
            <a:avLst/>
          </a:prstGeom>
          <a:noFill/>
          <a:ln/>
        </p:spPr>
        <p:txBody>
          <a:bodyPr wrap="square" lIns="0" tIns="0" rIns="0" bIns="0" rtlCol="0" anchor="t"/>
          <a:lstStyle/>
          <a:p>
            <a:pPr indent="0" marL="0">
              <a:buNone/>
            </a:pPr>
            <a:r>
              <a:rPr lang="en-US" sz="1000" dirty="0">
                <a:solidFill>
                  <a:srgbClr val="D6E6EA"/>
                </a:solidFill>
                <a:latin typeface="Courier New" pitchFamily="34" charset="0"/>
                <a:ea typeface="Courier New" pitchFamily="34" charset="-122"/>
                <a:cs typeface="Courier New" pitchFamily="34" charset="-120"/>
              </a:rPr>
              <a:t>{"type": "market_sale",</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"anchor_datetime": "2023-05-29",</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"location": "Homemade and Handmade Market",</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"participants": ["User", "Homemade and Handmade Market"],</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"facts": [</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{"subject":"User","property":"jars_of_homemade_jam_sold",</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"dtype":"int","value":15,"evidence_turn":0},</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{"subject":"User","property":"sales_revenue",</a:t>
            </a:r>
            <a:endParaRPr lang="en-US" sz="1000" dirty="0"/>
          </a:p>
          <a:p>
            <a:pPr indent="0" marL="0">
              <a:buNone/>
            </a:pPr>
            <a:r>
              <a:rPr lang="en-US" sz="1000" dirty="0">
                <a:solidFill>
                  <a:srgbClr val="D6E6EA"/>
                </a:solidFill>
                <a:latin typeface="Courier New" pitchFamily="34" charset="0"/>
                <a:ea typeface="Courier New" pitchFamily="34" charset="-122"/>
                <a:cs typeface="Courier New" pitchFamily="34" charset="-120"/>
              </a:rPr>
              <a:t>   "dtype":"float","value":225.0,"span":"earning $225"}]}</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035040" y="4389120"/>
          <a:ext cx="5577840" cy="914400"/>
        </p:xfrm>
        <a:graphic>
          <a:graphicData uri="http://schemas.openxmlformats.org/drawingml/2006/table">
            <a:tbl>
              <a:tblPr/>
              <a:tblGrid>
                <a:gridCol w="1554480"/>
                <a:gridCol w="4023360"/>
              </a:tblGrid>
              <a:tr h="30175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bảng</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dòng được ghi</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301752">
                <a:tc>
                  <a:txBody>
                    <a:bodyPr/>
                    <a:lstStyle/>
                    <a:p>
                      <a:pPr indent="0" marL="0">
                        <a:buNone/>
                      </a:pPr>
                      <a:r>
                        <a:rPr lang="en-US" sz="1100" dirty="0">
                          <a:solidFill>
                            <a:srgbClr val="1E2A32"/>
                          </a:solidFill>
                          <a:latin typeface="Courier New" pitchFamily="34" charset="0"/>
                          <a:ea typeface="Courier New" pitchFamily="34" charset="-122"/>
                          <a:cs typeface="Courier New" pitchFamily="34" charset="-120"/>
                        </a:rPr>
                        <a:t>events</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  market_sale · 2023-05-29 · Homemade and Handmade Market</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E2A32"/>
                          </a:solidFill>
                          <a:latin typeface="Courier New" pitchFamily="34" charset="0"/>
                          <a:ea typeface="Courier New" pitchFamily="34" charset="-122"/>
                          <a:cs typeface="Courier New" pitchFamily="34" charset="-120"/>
                        </a:rPr>
                        <a:t>event_participants</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 User) · (#1, Homemade and Handmade Market)</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E2A32"/>
                          </a:solidFill>
                          <a:latin typeface="Courier New" pitchFamily="34" charset="0"/>
                          <a:ea typeface="Courier New" pitchFamily="34" charset="-122"/>
                          <a:cs typeface="Courier New" pitchFamily="34" charset="-120"/>
                        </a:rPr>
                        <a:t>facts</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 jars_of_homemade_jam_sold = 15 · #2 sales_revenue = 225.0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E2A32"/>
                          </a:solidFill>
                          <a:latin typeface="Courier New" pitchFamily="34" charset="0"/>
                          <a:ea typeface="Courier New" pitchFamily="34" charset="-122"/>
                          <a:cs typeface="Courier New" pitchFamily="34" charset="-120"/>
                        </a:rPr>
                        <a:t>evidence</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fact #1, #2 → turn 99  (span nguyên văn)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bl>
          </a:graphicData>
        </a:graphic>
      </p:graphicFrame>
      <p:sp>
        <p:nvSpPr>
          <p:cNvPr id="14" name="Text 11"/>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Trích nguyên văn từ đồ thị 2b8f3739.db. Prompt trích xuất viết bằng tiếng Anh; một lời gọi xử lý tối đa 12 lượt.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2 · LUỒNG CHẠY — ĐỌC</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Agent ReAct trả lời câu 2b8f3739: 4 lần gọi công cụ</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65760"/>
                <a:gridCol w="1325880"/>
                <a:gridCol w="2606040"/>
                <a:gridCol w="2514600"/>
                <a:gridCol w="3429000"/>
                <a:gridCol w="82296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Công cụ</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Agent gửi</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Gọi để làm gì</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Công cụ trả về</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Thời gian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65836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b="1" dirty="0">
                          <a:solidFill>
                            <a:srgbClr val="1E2A32"/>
                          </a:solidFill>
                          <a:latin typeface="Courier New" pitchFamily="34" charset="0"/>
                          <a:ea typeface="Courier New" pitchFamily="34" charset="-122"/>
                          <a:cs typeface="Courier New" pitchFamily="34" charset="-120"/>
                        </a:rPr>
                        <a:t>SchemaViewer</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950" dirty="0">
                          <a:solidFill>
                            <a:srgbClr val="1E2A32"/>
                          </a:solidFill>
                          <a:latin typeface="Courier New" pitchFamily="34" charset="0"/>
                          <a:ea typeface="Courier New" pitchFamily="34" charset="-122"/>
                          <a:cs typeface="Courier New" pitchFamily="34" charset="-120"/>
                        </a:rPr>
                        <a:t>include_examples = true</a:t>
                      </a:r>
                      <a:endParaRPr lang="en-US" sz="9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Xem 7 bảng, thống kê, danh sách thuộc tính và ví dụ SQL trước khi truy vấn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146 thuộc tính, trong đó có sales_revenue, market_sales_total</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2 ms</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731520">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b="1" dirty="0">
                          <a:solidFill>
                            <a:srgbClr val="1E2A32"/>
                          </a:solidFill>
                          <a:latin typeface="Courier New" pitchFamily="34" charset="0"/>
                          <a:ea typeface="Courier New" pitchFamily="34" charset="-122"/>
                          <a:cs typeface="Courier New" pitchFamily="34" charset="-120"/>
                        </a:rPr>
                        <a:t>Search</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950" dirty="0">
                          <a:solidFill>
                            <a:srgbClr val="1E2A32"/>
                          </a:solidFill>
                          <a:latin typeface="Courier New" pitchFamily="34" charset="0"/>
                          <a:ea typeface="Courier New" pitchFamily="34" charset="-122"/>
                          <a:cs typeface="Courier New" pitchFamily="34" charset="-120"/>
                        </a:rPr>
                        <a:t>"money earned selling products at markets total sales revenue"</a:t>
                      </a:r>
                      <a:endParaRPr lang="en-US" sz="9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Tìm lai (vector + FTS5, gộp RRF) trên fact, thực thể và lượt gốc</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3 fact: $150 (01/06), $225 (29/05), $120 (15/05) từ đúng 3 phiên bằng chứng + các lượt gốc</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11 s</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b="1" dirty="0">
                          <a:solidFill>
                            <a:srgbClr val="1E2A32"/>
                          </a:solidFill>
                          <a:latin typeface="Courier New" pitchFamily="34" charset="0"/>
                          <a:ea typeface="Courier New" pitchFamily="34" charset="-122"/>
                          <a:cs typeface="Courier New" pitchFamily="34" charset="-120"/>
                        </a:rPr>
                        <a:t>EntityLookup</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950" dirty="0">
                          <a:solidFill>
                            <a:srgbClr val="1E2A32"/>
                          </a:solidFill>
                          <a:latin typeface="Courier New" pitchFamily="34" charset="0"/>
                          <a:ea typeface="Courier New" pitchFamily="34" charset="-122"/>
                          <a:cs typeface="Courier New" pitchFamily="34" charset="-120"/>
                        </a:rPr>
                        <a:t>"User market sales products revenue"</a:t>
                      </a:r>
                      <a:endParaRPr lang="en-US" sz="9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Xem hồ sơ User: giá trị mới nhất từng thuộc tính + lịch sử</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Bảng latest / history của User (61 sự kiện)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0,2 s</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65836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b="1" dirty="0">
                          <a:solidFill>
                            <a:srgbClr val="1E2A32"/>
                          </a:solidFill>
                          <a:latin typeface="Courier New" pitchFamily="34" charset="0"/>
                          <a:ea typeface="Courier New" pitchFamily="34" charset="-122"/>
                          <a:cs typeface="Courier New" pitchFamily="34" charset="-120"/>
                        </a:rPr>
                        <a:t>GraphSQL</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950" dirty="0">
                          <a:solidFill>
                            <a:srgbClr val="1E2A32"/>
                          </a:solidFill>
                          <a:latin typeface="Courier New" pitchFamily="34" charset="0"/>
                          <a:ea typeface="Courier New" pitchFamily="34" charset="-122"/>
                          <a:cs typeface="Courier New" pitchFamily="34" charset="-120"/>
                        </a:rPr>
                        <a:t>SELECT … WHERE p.name LIKE '%sales%' OR '%revenue%' OR '%market%' ORDER BY effective</a:t>
                      </a:r>
                      <a:endParaRPr lang="en-US" sz="9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Liệt kê đủ mọi khoản thu để không sót khi cộng</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11 dòng — xác nhận đúng 3 khoản thu</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1 ms</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572000"/>
            <a:ext cx="6675120" cy="1463040"/>
          </a:xfrm>
          <a:prstGeom prst="roundRect">
            <a:avLst>
              <a:gd name="adj" fmla="val 3750"/>
            </a:avLst>
          </a:prstGeom>
          <a:solidFill>
            <a:srgbClr val="E6F4EC"/>
          </a:solidFill>
          <a:ln w="12700">
            <a:solidFill>
              <a:srgbClr val="E6F4EC"/>
            </a:solidFill>
            <a:prstDash val="solid"/>
          </a:ln>
        </p:spPr>
      </p:sp>
      <p:sp>
        <p:nvSpPr>
          <p:cNvPr id="6" name="Text 3"/>
          <p:cNvSpPr txBox="1"/>
          <p:nvPr/>
        </p:nvSpPr>
        <p:spPr>
          <a:xfrm>
            <a:off x="777240" y="4681728"/>
            <a:ext cx="2743200" cy="274320"/>
          </a:xfrm>
          <a:prstGeom prst="rect">
            <a:avLst/>
          </a:prstGeom>
          <a:noFill/>
          <a:ln/>
        </p:spPr>
        <p:txBody>
          <a:bodyPr wrap="square" lIns="0" tIns="0" rIns="0" bIns="0" rtlCol="0" anchor="t"/>
          <a:lstStyle/>
          <a:p>
            <a:pPr indent="0" marL="0">
              <a:buNone/>
            </a:pPr>
            <a:r>
              <a:rPr lang="en-US" sz="1050" b="1" dirty="0">
                <a:solidFill>
                  <a:srgbClr val="1F7A4D"/>
                </a:solidFill>
                <a:latin typeface="Calibri" pitchFamily="34" charset="0"/>
                <a:ea typeface="Calibri" pitchFamily="34" charset="-122"/>
                <a:cs typeface="Calibri" pitchFamily="34" charset="-120"/>
              </a:rPr>
              <a:t>CÂU TRẢ LỜI</a:t>
            </a:r>
            <a:endParaRPr lang="en-US" sz="1050" dirty="0"/>
          </a:p>
        </p:txBody>
      </p:sp>
      <p:sp>
        <p:nvSpPr>
          <p:cNvPr id="7" name="Text 4"/>
          <p:cNvSpPr txBox="1"/>
          <p:nvPr/>
        </p:nvSpPr>
        <p:spPr>
          <a:xfrm>
            <a:off x="777240" y="4956048"/>
            <a:ext cx="6309360" cy="685800"/>
          </a:xfrm>
          <a:prstGeom prst="rect">
            <a:avLst/>
          </a:prstGeom>
          <a:noFill/>
          <a:ln/>
        </p:spPr>
        <p:txBody>
          <a:bodyPr wrap="square" lIns="0" tIns="0" rIns="0" bIns="0" rtlCol="0" anchor="t"/>
          <a:lstStyle/>
          <a:p>
            <a:pPr indent="0" marL="0">
              <a:buNone/>
            </a:pPr>
            <a:r>
              <a:rPr lang="en-US" sz="1250" i="1" dirty="0">
                <a:solidFill>
                  <a:srgbClr val="1E2A32"/>
                </a:solidFill>
                <a:latin typeface="Calibri" pitchFamily="34" charset="0"/>
                <a:ea typeface="Calibri" pitchFamily="34" charset="-122"/>
                <a:cs typeface="Calibri" pitchFamily="34" charset="-120"/>
              </a:rPr>
              <a:t>“You earned $495 total: $120 at the farmers' market on May 15, $225 at the Homemade and Handmade Market on May 29, $150 at the Summer Solstice Market.”</a:t>
            </a:r>
            <a:endParaRPr lang="en-US" sz="1250" dirty="0"/>
          </a:p>
        </p:txBody>
      </p:sp>
      <p:sp>
        <p:nvSpPr>
          <p:cNvPr id="8" name="Text 5"/>
          <p:cNvSpPr txBox="1"/>
          <p:nvPr/>
        </p:nvSpPr>
        <p:spPr>
          <a:xfrm>
            <a:off x="777240" y="5669280"/>
            <a:ext cx="6309360" cy="274320"/>
          </a:xfrm>
          <a:prstGeom prst="rect">
            <a:avLst/>
          </a:prstGeom>
          <a:noFill/>
          <a:ln/>
        </p:spPr>
        <p:txBody>
          <a:bodyPr wrap="square" lIns="0" tIns="0" rIns="0" bIns="0" rtlCol="0" anchor="t"/>
          <a:lstStyle/>
          <a:p>
            <a:pPr indent="0" marL="0">
              <a:buNone/>
            </a:pPr>
            <a:r>
              <a:rPr lang="en-US" sz="1150" b="1" dirty="0">
                <a:solidFill>
                  <a:srgbClr val="1F7A4D"/>
                </a:solidFill>
                <a:latin typeface="Calibri" pitchFamily="34" charset="0"/>
                <a:ea typeface="Calibri" pitchFamily="34" charset="-122"/>
                <a:cs typeface="Calibri" pitchFamily="34" charset="-120"/>
              </a:rPr>
              <a:t>✓ Đúng (đáp án chuẩn $495) · 3 lời gọi LLM · 8,3K token · 24,7 s</a:t>
            </a:r>
            <a:endParaRPr lang="en-US" sz="1150" dirty="0"/>
          </a:p>
        </p:txBody>
      </p:sp>
      <p:sp>
        <p:nvSpPr>
          <p:cNvPr id="9" name="Shape 6"/>
          <p:cNvSpPr/>
          <p:nvPr/>
        </p:nvSpPr>
        <p:spPr>
          <a:xfrm>
            <a:off x="7498080" y="4572000"/>
            <a:ext cx="4114800" cy="1463040"/>
          </a:xfrm>
          <a:prstGeom prst="roundRect">
            <a:avLst>
              <a:gd name="adj" fmla="val 3750"/>
            </a:avLst>
          </a:prstGeom>
          <a:solidFill>
            <a:srgbClr val="FBF1E3"/>
          </a:solidFill>
          <a:ln w="12700">
            <a:solidFill>
              <a:srgbClr val="FBF1E3"/>
            </a:solidFill>
            <a:prstDash val="solid"/>
          </a:ln>
        </p:spPr>
      </p:sp>
      <p:sp>
        <p:nvSpPr>
          <p:cNvPr id="10" name="Text 7"/>
          <p:cNvSpPr txBox="1"/>
          <p:nvPr/>
        </p:nvSpPr>
        <p:spPr>
          <a:xfrm>
            <a:off x="7726680" y="4681728"/>
            <a:ext cx="3657600" cy="274320"/>
          </a:xfrm>
          <a:prstGeom prst="rect">
            <a:avLst/>
          </a:prstGeom>
          <a:noFill/>
          <a:ln/>
        </p:spPr>
        <p:txBody>
          <a:bodyPr wrap="square" lIns="0" tIns="0" rIns="0" bIns="0" rtlCol="0" anchor="t"/>
          <a:lstStyle/>
          <a:p>
            <a:pPr indent="0" marL="0">
              <a:buNone/>
            </a:pPr>
            <a:r>
              <a:rPr lang="en-US" sz="1050" b="1" dirty="0">
                <a:solidFill>
                  <a:srgbClr val="D98C1F"/>
                </a:solidFill>
                <a:latin typeface="Calibri" pitchFamily="34" charset="0"/>
                <a:ea typeface="Calibri" pitchFamily="34" charset="-122"/>
                <a:cs typeface="Calibri" pitchFamily="34" charset="-120"/>
              </a:rPr>
              <a:t>ĐIỂM CẦN CẢI THIỆN</a:t>
            </a:r>
            <a:endParaRPr lang="en-US" sz="1050" dirty="0"/>
          </a:p>
        </p:txBody>
      </p:sp>
      <p:sp>
        <p:nvSpPr>
          <p:cNvPr id="11" name="Text 8"/>
          <p:cNvSpPr txBox="1"/>
          <p:nvPr/>
        </p:nvSpPr>
        <p:spPr>
          <a:xfrm>
            <a:off x="7726680" y="4956048"/>
            <a:ext cx="3749040" cy="100584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Cùng một ý “doanh thu” nhưng mang 2 tên thuộc tính: sales_revenue và market_sales_total — bước giải quyết thuộc tính chưa gộp. Agent vẫn đúng nhờ SQL với LIKE.</a:t>
            </a:r>
            <a:endParaRPr lang="en-US" sz="1150" dirty="0"/>
          </a:p>
        </p:txBody>
      </p:sp>
      <p:sp>
        <p:nvSpPr>
          <p:cNvPr id="12" name="Text 9"/>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Trích từ results.jsonl của lần chạy full/dev. Vòng lặp: suy nghĩ → chọn công cụ → đọc kết quả → lặp, tối đa 20 bước; hết lượt thì bị ép trả lời.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2 · LUỒNG CHẠY — ĐỌC</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Câu cập nhật kiến thức: agent chọn giá trị mới nhất</a:t>
            </a:r>
            <a:endParaRPr lang="en-US" sz="2800" dirty="0"/>
          </a:p>
        </p:txBody>
      </p:sp>
      <p:sp>
        <p:nvSpPr>
          <p:cNvPr id="4" name="Text 2"/>
          <p:cNvSpPr txBox="1"/>
          <p:nvPr/>
        </p:nvSpPr>
        <p:spPr>
          <a:xfrm>
            <a:off x="548640" y="1325880"/>
            <a:ext cx="10972800" cy="320040"/>
          </a:xfrm>
          <a:prstGeom prst="rect">
            <a:avLst/>
          </a:prstGeom>
          <a:noFill/>
          <a:ln/>
        </p:spPr>
        <p:txBody>
          <a:bodyPr wrap="square" lIns="0" tIns="0" rIns="0" bIns="0" rtlCol="0" anchor="t"/>
          <a:lstStyle/>
          <a:p>
            <a:pPr indent="0" marL="0">
              <a:buNone/>
            </a:pPr>
            <a:r>
              <a:rPr lang="en-US" sz="1300" i="1" dirty="0">
                <a:solidFill>
                  <a:srgbClr val="5B6B73"/>
                </a:solidFill>
                <a:latin typeface="Calibri" pitchFamily="34" charset="0"/>
                <a:ea typeface="Calibri" pitchFamily="34" charset="-122"/>
                <a:cs typeface="Calibri" pitchFamily="34" charset="-120"/>
              </a:rPr>
              <a:t>Câu 1cea1afa — “How many Instagram followers do I currently have?” · ngày hỏi 14/06/2023 · đáp án chuẩn 600</a:t>
            </a:r>
            <a:endParaRPr lang="en-US" sz="1300" dirty="0"/>
          </a:p>
        </p:txBody>
      </p:sp>
      <p:sp>
        <p:nvSpPr>
          <p:cNvPr id="5" name="Shape 3"/>
          <p:cNvSpPr/>
          <p:nvPr/>
        </p:nvSpPr>
        <p:spPr>
          <a:xfrm>
            <a:off x="548640" y="1828800"/>
            <a:ext cx="3611880" cy="3063240"/>
          </a:xfrm>
          <a:prstGeom prst="roundRect">
            <a:avLst>
              <a:gd name="adj" fmla="val 1791"/>
            </a:avLst>
          </a:prstGeom>
          <a:solidFill>
            <a:srgbClr val="F3F7F8"/>
          </a:solidFill>
          <a:ln w="12700">
            <a:solidFill>
              <a:srgbClr val="F3F7F8"/>
            </a:solidFill>
            <a:prstDash val="solid"/>
          </a:ln>
        </p:spPr>
      </p:sp>
      <p:sp>
        <p:nvSpPr>
          <p:cNvPr id="6" name="Shape 4"/>
          <p:cNvSpPr/>
          <p:nvPr/>
        </p:nvSpPr>
        <p:spPr>
          <a:xfrm>
            <a:off x="777240" y="2011680"/>
            <a:ext cx="384048" cy="384048"/>
          </a:xfrm>
          <a:prstGeom prst="ellipse">
            <a:avLst/>
          </a:prstGeom>
          <a:solidFill>
            <a:srgbClr val="0F5C6B"/>
          </a:solidFill>
          <a:ln w="12700">
            <a:solidFill>
              <a:srgbClr val="0F5C6B"/>
            </a:solidFill>
            <a:prstDash val="solid"/>
          </a:ln>
        </p:spPr>
      </p:sp>
      <p:sp>
        <p:nvSpPr>
          <p:cNvPr id="7" name="Text 5"/>
          <p:cNvSpPr txBox="1"/>
          <p:nvPr/>
        </p:nvSpPr>
        <p:spPr>
          <a:xfrm>
            <a:off x="77724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280160" y="2029968"/>
            <a:ext cx="2011680" cy="365760"/>
          </a:xfrm>
          <a:prstGeom prst="rect">
            <a:avLst/>
          </a:prstGeom>
          <a:noFill/>
          <a:ln/>
        </p:spPr>
        <p:txBody>
          <a:bodyPr wrap="square" lIns="0" tIns="0" rIns="0" bIns="0" rtlCol="0" anchor="ctr"/>
          <a:lstStyle/>
          <a:p>
            <a:pPr indent="0" marL="0">
              <a:buNone/>
            </a:pPr>
            <a:r>
              <a:rPr lang="en-US" sz="1500" b="1" dirty="0">
                <a:solidFill>
                  <a:srgbClr val="12232E"/>
                </a:solidFill>
                <a:latin typeface="Courier New" pitchFamily="34" charset="0"/>
                <a:ea typeface="Courier New" pitchFamily="34" charset="-122"/>
                <a:cs typeface="Courier New" pitchFamily="34" charset="-120"/>
              </a:rPr>
              <a:t>Search</a:t>
            </a:r>
            <a:endParaRPr lang="en-US" sz="1500" dirty="0"/>
          </a:p>
        </p:txBody>
      </p:sp>
      <p:sp>
        <p:nvSpPr>
          <p:cNvPr id="9" name="Text 7"/>
          <p:cNvSpPr txBox="1"/>
          <p:nvPr/>
        </p:nvSpPr>
        <p:spPr>
          <a:xfrm>
            <a:off x="3291840" y="2029968"/>
            <a:ext cx="685800" cy="365760"/>
          </a:xfrm>
          <a:prstGeom prst="rect">
            <a:avLst/>
          </a:prstGeom>
          <a:noFill/>
          <a:ln/>
        </p:spPr>
        <p:txBody>
          <a:bodyPr wrap="square" lIns="0" tIns="0" rIns="0" bIns="0" rtlCol="0" anchor="ctr"/>
          <a:lstStyle/>
          <a:p>
            <a:pPr algn="r" indent="0" marL="0">
              <a:buNone/>
            </a:pPr>
            <a:r>
              <a:rPr lang="en-US" sz="1100" dirty="0">
                <a:solidFill>
                  <a:srgbClr val="5B6B73"/>
                </a:solidFill>
                <a:latin typeface="Calibri" pitchFamily="34" charset="0"/>
                <a:ea typeface="Calibri" pitchFamily="34" charset="-122"/>
                <a:cs typeface="Calibri" pitchFamily="34" charset="-120"/>
              </a:rPr>
              <a:t>12,7 s</a:t>
            </a:r>
            <a:endParaRPr lang="en-US" sz="1100" dirty="0"/>
          </a:p>
        </p:txBody>
      </p:sp>
      <p:sp>
        <p:nvSpPr>
          <p:cNvPr id="10" name="Text 8"/>
          <p:cNvSpPr txBox="1"/>
          <p:nvPr/>
        </p:nvSpPr>
        <p:spPr>
          <a:xfrm>
            <a:off x="777240" y="2560320"/>
            <a:ext cx="3200400" cy="457200"/>
          </a:xfrm>
          <a:prstGeom prst="rect">
            <a:avLst/>
          </a:prstGeom>
          <a:noFill/>
          <a:ln/>
        </p:spPr>
        <p:txBody>
          <a:bodyPr wrap="square" lIns="0" tIns="0" rIns="0" bIns="0" rtlCol="0" anchor="t"/>
          <a:lstStyle/>
          <a:p>
            <a:pPr indent="0" marL="0">
              <a:buNone/>
            </a:pPr>
            <a:r>
              <a:rPr lang="en-US" sz="950" dirty="0">
                <a:solidFill>
                  <a:srgbClr val="0F5C6B"/>
                </a:solidFill>
                <a:latin typeface="Courier New" pitchFamily="34" charset="0"/>
                <a:ea typeface="Courier New" pitchFamily="34" charset="-122"/>
                <a:cs typeface="Courier New" pitchFamily="34" charset="-120"/>
              </a:rPr>
              <a:t>"current Instagram followers follower count"</a:t>
            </a:r>
            <a:endParaRPr lang="en-US" sz="950" dirty="0"/>
          </a:p>
        </p:txBody>
      </p:sp>
      <p:sp>
        <p:nvSpPr>
          <p:cNvPr id="11" name="Text 9"/>
          <p:cNvSpPr txBox="1"/>
          <p:nvPr/>
        </p:nvSpPr>
        <p:spPr>
          <a:xfrm>
            <a:off x="777240" y="3063240"/>
            <a:ext cx="3200400" cy="45720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Trả về CẢ HAI phiên bản, kèm thời điểm hiệu lực:</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3611880"/>
          <a:ext cx="3154680" cy="914400"/>
        </p:xfrm>
        <a:graphic>
          <a:graphicData uri="http://schemas.openxmlformats.org/drawingml/2006/table">
            <a:tbl>
              <a:tblPr/>
              <a:tblGrid>
                <a:gridCol w="731520"/>
                <a:gridCol w="1234440"/>
                <a:gridCol w="118872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effective</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nguồn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292608">
                <a:tc>
                  <a:txBody>
                    <a:bodyPr/>
                    <a:lstStyle/>
                    <a:p>
                      <a:pPr indent="0" marL="0">
                        <a:buNone/>
                      </a:pPr>
                      <a:r>
                        <a:rPr lang="en-US" sz="1050" b="1" dirty="0">
                          <a:solidFill>
                            <a:srgbClr val="1E2A32"/>
                          </a:solidFill>
                          <a:latin typeface="Courier New" pitchFamily="34" charset="0"/>
                          <a:ea typeface="Courier New" pitchFamily="34" charset="-122"/>
                          <a:cs typeface="Courier New" pitchFamily="34" charset="-120"/>
                        </a:rPr>
                        <a:t>600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2023-05-28</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…_2</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500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2023-05-20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…_1</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bl>
          </a:graphicData>
        </a:graphic>
      </p:graphicFrame>
      <p:sp>
        <p:nvSpPr>
          <p:cNvPr id="13" name="Shape 10"/>
          <p:cNvSpPr/>
          <p:nvPr/>
        </p:nvSpPr>
        <p:spPr>
          <a:xfrm>
            <a:off x="4389120" y="1828800"/>
            <a:ext cx="3611880" cy="3063240"/>
          </a:xfrm>
          <a:prstGeom prst="roundRect">
            <a:avLst>
              <a:gd name="adj" fmla="val 1791"/>
            </a:avLst>
          </a:prstGeom>
          <a:solidFill>
            <a:srgbClr val="F3F7F8"/>
          </a:solidFill>
          <a:ln w="12700">
            <a:solidFill>
              <a:srgbClr val="F3F7F8"/>
            </a:solidFill>
            <a:prstDash val="solid"/>
          </a:ln>
        </p:spPr>
      </p:sp>
      <p:sp>
        <p:nvSpPr>
          <p:cNvPr id="14" name="Shape 11"/>
          <p:cNvSpPr/>
          <p:nvPr/>
        </p:nvSpPr>
        <p:spPr>
          <a:xfrm>
            <a:off x="4617720" y="2011680"/>
            <a:ext cx="384048" cy="384048"/>
          </a:xfrm>
          <a:prstGeom prst="ellipse">
            <a:avLst/>
          </a:prstGeom>
          <a:solidFill>
            <a:srgbClr val="0F5C6B"/>
          </a:solidFill>
          <a:ln w="12700">
            <a:solidFill>
              <a:srgbClr val="0F5C6B"/>
            </a:solidFill>
            <a:prstDash val="solid"/>
          </a:ln>
        </p:spPr>
      </p:sp>
      <p:sp>
        <p:nvSpPr>
          <p:cNvPr id="15" name="Text 12"/>
          <p:cNvSpPr txBox="1"/>
          <p:nvPr/>
        </p:nvSpPr>
        <p:spPr>
          <a:xfrm>
            <a:off x="461772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120640" y="2029968"/>
            <a:ext cx="2011680" cy="365760"/>
          </a:xfrm>
          <a:prstGeom prst="rect">
            <a:avLst/>
          </a:prstGeom>
          <a:noFill/>
          <a:ln/>
        </p:spPr>
        <p:txBody>
          <a:bodyPr wrap="square" lIns="0" tIns="0" rIns="0" bIns="0" rtlCol="0" anchor="ctr"/>
          <a:lstStyle/>
          <a:p>
            <a:pPr indent="0" marL="0">
              <a:buNone/>
            </a:pPr>
            <a:r>
              <a:rPr lang="en-US" sz="1500" b="1" dirty="0">
                <a:solidFill>
                  <a:srgbClr val="12232E"/>
                </a:solidFill>
                <a:latin typeface="Courier New" pitchFamily="34" charset="0"/>
                <a:ea typeface="Courier New" pitchFamily="34" charset="-122"/>
                <a:cs typeface="Courier New" pitchFamily="34" charset="-120"/>
              </a:rPr>
              <a:t>EntityLookup</a:t>
            </a:r>
            <a:endParaRPr lang="en-US" sz="1500" dirty="0"/>
          </a:p>
        </p:txBody>
      </p:sp>
      <p:sp>
        <p:nvSpPr>
          <p:cNvPr id="17" name="Text 14"/>
          <p:cNvSpPr txBox="1"/>
          <p:nvPr/>
        </p:nvSpPr>
        <p:spPr>
          <a:xfrm>
            <a:off x="7132320" y="2029968"/>
            <a:ext cx="685800" cy="365760"/>
          </a:xfrm>
          <a:prstGeom prst="rect">
            <a:avLst/>
          </a:prstGeom>
          <a:noFill/>
          <a:ln/>
        </p:spPr>
        <p:txBody>
          <a:bodyPr wrap="square" lIns="0" tIns="0" rIns="0" bIns="0" rtlCol="0" anchor="ctr"/>
          <a:lstStyle/>
          <a:p>
            <a:pPr algn="r" indent="0" marL="0">
              <a:buNone/>
            </a:pPr>
            <a:r>
              <a:rPr lang="en-US" sz="1100" dirty="0">
                <a:solidFill>
                  <a:srgbClr val="5B6B73"/>
                </a:solidFill>
                <a:latin typeface="Calibri" pitchFamily="34" charset="0"/>
                <a:ea typeface="Calibri" pitchFamily="34" charset="-122"/>
                <a:cs typeface="Calibri" pitchFamily="34" charset="-120"/>
              </a:rPr>
              <a:t>0,2 s</a:t>
            </a:r>
            <a:endParaRPr lang="en-US" sz="1100" dirty="0"/>
          </a:p>
        </p:txBody>
      </p:sp>
      <p:sp>
        <p:nvSpPr>
          <p:cNvPr id="18" name="Text 15"/>
          <p:cNvSpPr txBox="1"/>
          <p:nvPr/>
        </p:nvSpPr>
        <p:spPr>
          <a:xfrm>
            <a:off x="4617720" y="2560320"/>
            <a:ext cx="3200400" cy="457200"/>
          </a:xfrm>
          <a:prstGeom prst="rect">
            <a:avLst/>
          </a:prstGeom>
          <a:noFill/>
          <a:ln/>
        </p:spPr>
        <p:txBody>
          <a:bodyPr wrap="square" lIns="0" tIns="0" rIns="0" bIns="0" rtlCol="0" anchor="t"/>
          <a:lstStyle/>
          <a:p>
            <a:pPr indent="0" marL="0">
              <a:buNone/>
            </a:pPr>
            <a:r>
              <a:rPr lang="en-US" sz="950" dirty="0">
                <a:solidFill>
                  <a:srgbClr val="0F5C6B"/>
                </a:solidFill>
                <a:latin typeface="Courier New" pitchFamily="34" charset="0"/>
                <a:ea typeface="Courier New" pitchFamily="34" charset="-122"/>
                <a:cs typeface="Courier New" pitchFamily="34" charset="-120"/>
              </a:rPr>
              <a:t>"User Instagram followers"</a:t>
            </a:r>
            <a:endParaRPr lang="en-US" sz="950" dirty="0"/>
          </a:p>
        </p:txBody>
      </p:sp>
      <p:sp>
        <p:nvSpPr>
          <p:cNvPr id="19" name="Text 16"/>
          <p:cNvSpPr txBox="1"/>
          <p:nvPr/>
        </p:nvSpPr>
        <p:spPr>
          <a:xfrm>
            <a:off x="4617720" y="3063240"/>
            <a:ext cx="3200400" cy="45720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Bảng latest của User chỉ còn giá trị mới nhất:</a:t>
            </a:r>
            <a:endParaRPr lang="en-US" sz="11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17720" y="3611880"/>
          <a:ext cx="3154680" cy="914400"/>
        </p:xfrm>
        <a:graphic>
          <a:graphicData uri="http://schemas.openxmlformats.org/drawingml/2006/table">
            <a:tbl>
              <a:tblPr/>
              <a:tblGrid>
                <a:gridCol w="731520"/>
                <a:gridCol w="1234440"/>
                <a:gridCol w="118872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effective</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nguồn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292608">
                <a:tc>
                  <a:txBody>
                    <a:bodyPr/>
                    <a:lstStyle/>
                    <a:p>
                      <a:pPr indent="0" marL="0">
                        <a:buNone/>
                      </a:pPr>
                      <a:r>
                        <a:rPr lang="en-US" sz="1050" b="1" dirty="0">
                          <a:solidFill>
                            <a:srgbClr val="1E2A32"/>
                          </a:solidFill>
                          <a:latin typeface="Courier New" pitchFamily="34" charset="0"/>
                          <a:ea typeface="Courier New" pitchFamily="34" charset="-122"/>
                          <a:cs typeface="Courier New" pitchFamily="34" charset="-120"/>
                        </a:rPr>
                        <a:t>600</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2023-05-28</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indent="0" marL="0">
                        <a:buNone/>
                      </a:pPr>
                      <a:r>
                        <a:rPr lang="en-US" sz="1050" dirty="0">
                          <a:solidFill>
                            <a:srgbClr val="1E2A32"/>
                          </a:solidFill>
                          <a:latin typeface="Courier New" pitchFamily="34" charset="0"/>
                          <a:ea typeface="Courier New" pitchFamily="34" charset="-122"/>
                          <a:cs typeface="Courier New" pitchFamily="34" charset="-120"/>
                        </a:rPr>
                        <a:t>fact #64</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bl>
          </a:graphicData>
        </a:graphic>
      </p:graphicFrame>
      <p:sp>
        <p:nvSpPr>
          <p:cNvPr id="21" name="Shape 17"/>
          <p:cNvSpPr/>
          <p:nvPr/>
        </p:nvSpPr>
        <p:spPr>
          <a:xfrm>
            <a:off x="4178808" y="3291840"/>
            <a:ext cx="192024" cy="914"/>
          </a:xfrm>
          <a:prstGeom prst="line">
            <a:avLst/>
          </a:prstGeom>
          <a:noFill/>
          <a:ln w="19050">
            <a:solidFill>
              <a:srgbClr val="D98C1F"/>
            </a:solidFill>
            <a:prstDash val="solid"/>
            <a:tailEnd type="triangle"/>
          </a:ln>
        </p:spPr>
      </p:sp>
      <p:sp>
        <p:nvSpPr>
          <p:cNvPr id="22" name="Shape 18"/>
          <p:cNvSpPr/>
          <p:nvPr/>
        </p:nvSpPr>
        <p:spPr>
          <a:xfrm>
            <a:off x="8229600" y="1828800"/>
            <a:ext cx="3383280" cy="3063240"/>
          </a:xfrm>
          <a:prstGeom prst="roundRect">
            <a:avLst>
              <a:gd name="adj" fmla="val 1791"/>
            </a:avLst>
          </a:prstGeom>
          <a:solidFill>
            <a:srgbClr val="E6F4EC"/>
          </a:solidFill>
          <a:ln w="12700">
            <a:solidFill>
              <a:srgbClr val="E6F4EC"/>
            </a:solidFill>
            <a:prstDash val="solid"/>
          </a:ln>
        </p:spPr>
      </p:sp>
      <p:sp>
        <p:nvSpPr>
          <p:cNvPr id="23" name="Text 19"/>
          <p:cNvSpPr txBox="1"/>
          <p:nvPr/>
        </p:nvSpPr>
        <p:spPr>
          <a:xfrm>
            <a:off x="8458200" y="2011680"/>
            <a:ext cx="2743200" cy="274320"/>
          </a:xfrm>
          <a:prstGeom prst="rect">
            <a:avLst/>
          </a:prstGeom>
          <a:noFill/>
          <a:ln/>
        </p:spPr>
        <p:txBody>
          <a:bodyPr wrap="square" lIns="0" tIns="0" rIns="0" bIns="0" rtlCol="0" anchor="t"/>
          <a:lstStyle/>
          <a:p>
            <a:pPr indent="0" marL="0">
              <a:buNone/>
            </a:pPr>
            <a:r>
              <a:rPr lang="en-US" sz="1050" b="1" dirty="0">
                <a:solidFill>
                  <a:srgbClr val="1F7A4D"/>
                </a:solidFill>
                <a:latin typeface="Calibri" pitchFamily="34" charset="0"/>
                <a:ea typeface="Calibri" pitchFamily="34" charset="-122"/>
                <a:cs typeface="Calibri" pitchFamily="34" charset="-120"/>
              </a:rPr>
              <a:t>CÂU TRẢ LỜI</a:t>
            </a:r>
            <a:endParaRPr lang="en-US" sz="1050" dirty="0"/>
          </a:p>
        </p:txBody>
      </p:sp>
      <p:sp>
        <p:nvSpPr>
          <p:cNvPr id="24" name="Text 20"/>
          <p:cNvSpPr txBox="1"/>
          <p:nvPr/>
        </p:nvSpPr>
        <p:spPr>
          <a:xfrm>
            <a:off x="8458200" y="2331720"/>
            <a:ext cx="2971800" cy="1005840"/>
          </a:xfrm>
          <a:prstGeom prst="rect">
            <a:avLst/>
          </a:prstGeom>
          <a:noFill/>
          <a:ln/>
        </p:spPr>
        <p:txBody>
          <a:bodyPr wrap="square" lIns="0" tIns="0" rIns="0" bIns="0" rtlCol="0" anchor="t"/>
          <a:lstStyle/>
          <a:p>
            <a:pPr indent="0" marL="0">
              <a:buNone/>
            </a:pPr>
            <a:r>
              <a:rPr lang="en-US" sz="1400" i="1" dirty="0">
                <a:solidFill>
                  <a:srgbClr val="1E2A32"/>
                </a:solidFill>
                <a:latin typeface="Calibri" pitchFamily="34" charset="0"/>
                <a:ea typeface="Calibri" pitchFamily="34" charset="-122"/>
                <a:cs typeface="Calibri" pitchFamily="34" charset="-120"/>
              </a:rPr>
              <a:t>“You currently have 600 Instagram followers (as of May 28, 2023).”</a:t>
            </a:r>
            <a:endParaRPr lang="en-US" sz="1400" dirty="0"/>
          </a:p>
        </p:txBody>
      </p:sp>
      <p:sp>
        <p:nvSpPr>
          <p:cNvPr id="25" name="Text 21"/>
          <p:cNvSpPr txBox="1"/>
          <p:nvPr/>
        </p:nvSpPr>
        <p:spPr>
          <a:xfrm>
            <a:off x="8458200" y="3474720"/>
            <a:ext cx="2971800" cy="320040"/>
          </a:xfrm>
          <a:prstGeom prst="rect">
            <a:avLst/>
          </a:prstGeom>
          <a:noFill/>
          <a:ln/>
        </p:spPr>
        <p:txBody>
          <a:bodyPr wrap="square" lIns="0" tIns="0" rIns="0" bIns="0" rtlCol="0" anchor="t"/>
          <a:lstStyle/>
          <a:p>
            <a:pPr indent="0" marL="0">
              <a:buNone/>
            </a:pPr>
            <a:r>
              <a:rPr lang="en-US" sz="1200" b="1" dirty="0">
                <a:solidFill>
                  <a:srgbClr val="1F7A4D"/>
                </a:solidFill>
                <a:latin typeface="Calibri" pitchFamily="34" charset="0"/>
                <a:ea typeface="Calibri" pitchFamily="34" charset="-122"/>
                <a:cs typeface="Calibri" pitchFamily="34" charset="-120"/>
              </a:rPr>
              <a:t>✓ Đúng · 2 lời gọi LLM · 20 s</a:t>
            </a:r>
            <a:endParaRPr lang="en-US" sz="1200" dirty="0"/>
          </a:p>
        </p:txBody>
      </p:sp>
      <p:sp>
        <p:nvSpPr>
          <p:cNvPr id="26" name="Text 22"/>
          <p:cNvSpPr txBox="1"/>
          <p:nvPr/>
        </p:nvSpPr>
        <p:spPr>
          <a:xfrm>
            <a:off x="8458200" y="3886200"/>
            <a:ext cx="2971800" cy="822960"/>
          </a:xfrm>
          <a:prstGeom prst="rect">
            <a:avLst/>
          </a:prstGeom>
          <a:noFill/>
          <a:ln/>
        </p:spPr>
        <p:txBody>
          <a:bodyPr wrap="square" lIns="0" tIns="0" rIns="0" bIns="0" rtlCol="0" anchor="t"/>
          <a:lstStyle/>
          <a:p>
            <a:pPr indent="0" marL="0">
              <a:buNone/>
            </a:pPr>
            <a:r>
              <a:rPr lang="en-US" sz="1100" dirty="0">
                <a:solidFill>
                  <a:srgbClr val="1E2A32"/>
                </a:solidFill>
                <a:latin typeface="Calibri" pitchFamily="34" charset="0"/>
                <a:ea typeface="Calibri" pitchFamily="34" charset="-122"/>
                <a:cs typeface="Calibri" pitchFamily="34" charset="-120"/>
              </a:rPr>
              <a:t>Agent nêu kèm mốc thời gian — dấu hiệu nó đã so t_from, không chọn ngẫu nhiên.</a:t>
            </a:r>
            <a:endParaRPr lang="en-US" sz="1100" dirty="0"/>
          </a:p>
        </p:txBody>
      </p:sp>
      <p:sp>
        <p:nvSpPr>
          <p:cNvPr id="27" name="Shape 23"/>
          <p:cNvSpPr/>
          <p:nvPr/>
        </p:nvSpPr>
        <p:spPr>
          <a:xfrm>
            <a:off x="548640" y="5166360"/>
            <a:ext cx="11064240" cy="914400"/>
          </a:xfrm>
          <a:prstGeom prst="roundRect">
            <a:avLst>
              <a:gd name="adj" fmla="val 6000"/>
            </a:avLst>
          </a:prstGeom>
          <a:solidFill>
            <a:srgbClr val="FBF1E3"/>
          </a:solidFill>
          <a:ln w="12700">
            <a:solidFill>
              <a:srgbClr val="FBF1E3"/>
            </a:solidFill>
            <a:prstDash val="solid"/>
          </a:ln>
        </p:spPr>
      </p:sp>
      <p:sp>
        <p:nvSpPr>
          <p:cNvPr id="28" name="Text 24"/>
          <p:cNvSpPr txBox="1"/>
          <p:nvPr/>
        </p:nvSpPr>
        <p:spPr>
          <a:xfrm>
            <a:off x="777240" y="5257800"/>
            <a:ext cx="10607040" cy="731520"/>
          </a:xfrm>
          <a:prstGeom prst="rect">
            <a:avLst/>
          </a:prstGeom>
          <a:noFill/>
          <a:ln/>
        </p:spPr>
        <p:txBody>
          <a:bodyPr wrap="square" lIns="0" tIns="0" rIns="0" bIns="0" rtlCol="0" anchor="ctr"/>
          <a:lstStyle/>
          <a:p>
            <a:pPr indent="0" marL="0">
              <a:buNone/>
            </a:pPr>
            <a:r>
              <a:rPr lang="en-US" sz="1250" b="1" dirty="0">
                <a:solidFill>
                  <a:srgbClr val="1E2A32"/>
                </a:solidFill>
                <a:latin typeface="Calibri" pitchFamily="34" charset="0"/>
                <a:ea typeface="Calibri" pitchFamily="34" charset="-122"/>
                <a:cs typeface="Calibri" pitchFamily="34" charset="-120"/>
              </a:rPr>
              <a:t>Vì sao không chốt bản mới ngay lúc ghi (như Mem0)?  </a:t>
            </a:r>
            <a:pPr indent="0" marL="0">
              <a:buNone/>
            </a:pPr>
            <a:r>
              <a:rPr lang="en-US" sz="1250" dirty="0">
                <a:solidFill>
                  <a:srgbClr val="1E2A32"/>
                </a:solidFill>
                <a:latin typeface="Calibri" pitchFamily="34" charset="0"/>
                <a:ea typeface="Calibri" pitchFamily="34" charset="-122"/>
                <a:cs typeface="Calibri" pitchFamily="34" charset="-120"/>
              </a:rPr>
              <a:t>Câu “trước đây tôi có bao nhiêu follower?” hay “tăng bao nhiêu trong một tuần?” cần cả bản cũ. Giữ mọi phiên bản và để agent quyết định lúc đọc thì trả lời được cả hai loại — đó là lựa chọn thiết kế của APEX-MEM.</a:t>
            </a:r>
            <a:endParaRPr lang="en-US" sz="1250" dirty="0"/>
          </a:p>
        </p:txBody>
      </p:sp>
      <p:sp>
        <p:nvSpPr>
          <p:cNvPr id="29" name="Text 25"/>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4/4 câu knowledge-update trong 20 câu dev đều đúng. Số câu còn nhỏ — cần chạy thêm để kết luận.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3 · KẾT QUẢ</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Thiết lập thí nghiệm</a:t>
            </a:r>
            <a:endParaRPr lang="en-US" sz="2800" dirty="0"/>
          </a:p>
        </p:txBody>
      </p:sp>
      <p:sp>
        <p:nvSpPr>
          <p:cNvPr id="4" name="Shape 2"/>
          <p:cNvSpPr/>
          <p:nvPr/>
        </p:nvSpPr>
        <p:spPr>
          <a:xfrm>
            <a:off x="548640" y="1463040"/>
            <a:ext cx="3520440" cy="2148840"/>
          </a:xfrm>
          <a:prstGeom prst="roundRect">
            <a:avLst>
              <a:gd name="adj" fmla="val 2553"/>
            </a:avLst>
          </a:prstGeom>
          <a:solidFill>
            <a:srgbClr val="F3F7F8"/>
          </a:solidFill>
          <a:ln w="12700">
            <a:solidFill>
              <a:srgbClr val="F3F7F8"/>
            </a:solidFill>
            <a:prstDash val="solid"/>
          </a:ln>
        </p:spPr>
      </p:sp>
      <p:sp>
        <p:nvSpPr>
          <p:cNvPr id="5" name="Text 3"/>
          <p:cNvSpPr txBox="1"/>
          <p:nvPr/>
        </p:nvSpPr>
        <p:spPr>
          <a:xfrm>
            <a:off x="777240" y="1645920"/>
            <a:ext cx="3108960" cy="365760"/>
          </a:xfrm>
          <a:prstGeom prst="rect">
            <a:avLst/>
          </a:prstGeom>
          <a:noFill/>
          <a:ln/>
        </p:spPr>
        <p:txBody>
          <a:bodyPr wrap="square" lIns="0" tIns="0" rIns="0" bIns="0" rtlCol="0" anchor="t"/>
          <a:lstStyle/>
          <a:p>
            <a:pPr indent="0" marL="0">
              <a:buNone/>
            </a:pPr>
            <a:r>
              <a:rPr lang="en-US" sz="1600" b="1" dirty="0">
                <a:solidFill>
                  <a:srgbClr val="0F5C6B"/>
                </a:solidFill>
                <a:latin typeface="Cambria" pitchFamily="34" charset="0"/>
                <a:ea typeface="Cambria" pitchFamily="34" charset="-122"/>
                <a:cs typeface="Cambria" pitchFamily="34" charset="-120"/>
              </a:rPr>
              <a:t>Mô hình nền</a:t>
            </a:r>
            <a:endParaRPr lang="en-US" sz="1600" dirty="0"/>
          </a:p>
        </p:txBody>
      </p:sp>
      <p:sp>
        <p:nvSpPr>
          <p:cNvPr id="6" name="Text 4"/>
          <p:cNvSpPr txBox="1"/>
          <p:nvPr/>
        </p:nvSpPr>
        <p:spPr>
          <a:xfrm>
            <a:off x="777240" y="2103120"/>
            <a:ext cx="3108960" cy="1417320"/>
          </a:xfrm>
          <a:prstGeom prst="rect">
            <a:avLst/>
          </a:prstGeom>
          <a:noFill/>
          <a:ln/>
        </p:spPr>
        <p:txBody>
          <a:bodyPr wrap="square" lIns="0" tIns="0" rIns="0" bIns="0" rtlCol="0" anchor="t"/>
          <a:lstStyle/>
          <a:p>
            <a:pPr indent="0" marL="0">
              <a:buNone/>
            </a:pPr>
            <a:r>
              <a:rPr lang="en-US" sz="1350" dirty="0">
                <a:solidFill>
                  <a:srgbClr val="1E2A32"/>
                </a:solidFill>
                <a:latin typeface="Calibri" pitchFamily="34" charset="0"/>
                <a:ea typeface="Calibri" pitchFamily="34" charset="-122"/>
                <a:cs typeface="Calibri" pitchFamily="34" charset="-120"/>
              </a:rPr>
              <a:t>GPT-5.6 Luna qua 9router — dùng cho trích xuất, giải quyết thực thể, agent và cả chấm điểm. Ghi lại model thực sự phục vụ ở mọi lời gọi: 362/362 là Luna.</a:t>
            </a:r>
            <a:endParaRPr lang="en-US" sz="1350" dirty="0"/>
          </a:p>
        </p:txBody>
      </p:sp>
      <p:sp>
        <p:nvSpPr>
          <p:cNvPr id="7" name="Shape 5"/>
          <p:cNvSpPr/>
          <p:nvPr/>
        </p:nvSpPr>
        <p:spPr>
          <a:xfrm>
            <a:off x="4279392" y="1463040"/>
            <a:ext cx="3520440" cy="2148840"/>
          </a:xfrm>
          <a:prstGeom prst="roundRect">
            <a:avLst>
              <a:gd name="adj" fmla="val 2553"/>
            </a:avLst>
          </a:prstGeom>
          <a:solidFill>
            <a:srgbClr val="F3F7F8"/>
          </a:solidFill>
          <a:ln w="12700">
            <a:solidFill>
              <a:srgbClr val="F3F7F8"/>
            </a:solidFill>
            <a:prstDash val="solid"/>
          </a:ln>
        </p:spPr>
      </p:sp>
      <p:sp>
        <p:nvSpPr>
          <p:cNvPr id="8" name="Text 6"/>
          <p:cNvSpPr txBox="1"/>
          <p:nvPr/>
        </p:nvSpPr>
        <p:spPr>
          <a:xfrm>
            <a:off x="4507992" y="1645920"/>
            <a:ext cx="3108960" cy="365760"/>
          </a:xfrm>
          <a:prstGeom prst="rect">
            <a:avLst/>
          </a:prstGeom>
          <a:noFill/>
          <a:ln/>
        </p:spPr>
        <p:txBody>
          <a:bodyPr wrap="square" lIns="0" tIns="0" rIns="0" bIns="0" rtlCol="0" anchor="t"/>
          <a:lstStyle/>
          <a:p>
            <a:pPr indent="0" marL="0">
              <a:buNone/>
            </a:pPr>
            <a:r>
              <a:rPr lang="en-US" sz="1600" b="1" dirty="0">
                <a:solidFill>
                  <a:srgbClr val="0F5C6B"/>
                </a:solidFill>
                <a:latin typeface="Cambria" pitchFamily="34" charset="0"/>
                <a:ea typeface="Cambria" pitchFamily="34" charset="-122"/>
                <a:cs typeface="Cambria" pitchFamily="34" charset="-120"/>
              </a:rPr>
              <a:t>Embedding</a:t>
            </a:r>
            <a:endParaRPr lang="en-US" sz="1600" dirty="0"/>
          </a:p>
        </p:txBody>
      </p:sp>
      <p:sp>
        <p:nvSpPr>
          <p:cNvPr id="9" name="Text 7"/>
          <p:cNvSpPr txBox="1"/>
          <p:nvPr/>
        </p:nvSpPr>
        <p:spPr>
          <a:xfrm>
            <a:off x="4507992" y="2103120"/>
            <a:ext cx="3108960" cy="1417320"/>
          </a:xfrm>
          <a:prstGeom prst="rect">
            <a:avLst/>
          </a:prstGeom>
          <a:noFill/>
          <a:ln/>
        </p:spPr>
        <p:txBody>
          <a:bodyPr wrap="square" lIns="0" tIns="0" rIns="0" bIns="0" rtlCol="0" anchor="t"/>
          <a:lstStyle/>
          <a:p>
            <a:pPr indent="0" marL="0">
              <a:buNone/>
            </a:pPr>
            <a:r>
              <a:rPr lang="en-US" sz="1350" dirty="0">
                <a:solidFill>
                  <a:srgbClr val="1E2A32"/>
                </a:solidFill>
                <a:latin typeface="Calibri" pitchFamily="34" charset="0"/>
                <a:ea typeface="Calibri" pitchFamily="34" charset="-122"/>
                <a:cs typeface="Calibri" pitchFamily="34" charset="-120"/>
              </a:rPr>
              <a:t>BGE-M3, nhúng sẵn ~247K lượt trên GPU Kaggle (T4). Máy local chỉ đọc cache: khi hiệu chỉnh 150 câu dev, 73.568 lần tra đều trúng, 0 lần nhúng lại.</a:t>
            </a:r>
            <a:endParaRPr lang="en-US" sz="1350" dirty="0"/>
          </a:p>
        </p:txBody>
      </p:sp>
      <p:sp>
        <p:nvSpPr>
          <p:cNvPr id="10" name="Shape 8"/>
          <p:cNvSpPr/>
          <p:nvPr/>
        </p:nvSpPr>
        <p:spPr>
          <a:xfrm>
            <a:off x="8010144" y="1463040"/>
            <a:ext cx="3520440" cy="2148840"/>
          </a:xfrm>
          <a:prstGeom prst="roundRect">
            <a:avLst>
              <a:gd name="adj" fmla="val 2553"/>
            </a:avLst>
          </a:prstGeom>
          <a:solidFill>
            <a:srgbClr val="F3F7F8"/>
          </a:solidFill>
          <a:ln w="12700">
            <a:solidFill>
              <a:srgbClr val="F3F7F8"/>
            </a:solidFill>
            <a:prstDash val="solid"/>
          </a:ln>
        </p:spPr>
      </p:sp>
      <p:sp>
        <p:nvSpPr>
          <p:cNvPr id="11" name="Text 9"/>
          <p:cNvSpPr txBox="1"/>
          <p:nvPr/>
        </p:nvSpPr>
        <p:spPr>
          <a:xfrm>
            <a:off x="8238744" y="1645920"/>
            <a:ext cx="3108960" cy="365760"/>
          </a:xfrm>
          <a:prstGeom prst="rect">
            <a:avLst/>
          </a:prstGeom>
          <a:noFill/>
          <a:ln/>
        </p:spPr>
        <p:txBody>
          <a:bodyPr wrap="square" lIns="0" tIns="0" rIns="0" bIns="0" rtlCol="0" anchor="t"/>
          <a:lstStyle/>
          <a:p>
            <a:pPr indent="0" marL="0">
              <a:buNone/>
            </a:pPr>
            <a:r>
              <a:rPr lang="en-US" sz="1600" b="1" dirty="0">
                <a:solidFill>
                  <a:srgbClr val="0F5C6B"/>
                </a:solidFill>
                <a:latin typeface="Cambria" pitchFamily="34" charset="0"/>
                <a:ea typeface="Cambria" pitchFamily="34" charset="-122"/>
                <a:cs typeface="Cambria" pitchFamily="34" charset="-120"/>
              </a:rPr>
              <a:t>Dữ liệu</a:t>
            </a:r>
            <a:endParaRPr lang="en-US" sz="1600" dirty="0"/>
          </a:p>
        </p:txBody>
      </p:sp>
      <p:sp>
        <p:nvSpPr>
          <p:cNvPr id="12" name="Text 10"/>
          <p:cNvSpPr txBox="1"/>
          <p:nvPr/>
        </p:nvSpPr>
        <p:spPr>
          <a:xfrm>
            <a:off x="8238744" y="2103120"/>
            <a:ext cx="3108960" cy="1417320"/>
          </a:xfrm>
          <a:prstGeom prst="rect">
            <a:avLst/>
          </a:prstGeom>
          <a:noFill/>
          <a:ln/>
        </p:spPr>
        <p:txBody>
          <a:bodyPr wrap="square" lIns="0" tIns="0" rIns="0" bIns="0" rtlCol="0" anchor="t"/>
          <a:lstStyle/>
          <a:p>
            <a:pPr indent="0" marL="0">
              <a:buNone/>
            </a:pPr>
            <a:r>
              <a:rPr lang="en-US" sz="1350" dirty="0">
                <a:solidFill>
                  <a:srgbClr val="1E2A32"/>
                </a:solidFill>
                <a:latin typeface="Calibri" pitchFamily="34" charset="0"/>
                <a:ea typeface="Calibri" pitchFamily="34" charset="-122"/>
                <a:cs typeface="Calibri" pitchFamily="34" charset="-120"/>
              </a:rPr>
              <a:t>LongMemEval-S, tách dev 150 / test 350 phân tầng theo loại, seed 42 — trùng đúng tập dev của notebook tuần 2. Test chưa mở.</a:t>
            </a:r>
            <a:endParaRPr lang="en-US" sz="1350" dirty="0"/>
          </a:p>
        </p:txBody>
      </p:sp>
      <p:sp>
        <p:nvSpPr>
          <p:cNvPr id="13" name="Shape 11"/>
          <p:cNvSpPr/>
          <p:nvPr/>
        </p:nvSpPr>
        <p:spPr>
          <a:xfrm>
            <a:off x="548640" y="3840480"/>
            <a:ext cx="3520440" cy="2148840"/>
          </a:xfrm>
          <a:prstGeom prst="roundRect">
            <a:avLst>
              <a:gd name="adj" fmla="val 2553"/>
            </a:avLst>
          </a:prstGeom>
          <a:solidFill>
            <a:srgbClr val="F3F7F8"/>
          </a:solidFill>
          <a:ln w="12700">
            <a:solidFill>
              <a:srgbClr val="F3F7F8"/>
            </a:solidFill>
            <a:prstDash val="solid"/>
          </a:ln>
        </p:spPr>
      </p:sp>
      <p:sp>
        <p:nvSpPr>
          <p:cNvPr id="14" name="Text 12"/>
          <p:cNvSpPr txBox="1"/>
          <p:nvPr/>
        </p:nvSpPr>
        <p:spPr>
          <a:xfrm>
            <a:off x="777240" y="4023360"/>
            <a:ext cx="3108960" cy="365760"/>
          </a:xfrm>
          <a:prstGeom prst="rect">
            <a:avLst/>
          </a:prstGeom>
          <a:noFill/>
          <a:ln/>
        </p:spPr>
        <p:txBody>
          <a:bodyPr wrap="square" lIns="0" tIns="0" rIns="0" bIns="0" rtlCol="0" anchor="t"/>
          <a:lstStyle/>
          <a:p>
            <a:pPr indent="0" marL="0">
              <a:buNone/>
            </a:pPr>
            <a:r>
              <a:rPr lang="en-US" sz="1600" b="1" dirty="0">
                <a:solidFill>
                  <a:srgbClr val="0F5C6B"/>
                </a:solidFill>
                <a:latin typeface="Cambria" pitchFamily="34" charset="0"/>
                <a:ea typeface="Cambria" pitchFamily="34" charset="-122"/>
                <a:cs typeface="Cambria" pitchFamily="34" charset="-120"/>
              </a:rPr>
              <a:t>Mẫu đã chạy</a:t>
            </a:r>
            <a:endParaRPr lang="en-US" sz="1600" dirty="0"/>
          </a:p>
        </p:txBody>
      </p:sp>
      <p:sp>
        <p:nvSpPr>
          <p:cNvPr id="15" name="Text 13"/>
          <p:cNvSpPr txBox="1"/>
          <p:nvPr/>
        </p:nvSpPr>
        <p:spPr>
          <a:xfrm>
            <a:off x="777240" y="4480560"/>
            <a:ext cx="3108960" cy="1417320"/>
          </a:xfrm>
          <a:prstGeom prst="rect">
            <a:avLst/>
          </a:prstGeom>
          <a:noFill/>
          <a:ln/>
        </p:spPr>
        <p:txBody>
          <a:bodyPr wrap="square" lIns="0" tIns="0" rIns="0" bIns="0" rtlCol="0" anchor="t"/>
          <a:lstStyle/>
          <a:p>
            <a:pPr indent="0" marL="0">
              <a:buNone/>
            </a:pPr>
            <a:r>
              <a:rPr lang="en-US" sz="1350" dirty="0">
                <a:solidFill>
                  <a:srgbClr val="1E2A32"/>
                </a:solidFill>
                <a:latin typeface="Calibri" pitchFamily="34" charset="0"/>
                <a:ea typeface="Calibri" pitchFamily="34" charset="-122"/>
                <a:cs typeface="Calibri" pitchFamily="34" charset="-120"/>
              </a:rPr>
              <a:t>20 câu đầu của dev (sắp theo id): 3 SSU · 3 SSA · 2 SSP · 7 multi-session · 1 temporal · 4 KU; 1 câu _abs.</a:t>
            </a:r>
            <a:endParaRPr lang="en-US" sz="1350" dirty="0"/>
          </a:p>
        </p:txBody>
      </p:sp>
      <p:sp>
        <p:nvSpPr>
          <p:cNvPr id="16" name="Shape 14"/>
          <p:cNvSpPr/>
          <p:nvPr/>
        </p:nvSpPr>
        <p:spPr>
          <a:xfrm>
            <a:off x="4279392" y="3840480"/>
            <a:ext cx="3520440" cy="2148840"/>
          </a:xfrm>
          <a:prstGeom prst="roundRect">
            <a:avLst>
              <a:gd name="adj" fmla="val 2553"/>
            </a:avLst>
          </a:prstGeom>
          <a:solidFill>
            <a:srgbClr val="F3F7F8"/>
          </a:solidFill>
          <a:ln w="12700">
            <a:solidFill>
              <a:srgbClr val="F3F7F8"/>
            </a:solidFill>
            <a:prstDash val="solid"/>
          </a:ln>
        </p:spPr>
      </p:sp>
      <p:sp>
        <p:nvSpPr>
          <p:cNvPr id="17" name="Text 15"/>
          <p:cNvSpPr txBox="1"/>
          <p:nvPr/>
        </p:nvSpPr>
        <p:spPr>
          <a:xfrm>
            <a:off x="4507992" y="4023360"/>
            <a:ext cx="3108960" cy="365760"/>
          </a:xfrm>
          <a:prstGeom prst="rect">
            <a:avLst/>
          </a:prstGeom>
          <a:noFill/>
          <a:ln/>
        </p:spPr>
        <p:txBody>
          <a:bodyPr wrap="square" lIns="0" tIns="0" rIns="0" bIns="0" rtlCol="0" anchor="t"/>
          <a:lstStyle/>
          <a:p>
            <a:pPr indent="0" marL="0">
              <a:buNone/>
            </a:pPr>
            <a:r>
              <a:rPr lang="en-US" sz="1600" b="1" dirty="0">
                <a:solidFill>
                  <a:srgbClr val="0F5C6B"/>
                </a:solidFill>
                <a:latin typeface="Cambria" pitchFamily="34" charset="0"/>
                <a:ea typeface="Cambria" pitchFamily="34" charset="-122"/>
                <a:cs typeface="Cambria" pitchFamily="34" charset="-120"/>
              </a:rPr>
              <a:t>Bộ lọc phiên</a:t>
            </a:r>
            <a:endParaRPr lang="en-US" sz="1600" dirty="0"/>
          </a:p>
        </p:txBody>
      </p:sp>
      <p:sp>
        <p:nvSpPr>
          <p:cNvPr id="18" name="Text 16"/>
          <p:cNvSpPr txBox="1"/>
          <p:nvPr/>
        </p:nvSpPr>
        <p:spPr>
          <a:xfrm>
            <a:off x="4507992" y="4480560"/>
            <a:ext cx="3108960" cy="1417320"/>
          </a:xfrm>
          <a:prstGeom prst="rect">
            <a:avLst/>
          </a:prstGeom>
          <a:noFill/>
          <a:ln/>
        </p:spPr>
        <p:txBody>
          <a:bodyPr wrap="square" lIns="0" tIns="0" rIns="0" bIns="0" rtlCol="0" anchor="t"/>
          <a:lstStyle/>
          <a:p>
            <a:pPr indent="0" marL="0">
              <a:buNone/>
            </a:pPr>
            <a:r>
              <a:rPr lang="en-US" sz="1350" dirty="0">
                <a:solidFill>
                  <a:srgbClr val="1E2A32"/>
                </a:solidFill>
                <a:latin typeface="Calibri" pitchFamily="34" charset="0"/>
                <a:ea typeface="Calibri" pitchFamily="34" charset="-122"/>
                <a:cs typeface="Calibri" pitchFamily="34" charset="-120"/>
              </a:rPr>
              <a:t>Ngưỡng cosine 0,475, tối thiểu 5, tối đa 20 phiên. TB giữ 7,75 / 46,75 phiên mỗi câu. Chọn bằng số đo ở slide sau.</a:t>
            </a:r>
            <a:endParaRPr lang="en-US" sz="1350" dirty="0"/>
          </a:p>
        </p:txBody>
      </p:sp>
      <p:sp>
        <p:nvSpPr>
          <p:cNvPr id="19" name="Shape 17"/>
          <p:cNvSpPr/>
          <p:nvPr/>
        </p:nvSpPr>
        <p:spPr>
          <a:xfrm>
            <a:off x="8010144" y="3840480"/>
            <a:ext cx="3520440" cy="2148840"/>
          </a:xfrm>
          <a:prstGeom prst="roundRect">
            <a:avLst>
              <a:gd name="adj" fmla="val 2553"/>
            </a:avLst>
          </a:prstGeom>
          <a:solidFill>
            <a:srgbClr val="F3F7F8"/>
          </a:solidFill>
          <a:ln w="12700">
            <a:solidFill>
              <a:srgbClr val="F3F7F8"/>
            </a:solidFill>
            <a:prstDash val="solid"/>
          </a:ln>
        </p:spPr>
      </p:sp>
      <p:sp>
        <p:nvSpPr>
          <p:cNvPr id="20" name="Text 18"/>
          <p:cNvSpPr txBox="1"/>
          <p:nvPr/>
        </p:nvSpPr>
        <p:spPr>
          <a:xfrm>
            <a:off x="8238744" y="4023360"/>
            <a:ext cx="3108960" cy="365760"/>
          </a:xfrm>
          <a:prstGeom prst="rect">
            <a:avLst/>
          </a:prstGeom>
          <a:noFill/>
          <a:ln/>
        </p:spPr>
        <p:txBody>
          <a:bodyPr wrap="square" lIns="0" tIns="0" rIns="0" bIns="0" rtlCol="0" anchor="t"/>
          <a:lstStyle/>
          <a:p>
            <a:pPr indent="0" marL="0">
              <a:buNone/>
            </a:pPr>
            <a:r>
              <a:rPr lang="en-US" sz="1600" b="1" dirty="0">
                <a:solidFill>
                  <a:srgbClr val="0F5C6B"/>
                </a:solidFill>
                <a:latin typeface="Cambria" pitchFamily="34" charset="0"/>
                <a:ea typeface="Cambria" pitchFamily="34" charset="-122"/>
                <a:cs typeface="Cambria" pitchFamily="34" charset="-120"/>
              </a:rPr>
              <a:t>Hai cấu hình</a:t>
            </a:r>
            <a:endParaRPr lang="en-US" sz="1600" dirty="0"/>
          </a:p>
        </p:txBody>
      </p:sp>
      <p:sp>
        <p:nvSpPr>
          <p:cNvPr id="21" name="Text 19"/>
          <p:cNvSpPr txBox="1"/>
          <p:nvPr/>
        </p:nvSpPr>
        <p:spPr>
          <a:xfrm>
            <a:off x="8238744" y="4480560"/>
            <a:ext cx="3108960" cy="1417320"/>
          </a:xfrm>
          <a:prstGeom prst="rect">
            <a:avLst/>
          </a:prstGeom>
          <a:noFill/>
          <a:ln/>
        </p:spPr>
        <p:txBody>
          <a:bodyPr wrap="square" lIns="0" tIns="0" rIns="0" bIns="0" rtlCol="0" anchor="t"/>
          <a:lstStyle/>
          <a:p>
            <a:pPr indent="0" marL="0">
              <a:buNone/>
            </a:pPr>
            <a:r>
              <a:rPr lang="en-US" sz="1350" dirty="0">
                <a:solidFill>
                  <a:srgbClr val="1E2A32"/>
                </a:solidFill>
                <a:latin typeface="Calibri" pitchFamily="34" charset="0"/>
                <a:ea typeface="Calibri" pitchFamily="34" charset="-122"/>
                <a:cs typeface="Calibri" pitchFamily="34" charset="-120"/>
              </a:rPr>
              <a:t>full — agent 5 công cụ, tối đa 20 bước.</a:t>
            </a:r>
            <a:endParaRPr lang="en-US" sz="1350" dirty="0"/>
          </a:p>
          <a:p>
            <a:pPr indent="0" marL="0">
              <a:buNone/>
            </a:pPr>
            <a:r>
              <a:rPr lang="en-US" sz="1350" dirty="0">
                <a:solidFill>
                  <a:srgbClr val="1E2A32"/>
                </a:solidFill>
                <a:latin typeface="Calibri" pitchFamily="34" charset="0"/>
                <a:ea typeface="Calibri" pitchFamily="34" charset="-122"/>
                <a:cs typeface="Calibri" pitchFamily="34" charset="-120"/>
              </a:rPr>
              <a:t>simple_search — baseline của LongMemEval: lấy top-5 phiên (khóa = lượt + fact), đưa nguyên văn cho LLM đọc.</a:t>
            </a:r>
            <a:endParaRPr lang="en-US" sz="1350" dirty="0"/>
          </a:p>
        </p:txBody>
      </p:sp>
      <p:sp>
        <p:nvSpPr>
          <p:cNvPr id="22" name="Text 20"/>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Chấm bằng LLM-as-a-Judge với đúng prompt chính thức của LongMemEval (evaluate_qa.py). Mô hình chấm trùng mô hình trả lời — xem phần hạn chế.</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3 · KẾT QUẢ</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Chọn ngưỡng lọc phiên bằng số đo — 150 câu dev, 0 lời gọi LLM</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223760" cy="914400"/>
        </p:xfrm>
        <a:graphic>
          <a:graphicData uri="http://schemas.openxmlformats.org/drawingml/2006/table">
            <a:tbl>
              <a:tblPr/>
              <a:tblGrid>
                <a:gridCol w="2651760"/>
                <a:gridCol w="731520"/>
                <a:gridCol w="1051560"/>
                <a:gridCol w="960120"/>
                <a:gridCol w="594360"/>
                <a:gridCol w="594360"/>
                <a:gridCol w="64008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Luật lọc</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Đủ bằng chứng</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Phiên giữ TB</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MS đủ</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TR đủ</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KU đủ</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384048">
                <a:tc>
                  <a:txBody>
                    <a:bodyPr/>
                    <a:lstStyle/>
                    <a:p>
                      <a:pPr algn="l" indent="0" marL="0">
                        <a:buNone/>
                      </a:pPr>
                      <a:r>
                        <a:rPr lang="en-US" sz="1100" dirty="0">
                          <a:solidFill>
                            <a:srgbClr val="1E2A32"/>
                          </a:solidFill>
                          <a:latin typeface="Calibri" pitchFamily="34" charset="0"/>
                          <a:ea typeface="Calibri" pitchFamily="34" charset="-122"/>
                          <a:cs typeface="Calibri" pitchFamily="34" charset="-120"/>
                        </a:rPr>
                        <a:t>top-k 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96,3%</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92,0%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87,5%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85,0%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95,7%</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E2A32"/>
                          </a:solidFill>
                          <a:latin typeface="Calibri" pitchFamily="34" charset="0"/>
                          <a:ea typeface="Calibri" pitchFamily="34" charset="-122"/>
                          <a:cs typeface="Calibri" pitchFamily="34" charset="-120"/>
                        </a:rPr>
                        <a:t>top-k 10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98,4%</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96,0%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92,5%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95,7%</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E2A32"/>
                          </a:solidFill>
                          <a:latin typeface="Calibri" pitchFamily="34" charset="0"/>
                          <a:ea typeface="Calibri" pitchFamily="34" charset="-122"/>
                          <a:cs typeface="Calibri" pitchFamily="34" charset="-120"/>
                        </a:rPr>
                        <a:t>top-k 12</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98,9%</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97,3%</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12,0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97,5%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95,7%</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E2A32"/>
                          </a:solidFill>
                          <a:latin typeface="Calibri" pitchFamily="34" charset="0"/>
                          <a:ea typeface="Calibri" pitchFamily="34" charset="-122"/>
                          <a:cs typeface="Calibri" pitchFamily="34" charset="-120"/>
                        </a:rPr>
                        <a:t>top-k 20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E2A32"/>
                          </a:solidFill>
                          <a:latin typeface="Calibri" pitchFamily="34" charset="0"/>
                          <a:ea typeface="Calibri" pitchFamily="34" charset="-122"/>
                          <a:cs typeface="Calibri" pitchFamily="34" charset="-120"/>
                        </a:rPr>
                        <a:t>ngưỡng 0,495 · min 5 · max 20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97,8%</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96,0%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92,5%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95,7%</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A32"/>
                          </a:solidFill>
                          <a:latin typeface="Calibri" pitchFamily="34" charset="0"/>
                          <a:ea typeface="Calibri" pitchFamily="34" charset="-122"/>
                          <a:cs typeface="Calibri" pitchFamily="34" charset="-120"/>
                        </a:rPr>
                        <a:t>ngưỡng 0,475 · min 5 · max 20  ← chọn</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c>
                  <a:txBody>
                    <a:bodyPr/>
                    <a:lstStyle/>
                    <a:p>
                      <a:pPr algn="ctr" indent="0" marL="0">
                        <a:buNone/>
                      </a:pPr>
                      <a:r>
                        <a:rPr lang="en-US" sz="1100" b="1" dirty="0">
                          <a:solidFill>
                            <a:srgbClr val="1E2A32"/>
                          </a:solidFill>
                          <a:latin typeface="Calibri" pitchFamily="34" charset="0"/>
                          <a:ea typeface="Calibri" pitchFamily="34" charset="-122"/>
                          <a:cs typeface="Calibri" pitchFamily="34" charset="-120"/>
                        </a:rPr>
                        <a:t>98,5%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c>
                  <a:txBody>
                    <a:bodyPr/>
                    <a:lstStyle/>
                    <a:p>
                      <a:pPr algn="ctr" indent="0" marL="0">
                        <a:buNone/>
                      </a:pPr>
                      <a:r>
                        <a:rPr lang="en-US" sz="1100" b="1" dirty="0">
                          <a:solidFill>
                            <a:srgbClr val="1E2A32"/>
                          </a:solidFill>
                          <a:latin typeface="Calibri" pitchFamily="34" charset="0"/>
                          <a:ea typeface="Calibri" pitchFamily="34" charset="-122"/>
                          <a:cs typeface="Calibri" pitchFamily="34" charset="-120"/>
                        </a:rPr>
                        <a:t>96,7%</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c>
                  <a:txBody>
                    <a:bodyPr/>
                    <a:lstStyle/>
                    <a:p>
                      <a:pPr algn="ctr" indent="0" marL="0">
                        <a:buNone/>
                      </a:pPr>
                      <a:r>
                        <a:rPr lang="en-US" sz="1100" b="1" dirty="0">
                          <a:solidFill>
                            <a:srgbClr val="1E2A32"/>
                          </a:solidFill>
                          <a:latin typeface="Calibri" pitchFamily="34" charset="0"/>
                          <a:ea typeface="Calibri" pitchFamily="34" charset="-122"/>
                          <a:cs typeface="Calibri" pitchFamily="34" charset="-120"/>
                        </a:rPr>
                        <a:t>7,7</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c>
                  <a:txBody>
                    <a:bodyPr/>
                    <a:lstStyle/>
                    <a:p>
                      <a:pPr algn="ctr" indent="0" marL="0">
                        <a:buNone/>
                      </a:pPr>
                      <a:r>
                        <a:rPr lang="en-US" sz="1100" b="1" dirty="0">
                          <a:solidFill>
                            <a:srgbClr val="1E2A32"/>
                          </a:solidFill>
                          <a:latin typeface="Calibri" pitchFamily="34" charset="0"/>
                          <a:ea typeface="Calibri" pitchFamily="34" charset="-122"/>
                          <a:cs typeface="Calibri" pitchFamily="34" charset="-120"/>
                        </a:rPr>
                        <a:t>95,0%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c>
                  <a:txBody>
                    <a:bodyPr/>
                    <a:lstStyle/>
                    <a:p>
                      <a:pPr algn="ctr" indent="0" marL="0">
                        <a:buNone/>
                      </a:pPr>
                      <a:r>
                        <a:rPr lang="en-US" sz="1100" b="1" dirty="0">
                          <a:solidFill>
                            <a:srgbClr val="1E2A32"/>
                          </a:solidFill>
                          <a:latin typeface="Calibri" pitchFamily="34" charset="0"/>
                          <a:ea typeface="Calibri" pitchFamily="34" charset="-122"/>
                          <a:cs typeface="Calibri" pitchFamily="34" charset="-120"/>
                        </a:rPr>
                        <a:t>92,5%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c>
                  <a:txBody>
                    <a:bodyPr/>
                    <a:lstStyle/>
                    <a:p>
                      <a:pPr algn="ctr" indent="0" marL="0">
                        <a:buNone/>
                      </a:pPr>
                      <a:r>
                        <a:rPr lang="en-US" sz="1100" b="1" dirty="0">
                          <a:solidFill>
                            <a:srgbClr val="1E2A3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BF1E3"/>
                    </a:solidFill>
                  </a:tcPr>
                </a:tc>
              </a:tr>
            </a:tbl>
          </a:graphicData>
        </a:graphic>
      </p:graphicFrame>
      <p:sp>
        <p:nvSpPr>
          <p:cNvPr id="5" name="Text 2"/>
          <p:cNvSpPr txBox="1"/>
          <p:nvPr/>
        </p:nvSpPr>
        <p:spPr>
          <a:xfrm>
            <a:off x="548640" y="4206240"/>
            <a:ext cx="7223760" cy="685800"/>
          </a:xfrm>
          <a:prstGeom prst="rect">
            <a:avLst/>
          </a:prstGeom>
          <a:noFill/>
          <a:ln/>
        </p:spPr>
        <p:txBody>
          <a:bodyPr wrap="square" lIns="0" tIns="0" rIns="0" bIns="0" rtlCol="0" anchor="t"/>
          <a:lstStyle/>
          <a:p>
            <a:pPr indent="0" marL="0">
              <a:buNone/>
            </a:pPr>
            <a:r>
              <a:rPr lang="en-US" sz="1100" b="1" dirty="0">
                <a:solidFill>
                  <a:srgbClr val="5B6B73"/>
                </a:solidFill>
                <a:latin typeface="Calibri" pitchFamily="34" charset="0"/>
                <a:ea typeface="Calibri" pitchFamily="34" charset="-122"/>
                <a:cs typeface="Calibri" pitchFamily="34" charset="-120"/>
              </a:rPr>
              <a:t>Recall</a:t>
            </a:r>
            <a:pPr indent="0" marL="0">
              <a:buNone/>
            </a:pPr>
            <a:r>
              <a:rPr lang="en-US" sz="1100" dirty="0">
                <a:solidFill>
                  <a:srgbClr val="5B6B73"/>
                </a:solidFill>
                <a:latin typeface="Calibri" pitchFamily="34" charset="0"/>
                <a:ea typeface="Calibri" pitchFamily="34" charset="-122"/>
                <a:cs typeface="Calibri" pitchFamily="34" charset="-120"/>
              </a:rPr>
              <a:t>: tỉ lệ phiên bằng chứng (answer_session_ids — nhãn của LongMemEval) được giữ, TB theo câu.  </a:t>
            </a:r>
            <a:pPr indent="0" marL="0">
              <a:buNone/>
            </a:pPr>
            <a:r>
              <a:rPr lang="en-US" sz="1100" b="1" dirty="0">
                <a:solidFill>
                  <a:srgbClr val="5B6B73"/>
                </a:solidFill>
                <a:latin typeface="Calibri" pitchFamily="34" charset="0"/>
                <a:ea typeface="Calibri" pitchFamily="34" charset="-122"/>
                <a:cs typeface="Calibri" pitchFamily="34" charset="-120"/>
              </a:rPr>
              <a:t>Đủ bằng chứng</a:t>
            </a:r>
            <a:pPr indent="0" marL="0">
              <a:buNone/>
            </a:pPr>
            <a:r>
              <a:rPr lang="en-US" sz="1100" dirty="0">
                <a:solidFill>
                  <a:srgbClr val="5B6B73"/>
                </a:solidFill>
                <a:latin typeface="Calibri" pitchFamily="34" charset="0"/>
                <a:ea typeface="Calibri" pitchFamily="34" charset="-122"/>
                <a:cs typeface="Calibri" pitchFamily="34" charset="-120"/>
              </a:rPr>
              <a:t>: % câu giữ được TẤT CẢ phiên bằng chứng — câu đa phiên thiếu một phiên là sai.</a:t>
            </a:r>
            <a:endParaRPr lang="en-US" sz="1100" dirty="0"/>
          </a:p>
        </p:txBody>
      </p:sp>
      <p:sp>
        <p:nvSpPr>
          <p:cNvPr id="6" name="Shape 3"/>
          <p:cNvSpPr/>
          <p:nvPr/>
        </p:nvSpPr>
        <p:spPr>
          <a:xfrm>
            <a:off x="8138160" y="1371600"/>
            <a:ext cx="3474720" cy="2103120"/>
          </a:xfrm>
          <a:prstGeom prst="roundRect">
            <a:avLst>
              <a:gd name="adj" fmla="val 2609"/>
            </a:avLst>
          </a:prstGeom>
          <a:solidFill>
            <a:srgbClr val="0F5C6B"/>
          </a:solidFill>
          <a:ln w="12700">
            <a:solidFill>
              <a:srgbClr val="0F5C6B"/>
            </a:solidFill>
            <a:prstDash val="solid"/>
          </a:ln>
        </p:spPr>
      </p:sp>
      <p:sp>
        <p:nvSpPr>
          <p:cNvPr id="7" name="Text 4"/>
          <p:cNvSpPr txBox="1"/>
          <p:nvPr/>
        </p:nvSpPr>
        <p:spPr>
          <a:xfrm>
            <a:off x="8321040" y="1463040"/>
            <a:ext cx="3108960" cy="91440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7,7</a:t>
            </a:r>
            <a:endParaRPr lang="en-US" sz="5400" dirty="0"/>
          </a:p>
        </p:txBody>
      </p:sp>
      <p:sp>
        <p:nvSpPr>
          <p:cNvPr id="8" name="Text 5"/>
          <p:cNvSpPr txBox="1"/>
          <p:nvPr/>
        </p:nvSpPr>
        <p:spPr>
          <a:xfrm>
            <a:off x="8321040" y="2377440"/>
            <a:ext cx="3108960" cy="1005840"/>
          </a:xfrm>
          <a:prstGeom prst="rect">
            <a:avLst/>
          </a:prstGeom>
          <a:noFill/>
          <a:ln/>
        </p:spPr>
        <p:txBody>
          <a:bodyPr wrap="square" lIns="0" tIns="0" rIns="0" bIns="0" rtlCol="0" anchor="t"/>
          <a:lstStyle/>
          <a:p>
            <a:pPr indent="0" marL="0">
              <a:buNone/>
            </a:pPr>
            <a:r>
              <a:rPr lang="en-US" sz="1200" dirty="0">
                <a:solidFill>
                  <a:srgbClr val="D6E6EA"/>
                </a:solidFill>
                <a:latin typeface="Calibri" pitchFamily="34" charset="0"/>
                <a:ea typeface="Calibri" pitchFamily="34" charset="-122"/>
                <a:cs typeface="Calibri" pitchFamily="34" charset="-120"/>
              </a:rPr>
              <a:t>phiên/câu (so với 10 của top-10), recall và độ đủ bằng chứng bằng hoặc cao hơn → giảm ~23% lời gọi trích xuất</a:t>
            </a:r>
            <a:endParaRPr lang="en-US" sz="1200" dirty="0"/>
          </a:p>
        </p:txBody>
      </p:sp>
      <p:sp>
        <p:nvSpPr>
          <p:cNvPr id="9" name="Shape 6"/>
          <p:cNvSpPr/>
          <p:nvPr/>
        </p:nvSpPr>
        <p:spPr>
          <a:xfrm>
            <a:off x="8138160" y="3657600"/>
            <a:ext cx="3474720" cy="1234440"/>
          </a:xfrm>
          <a:prstGeom prst="roundRect">
            <a:avLst>
              <a:gd name="adj" fmla="val 4444"/>
            </a:avLst>
          </a:prstGeom>
          <a:solidFill>
            <a:srgbClr val="F3F7F8"/>
          </a:solidFill>
          <a:ln w="12700">
            <a:solidFill>
              <a:srgbClr val="F3F7F8"/>
            </a:solidFill>
            <a:prstDash val="solid"/>
          </a:ln>
        </p:spPr>
      </p:sp>
      <p:sp>
        <p:nvSpPr>
          <p:cNvPr id="10" name="Text 7"/>
          <p:cNvSpPr txBox="1"/>
          <p:nvPr/>
        </p:nvSpPr>
        <p:spPr>
          <a:xfrm>
            <a:off x="8321040" y="3749040"/>
            <a:ext cx="3108960" cy="274320"/>
          </a:xfrm>
          <a:prstGeom prst="rect">
            <a:avLst/>
          </a:prstGeom>
          <a:noFill/>
          <a:ln/>
        </p:spPr>
        <p:txBody>
          <a:bodyPr wrap="square" lIns="0" tIns="0" rIns="0" bIns="0" rtlCol="0" anchor="t"/>
          <a:lstStyle/>
          <a:p>
            <a:pPr indent="0" marL="0">
              <a:buNone/>
            </a:pPr>
            <a:r>
              <a:rPr lang="en-US" sz="1100" b="1" dirty="0">
                <a:solidFill>
                  <a:srgbClr val="0F5C6B"/>
                </a:solidFill>
                <a:latin typeface="Calibri" pitchFamily="34" charset="0"/>
                <a:ea typeface="Calibri" pitchFamily="34" charset="-122"/>
                <a:cs typeface="Calibri" pitchFamily="34" charset="-120"/>
              </a:rPr>
              <a:t>Cosine lớn nhất theo phiên</a:t>
            </a:r>
            <a:endParaRPr lang="en-US" sz="1100" dirty="0"/>
          </a:p>
        </p:txBody>
      </p:sp>
      <p:sp>
        <p:nvSpPr>
          <p:cNvPr id="11" name="Text 8"/>
          <p:cNvSpPr txBox="1"/>
          <p:nvPr/>
        </p:nvSpPr>
        <p:spPr>
          <a:xfrm>
            <a:off x="8321040" y="4041648"/>
            <a:ext cx="3108960" cy="82296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Phiên bằng chứng: p10 = 0,507</a:t>
            </a:r>
            <a:endParaRPr lang="en-US" sz="1150" dirty="0"/>
          </a:p>
          <a:p>
            <a:pPr indent="0" marL="0">
              <a:buNone/>
            </a:pPr>
            <a:r>
              <a:rPr lang="en-US" sz="1150" dirty="0">
                <a:solidFill>
                  <a:srgbClr val="1E2A32"/>
                </a:solidFill>
                <a:latin typeface="Calibri" pitchFamily="34" charset="0"/>
                <a:ea typeface="Calibri" pitchFamily="34" charset="-122"/>
                <a:cs typeface="Calibri" pitchFamily="34" charset="-120"/>
              </a:rPr>
              <a:t>Phiên không liên quan: p90 = 0,478</a:t>
            </a:r>
            <a:endParaRPr lang="en-US" sz="1150" dirty="0"/>
          </a:p>
          <a:p>
            <a:pPr indent="0" marL="0">
              <a:buNone/>
            </a:pPr>
            <a:r>
              <a:rPr lang="en-US" sz="1150" dirty="0">
                <a:solidFill>
                  <a:srgbClr val="1E2A32"/>
                </a:solidFill>
                <a:latin typeface="Calibri" pitchFamily="34" charset="0"/>
                <a:ea typeface="Calibri" pitchFamily="34" charset="-122"/>
                <a:cs typeface="Calibri" pitchFamily="34" charset="-120"/>
              </a:rPr>
              <a:t>→ ngưỡng 0,475 nằm đúng khe giữa</a:t>
            </a:r>
            <a:endParaRPr lang="en-US" sz="1150" dirty="0"/>
          </a:p>
        </p:txBody>
      </p:sp>
      <p:sp>
        <p:nvSpPr>
          <p:cNvPr id="12" name="Shape 9"/>
          <p:cNvSpPr/>
          <p:nvPr/>
        </p:nvSpPr>
        <p:spPr>
          <a:xfrm>
            <a:off x="548640" y="5074920"/>
            <a:ext cx="11064240" cy="1051560"/>
          </a:xfrm>
          <a:prstGeom prst="roundRect">
            <a:avLst>
              <a:gd name="adj" fmla="val 5217"/>
            </a:avLst>
          </a:prstGeom>
          <a:solidFill>
            <a:srgbClr val="FBF1E3"/>
          </a:solidFill>
          <a:ln w="12700">
            <a:solidFill>
              <a:srgbClr val="FBF1E3"/>
            </a:solidFill>
            <a:prstDash val="solid"/>
          </a:ln>
        </p:spPr>
      </p:sp>
      <p:sp>
        <p:nvSpPr>
          <p:cNvPr id="13" name="Text 10"/>
          <p:cNvSpPr txBox="1"/>
          <p:nvPr/>
        </p:nvSpPr>
        <p:spPr>
          <a:xfrm>
            <a:off x="777240" y="5166360"/>
            <a:ext cx="10607040" cy="868680"/>
          </a:xfrm>
          <a:prstGeom prst="rect">
            <a:avLst/>
          </a:prstGeom>
          <a:noFill/>
          <a:ln/>
        </p:spPr>
        <p:txBody>
          <a:bodyPr wrap="square" lIns="0" tIns="0" rIns="0" bIns="0" rtlCol="0" anchor="ctr"/>
          <a:lstStyle/>
          <a:p>
            <a:pPr indent="0" marL="0">
              <a:buNone/>
            </a:pPr>
            <a:r>
              <a:rPr lang="en-US" sz="1200" b="1" dirty="0">
                <a:solidFill>
                  <a:srgbClr val="1E2A32"/>
                </a:solidFill>
                <a:latin typeface="Calibri" pitchFamily="34" charset="0"/>
                <a:ea typeface="Calibri" pitchFamily="34" charset="-122"/>
                <a:cs typeface="Calibri" pitchFamily="34" charset="-120"/>
              </a:rPr>
              <a:t>Vì sao không dùng Θ = 0,2 như bài báo?  </a:t>
            </a:r>
            <a:pPr indent="0" marL="0">
              <a:buNone/>
            </a:pPr>
            <a:r>
              <a:rPr lang="en-US" sz="1200" dirty="0">
                <a:solidFill>
                  <a:srgbClr val="1E2A32"/>
                </a:solidFill>
                <a:latin typeface="Calibri" pitchFamily="34" charset="0"/>
                <a:ea typeface="Calibri" pitchFamily="34" charset="-122"/>
                <a:cs typeface="Calibri" pitchFamily="34" charset="-120"/>
              </a:rPr>
              <a:t>Bài báo không nêu điểm liên quan tính bằng mô hình nào, trên thang nào. Với BGE-M3, cosine giữa hai câu bất kỳ đã ~0,4 (trung vị phiên không liên quan 0,395) → ngưỡng 0,2 giữ gần như mọi phiên. Ngưỡng phải hiệu chỉnh lại trên thang của mình; chỉ chỉnh trên dev.</a:t>
            </a:r>
            <a:endParaRPr lang="en-US" sz="1200" dirty="0"/>
          </a:p>
        </p:txBody>
      </p:sp>
      <p:sp>
        <p:nvSpPr>
          <p:cNvPr id="14" name="Text 11"/>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python -m ltm.eval.calibrate_filter — chỉ đọc cache embedding. Ngưỡng chọn trên chính 150 câu dev nên số trên test có thể thấp hơn chút.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3 · KẾT QUẢ</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Độ chính xác trên 20 câu dev: hệ đầy đủ 18/20, baseline 16/20</a:t>
            </a:r>
            <a:endParaRPr lang="en-US" sz="2800" dirty="0"/>
          </a:p>
        </p:txBody>
      </p:sp>
      <p:graphicFrame>
        <p:nvGraphicFramePr>
          <p:cNvPr id="4" name="Chart 0" descr=""/>
          <p:cNvGraphicFramePr/>
          <p:nvPr/>
        </p:nvGraphicFramePr>
        <p:xfrm>
          <a:off x="457200" y="1325880"/>
          <a:ext cx="7223760" cy="48463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46720" y="1371600"/>
            <a:ext cx="3566160" cy="1234440"/>
          </a:xfrm>
          <a:prstGeom prst="roundRect">
            <a:avLst>
              <a:gd name="adj" fmla="val 4444"/>
            </a:avLst>
          </a:prstGeom>
          <a:solidFill>
            <a:srgbClr val="0F5C6B"/>
          </a:solidFill>
          <a:ln w="12700">
            <a:solidFill>
              <a:srgbClr val="0F5C6B"/>
            </a:solidFill>
            <a:prstDash val="solid"/>
          </a:ln>
        </p:spPr>
      </p:sp>
      <p:sp>
        <p:nvSpPr>
          <p:cNvPr id="6" name="Text 3"/>
          <p:cNvSpPr txBox="1"/>
          <p:nvPr/>
        </p:nvSpPr>
        <p:spPr>
          <a:xfrm>
            <a:off x="8275320" y="1463040"/>
            <a:ext cx="173736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90%</a:t>
            </a:r>
            <a:endParaRPr lang="en-US" sz="4000" dirty="0"/>
          </a:p>
        </p:txBody>
      </p:sp>
      <p:sp>
        <p:nvSpPr>
          <p:cNvPr id="7" name="Text 4"/>
          <p:cNvSpPr txBox="1"/>
          <p:nvPr/>
        </p:nvSpPr>
        <p:spPr>
          <a:xfrm>
            <a:off x="10012680" y="1463040"/>
            <a:ext cx="1554480" cy="10058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full · 18/20</a:t>
            </a:r>
            <a:endParaRPr lang="en-US" sz="1200" dirty="0"/>
          </a:p>
        </p:txBody>
      </p:sp>
      <p:sp>
        <p:nvSpPr>
          <p:cNvPr id="8" name="Shape 5"/>
          <p:cNvSpPr/>
          <p:nvPr/>
        </p:nvSpPr>
        <p:spPr>
          <a:xfrm>
            <a:off x="8046720" y="2788920"/>
            <a:ext cx="3566160" cy="1234440"/>
          </a:xfrm>
          <a:prstGeom prst="roundRect">
            <a:avLst>
              <a:gd name="adj" fmla="val 4444"/>
            </a:avLst>
          </a:prstGeom>
          <a:solidFill>
            <a:srgbClr val="FBF1E3"/>
          </a:solidFill>
          <a:ln w="12700">
            <a:solidFill>
              <a:srgbClr val="FBF1E3"/>
            </a:solidFill>
            <a:prstDash val="solid"/>
          </a:ln>
        </p:spPr>
      </p:sp>
      <p:sp>
        <p:nvSpPr>
          <p:cNvPr id="9" name="Text 6"/>
          <p:cNvSpPr txBox="1"/>
          <p:nvPr/>
        </p:nvSpPr>
        <p:spPr>
          <a:xfrm>
            <a:off x="8275320" y="2880360"/>
            <a:ext cx="1737360" cy="1005840"/>
          </a:xfrm>
          <a:prstGeom prst="rect">
            <a:avLst/>
          </a:prstGeom>
          <a:noFill/>
          <a:ln/>
        </p:spPr>
        <p:txBody>
          <a:bodyPr wrap="square" lIns="0" tIns="0" rIns="0" bIns="0" rtlCol="0" anchor="ctr"/>
          <a:lstStyle/>
          <a:p>
            <a:pPr indent="0" marL="0">
              <a:buNone/>
            </a:pPr>
            <a:r>
              <a:rPr lang="en-US" sz="4000" b="1" dirty="0">
                <a:solidFill>
                  <a:srgbClr val="1E2A32"/>
                </a:solidFill>
                <a:latin typeface="Cambria" pitchFamily="34" charset="0"/>
                <a:ea typeface="Cambria" pitchFamily="34" charset="-122"/>
                <a:cs typeface="Cambria" pitchFamily="34" charset="-120"/>
              </a:rPr>
              <a:t>80%</a:t>
            </a:r>
            <a:endParaRPr lang="en-US" sz="4000" dirty="0"/>
          </a:p>
        </p:txBody>
      </p:sp>
      <p:sp>
        <p:nvSpPr>
          <p:cNvPr id="10" name="Text 7"/>
          <p:cNvSpPr txBox="1"/>
          <p:nvPr/>
        </p:nvSpPr>
        <p:spPr>
          <a:xfrm>
            <a:off x="10012680" y="2880360"/>
            <a:ext cx="1554480" cy="1005840"/>
          </a:xfrm>
          <a:prstGeom prst="rect">
            <a:avLst/>
          </a:prstGeom>
          <a:noFill/>
          <a:ln/>
        </p:spPr>
        <p:txBody>
          <a:bodyPr wrap="square" lIns="0" tIns="0" rIns="0" bIns="0" rtlCol="0" anchor="ctr"/>
          <a:lstStyle/>
          <a:p>
            <a:pPr indent="0" marL="0">
              <a:buNone/>
            </a:pPr>
            <a:r>
              <a:rPr lang="en-US" sz="1200" dirty="0">
                <a:solidFill>
                  <a:srgbClr val="1E2A32"/>
                </a:solidFill>
                <a:latin typeface="Calibri" pitchFamily="34" charset="0"/>
                <a:ea typeface="Calibri" pitchFamily="34" charset="-122"/>
                <a:cs typeface="Calibri" pitchFamily="34" charset="-120"/>
              </a:rPr>
              <a:t>simple_search · 16/20</a:t>
            </a:r>
            <a:endParaRPr lang="en-US" sz="1200" dirty="0"/>
          </a:p>
        </p:txBody>
      </p:sp>
      <p:sp>
        <p:nvSpPr>
          <p:cNvPr id="11" name="Shape 8"/>
          <p:cNvSpPr/>
          <p:nvPr/>
        </p:nvSpPr>
        <p:spPr>
          <a:xfrm>
            <a:off x="8046720" y="4251960"/>
            <a:ext cx="3566160" cy="1920240"/>
          </a:xfrm>
          <a:prstGeom prst="roundRect">
            <a:avLst>
              <a:gd name="adj" fmla="val 2857"/>
            </a:avLst>
          </a:prstGeom>
          <a:solidFill>
            <a:srgbClr val="F3F7F8"/>
          </a:solidFill>
          <a:ln w="12700">
            <a:solidFill>
              <a:srgbClr val="F3F7F8"/>
            </a:solidFill>
            <a:prstDash val="solid"/>
          </a:ln>
        </p:spPr>
      </p:sp>
      <p:sp>
        <p:nvSpPr>
          <p:cNvPr id="12" name="Text 9"/>
          <p:cNvSpPr txBox="1"/>
          <p:nvPr/>
        </p:nvSpPr>
        <p:spPr>
          <a:xfrm>
            <a:off x="8275320" y="4343400"/>
            <a:ext cx="3200400" cy="274320"/>
          </a:xfrm>
          <a:prstGeom prst="rect">
            <a:avLst/>
          </a:prstGeom>
          <a:noFill/>
          <a:ln/>
        </p:spPr>
        <p:txBody>
          <a:bodyPr wrap="square" lIns="0" tIns="0" rIns="0" bIns="0" rtlCol="0" anchor="t"/>
          <a:lstStyle/>
          <a:p>
            <a:pPr indent="0" marL="0">
              <a:buNone/>
            </a:pPr>
            <a:r>
              <a:rPr lang="en-US" sz="1200" b="1" dirty="0">
                <a:solidFill>
                  <a:srgbClr val="0F5C6B"/>
                </a:solidFill>
                <a:latin typeface="Calibri" pitchFamily="34" charset="0"/>
                <a:ea typeface="Calibri" pitchFamily="34" charset="-122"/>
                <a:cs typeface="Calibri" pitchFamily="34" charset="-120"/>
              </a:rPr>
              <a:t>Đọc đúng mức</a:t>
            </a:r>
            <a:endParaRPr lang="en-US" sz="1200" dirty="0"/>
          </a:p>
        </p:txBody>
      </p:sp>
      <p:sp>
        <p:nvSpPr>
          <p:cNvPr id="13" name="Text 10"/>
          <p:cNvSpPr txBox="1"/>
          <p:nvPr/>
        </p:nvSpPr>
        <p:spPr>
          <a:xfrm>
            <a:off x="8275320" y="4663440"/>
            <a:ext cx="3200400" cy="14630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A32"/>
                </a:solidFill>
                <a:latin typeface="Calibri" pitchFamily="34" charset="0"/>
                <a:ea typeface="Calibri" pitchFamily="34" charset="-122"/>
                <a:cs typeface="Calibri" pitchFamily="34" charset="-120"/>
              </a:rPr>
              <a:t>KTC 95% của 18/20: ~70–97%.</a:t>
            </a:r>
            <a:endParaRPr lang="en-US" sz="1100" dirty="0"/>
          </a:p>
          <a:p>
            <a:pPr marL="342900" indent="-342900">
              <a:spcAft>
                <a:spcPts val="400"/>
              </a:spcAft>
              <a:buSzPct val="100000"/>
              <a:buChar char="•"/>
            </a:pPr>
            <a:r>
              <a:rPr lang="en-US" sz="1100" dirty="0">
                <a:solidFill>
                  <a:srgbClr val="1E2A32"/>
                </a:solidFill>
                <a:latin typeface="Calibri" pitchFamily="34" charset="0"/>
                <a:ea typeface="Calibri" pitchFamily="34" charset="-122"/>
                <a:cs typeface="Calibri" pitchFamily="34" charset="-120"/>
              </a:rPr>
              <a:t>Chênh 2 câu, cùng bộ câu: McNemar p = 0,5 → chưa khẳng định full hơn baseline.</a:t>
            </a:r>
            <a:endParaRPr lang="en-US" sz="1100" dirty="0"/>
          </a:p>
          <a:p>
            <a:pPr marL="342900" indent="-342900">
              <a:spcAft>
                <a:spcPts val="400"/>
              </a:spcAft>
              <a:buSzPct val="100000"/>
              <a:buChar char="•"/>
            </a:pPr>
            <a:r>
              <a:rPr lang="en-US" sz="1100" dirty="0">
                <a:solidFill>
                  <a:srgbClr val="1E2A32"/>
                </a:solidFill>
                <a:latin typeface="Calibri" pitchFamily="34" charset="0"/>
                <a:ea typeface="Calibri" pitchFamily="34" charset="-122"/>
                <a:cs typeface="Calibri" pitchFamily="34" charset="-120"/>
              </a:rPr>
              <a:t>Ô chỉ 1–2 câu (temporal, preference) không có ý nghĩa thống kê.</a:t>
            </a:r>
            <a:endParaRPr lang="en-US" sz="1100" dirty="0"/>
          </a:p>
        </p:txBody>
      </p:sp>
      <p:sp>
        <p:nvSpPr>
          <p:cNvPr id="14" name="Text 11"/>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Hai câu cả hai hệ cùng sai: câu _abs (multi-session) và câu temporal — phân tích ở slide sau. Mọi fact/tỉ lệ tính trên cùng 20 câu, cùng đồ thị.</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3 · KẾT QUẢ</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Chi phí mỗi câu: pha dựng chiếm 87% token</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669280" cy="914400"/>
        </p:xfrm>
        <a:graphic>
          <a:graphicData uri="http://schemas.openxmlformats.org/drawingml/2006/table">
            <a:tbl>
              <a:tblPr/>
              <a:tblGrid>
                <a:gridCol w="2651760"/>
                <a:gridCol w="1508760"/>
                <a:gridCol w="150876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Mỗi câu (TB)</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full</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simple_search</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0F5C6B"/>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Lời gọi LLM dựng đồ thị</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13,8</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B73"/>
                          </a:solidFill>
                          <a:latin typeface="Calibri" pitchFamily="34" charset="0"/>
                          <a:ea typeface="Calibri" pitchFamily="34" charset="-122"/>
                          <a:cs typeface="Calibri" pitchFamily="34" charset="-120"/>
                        </a:rPr>
                        <a:t>dùng chung</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Token dựng đồ thị</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58,8K</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B73"/>
                          </a:solidFill>
                          <a:latin typeface="Calibri" pitchFamily="34" charset="0"/>
                          <a:ea typeface="Calibri" pitchFamily="34" charset="-122"/>
                          <a:cs typeface="Calibri" pitchFamily="34" charset="-120"/>
                        </a:rPr>
                        <a:t>dùng chung</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Lời gọi LLM trả lời</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Token trả lời</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8,8K</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18,2K</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Lần gọi công cụ</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Độ trễ trả lời p50 / p95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25 s / 40 s</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5,5 s / 12 s</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A32"/>
                          </a:solidFill>
                          <a:latin typeface="Calibri" pitchFamily="34" charset="0"/>
                          <a:ea typeface="Calibri" pitchFamily="34" charset="-122"/>
                          <a:cs typeface="Calibri" pitchFamily="34" charset="-120"/>
                        </a:rPr>
                        <a:t>Độ trễ dựng p50 / p95</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32"/>
                          </a:solidFill>
                          <a:latin typeface="Calibri" pitchFamily="34" charset="0"/>
                          <a:ea typeface="Calibri" pitchFamily="34" charset="-122"/>
                          <a:cs typeface="Calibri" pitchFamily="34" charset="-120"/>
                        </a:rPr>
                        <a:t>4,9 / 11,1 phút</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B73"/>
                          </a:solidFill>
                          <a:latin typeface="Calibri" pitchFamily="34" charset="0"/>
                          <a:ea typeface="Calibri" pitchFamily="34" charset="-122"/>
                          <a:cs typeface="Calibri" pitchFamily="34" charset="-120"/>
                        </a:rPr>
                        <a:t>dùng chung</a:t>
                      </a:r>
                      <a:endParaRPr lang="en-US" sz="1100" dirty="0">
                        <a:latin typeface="Calibri" charset="0"/>
                        <a:ea typeface="Calibri" charset="0"/>
                        <a:cs typeface="Calibri" charset="0"/>
                      </a:endParaRPr>
                    </a:p>
                  </a:txBody>
                  <a:tcPr marL="91440" marR="91440" marT="45720" marB="45720" anchor="ctr">
                    <a:lnL w="9525" cap="flat" cmpd="sng" algn="ctr">
                      <a:solidFill>
                        <a:srgbClr val="BFD8DD"/>
                      </a:solidFill>
                      <a:prstDash val="solid"/>
                      <a:round/>
                      <a:headEnd type="none" w="med" len="med"/>
                      <a:tailEnd type="none" w="med" len="med"/>
                    </a:lnL>
                    <a:lnR w="9525" cap="flat" cmpd="sng" algn="ctr">
                      <a:solidFill>
                        <a:srgbClr val="BFD8DD"/>
                      </a:solidFill>
                      <a:prstDash val="solid"/>
                      <a:round/>
                      <a:headEnd type="none" w="med" len="med"/>
                      <a:tailEnd type="none" w="med" len="med"/>
                    </a:lnR>
                    <a:lnT w="9525" cap="flat" cmpd="sng" algn="ctr">
                      <a:solidFill>
                        <a:srgbClr val="BFD8DD"/>
                      </a:solidFill>
                      <a:prstDash val="solid"/>
                      <a:round/>
                      <a:headEnd type="none" w="med" len="med"/>
                      <a:tailEnd type="none" w="med" len="med"/>
                    </a:lnT>
                    <a:lnB w="9525" cap="flat" cmpd="sng" algn="ctr">
                      <a:solidFill>
                        <a:srgbClr val="BFD8DD"/>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709160"/>
            <a:ext cx="5669280" cy="1463040"/>
          </a:xfrm>
          <a:prstGeom prst="roundRect">
            <a:avLst>
              <a:gd name="adj" fmla="val 3750"/>
            </a:avLst>
          </a:prstGeom>
          <a:solidFill>
            <a:srgbClr val="E6F0F2"/>
          </a:solidFill>
          <a:ln w="12700">
            <a:solidFill>
              <a:srgbClr val="E6F0F2"/>
            </a:solidFill>
            <a:prstDash val="solid"/>
          </a:ln>
        </p:spPr>
      </p:sp>
      <p:sp>
        <p:nvSpPr>
          <p:cNvPr id="6" name="Text 3"/>
          <p:cNvSpPr txBox="1"/>
          <p:nvPr/>
        </p:nvSpPr>
        <p:spPr>
          <a:xfrm>
            <a:off x="777240" y="4800600"/>
            <a:ext cx="5257800" cy="1280160"/>
          </a:xfrm>
          <a:prstGeom prst="rect">
            <a:avLst/>
          </a:prstGeom>
          <a:noFill/>
          <a:ln/>
        </p:spPr>
        <p:txBody>
          <a:bodyPr wrap="square" lIns="0" tIns="0" rIns="0" bIns="0" rtlCol="0" anchor="ctr"/>
          <a:lstStyle/>
          <a:p>
            <a:pPr indent="0" marL="0">
              <a:buNone/>
            </a:pPr>
            <a:r>
              <a:rPr lang="en-US" sz="1200" b="1" dirty="0">
                <a:solidFill>
                  <a:srgbClr val="1E2A32"/>
                </a:solidFill>
                <a:latin typeface="Calibri" pitchFamily="34" charset="0"/>
                <a:ea typeface="Calibri" pitchFamily="34" charset="-122"/>
                <a:cs typeface="Calibri" pitchFamily="34" charset="-120"/>
              </a:rPr>
              <a:t>Ý nghĩa: </a:t>
            </a:r>
            <a:pPr indent="0" marL="0">
              <a:buNone/>
            </a:pPr>
            <a:r>
              <a:rPr lang="en-US" sz="1200" dirty="0">
                <a:solidFill>
                  <a:srgbClr val="1E2A32"/>
                </a:solidFill>
                <a:latin typeface="Calibri" pitchFamily="34" charset="0"/>
                <a:ea typeface="Calibri" pitchFamily="34" charset="-122"/>
                <a:cs typeface="Calibri" pitchFamily="34" charset="-120"/>
              </a:rPr>
              <a:t>Tối ưu chi phí phải nhắm vào pha dựng (lọc bớt phiên, gom lượt). Pha trả lời của full dùng ít token hơn baseline (8,8K so với 18,2K) vì chỉ đọc fact liên quan thay vì 5 phiên nguyên văn — nhưng chậm hơn do nhiều vòng gọi công cụ.</a:t>
            </a:r>
            <a:endParaRPr lang="en-US" sz="1200" dirty="0"/>
          </a:p>
        </p:txBody>
      </p:sp>
      <p:graphicFrame>
        <p:nvGraphicFramePr>
          <p:cNvPr id="7" name="Chart 0" descr=""/>
          <p:cNvGraphicFramePr/>
          <p:nvPr/>
        </p:nvGraphicFramePr>
        <p:xfrm>
          <a:off x="6583680" y="1325880"/>
          <a:ext cx="5029200" cy="35661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6583680" y="5074920"/>
            <a:ext cx="5029200" cy="1097280"/>
          </a:xfrm>
          <a:prstGeom prst="roundRect">
            <a:avLst>
              <a:gd name="adj" fmla="val 5000"/>
            </a:avLst>
          </a:prstGeom>
          <a:solidFill>
            <a:srgbClr val="FBF1E3"/>
          </a:solidFill>
          <a:ln w="12700">
            <a:solidFill>
              <a:srgbClr val="FBF1E3"/>
            </a:solidFill>
            <a:prstDash val="solid"/>
          </a:ln>
        </p:spPr>
      </p:sp>
      <p:sp>
        <p:nvSpPr>
          <p:cNvPr id="9" name="Text 5"/>
          <p:cNvSpPr txBox="1"/>
          <p:nvPr/>
        </p:nvSpPr>
        <p:spPr>
          <a:xfrm>
            <a:off x="6812280" y="5138928"/>
            <a:ext cx="4617720" cy="960120"/>
          </a:xfrm>
          <a:prstGeom prst="rect">
            <a:avLst/>
          </a:prstGeom>
          <a:noFill/>
          <a:ln/>
        </p:spPr>
        <p:txBody>
          <a:bodyPr wrap="square" lIns="0" tIns="0" rIns="0" bIns="0" rtlCol="0" anchor="ctr"/>
          <a:lstStyle/>
          <a:p>
            <a:pPr indent="0" marL="0">
              <a:buNone/>
            </a:pPr>
            <a:r>
              <a:rPr lang="en-US" sz="1150" dirty="0">
                <a:solidFill>
                  <a:srgbClr val="1E2A32"/>
                </a:solidFill>
                <a:latin typeface="Calibri" pitchFamily="34" charset="0"/>
                <a:ea typeface="Calibri" pitchFamily="34" charset="-122"/>
                <a:cs typeface="Calibri" pitchFamily="34" charset="-120"/>
              </a:rPr>
              <a:t>Search được dùng nhiều nhất (bài báo: +7,55 điểm khi thêm Search trên LoCoMo). GraphSQL xuất hiện ở 12/20 câu — chủ yếu để cộng, đếm, xếp theo thời gian.</a:t>
            </a:r>
            <a:endParaRPr lang="en-US" sz="1150" dirty="0"/>
          </a:p>
        </p:txBody>
      </p:sp>
      <p:sp>
        <p:nvSpPr>
          <p:cNvPr id="10" name="Text 6"/>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Mọi con số từ report của full/dev và simple_search/dev. Chỉ tính lần dựng đầu — cấu hình sau dùng lại đồ thị và cache LLM.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PHẦN 3 · KẾT QUẢ</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Hai câu sai — và nguyên nhân thật</a:t>
            </a:r>
            <a:endParaRPr lang="en-US" sz="2800" dirty="0"/>
          </a:p>
        </p:txBody>
      </p:sp>
      <p:sp>
        <p:nvSpPr>
          <p:cNvPr id="4" name="Shape 2"/>
          <p:cNvSpPr/>
          <p:nvPr/>
        </p:nvSpPr>
        <p:spPr>
          <a:xfrm>
            <a:off x="548640" y="1371600"/>
            <a:ext cx="5440680" cy="3977640"/>
          </a:xfrm>
          <a:prstGeom prst="roundRect">
            <a:avLst>
              <a:gd name="adj" fmla="val 1379"/>
            </a:avLst>
          </a:prstGeom>
          <a:solidFill>
            <a:srgbClr val="F3F7F8"/>
          </a:solidFill>
          <a:ln w="12700">
            <a:solidFill>
              <a:srgbClr val="F3F7F8"/>
            </a:solidFill>
            <a:prstDash val="solid"/>
          </a:ln>
        </p:spPr>
      </p:sp>
      <p:sp>
        <p:nvSpPr>
          <p:cNvPr id="5" name="Text 3"/>
          <p:cNvSpPr txBox="1"/>
          <p:nvPr/>
        </p:nvSpPr>
        <p:spPr>
          <a:xfrm>
            <a:off x="777240" y="1508760"/>
            <a:ext cx="5029200" cy="320040"/>
          </a:xfrm>
          <a:prstGeom prst="rect">
            <a:avLst/>
          </a:prstGeom>
          <a:noFill/>
          <a:ln/>
        </p:spPr>
        <p:txBody>
          <a:bodyPr wrap="square" lIns="0" tIns="0" rIns="0" bIns="0" rtlCol="0" anchor="t"/>
          <a:lstStyle/>
          <a:p>
            <a:pPr indent="0" marL="0">
              <a:buNone/>
            </a:pPr>
            <a:r>
              <a:rPr lang="en-US" sz="1500" b="1" dirty="0">
                <a:solidFill>
                  <a:srgbClr val="12232E"/>
                </a:solidFill>
                <a:latin typeface="Calibri" pitchFamily="34" charset="0"/>
                <a:ea typeface="Calibri" pitchFamily="34" charset="-122"/>
                <a:cs typeface="Calibri" pitchFamily="34" charset="-120"/>
              </a:rPr>
              <a:t>Câu _abs 09ba9854 · biết từ chối</a:t>
            </a:r>
            <a:endParaRPr lang="en-US" sz="1500" dirty="0"/>
          </a:p>
        </p:txBody>
      </p:sp>
      <p:sp>
        <p:nvSpPr>
          <p:cNvPr id="6" name="Text 4"/>
          <p:cNvSpPr txBox="1"/>
          <p:nvPr/>
        </p:nvSpPr>
        <p:spPr>
          <a:xfrm>
            <a:off x="777240" y="1874520"/>
            <a:ext cx="5029200" cy="685800"/>
          </a:xfrm>
          <a:prstGeom prst="rect">
            <a:avLst/>
          </a:prstGeom>
          <a:noFill/>
          <a:ln/>
        </p:spPr>
        <p:txBody>
          <a:bodyPr wrap="square" lIns="0" tIns="0" rIns="0" bIns="0"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“How much will I save by taking the bus from the airport to my hotel instead of a taxi?”</a:t>
            </a:r>
            <a:endParaRPr lang="en-US" sz="1250" dirty="0"/>
          </a:p>
        </p:txBody>
      </p:sp>
      <p:sp>
        <p:nvSpPr>
          <p:cNvPr id="7" name="Text 5"/>
          <p:cNvSpPr txBox="1"/>
          <p:nvPr/>
        </p:nvSpPr>
        <p:spPr>
          <a:xfrm>
            <a:off x="777240" y="2606040"/>
            <a:ext cx="5029200" cy="594360"/>
          </a:xfrm>
          <a:prstGeom prst="rect">
            <a:avLst/>
          </a:prstGeom>
          <a:noFill/>
          <a:ln/>
        </p:spPr>
        <p:txBody>
          <a:bodyPr wrap="square" lIns="0" tIns="0" rIns="0" bIns="0" rtlCol="0" anchor="t"/>
          <a:lstStyle/>
          <a:p>
            <a:pPr indent="0" marL="0">
              <a:buNone/>
            </a:pPr>
            <a:r>
              <a:rPr lang="en-US" sz="1250" b="1" dirty="0">
                <a:solidFill>
                  <a:srgbClr val="1F7A4D"/>
                </a:solidFill>
                <a:latin typeface="Calibri" pitchFamily="34" charset="0"/>
                <a:ea typeface="Calibri" pitchFamily="34" charset="-122"/>
                <a:cs typeface="Calibri" pitchFamily="34" charset="-120"/>
              </a:rPr>
              <a:t>Đúng ra: </a:t>
            </a:r>
            <a:pPr indent="0" marL="0">
              <a:buNone/>
            </a:pPr>
            <a:r>
              <a:rPr lang="en-US" sz="1250" dirty="0">
                <a:solidFill>
                  <a:srgbClr val="1E2A32"/>
                </a:solidFill>
                <a:latin typeface="Calibri" pitchFamily="34" charset="0"/>
                <a:ea typeface="Calibri" pitchFamily="34" charset="-122"/>
                <a:cs typeface="Calibri" pitchFamily="34" charset="-120"/>
              </a:rPr>
              <a:t>không đủ thông tin — người dùng chưa từng nói giá vé bus.</a:t>
            </a:r>
            <a:endParaRPr lang="en-US" sz="1250" dirty="0"/>
          </a:p>
        </p:txBody>
      </p:sp>
      <p:sp>
        <p:nvSpPr>
          <p:cNvPr id="8" name="Text 6"/>
          <p:cNvSpPr txBox="1"/>
          <p:nvPr/>
        </p:nvSpPr>
        <p:spPr>
          <a:xfrm>
            <a:off x="777240" y="3200400"/>
            <a:ext cx="5029200" cy="731520"/>
          </a:xfrm>
          <a:prstGeom prst="rect">
            <a:avLst/>
          </a:prstGeom>
          <a:noFill/>
          <a:ln/>
        </p:spPr>
        <p:txBody>
          <a:bodyPr wrap="square" lIns="0" tIns="0" rIns="0" bIns="0" rtlCol="0" anchor="t"/>
          <a:lstStyle/>
          <a:p>
            <a:pPr indent="0" marL="0">
              <a:buNone/>
            </a:pPr>
            <a:r>
              <a:rPr lang="en-US" sz="1250" b="1" dirty="0">
                <a:solidFill>
                  <a:srgbClr val="B3261E"/>
                </a:solidFill>
                <a:latin typeface="Calibri" pitchFamily="34" charset="0"/>
                <a:ea typeface="Calibri" pitchFamily="34" charset="-122"/>
                <a:cs typeface="Calibri" pitchFamily="34" charset="-120"/>
              </a:rPr>
              <a:t>Hệ trả lời: </a:t>
            </a:r>
            <a:pPr indent="0" marL="0">
              <a:buNone/>
            </a:pPr>
            <a:r>
              <a:rPr lang="en-US" sz="1250" dirty="0">
                <a:solidFill>
                  <a:srgbClr val="1E2A32"/>
                </a:solidFill>
                <a:latin typeface="Calibri" pitchFamily="34" charset="0"/>
                <a:ea typeface="Calibri" pitchFamily="34" charset="-122"/>
                <a:cs typeface="Calibri" pitchFamily="34" charset="-120"/>
              </a:rPr>
              <a:t>“tiết kiệm ¥16.800–26.800” — lấy giá bus ¥3.200 do chính TRỢ LÝ ước lượng làm như thông tin người dùng.</a:t>
            </a:r>
            <a:endParaRPr lang="en-US" sz="1250" dirty="0"/>
          </a:p>
        </p:txBody>
      </p:sp>
      <p:sp>
        <p:nvSpPr>
          <p:cNvPr id="9" name="Shape 7"/>
          <p:cNvSpPr/>
          <p:nvPr/>
        </p:nvSpPr>
        <p:spPr>
          <a:xfrm>
            <a:off x="731520" y="4023360"/>
            <a:ext cx="5074920" cy="1188720"/>
          </a:xfrm>
          <a:prstGeom prst="roundRect">
            <a:avLst>
              <a:gd name="adj" fmla="val 4615"/>
            </a:avLst>
          </a:prstGeom>
          <a:solidFill>
            <a:srgbClr val="FFFFFF"/>
          </a:solidFill>
          <a:ln w="9525">
            <a:solidFill>
              <a:srgbClr val="BFD8DD"/>
            </a:solidFill>
            <a:prstDash val="solid"/>
          </a:ln>
        </p:spPr>
      </p:sp>
      <p:sp>
        <p:nvSpPr>
          <p:cNvPr id="10" name="Text 8"/>
          <p:cNvSpPr txBox="1"/>
          <p:nvPr/>
        </p:nvSpPr>
        <p:spPr>
          <a:xfrm>
            <a:off x="868680" y="4069080"/>
            <a:ext cx="4846320" cy="1097280"/>
          </a:xfrm>
          <a:prstGeom prst="rect">
            <a:avLst/>
          </a:prstGeom>
          <a:noFill/>
          <a:ln/>
        </p:spPr>
        <p:txBody>
          <a:bodyPr wrap="square" lIns="0" tIns="0" rIns="0" bIns="0" rtlCol="0" anchor="ctr"/>
          <a:lstStyle/>
          <a:p>
            <a:pPr indent="0" marL="0">
              <a:buNone/>
            </a:pPr>
            <a:r>
              <a:rPr lang="en-US" sz="1250" b="1" dirty="0">
                <a:solidFill>
                  <a:srgbClr val="D98C1F"/>
                </a:solidFill>
                <a:latin typeface="Calibri" pitchFamily="34" charset="0"/>
                <a:ea typeface="Calibri" pitchFamily="34" charset="-122"/>
                <a:cs typeface="Calibri" pitchFamily="34" charset="-120"/>
              </a:rPr>
              <a:t>Nguyên nhân: </a:t>
            </a:r>
            <a:pPr indent="0" marL="0">
              <a:buNone/>
            </a:pPr>
            <a:r>
              <a:rPr lang="en-US" sz="1250" dirty="0">
                <a:solidFill>
                  <a:srgbClr val="1E2A32"/>
                </a:solidFill>
                <a:latin typeface="Calibri" pitchFamily="34" charset="0"/>
                <a:ea typeface="Calibri" pitchFamily="34" charset="-122"/>
                <a:cs typeface="Calibri" pitchFamily="34" charset="-120"/>
              </a:rPr>
              <a:t>Agent chưa phân biệt fact của User với fact của Assistant. Baseline cũng sai y hệt → lỗi của prompt/mô hình, không phải kiến trúc.</a:t>
            </a:r>
            <a:endParaRPr lang="en-US" sz="1250" dirty="0"/>
          </a:p>
        </p:txBody>
      </p:sp>
      <p:sp>
        <p:nvSpPr>
          <p:cNvPr id="11" name="Shape 9"/>
          <p:cNvSpPr/>
          <p:nvPr/>
        </p:nvSpPr>
        <p:spPr>
          <a:xfrm>
            <a:off x="6172200" y="1371600"/>
            <a:ext cx="5440680" cy="3977640"/>
          </a:xfrm>
          <a:prstGeom prst="roundRect">
            <a:avLst>
              <a:gd name="adj" fmla="val 1379"/>
            </a:avLst>
          </a:prstGeom>
          <a:solidFill>
            <a:srgbClr val="F3F7F8"/>
          </a:solidFill>
          <a:ln w="12700">
            <a:solidFill>
              <a:srgbClr val="F3F7F8"/>
            </a:solidFill>
            <a:prstDash val="solid"/>
          </a:ln>
        </p:spPr>
      </p:sp>
      <p:sp>
        <p:nvSpPr>
          <p:cNvPr id="12" name="Text 10"/>
          <p:cNvSpPr txBox="1"/>
          <p:nvPr/>
        </p:nvSpPr>
        <p:spPr>
          <a:xfrm>
            <a:off x="6400800" y="1508760"/>
            <a:ext cx="5029200" cy="320040"/>
          </a:xfrm>
          <a:prstGeom prst="rect">
            <a:avLst/>
          </a:prstGeom>
          <a:noFill/>
          <a:ln/>
        </p:spPr>
        <p:txBody>
          <a:bodyPr wrap="square" lIns="0" tIns="0" rIns="0" bIns="0" rtlCol="0" anchor="t"/>
          <a:lstStyle/>
          <a:p>
            <a:pPr indent="0" marL="0">
              <a:buNone/>
            </a:pPr>
            <a:r>
              <a:rPr lang="en-US" sz="1500" b="1" dirty="0">
                <a:solidFill>
                  <a:srgbClr val="12232E"/>
                </a:solidFill>
                <a:latin typeface="Calibri" pitchFamily="34" charset="0"/>
                <a:ea typeface="Calibri" pitchFamily="34" charset="-122"/>
                <a:cs typeface="Calibri" pitchFamily="34" charset="-120"/>
              </a:rPr>
              <a:t>Câu temporal 0bc8ad93</a:t>
            </a:r>
            <a:endParaRPr lang="en-US" sz="1500" dirty="0"/>
          </a:p>
        </p:txBody>
      </p:sp>
      <p:sp>
        <p:nvSpPr>
          <p:cNvPr id="13" name="Text 11"/>
          <p:cNvSpPr txBox="1"/>
          <p:nvPr/>
        </p:nvSpPr>
        <p:spPr>
          <a:xfrm>
            <a:off x="6400800" y="1874520"/>
            <a:ext cx="5029200" cy="685800"/>
          </a:xfrm>
          <a:prstGeom prst="rect">
            <a:avLst/>
          </a:prstGeom>
          <a:noFill/>
          <a:ln/>
        </p:spPr>
        <p:txBody>
          <a:bodyPr wrap="square" lIns="0" tIns="0" rIns="0" bIns="0"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“I mentioned visiting a museum two months ago. Did I visit with a friend or not?”  (ngày hỏi 11/03/2023)</a:t>
            </a:r>
            <a:endParaRPr lang="en-US" sz="1250" dirty="0"/>
          </a:p>
        </p:txBody>
      </p:sp>
      <p:sp>
        <p:nvSpPr>
          <p:cNvPr id="14" name="Text 12"/>
          <p:cNvSpPr txBox="1"/>
          <p:nvPr/>
        </p:nvSpPr>
        <p:spPr>
          <a:xfrm>
            <a:off x="6400800" y="2606040"/>
            <a:ext cx="5029200" cy="594360"/>
          </a:xfrm>
          <a:prstGeom prst="rect">
            <a:avLst/>
          </a:prstGeom>
          <a:noFill/>
          <a:ln/>
        </p:spPr>
        <p:txBody>
          <a:bodyPr wrap="square" lIns="0" tIns="0" rIns="0" bIns="0" rtlCol="0" anchor="t"/>
          <a:lstStyle/>
          <a:p>
            <a:pPr indent="0" marL="0">
              <a:buNone/>
            </a:pPr>
            <a:r>
              <a:rPr lang="en-US" sz="1250" b="1" dirty="0">
                <a:solidFill>
                  <a:srgbClr val="1F7A4D"/>
                </a:solidFill>
                <a:latin typeface="Calibri" pitchFamily="34" charset="0"/>
                <a:ea typeface="Calibri" pitchFamily="34" charset="-122"/>
                <a:cs typeface="Calibri" pitchFamily="34" charset="-120"/>
              </a:rPr>
              <a:t>Đúng ra: </a:t>
            </a:r>
            <a:pPr indent="0" marL="0">
              <a:buNone/>
            </a:pPr>
            <a:r>
              <a:rPr lang="en-US" sz="1250" dirty="0">
                <a:solidFill>
                  <a:srgbClr val="1E2A32"/>
                </a:solidFill>
                <a:latin typeface="Calibri" pitchFamily="34" charset="0"/>
                <a:ea typeface="Calibri" pitchFamily="34" charset="-122"/>
                <a:cs typeface="Calibri" pitchFamily="34" charset="-120"/>
              </a:rPr>
              <a:t>Hai tháng trước = 11/01 → buổi nghe giảng ở History Museum, không đi cùng bạn → “No”.</a:t>
            </a:r>
            <a:endParaRPr lang="en-US" sz="1250" dirty="0"/>
          </a:p>
        </p:txBody>
      </p:sp>
      <p:sp>
        <p:nvSpPr>
          <p:cNvPr id="15" name="Text 13"/>
          <p:cNvSpPr txBox="1"/>
          <p:nvPr/>
        </p:nvSpPr>
        <p:spPr>
          <a:xfrm>
            <a:off x="6400800" y="3200400"/>
            <a:ext cx="5029200" cy="731520"/>
          </a:xfrm>
          <a:prstGeom prst="rect">
            <a:avLst/>
          </a:prstGeom>
          <a:noFill/>
          <a:ln/>
        </p:spPr>
        <p:txBody>
          <a:bodyPr wrap="square" lIns="0" tIns="0" rIns="0" bIns="0" rtlCol="0" anchor="t"/>
          <a:lstStyle/>
          <a:p>
            <a:pPr indent="0" marL="0">
              <a:buNone/>
            </a:pPr>
            <a:r>
              <a:rPr lang="en-US" sz="1250" b="1" dirty="0">
                <a:solidFill>
                  <a:srgbClr val="B3261E"/>
                </a:solidFill>
                <a:latin typeface="Calibri" pitchFamily="34" charset="0"/>
                <a:ea typeface="Calibri" pitchFamily="34" charset="-122"/>
                <a:cs typeface="Calibri" pitchFamily="34" charset="-120"/>
              </a:rPr>
              <a:t>Hệ trả lời: </a:t>
            </a:r>
            <a:pPr indent="0" marL="0">
              <a:buNone/>
            </a:pPr>
            <a:r>
              <a:rPr lang="en-US" sz="1250" dirty="0">
                <a:solidFill>
                  <a:srgbClr val="1E2A32"/>
                </a:solidFill>
                <a:latin typeface="Calibri" pitchFamily="34" charset="0"/>
                <a:ea typeface="Calibri" pitchFamily="34" charset="-122"/>
                <a:cs typeface="Calibri" pitchFamily="34" charset="-120"/>
              </a:rPr>
              <a:t>chọn lần gần nhất (17/02, đi cùng bố) và tự mâu thuẫn: “Yes… with your dad”.</a:t>
            </a:r>
            <a:endParaRPr lang="en-US" sz="1250" dirty="0"/>
          </a:p>
        </p:txBody>
      </p:sp>
      <p:sp>
        <p:nvSpPr>
          <p:cNvPr id="16" name="Shape 14"/>
          <p:cNvSpPr/>
          <p:nvPr/>
        </p:nvSpPr>
        <p:spPr>
          <a:xfrm>
            <a:off x="6355080" y="4023360"/>
            <a:ext cx="5074920" cy="1188720"/>
          </a:xfrm>
          <a:prstGeom prst="roundRect">
            <a:avLst>
              <a:gd name="adj" fmla="val 4615"/>
            </a:avLst>
          </a:prstGeom>
          <a:solidFill>
            <a:srgbClr val="FFFFFF"/>
          </a:solidFill>
          <a:ln w="9525">
            <a:solidFill>
              <a:srgbClr val="BFD8DD"/>
            </a:solidFill>
            <a:prstDash val="solid"/>
          </a:ln>
        </p:spPr>
      </p:sp>
      <p:sp>
        <p:nvSpPr>
          <p:cNvPr id="17" name="Text 15"/>
          <p:cNvSpPr txBox="1"/>
          <p:nvPr/>
        </p:nvSpPr>
        <p:spPr>
          <a:xfrm>
            <a:off x="6492240" y="4069080"/>
            <a:ext cx="4846320" cy="1097280"/>
          </a:xfrm>
          <a:prstGeom prst="rect">
            <a:avLst/>
          </a:prstGeom>
          <a:noFill/>
          <a:ln/>
        </p:spPr>
        <p:txBody>
          <a:bodyPr wrap="square" lIns="0" tIns="0" rIns="0" bIns="0" rtlCol="0" anchor="ctr"/>
          <a:lstStyle/>
          <a:p>
            <a:pPr indent="0" marL="0">
              <a:buNone/>
            </a:pPr>
            <a:r>
              <a:rPr lang="en-US" sz="1250" b="1" dirty="0">
                <a:solidFill>
                  <a:srgbClr val="D98C1F"/>
                </a:solidFill>
                <a:latin typeface="Calibri" pitchFamily="34" charset="0"/>
                <a:ea typeface="Calibri" pitchFamily="34" charset="-122"/>
                <a:cs typeface="Calibri" pitchFamily="34" charset="-120"/>
              </a:rPr>
              <a:t>Nguyên nhân: </a:t>
            </a:r>
            <a:pPr indent="0" marL="0">
              <a:buNone/>
            </a:pPr>
            <a:r>
              <a:rPr lang="en-US" sz="1250" dirty="0">
                <a:solidFill>
                  <a:srgbClr val="1E2A32"/>
                </a:solidFill>
                <a:latin typeface="Calibri" pitchFamily="34" charset="0"/>
                <a:ea typeface="Calibri" pitchFamily="34" charset="-122"/>
                <a:cs typeface="Calibri" pitchFamily="34" charset="-120"/>
              </a:rPr>
              <a:t>(1) Trích xuất làm mất chi tiết “History Museum” và “with my dad”. (2) Agent không quy đổi “hai tháng trước” thành ngày cụ thể.</a:t>
            </a:r>
            <a:endParaRPr lang="en-US" sz="1250" dirty="0"/>
          </a:p>
        </p:txBody>
      </p:sp>
      <p:sp>
        <p:nvSpPr>
          <p:cNvPr id="18" name="Shape 16"/>
          <p:cNvSpPr/>
          <p:nvPr/>
        </p:nvSpPr>
        <p:spPr>
          <a:xfrm>
            <a:off x="548640" y="5532120"/>
            <a:ext cx="11064240" cy="685800"/>
          </a:xfrm>
          <a:prstGeom prst="roundRect">
            <a:avLst>
              <a:gd name="adj" fmla="val 8000"/>
            </a:avLst>
          </a:prstGeom>
          <a:solidFill>
            <a:srgbClr val="E6F0F2"/>
          </a:solidFill>
          <a:ln w="12700">
            <a:solidFill>
              <a:srgbClr val="E6F0F2"/>
            </a:solidFill>
            <a:prstDash val="solid"/>
          </a:ln>
        </p:spPr>
      </p:sp>
      <p:sp>
        <p:nvSpPr>
          <p:cNvPr id="19" name="Text 17"/>
          <p:cNvSpPr txBox="1"/>
          <p:nvPr/>
        </p:nvSpPr>
        <p:spPr>
          <a:xfrm>
            <a:off x="777240" y="5577840"/>
            <a:ext cx="10607040" cy="594360"/>
          </a:xfrm>
          <a:prstGeom prst="rect">
            <a:avLst/>
          </a:prstGeom>
          <a:noFill/>
          <a:ln/>
        </p:spPr>
        <p:txBody>
          <a:bodyPr wrap="square" lIns="0" tIns="0" rIns="0" bIns="0" rtlCol="0" anchor="ctr"/>
          <a:lstStyle/>
          <a:p>
            <a:pPr indent="0" marL="0">
              <a:buNone/>
            </a:pPr>
            <a:r>
              <a:rPr lang="en-US" sz="1150" b="1" dirty="0">
                <a:solidFill>
                  <a:srgbClr val="1E2A32"/>
                </a:solidFill>
                <a:latin typeface="Calibri" pitchFamily="34" charset="0"/>
                <a:ea typeface="Calibri" pitchFamily="34" charset="-122"/>
                <a:cs typeface="Calibri" pitchFamily="34" charset="-120"/>
              </a:rPr>
              <a:t>Đối chiếu nhãn chấm: </a:t>
            </a:r>
            <a:pPr indent="0" marL="0">
              <a:buNone/>
            </a:pPr>
            <a:r>
              <a:rPr lang="en-US" sz="1150" dirty="0">
                <a:solidFill>
                  <a:srgbClr val="1E2A32"/>
                </a:solidFill>
                <a:latin typeface="Calibri" pitchFamily="34" charset="0"/>
                <a:ea typeface="Calibri" pitchFamily="34" charset="-122"/>
                <a:cs typeface="Calibri" pitchFamily="34" charset="-120"/>
              </a:rPr>
              <a:t>chấm lại độc lập cả 20 câu bằng một mô hình khác (không phải Luna) → trùng 20/20 với nhãn của judge. Nhóm sẽ chấm tay để có đối chiếu của người.</a:t>
            </a:r>
            <a:endParaRPr lang="en-US" sz="1150" dirty="0"/>
          </a:p>
        </p:txBody>
      </p:sp>
      <p:sp>
        <p:nvSpPr>
          <p:cNvPr id="20" name="Text 18"/>
          <p:cNvSpPr txBox="1"/>
          <p:nvPr/>
        </p:nvSpPr>
        <p:spPr>
          <a:xfrm>
            <a:off x="548640" y="6419088"/>
            <a:ext cx="11064240" cy="274320"/>
          </a:xfrm>
          <a:prstGeom prst="rect">
            <a:avLst/>
          </a:prstGeom>
          <a:noFill/>
          <a:ln/>
        </p:spPr>
        <p:txBody>
          <a:bodyPr wrap="square" lIns="0" tIns="0" rIns="0" bIns="0" rtlCol="0" anchor="t"/>
          <a:lstStyle/>
          <a:p>
            <a:pPr indent="0" marL="0">
              <a:buNone/>
            </a:pPr>
            <a:r>
              <a:rPr lang="en-US" sz="900" i="1" dirty="0">
                <a:solidFill>
                  <a:srgbClr val="5B6B73"/>
                </a:solidFill>
                <a:latin typeface="Calibri" pitchFamily="34" charset="0"/>
                <a:ea typeface="Calibri" pitchFamily="34" charset="-122"/>
                <a:cs typeface="Calibri" pitchFamily="34" charset="-120"/>
              </a:rPr>
              <a:t>Bộ phân loại lỗi tự động xếp câu temporal là “reasoning” vì chỉ kiểm tra có ≥1 fact từ phiên bằng chứng — chưa bắt được fact then chốt bị thiếu. Sẽ sửa bằng nhãn has_answer theo lượt.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indent="0" marL="0">
              <a:buNone/>
            </a:pPr>
            <a:r>
              <a:rPr lang="en-US" sz="1100" b="1" spc="200" kern="0" dirty="0">
                <a:solidFill>
                  <a:srgbClr val="D98C1F"/>
                </a:solidFill>
                <a:latin typeface="Calibri" pitchFamily="34" charset="0"/>
                <a:ea typeface="Calibri" pitchFamily="34" charset="-122"/>
                <a:cs typeface="Calibri" pitchFamily="34" charset="-120"/>
              </a:rPr>
              <a:t>TỔNG KẾT</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2800" b="1" dirty="0">
                <a:solidFill>
                  <a:srgbClr val="12232E"/>
                </a:solidFill>
                <a:latin typeface="Cambria" pitchFamily="34" charset="0"/>
                <a:ea typeface="Cambria" pitchFamily="34" charset="-122"/>
                <a:cs typeface="Cambria" pitchFamily="34" charset="-120"/>
              </a:rPr>
              <a:t>Hạn chế hiện tại và kế hoạch tuần tới</a:t>
            </a:r>
            <a:endParaRPr lang="en-US" sz="2800" dirty="0"/>
          </a:p>
        </p:txBody>
      </p:sp>
      <p:sp>
        <p:nvSpPr>
          <p:cNvPr id="4" name="Text 2"/>
          <p:cNvSpPr txBox="1"/>
          <p:nvPr/>
        </p:nvSpPr>
        <p:spPr>
          <a:xfrm>
            <a:off x="548640" y="1371600"/>
            <a:ext cx="5303520" cy="274320"/>
          </a:xfrm>
          <a:prstGeom prst="rect">
            <a:avLst/>
          </a:prstGeom>
          <a:noFill/>
          <a:ln/>
        </p:spPr>
        <p:txBody>
          <a:bodyPr wrap="square" lIns="0" tIns="0" rIns="0" bIns="0" rtlCol="0" anchor="t"/>
          <a:lstStyle/>
          <a:p>
            <a:pPr indent="0" marL="0">
              <a:buNone/>
            </a:pPr>
            <a:r>
              <a:rPr lang="en-US" sz="1100" b="1" dirty="0">
                <a:solidFill>
                  <a:srgbClr val="B3261E"/>
                </a:solidFill>
                <a:latin typeface="Calibri" pitchFamily="34" charset="0"/>
                <a:ea typeface="Calibri" pitchFamily="34" charset="-122"/>
                <a:cs typeface="Calibri" pitchFamily="34" charset="-120"/>
              </a:rPr>
              <a:t>HẠN CHẾ — NÊU RÕ KHI ĐỌC SỐ</a:t>
            </a:r>
            <a:endParaRPr lang="en-US" sz="1100" dirty="0"/>
          </a:p>
        </p:txBody>
      </p:sp>
      <p:sp>
        <p:nvSpPr>
          <p:cNvPr id="5" name="Shape 3"/>
          <p:cNvSpPr/>
          <p:nvPr/>
        </p:nvSpPr>
        <p:spPr>
          <a:xfrm>
            <a:off x="548640" y="1737360"/>
            <a:ext cx="5303520" cy="1005840"/>
          </a:xfrm>
          <a:prstGeom prst="roundRect">
            <a:avLst>
              <a:gd name="adj" fmla="val 5455"/>
            </a:avLst>
          </a:prstGeom>
          <a:solidFill>
            <a:srgbClr val="FBE9E7"/>
          </a:solidFill>
          <a:ln w="12700">
            <a:solidFill>
              <a:srgbClr val="FBE9E7"/>
            </a:solidFill>
            <a:prstDash val="solid"/>
          </a:ln>
        </p:spPr>
      </p:sp>
      <p:sp>
        <p:nvSpPr>
          <p:cNvPr id="6" name="Text 4"/>
          <p:cNvSpPr txBox="1"/>
          <p:nvPr/>
        </p:nvSpPr>
        <p:spPr>
          <a:xfrm>
            <a:off x="777240" y="1847088"/>
            <a:ext cx="493776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Mẫu nhỏ, lệch loại</a:t>
            </a:r>
            <a:endParaRPr lang="en-US" sz="1350" dirty="0"/>
          </a:p>
        </p:txBody>
      </p:sp>
      <p:sp>
        <p:nvSpPr>
          <p:cNvPr id="7" name="Text 5"/>
          <p:cNvSpPr txBox="1"/>
          <p:nvPr/>
        </p:nvSpPr>
        <p:spPr>
          <a:xfrm>
            <a:off x="777240" y="2194560"/>
            <a:ext cx="4937760" cy="50292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20 câu, temporal chỉ 1 câu — chưa đủ để kết luận theo loại.</a:t>
            </a:r>
            <a:endParaRPr lang="en-US" sz="1150" dirty="0"/>
          </a:p>
        </p:txBody>
      </p:sp>
      <p:sp>
        <p:nvSpPr>
          <p:cNvPr id="8" name="Shape 6"/>
          <p:cNvSpPr/>
          <p:nvPr/>
        </p:nvSpPr>
        <p:spPr>
          <a:xfrm>
            <a:off x="548640" y="2926080"/>
            <a:ext cx="5303520" cy="1005840"/>
          </a:xfrm>
          <a:prstGeom prst="roundRect">
            <a:avLst>
              <a:gd name="adj" fmla="val 5455"/>
            </a:avLst>
          </a:prstGeom>
          <a:solidFill>
            <a:srgbClr val="FBE9E7"/>
          </a:solidFill>
          <a:ln w="12700">
            <a:solidFill>
              <a:srgbClr val="FBE9E7"/>
            </a:solidFill>
            <a:prstDash val="solid"/>
          </a:ln>
        </p:spPr>
      </p:sp>
      <p:sp>
        <p:nvSpPr>
          <p:cNvPr id="9" name="Text 7"/>
          <p:cNvSpPr txBox="1"/>
          <p:nvPr/>
        </p:nvSpPr>
        <p:spPr>
          <a:xfrm>
            <a:off x="777240" y="3035808"/>
            <a:ext cx="493776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Bộ lọc biết trước câu hỏi</a:t>
            </a:r>
            <a:endParaRPr lang="en-US" sz="1350" dirty="0"/>
          </a:p>
        </p:txBody>
      </p:sp>
      <p:sp>
        <p:nvSpPr>
          <p:cNvPr id="10" name="Text 8"/>
          <p:cNvSpPr txBox="1"/>
          <p:nvPr/>
        </p:nvSpPr>
        <p:spPr>
          <a:xfrm>
            <a:off x="777240" y="3383280"/>
            <a:ext cx="4937760" cy="50292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Giống APEX-MEM trên LongMemEval, nhưng trợ lý thật không biết trước người dùng sẽ hỏi gì.</a:t>
            </a:r>
            <a:endParaRPr lang="en-US" sz="1150" dirty="0"/>
          </a:p>
        </p:txBody>
      </p:sp>
      <p:sp>
        <p:nvSpPr>
          <p:cNvPr id="11" name="Shape 9"/>
          <p:cNvSpPr/>
          <p:nvPr/>
        </p:nvSpPr>
        <p:spPr>
          <a:xfrm>
            <a:off x="548640" y="4114800"/>
            <a:ext cx="5303520" cy="1005840"/>
          </a:xfrm>
          <a:prstGeom prst="roundRect">
            <a:avLst>
              <a:gd name="adj" fmla="val 5455"/>
            </a:avLst>
          </a:prstGeom>
          <a:solidFill>
            <a:srgbClr val="FBE9E7"/>
          </a:solidFill>
          <a:ln w="12700">
            <a:solidFill>
              <a:srgbClr val="FBE9E7"/>
            </a:solidFill>
            <a:prstDash val="solid"/>
          </a:ln>
        </p:spPr>
      </p:sp>
      <p:sp>
        <p:nvSpPr>
          <p:cNvPr id="12" name="Text 10"/>
          <p:cNvSpPr txBox="1"/>
          <p:nvPr/>
        </p:nvSpPr>
        <p:spPr>
          <a:xfrm>
            <a:off x="777240" y="4224528"/>
            <a:ext cx="493776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Judge trùng mô hình trả lời</a:t>
            </a:r>
            <a:endParaRPr lang="en-US" sz="1350" dirty="0"/>
          </a:p>
        </p:txBody>
      </p:sp>
      <p:sp>
        <p:nvSpPr>
          <p:cNvPr id="13" name="Text 11"/>
          <p:cNvSpPr txBox="1"/>
          <p:nvPr/>
        </p:nvSpPr>
        <p:spPr>
          <a:xfrm>
            <a:off x="777240" y="4572000"/>
            <a:ext cx="4937760" cy="502920"/>
          </a:xfrm>
          <a:prstGeom prst="rect">
            <a:avLst/>
          </a:prstGeom>
          <a:noFill/>
          <a:ln/>
        </p:spPr>
        <p:txBody>
          <a:bodyPr wrap="square" lIns="0" tIns="0" rIns="0" bIns="0" rtlCol="0" anchor="t"/>
          <a:lstStyle/>
          <a:p>
            <a:pPr indent="0" marL="0">
              <a:buNone/>
            </a:pPr>
            <a:r>
              <a:rPr lang="en-US" sz="1150" dirty="0">
                <a:solidFill>
                  <a:srgbClr val="1E2A32"/>
                </a:solidFill>
                <a:latin typeface="Calibri" pitchFamily="34" charset="0"/>
                <a:ea typeface="Calibri" pitchFamily="34" charset="-122"/>
                <a:cs typeface="Calibri" pitchFamily="34" charset="-120"/>
              </a:rPr>
              <a:t>Luna tự chấm bài của mình; mới đối chiếu bằng mô hình khác, chưa chấm tay.</a:t>
            </a:r>
            <a:endParaRPr lang="en-US" sz="1150" dirty="0"/>
          </a:p>
        </p:txBody>
      </p:sp>
      <p:sp>
        <p:nvSpPr>
          <p:cNvPr id="14" name="Text 12"/>
          <p:cNvSpPr txBox="1"/>
          <p:nvPr/>
        </p:nvSpPr>
        <p:spPr>
          <a:xfrm>
            <a:off x="6309360" y="1371600"/>
            <a:ext cx="5303520" cy="274320"/>
          </a:xfrm>
          <a:prstGeom prst="rect">
            <a:avLst/>
          </a:prstGeom>
          <a:noFill/>
          <a:ln/>
        </p:spPr>
        <p:txBody>
          <a:bodyPr wrap="square" lIns="0" tIns="0" rIns="0" bIns="0" rtlCol="0" anchor="t"/>
          <a:lstStyle/>
          <a:p>
            <a:pPr indent="0" marL="0">
              <a:buNone/>
            </a:pPr>
            <a:r>
              <a:rPr lang="en-US" sz="1100" b="1" dirty="0">
                <a:solidFill>
                  <a:srgbClr val="0F5C6B"/>
                </a:solidFill>
                <a:latin typeface="Calibri" pitchFamily="34" charset="0"/>
                <a:ea typeface="Calibri" pitchFamily="34" charset="-122"/>
                <a:cs typeface="Calibri" pitchFamily="34" charset="-120"/>
              </a:rPr>
              <a:t>KẾ HOẠCH TUẦN TỚI</a:t>
            </a:r>
            <a:endParaRPr lang="en-US" sz="1100" dirty="0"/>
          </a:p>
        </p:txBody>
      </p:sp>
      <p:sp>
        <p:nvSpPr>
          <p:cNvPr id="15" name="Shape 13"/>
          <p:cNvSpPr/>
          <p:nvPr/>
        </p:nvSpPr>
        <p:spPr>
          <a:xfrm>
            <a:off x="6309360" y="1810512"/>
            <a:ext cx="384048" cy="384048"/>
          </a:xfrm>
          <a:prstGeom prst="ellipse">
            <a:avLst/>
          </a:prstGeom>
          <a:solidFill>
            <a:srgbClr val="0F5C6B"/>
          </a:solidFill>
          <a:ln w="12700">
            <a:solidFill>
              <a:srgbClr val="0F5C6B"/>
            </a:solidFill>
            <a:prstDash val="solid"/>
          </a:ln>
        </p:spPr>
      </p:sp>
      <p:sp>
        <p:nvSpPr>
          <p:cNvPr id="16" name="Text 14"/>
          <p:cNvSpPr txBox="1"/>
          <p:nvPr/>
        </p:nvSpPr>
        <p:spPr>
          <a:xfrm>
            <a:off x="6309360" y="1810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7" name="Text 15"/>
          <p:cNvSpPr txBox="1"/>
          <p:nvPr/>
        </p:nvSpPr>
        <p:spPr>
          <a:xfrm>
            <a:off x="6812280" y="1737360"/>
            <a:ext cx="480060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Sửa prompt agent (rẻ, không dựng lại đồ thị)</a:t>
            </a:r>
            <a:endParaRPr lang="en-US" sz="1350" dirty="0"/>
          </a:p>
        </p:txBody>
      </p:sp>
      <p:sp>
        <p:nvSpPr>
          <p:cNvPr id="18" name="Text 16"/>
          <p:cNvSpPr txBox="1"/>
          <p:nvPr/>
        </p:nvSpPr>
        <p:spPr>
          <a:xfrm>
            <a:off x="6812280" y="2084832"/>
            <a:ext cx="4800600" cy="54864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Phân biệt fact của User / Assistant cho câu _abs; Python tính sẵn mốc “1 tuần / 1 tháng / 2 tháng trước” đưa vào prompt.</a:t>
            </a:r>
            <a:endParaRPr lang="en-US" sz="1150" dirty="0"/>
          </a:p>
        </p:txBody>
      </p:sp>
      <p:sp>
        <p:nvSpPr>
          <p:cNvPr id="19" name="Shape 17"/>
          <p:cNvSpPr/>
          <p:nvPr/>
        </p:nvSpPr>
        <p:spPr>
          <a:xfrm>
            <a:off x="6309360" y="2743200"/>
            <a:ext cx="384048" cy="384048"/>
          </a:xfrm>
          <a:prstGeom prst="ellipse">
            <a:avLst/>
          </a:prstGeom>
          <a:solidFill>
            <a:srgbClr val="0F5C6B"/>
          </a:solidFill>
          <a:ln w="12700">
            <a:solidFill>
              <a:srgbClr val="0F5C6B"/>
            </a:solidFill>
            <a:prstDash val="solid"/>
          </a:ln>
        </p:spPr>
      </p:sp>
      <p:sp>
        <p:nvSpPr>
          <p:cNvPr id="20" name="Text 18"/>
          <p:cNvSpPr txBox="1"/>
          <p:nvPr/>
        </p:nvSpPr>
        <p:spPr>
          <a:xfrm>
            <a:off x="6309360" y="2743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1" name="Text 19"/>
          <p:cNvSpPr txBox="1"/>
          <p:nvPr/>
        </p:nvSpPr>
        <p:spPr>
          <a:xfrm>
            <a:off x="6812280" y="2670048"/>
            <a:ext cx="480060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Chạy thêm 10 câu temporal + mở rộng dev</a:t>
            </a:r>
            <a:endParaRPr lang="en-US" sz="1350" dirty="0"/>
          </a:p>
        </p:txBody>
      </p:sp>
      <p:sp>
        <p:nvSpPr>
          <p:cNvPr id="22" name="Text 20"/>
          <p:cNvSpPr txBox="1"/>
          <p:nvPr/>
        </p:nvSpPr>
        <p:spPr>
          <a:xfrm>
            <a:off x="6812280" y="3017520"/>
            <a:ext cx="4800600" cy="54864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Đo tác dụng của bản sửa trên câu KHÁC nhóm câu đã soi lỗi, tránh tối ưu theo 20 câu.</a:t>
            </a:r>
            <a:endParaRPr lang="en-US" sz="1150" dirty="0"/>
          </a:p>
        </p:txBody>
      </p:sp>
      <p:sp>
        <p:nvSpPr>
          <p:cNvPr id="23" name="Shape 21"/>
          <p:cNvSpPr/>
          <p:nvPr/>
        </p:nvSpPr>
        <p:spPr>
          <a:xfrm>
            <a:off x="6309360" y="3675888"/>
            <a:ext cx="384048" cy="384048"/>
          </a:xfrm>
          <a:prstGeom prst="ellipse">
            <a:avLst/>
          </a:prstGeom>
          <a:solidFill>
            <a:srgbClr val="0F5C6B"/>
          </a:solidFill>
          <a:ln w="12700">
            <a:solidFill>
              <a:srgbClr val="0F5C6B"/>
            </a:solidFill>
            <a:prstDash val="solid"/>
          </a:ln>
        </p:spPr>
      </p:sp>
      <p:sp>
        <p:nvSpPr>
          <p:cNvPr id="24" name="Text 22"/>
          <p:cNvSpPr txBox="1"/>
          <p:nvPr/>
        </p:nvSpPr>
        <p:spPr>
          <a:xfrm>
            <a:off x="6309360" y="3675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txBox="1"/>
          <p:nvPr/>
        </p:nvSpPr>
        <p:spPr>
          <a:xfrm>
            <a:off x="6812280" y="3602736"/>
            <a:ext cx="480060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Thí nghiệm không lọc phiên</a:t>
            </a:r>
            <a:endParaRPr lang="en-US" sz="1350" dirty="0"/>
          </a:p>
        </p:txBody>
      </p:sp>
      <p:sp>
        <p:nvSpPr>
          <p:cNvPr id="26" name="Text 24"/>
          <p:cNvSpPr txBox="1"/>
          <p:nvPr/>
        </p:nvSpPr>
        <p:spPr>
          <a:xfrm>
            <a:off x="6812280" y="3950208"/>
            <a:ext cx="4800600" cy="54864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Dựng từ toàn bộ ~48 phiên trên vài câu: bộ lọc có đang “gánh” điểm số không.</a:t>
            </a:r>
            <a:endParaRPr lang="en-US" sz="1150" dirty="0"/>
          </a:p>
        </p:txBody>
      </p:sp>
      <p:sp>
        <p:nvSpPr>
          <p:cNvPr id="27" name="Shape 25"/>
          <p:cNvSpPr/>
          <p:nvPr/>
        </p:nvSpPr>
        <p:spPr>
          <a:xfrm>
            <a:off x="6309360" y="4608576"/>
            <a:ext cx="384048" cy="384048"/>
          </a:xfrm>
          <a:prstGeom prst="ellipse">
            <a:avLst/>
          </a:prstGeom>
          <a:solidFill>
            <a:srgbClr val="0F5C6B"/>
          </a:solidFill>
          <a:ln w="12700">
            <a:solidFill>
              <a:srgbClr val="0F5C6B"/>
            </a:solidFill>
            <a:prstDash val="solid"/>
          </a:ln>
        </p:spPr>
      </p:sp>
      <p:sp>
        <p:nvSpPr>
          <p:cNvPr id="28" name="Text 26"/>
          <p:cNvSpPr txBox="1"/>
          <p:nvPr/>
        </p:nvSpPr>
        <p:spPr>
          <a:xfrm>
            <a:off x="6309360" y="46085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9" name="Text 27"/>
          <p:cNvSpPr txBox="1"/>
          <p:nvPr/>
        </p:nvSpPr>
        <p:spPr>
          <a:xfrm>
            <a:off x="6812280" y="4535424"/>
            <a:ext cx="4800600" cy="320040"/>
          </a:xfrm>
          <a:prstGeom prst="rect">
            <a:avLst/>
          </a:prstGeom>
          <a:noFill/>
          <a:ln/>
        </p:spPr>
        <p:txBody>
          <a:bodyPr wrap="square" lIns="0" tIns="0" rIns="0" bIns="0" rtlCol="0" anchor="t"/>
          <a:lstStyle/>
          <a:p>
            <a:pPr indent="0" marL="0">
              <a:buNone/>
            </a:pPr>
            <a:r>
              <a:rPr lang="en-US" sz="1350" b="1" dirty="0">
                <a:solidFill>
                  <a:srgbClr val="12232E"/>
                </a:solidFill>
                <a:latin typeface="Calibri" pitchFamily="34" charset="0"/>
                <a:ea typeface="Calibri" pitchFamily="34" charset="-122"/>
                <a:cs typeface="Calibri" pitchFamily="34" charset="-120"/>
              </a:rPr>
              <a:t>Chấm tay 20 câu + sửa bộ phân loại lỗi</a:t>
            </a:r>
            <a:endParaRPr lang="en-US" sz="1350" dirty="0"/>
          </a:p>
        </p:txBody>
      </p:sp>
      <p:sp>
        <p:nvSpPr>
          <p:cNvPr id="30" name="Text 28"/>
          <p:cNvSpPr txBox="1"/>
          <p:nvPr/>
        </p:nvSpPr>
        <p:spPr>
          <a:xfrm>
            <a:off x="6812280" y="4882896"/>
            <a:ext cx="4800600" cy="54864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Dùng nhãn has_answer theo lượt để phát hiện fact then chốt bị trích thiếu.</a:t>
            </a:r>
            <a:endParaRPr lang="en-US" sz="1150" dirty="0"/>
          </a:p>
        </p:txBody>
      </p:sp>
      <p:sp>
        <p:nvSpPr>
          <p:cNvPr id="31" name="Shape 29"/>
          <p:cNvSpPr/>
          <p:nvPr/>
        </p:nvSpPr>
        <p:spPr>
          <a:xfrm>
            <a:off x="548640" y="5623560"/>
            <a:ext cx="11064240" cy="658368"/>
          </a:xfrm>
          <a:prstGeom prst="roundRect">
            <a:avLst>
              <a:gd name="adj" fmla="val 8333"/>
            </a:avLst>
          </a:prstGeom>
          <a:solidFill>
            <a:srgbClr val="12232E"/>
          </a:solidFill>
          <a:ln w="12700">
            <a:solidFill>
              <a:srgbClr val="12232E"/>
            </a:solidFill>
            <a:prstDash val="solid"/>
          </a:ln>
        </p:spPr>
      </p:sp>
      <p:sp>
        <p:nvSpPr>
          <p:cNvPr id="32" name="Text 30"/>
          <p:cNvSpPr txBox="1"/>
          <p:nvPr/>
        </p:nvSpPr>
        <p:spPr>
          <a:xfrm>
            <a:off x="777240" y="5650992"/>
            <a:ext cx="10607040" cy="60350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Câu hỏi xin ý kiến anh: nên ưu tiên mở rộng số câu (độ tin cậy của số liệu) hay thí nghiệm không lọc phiên (tính trung thực của bối cảnh bộ nhớ dài hạn)?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tuần 4 — APEX-MEM</dc:title>
  <dc:subject>PptxGenJS Presentation</dc:subject>
  <dc:creator>PptxGenJS</dc:creator>
  <cp:lastModifiedBy>PptxGenJS</cp:lastModifiedBy>
  <cp:revision>1</cp:revision>
  <dcterms:created xsi:type="dcterms:W3CDTF">2026-09-28T18:48:11Z</dcterms:created>
  <dcterms:modified xsi:type="dcterms:W3CDTF">2026-09-28T18:48:11Z</dcterms:modified>
</cp:coreProperties>
</file>