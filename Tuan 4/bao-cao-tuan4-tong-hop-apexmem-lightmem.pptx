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2A32"/>
                </a:solidFill>
                <a:latin typeface="Arial"/>
              </a:defRPr>
            </a:pPr>
            <a:r>
              <a:rPr sz="1200" b="0" i="0" u="none" strike="noStrike">
                <a:solidFill>
                  <a:srgbClr val="1E2A32"/>
                </a:solidFill>
                <a:latin typeface="Arial"/>
              </a:rPr>
              <a:t>Accuracy theo loại câu hỏi (%)</a:t>
            </a:r>
          </a:p>
        </c:rich>
      </c:tx>
      <c:layout/>
      <c:overlay val="0"/>
    </c:title>
    <c:autoTitleDeleted val="0"/>
    <c:plotArea>
      <c:layout/>
      <c:barChart>
        <c:barDir val="bar"/>
        <c:grouping val="clustered"/>
        <c:varyColors val="0"/>
        <c:ser>
          <c:idx val="0"/>
          <c:order val="0"/>
          <c:tx>
            <c:strRef>
              <c:f>Sheet1!$B$1</c:f>
              <c:strCache>
                <c:ptCount val="1"/>
                <c:pt idx="0">
                  <c:v>full — APEX-MEM</c:v>
                </c:pt>
              </c:strCache>
            </c:strRef>
          </c:tx>
          <c:spPr>
            <a:solidFill>
              <a:srgbClr val="0F5C6B"/>
            </a:solidFill>
            <a:effectLst/>
          </c:spPr>
          <c:invertIfNegative val="0"/>
          <c:dLbls>
            <c:numFmt formatCode="0.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single-session-user (3)</c:v>
                  </c:pt>
                  <c:pt idx="1">
                    <c:v>single-session-assistant (3)</c:v>
                  </c:pt>
                  <c:pt idx="2">
                    <c:v>single-session-preference (2)</c:v>
                  </c:pt>
                  <c:pt idx="3">
                    <c:v>multi-session (7)</c:v>
                  </c:pt>
                  <c:pt idx="4">
                    <c:v>temporal-reasoning (1)</c:v>
                  </c:pt>
                  <c:pt idx="5">
                    <c:v>knowledge-update (4)</c:v>
                  </c:pt>
                </c:lvl>
              </c:multiLvlStrCache>
            </c:multiLvlStrRef>
          </c:cat>
          <c:val>
            <c:numRef>
              <c:f>Sheet1!$B$2:$B$7</c:f>
              <c:numCache>
                <c:formatCode>General</c:formatCode>
                <c:ptCount val="6"/>
                <c:pt idx="0">
                  <c:v>100</c:v>
                </c:pt>
                <c:pt idx="1">
                  <c:v>100</c:v>
                </c:pt>
                <c:pt idx="2">
                  <c:v>100</c:v>
                </c:pt>
                <c:pt idx="3">
                  <c:v>85.7</c:v>
                </c:pt>
                <c:pt idx="4">
                  <c:v>0</c:v>
                </c:pt>
                <c:pt idx="5">
                  <c:v>100</c:v>
                </c:pt>
              </c:numCache>
            </c:numRef>
          </c:val>
        </c:ser>
        <c:ser>
          <c:idx val="1"/>
          <c:order val="1"/>
          <c:tx>
            <c:strRef>
              <c:f>Sheet1!$C$1</c:f>
              <c:strCache>
                <c:ptCount val="1"/>
                <c:pt idx="0">
                  <c:v>simple_search — baseline</c:v>
                </c:pt>
              </c:strCache>
            </c:strRef>
          </c:tx>
          <c:spPr>
            <a:solidFill>
              <a:srgbClr val="D98C1F"/>
            </a:solidFill>
            <a:effectLst/>
          </c:spPr>
          <c:invertIfNegative val="0"/>
          <c:dLbls>
            <c:numFmt formatCode="0.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single-session-user (3)</c:v>
                  </c:pt>
                  <c:pt idx="1">
                    <c:v>single-session-assistant (3)</c:v>
                  </c:pt>
                  <c:pt idx="2">
                    <c:v>single-session-preference (2)</c:v>
                  </c:pt>
                  <c:pt idx="3">
                    <c:v>multi-session (7)</c:v>
                  </c:pt>
                  <c:pt idx="4">
                    <c:v>temporal-reasoning (1)</c:v>
                  </c:pt>
                  <c:pt idx="5">
                    <c:v>knowledge-update (4)</c:v>
                  </c:pt>
                </c:lvl>
              </c:multiLvlStrCache>
            </c:multiLvlStrRef>
          </c:cat>
          <c:val>
            <c:numRef>
              <c:f>Sheet1!$C$2:$C$7</c:f>
              <c:numCache>
                <c:formatCode>General</c:formatCode>
                <c:ptCount val="6"/>
                <c:pt idx="0">
                  <c:v>100</c:v>
                </c:pt>
                <c:pt idx="1">
                  <c:v>100</c:v>
                </c:pt>
                <c:pt idx="2">
                  <c:v>50</c:v>
                </c:pt>
                <c:pt idx="3">
                  <c:v>85.7</c:v>
                </c:pt>
                <c:pt idx="4">
                  <c:v>0</c:v>
                </c:pt>
                <c:pt idx="5">
                  <c:v>75</c:v>
                </c:pt>
              </c:numCache>
            </c:numRef>
          </c:val>
        </c:ser>
        <c:dLbls>
          <c:numFmt formatCode="0.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1E2A32"/>
                </a:solidFill>
                <a:latin typeface="Arial"/>
              </a:defRPr>
            </a:pPr>
            <a:endParaRPr lang="en-US"/>
          </a:p>
        </c:txPr>
        <c:crossAx val="2094734552"/>
        <c:crosses val="autoZero"/>
        <c:auto val="1"/>
        <c:lblAlgn val="ctr"/>
        <c:noMultiLvlLbl val="1"/>
      </c:catAx>
      <c:valAx>
        <c:axId val="2094734552"/>
        <c:scaling>
          <c:orientation val="minMax"/>
          <c:max val="11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2A32"/>
                </a:solidFill>
                <a:latin typeface="Arial"/>
              </a:defRPr>
            </a:pPr>
            <a:r>
              <a:rPr sz="1200" b="0" i="0" u="none" strike="noStrike">
                <a:solidFill>
                  <a:srgbClr val="1E2A32"/>
                </a:solidFill>
                <a:latin typeface="Arial"/>
              </a:rPr>
              <a:t>Công cụ agent đã gọi — 58 lần / 20 câu</a:t>
            </a:r>
          </a:p>
        </c:rich>
      </c:tx>
      <c:layout/>
      <c:overlay val="0"/>
    </c:title>
    <c:autoTitleDeleted val="0"/>
    <c:plotArea>
      <c:layout/>
      <c:barChart>
        <c:barDir val="bar"/>
        <c:grouping val="clustered"/>
        <c:varyColors val="0"/>
        <c:ser>
          <c:idx val="0"/>
          <c:order val="0"/>
          <c:tx>
            <c:strRef>
              <c:f>Sheet1!$B$1</c:f>
              <c:strCache>
                <c:ptCount val="1"/>
                <c:pt idx="0">
                  <c:v>Số lần gọi</c:v>
                </c:pt>
              </c:strCache>
            </c:strRef>
          </c:tx>
          <c:spPr>
            <a:solidFill>
              <a:srgbClr val="0F5C6B"/>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Search</c:v>
                  </c:pt>
                  <c:pt idx="1">
                    <c:v>GraphSQL</c:v>
                  </c:pt>
                  <c:pt idx="2">
                    <c:v>SchemaViewer</c:v>
                  </c:pt>
                  <c:pt idx="3">
                    <c:v>EntityLookup</c:v>
                  </c:pt>
                  <c:pt idx="4">
                    <c:v>PropertySearch</c:v>
                  </c:pt>
                </c:lvl>
              </c:multiLvlStrCache>
            </c:multiLvlStrRef>
          </c:cat>
          <c:val>
            <c:numRef>
              <c:f>Sheet1!$B$2:$B$6</c:f>
              <c:numCache>
                <c:formatCode>General</c:formatCode>
                <c:ptCount val="5"/>
                <c:pt idx="0">
                  <c:v>23</c:v>
                </c:pt>
                <c:pt idx="1">
                  <c:v>13</c:v>
                </c:pt>
                <c:pt idx="2">
                  <c:v>11</c:v>
                </c:pt>
                <c:pt idx="3">
                  <c:v>10</c:v>
                </c:pt>
                <c:pt idx="4">
                  <c:v>1</c:v>
                </c:pt>
              </c:numCache>
            </c:numRef>
          </c:val>
        </c:ser>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E2A32"/>
                </a:solidFill>
                <a:latin typeface="Arial"/>
              </a:defRPr>
            </a:pPr>
            <a:endParaRPr lang="en-US"/>
          </a:p>
        </c:txPr>
        <c:crossAx val="2094734552"/>
        <c:crosses val="autoZero"/>
        <c:auto val="1"/>
        <c:lblAlgn val="ctr"/>
        <c:noMultiLvlLbl val="1"/>
      </c:catAx>
      <c:valAx>
        <c:axId val="2094734552"/>
        <c:scaling>
          <c:orientation val="minMax"/>
          <c:max val="27"/>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APEX-MEM</c:v>
                </c:pt>
              </c:strCache>
            </c:strRef>
          </c:tx>
          <c:spPr>
            <a:solidFill>
              <a:srgbClr val="1F6F8B"/>
            </a:solidFill>
            <a:effectLst/>
          </c:spPr>
          <c:invertIfNegative val="0"/>
          <c:dLbls>
            <c:numFmt formatCode="0&quot;%&quot;" sourceLinked="0"/>
            <c:txPr>
              <a:bodyPr/>
              <a:lstStyle/>
              <a:p>
                <a:pPr>
                  <a:defRPr b="0" i="0" strike="noStrike" sz="1200" u="none">
                    <a:solidFill>
                      <a:srgbClr val="10243E"/>
                    </a:solidFill>
                    <a:latin typeface="Arial"/>
                  </a:defRPr>
                </a:pPr>
              </a:p>
            </c:txPr>
            <c:showLegendKey val="0"/>
            <c:showVal val="1"/>
            <c:showCatName val="0"/>
            <c:showSerName val="0"/>
            <c:showPercent val="0"/>
            <c:showBubbleSize val="0"/>
            <c:showLeaderLines val="0"/>
          </c:dLbls>
          <c:cat>
            <c:multiLvlStrRef>
              <c:f>Sheet1!$A$2:$A$7</c:f>
              <c:multiLvlStrCache>
                <c:ptCount val="6"/>
                <c:lvl>
                  <c:pt idx="0">
                    <c:v>Đơn phiên · người dùng (n=21)</c:v>
                  </c:pt>
                  <c:pt idx="1">
                    <c:v>Đơn phiên · trợ lý (n=17)</c:v>
                  </c:pt>
                  <c:pt idx="2">
                    <c:v>Đơn phiên · sở thích (n=9)</c:v>
                  </c:pt>
                  <c:pt idx="3">
                    <c:v>Đa phiên (n=40)</c:v>
                  </c:pt>
                  <c:pt idx="4">
                    <c:v>Suy luận thời gian (n=40)</c:v>
                  </c:pt>
                  <c:pt idx="5">
                    <c:v>Cập nhật kiến thức (n=23)</c:v>
                  </c:pt>
                </c:lvl>
              </c:multiLvlStrCache>
            </c:multiLvlStrRef>
          </c:cat>
          <c:val>
            <c:numRef>
              <c:f>Sheet1!$B$2:$B$7</c:f>
              <c:numCache>
                <c:formatCode>General</c:formatCode>
                <c:ptCount val="6"/>
                <c:pt idx="0">
                  <c:v>95.2</c:v>
                </c:pt>
                <c:pt idx="1">
                  <c:v>82.4</c:v>
                </c:pt>
                <c:pt idx="2">
                  <c:v>77.8</c:v>
                </c:pt>
                <c:pt idx="3">
                  <c:v>80</c:v>
                </c:pt>
                <c:pt idx="4">
                  <c:v>85</c:v>
                </c:pt>
                <c:pt idx="5">
                  <c:v>87</c:v>
                </c:pt>
              </c:numCache>
            </c:numRef>
          </c:val>
        </c:ser>
        <c:ser>
          <c:idx val="1"/>
          <c:order val="1"/>
          <c:tx>
            <c:strRef>
              <c:f>Sheet1!$C$1</c:f>
              <c:strCache>
                <c:ptCount val="1"/>
                <c:pt idx="0">
                  <c:v>LightMem</c:v>
                </c:pt>
              </c:strCache>
            </c:strRef>
          </c:tx>
          <c:spPr>
            <a:solidFill>
              <a:srgbClr val="F2A541"/>
            </a:solidFill>
            <a:effectLst/>
          </c:spPr>
          <c:invertIfNegative val="0"/>
          <c:dLbls>
            <c:numFmt formatCode="0&quot;%&quot;" sourceLinked="0"/>
            <c:txPr>
              <a:bodyPr/>
              <a:lstStyle/>
              <a:p>
                <a:pPr>
                  <a:defRPr b="0" i="0" strike="noStrike" sz="1200" u="none">
                    <a:solidFill>
                      <a:srgbClr val="10243E"/>
                    </a:solidFill>
                    <a:latin typeface="Arial"/>
                  </a:defRPr>
                </a:pPr>
              </a:p>
            </c:txPr>
            <c:showLegendKey val="0"/>
            <c:showVal val="1"/>
            <c:showCatName val="0"/>
            <c:showSerName val="0"/>
            <c:showPercent val="0"/>
            <c:showBubbleSize val="0"/>
            <c:showLeaderLines val="0"/>
          </c:dLbls>
          <c:cat>
            <c:multiLvlStrRef>
              <c:f>Sheet1!$A$2:$A$7</c:f>
              <c:multiLvlStrCache>
                <c:ptCount val="6"/>
                <c:lvl>
                  <c:pt idx="0">
                    <c:v>Đơn phiên · người dùng (n=21)</c:v>
                  </c:pt>
                  <c:pt idx="1">
                    <c:v>Đơn phiên · trợ lý (n=17)</c:v>
                  </c:pt>
                  <c:pt idx="2">
                    <c:v>Đơn phiên · sở thích (n=9)</c:v>
                  </c:pt>
                  <c:pt idx="3">
                    <c:v>Đa phiên (n=40)</c:v>
                  </c:pt>
                  <c:pt idx="4">
                    <c:v>Suy luận thời gian (n=40)</c:v>
                  </c:pt>
                  <c:pt idx="5">
                    <c:v>Cập nhật kiến thức (n=23)</c:v>
                  </c:pt>
                </c:lvl>
              </c:multiLvlStrCache>
            </c:multiLvlStrRef>
          </c:cat>
          <c:val>
            <c:numRef>
              <c:f>Sheet1!$C$2:$C$7</c:f>
              <c:numCache>
                <c:formatCode>General</c:formatCode>
                <c:ptCount val="6"/>
                <c:pt idx="0">
                  <c:v>100</c:v>
                </c:pt>
                <c:pt idx="1">
                  <c:v>41.2</c:v>
                </c:pt>
                <c:pt idx="2">
                  <c:v>77.8</c:v>
                </c:pt>
                <c:pt idx="3">
                  <c:v>82.5</c:v>
                </c:pt>
                <c:pt idx="4">
                  <c:v>85</c:v>
                </c:pt>
                <c:pt idx="5">
                  <c:v>87</c:v>
                </c:pt>
              </c:numCache>
            </c:numRef>
          </c:val>
        </c:ser>
        <c:dLbls>
          <c:numFmt formatCode="0&quot;%&quot;" sourceLinked="0"/>
          <c:txPr>
            <a:bodyPr/>
            <a:lstStyle/>
            <a:p>
              <a:pPr>
                <a:defRPr b="0" i="0" strike="noStrike" sz="1200" u="none">
                  <a:solidFill>
                    <a:srgbClr val="10243E"/>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33" b="0" i="0" u="none" strike="noStrike">
                <a:solidFill>
                  <a:srgbClr val="1B2B3A"/>
                </a:solidFill>
                <a:latin typeface="Arial"/>
              </a:defRPr>
            </a:pPr>
            <a:endParaRPr lang="en-US"/>
          </a:p>
        </c:txPr>
        <c:crossAx val="2094734552"/>
        <c:crosses val="autoZero"/>
        <c:auto val="1"/>
        <c:lblAlgn val="ctr"/>
        <c:noMultiLvlLbl val="1"/>
      </c:catAx>
      <c:valAx>
        <c:axId val="2094734552"/>
        <c:scaling>
          <c:orientation val="minMax"/>
          <c:max val="11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467">
              <a:solidFill>
                <a:srgbClr val="5B6B7A"/>
              </a:solidFil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Accuracy</c:v>
                </c:pt>
              </c:strCache>
            </c:strRef>
          </c:tx>
          <c:spPr>
            <a:solidFill>
              <a:srgbClr val="1F6F8B"/>
            </a:solidFill>
            <a:effectLst/>
          </c:spPr>
          <c:invertIfNegative val="0"/>
          <c:dLbls>
            <c:numFmt formatCode="0.0&quot;%&quot;" sourceLinked="0"/>
            <c:txPr>
              <a:bodyPr/>
              <a:lstStyle/>
              <a:p>
                <a:pPr>
                  <a:defRPr b="0" i="0" strike="noStrike" sz="1467" u="none">
                    <a:solidFill>
                      <a:srgbClr val="10243E"/>
                    </a:solidFill>
                    <a:latin typeface="Arial"/>
                  </a:defRPr>
                </a:pPr>
              </a:p>
            </c:txPr>
            <c:showLegendKey val="0"/>
            <c:showVal val="1"/>
            <c:showCatName val="0"/>
            <c:showSerName val="0"/>
            <c:showPercent val="0"/>
            <c:showBubbleSize val="0"/>
            <c:showLeaderLines val="0"/>
          </c:dLbls>
          <c:cat>
            <c:multiLvlStrRef>
              <c:f>Sheet1!$A$2:$A$7</c:f>
              <c:multiLvlStrCache>
                <c:ptCount val="6"/>
                <c:lvl>
                  <c:pt idx="0">
                    <c:v>Đơn phiên · người dùng (n=21)</c:v>
                  </c:pt>
                  <c:pt idx="1">
                    <c:v>Đơn phiên · trợ lý (n=17)</c:v>
                  </c:pt>
                  <c:pt idx="2">
                    <c:v>Đơn phiên · sở thích (n=9)</c:v>
                  </c:pt>
                  <c:pt idx="3">
                    <c:v>Đa phiên (n=40)</c:v>
                  </c:pt>
                  <c:pt idx="4">
                    <c:v>Suy luận thời gian (n=40)</c:v>
                  </c:pt>
                  <c:pt idx="5">
                    <c:v>Cập nhật kiến thức (n=23)</c:v>
                  </c:pt>
                </c:lvl>
              </c:multiLvlStrCache>
            </c:multiLvlStrRef>
          </c:cat>
          <c:val>
            <c:numRef>
              <c:f>Sheet1!$B$2:$B$7</c:f>
              <c:numCache>
                <c:formatCode>General</c:formatCode>
                <c:ptCount val="6"/>
                <c:pt idx="0">
                  <c:v>100</c:v>
                </c:pt>
                <c:pt idx="1">
                  <c:v>41.2</c:v>
                </c:pt>
                <c:pt idx="2">
                  <c:v>77.8</c:v>
                </c:pt>
                <c:pt idx="3">
                  <c:v>82.5</c:v>
                </c:pt>
                <c:pt idx="4">
                  <c:v>85</c:v>
                </c:pt>
                <c:pt idx="5">
                  <c:v>87</c:v>
                </c:pt>
              </c:numCache>
            </c:numRef>
          </c:val>
        </c:ser>
        <c:dLbls>
          <c:numFmt formatCode="0.0&quot;%&quot;" sourceLinked="0"/>
          <c:txPr>
            <a:bodyPr/>
            <a:lstStyle/>
            <a:p>
              <a:pPr>
                <a:defRPr b="0" i="0" strike="noStrike" sz="1467" u="none">
                  <a:solidFill>
                    <a:srgbClr val="10243E"/>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B3A"/>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CE3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333" b="0" i="0" u="none" strike="noStrike">
                <a:solidFill>
                  <a:srgbClr val="5B6B7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xin chào anh. Tuần này nhóm đã triển khai xong toàn bộ hệ thống theo APEX-MEM và chạy được những kết quả đầu tiên. Báo cáo gồm ba phần: một là lược đồ bộ nhớ, hai là luồng chạy của hệ trên một câu hỏi thật — từng bước gọi công cụ nào, để làm gì — và ba là các kết quả hiện có.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tắt nhanh bốn việc. Điểm quan trọng: hệ đã chạy thông từ đầu đến cuối, và mọi số liệu hôm nay đều từ lần chạy thật trên dữ liệu LongMemEval-S, không phải số ước lượng. Mô hình nền đổi từ GPT-5.5 sang GPT-5.6 Luna vì giới hạn tài khoản; mọi cấu hình so sánh đều dùng cùng một mô hình nên so sánh nội bộ vẫn hợp lệ.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lược đồ bộ nhớ. Ô màu cam ở giữa là bảng facts — trái tim của hệ. Mỗi fact là một bộ ba chủ thể, thuộc tính, giá trị, kèm khoảng thời gian hiệu lực t_from, t_to. Chủ thể trỏ sang bảng entities — người, nơi chốn, đồ vật; người dùng luôn là thực thể tên User. Tên thuộc tính nằm ở bảng properties, bắt buộc snake_case tiếng Anh. Mỗi fact thuộc một sự kiện ở bảng events, sự kiện có mốc thời gian anchor_datetime đã quy về chuẩn ISO lúc ghi — ví dụ người dùng nói 'last week' trong phiên ngày 27/5 thì mốc là 20/5. Cuối cùng, mỗi fact có ít nhất một dòng evidence trỏ về đúng lượt hội thoại gốc trong bảng turns, nên luôn truy ngược được vì sao hệ nhớ điều đó. Chỉ mục vector và tìm kiếm từ khóa chỉ là dẫn xuất, xóa đi dựng lại được. Nhóm không dùng ChromaDB: mỗi câu chỉ vài nghìn vector nên tìm vét cạn bằng numpy vừa nhanh vừa chính xác tuyệt đối; nếu sau này lên cỡ triệu vector thì thay bằng FAISS mà không phải đụng tới đồ thị. Mũi tên trên sơ đồ là khóa ngoại trỏ tới bảng được tham chiếu, không phải chiều dữ liệu chảy.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này cho thấy lược đồ hoạt động thế nào với câu hỏi cập nhật kiến thức — đúng tình huống N5 lên N4 anh hỏi ở tuần 1. Người dùng nói có 500 follower ở phiên ngày 27/5 — 'tuần trước' nên t_from là 20/5 — rồi phiên sau nói đã lên 600. Hệ không ghi đè: cả hai dòng cùng nằm trong bảng facts. Ba bất biến bên phải: một, append-only được chặn bằng trigger ngay trong SQLite; hai, bản mới nhất được chọn lúc đọc theo thời điểm hiệu lực, bằng SQL tất định chứ không để LLM đoán; ba, agent chỉ có quyền đọc, với ba lớp chặn.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Bây giờ em đi qua luồng chạy trên một câu hỏi thật: tổng tiền người dùng kiếm được khi bán hàng ở các chợ, đáp án 495 đô, bằng chứng rải ở 3 phiên trong 47 phiên. Bước 1 lọc phiên, không gọi LLM: chấm điểm từng phiên bằng embedding, giữ 9 phiên, trong đó có đủ 3 phiên bằng chứng. Bước 2 trích xuất: 9 lời gọi LLM, mỗi phiên một lời gọi, ra 64 sự kiện và 149 fact; mọi kiểm tra kiểu dữ liệu làm bằng Python. Bước 3 giải quyết thực thể: User và Assistant là cố định, trùng tên thì dùng lại, không có ứng viên gần thì tạo mới luôn — chỉ khi mơ hồ mới hỏi LLM, như 'Harvest Festival Market' ở đây. Bước 4 ghi append-only. Tổng cộng 13 lời gọi, khoảng 5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bên trong bước trích xuất với đúng một lượt thật. Câu người dùng nói trong phiên ngày 1/6: vừa bán 15 hũ mứt ở chợ Homemade and Handmade ngày 29/5, thu 225 đô. LLM trả về JSON: một sự kiện market_sale, mốc thời gian là 29/5 chứ không phải ngày của phiên, kèm hai fact là số hũ và doanh thu, đúng kiểu int và float để sau này SQL cộng được. Python kiểm tra tên thuộc tính, kiểu dữ liệu, ngày tháng rồi mới ghi. Bảng dưới là các dòng thực sự được ghi vào 4 bảng; mỗi fact có bằng chứng trỏ về lượt số 99.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Sau khi có đồ thị, agent ReAct bắt đầu trả lời. Với câu này agent gọi 4 công cụ. Đầu tiên SchemaViewer để biết có những bảng và thuộc tính nào. Thứ hai Search — tìm lai giữa vector và từ khóa — trả về ngay ba khoản thu 150, 225, 120 từ đúng ba phiên bằng chứng. Thứ ba EntityLookup để xem hồ sơ người dùng. Thứ tư GraphSQL để liệt kê đủ mọi khoản thu, tránh sót. Kết quả 495 đô, đúng. Cả quá trình 3 lời gọi LLM, khoảng 25 giây. Một điểm em muốn nêu thẳng: cùng ý doanh thu nhưng có hai tên thuộc tính khác nhau, bước giải quyết thuộc tính chưa gộp được — ở đây SQL cứu, nhưng đây là chỗ cần cải thiện.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thứ hai cho loại câu cập nhật kiến thức. Search trả về cả 600 lẫn 500, mỗi dòng kèm thời điểm hiệu lực. EntityLookup cho thấy bảng giá trị mới nhất của User chỉ còn 600. Agent trả lời 600 và nêu cả mốc 28/5. Tại sao không ghi đè ngay lúc ghi như Mem0? Vì những câu như 'trước đây tôi có bao nhiêu' hay 'tăng bao nhiêu' cần cả bản cũ. Trong 20 câu, 4 câu knowledge-update đều đúng, nhưng số còn nhỏ.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Thiết lập: mô hình nền là GPT-5.6 Luna cho mọi vai trò; em ghi lại mô hình thực sự phục vụ ở mọi lời gọi và cả 362 lời gọi đều là Luna, nghĩa là router không lén đổi mô hình. Embedding BGE-M3 nhúng sẵn trên Kaggle, máy local chỉ đọc cache. Tập dev trùng đúng tập dev của notebook tuần 2, tập test chưa mở. Hôm nay em báo cáo trên 20 câu đầu của dev, so hai cấu hình: hệ đầy đủ và baseline SimpleSearch của chính LongMemEval.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Trước khi chạy LLM, nhóm chọn ngưỡng lọc phiên bằng số đo trên 150 câu dev, hoàn toàn không tốn lời gọi LLM. Hai thang đo: recall là tỉ lệ phiên bằng chứng được giữ, so với nhãn answer_session_ids của LongMemEval; 'đủ bằng chứng' là phần trăm câu giữ được tất cả phiên bằng chứng — thang này quan trọng hơn vì câu đa phiên thiếu một phiên là sai. Ngưỡng 0,475 chỉ giữ trung bình 7,7 phiên nhưng bằng hoặc tốt hơn top-10 ở mọi cột. Nhóm không dùng con số 0,2 của bài báo vì bài không nói điểm đó đo trên thang nào; với BGE-M3, hai câu không liên quan đã có cosine khoảng 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quả chính: hệ đầy đủ đúng 18/20, baseline SimpleSearch đúng 16/20. Hai câu hệ đầy đủ thắng là một câu preference và một câu knowledge-update. Nhưng em xin nói rõ: với 20 câu, khoảng tin cậy của 90% là khoảng 70 đến 97%, và chênh lệch 2 câu có p bằng 0,5 theo kiểm định McNemar, nên chưa thể khẳng định hệ đầy đủ tốt hơn baseline. Các ô có 1–2 câu như temporal chỉ để tham khảo. Đây là lý do bước tiếp theo là mở rộng số câu.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chi phí: mỗi câu hệ đầy đủ tốn khoảng 18 lời gọi LLM, trong đó gần 14 là để dựng đồ thị, chiếm 87% token. Nên muốn giảm chi phí phải nhắm vào pha dựng. Pha trả lời của hệ đầy đủ lại tốn ít token hơn baseline vì chỉ đọc fact liên quan, nhưng chậm hơn vì nhiều vòng gọi công cụ. Biểu đồ bên phải: Search là công cụ được dùng nhiều nhất, GraphSQL xuất hiện ở 12 trên 20 câu, chủ yếu cho phép cộng, đếm và xếp theo thời gian.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câu sai đều sai ở cả hai hệ. Câu thứ nhất là câu cần từ chối: người dùng chưa từng nói giá vé bus, nhưng trợ lý trong hội thoại cũ đã ước lượng giá; agent lấy luôn con số đó như thông tin của người dùng. Câu thứ hai là câu thời gian: 'hai tháng trước' là 11/1, lúc đó người dùng đi nghe giảng ở bảo tàng một mình; nhưng bước trích xuất làm mất chi tiết bảo tàng và người đi cùng, và agent không quy đổi 'hai tháng trước' ra ngày cụ thể, nên chọn nhầm lần đi gần nhất. Để kiểm tra việc Luna tự chấm cho chính mình, em đã chấm lại độc lập 20 câu bằng một mô hình khác: trùng cả 20. Nhóm sẽ chấm tay thêm.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xin tổng kết bằng ba hạn chế nhóm tự nhận thấy: mẫu còn nhỏ; bộ lọc biết trước câu hỏi — giống bài báo nhưng khác trợ lý thật; và mô hình chấm trùng mô hình trả lời. Kế hoạch tuần tới: sửa prompt agent cho hai lỗi vừa thấy — việc rẻ vì không phải dựng lại đồ thị; chạy thêm câu temporal và mở rộng tập dev, đo trên câu khác với câu đã soi lỗi; làm thí nghiệm không lọc phiên; và chấm tay. Em xin hỏi anh một câu: nên ưu tiên mở rộng số câu hay thí nghiệm không lọc phiên trước 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Deck tổng hợp baseline LightMem và so sánh với APEX-MEM. Số liệu sinh tự động từ thư mục kết quả; chạy lại gen_stats.py, compare_apex.py và build_deck.js khi có thêm câu.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LightMem (ICLR 2026) nén hội thoại trước khi đưa vào LLM để tiết kiệm token. Cấu hình dùng: messages_use=user_only, top-k=20.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khác biệt lớn nhất là lượt được lưu và việc biết câu hỏi lúc dựng bộ nhớ. APEX-MEM lưu cả lượt trợ lý và lọc phiên theo câu hỏi, giống bài báo gốc; LightMem dựng từ toàn bộ haystack và chỉ lưu lượt người dùng. Cả hai đều là khác biệt về giao thức chứ không phải về đồ thị.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kế hoạch ghi GPT-5.5, nhưng tài khoản ChatGPT nối qua 9router không có quyền model này (lỗi 404). Dùng gpt-5.6-luna. Hệ APEX-MEM của nhóm phải chạy cùng model để so công bằng.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Cùng 150 câu dev, cùng model trả lời (luna), cùng model chấm (terra). Gộp chung APEX-MEM 127/150, LightMem 122/150. Hai khoảng tin cậy 95% chồng lên nhau gần hết.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Kiểm định McNemar trên cặp câu hỏi: APEX-MEM đúng riêng 20 câu, LightMem đúng riêng 15 câu, p = 0,50. Tách theo loại: loại lượt trợ lý APEX-MEM hơn 7 câu, năm loại còn lại LightMem hơn 2 câu.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23/23 câu sai đã có ít nhất một fact từ đúng lượt chứa đáp án. Nhãn tự động reasoning chỉ kiểm tra có ít nhất một fact từ phiên bằng chứng nên có thể gồm cả lỗi trích xuất thiếu fact then chốt; chính báo cáo tuần 4 của nhóm đã nêu hạn chế này. Câu sai dùng trung bình 4,2 lần gọi công cụ, câu đúng 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 81,3% trên 150 câu, macro 78,9% trên 6 loại. Điểm đáng chú ý nhất: loại đơn phiên · trợ lý thấp hẳn, và nguyên nhân nằm ở cấu hình user_only của LightMem chứ không phải ngẫu nhiên.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Kiểu 1: câu đếm qua nhiều phiên, hệ đếm thiếu hoặc thừa. Kiểu 2: câu hỏi về lời trợ lý, hệ không có dữ liệu vì cấu hình user_only. Kiểu 2 là lỗi cấu hình, sửa được; kiểu 1 là hạn chế thật của cách lưu ký 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Truy xuất trúng phiên chứa bằng chứng ở 149/150 câu. Trong 28 câu sai, 27 câu đã có bằng chứng trong 20 ký ức lấy về mà vẫn trả lời sai. Lưu ý: "trúng phiên" chưa chắc là "giữ được chi tiết cần thiết", vì LightMem nén và tóm tắt trước khi lưu.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Soi tay 20 câu được chấm đúng và toàn bộ 28 câu bị chấm sai. Không có câu nào được chấm đúng oan; có 2 câu nhóm cho rằng đáng lẽ nên tính đúng, nên accuracy thật có thể cao hơn khoảng 1,3 điểm.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LightMem: thời gian dựng trung vị 33 phút, trả lời 3 giây. APEX-MEM: 88% token nằm ở bước dựng. Thời gian đo trong điều kiện chạy song song khác nhau nên không dùng để kết luận hệ nào nhanh hơn. Chưa có số token của LightMem.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 lỗi này đều nằm ở môi trường chạy, không phải ở thiết kế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tổng kết tự cập nhật theo stats.json. Khi chạy xong 150 câu, chạy lại gen_stats.py và build_deck.js.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32E"/>
        </a:solidFill>
      </p:bgPr>
    </p:bg>
    <p:spTree>
      <p:nvGrpSpPr>
        <p:cNvPr id="1" name=""/>
        <p:cNvGrpSpPr/>
        <p:nvPr/>
      </p:nvGrpSpPr>
      <p:grpSpPr>
        <a:xfrm>
          <a:off x="0" y="0"/>
          <a:ext cx="0" cy="0"/>
          <a:chOff x="0" y="0"/>
          <a:chExt cx="0" cy="0"/>
        </a:xfrm>
      </p:grpSpPr>
      <p:sp>
        <p:nvSpPr>
          <p:cNvPr id="2" name="Text 0"/>
          <p:cNvSpPr txBox="1"/>
          <p:nvPr/>
        </p:nvSpPr>
        <p:spPr>
          <a:xfrm>
            <a:off x="731520" y="1737360"/>
            <a:ext cx="6400800" cy="320040"/>
          </a:xfrm>
          <a:prstGeom prst="rect">
            <a:avLst/>
          </a:prstGeom>
          <a:noFill/>
          <a:ln/>
        </p:spPr>
        <p:txBody>
          <a:bodyPr wrap="square" lIns="0" tIns="0" rIns="0" bIns="0" rtlCol="0" anchor="t"/>
          <a:lstStyle/>
          <a:p>
            <a:pPr indent="0" marL="0">
              <a:buNone/>
            </a:pPr>
            <a:r>
              <a:rPr lang="en-US" sz="1200" b="1" spc="300" kern="0" dirty="0">
                <a:solidFill>
                  <a:srgbClr val="D98C1F"/>
                </a:solidFill>
                <a:latin typeface="Calibri" pitchFamily="34" charset="0"/>
                <a:ea typeface="Calibri" pitchFamily="34" charset="-122"/>
                <a:cs typeface="Calibri" pitchFamily="34" charset="-120"/>
              </a:rPr>
              <a:t>BÁO CÁO TUẦN 4</a:t>
            </a:r>
            <a:endParaRPr lang="en-US" sz="1200" dirty="0"/>
          </a:p>
        </p:txBody>
      </p:sp>
      <p:sp>
        <p:nvSpPr>
          <p:cNvPr id="3" name="Text 1"/>
          <p:cNvSpPr txBox="1"/>
          <p:nvPr/>
        </p:nvSpPr>
        <p:spPr>
          <a:xfrm>
            <a:off x="731520" y="2103120"/>
            <a:ext cx="6949440" cy="82296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Bộ nhớ dài hạn cho LLM Agent</a:t>
            </a:r>
            <a:endParaRPr lang="en-US" sz="3800" dirty="0"/>
          </a:p>
        </p:txBody>
      </p:sp>
      <p:sp>
        <p:nvSpPr>
          <p:cNvPr id="4" name="Text 2"/>
          <p:cNvSpPr txBox="1"/>
          <p:nvPr/>
        </p:nvSpPr>
        <p:spPr>
          <a:xfrm>
            <a:off x="731520" y="3017520"/>
            <a:ext cx="6949440" cy="822960"/>
          </a:xfrm>
          <a:prstGeom prst="rect">
            <a:avLst/>
          </a:prstGeom>
          <a:noFill/>
          <a:ln/>
        </p:spPr>
        <p:txBody>
          <a:bodyPr wrap="square" lIns="0" tIns="0" rIns="0" bIns="0" rtlCol="0" anchor="t"/>
          <a:lstStyle/>
          <a:p>
            <a:pPr indent="0" marL="0">
              <a:buNone/>
            </a:pPr>
            <a:r>
              <a:rPr lang="en-US" sz="1600" dirty="0">
                <a:solidFill>
                  <a:srgbClr val="C9D6DB"/>
                </a:solidFill>
                <a:latin typeface="Calibri" pitchFamily="34" charset="0"/>
                <a:ea typeface="Calibri" pitchFamily="34" charset="-122"/>
                <a:cs typeface="Calibri" pitchFamily="34" charset="-120"/>
              </a:rPr>
              <a:t>Triển khai APEX-MEM: lược đồ bộ nhớ, luồng chạy trên một ví dụ thật,</a:t>
            </a:r>
            <a:endParaRPr lang="en-US" sz="1600" dirty="0"/>
          </a:p>
          <a:p>
            <a:pPr indent="0" marL="0">
              <a:buNone/>
            </a:pPr>
            <a:r>
              <a:rPr lang="en-US" sz="1600" dirty="0">
                <a:solidFill>
                  <a:srgbClr val="C9D6DB"/>
                </a:solidFill>
                <a:latin typeface="Calibri" pitchFamily="34" charset="0"/>
                <a:ea typeface="Calibri" pitchFamily="34" charset="-122"/>
                <a:cs typeface="Calibri" pitchFamily="34" charset="-120"/>
              </a:rPr>
              <a:t>và kết quả đầu tiên trên LongMemEval-S</a:t>
            </a:r>
            <a:endParaRPr lang="en-US" sz="1600" dirty="0"/>
          </a:p>
        </p:txBody>
      </p:sp>
      <p:sp>
        <p:nvSpPr>
          <p:cNvPr id="5" name="Text 3"/>
          <p:cNvSpPr txBox="1"/>
          <p:nvPr/>
        </p:nvSpPr>
        <p:spPr>
          <a:xfrm>
            <a:off x="731520" y="5394960"/>
            <a:ext cx="5486400" cy="320040"/>
          </a:xfrm>
          <a:prstGeom prst="rect">
            <a:avLst/>
          </a:prstGeom>
          <a:noFill/>
          <a:ln/>
        </p:spPr>
        <p:txBody>
          <a:bodyPr wrap="square" lIns="0" tIns="0" rIns="0" bIns="0" rtlCol="0" anchor="t"/>
          <a:lstStyle/>
          <a:p>
            <a:pPr indent="0" marL="0">
              <a:buNone/>
            </a:pPr>
            <a:r>
              <a:rPr lang="en-US" sz="1200" dirty="0">
                <a:solidFill>
                  <a:srgbClr val="8FA3AB"/>
                </a:solidFill>
                <a:latin typeface="Calibri" pitchFamily="34" charset="0"/>
                <a:ea typeface="Calibri" pitchFamily="34" charset="-122"/>
                <a:cs typeface="Calibri" pitchFamily="34" charset="-120"/>
              </a:rPr>
              <a:t>Nhóm 2 thành viên  ·  09/2026</a:t>
            </a:r>
            <a:endParaRPr lang="en-US" sz="1200" dirty="0"/>
          </a:p>
        </p:txBody>
      </p:sp>
      <p:sp>
        <p:nvSpPr>
          <p:cNvPr id="6" name="Shape 4"/>
          <p:cNvSpPr/>
          <p:nvPr/>
        </p:nvSpPr>
        <p:spPr>
          <a:xfrm>
            <a:off x="9006840" y="1783080"/>
            <a:ext cx="777240" cy="1691640"/>
          </a:xfrm>
          <a:prstGeom prst="line">
            <a:avLst/>
          </a:prstGeom>
          <a:noFill/>
          <a:ln w="19050">
            <a:solidFill>
              <a:srgbClr val="3C5560"/>
            </a:solidFill>
            <a:prstDash val="solid"/>
          </a:ln>
        </p:spPr>
      </p:sp>
      <p:sp>
        <p:nvSpPr>
          <p:cNvPr id="7" name="Shape 5"/>
          <p:cNvSpPr/>
          <p:nvPr/>
        </p:nvSpPr>
        <p:spPr>
          <a:xfrm flipH="1">
            <a:off x="9784080" y="2185416"/>
            <a:ext cx="722376" cy="1289304"/>
          </a:xfrm>
          <a:prstGeom prst="line">
            <a:avLst/>
          </a:prstGeom>
          <a:noFill/>
          <a:ln w="19050">
            <a:solidFill>
              <a:srgbClr val="3C5560"/>
            </a:solidFill>
            <a:prstDash val="solid"/>
          </a:ln>
        </p:spPr>
      </p:sp>
      <p:sp>
        <p:nvSpPr>
          <p:cNvPr id="8" name="Shape 6"/>
          <p:cNvSpPr/>
          <p:nvPr/>
        </p:nvSpPr>
        <p:spPr>
          <a:xfrm flipH="1">
            <a:off x="8330184" y="3474720"/>
            <a:ext cx="1453896" cy="649224"/>
          </a:xfrm>
          <a:prstGeom prst="line">
            <a:avLst/>
          </a:prstGeom>
          <a:noFill/>
          <a:ln w="19050">
            <a:solidFill>
              <a:srgbClr val="3C5560"/>
            </a:solidFill>
            <a:prstDash val="solid"/>
          </a:ln>
        </p:spPr>
      </p:sp>
      <p:sp>
        <p:nvSpPr>
          <p:cNvPr id="9" name="Shape 7"/>
          <p:cNvSpPr/>
          <p:nvPr/>
        </p:nvSpPr>
        <p:spPr>
          <a:xfrm>
            <a:off x="9784080" y="3474720"/>
            <a:ext cx="1033272" cy="484632"/>
          </a:xfrm>
          <a:prstGeom prst="line">
            <a:avLst/>
          </a:prstGeom>
          <a:noFill/>
          <a:ln w="19050">
            <a:solidFill>
              <a:srgbClr val="3C5560"/>
            </a:solidFill>
            <a:prstDash val="solid"/>
          </a:ln>
        </p:spPr>
      </p:sp>
      <p:sp>
        <p:nvSpPr>
          <p:cNvPr id="10" name="Shape 8"/>
          <p:cNvSpPr/>
          <p:nvPr/>
        </p:nvSpPr>
        <p:spPr>
          <a:xfrm>
            <a:off x="8330184" y="4123944"/>
            <a:ext cx="978408" cy="978408"/>
          </a:xfrm>
          <a:prstGeom prst="line">
            <a:avLst/>
          </a:prstGeom>
          <a:noFill/>
          <a:ln w="19050">
            <a:solidFill>
              <a:srgbClr val="3C5560"/>
            </a:solidFill>
            <a:prstDash val="solid"/>
          </a:ln>
        </p:spPr>
      </p:sp>
      <p:sp>
        <p:nvSpPr>
          <p:cNvPr id="11" name="Shape 9"/>
          <p:cNvSpPr/>
          <p:nvPr/>
        </p:nvSpPr>
        <p:spPr>
          <a:xfrm>
            <a:off x="10817352" y="3959352"/>
            <a:ext cx="475488" cy="1298448"/>
          </a:xfrm>
          <a:prstGeom prst="line">
            <a:avLst/>
          </a:prstGeom>
          <a:noFill/>
          <a:ln w="19050">
            <a:solidFill>
              <a:srgbClr val="3C5560"/>
            </a:solidFill>
            <a:prstDash val="solid"/>
          </a:ln>
        </p:spPr>
      </p:sp>
      <p:sp>
        <p:nvSpPr>
          <p:cNvPr id="12" name="Shape 10"/>
          <p:cNvSpPr/>
          <p:nvPr/>
        </p:nvSpPr>
        <p:spPr>
          <a:xfrm flipH="1">
            <a:off x="9308592" y="3959352"/>
            <a:ext cx="1508760" cy="1143000"/>
          </a:xfrm>
          <a:prstGeom prst="line">
            <a:avLst/>
          </a:prstGeom>
          <a:noFill/>
          <a:ln w="19050">
            <a:solidFill>
              <a:srgbClr val="3C5560"/>
            </a:solidFill>
            <a:prstDash val="solid"/>
          </a:ln>
        </p:spPr>
      </p:sp>
      <p:sp>
        <p:nvSpPr>
          <p:cNvPr id="13" name="Shape 11"/>
          <p:cNvSpPr/>
          <p:nvPr/>
        </p:nvSpPr>
        <p:spPr>
          <a:xfrm>
            <a:off x="9006840" y="1783080"/>
            <a:ext cx="1499616" cy="402336"/>
          </a:xfrm>
          <a:prstGeom prst="line">
            <a:avLst/>
          </a:prstGeom>
          <a:noFill/>
          <a:ln w="19050">
            <a:solidFill>
              <a:srgbClr val="3C5560"/>
            </a:solidFill>
            <a:prstDash val="solid"/>
          </a:ln>
        </p:spPr>
      </p:sp>
      <p:sp>
        <p:nvSpPr>
          <p:cNvPr id="14" name="Shape 12"/>
          <p:cNvSpPr/>
          <p:nvPr/>
        </p:nvSpPr>
        <p:spPr>
          <a:xfrm>
            <a:off x="8778240" y="1554480"/>
            <a:ext cx="457200" cy="457200"/>
          </a:xfrm>
          <a:prstGeom prst="ellipse">
            <a:avLst/>
          </a:prstGeom>
          <a:solidFill>
            <a:srgbClr val="2A8A99"/>
          </a:solidFill>
          <a:ln w="12700">
            <a:solidFill>
              <a:srgbClr val="2A8A99"/>
            </a:solidFill>
            <a:prstDash val="solid"/>
          </a:ln>
        </p:spPr>
      </p:sp>
      <p:sp>
        <p:nvSpPr>
          <p:cNvPr id="15" name="Shape 13"/>
          <p:cNvSpPr/>
          <p:nvPr/>
        </p:nvSpPr>
        <p:spPr>
          <a:xfrm>
            <a:off x="10332720" y="2011680"/>
            <a:ext cx="347472" cy="347472"/>
          </a:xfrm>
          <a:prstGeom prst="ellipse">
            <a:avLst/>
          </a:prstGeom>
          <a:solidFill>
            <a:srgbClr val="2A8A99"/>
          </a:solidFill>
          <a:ln w="12700">
            <a:solidFill>
              <a:srgbClr val="2A8A99"/>
            </a:solidFill>
            <a:prstDash val="solid"/>
          </a:ln>
        </p:spPr>
      </p:sp>
      <p:sp>
        <p:nvSpPr>
          <p:cNvPr id="16" name="Shape 14"/>
          <p:cNvSpPr/>
          <p:nvPr/>
        </p:nvSpPr>
        <p:spPr>
          <a:xfrm>
            <a:off x="9418320" y="3108960"/>
            <a:ext cx="731520" cy="731520"/>
          </a:xfrm>
          <a:prstGeom prst="ellipse">
            <a:avLst/>
          </a:prstGeom>
          <a:solidFill>
            <a:srgbClr val="D98C1F"/>
          </a:solidFill>
          <a:ln w="12700">
            <a:solidFill>
              <a:srgbClr val="D98C1F"/>
            </a:solidFill>
            <a:prstDash val="solid"/>
          </a:ln>
        </p:spPr>
      </p:sp>
      <p:sp>
        <p:nvSpPr>
          <p:cNvPr id="17" name="Shape 15"/>
          <p:cNvSpPr/>
          <p:nvPr/>
        </p:nvSpPr>
        <p:spPr>
          <a:xfrm>
            <a:off x="8138160" y="3931920"/>
            <a:ext cx="384048" cy="384048"/>
          </a:xfrm>
          <a:prstGeom prst="ellipse">
            <a:avLst/>
          </a:prstGeom>
          <a:solidFill>
            <a:srgbClr val="2A8A99"/>
          </a:solidFill>
          <a:ln w="12700">
            <a:solidFill>
              <a:srgbClr val="2A8A99"/>
            </a:solidFill>
            <a:prstDash val="solid"/>
          </a:ln>
        </p:spPr>
      </p:sp>
      <p:sp>
        <p:nvSpPr>
          <p:cNvPr id="18" name="Shape 16"/>
          <p:cNvSpPr/>
          <p:nvPr/>
        </p:nvSpPr>
        <p:spPr>
          <a:xfrm>
            <a:off x="10607040" y="3749040"/>
            <a:ext cx="420624" cy="420624"/>
          </a:xfrm>
          <a:prstGeom prst="ellipse">
            <a:avLst/>
          </a:prstGeom>
          <a:solidFill>
            <a:srgbClr val="2A8A99"/>
          </a:solidFill>
          <a:ln w="12700">
            <a:solidFill>
              <a:srgbClr val="2A8A99"/>
            </a:solidFill>
            <a:prstDash val="solid"/>
          </a:ln>
        </p:spPr>
      </p:sp>
      <p:sp>
        <p:nvSpPr>
          <p:cNvPr id="19" name="Shape 17"/>
          <p:cNvSpPr/>
          <p:nvPr/>
        </p:nvSpPr>
        <p:spPr>
          <a:xfrm>
            <a:off x="9144000" y="4937760"/>
            <a:ext cx="329184" cy="329184"/>
          </a:xfrm>
          <a:prstGeom prst="ellipse">
            <a:avLst/>
          </a:prstGeom>
          <a:solidFill>
            <a:srgbClr val="2A8A99"/>
          </a:solidFill>
          <a:ln w="12700">
            <a:solidFill>
              <a:srgbClr val="2A8A99"/>
            </a:solidFill>
            <a:prstDash val="solid"/>
          </a:ln>
        </p:spPr>
      </p:sp>
      <p:sp>
        <p:nvSpPr>
          <p:cNvPr id="20" name="Shape 18"/>
          <p:cNvSpPr/>
          <p:nvPr/>
        </p:nvSpPr>
        <p:spPr>
          <a:xfrm>
            <a:off x="11155680" y="5120640"/>
            <a:ext cx="274320" cy="274320"/>
          </a:xfrm>
          <a:prstGeom prst="ellipse">
            <a:avLst/>
          </a:prstGeom>
          <a:solidFill>
            <a:srgbClr val="2A8A99"/>
          </a:solidFill>
          <a:ln w="12700">
            <a:solidFill>
              <a:srgbClr val="2A8A99"/>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100" b="1" spc="200" kern="0" dirty="0">
                <a:solidFill>
                  <a:srgbClr val="D98C1F"/>
                </a:solidFill>
                <a:latin typeface="Calibri" pitchFamily="34" charset="0"/>
                <a:ea typeface="Calibri" pitchFamily="34" charset="-122"/>
                <a:cs typeface="Calibri" pitchFamily="34" charset="-120"/>
              </a:rPr>
              <a:t>TUẦN 4 · ĐÃ LÀM</a:t>
            </a:r>
            <a:endParaRPr lang="en-US" sz="1100" dirty="0"/>
          </a:p>
        </p:txBody>
      </p:sp>
      <p:sp>
        <p:nvSpPr>
          <p:cNvPr id="3" name="Text 1"/>
          <p:cNvSpPr txBox="1"/>
          <p:nvPr/>
        </p:nvSpPr>
        <p:spPr>
          <a:xfrm>
            <a:off x="548640" y="621792"/>
            <a:ext cx="11064240" cy="566928"/>
          </a:xfrm>
          <a:prstGeom prst="rect">
            <a:avLst/>
          </a:prstGeom>
          <a:noFill/>
          <a:ln/>
        </p:spPr>
        <p:txBody>
          <a:bodyPr wrap="square" lIns="0" tIns="0" rIns="0" bIns="0" rtlCol="0" anchor="ctr"/>
          <a:lstStyle/>
          <a:p>
            <a:pPr indent="0" marL="0">
              <a:buNone/>
            </a:pPr>
            <a:r>
              <a:rPr lang="en-US" sz="2800" b="1" dirty="0">
                <a:solidFill>
                  <a:srgbClr val="12232E"/>
                </a:solidFill>
                <a:latin typeface="Cambria" pitchFamily="34" charset="0"/>
                <a:ea typeface="Cambria" pitchFamily="34" charset="-122"/>
                <a:cs typeface="Cambria" pitchFamily="34" charset="-120"/>
              </a:rPr>
              <a:t>Bốn việc chính của tuần này</a:t>
            </a:r>
            <a:endParaRPr lang="en-US" sz="2800" dirty="0"/>
          </a:p>
        </p:txBody>
      </p:sp>
      <p:sp>
        <p:nvSpPr>
          <p:cNvPr id="4" name="Shape 2"/>
          <p:cNvSpPr/>
          <p:nvPr/>
        </p:nvSpPr>
        <p:spPr>
          <a:xfrm>
            <a:off x="548640" y="1600200"/>
            <a:ext cx="2606040" cy="3017520"/>
          </a:xfrm>
          <a:prstGeom prst="roundRect">
            <a:avLst>
              <a:gd name="adj" fmla="val 2105"/>
            </a:avLst>
          </a:prstGeom>
          <a:solidFill>
            <a:srgbClr val="F3F7F8"/>
          </a:solidFill>
          <a:ln w="12700">
            <a:solidFill>
              <a:srgbClr val="F3F7F8"/>
            </a:solidFill>
            <a:prstDash val="solid"/>
          </a:ln>
        </p:spPr>
      </p:sp>
      <p:sp>
        <p:nvSpPr>
          <p:cNvPr id="5" name="Shape 3"/>
          <p:cNvSpPr/>
          <p:nvPr/>
        </p:nvSpPr>
        <p:spPr>
          <a:xfrm>
            <a:off x="822960" y="1874520"/>
            <a:ext cx="384048" cy="384048"/>
          </a:xfrm>
          <a:prstGeom prst="ellipse">
            <a:avLst/>
          </a:prstGeom>
          <a:solidFill>
            <a:srgbClr val="0F5C6B"/>
          </a:solidFill>
          <a:ln w="12700">
            <a:solidFill>
              <a:srgbClr val="0F5C6B"/>
            </a:solidFill>
            <a:prstDash val="solid"/>
          </a:ln>
        </p:spPr>
      </p:sp>
      <p:sp>
        <p:nvSpPr>
          <p:cNvPr id="6" name="Text 4"/>
          <p:cNvSpPr txBox="1"/>
          <p:nvPr/>
        </p:nvSpPr>
        <p:spPr>
          <a:xfrm>
            <a:off x="822960" y="1874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22960" y="2468880"/>
            <a:ext cx="2103120" cy="685800"/>
          </a:xfrm>
          <a:prstGeom prst="rect">
            <a:avLst/>
          </a:prstGeom>
          <a:noFill/>
          <a:ln/>
        </p:spPr>
        <p:txBody>
          <a:bodyPr wrap="square" lIns="0" tIns="0" rIns="0" bIns="0" rtlCol="0" anchor="t"/>
          <a:lstStyle/>
          <a:p>
            <a:pPr indent="0" marL="0">
              <a:buNone/>
            </a:pPr>
            <a:r>
              <a:rPr lang="en-US" sz="1800" b="1" dirty="0">
                <a:solidFill>
                  <a:srgbClr val="12232E"/>
                </a:solidFill>
                <a:latin typeface="Cambria" pitchFamily="34" charset="0"/>
                <a:ea typeface="Cambria" pitchFamily="34" charset="-122"/>
                <a:cs typeface="Cambria" pitchFamily="34" charset="-120"/>
              </a:rPr>
              <a:t>Hệ thống chạy đầu–cuối</a:t>
            </a:r>
            <a:endParaRPr lang="en-US" sz="1800" dirty="0"/>
          </a:p>
        </p:txBody>
      </p:sp>
      <p:sp>
        <p:nvSpPr>
          <p:cNvPr id="8" name="Text 6"/>
          <p:cNvSpPr txBox="1"/>
          <p:nvPr/>
        </p:nvSpPr>
        <p:spPr>
          <a:xfrm>
            <a:off x="822960" y="3246120"/>
            <a:ext cx="2103120" cy="1280160"/>
          </a:xfrm>
          <a:prstGeom prst="rect">
            <a:avLst/>
          </a:prstGeom>
          <a:noFill/>
          <a:ln/>
        </p:spPr>
        <p:txBody>
          <a:bodyPr wrap="square" lIns="0" tIns="0" rIns="0" bIns="0" rtlCol="0" anchor="t"/>
          <a:lstStyle/>
          <a:p>
            <a:pPr indent="0" marL="0">
              <a:buNone/>
            </a:pPr>
            <a:r>
              <a:rPr lang="en-US" sz="1400" dirty="0">
                <a:solidFill>
                  <a:srgbClr val="5B6B73"/>
                </a:solidFill>
                <a:latin typeface="Calibri" pitchFamily="34" charset="0"/>
                <a:ea typeface="Calibri" pitchFamily="34" charset="-122"/>
                <a:cs typeface="Calibri" pitchFamily="34" charset="-120"/>
              </a:rPr>
              <a:t>Luồng ghi (lọc → trích xuất → giải quyết → ghi) và agent ReAct với 5 công cụ. 105 test chạy offline.</a:t>
            </a:r>
            <a:endParaRPr lang="en-US" sz="1400" dirty="0"/>
          </a:p>
        </p:txBody>
      </p:sp>
      <p:sp>
        <p:nvSpPr>
          <p:cNvPr id="9" name="Shape 7"/>
          <p:cNvSpPr/>
          <p:nvPr/>
        </p:nvSpPr>
        <p:spPr>
          <a:xfrm>
            <a:off x="3364992" y="1600200"/>
            <a:ext cx="2606040" cy="3017520"/>
          </a:xfrm>
          <a:prstGeom prst="roundRect">
            <a:avLst>
              <a:gd name="adj" fmla="val 2105"/>
            </a:avLst>
          </a:prstGeom>
          <a:solidFill>
            <a:srgbClr val="F3F7F8"/>
          </a:solidFill>
          <a:ln w="12700">
            <a:solidFill>
              <a:srgbClr val="F3F7F8"/>
            </a:solidFill>
            <a:prstDash val="solid"/>
          </a:ln>
        </p:spPr>
      </p:sp>
      <p:sp>
        <p:nvSpPr>
          <p:cNvPr id="10" name="Shape 8"/>
          <p:cNvSpPr/>
          <p:nvPr/>
        </p:nvSpPr>
        <p:spPr>
          <a:xfrm>
            <a:off x="3639312" y="1874520"/>
            <a:ext cx="384048" cy="384048"/>
          </a:xfrm>
          <a:prstGeom prst="ellipse">
            <a:avLst/>
          </a:prstGeom>
          <a:solidFill>
            <a:srgbClr val="0F5C6B"/>
          </a:solidFill>
          <a:ln w="12700">
            <a:solidFill>
              <a:srgbClr val="0F5C6B"/>
            </a:solidFill>
            <a:prstDash val="solid"/>
          </a:ln>
        </p:spPr>
      </p:sp>
      <p:sp>
        <p:nvSpPr>
          <p:cNvPr id="11" name="Text 9"/>
          <p:cNvSpPr txBox="1"/>
          <p:nvPr/>
        </p:nvSpPr>
        <p:spPr>
          <a:xfrm>
            <a:off x="3639312" y="1874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3639312" y="2468880"/>
            <a:ext cx="2103120" cy="685800"/>
          </a:xfrm>
          <a:prstGeom prst="rect">
            <a:avLst/>
          </a:prstGeom>
          <a:noFill/>
          <a:ln/>
        </p:spPr>
        <p:txBody>
          <a:bodyPr wrap="square" lIns="0" tIns="0" rIns="0" bIns="0" rtlCol="0" anchor="t"/>
          <a:lstStyle/>
          <a:p>
            <a:pPr indent="0" marL="0">
              <a:buNone/>
            </a:pPr>
            <a:r>
              <a:rPr lang="en-US" sz="1800" b="1" dirty="0">
                <a:solidFill>
                  <a:srgbClr val="12232E"/>
                </a:solidFill>
                <a:latin typeface="Cambria" pitchFamily="34" charset="0"/>
                <a:ea typeface="Cambria" pitchFamily="34" charset="-122"/>
                <a:cs typeface="Cambria" pitchFamily="34" charset="-120"/>
              </a:rPr>
              <a:t>Embedding trên GPU Kaggle</a:t>
            </a:r>
            <a:endParaRPr lang="en-US" sz="1800" dirty="0"/>
          </a:p>
        </p:txBody>
      </p:sp>
      <p:sp>
        <p:nvSpPr>
          <p:cNvPr id="13" name="Text 11"/>
          <p:cNvSpPr txBox="1"/>
          <p:nvPr/>
        </p:nvSpPr>
        <p:spPr>
          <a:xfrm>
            <a:off x="3639312" y="3246120"/>
            <a:ext cx="2103120" cy="1280160"/>
          </a:xfrm>
          <a:prstGeom prst="rect">
            <a:avLst/>
          </a:prstGeom>
          <a:noFill/>
          <a:ln/>
        </p:spPr>
        <p:txBody>
          <a:bodyPr wrap="square" lIns="0" tIns="0" rIns="0" bIns="0" rtlCol="0" anchor="t"/>
          <a:lstStyle/>
          <a:p>
            <a:pPr indent="0" marL="0">
              <a:buNone/>
            </a:pPr>
            <a:r>
              <a:rPr lang="en-US" sz="1400" dirty="0">
                <a:solidFill>
                  <a:srgbClr val="5B6B73"/>
                </a:solidFill>
                <a:latin typeface="Calibri" pitchFamily="34" charset="0"/>
                <a:ea typeface="Calibri" pitchFamily="34" charset="-122"/>
                <a:cs typeface="Calibri" pitchFamily="34" charset="-120"/>
              </a:rPr>
              <a:t>Nhúng sẵn ~247K lượt hội thoại bằng BGE-M3, dùng lại ở máy local — không nhúng lại.</a:t>
            </a:r>
            <a:endParaRPr lang="en-US" sz="1400" dirty="0"/>
          </a:p>
        </p:txBody>
      </p:sp>
      <p:sp>
        <p:nvSpPr>
          <p:cNvPr id="14" name="Shape 12"/>
          <p:cNvSpPr/>
          <p:nvPr/>
        </p:nvSpPr>
        <p:spPr>
          <a:xfrm>
            <a:off x="6181344" y="1600200"/>
            <a:ext cx="2606040" cy="3017520"/>
          </a:xfrm>
          <a:prstGeom prst="roundRect">
            <a:avLst>
              <a:gd name="adj" fmla="val 2105"/>
            </a:avLst>
          </a:prstGeom>
          <a:solidFill>
            <a:srgbClr val="F3F7F8"/>
          </a:solidFill>
          <a:ln w="12700">
            <a:solidFill>
              <a:srgbClr val="F3F7F8"/>
            </a:solidFill>
            <a:prstDash val="solid"/>
          </a:ln>
        </p:spPr>
      </p:sp>
      <p:sp>
        <p:nvSpPr>
          <p:cNvPr id="15" name="Shape 13"/>
          <p:cNvSpPr/>
          <p:nvPr/>
        </p:nvSpPr>
        <p:spPr>
          <a:xfrm>
            <a:off x="6455664" y="1874520"/>
            <a:ext cx="384048" cy="384048"/>
          </a:xfrm>
          <a:prstGeom prst="ellipse">
            <a:avLst/>
          </a:prstGeom>
          <a:solidFill>
            <a:srgbClr val="0F5C6B"/>
          </a:solidFill>
          <a:ln w="12700">
            <a:solidFill>
              <a:srgbClr val="0F5C6B"/>
            </a:solidFill>
            <a:prstDash val="solid"/>
          </a:ln>
        </p:spPr>
      </p:sp>
      <p:sp>
        <p:nvSpPr>
          <p:cNvPr id="16" name="Text 14"/>
          <p:cNvSpPr txBox="1"/>
          <p:nvPr/>
        </p:nvSpPr>
        <p:spPr>
          <a:xfrm>
            <a:off x="6455664" y="1874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6455664" y="2468880"/>
            <a:ext cx="2103120" cy="685800"/>
          </a:xfrm>
          <a:prstGeom prst="rect">
            <a:avLst/>
          </a:prstGeom>
          <a:noFill/>
          <a:ln/>
        </p:spPr>
        <p:txBody>
          <a:bodyPr wrap="square" lIns="0" tIns="0" rIns="0" bIns="0" rtlCol="0" anchor="t"/>
          <a:lstStyle/>
          <a:p>
            <a:pPr indent="0" marL="0">
              <a:buNone/>
            </a:pPr>
            <a:r>
              <a:rPr lang="en-US" sz="1800" b="1" dirty="0">
                <a:solidFill>
                  <a:srgbClr val="12232E"/>
                </a:solidFill>
                <a:latin typeface="Cambria" pitchFamily="34" charset="0"/>
                <a:ea typeface="Cambria" pitchFamily="34" charset="-122"/>
                <a:cs typeface="Cambria" pitchFamily="34" charset="-120"/>
              </a:rPr>
              <a:t>Hiệu chỉnh bộ lọc phiên</a:t>
            </a:r>
            <a:endParaRPr lang="en-US" sz="1800" dirty="0"/>
          </a:p>
        </p:txBody>
      </p:sp>
      <p:sp>
        <p:nvSpPr>
          <p:cNvPr id="18" name="Text 16"/>
          <p:cNvSpPr txBox="1"/>
          <p:nvPr/>
        </p:nvSpPr>
        <p:spPr>
          <a:xfrm>
            <a:off x="6455664" y="3246120"/>
            <a:ext cx="2103120" cy="1280160"/>
          </a:xfrm>
          <a:prstGeom prst="rect">
            <a:avLst/>
          </a:prstGeom>
          <a:noFill/>
          <a:ln/>
        </p:spPr>
        <p:txBody>
          <a:bodyPr wrap="square" lIns="0" tIns="0" rIns="0" bIns="0" rtlCol="0" anchor="t"/>
          <a:lstStyle/>
          <a:p>
            <a:pPr indent="0" marL="0">
              <a:buNone/>
            </a:pPr>
            <a:r>
              <a:rPr lang="en-US" sz="1400" dirty="0">
                <a:solidFill>
                  <a:srgbClr val="5B6B73"/>
                </a:solidFill>
                <a:latin typeface="Calibri" pitchFamily="34" charset="0"/>
                <a:ea typeface="Calibri" pitchFamily="34" charset="-122"/>
                <a:cs typeface="Calibri" pitchFamily="34" charset="-120"/>
              </a:rPr>
              <a:t>Chọn ngưỡng bằng số đo trên 150 câu dev, không tốn lời gọi LLM.</a:t>
            </a:r>
            <a:endParaRPr lang="en-US" sz="1400" dirty="0"/>
          </a:p>
        </p:txBody>
      </p:sp>
      <p:sp>
        <p:nvSpPr>
          <p:cNvPr id="19" name="Shape 17"/>
          <p:cNvSpPr/>
          <p:nvPr/>
        </p:nvSpPr>
        <p:spPr>
          <a:xfrm>
            <a:off x="8997696" y="1600200"/>
            <a:ext cx="2606040" cy="3017520"/>
          </a:xfrm>
          <a:prstGeom prst="roundRect">
            <a:avLst>
              <a:gd name="adj" fmla="val 2105"/>
            </a:avLst>
          </a:prstGeom>
          <a:solidFill>
            <a:srgbClr val="F3F7F8"/>
          </a:solidFill>
          <a:ln w="12700">
            <a:solidFill>
              <a:srgbClr val="F3F7F8"/>
            </a:solidFill>
            <a:prstDash val="solid"/>
          </a:ln>
        </p:spPr>
      </p:sp>
      <p:sp>
        <p:nvSpPr>
          <p:cNvPr id="20" name="Shape 18"/>
          <p:cNvSpPr/>
          <p:nvPr/>
        </p:nvSpPr>
        <p:spPr>
          <a:xfrm>
            <a:off x="9272016" y="1874520"/>
            <a:ext cx="384048" cy="384048"/>
          </a:xfrm>
          <a:prstGeom prst="ellipse">
            <a:avLst/>
          </a:prstGeom>
          <a:solidFill>
            <a:srgbClr val="0F5C6B"/>
          </a:solidFill>
          <a:ln w="12700">
            <a:solidFill>
              <a:srgbClr val="0F5C6B"/>
            </a:solidFill>
            <a:prstDash val="solid"/>
          </a:ln>
        </p:spPr>
      </p:sp>
      <p:sp>
        <p:nvSpPr>
          <p:cNvPr id="21" name="Text 19"/>
          <p:cNvSpPr txBox="1"/>
          <p:nvPr/>
        </p:nvSpPr>
        <p:spPr>
          <a:xfrm>
            <a:off x="9272016" y="1874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txBox="1"/>
          <p:nvPr/>
        </p:nvSpPr>
        <p:spPr>
          <a:xfrm>
            <a:off x="9272016" y="2468880"/>
            <a:ext cx="2103120" cy="685800"/>
          </a:xfrm>
          <a:prstGeom prst="rect">
            <a:avLst/>
          </a:prstGeom>
          <a:noFill/>
          <a:ln/>
        </p:spPr>
        <p:txBody>
          <a:bodyPr wrap="square" lIns="0" tIns="0" rIns="0" bIns="0" rtlCol="0" anchor="t"/>
          <a:lstStyle/>
          <a:p>
            <a:pPr indent="0" marL="0">
              <a:buNone/>
            </a:pPr>
            <a:r>
              <a:rPr lang="en-US" sz="1800" b="1" dirty="0">
                <a:solidFill>
                  <a:srgbClr val="12232E"/>
                </a:solidFill>
                <a:latin typeface="Cambria" pitchFamily="34" charset="0"/>
                <a:ea typeface="Cambria" pitchFamily="34" charset="-122"/>
                <a:cs typeface="Cambria" pitchFamily="34" charset="-120"/>
              </a:rPr>
              <a:t>Kết quả đầu tiên</a:t>
            </a:r>
            <a:endParaRPr lang="en-US" sz="1800" dirty="0"/>
          </a:p>
        </p:txBody>
      </p:sp>
      <p:sp>
        <p:nvSpPr>
          <p:cNvPr id="23" name="Text 21"/>
          <p:cNvSpPr txBox="1"/>
          <p:nvPr/>
        </p:nvSpPr>
        <p:spPr>
          <a:xfrm>
            <a:off x="9272016" y="3246120"/>
            <a:ext cx="2103120" cy="1280160"/>
          </a:xfrm>
          <a:prstGeom prst="rect">
            <a:avLst/>
          </a:prstGeom>
          <a:noFill/>
          <a:ln/>
        </p:spPr>
        <p:txBody>
          <a:bodyPr wrap="square" lIns="0" tIns="0" rIns="0" bIns="0" rtlCol="0" anchor="t"/>
          <a:lstStyle/>
          <a:p>
            <a:pPr indent="0" marL="0">
              <a:buNone/>
            </a:pPr>
            <a:r>
              <a:rPr lang="en-US" sz="1400" dirty="0">
                <a:solidFill>
                  <a:srgbClr val="5B6B73"/>
                </a:solidFill>
                <a:latin typeface="Calibri" pitchFamily="34" charset="0"/>
                <a:ea typeface="Calibri" pitchFamily="34" charset="-122"/>
                <a:cs typeface="Calibri" pitchFamily="34" charset="-120"/>
              </a:rPr>
              <a:t>20 câu dev: hệ đầy đủ 18/20, baseline SimpleSearch 16/20. Phân tích từng câu sai.</a:t>
            </a:r>
            <a:endParaRPr lang="en-US" sz="1400" dirty="0"/>
          </a:p>
        </p:txBody>
      </p:sp>
      <p:sp>
        <p:nvSpPr>
          <p:cNvPr id="24" name="Shape 22"/>
          <p:cNvSpPr/>
          <p:nvPr/>
        </p:nvSpPr>
        <p:spPr>
          <a:xfrm>
            <a:off x="548640" y="4937760"/>
            <a:ext cx="11064240" cy="868680"/>
          </a:xfrm>
          <a:prstGeom prst="roundRect">
            <a:avLst>
              <a:gd name="adj" fmla="val 6316"/>
            </a:avLst>
          </a:prstGeom>
          <a:solidFill>
            <a:srgbClr val="E6F0F2"/>
          </a:solidFill>
          <a:ln w="12700">
            <a:solidFill>
              <a:srgbClr val="E6F0F2"/>
            </a:solidFill>
            <a:prstDash val="solid"/>
          </a:ln>
        </p:spPr>
      </p:sp>
      <p:sp>
        <p:nvSpPr>
          <p:cNvPr id="25" name="Text 23"/>
          <p:cNvSpPr txBox="1"/>
          <p:nvPr/>
        </p:nvSpPr>
        <p:spPr>
          <a:xfrm>
            <a:off x="777240" y="5074920"/>
            <a:ext cx="10607040" cy="640080"/>
          </a:xfrm>
          <a:prstGeom prst="rect">
            <a:avLst/>
          </a:prstGeom>
          <a:noFill/>
          <a:ln/>
        </p:spPr>
        <p:txBody>
          <a:bodyPr wrap="square" lIns="0" tIns="0" rIns="0" bIns="0" rtlCol="0" anchor="ctr"/>
          <a:lstStyle/>
          <a:p>
            <a:pPr indent="0" marL="0">
              <a:buNone/>
            </a:pPr>
            <a:r>
              <a:rPr lang="en-US" sz="1300" b="1" dirty="0">
                <a:solidFill>
                  <a:srgbClr val="1E2A32"/>
                </a:solidFill>
                <a:latin typeface="Calibri" pitchFamily="34" charset="0"/>
                <a:ea typeface="Calibri" pitchFamily="34" charset="-122"/>
                <a:cs typeface="Calibri" pitchFamily="34" charset="-120"/>
              </a:rPr>
              <a:t>Mô hình nền: </a:t>
            </a:r>
            <a:pPr indent="0" marL="0">
              <a:buNone/>
            </a:pPr>
            <a:r>
              <a:rPr lang="en-US" sz="1300" dirty="0">
                <a:solidFill>
                  <a:srgbClr val="1E2A32"/>
                </a:solidFill>
                <a:latin typeface="Calibri" pitchFamily="34" charset="0"/>
                <a:ea typeface="Calibri" pitchFamily="34" charset="-122"/>
                <a:cs typeface="Calibri" pitchFamily="34" charset="-120"/>
              </a:rPr>
              <a:t>GPT-5.6 Luna qua 9router cho cả trích xuất, agent và chấm điểm. Embedding: BGE-M3. Lưu trữ: SQLite. Benchmark: LongMemEval-S (chia dev/test giống notebook tuần 2, seed 42).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100" b="1" spc="200" kern="0" dirty="0">
                <a:solidFill>
                  <a:srgbClr val="D98C1F"/>
                </a:solidFill>
                <a:latin typeface="Calibri" pitchFamily="34" charset="0"/>
                <a:ea typeface="Calibri" pitchFamily="34" charset="-122"/>
                <a:cs typeface="Calibri" pitchFamily="34" charset="-120"/>
              </a:rPr>
              <a:t>PHẦN 1 · LƯỢC ĐỒ BỘ NHỚ</a:t>
            </a:r>
            <a:endParaRPr lang="en-US" sz="1100" dirty="0"/>
          </a:p>
        </p:txBody>
      </p:sp>
      <p:sp>
        <p:nvSpPr>
          <p:cNvPr id="3" name="Text 1"/>
          <p:cNvSpPr txBox="1"/>
          <p:nvPr/>
        </p:nvSpPr>
        <p:spPr>
          <a:xfrm>
            <a:off x="548640" y="621792"/>
            <a:ext cx="11064240" cy="566928"/>
          </a:xfrm>
          <a:prstGeom prst="rect">
            <a:avLst/>
          </a:prstGeom>
          <a:noFill/>
          <a:ln/>
        </p:spPr>
        <p:txBody>
          <a:bodyPr wrap="square" lIns="0" tIns="0" rIns="0" bIns="0" rtlCol="0" anchor="ctr"/>
          <a:lstStyle/>
          <a:p>
            <a:pPr indent="0" marL="0">
              <a:buNone/>
            </a:pPr>
            <a:r>
              <a:rPr lang="en-US" sz="2800" b="1" dirty="0">
                <a:solidFill>
                  <a:srgbClr val="12232E"/>
                </a:solidFill>
                <a:latin typeface="Cambria" pitchFamily="34" charset="0"/>
                <a:ea typeface="Cambria" pitchFamily="34" charset="-122"/>
                <a:cs typeface="Cambria" pitchFamily="34" charset="-120"/>
              </a:rPr>
              <a:t>Đồ thị thuộc tính trên SQLite: 7 bảng</a:t>
            </a:r>
            <a:endParaRPr lang="en-US" sz="2800" dirty="0"/>
          </a:p>
        </p:txBody>
      </p:sp>
      <p:sp>
        <p:nvSpPr>
          <p:cNvPr id="4" name="Shape 2"/>
          <p:cNvSpPr/>
          <p:nvPr/>
        </p:nvSpPr>
        <p:spPr>
          <a:xfrm>
            <a:off x="457200" y="1417320"/>
            <a:ext cx="2240280" cy="1513332"/>
          </a:xfrm>
          <a:prstGeom prst="roundRect">
            <a:avLst>
              <a:gd name="adj" fmla="val 3625"/>
            </a:avLst>
          </a:prstGeom>
          <a:solidFill>
            <a:srgbClr val="F3F7F8"/>
          </a:solidFill>
          <a:ln w="9525">
            <a:solidFill>
              <a:srgbClr val="BFD8DD"/>
            </a:solidFill>
            <a:prstDash val="solid"/>
          </a:ln>
        </p:spPr>
      </p:sp>
      <p:sp>
        <p:nvSpPr>
          <p:cNvPr id="5" name="Shape 3"/>
          <p:cNvSpPr/>
          <p:nvPr/>
        </p:nvSpPr>
        <p:spPr>
          <a:xfrm>
            <a:off x="457200" y="1417320"/>
            <a:ext cx="2240280" cy="329184"/>
          </a:xfrm>
          <a:prstGeom prst="rect">
            <a:avLst/>
          </a:prstGeom>
          <a:solidFill>
            <a:srgbClr val="0F5C6B"/>
          </a:solidFill>
          <a:ln w="12700">
            <a:solidFill>
              <a:srgbClr val="0F5C6B"/>
            </a:solidFill>
            <a:prstDash val="solid"/>
          </a:ln>
        </p:spPr>
      </p:sp>
      <p:sp>
        <p:nvSpPr>
          <p:cNvPr id="6" name="Text 4"/>
          <p:cNvSpPr txBox="1"/>
          <p:nvPr/>
        </p:nvSpPr>
        <p:spPr>
          <a:xfrm>
            <a:off x="566928" y="1417320"/>
            <a:ext cx="2057400" cy="329184"/>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entities</a:t>
            </a:r>
            <a:endParaRPr lang="en-US" sz="1200" dirty="0"/>
          </a:p>
        </p:txBody>
      </p:sp>
      <p:sp>
        <p:nvSpPr>
          <p:cNvPr id="7" name="Text 5"/>
          <p:cNvSpPr txBox="1"/>
          <p:nvPr/>
        </p:nvSpPr>
        <p:spPr>
          <a:xfrm>
            <a:off x="566928" y="1801368"/>
            <a:ext cx="205740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entity_id  PK</a:t>
            </a:r>
            <a:endParaRPr lang="en-US" sz="950" dirty="0"/>
          </a:p>
        </p:txBody>
      </p:sp>
      <p:sp>
        <p:nvSpPr>
          <p:cNvPr id="8" name="Text 6"/>
          <p:cNvSpPr txBox="1"/>
          <p:nvPr/>
        </p:nvSpPr>
        <p:spPr>
          <a:xfrm>
            <a:off x="566928" y="2016252"/>
            <a:ext cx="205740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name</a:t>
            </a:r>
            <a:endParaRPr lang="en-US" sz="950" dirty="0"/>
          </a:p>
        </p:txBody>
      </p:sp>
      <p:sp>
        <p:nvSpPr>
          <p:cNvPr id="9" name="Text 7"/>
          <p:cNvSpPr txBox="1"/>
          <p:nvPr/>
        </p:nvSpPr>
        <p:spPr>
          <a:xfrm>
            <a:off x="566928" y="2231136"/>
            <a:ext cx="205740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type   (35 lớp)</a:t>
            </a:r>
            <a:endParaRPr lang="en-US" sz="950" dirty="0"/>
          </a:p>
        </p:txBody>
      </p:sp>
      <p:sp>
        <p:nvSpPr>
          <p:cNvPr id="10" name="Text 8"/>
          <p:cNvSpPr txBox="1"/>
          <p:nvPr/>
        </p:nvSpPr>
        <p:spPr>
          <a:xfrm>
            <a:off x="566928" y="2446020"/>
            <a:ext cx="205740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role</a:t>
            </a:r>
            <a:endParaRPr lang="en-US" sz="950" dirty="0"/>
          </a:p>
        </p:txBody>
      </p:sp>
      <p:sp>
        <p:nvSpPr>
          <p:cNvPr id="11" name="Text 9"/>
          <p:cNvSpPr txBox="1"/>
          <p:nvPr/>
        </p:nvSpPr>
        <p:spPr>
          <a:xfrm>
            <a:off x="566928" y="2660904"/>
            <a:ext cx="205740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aliases_json</a:t>
            </a:r>
            <a:endParaRPr lang="en-US" sz="950" dirty="0"/>
          </a:p>
        </p:txBody>
      </p:sp>
      <p:sp>
        <p:nvSpPr>
          <p:cNvPr id="12" name="Shape 10"/>
          <p:cNvSpPr/>
          <p:nvPr/>
        </p:nvSpPr>
        <p:spPr>
          <a:xfrm>
            <a:off x="3200400" y="1417320"/>
            <a:ext cx="2194560" cy="868680"/>
          </a:xfrm>
          <a:prstGeom prst="roundRect">
            <a:avLst>
              <a:gd name="adj" fmla="val 6316"/>
            </a:avLst>
          </a:prstGeom>
          <a:solidFill>
            <a:srgbClr val="F3F7F8"/>
          </a:solidFill>
          <a:ln w="9525">
            <a:solidFill>
              <a:srgbClr val="BFD8DD"/>
            </a:solidFill>
            <a:prstDash val="solid"/>
          </a:ln>
        </p:spPr>
      </p:sp>
      <p:sp>
        <p:nvSpPr>
          <p:cNvPr id="13" name="Shape 11"/>
          <p:cNvSpPr/>
          <p:nvPr/>
        </p:nvSpPr>
        <p:spPr>
          <a:xfrm>
            <a:off x="3200400" y="1417320"/>
            <a:ext cx="2194560" cy="329184"/>
          </a:xfrm>
          <a:prstGeom prst="rect">
            <a:avLst/>
          </a:prstGeom>
          <a:solidFill>
            <a:srgbClr val="0F5C6B"/>
          </a:solidFill>
          <a:ln w="12700">
            <a:solidFill>
              <a:srgbClr val="0F5C6B"/>
            </a:solidFill>
            <a:prstDash val="solid"/>
          </a:ln>
        </p:spPr>
      </p:sp>
      <p:sp>
        <p:nvSpPr>
          <p:cNvPr id="14" name="Text 12"/>
          <p:cNvSpPr txBox="1"/>
          <p:nvPr/>
        </p:nvSpPr>
        <p:spPr>
          <a:xfrm>
            <a:off x="3310128" y="1417320"/>
            <a:ext cx="2011680" cy="329184"/>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event_participants</a:t>
            </a:r>
            <a:endParaRPr lang="en-US" sz="1200" dirty="0"/>
          </a:p>
        </p:txBody>
      </p:sp>
      <p:sp>
        <p:nvSpPr>
          <p:cNvPr id="15" name="Text 13"/>
          <p:cNvSpPr txBox="1"/>
          <p:nvPr/>
        </p:nvSpPr>
        <p:spPr>
          <a:xfrm>
            <a:off x="3310128" y="1801368"/>
            <a:ext cx="201168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event_id  → events</a:t>
            </a:r>
            <a:endParaRPr lang="en-US" sz="950" dirty="0"/>
          </a:p>
        </p:txBody>
      </p:sp>
      <p:sp>
        <p:nvSpPr>
          <p:cNvPr id="16" name="Text 14"/>
          <p:cNvSpPr txBox="1"/>
          <p:nvPr/>
        </p:nvSpPr>
        <p:spPr>
          <a:xfrm>
            <a:off x="3310128" y="2016252"/>
            <a:ext cx="201168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entity_id → entities</a:t>
            </a:r>
            <a:endParaRPr lang="en-US" sz="950" dirty="0"/>
          </a:p>
        </p:txBody>
      </p:sp>
      <p:sp>
        <p:nvSpPr>
          <p:cNvPr id="17" name="Shape 15"/>
          <p:cNvSpPr/>
          <p:nvPr/>
        </p:nvSpPr>
        <p:spPr>
          <a:xfrm>
            <a:off x="5897880" y="1417320"/>
            <a:ext cx="2057400" cy="1513332"/>
          </a:xfrm>
          <a:prstGeom prst="roundRect">
            <a:avLst>
              <a:gd name="adj" fmla="val 3625"/>
            </a:avLst>
          </a:prstGeom>
          <a:solidFill>
            <a:srgbClr val="F3F7F8"/>
          </a:solidFill>
          <a:ln w="9525">
            <a:solidFill>
              <a:srgbClr val="BFD8DD"/>
            </a:solidFill>
            <a:prstDash val="solid"/>
          </a:ln>
        </p:spPr>
      </p:sp>
      <p:sp>
        <p:nvSpPr>
          <p:cNvPr id="18" name="Shape 16"/>
          <p:cNvSpPr/>
          <p:nvPr/>
        </p:nvSpPr>
        <p:spPr>
          <a:xfrm>
            <a:off x="5897880" y="1417320"/>
            <a:ext cx="2057400" cy="329184"/>
          </a:xfrm>
          <a:prstGeom prst="rect">
            <a:avLst/>
          </a:prstGeom>
          <a:solidFill>
            <a:srgbClr val="0F5C6B"/>
          </a:solidFill>
          <a:ln w="12700">
            <a:solidFill>
              <a:srgbClr val="0F5C6B"/>
            </a:solidFill>
            <a:prstDash val="solid"/>
          </a:ln>
        </p:spPr>
      </p:sp>
      <p:sp>
        <p:nvSpPr>
          <p:cNvPr id="19" name="Text 17"/>
          <p:cNvSpPr txBox="1"/>
          <p:nvPr/>
        </p:nvSpPr>
        <p:spPr>
          <a:xfrm>
            <a:off x="6007608" y="1417320"/>
            <a:ext cx="1874520" cy="329184"/>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events</a:t>
            </a:r>
            <a:endParaRPr lang="en-US" sz="1200" dirty="0"/>
          </a:p>
        </p:txBody>
      </p:sp>
      <p:sp>
        <p:nvSpPr>
          <p:cNvPr id="20" name="Text 18"/>
          <p:cNvSpPr txBox="1"/>
          <p:nvPr/>
        </p:nvSpPr>
        <p:spPr>
          <a:xfrm>
            <a:off x="6007608" y="1801368"/>
            <a:ext cx="187452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event_id  PK</a:t>
            </a:r>
            <a:endParaRPr lang="en-US" sz="950" dirty="0"/>
          </a:p>
        </p:txBody>
      </p:sp>
      <p:sp>
        <p:nvSpPr>
          <p:cNvPr id="21" name="Text 19"/>
          <p:cNvSpPr txBox="1"/>
          <p:nvPr/>
        </p:nvSpPr>
        <p:spPr>
          <a:xfrm>
            <a:off x="6007608" y="2016252"/>
            <a:ext cx="187452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type</a:t>
            </a:r>
            <a:endParaRPr lang="en-US" sz="950" dirty="0"/>
          </a:p>
        </p:txBody>
      </p:sp>
      <p:sp>
        <p:nvSpPr>
          <p:cNvPr id="22" name="Text 20"/>
          <p:cNvSpPr txBox="1"/>
          <p:nvPr/>
        </p:nvSpPr>
        <p:spPr>
          <a:xfrm>
            <a:off x="6007608" y="2231136"/>
            <a:ext cx="187452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anchor_datetime</a:t>
            </a:r>
            <a:endParaRPr lang="en-US" sz="950" dirty="0"/>
          </a:p>
        </p:txBody>
      </p:sp>
      <p:sp>
        <p:nvSpPr>
          <p:cNvPr id="23" name="Text 21"/>
          <p:cNvSpPr txBox="1"/>
          <p:nvPr/>
        </p:nvSpPr>
        <p:spPr>
          <a:xfrm>
            <a:off x="6007608" y="2446020"/>
            <a:ext cx="187452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location</a:t>
            </a:r>
            <a:endParaRPr lang="en-US" sz="950" dirty="0"/>
          </a:p>
        </p:txBody>
      </p:sp>
      <p:sp>
        <p:nvSpPr>
          <p:cNvPr id="24" name="Text 22"/>
          <p:cNvSpPr txBox="1"/>
          <p:nvPr/>
        </p:nvSpPr>
        <p:spPr>
          <a:xfrm>
            <a:off x="6007608" y="2660904"/>
            <a:ext cx="187452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session_id</a:t>
            </a:r>
            <a:endParaRPr lang="en-US" sz="950" dirty="0"/>
          </a:p>
        </p:txBody>
      </p:sp>
      <p:sp>
        <p:nvSpPr>
          <p:cNvPr id="25" name="Shape 23"/>
          <p:cNvSpPr/>
          <p:nvPr/>
        </p:nvSpPr>
        <p:spPr>
          <a:xfrm>
            <a:off x="457200" y="3337560"/>
            <a:ext cx="2240280" cy="1083564"/>
          </a:xfrm>
          <a:prstGeom prst="roundRect">
            <a:avLst>
              <a:gd name="adj" fmla="val 5063"/>
            </a:avLst>
          </a:prstGeom>
          <a:solidFill>
            <a:srgbClr val="F3F7F8"/>
          </a:solidFill>
          <a:ln w="9525">
            <a:solidFill>
              <a:srgbClr val="BFD8DD"/>
            </a:solidFill>
            <a:prstDash val="solid"/>
          </a:ln>
        </p:spPr>
      </p:sp>
      <p:sp>
        <p:nvSpPr>
          <p:cNvPr id="26" name="Shape 24"/>
          <p:cNvSpPr/>
          <p:nvPr/>
        </p:nvSpPr>
        <p:spPr>
          <a:xfrm>
            <a:off x="457200" y="3337560"/>
            <a:ext cx="2240280" cy="329184"/>
          </a:xfrm>
          <a:prstGeom prst="rect">
            <a:avLst/>
          </a:prstGeom>
          <a:solidFill>
            <a:srgbClr val="0F5C6B"/>
          </a:solidFill>
          <a:ln w="12700">
            <a:solidFill>
              <a:srgbClr val="0F5C6B"/>
            </a:solidFill>
            <a:prstDash val="solid"/>
          </a:ln>
        </p:spPr>
      </p:sp>
      <p:sp>
        <p:nvSpPr>
          <p:cNvPr id="27" name="Text 25"/>
          <p:cNvSpPr txBox="1"/>
          <p:nvPr/>
        </p:nvSpPr>
        <p:spPr>
          <a:xfrm>
            <a:off x="566928" y="3337560"/>
            <a:ext cx="2057400" cy="329184"/>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properties</a:t>
            </a:r>
            <a:endParaRPr lang="en-US" sz="1200" dirty="0"/>
          </a:p>
        </p:txBody>
      </p:sp>
      <p:sp>
        <p:nvSpPr>
          <p:cNvPr id="28" name="Text 26"/>
          <p:cNvSpPr txBox="1"/>
          <p:nvPr/>
        </p:nvSpPr>
        <p:spPr>
          <a:xfrm>
            <a:off x="566928" y="3721608"/>
            <a:ext cx="205740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property_id  PK</a:t>
            </a:r>
            <a:endParaRPr lang="en-US" sz="950" dirty="0"/>
          </a:p>
        </p:txBody>
      </p:sp>
      <p:sp>
        <p:nvSpPr>
          <p:cNvPr id="29" name="Text 27"/>
          <p:cNvSpPr txBox="1"/>
          <p:nvPr/>
        </p:nvSpPr>
        <p:spPr>
          <a:xfrm>
            <a:off x="566928" y="3936492"/>
            <a:ext cx="205740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name   (snake_case)</a:t>
            </a:r>
            <a:endParaRPr lang="en-US" sz="950" dirty="0"/>
          </a:p>
        </p:txBody>
      </p:sp>
      <p:sp>
        <p:nvSpPr>
          <p:cNvPr id="30" name="Text 28"/>
          <p:cNvSpPr txBox="1"/>
          <p:nvPr/>
        </p:nvSpPr>
        <p:spPr>
          <a:xfrm>
            <a:off x="566928" y="4151376"/>
            <a:ext cx="205740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dtype</a:t>
            </a:r>
            <a:endParaRPr lang="en-US" sz="950" dirty="0"/>
          </a:p>
        </p:txBody>
      </p:sp>
      <p:sp>
        <p:nvSpPr>
          <p:cNvPr id="31" name="Shape 29"/>
          <p:cNvSpPr/>
          <p:nvPr/>
        </p:nvSpPr>
        <p:spPr>
          <a:xfrm>
            <a:off x="3200400" y="2697480"/>
            <a:ext cx="2194560" cy="1943100"/>
          </a:xfrm>
          <a:prstGeom prst="roundRect">
            <a:avLst>
              <a:gd name="adj" fmla="val 2824"/>
            </a:avLst>
          </a:prstGeom>
          <a:solidFill>
            <a:srgbClr val="F3F7F8"/>
          </a:solidFill>
          <a:ln w="9525">
            <a:solidFill>
              <a:srgbClr val="BFD8DD"/>
            </a:solidFill>
            <a:prstDash val="solid"/>
          </a:ln>
        </p:spPr>
      </p:sp>
      <p:sp>
        <p:nvSpPr>
          <p:cNvPr id="32" name="Shape 30"/>
          <p:cNvSpPr/>
          <p:nvPr/>
        </p:nvSpPr>
        <p:spPr>
          <a:xfrm>
            <a:off x="3200400" y="2697480"/>
            <a:ext cx="2194560" cy="329184"/>
          </a:xfrm>
          <a:prstGeom prst="rect">
            <a:avLst/>
          </a:prstGeom>
          <a:solidFill>
            <a:srgbClr val="D98C1F"/>
          </a:solidFill>
          <a:ln w="12700">
            <a:solidFill>
              <a:srgbClr val="D98C1F"/>
            </a:solidFill>
            <a:prstDash val="solid"/>
          </a:ln>
        </p:spPr>
      </p:sp>
      <p:sp>
        <p:nvSpPr>
          <p:cNvPr id="33" name="Text 31"/>
          <p:cNvSpPr txBox="1"/>
          <p:nvPr/>
        </p:nvSpPr>
        <p:spPr>
          <a:xfrm>
            <a:off x="3310128" y="2697480"/>
            <a:ext cx="2011680" cy="329184"/>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facts</a:t>
            </a:r>
            <a:endParaRPr lang="en-US" sz="1200" dirty="0"/>
          </a:p>
        </p:txBody>
      </p:sp>
      <p:sp>
        <p:nvSpPr>
          <p:cNvPr id="34" name="Text 32"/>
          <p:cNvSpPr txBox="1"/>
          <p:nvPr/>
        </p:nvSpPr>
        <p:spPr>
          <a:xfrm>
            <a:off x="3310128" y="3081528"/>
            <a:ext cx="201168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fact_id  PK</a:t>
            </a:r>
            <a:endParaRPr lang="en-US" sz="950" dirty="0"/>
          </a:p>
        </p:txBody>
      </p:sp>
      <p:sp>
        <p:nvSpPr>
          <p:cNvPr id="35" name="Text 33"/>
          <p:cNvSpPr txBox="1"/>
          <p:nvPr/>
        </p:nvSpPr>
        <p:spPr>
          <a:xfrm>
            <a:off x="3310128" y="3296412"/>
            <a:ext cx="201168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subject_id  → entities</a:t>
            </a:r>
            <a:endParaRPr lang="en-US" sz="950" dirty="0"/>
          </a:p>
        </p:txBody>
      </p:sp>
      <p:sp>
        <p:nvSpPr>
          <p:cNvPr id="36" name="Text 34"/>
          <p:cNvSpPr txBox="1"/>
          <p:nvPr/>
        </p:nvSpPr>
        <p:spPr>
          <a:xfrm>
            <a:off x="3310128" y="3511296"/>
            <a:ext cx="201168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property_id → properties</a:t>
            </a:r>
            <a:endParaRPr lang="en-US" sz="950" dirty="0"/>
          </a:p>
        </p:txBody>
      </p:sp>
      <p:sp>
        <p:nvSpPr>
          <p:cNvPr id="37" name="Text 35"/>
          <p:cNvSpPr txBox="1"/>
          <p:nvPr/>
        </p:nvSpPr>
        <p:spPr>
          <a:xfrm>
            <a:off x="3310128" y="3726180"/>
            <a:ext cx="201168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value_json · dtype</a:t>
            </a:r>
            <a:endParaRPr lang="en-US" sz="950" dirty="0"/>
          </a:p>
        </p:txBody>
      </p:sp>
      <p:sp>
        <p:nvSpPr>
          <p:cNvPr id="38" name="Text 36"/>
          <p:cNvSpPr txBox="1"/>
          <p:nvPr/>
        </p:nvSpPr>
        <p:spPr>
          <a:xfrm>
            <a:off x="3310128" y="3941064"/>
            <a:ext cx="201168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t_from · t_to</a:t>
            </a:r>
            <a:endParaRPr lang="en-US" sz="950" dirty="0"/>
          </a:p>
        </p:txBody>
      </p:sp>
      <p:sp>
        <p:nvSpPr>
          <p:cNvPr id="39" name="Text 37"/>
          <p:cNvSpPr txBox="1"/>
          <p:nvPr/>
        </p:nvSpPr>
        <p:spPr>
          <a:xfrm>
            <a:off x="3310128" y="4155948"/>
            <a:ext cx="201168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confidence</a:t>
            </a:r>
            <a:endParaRPr lang="en-US" sz="950" dirty="0"/>
          </a:p>
        </p:txBody>
      </p:sp>
      <p:sp>
        <p:nvSpPr>
          <p:cNvPr id="40" name="Text 38"/>
          <p:cNvSpPr txBox="1"/>
          <p:nvPr/>
        </p:nvSpPr>
        <p:spPr>
          <a:xfrm>
            <a:off x="3310128" y="4370832"/>
            <a:ext cx="201168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event_id    → events</a:t>
            </a:r>
            <a:endParaRPr lang="en-US" sz="950" dirty="0"/>
          </a:p>
        </p:txBody>
      </p:sp>
      <p:sp>
        <p:nvSpPr>
          <p:cNvPr id="41" name="Shape 39"/>
          <p:cNvSpPr/>
          <p:nvPr/>
        </p:nvSpPr>
        <p:spPr>
          <a:xfrm>
            <a:off x="3200400" y="4846320"/>
            <a:ext cx="2194560" cy="1298448"/>
          </a:xfrm>
          <a:prstGeom prst="roundRect">
            <a:avLst>
              <a:gd name="adj" fmla="val 4225"/>
            </a:avLst>
          </a:prstGeom>
          <a:solidFill>
            <a:srgbClr val="F3F7F8"/>
          </a:solidFill>
          <a:ln w="9525">
            <a:solidFill>
              <a:srgbClr val="BFD8DD"/>
            </a:solidFill>
            <a:prstDash val="solid"/>
          </a:ln>
        </p:spPr>
      </p:sp>
      <p:sp>
        <p:nvSpPr>
          <p:cNvPr id="42" name="Shape 40"/>
          <p:cNvSpPr/>
          <p:nvPr/>
        </p:nvSpPr>
        <p:spPr>
          <a:xfrm>
            <a:off x="3200400" y="4846320"/>
            <a:ext cx="2194560" cy="329184"/>
          </a:xfrm>
          <a:prstGeom prst="rect">
            <a:avLst/>
          </a:prstGeom>
          <a:solidFill>
            <a:srgbClr val="0F5C6B"/>
          </a:solidFill>
          <a:ln w="12700">
            <a:solidFill>
              <a:srgbClr val="0F5C6B"/>
            </a:solidFill>
            <a:prstDash val="solid"/>
          </a:ln>
        </p:spPr>
      </p:sp>
      <p:sp>
        <p:nvSpPr>
          <p:cNvPr id="43" name="Text 41"/>
          <p:cNvSpPr txBox="1"/>
          <p:nvPr/>
        </p:nvSpPr>
        <p:spPr>
          <a:xfrm>
            <a:off x="3310128" y="4846320"/>
            <a:ext cx="2011680" cy="329184"/>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evidence</a:t>
            </a:r>
            <a:endParaRPr lang="en-US" sz="1200" dirty="0"/>
          </a:p>
        </p:txBody>
      </p:sp>
      <p:sp>
        <p:nvSpPr>
          <p:cNvPr id="44" name="Text 42"/>
          <p:cNvSpPr txBox="1"/>
          <p:nvPr/>
        </p:nvSpPr>
        <p:spPr>
          <a:xfrm>
            <a:off x="3310128" y="5230368"/>
            <a:ext cx="201168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fact_id  → facts</a:t>
            </a:r>
            <a:endParaRPr lang="en-US" sz="950" dirty="0"/>
          </a:p>
        </p:txBody>
      </p:sp>
      <p:sp>
        <p:nvSpPr>
          <p:cNvPr id="45" name="Text 43"/>
          <p:cNvSpPr txBox="1"/>
          <p:nvPr/>
        </p:nvSpPr>
        <p:spPr>
          <a:xfrm>
            <a:off x="3310128" y="5445252"/>
            <a:ext cx="201168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event_id → events</a:t>
            </a:r>
            <a:endParaRPr lang="en-US" sz="950" dirty="0"/>
          </a:p>
        </p:txBody>
      </p:sp>
      <p:sp>
        <p:nvSpPr>
          <p:cNvPr id="46" name="Text 44"/>
          <p:cNvSpPr txBox="1"/>
          <p:nvPr/>
        </p:nvSpPr>
        <p:spPr>
          <a:xfrm>
            <a:off x="3310128" y="5660136"/>
            <a:ext cx="201168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turn_id  → turns</a:t>
            </a:r>
            <a:endParaRPr lang="en-US" sz="950" dirty="0"/>
          </a:p>
        </p:txBody>
      </p:sp>
      <p:sp>
        <p:nvSpPr>
          <p:cNvPr id="47" name="Text 45"/>
          <p:cNvSpPr txBox="1"/>
          <p:nvPr/>
        </p:nvSpPr>
        <p:spPr>
          <a:xfrm>
            <a:off x="3310128" y="5875020"/>
            <a:ext cx="201168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span  (trích nguyên văn)</a:t>
            </a:r>
            <a:endParaRPr lang="en-US" sz="950" dirty="0"/>
          </a:p>
        </p:txBody>
      </p:sp>
      <p:sp>
        <p:nvSpPr>
          <p:cNvPr id="48" name="Shape 46"/>
          <p:cNvSpPr/>
          <p:nvPr/>
        </p:nvSpPr>
        <p:spPr>
          <a:xfrm>
            <a:off x="5897880" y="4526280"/>
            <a:ext cx="2057400" cy="1298448"/>
          </a:xfrm>
          <a:prstGeom prst="roundRect">
            <a:avLst>
              <a:gd name="adj" fmla="val 4225"/>
            </a:avLst>
          </a:prstGeom>
          <a:solidFill>
            <a:srgbClr val="F3F7F8"/>
          </a:solidFill>
          <a:ln w="9525">
            <a:solidFill>
              <a:srgbClr val="BFD8DD"/>
            </a:solidFill>
            <a:prstDash val="solid"/>
          </a:ln>
        </p:spPr>
      </p:sp>
      <p:sp>
        <p:nvSpPr>
          <p:cNvPr id="49" name="Shape 47"/>
          <p:cNvSpPr/>
          <p:nvPr/>
        </p:nvSpPr>
        <p:spPr>
          <a:xfrm>
            <a:off x="5897880" y="4526280"/>
            <a:ext cx="2057400" cy="329184"/>
          </a:xfrm>
          <a:prstGeom prst="rect">
            <a:avLst/>
          </a:prstGeom>
          <a:solidFill>
            <a:srgbClr val="0F5C6B"/>
          </a:solidFill>
          <a:ln w="12700">
            <a:solidFill>
              <a:srgbClr val="0F5C6B"/>
            </a:solidFill>
            <a:prstDash val="solid"/>
          </a:ln>
        </p:spPr>
      </p:sp>
      <p:sp>
        <p:nvSpPr>
          <p:cNvPr id="50" name="Text 48"/>
          <p:cNvSpPr txBox="1"/>
          <p:nvPr/>
        </p:nvSpPr>
        <p:spPr>
          <a:xfrm>
            <a:off x="6007608" y="4526280"/>
            <a:ext cx="1874520" cy="329184"/>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turns</a:t>
            </a:r>
            <a:endParaRPr lang="en-US" sz="1200" dirty="0"/>
          </a:p>
        </p:txBody>
      </p:sp>
      <p:sp>
        <p:nvSpPr>
          <p:cNvPr id="51" name="Text 49"/>
          <p:cNvSpPr txBox="1"/>
          <p:nvPr/>
        </p:nvSpPr>
        <p:spPr>
          <a:xfrm>
            <a:off x="6007608" y="4910328"/>
            <a:ext cx="187452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turn_id  PK</a:t>
            </a:r>
            <a:endParaRPr lang="en-US" sz="950" dirty="0"/>
          </a:p>
        </p:txBody>
      </p:sp>
      <p:sp>
        <p:nvSpPr>
          <p:cNvPr id="52" name="Text 50"/>
          <p:cNvSpPr txBox="1"/>
          <p:nvPr/>
        </p:nvSpPr>
        <p:spPr>
          <a:xfrm>
            <a:off x="6007608" y="5125212"/>
            <a:ext cx="187452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session_id</a:t>
            </a:r>
            <a:endParaRPr lang="en-US" sz="950" dirty="0"/>
          </a:p>
        </p:txBody>
      </p:sp>
      <p:sp>
        <p:nvSpPr>
          <p:cNvPr id="53" name="Text 51"/>
          <p:cNvSpPr txBox="1"/>
          <p:nvPr/>
        </p:nvSpPr>
        <p:spPr>
          <a:xfrm>
            <a:off x="6007608" y="5340096"/>
            <a:ext cx="187452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speaker · text</a:t>
            </a:r>
            <a:endParaRPr lang="en-US" sz="950" dirty="0"/>
          </a:p>
        </p:txBody>
      </p:sp>
      <p:sp>
        <p:nvSpPr>
          <p:cNvPr id="54" name="Text 52"/>
          <p:cNvSpPr txBox="1"/>
          <p:nvPr/>
        </p:nvSpPr>
        <p:spPr>
          <a:xfrm>
            <a:off x="6007608" y="5554980"/>
            <a:ext cx="187452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session_date</a:t>
            </a:r>
            <a:endParaRPr lang="en-US" sz="950" dirty="0"/>
          </a:p>
        </p:txBody>
      </p:sp>
      <p:sp>
        <p:nvSpPr>
          <p:cNvPr id="55" name="Shape 53"/>
          <p:cNvSpPr/>
          <p:nvPr/>
        </p:nvSpPr>
        <p:spPr>
          <a:xfrm flipH="1">
            <a:off x="2697480" y="1874520"/>
            <a:ext cx="502920" cy="914"/>
          </a:xfrm>
          <a:prstGeom prst="line">
            <a:avLst/>
          </a:prstGeom>
          <a:noFill/>
          <a:ln w="19050">
            <a:solidFill>
              <a:srgbClr val="2A8A99"/>
            </a:solidFill>
            <a:prstDash val="solid"/>
            <a:tailEnd type="triangle"/>
          </a:ln>
        </p:spPr>
      </p:sp>
      <p:sp>
        <p:nvSpPr>
          <p:cNvPr id="56" name="Shape 54"/>
          <p:cNvSpPr/>
          <p:nvPr/>
        </p:nvSpPr>
        <p:spPr>
          <a:xfrm>
            <a:off x="5394960" y="1874520"/>
            <a:ext cx="502920" cy="914"/>
          </a:xfrm>
          <a:prstGeom prst="line">
            <a:avLst/>
          </a:prstGeom>
          <a:noFill/>
          <a:ln w="19050">
            <a:solidFill>
              <a:srgbClr val="2A8A99"/>
            </a:solidFill>
            <a:prstDash val="solid"/>
            <a:tailEnd type="triangle"/>
          </a:ln>
        </p:spPr>
      </p:sp>
      <p:sp>
        <p:nvSpPr>
          <p:cNvPr id="57" name="Shape 55"/>
          <p:cNvSpPr/>
          <p:nvPr/>
        </p:nvSpPr>
        <p:spPr>
          <a:xfrm flipH="1" flipV="1">
            <a:off x="2697480" y="2606040"/>
            <a:ext cx="502920" cy="548640"/>
          </a:xfrm>
          <a:prstGeom prst="line">
            <a:avLst/>
          </a:prstGeom>
          <a:noFill/>
          <a:ln w="19050">
            <a:solidFill>
              <a:srgbClr val="2A8A99"/>
            </a:solidFill>
            <a:prstDash val="solid"/>
            <a:tailEnd type="triangle"/>
          </a:ln>
        </p:spPr>
      </p:sp>
      <p:sp>
        <p:nvSpPr>
          <p:cNvPr id="58" name="Shape 56"/>
          <p:cNvSpPr/>
          <p:nvPr/>
        </p:nvSpPr>
        <p:spPr>
          <a:xfrm flipH="1">
            <a:off x="2697480" y="3749040"/>
            <a:ext cx="502920" cy="914"/>
          </a:xfrm>
          <a:prstGeom prst="line">
            <a:avLst/>
          </a:prstGeom>
          <a:noFill/>
          <a:ln w="19050">
            <a:solidFill>
              <a:srgbClr val="2A8A99"/>
            </a:solidFill>
            <a:prstDash val="solid"/>
            <a:tailEnd type="triangle"/>
          </a:ln>
        </p:spPr>
      </p:sp>
      <p:sp>
        <p:nvSpPr>
          <p:cNvPr id="59" name="Shape 57"/>
          <p:cNvSpPr/>
          <p:nvPr/>
        </p:nvSpPr>
        <p:spPr>
          <a:xfrm flipV="1">
            <a:off x="5394960" y="2606040"/>
            <a:ext cx="502920" cy="548640"/>
          </a:xfrm>
          <a:prstGeom prst="line">
            <a:avLst/>
          </a:prstGeom>
          <a:noFill/>
          <a:ln w="19050">
            <a:solidFill>
              <a:srgbClr val="2A8A99"/>
            </a:solidFill>
            <a:prstDash val="solid"/>
            <a:tailEnd type="triangle"/>
          </a:ln>
        </p:spPr>
      </p:sp>
      <p:sp>
        <p:nvSpPr>
          <p:cNvPr id="60" name="Shape 58"/>
          <p:cNvSpPr/>
          <p:nvPr/>
        </p:nvSpPr>
        <p:spPr>
          <a:xfrm flipV="1">
            <a:off x="4297680" y="4572000"/>
            <a:ext cx="914" cy="274320"/>
          </a:xfrm>
          <a:prstGeom prst="line">
            <a:avLst/>
          </a:prstGeom>
          <a:noFill/>
          <a:ln w="19050">
            <a:solidFill>
              <a:srgbClr val="2A8A99"/>
            </a:solidFill>
            <a:prstDash val="solid"/>
            <a:tailEnd type="triangle"/>
          </a:ln>
        </p:spPr>
      </p:sp>
      <p:sp>
        <p:nvSpPr>
          <p:cNvPr id="61" name="Shape 59"/>
          <p:cNvSpPr/>
          <p:nvPr/>
        </p:nvSpPr>
        <p:spPr>
          <a:xfrm>
            <a:off x="5394960" y="5349240"/>
            <a:ext cx="502920" cy="914"/>
          </a:xfrm>
          <a:prstGeom prst="line">
            <a:avLst/>
          </a:prstGeom>
          <a:noFill/>
          <a:ln w="19050">
            <a:solidFill>
              <a:srgbClr val="2A8A99"/>
            </a:solidFill>
            <a:prstDash val="solid"/>
            <a:tailEnd type="triangle"/>
          </a:ln>
        </p:spPr>
      </p:sp>
      <p:sp>
        <p:nvSpPr>
          <p:cNvPr id="62" name="Shape 60"/>
          <p:cNvSpPr/>
          <p:nvPr/>
        </p:nvSpPr>
        <p:spPr>
          <a:xfrm>
            <a:off x="6035040" y="6053328"/>
            <a:ext cx="320040" cy="914"/>
          </a:xfrm>
          <a:prstGeom prst="line">
            <a:avLst/>
          </a:prstGeom>
          <a:noFill/>
          <a:ln w="19050">
            <a:solidFill>
              <a:srgbClr val="2A8A99"/>
            </a:solidFill>
            <a:prstDash val="solid"/>
            <a:tailEnd type="triangle"/>
          </a:ln>
        </p:spPr>
      </p:sp>
      <p:sp>
        <p:nvSpPr>
          <p:cNvPr id="63" name="Text 61"/>
          <p:cNvSpPr txBox="1"/>
          <p:nvPr/>
        </p:nvSpPr>
        <p:spPr>
          <a:xfrm>
            <a:off x="6419088" y="5943600"/>
            <a:ext cx="1828800" cy="237744"/>
          </a:xfrm>
          <a:prstGeom prst="rect">
            <a:avLst/>
          </a:prstGeom>
          <a:noFill/>
          <a:ln/>
        </p:spPr>
        <p:txBody>
          <a:bodyPr wrap="square" lIns="0" tIns="0" rIns="0" bIns="0" rtlCol="0" anchor="ctr"/>
          <a:lstStyle/>
          <a:p>
            <a:pPr indent="0" marL="0">
              <a:buNone/>
            </a:pPr>
            <a:r>
              <a:rPr lang="en-US" sz="900" dirty="0">
                <a:solidFill>
                  <a:srgbClr val="5B6B73"/>
                </a:solidFill>
                <a:latin typeface="Calibri" pitchFamily="34" charset="0"/>
                <a:ea typeface="Calibri" pitchFamily="34" charset="-122"/>
                <a:cs typeface="Calibri" pitchFamily="34" charset="-120"/>
              </a:rPr>
              <a:t>= khóa ngoại → bảng được tham chiếu</a:t>
            </a:r>
            <a:endParaRPr lang="en-US" sz="900" dirty="0"/>
          </a:p>
        </p:txBody>
      </p:sp>
      <p:sp>
        <p:nvSpPr>
          <p:cNvPr id="64" name="Shape 62"/>
          <p:cNvSpPr/>
          <p:nvPr/>
        </p:nvSpPr>
        <p:spPr>
          <a:xfrm>
            <a:off x="8321040" y="1417320"/>
            <a:ext cx="384048" cy="384048"/>
          </a:xfrm>
          <a:prstGeom prst="ellipse">
            <a:avLst/>
          </a:prstGeom>
          <a:solidFill>
            <a:srgbClr val="0F5C6B"/>
          </a:solidFill>
          <a:ln w="12700">
            <a:solidFill>
              <a:srgbClr val="0F5C6B"/>
            </a:solidFill>
            <a:prstDash val="solid"/>
          </a:ln>
        </p:spPr>
      </p:sp>
      <p:sp>
        <p:nvSpPr>
          <p:cNvPr id="65" name="Text 63"/>
          <p:cNvSpPr txBox="1"/>
          <p:nvPr/>
        </p:nvSpPr>
        <p:spPr>
          <a:xfrm>
            <a:off x="8321040" y="14173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6" name="Text 64"/>
          <p:cNvSpPr txBox="1"/>
          <p:nvPr/>
        </p:nvSpPr>
        <p:spPr>
          <a:xfrm>
            <a:off x="8823960" y="1399032"/>
            <a:ext cx="2880360" cy="566928"/>
          </a:xfrm>
          <a:prstGeom prst="rect">
            <a:avLst/>
          </a:prstGeom>
          <a:noFill/>
          <a:ln/>
        </p:spPr>
        <p:txBody>
          <a:bodyPr wrap="square" lIns="0" tIns="0" rIns="0" bIns="0" rtlCol="0" anchor="t"/>
          <a:lstStyle/>
          <a:p>
            <a:pPr indent="0" marL="0">
              <a:buNone/>
            </a:pPr>
            <a:r>
              <a:rPr lang="en-US" sz="1350" b="1" dirty="0">
                <a:solidFill>
                  <a:srgbClr val="12232E"/>
                </a:solidFill>
                <a:latin typeface="Calibri" pitchFamily="34" charset="0"/>
                <a:ea typeface="Calibri" pitchFamily="34" charset="-122"/>
                <a:cs typeface="Calibri" pitchFamily="34" charset="-120"/>
              </a:rPr>
              <a:t>Fact = chủ thể · thuộc tính · giá trị + thời gian hiệu lực</a:t>
            </a:r>
            <a:endParaRPr lang="en-US" sz="1350" dirty="0"/>
          </a:p>
        </p:txBody>
      </p:sp>
      <p:sp>
        <p:nvSpPr>
          <p:cNvPr id="67" name="Text 65"/>
          <p:cNvSpPr txBox="1"/>
          <p:nvPr/>
        </p:nvSpPr>
        <p:spPr>
          <a:xfrm>
            <a:off x="8823960" y="1965960"/>
            <a:ext cx="2880360" cy="73152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User · instagram_follower_count · 600 · từ 2023-05-28. Kiểu dữ liệu (int, date, list…) kiểm tra bằng Python lúc ghi.</a:t>
            </a:r>
            <a:endParaRPr lang="en-US" sz="1150" dirty="0"/>
          </a:p>
        </p:txBody>
      </p:sp>
      <p:sp>
        <p:nvSpPr>
          <p:cNvPr id="68" name="Shape 66"/>
          <p:cNvSpPr/>
          <p:nvPr/>
        </p:nvSpPr>
        <p:spPr>
          <a:xfrm>
            <a:off x="8321040" y="2788920"/>
            <a:ext cx="384048" cy="384048"/>
          </a:xfrm>
          <a:prstGeom prst="ellipse">
            <a:avLst/>
          </a:prstGeom>
          <a:solidFill>
            <a:srgbClr val="0F5C6B"/>
          </a:solidFill>
          <a:ln w="12700">
            <a:solidFill>
              <a:srgbClr val="0F5C6B"/>
            </a:solidFill>
            <a:prstDash val="solid"/>
          </a:ln>
        </p:spPr>
      </p:sp>
      <p:sp>
        <p:nvSpPr>
          <p:cNvPr id="69" name="Text 67"/>
          <p:cNvSpPr txBox="1"/>
          <p:nvPr/>
        </p:nvSpPr>
        <p:spPr>
          <a:xfrm>
            <a:off x="8321040" y="2788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70" name="Text 68"/>
          <p:cNvSpPr txBox="1"/>
          <p:nvPr/>
        </p:nvSpPr>
        <p:spPr>
          <a:xfrm>
            <a:off x="8823960" y="2770632"/>
            <a:ext cx="2880360" cy="566928"/>
          </a:xfrm>
          <a:prstGeom prst="rect">
            <a:avLst/>
          </a:prstGeom>
          <a:noFill/>
          <a:ln/>
        </p:spPr>
        <p:txBody>
          <a:bodyPr wrap="square" lIns="0" tIns="0" rIns="0" bIns="0" rtlCol="0" anchor="t"/>
          <a:lstStyle/>
          <a:p>
            <a:pPr indent="0" marL="0">
              <a:buNone/>
            </a:pPr>
            <a:r>
              <a:rPr lang="en-US" sz="1350" b="1" dirty="0">
                <a:solidFill>
                  <a:srgbClr val="12232E"/>
                </a:solidFill>
                <a:latin typeface="Calibri" pitchFamily="34" charset="0"/>
                <a:ea typeface="Calibri" pitchFamily="34" charset="-122"/>
                <a:cs typeface="Calibri" pitchFamily="34" charset="-120"/>
              </a:rPr>
              <a:t>Sự kiện neo mỗi fact vào một mốc thời gian</a:t>
            </a:r>
            <a:endParaRPr lang="en-US" sz="1350" dirty="0"/>
          </a:p>
        </p:txBody>
      </p:sp>
      <p:sp>
        <p:nvSpPr>
          <p:cNvPr id="71" name="Text 69"/>
          <p:cNvSpPr txBox="1"/>
          <p:nvPr/>
        </p:nvSpPr>
        <p:spPr>
          <a:xfrm>
            <a:off x="8823960" y="3337560"/>
            <a:ext cx="2880360" cy="73152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Mốc quy về ISO ngay lúc ghi: "last week" nói ngày 27/05 → 2023-05-20.</a:t>
            </a:r>
            <a:endParaRPr lang="en-US" sz="1150" dirty="0"/>
          </a:p>
        </p:txBody>
      </p:sp>
      <p:sp>
        <p:nvSpPr>
          <p:cNvPr id="72" name="Shape 70"/>
          <p:cNvSpPr/>
          <p:nvPr/>
        </p:nvSpPr>
        <p:spPr>
          <a:xfrm>
            <a:off x="8321040" y="4160520"/>
            <a:ext cx="384048" cy="384048"/>
          </a:xfrm>
          <a:prstGeom prst="ellipse">
            <a:avLst/>
          </a:prstGeom>
          <a:solidFill>
            <a:srgbClr val="0F5C6B"/>
          </a:solidFill>
          <a:ln w="12700">
            <a:solidFill>
              <a:srgbClr val="0F5C6B"/>
            </a:solidFill>
            <a:prstDash val="solid"/>
          </a:ln>
        </p:spPr>
      </p:sp>
      <p:sp>
        <p:nvSpPr>
          <p:cNvPr id="73" name="Text 71"/>
          <p:cNvSpPr txBox="1"/>
          <p:nvPr/>
        </p:nvSpPr>
        <p:spPr>
          <a:xfrm>
            <a:off x="8321040" y="4160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74" name="Text 72"/>
          <p:cNvSpPr txBox="1"/>
          <p:nvPr/>
        </p:nvSpPr>
        <p:spPr>
          <a:xfrm>
            <a:off x="8823960" y="4142232"/>
            <a:ext cx="2880360" cy="566928"/>
          </a:xfrm>
          <a:prstGeom prst="rect">
            <a:avLst/>
          </a:prstGeom>
          <a:noFill/>
          <a:ln/>
        </p:spPr>
        <p:txBody>
          <a:bodyPr wrap="square" lIns="0" tIns="0" rIns="0" bIns="0" rtlCol="0" anchor="t"/>
          <a:lstStyle/>
          <a:p>
            <a:pPr indent="0" marL="0">
              <a:buNone/>
            </a:pPr>
            <a:r>
              <a:rPr lang="en-US" sz="1350" b="1" dirty="0">
                <a:solidFill>
                  <a:srgbClr val="12232E"/>
                </a:solidFill>
                <a:latin typeface="Calibri" pitchFamily="34" charset="0"/>
                <a:ea typeface="Calibri" pitchFamily="34" charset="-122"/>
                <a:cs typeface="Calibri" pitchFamily="34" charset="-120"/>
              </a:rPr>
              <a:t>Bằng chứng nối fact về đúng lượt gốc</a:t>
            </a:r>
            <a:endParaRPr lang="en-US" sz="1350" dirty="0"/>
          </a:p>
        </p:txBody>
      </p:sp>
      <p:sp>
        <p:nvSpPr>
          <p:cNvPr id="75" name="Text 73"/>
          <p:cNvSpPr txBox="1"/>
          <p:nvPr/>
        </p:nvSpPr>
        <p:spPr>
          <a:xfrm>
            <a:off x="8823960" y="4709160"/>
            <a:ext cx="2880360" cy="73152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Truy ngược được "vì sao hệ nhớ điều này"; agent đọc lại nguyên văn khi fact chưa đủ.</a:t>
            </a:r>
            <a:endParaRPr lang="en-US" sz="1150" dirty="0"/>
          </a:p>
        </p:txBody>
      </p:sp>
      <p:sp>
        <p:nvSpPr>
          <p:cNvPr id="76" name="Shape 74"/>
          <p:cNvSpPr/>
          <p:nvPr/>
        </p:nvSpPr>
        <p:spPr>
          <a:xfrm>
            <a:off x="8321040" y="5349240"/>
            <a:ext cx="3383280" cy="914400"/>
          </a:xfrm>
          <a:prstGeom prst="roundRect">
            <a:avLst>
              <a:gd name="adj" fmla="val 6000"/>
            </a:avLst>
          </a:prstGeom>
          <a:solidFill>
            <a:srgbClr val="E6F0F2"/>
          </a:solidFill>
          <a:ln w="12700">
            <a:solidFill>
              <a:srgbClr val="E6F0F2"/>
            </a:solidFill>
            <a:prstDash val="solid"/>
          </a:ln>
        </p:spPr>
      </p:sp>
      <p:sp>
        <p:nvSpPr>
          <p:cNvPr id="77" name="Text 75"/>
          <p:cNvSpPr txBox="1"/>
          <p:nvPr/>
        </p:nvSpPr>
        <p:spPr>
          <a:xfrm>
            <a:off x="8458200" y="5394960"/>
            <a:ext cx="3154680" cy="822960"/>
          </a:xfrm>
          <a:prstGeom prst="rect">
            <a:avLst/>
          </a:prstGeom>
          <a:noFill/>
          <a:ln/>
        </p:spPr>
        <p:txBody>
          <a:bodyPr wrap="square" lIns="0" tIns="0" rIns="0" bIns="0" rtlCol="0" anchor="ctr"/>
          <a:lstStyle/>
          <a:p>
            <a:pPr indent="0" marL="0">
              <a:buNone/>
            </a:pPr>
            <a:r>
              <a:rPr lang="en-US" sz="1000" dirty="0">
                <a:solidFill>
                  <a:srgbClr val="1E2A32"/>
                </a:solidFill>
                <a:latin typeface="Calibri" pitchFamily="34" charset="0"/>
                <a:ea typeface="Calibri" pitchFamily="34" charset="-122"/>
                <a:cs typeface="Calibri" pitchFamily="34" charset="-120"/>
              </a:rPr>
              <a:t>Không dùng ChromaDB: vector BGE-M3 lưu trong cache SQLite, so sánh vét cạn bằng numpy (vài nghìn vector/câu). FTS5 lo từ khóa. Cả hai là dẫn xuất — dựng lại được từ 7 bảng.</a:t>
            </a:r>
            <a:endParaRPr lang="en-US" sz="1000" dirty="0"/>
          </a:p>
        </p:txBody>
      </p:sp>
      <p:sp>
        <p:nvSpPr>
          <p:cNvPr id="78" name="Text 76"/>
          <p:cNvSpPr txBox="1"/>
          <p:nvPr/>
        </p:nvSpPr>
        <p:spPr>
          <a:xfrm>
            <a:off x="548640" y="6419088"/>
            <a:ext cx="11064240" cy="274320"/>
          </a:xfrm>
          <a:prstGeom prst="rect">
            <a:avLst/>
          </a:prstGeom>
          <a:noFill/>
          <a:ln/>
        </p:spPr>
        <p:txBody>
          <a:bodyPr wrap="square" lIns="0" tIns="0" rIns="0" bIns="0" rtlCol="0" anchor="t"/>
          <a:lstStyle/>
          <a:p>
            <a:pPr indent="0" marL="0">
              <a:buNone/>
            </a:pPr>
            <a:r>
              <a:rPr lang="en-US" sz="900" i="1" dirty="0">
                <a:solidFill>
                  <a:srgbClr val="5B6B73"/>
                </a:solidFill>
                <a:latin typeface="Calibri" pitchFamily="34" charset="0"/>
                <a:ea typeface="Calibri" pitchFamily="34" charset="-122"/>
                <a:cs typeface="Calibri" pitchFamily="34" charset="-120"/>
              </a:rPr>
              <a:t>Tên 7 bảng theo Banerjee et al., APEX-MEM, ACL 2026 (§4.3); cột do nhóm thiết kế từ định nghĩa hình thức ở §3.1.</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100" b="1" spc="200" kern="0" dirty="0">
                <a:solidFill>
                  <a:srgbClr val="D98C1F"/>
                </a:solidFill>
                <a:latin typeface="Calibri" pitchFamily="34" charset="0"/>
                <a:ea typeface="Calibri" pitchFamily="34" charset="-122"/>
                <a:cs typeface="Calibri" pitchFamily="34" charset="-120"/>
              </a:rPr>
              <a:t>PHẦN 1 · LƯỢC ĐỒ BỘ NHỚ</a:t>
            </a:r>
            <a:endParaRPr lang="en-US" sz="1100" dirty="0"/>
          </a:p>
        </p:txBody>
      </p:sp>
      <p:sp>
        <p:nvSpPr>
          <p:cNvPr id="3" name="Text 1"/>
          <p:cNvSpPr txBox="1"/>
          <p:nvPr/>
        </p:nvSpPr>
        <p:spPr>
          <a:xfrm>
            <a:off x="548640" y="621792"/>
            <a:ext cx="11064240" cy="566928"/>
          </a:xfrm>
          <a:prstGeom prst="rect">
            <a:avLst/>
          </a:prstGeom>
          <a:noFill/>
          <a:ln/>
        </p:spPr>
        <p:txBody>
          <a:bodyPr wrap="square" lIns="0" tIns="0" rIns="0" bIns="0" rtlCol="0" anchor="ctr"/>
          <a:lstStyle/>
          <a:p>
            <a:pPr indent="0" marL="0">
              <a:buNone/>
            </a:pPr>
            <a:r>
              <a:rPr lang="en-US" sz="2800" b="1" dirty="0">
                <a:solidFill>
                  <a:srgbClr val="12232E"/>
                </a:solidFill>
                <a:latin typeface="Cambria" pitchFamily="34" charset="0"/>
                <a:ea typeface="Cambria" pitchFamily="34" charset="-122"/>
                <a:cs typeface="Cambria" pitchFamily="34" charset="-120"/>
              </a:rPr>
              <a:t>Cập nhật kiến thức: giữ mọi phiên bản, chọn bản mới lúc đọc</a:t>
            </a:r>
            <a:endParaRPr lang="en-US" sz="2800" dirty="0"/>
          </a:p>
        </p:txBody>
      </p:sp>
      <p:sp>
        <p:nvSpPr>
          <p:cNvPr id="4" name="Text 2"/>
          <p:cNvSpPr txBox="1"/>
          <p:nvPr/>
        </p:nvSpPr>
        <p:spPr>
          <a:xfrm>
            <a:off x="548640" y="1325880"/>
            <a:ext cx="10972800" cy="320040"/>
          </a:xfrm>
          <a:prstGeom prst="rect">
            <a:avLst/>
          </a:prstGeom>
          <a:noFill/>
          <a:ln/>
        </p:spPr>
        <p:txBody>
          <a:bodyPr wrap="square" lIns="0" tIns="0" rIns="0" bIns="0" rtlCol="0" anchor="t"/>
          <a:lstStyle/>
          <a:p>
            <a:pPr indent="0" marL="0">
              <a:buNone/>
            </a:pPr>
            <a:r>
              <a:rPr lang="en-US" sz="1300" i="1" dirty="0">
                <a:solidFill>
                  <a:srgbClr val="5B6B73"/>
                </a:solidFill>
                <a:latin typeface="Calibri" pitchFamily="34" charset="0"/>
                <a:ea typeface="Calibri" pitchFamily="34" charset="-122"/>
                <a:cs typeface="Calibri" pitchFamily="34" charset="-120"/>
              </a:rPr>
              <a:t>Ví dụ thật — câu knowledge-update 1cea1afa: “How many Instagram followers do I currently have?”</a:t>
            </a:r>
            <a:endParaRPr lang="en-US" sz="1300" dirty="0"/>
          </a:p>
        </p:txBody>
      </p:sp>
      <p:sp>
        <p:nvSpPr>
          <p:cNvPr id="5" name="Shape 3"/>
          <p:cNvSpPr/>
          <p:nvPr/>
        </p:nvSpPr>
        <p:spPr>
          <a:xfrm>
            <a:off x="548640" y="1828800"/>
            <a:ext cx="5120640" cy="914400"/>
          </a:xfrm>
          <a:prstGeom prst="roundRect">
            <a:avLst>
              <a:gd name="adj" fmla="val 6000"/>
            </a:avLst>
          </a:prstGeom>
          <a:solidFill>
            <a:srgbClr val="F3F7F8"/>
          </a:solidFill>
          <a:ln w="12700">
            <a:solidFill>
              <a:srgbClr val="F3F7F8"/>
            </a:solidFill>
            <a:prstDash val="solid"/>
          </a:ln>
        </p:spPr>
      </p:sp>
      <p:sp>
        <p:nvSpPr>
          <p:cNvPr id="6" name="Text 4"/>
          <p:cNvSpPr txBox="1"/>
          <p:nvPr/>
        </p:nvSpPr>
        <p:spPr>
          <a:xfrm>
            <a:off x="731520" y="1920240"/>
            <a:ext cx="1828800" cy="274320"/>
          </a:xfrm>
          <a:prstGeom prst="rect">
            <a:avLst/>
          </a:prstGeom>
          <a:noFill/>
          <a:ln/>
        </p:spPr>
        <p:txBody>
          <a:bodyPr wrap="square" lIns="0" tIns="0" rIns="0" bIns="0" rtlCol="0" anchor="t"/>
          <a:lstStyle/>
          <a:p>
            <a:pPr indent="0" marL="0">
              <a:buNone/>
            </a:pPr>
            <a:r>
              <a:rPr lang="en-US" sz="1100" b="1" dirty="0">
                <a:solidFill>
                  <a:srgbClr val="0F5C6B"/>
                </a:solidFill>
                <a:latin typeface="Calibri" pitchFamily="34" charset="0"/>
                <a:ea typeface="Calibri" pitchFamily="34" charset="-122"/>
                <a:cs typeface="Calibri" pitchFamily="34" charset="-120"/>
              </a:rPr>
              <a:t>Phiên 27/05/2023</a:t>
            </a:r>
            <a:endParaRPr lang="en-US" sz="1100" dirty="0"/>
          </a:p>
        </p:txBody>
      </p:sp>
      <p:sp>
        <p:nvSpPr>
          <p:cNvPr id="7" name="Text 5"/>
          <p:cNvSpPr txBox="1"/>
          <p:nvPr/>
        </p:nvSpPr>
        <p:spPr>
          <a:xfrm>
            <a:off x="731520" y="2176272"/>
            <a:ext cx="4846320" cy="274320"/>
          </a:xfrm>
          <a:prstGeom prst="rect">
            <a:avLst/>
          </a:prstGeom>
          <a:noFill/>
          <a:ln/>
        </p:spPr>
        <p:txBody>
          <a:bodyPr wrap="square" lIns="0" tIns="0" rIns="0" bIns="0" rtlCol="0" anchor="t"/>
          <a:lstStyle/>
          <a:p>
            <a:pPr indent="0" marL="0">
              <a:buNone/>
            </a:pPr>
            <a:r>
              <a:rPr lang="en-US" sz="1300" i="1" dirty="0">
                <a:solidFill>
                  <a:srgbClr val="1E2A32"/>
                </a:solidFill>
                <a:latin typeface="Calibri" pitchFamily="34" charset="0"/>
                <a:ea typeface="Calibri" pitchFamily="34" charset="-122"/>
                <a:cs typeface="Calibri" pitchFamily="34" charset="-120"/>
              </a:rPr>
              <a:t>“I just reached 500 followers last week”</a:t>
            </a:r>
            <a:endParaRPr lang="en-US" sz="1300" dirty="0"/>
          </a:p>
        </p:txBody>
      </p:sp>
      <p:sp>
        <p:nvSpPr>
          <p:cNvPr id="8" name="Text 6"/>
          <p:cNvSpPr txBox="1"/>
          <p:nvPr/>
        </p:nvSpPr>
        <p:spPr>
          <a:xfrm>
            <a:off x="731520" y="2432304"/>
            <a:ext cx="4846320" cy="274320"/>
          </a:xfrm>
          <a:prstGeom prst="rect">
            <a:avLst/>
          </a:prstGeom>
          <a:noFill/>
          <a:ln/>
        </p:spPr>
        <p:txBody>
          <a:bodyPr wrap="square" lIns="0" tIns="0" rIns="0" bIns="0" rtlCol="0" anchor="t"/>
          <a:lstStyle/>
          <a:p>
            <a:pPr indent="0" marL="0">
              <a:buNone/>
            </a:pPr>
            <a:r>
              <a:rPr lang="en-US" sz="1050" dirty="0">
                <a:solidFill>
                  <a:srgbClr val="5B6B73"/>
                </a:solidFill>
                <a:latin typeface="Courier New" pitchFamily="34" charset="0"/>
                <a:ea typeface="Courier New" pitchFamily="34" charset="-122"/>
                <a:cs typeface="Courier New" pitchFamily="34" charset="-120"/>
              </a:rPr>
              <a:t>→ fact 500, t_from = 2023-05-20</a:t>
            </a:r>
            <a:endParaRPr lang="en-US" sz="1050" dirty="0"/>
          </a:p>
        </p:txBody>
      </p:sp>
      <p:sp>
        <p:nvSpPr>
          <p:cNvPr id="9" name="Shape 7"/>
          <p:cNvSpPr/>
          <p:nvPr/>
        </p:nvSpPr>
        <p:spPr>
          <a:xfrm>
            <a:off x="548640" y="2926080"/>
            <a:ext cx="5120640" cy="914400"/>
          </a:xfrm>
          <a:prstGeom prst="roundRect">
            <a:avLst>
              <a:gd name="adj" fmla="val 6000"/>
            </a:avLst>
          </a:prstGeom>
          <a:solidFill>
            <a:srgbClr val="F3F7F8"/>
          </a:solidFill>
          <a:ln w="12700">
            <a:solidFill>
              <a:srgbClr val="F3F7F8"/>
            </a:solidFill>
            <a:prstDash val="solid"/>
          </a:ln>
        </p:spPr>
      </p:sp>
      <p:sp>
        <p:nvSpPr>
          <p:cNvPr id="10" name="Text 8"/>
          <p:cNvSpPr txBox="1"/>
          <p:nvPr/>
        </p:nvSpPr>
        <p:spPr>
          <a:xfrm>
            <a:off x="731520" y="3017520"/>
            <a:ext cx="1828800" cy="274320"/>
          </a:xfrm>
          <a:prstGeom prst="rect">
            <a:avLst/>
          </a:prstGeom>
          <a:noFill/>
          <a:ln/>
        </p:spPr>
        <p:txBody>
          <a:bodyPr wrap="square" lIns="0" tIns="0" rIns="0" bIns="0" rtlCol="0" anchor="t"/>
          <a:lstStyle/>
          <a:p>
            <a:pPr indent="0" marL="0">
              <a:buNone/>
            </a:pPr>
            <a:r>
              <a:rPr lang="en-US" sz="1100" b="1" dirty="0">
                <a:solidFill>
                  <a:srgbClr val="0F5C6B"/>
                </a:solidFill>
                <a:latin typeface="Calibri" pitchFamily="34" charset="0"/>
                <a:ea typeface="Calibri" pitchFamily="34" charset="-122"/>
                <a:cs typeface="Calibri" pitchFamily="34" charset="-120"/>
              </a:rPr>
              <a:t>Phiên 28/05/2023</a:t>
            </a:r>
            <a:endParaRPr lang="en-US" sz="1100" dirty="0"/>
          </a:p>
        </p:txBody>
      </p:sp>
      <p:sp>
        <p:nvSpPr>
          <p:cNvPr id="11" name="Text 9"/>
          <p:cNvSpPr txBox="1"/>
          <p:nvPr/>
        </p:nvSpPr>
        <p:spPr>
          <a:xfrm>
            <a:off x="731520" y="3273552"/>
            <a:ext cx="4846320" cy="274320"/>
          </a:xfrm>
          <a:prstGeom prst="rect">
            <a:avLst/>
          </a:prstGeom>
          <a:noFill/>
          <a:ln/>
        </p:spPr>
        <p:txBody>
          <a:bodyPr wrap="square" lIns="0" tIns="0" rIns="0" bIns="0" rtlCol="0" anchor="t"/>
          <a:lstStyle/>
          <a:p>
            <a:pPr indent="0" marL="0">
              <a:buNone/>
            </a:pPr>
            <a:r>
              <a:rPr lang="en-US" sz="1300" i="1" dirty="0">
                <a:solidFill>
                  <a:srgbClr val="1E2A32"/>
                </a:solidFill>
                <a:latin typeface="Calibri" pitchFamily="34" charset="0"/>
                <a:ea typeface="Calibri" pitchFamily="34" charset="-122"/>
                <a:cs typeface="Calibri" pitchFamily="34" charset="-120"/>
              </a:rPr>
              <a:t>“I'm now at 600 followers”</a:t>
            </a:r>
            <a:endParaRPr lang="en-US" sz="1300" dirty="0"/>
          </a:p>
        </p:txBody>
      </p:sp>
      <p:sp>
        <p:nvSpPr>
          <p:cNvPr id="12" name="Text 10"/>
          <p:cNvSpPr txBox="1"/>
          <p:nvPr/>
        </p:nvSpPr>
        <p:spPr>
          <a:xfrm>
            <a:off x="731520" y="3529584"/>
            <a:ext cx="4846320" cy="274320"/>
          </a:xfrm>
          <a:prstGeom prst="rect">
            <a:avLst/>
          </a:prstGeom>
          <a:noFill/>
          <a:ln/>
        </p:spPr>
        <p:txBody>
          <a:bodyPr wrap="square" lIns="0" tIns="0" rIns="0" bIns="0" rtlCol="0" anchor="t"/>
          <a:lstStyle/>
          <a:p>
            <a:pPr indent="0" marL="0">
              <a:buNone/>
            </a:pPr>
            <a:r>
              <a:rPr lang="en-US" sz="1050" dirty="0">
                <a:solidFill>
                  <a:srgbClr val="5B6B73"/>
                </a:solidFill>
                <a:latin typeface="Courier New" pitchFamily="34" charset="0"/>
                <a:ea typeface="Courier New" pitchFamily="34" charset="-122"/>
                <a:cs typeface="Courier New" pitchFamily="34" charset="-120"/>
              </a:rPr>
              <a:t>→ fact 600, t_from = 2023-05-28</a:t>
            </a:r>
            <a:endParaRPr lang="en-US" sz="10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4114800"/>
          <a:ext cx="5120640" cy="914400"/>
        </p:xfrm>
        <a:graphic>
          <a:graphicData uri="http://schemas.openxmlformats.org/drawingml/2006/table">
            <a:tbl>
              <a:tblPr/>
              <a:tblGrid>
                <a:gridCol w="731520"/>
                <a:gridCol w="2514600"/>
                <a:gridCol w="685800"/>
                <a:gridCol w="1188720"/>
              </a:tblGrid>
              <a:tr h="310896">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fact_id</a:t>
                      </a:r>
                      <a:endParaRPr lang="en-US" sz="10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property (subject = User)</a:t>
                      </a:r>
                      <a:endParaRPr lang="en-US" sz="10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value</a:t>
                      </a:r>
                      <a:endParaRPr lang="en-US" sz="10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t_from</a:t>
                      </a:r>
                      <a:endParaRPr lang="en-US" sz="10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r>
              <a:tr h="310896">
                <a:tc>
                  <a:txBody>
                    <a:bodyPr/>
                    <a:lstStyle/>
                    <a:p>
                      <a:pPr indent="0" marL="0">
                        <a:buNone/>
                      </a:pPr>
                      <a:r>
                        <a:rPr lang="en-US" sz="1000" dirty="0">
                          <a:solidFill>
                            <a:srgbClr val="1E2A32"/>
                          </a:solidFill>
                          <a:latin typeface="Courier New" pitchFamily="34" charset="0"/>
                          <a:ea typeface="Courier New" pitchFamily="34" charset="-122"/>
                          <a:cs typeface="Courier New" pitchFamily="34" charset="-120"/>
                        </a:rPr>
                        <a:t>1</a:t>
                      </a:r>
                      <a:endParaRPr lang="en-US" sz="1000" dirty="0">
                        <a:latin typeface="Courier New" charset="0"/>
                        <a:ea typeface="Courier New" charset="0"/>
                        <a:cs typeface="Courier New"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950" dirty="0">
                          <a:solidFill>
                            <a:srgbClr val="1E2A32"/>
                          </a:solidFill>
                          <a:latin typeface="Courier New" pitchFamily="34" charset="0"/>
                          <a:ea typeface="Courier New" pitchFamily="34" charset="-122"/>
                          <a:cs typeface="Courier New" pitchFamily="34" charset="-120"/>
                        </a:rPr>
                        <a:t>instagram_follower_count</a:t>
                      </a:r>
                      <a:endParaRPr lang="en-US" sz="950" dirty="0">
                        <a:latin typeface="Courier New" charset="0"/>
                        <a:ea typeface="Courier New" charset="0"/>
                        <a:cs typeface="Courier New"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500</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000" dirty="0">
                          <a:solidFill>
                            <a:srgbClr val="1E2A32"/>
                          </a:solidFill>
                          <a:latin typeface="Courier New" pitchFamily="34" charset="0"/>
                          <a:ea typeface="Courier New" pitchFamily="34" charset="-122"/>
                          <a:cs typeface="Courier New" pitchFamily="34" charset="-120"/>
                        </a:rPr>
                        <a:t>2023-05-20</a:t>
                      </a:r>
                      <a:endParaRPr lang="en-US" sz="1000" dirty="0">
                        <a:latin typeface="Courier New" charset="0"/>
                        <a:ea typeface="Courier New" charset="0"/>
                        <a:cs typeface="Courier New"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r>
              <a:tr h="310896">
                <a:tc>
                  <a:txBody>
                    <a:bodyPr/>
                    <a:lstStyle/>
                    <a:p>
                      <a:pPr indent="0" marL="0">
                        <a:buNone/>
                      </a:pPr>
                      <a:r>
                        <a:rPr lang="en-US" sz="1000" b="1" dirty="0">
                          <a:solidFill>
                            <a:srgbClr val="1E2A32"/>
                          </a:solidFill>
                          <a:latin typeface="Courier New" pitchFamily="34" charset="0"/>
                          <a:ea typeface="Courier New" pitchFamily="34" charset="-122"/>
                          <a:cs typeface="Courier New" pitchFamily="34" charset="-120"/>
                        </a:rPr>
                        <a:t>64</a:t>
                      </a:r>
                      <a:endParaRPr lang="en-US" sz="1000" dirty="0">
                        <a:latin typeface="Courier New" charset="0"/>
                        <a:ea typeface="Courier New" charset="0"/>
                        <a:cs typeface="Courier New"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950" b="1" dirty="0">
                          <a:solidFill>
                            <a:srgbClr val="1E2A32"/>
                          </a:solidFill>
                          <a:latin typeface="Courier New" pitchFamily="34" charset="0"/>
                          <a:ea typeface="Courier New" pitchFamily="34" charset="-122"/>
                          <a:cs typeface="Courier New" pitchFamily="34" charset="-120"/>
                        </a:rPr>
                        <a:t>instagram_follower_count</a:t>
                      </a:r>
                      <a:endParaRPr lang="en-US" sz="950" dirty="0">
                        <a:latin typeface="Courier New" charset="0"/>
                        <a:ea typeface="Courier New" charset="0"/>
                        <a:cs typeface="Courier New"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100" b="1" dirty="0">
                          <a:solidFill>
                            <a:srgbClr val="1E2A32"/>
                          </a:solidFill>
                          <a:latin typeface="Calibri" pitchFamily="34" charset="0"/>
                          <a:ea typeface="Calibri" pitchFamily="34" charset="-122"/>
                          <a:cs typeface="Calibri" pitchFamily="34" charset="-120"/>
                        </a:rPr>
                        <a:t>600</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000" b="1" dirty="0">
                          <a:solidFill>
                            <a:srgbClr val="1E2A32"/>
                          </a:solidFill>
                          <a:latin typeface="Courier New" pitchFamily="34" charset="0"/>
                          <a:ea typeface="Courier New" pitchFamily="34" charset="-122"/>
                          <a:cs typeface="Courier New" pitchFamily="34" charset="-120"/>
                        </a:rPr>
                        <a:t>2023-05-28</a:t>
                      </a:r>
                      <a:endParaRPr lang="en-US" sz="1000" dirty="0">
                        <a:latin typeface="Courier New" charset="0"/>
                        <a:ea typeface="Courier New" charset="0"/>
                        <a:cs typeface="Courier New"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r>
            </a:tbl>
          </a:graphicData>
        </a:graphic>
      </p:graphicFrame>
      <p:sp>
        <p:nvSpPr>
          <p:cNvPr id="14" name="Shape 11"/>
          <p:cNvSpPr/>
          <p:nvPr/>
        </p:nvSpPr>
        <p:spPr>
          <a:xfrm>
            <a:off x="548640" y="5230368"/>
            <a:ext cx="5120640" cy="868680"/>
          </a:xfrm>
          <a:prstGeom prst="roundRect">
            <a:avLst>
              <a:gd name="adj" fmla="val 6316"/>
            </a:avLst>
          </a:prstGeom>
          <a:solidFill>
            <a:srgbClr val="FBF1E3"/>
          </a:solidFill>
          <a:ln w="12700">
            <a:solidFill>
              <a:srgbClr val="FBF1E3"/>
            </a:solidFill>
            <a:prstDash val="solid"/>
          </a:ln>
        </p:spPr>
      </p:sp>
      <p:sp>
        <p:nvSpPr>
          <p:cNvPr id="15" name="Text 12"/>
          <p:cNvSpPr txBox="1"/>
          <p:nvPr/>
        </p:nvSpPr>
        <p:spPr>
          <a:xfrm>
            <a:off x="731520" y="5285232"/>
            <a:ext cx="4800600" cy="777240"/>
          </a:xfrm>
          <a:prstGeom prst="rect">
            <a:avLst/>
          </a:prstGeom>
          <a:noFill/>
          <a:ln/>
        </p:spPr>
        <p:txBody>
          <a:bodyPr wrap="square" lIns="0" tIns="0" rIns="0" bIns="0" rtlCol="0" anchor="ctr"/>
          <a:lstStyle/>
          <a:p>
            <a:pPr indent="0" marL="0">
              <a:buNone/>
            </a:pPr>
            <a:r>
              <a:rPr lang="en-US" sz="1250" dirty="0">
                <a:solidFill>
                  <a:srgbClr val="1E2A32"/>
                </a:solidFill>
                <a:latin typeface="Calibri" pitchFamily="34" charset="0"/>
                <a:ea typeface="Calibri" pitchFamily="34" charset="-122"/>
                <a:cs typeface="Calibri" pitchFamily="34" charset="-120"/>
              </a:rPr>
              <a:t>Cả hai dòng cùng tồn tại. Hỏi “hiện tại” → dòng có t_from mới nhất (600). Hỏi “trước đây” → vẫn còn 500.</a:t>
            </a:r>
            <a:endParaRPr lang="en-US" sz="1250" dirty="0"/>
          </a:p>
        </p:txBody>
      </p:sp>
      <p:sp>
        <p:nvSpPr>
          <p:cNvPr id="16" name="Shape 13"/>
          <p:cNvSpPr/>
          <p:nvPr/>
        </p:nvSpPr>
        <p:spPr>
          <a:xfrm>
            <a:off x="6126480" y="1828800"/>
            <a:ext cx="5486400" cy="1143000"/>
          </a:xfrm>
          <a:prstGeom prst="roundRect">
            <a:avLst>
              <a:gd name="adj" fmla="val 4800"/>
            </a:avLst>
          </a:prstGeom>
          <a:solidFill>
            <a:srgbClr val="F3F7F8"/>
          </a:solidFill>
          <a:ln w="12700">
            <a:solidFill>
              <a:srgbClr val="F3F7F8"/>
            </a:solidFill>
            <a:prstDash val="solid"/>
          </a:ln>
        </p:spPr>
      </p:sp>
      <p:sp>
        <p:nvSpPr>
          <p:cNvPr id="17" name="Shape 14"/>
          <p:cNvSpPr/>
          <p:nvPr/>
        </p:nvSpPr>
        <p:spPr>
          <a:xfrm>
            <a:off x="6355080" y="2011680"/>
            <a:ext cx="384048" cy="384048"/>
          </a:xfrm>
          <a:prstGeom prst="ellipse">
            <a:avLst/>
          </a:prstGeom>
          <a:solidFill>
            <a:srgbClr val="D98C1F"/>
          </a:solidFill>
          <a:ln w="12700">
            <a:solidFill>
              <a:srgbClr val="D98C1F"/>
            </a:solidFill>
            <a:prstDash val="solid"/>
          </a:ln>
        </p:spPr>
      </p:sp>
      <p:sp>
        <p:nvSpPr>
          <p:cNvPr id="18" name="Text 15"/>
          <p:cNvSpPr txBox="1"/>
          <p:nvPr/>
        </p:nvSpPr>
        <p:spPr>
          <a:xfrm>
            <a:off x="6355080" y="20116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9" name="Text 16"/>
          <p:cNvSpPr txBox="1"/>
          <p:nvPr/>
        </p:nvSpPr>
        <p:spPr>
          <a:xfrm>
            <a:off x="6903720" y="1984248"/>
            <a:ext cx="4572000" cy="320040"/>
          </a:xfrm>
          <a:prstGeom prst="rect">
            <a:avLst/>
          </a:prstGeom>
          <a:noFill/>
          <a:ln/>
        </p:spPr>
        <p:txBody>
          <a:bodyPr wrap="square" lIns="0" tIns="0" rIns="0" bIns="0" rtlCol="0" anchor="t"/>
          <a:lstStyle/>
          <a:p>
            <a:pPr indent="0" marL="0">
              <a:buNone/>
            </a:pPr>
            <a:r>
              <a:rPr lang="en-US" sz="1400" b="1" dirty="0">
                <a:solidFill>
                  <a:srgbClr val="12232E"/>
                </a:solidFill>
                <a:latin typeface="Calibri" pitchFamily="34" charset="0"/>
                <a:ea typeface="Calibri" pitchFamily="34" charset="-122"/>
                <a:cs typeface="Calibri" pitchFamily="34" charset="-120"/>
              </a:rPr>
              <a:t>Append-only, chặn ngay trong DB</a:t>
            </a:r>
            <a:endParaRPr lang="en-US" sz="1400" dirty="0"/>
          </a:p>
        </p:txBody>
      </p:sp>
      <p:sp>
        <p:nvSpPr>
          <p:cNvPr id="20" name="Text 17"/>
          <p:cNvSpPr txBox="1"/>
          <p:nvPr/>
        </p:nvSpPr>
        <p:spPr>
          <a:xfrm>
            <a:off x="6903720" y="2331720"/>
            <a:ext cx="4572000" cy="59436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Trigger SQLite từ chối mọi UPDATE/DELETE trên facts, evidence, events, turns — không chỉ dựa vào code Python.</a:t>
            </a:r>
            <a:endParaRPr lang="en-US" sz="1150" dirty="0"/>
          </a:p>
        </p:txBody>
      </p:sp>
      <p:sp>
        <p:nvSpPr>
          <p:cNvPr id="21" name="Shape 18"/>
          <p:cNvSpPr/>
          <p:nvPr/>
        </p:nvSpPr>
        <p:spPr>
          <a:xfrm>
            <a:off x="6126480" y="3154680"/>
            <a:ext cx="5486400" cy="1143000"/>
          </a:xfrm>
          <a:prstGeom prst="roundRect">
            <a:avLst>
              <a:gd name="adj" fmla="val 4800"/>
            </a:avLst>
          </a:prstGeom>
          <a:solidFill>
            <a:srgbClr val="F3F7F8"/>
          </a:solidFill>
          <a:ln w="12700">
            <a:solidFill>
              <a:srgbClr val="F3F7F8"/>
            </a:solidFill>
            <a:prstDash val="solid"/>
          </a:ln>
        </p:spPr>
      </p:sp>
      <p:sp>
        <p:nvSpPr>
          <p:cNvPr id="22" name="Shape 19"/>
          <p:cNvSpPr/>
          <p:nvPr/>
        </p:nvSpPr>
        <p:spPr>
          <a:xfrm>
            <a:off x="6355080" y="3337560"/>
            <a:ext cx="384048" cy="384048"/>
          </a:xfrm>
          <a:prstGeom prst="ellipse">
            <a:avLst/>
          </a:prstGeom>
          <a:solidFill>
            <a:srgbClr val="D98C1F"/>
          </a:solidFill>
          <a:ln w="12700">
            <a:solidFill>
              <a:srgbClr val="D98C1F"/>
            </a:solidFill>
            <a:prstDash val="solid"/>
          </a:ln>
        </p:spPr>
      </p:sp>
      <p:sp>
        <p:nvSpPr>
          <p:cNvPr id="23" name="Text 20"/>
          <p:cNvSpPr txBox="1"/>
          <p:nvPr/>
        </p:nvSpPr>
        <p:spPr>
          <a:xfrm>
            <a:off x="6355080" y="33375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4" name="Text 21"/>
          <p:cNvSpPr txBox="1"/>
          <p:nvPr/>
        </p:nvSpPr>
        <p:spPr>
          <a:xfrm>
            <a:off x="6903720" y="3310128"/>
            <a:ext cx="4572000" cy="320040"/>
          </a:xfrm>
          <a:prstGeom prst="rect">
            <a:avLst/>
          </a:prstGeom>
          <a:noFill/>
          <a:ln/>
        </p:spPr>
        <p:txBody>
          <a:bodyPr wrap="square" lIns="0" tIns="0" rIns="0" bIns="0" rtlCol="0" anchor="t"/>
          <a:lstStyle/>
          <a:p>
            <a:pPr indent="0" marL="0">
              <a:buNone/>
            </a:pPr>
            <a:r>
              <a:rPr lang="en-US" sz="1400" b="1" dirty="0">
                <a:solidFill>
                  <a:srgbClr val="12232E"/>
                </a:solidFill>
                <a:latin typeface="Calibri" pitchFamily="34" charset="0"/>
                <a:ea typeface="Calibri" pitchFamily="34" charset="-122"/>
                <a:cs typeface="Calibri" pitchFamily="34" charset="-120"/>
              </a:rPr>
              <a:t>“Mới nhất” quyết định lúc đọc</a:t>
            </a:r>
            <a:endParaRPr lang="en-US" sz="1400" dirty="0"/>
          </a:p>
        </p:txBody>
      </p:sp>
      <p:sp>
        <p:nvSpPr>
          <p:cNvPr id="25" name="Text 22"/>
          <p:cNvSpPr txBox="1"/>
          <p:nvPr/>
        </p:nvSpPr>
        <p:spPr>
          <a:xfrm>
            <a:off x="6903720" y="3657600"/>
            <a:ext cx="4572000" cy="59436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Thời điểm hiệu lực = COALESCE(t_from, anchor_datetime). Lấy bản mới nhất bằng SQL, tất định, không nhờ LLM đoán.</a:t>
            </a:r>
            <a:endParaRPr lang="en-US" sz="1150" dirty="0"/>
          </a:p>
        </p:txBody>
      </p:sp>
      <p:sp>
        <p:nvSpPr>
          <p:cNvPr id="26" name="Shape 23"/>
          <p:cNvSpPr/>
          <p:nvPr/>
        </p:nvSpPr>
        <p:spPr>
          <a:xfrm>
            <a:off x="6126480" y="4480560"/>
            <a:ext cx="5486400" cy="1143000"/>
          </a:xfrm>
          <a:prstGeom prst="roundRect">
            <a:avLst>
              <a:gd name="adj" fmla="val 4800"/>
            </a:avLst>
          </a:prstGeom>
          <a:solidFill>
            <a:srgbClr val="F3F7F8"/>
          </a:solidFill>
          <a:ln w="12700">
            <a:solidFill>
              <a:srgbClr val="F3F7F8"/>
            </a:solidFill>
            <a:prstDash val="solid"/>
          </a:ln>
        </p:spPr>
      </p:sp>
      <p:sp>
        <p:nvSpPr>
          <p:cNvPr id="27" name="Shape 24"/>
          <p:cNvSpPr/>
          <p:nvPr/>
        </p:nvSpPr>
        <p:spPr>
          <a:xfrm>
            <a:off x="6355080" y="4663440"/>
            <a:ext cx="384048" cy="384048"/>
          </a:xfrm>
          <a:prstGeom prst="ellipse">
            <a:avLst/>
          </a:prstGeom>
          <a:solidFill>
            <a:srgbClr val="D98C1F"/>
          </a:solidFill>
          <a:ln w="12700">
            <a:solidFill>
              <a:srgbClr val="D98C1F"/>
            </a:solidFill>
            <a:prstDash val="solid"/>
          </a:ln>
        </p:spPr>
      </p:sp>
      <p:sp>
        <p:nvSpPr>
          <p:cNvPr id="28" name="Text 25"/>
          <p:cNvSpPr txBox="1"/>
          <p:nvPr/>
        </p:nvSpPr>
        <p:spPr>
          <a:xfrm>
            <a:off x="6355080" y="46634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9" name="Text 26"/>
          <p:cNvSpPr txBox="1"/>
          <p:nvPr/>
        </p:nvSpPr>
        <p:spPr>
          <a:xfrm>
            <a:off x="6903720" y="4636008"/>
            <a:ext cx="4572000" cy="320040"/>
          </a:xfrm>
          <a:prstGeom prst="rect">
            <a:avLst/>
          </a:prstGeom>
          <a:noFill/>
          <a:ln/>
        </p:spPr>
        <p:txBody>
          <a:bodyPr wrap="square" lIns="0" tIns="0" rIns="0" bIns="0" rtlCol="0" anchor="t"/>
          <a:lstStyle/>
          <a:p>
            <a:pPr indent="0" marL="0">
              <a:buNone/>
            </a:pPr>
            <a:r>
              <a:rPr lang="en-US" sz="1400" b="1" dirty="0">
                <a:solidFill>
                  <a:srgbClr val="12232E"/>
                </a:solidFill>
                <a:latin typeface="Calibri" pitchFamily="34" charset="0"/>
                <a:ea typeface="Calibri" pitchFamily="34" charset="-122"/>
                <a:cs typeface="Calibri" pitchFamily="34" charset="-120"/>
              </a:rPr>
              <a:t>Agent chỉ được đọc</a:t>
            </a:r>
            <a:endParaRPr lang="en-US" sz="1400" dirty="0"/>
          </a:p>
        </p:txBody>
      </p:sp>
      <p:sp>
        <p:nvSpPr>
          <p:cNvPr id="30" name="Text 27"/>
          <p:cNvSpPr txBox="1"/>
          <p:nvPr/>
        </p:nvSpPr>
        <p:spPr>
          <a:xfrm>
            <a:off x="6903720" y="4983480"/>
            <a:ext cx="4572000" cy="59436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GraphSQL có 3 lớp chặn: kết nối mode=ro · PRAGMA query_only · authorizer chỉ cho 7 bảng.</a:t>
            </a:r>
            <a:endParaRPr lang="en-US" sz="1150" dirty="0"/>
          </a:p>
        </p:txBody>
      </p:sp>
      <p:sp>
        <p:nvSpPr>
          <p:cNvPr id="31" name="Text 28"/>
          <p:cNvSpPr txBox="1"/>
          <p:nvPr/>
        </p:nvSpPr>
        <p:spPr>
          <a:xfrm>
            <a:off x="548640" y="6419088"/>
            <a:ext cx="11064240" cy="274320"/>
          </a:xfrm>
          <a:prstGeom prst="rect">
            <a:avLst/>
          </a:prstGeom>
          <a:noFill/>
          <a:ln/>
        </p:spPr>
        <p:txBody>
          <a:bodyPr wrap="square" lIns="0" tIns="0" rIns="0" bIns="0" rtlCol="0" anchor="t"/>
          <a:lstStyle/>
          <a:p>
            <a:pPr indent="0" marL="0">
              <a:buNone/>
            </a:pPr>
            <a:r>
              <a:rPr lang="en-US" sz="900" i="1" dirty="0">
                <a:solidFill>
                  <a:srgbClr val="5B6B73"/>
                </a:solidFill>
                <a:latin typeface="Calibri" pitchFamily="34" charset="0"/>
                <a:ea typeface="Calibri" pitchFamily="34" charset="-122"/>
                <a:cs typeface="Calibri" pitchFamily="34" charset="-120"/>
              </a:rPr>
              <a:t>Số liệu từ đồ thị thật của câu 1cea1afa (LongMemEval-S dev). Chính là tình huống N5 → N4 anh đã hỏi ở tuần 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100" b="1" spc="200" kern="0" dirty="0">
                <a:solidFill>
                  <a:srgbClr val="D98C1F"/>
                </a:solidFill>
                <a:latin typeface="Calibri" pitchFamily="34" charset="0"/>
                <a:ea typeface="Calibri" pitchFamily="34" charset="-122"/>
                <a:cs typeface="Calibri" pitchFamily="34" charset="-120"/>
              </a:rPr>
              <a:t>PHẦN 2 · LUỒNG CHẠY — GHI</a:t>
            </a:r>
            <a:endParaRPr lang="en-US" sz="1100" dirty="0"/>
          </a:p>
        </p:txBody>
      </p:sp>
      <p:sp>
        <p:nvSpPr>
          <p:cNvPr id="3" name="Text 1"/>
          <p:cNvSpPr txBox="1"/>
          <p:nvPr/>
        </p:nvSpPr>
        <p:spPr>
          <a:xfrm>
            <a:off x="548640" y="621792"/>
            <a:ext cx="11064240" cy="566928"/>
          </a:xfrm>
          <a:prstGeom prst="rect">
            <a:avLst/>
          </a:prstGeom>
          <a:noFill/>
          <a:ln/>
        </p:spPr>
        <p:txBody>
          <a:bodyPr wrap="square" lIns="0" tIns="0" rIns="0" bIns="0" rtlCol="0" anchor="ctr"/>
          <a:lstStyle/>
          <a:p>
            <a:pPr indent="0" marL="0">
              <a:buNone/>
            </a:pPr>
            <a:r>
              <a:rPr lang="en-US" sz="2800" b="1" dirty="0">
                <a:solidFill>
                  <a:srgbClr val="12232E"/>
                </a:solidFill>
                <a:latin typeface="Cambria" pitchFamily="34" charset="0"/>
                <a:ea typeface="Cambria" pitchFamily="34" charset="-122"/>
                <a:cs typeface="Cambria" pitchFamily="34" charset="-120"/>
              </a:rPr>
              <a:t>Dựng bộ nhớ cho một câu hỏi: 4 bước</a:t>
            </a:r>
            <a:endParaRPr lang="en-US" sz="2800" dirty="0"/>
          </a:p>
        </p:txBody>
      </p:sp>
      <p:sp>
        <p:nvSpPr>
          <p:cNvPr id="4" name="Shape 2"/>
          <p:cNvSpPr/>
          <p:nvPr/>
        </p:nvSpPr>
        <p:spPr>
          <a:xfrm>
            <a:off x="548640" y="1325880"/>
            <a:ext cx="11064240" cy="548640"/>
          </a:xfrm>
          <a:prstGeom prst="roundRect">
            <a:avLst>
              <a:gd name="adj" fmla="val 10000"/>
            </a:avLst>
          </a:prstGeom>
          <a:solidFill>
            <a:srgbClr val="E6F0F2"/>
          </a:solidFill>
          <a:ln w="12700">
            <a:solidFill>
              <a:srgbClr val="E6F0F2"/>
            </a:solidFill>
            <a:prstDash val="solid"/>
          </a:ln>
        </p:spPr>
      </p:sp>
      <p:sp>
        <p:nvSpPr>
          <p:cNvPr id="5" name="Text 3"/>
          <p:cNvSpPr txBox="1"/>
          <p:nvPr/>
        </p:nvSpPr>
        <p:spPr>
          <a:xfrm>
            <a:off x="731520" y="1371600"/>
            <a:ext cx="10789920" cy="457200"/>
          </a:xfrm>
          <a:prstGeom prst="rect">
            <a:avLst/>
          </a:prstGeom>
          <a:noFill/>
          <a:ln/>
        </p:spPr>
        <p:txBody>
          <a:bodyPr wrap="square" lIns="0" tIns="0" rIns="0" bIns="0" rtlCol="0" anchor="ctr"/>
          <a:lstStyle/>
          <a:p>
            <a:pPr indent="0" marL="0">
              <a:buNone/>
            </a:pPr>
            <a:r>
              <a:rPr lang="en-US" sz="1250" b="1" dirty="0">
                <a:solidFill>
                  <a:srgbClr val="1E2A32"/>
                </a:solidFill>
                <a:latin typeface="Calibri" pitchFamily="34" charset="0"/>
                <a:ea typeface="Calibri" pitchFamily="34" charset="-122"/>
                <a:cs typeface="Calibri" pitchFamily="34" charset="-120"/>
              </a:rPr>
              <a:t>Ví dụ: câu multi-session 2b8f3739 — </a:t>
            </a:r>
            <a:pPr indent="0" marL="0">
              <a:buNone/>
            </a:pPr>
            <a:r>
              <a:rPr lang="en-US" sz="1250" dirty="0">
                <a:solidFill>
                  <a:srgbClr val="1E2A32"/>
                </a:solidFill>
                <a:latin typeface="Calibri" pitchFamily="34" charset="0"/>
                <a:ea typeface="Calibri" pitchFamily="34" charset="-122"/>
                <a:cs typeface="Calibri" pitchFamily="34" charset="-120"/>
              </a:rPr>
              <a:t>“What is the total amount of money I earned from selling my products at the markets?”  · đáp án chuẩn $495 · haystack 47 phiên, 491 lượt</a:t>
            </a:r>
            <a:endParaRPr lang="en-US" sz="1250" dirty="0"/>
          </a:p>
        </p:txBody>
      </p:sp>
      <p:sp>
        <p:nvSpPr>
          <p:cNvPr id="6" name="Shape 4"/>
          <p:cNvSpPr/>
          <p:nvPr/>
        </p:nvSpPr>
        <p:spPr>
          <a:xfrm>
            <a:off x="548640" y="2103120"/>
            <a:ext cx="2606040" cy="4023360"/>
          </a:xfrm>
          <a:prstGeom prst="roundRect">
            <a:avLst>
              <a:gd name="adj" fmla="val 2105"/>
            </a:avLst>
          </a:prstGeom>
          <a:solidFill>
            <a:srgbClr val="F3F7F8"/>
          </a:solidFill>
          <a:ln w="12700">
            <a:solidFill>
              <a:srgbClr val="F3F7F8"/>
            </a:solidFill>
            <a:prstDash val="solid"/>
          </a:ln>
        </p:spPr>
      </p:sp>
      <p:sp>
        <p:nvSpPr>
          <p:cNvPr id="7" name="Shape 5"/>
          <p:cNvSpPr/>
          <p:nvPr/>
        </p:nvSpPr>
        <p:spPr>
          <a:xfrm>
            <a:off x="777240" y="2286000"/>
            <a:ext cx="384048" cy="384048"/>
          </a:xfrm>
          <a:prstGeom prst="ellipse">
            <a:avLst/>
          </a:prstGeom>
          <a:solidFill>
            <a:srgbClr val="0F5C6B"/>
          </a:solidFill>
          <a:ln w="12700">
            <a:solidFill>
              <a:srgbClr val="0F5C6B"/>
            </a:solidFill>
            <a:prstDash val="solid"/>
          </a:ln>
        </p:spPr>
      </p:sp>
      <p:sp>
        <p:nvSpPr>
          <p:cNvPr id="8" name="Text 6"/>
          <p:cNvSpPr txBox="1"/>
          <p:nvPr/>
        </p:nvSpPr>
        <p:spPr>
          <a:xfrm>
            <a:off x="777240" y="2286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Shape 7"/>
          <p:cNvSpPr/>
          <p:nvPr/>
        </p:nvSpPr>
        <p:spPr>
          <a:xfrm>
            <a:off x="2011680" y="2350008"/>
            <a:ext cx="960120" cy="256032"/>
          </a:xfrm>
          <a:prstGeom prst="roundRect">
            <a:avLst>
              <a:gd name="adj" fmla="val 21429"/>
            </a:avLst>
          </a:prstGeom>
          <a:solidFill>
            <a:srgbClr val="E6F4EC"/>
          </a:solidFill>
          <a:ln w="12700">
            <a:solidFill>
              <a:srgbClr val="E6F4EC"/>
            </a:solidFill>
            <a:prstDash val="solid"/>
          </a:ln>
        </p:spPr>
      </p:sp>
      <p:sp>
        <p:nvSpPr>
          <p:cNvPr id="10" name="Text 8"/>
          <p:cNvSpPr txBox="1"/>
          <p:nvPr/>
        </p:nvSpPr>
        <p:spPr>
          <a:xfrm>
            <a:off x="2011680" y="2350008"/>
            <a:ext cx="960120" cy="256032"/>
          </a:xfrm>
          <a:prstGeom prst="rect">
            <a:avLst/>
          </a:prstGeom>
          <a:noFill/>
          <a:ln/>
        </p:spPr>
        <p:txBody>
          <a:bodyPr wrap="square" lIns="0" tIns="0" rIns="0" bIns="0" rtlCol="0" anchor="ctr"/>
          <a:lstStyle/>
          <a:p>
            <a:pPr algn="ctr" indent="0" marL="0">
              <a:buNone/>
            </a:pPr>
            <a:r>
              <a:rPr lang="en-US" sz="950" b="1" dirty="0">
                <a:solidFill>
                  <a:srgbClr val="1F7A4D"/>
                </a:solidFill>
                <a:latin typeface="Calibri" pitchFamily="34" charset="0"/>
                <a:ea typeface="Calibri" pitchFamily="34" charset="-122"/>
                <a:cs typeface="Calibri" pitchFamily="34" charset="-120"/>
              </a:rPr>
              <a:t>0 LLM</a:t>
            </a:r>
            <a:endParaRPr lang="en-US" sz="950" dirty="0"/>
          </a:p>
        </p:txBody>
      </p:sp>
      <p:sp>
        <p:nvSpPr>
          <p:cNvPr id="11" name="Text 9"/>
          <p:cNvSpPr txBox="1"/>
          <p:nvPr/>
        </p:nvSpPr>
        <p:spPr>
          <a:xfrm>
            <a:off x="777240" y="2788920"/>
            <a:ext cx="2194560" cy="365760"/>
          </a:xfrm>
          <a:prstGeom prst="rect">
            <a:avLst/>
          </a:prstGeom>
          <a:noFill/>
          <a:ln/>
        </p:spPr>
        <p:txBody>
          <a:bodyPr wrap="square" lIns="0" tIns="0" rIns="0" bIns="0" rtlCol="0" anchor="t"/>
          <a:lstStyle/>
          <a:p>
            <a:pPr indent="0" marL="0">
              <a:buNone/>
            </a:pPr>
            <a:r>
              <a:rPr lang="en-US" sz="1700" b="1" dirty="0">
                <a:solidFill>
                  <a:srgbClr val="12232E"/>
                </a:solidFill>
                <a:latin typeface="Cambria" pitchFamily="34" charset="0"/>
                <a:ea typeface="Cambria" pitchFamily="34" charset="-122"/>
                <a:cs typeface="Cambria" pitchFamily="34" charset="-120"/>
              </a:rPr>
              <a:t>Lọc phiên</a:t>
            </a:r>
            <a:endParaRPr lang="en-US" sz="1700" dirty="0"/>
          </a:p>
        </p:txBody>
      </p:sp>
      <p:sp>
        <p:nvSpPr>
          <p:cNvPr id="12" name="Text 10"/>
          <p:cNvSpPr txBox="1"/>
          <p:nvPr/>
        </p:nvSpPr>
        <p:spPr>
          <a:xfrm>
            <a:off x="777240" y="3200400"/>
            <a:ext cx="2194560" cy="1783080"/>
          </a:xfrm>
          <a:prstGeom prst="rect">
            <a:avLst/>
          </a:prstGeom>
          <a:noFill/>
          <a:ln/>
        </p:spPr>
        <p:txBody>
          <a:bodyPr wrap="square" lIns="0" tIns="0" rIns="0" bIns="0" rtlCol="0" anchor="t"/>
          <a:lstStyle/>
          <a:p>
            <a:pPr indent="0" marL="0">
              <a:buNone/>
            </a:pPr>
            <a:r>
              <a:rPr lang="en-US" sz="1250" dirty="0">
                <a:solidFill>
                  <a:srgbClr val="5B6B73"/>
                </a:solidFill>
                <a:latin typeface="Calibri" pitchFamily="34" charset="0"/>
                <a:ea typeface="Calibri" pitchFamily="34" charset="-122"/>
                <a:cs typeface="Calibri" pitchFamily="34" charset="-120"/>
              </a:rPr>
              <a:t>Điểm mỗi phiên = cosine lớn nhất giữa câu hỏi và các lượt (BGE-M3, lấy từ cache Kaggle).</a:t>
            </a:r>
            <a:endParaRPr lang="en-US" sz="1250" dirty="0"/>
          </a:p>
          <a:p>
            <a:pPr indent="0" marL="0">
              <a:buNone/>
            </a:pPr>
            <a:r>
              <a:rPr lang="en-US" sz="1250" dirty="0">
                <a:solidFill>
                  <a:srgbClr val="5B6B73"/>
                </a:solidFill>
                <a:latin typeface="Calibri" pitchFamily="34" charset="0"/>
                <a:ea typeface="Calibri" pitchFamily="34" charset="-122"/>
                <a:cs typeface="Calibri" pitchFamily="34" charset="-120"/>
              </a:rPr>
              <a:t>Giữ phiên ≥ 0,475; ít nhất 5, nhiều nhất 20.</a:t>
            </a:r>
            <a:endParaRPr lang="en-US" sz="1250" dirty="0"/>
          </a:p>
        </p:txBody>
      </p:sp>
      <p:sp>
        <p:nvSpPr>
          <p:cNvPr id="13" name="Shape 11"/>
          <p:cNvSpPr/>
          <p:nvPr/>
        </p:nvSpPr>
        <p:spPr>
          <a:xfrm>
            <a:off x="731520" y="5074920"/>
            <a:ext cx="2240280" cy="868680"/>
          </a:xfrm>
          <a:prstGeom prst="roundRect">
            <a:avLst>
              <a:gd name="adj" fmla="val 6316"/>
            </a:avLst>
          </a:prstGeom>
          <a:solidFill>
            <a:srgbClr val="FFFFFF"/>
          </a:solidFill>
          <a:ln w="9525">
            <a:solidFill>
              <a:srgbClr val="BFD8DD"/>
            </a:solidFill>
            <a:prstDash val="solid"/>
          </a:ln>
        </p:spPr>
      </p:sp>
      <p:sp>
        <p:nvSpPr>
          <p:cNvPr id="14" name="Text 12"/>
          <p:cNvSpPr txBox="1"/>
          <p:nvPr/>
        </p:nvSpPr>
        <p:spPr>
          <a:xfrm>
            <a:off x="822960" y="5120640"/>
            <a:ext cx="2057400" cy="777240"/>
          </a:xfrm>
          <a:prstGeom prst="rect">
            <a:avLst/>
          </a:prstGeom>
          <a:noFill/>
          <a:ln/>
        </p:spPr>
        <p:txBody>
          <a:bodyPr wrap="square" lIns="0" tIns="0" rIns="0" bIns="0" rtlCol="0" anchor="ctr"/>
          <a:lstStyle/>
          <a:p>
            <a:pPr indent="0" marL="0">
              <a:buNone/>
            </a:pPr>
            <a:r>
              <a:rPr lang="en-US" sz="1250" b="1" dirty="0">
                <a:solidFill>
                  <a:srgbClr val="0F5C6B"/>
                </a:solidFill>
                <a:latin typeface="Calibri" pitchFamily="34" charset="0"/>
                <a:ea typeface="Calibri" pitchFamily="34" charset="-122"/>
                <a:cs typeface="Calibri" pitchFamily="34" charset="-120"/>
              </a:rPr>
              <a:t>47 → 9 phiên</a:t>
            </a:r>
            <a:endParaRPr lang="en-US" sz="1250" dirty="0"/>
          </a:p>
          <a:p>
            <a:pPr indent="0" marL="0">
              <a:buNone/>
            </a:pPr>
            <a:r>
              <a:rPr lang="en-US" sz="1250" b="1" dirty="0">
                <a:solidFill>
                  <a:srgbClr val="0F5C6B"/>
                </a:solidFill>
                <a:latin typeface="Calibri" pitchFamily="34" charset="0"/>
                <a:ea typeface="Calibri" pitchFamily="34" charset="-122"/>
                <a:cs typeface="Calibri" pitchFamily="34" charset="-120"/>
              </a:rPr>
              <a:t>giữ đủ 3/3 phiên bằng chứng</a:t>
            </a:r>
            <a:endParaRPr lang="en-US" sz="1250" dirty="0"/>
          </a:p>
        </p:txBody>
      </p:sp>
      <p:sp>
        <p:nvSpPr>
          <p:cNvPr id="15" name="Shape 13"/>
          <p:cNvSpPr/>
          <p:nvPr/>
        </p:nvSpPr>
        <p:spPr>
          <a:xfrm>
            <a:off x="3172968" y="4069080"/>
            <a:ext cx="173736" cy="914"/>
          </a:xfrm>
          <a:prstGeom prst="line">
            <a:avLst/>
          </a:prstGeom>
          <a:noFill/>
          <a:ln w="19050">
            <a:solidFill>
              <a:srgbClr val="D98C1F"/>
            </a:solidFill>
            <a:prstDash val="solid"/>
            <a:tailEnd type="triangle"/>
          </a:ln>
        </p:spPr>
      </p:sp>
      <p:sp>
        <p:nvSpPr>
          <p:cNvPr id="16" name="Shape 14"/>
          <p:cNvSpPr/>
          <p:nvPr/>
        </p:nvSpPr>
        <p:spPr>
          <a:xfrm>
            <a:off x="3364992" y="2103120"/>
            <a:ext cx="2606040" cy="4023360"/>
          </a:xfrm>
          <a:prstGeom prst="roundRect">
            <a:avLst>
              <a:gd name="adj" fmla="val 2105"/>
            </a:avLst>
          </a:prstGeom>
          <a:solidFill>
            <a:srgbClr val="F3F7F8"/>
          </a:solidFill>
          <a:ln w="12700">
            <a:solidFill>
              <a:srgbClr val="F3F7F8"/>
            </a:solidFill>
            <a:prstDash val="solid"/>
          </a:ln>
        </p:spPr>
      </p:sp>
      <p:sp>
        <p:nvSpPr>
          <p:cNvPr id="17" name="Shape 15"/>
          <p:cNvSpPr/>
          <p:nvPr/>
        </p:nvSpPr>
        <p:spPr>
          <a:xfrm>
            <a:off x="3593592" y="2286000"/>
            <a:ext cx="384048" cy="384048"/>
          </a:xfrm>
          <a:prstGeom prst="ellipse">
            <a:avLst/>
          </a:prstGeom>
          <a:solidFill>
            <a:srgbClr val="0F5C6B"/>
          </a:solidFill>
          <a:ln w="12700">
            <a:solidFill>
              <a:srgbClr val="0F5C6B"/>
            </a:solidFill>
            <a:prstDash val="solid"/>
          </a:ln>
        </p:spPr>
      </p:sp>
      <p:sp>
        <p:nvSpPr>
          <p:cNvPr id="18" name="Text 16"/>
          <p:cNvSpPr txBox="1"/>
          <p:nvPr/>
        </p:nvSpPr>
        <p:spPr>
          <a:xfrm>
            <a:off x="3593592" y="2286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9" name="Shape 17"/>
          <p:cNvSpPr/>
          <p:nvPr/>
        </p:nvSpPr>
        <p:spPr>
          <a:xfrm>
            <a:off x="4828032" y="2350008"/>
            <a:ext cx="960120" cy="256032"/>
          </a:xfrm>
          <a:prstGeom prst="roundRect">
            <a:avLst>
              <a:gd name="adj" fmla="val 21429"/>
            </a:avLst>
          </a:prstGeom>
          <a:solidFill>
            <a:srgbClr val="FBF1E3"/>
          </a:solidFill>
          <a:ln w="12700">
            <a:solidFill>
              <a:srgbClr val="FBF1E3"/>
            </a:solidFill>
            <a:prstDash val="solid"/>
          </a:ln>
        </p:spPr>
      </p:sp>
      <p:sp>
        <p:nvSpPr>
          <p:cNvPr id="20" name="Text 18"/>
          <p:cNvSpPr txBox="1"/>
          <p:nvPr/>
        </p:nvSpPr>
        <p:spPr>
          <a:xfrm>
            <a:off x="4828032" y="2350008"/>
            <a:ext cx="960120" cy="256032"/>
          </a:xfrm>
          <a:prstGeom prst="rect">
            <a:avLst/>
          </a:prstGeom>
          <a:noFill/>
          <a:ln/>
        </p:spPr>
        <p:txBody>
          <a:bodyPr wrap="square" lIns="0" tIns="0" rIns="0" bIns="0" rtlCol="0" anchor="ctr"/>
          <a:lstStyle/>
          <a:p>
            <a:pPr algn="ctr" indent="0" marL="0">
              <a:buNone/>
            </a:pPr>
            <a:r>
              <a:rPr lang="en-US" sz="950" b="1" dirty="0">
                <a:solidFill>
                  <a:srgbClr val="D98C1F"/>
                </a:solidFill>
                <a:latin typeface="Calibri" pitchFamily="34" charset="0"/>
                <a:ea typeface="Calibri" pitchFamily="34" charset="-122"/>
                <a:cs typeface="Calibri" pitchFamily="34" charset="-120"/>
              </a:rPr>
              <a:t>9 lời gọi</a:t>
            </a:r>
            <a:endParaRPr lang="en-US" sz="950" dirty="0"/>
          </a:p>
        </p:txBody>
      </p:sp>
      <p:sp>
        <p:nvSpPr>
          <p:cNvPr id="21" name="Text 19"/>
          <p:cNvSpPr txBox="1"/>
          <p:nvPr/>
        </p:nvSpPr>
        <p:spPr>
          <a:xfrm>
            <a:off x="3593592" y="2788920"/>
            <a:ext cx="2194560" cy="365760"/>
          </a:xfrm>
          <a:prstGeom prst="rect">
            <a:avLst/>
          </a:prstGeom>
          <a:noFill/>
          <a:ln/>
        </p:spPr>
        <p:txBody>
          <a:bodyPr wrap="square" lIns="0" tIns="0" rIns="0" bIns="0" rtlCol="0" anchor="t"/>
          <a:lstStyle/>
          <a:p>
            <a:pPr indent="0" marL="0">
              <a:buNone/>
            </a:pPr>
            <a:r>
              <a:rPr lang="en-US" sz="1700" b="1" dirty="0">
                <a:solidFill>
                  <a:srgbClr val="12232E"/>
                </a:solidFill>
                <a:latin typeface="Cambria" pitchFamily="34" charset="0"/>
                <a:ea typeface="Cambria" pitchFamily="34" charset="-122"/>
                <a:cs typeface="Cambria" pitchFamily="34" charset="-120"/>
              </a:rPr>
              <a:t>Trích xuất</a:t>
            </a:r>
            <a:endParaRPr lang="en-US" sz="1700" dirty="0"/>
          </a:p>
        </p:txBody>
      </p:sp>
      <p:sp>
        <p:nvSpPr>
          <p:cNvPr id="22" name="Text 20"/>
          <p:cNvSpPr txBox="1"/>
          <p:nvPr/>
        </p:nvSpPr>
        <p:spPr>
          <a:xfrm>
            <a:off x="3593592" y="3200400"/>
            <a:ext cx="2194560" cy="1783080"/>
          </a:xfrm>
          <a:prstGeom prst="rect">
            <a:avLst/>
          </a:prstGeom>
          <a:noFill/>
          <a:ln/>
        </p:spPr>
        <p:txBody>
          <a:bodyPr wrap="square" lIns="0" tIns="0" rIns="0" bIns="0" rtlCol="0" anchor="t"/>
          <a:lstStyle/>
          <a:p>
            <a:pPr indent="0" marL="0">
              <a:buNone/>
            </a:pPr>
            <a:r>
              <a:rPr lang="en-US" sz="1250" dirty="0">
                <a:solidFill>
                  <a:srgbClr val="5B6B73"/>
                </a:solidFill>
                <a:latin typeface="Calibri" pitchFamily="34" charset="0"/>
                <a:ea typeface="Calibri" pitchFamily="34" charset="-122"/>
                <a:cs typeface="Calibri" pitchFamily="34" charset="-120"/>
              </a:rPr>
              <a:t>Mỗi đoạn ≤ 12 lượt → 1 lời gọi LLM, ra JSON: sự kiện + fact + lượt bằng chứng.</a:t>
            </a:r>
            <a:endParaRPr lang="en-US" sz="1250" dirty="0"/>
          </a:p>
          <a:p>
            <a:pPr indent="0" marL="0">
              <a:buNone/>
            </a:pPr>
            <a:r>
              <a:rPr lang="en-US" sz="1250" dirty="0">
                <a:solidFill>
                  <a:srgbClr val="5B6B73"/>
                </a:solidFill>
                <a:latin typeface="Calibri" pitchFamily="34" charset="0"/>
                <a:ea typeface="Calibri" pitchFamily="34" charset="-122"/>
                <a:cs typeface="Calibri" pitchFamily="34" charset="-120"/>
              </a:rPr>
              <a:t>Python kiểm tra: tên snake_case, ép kiểu, ngày ISO.</a:t>
            </a:r>
            <a:endParaRPr lang="en-US" sz="1250" dirty="0"/>
          </a:p>
        </p:txBody>
      </p:sp>
      <p:sp>
        <p:nvSpPr>
          <p:cNvPr id="23" name="Shape 21"/>
          <p:cNvSpPr/>
          <p:nvPr/>
        </p:nvSpPr>
        <p:spPr>
          <a:xfrm>
            <a:off x="3547872" y="5074920"/>
            <a:ext cx="2240280" cy="868680"/>
          </a:xfrm>
          <a:prstGeom prst="roundRect">
            <a:avLst>
              <a:gd name="adj" fmla="val 6316"/>
            </a:avLst>
          </a:prstGeom>
          <a:solidFill>
            <a:srgbClr val="FFFFFF"/>
          </a:solidFill>
          <a:ln w="9525">
            <a:solidFill>
              <a:srgbClr val="BFD8DD"/>
            </a:solidFill>
            <a:prstDash val="solid"/>
          </a:ln>
        </p:spPr>
      </p:sp>
      <p:sp>
        <p:nvSpPr>
          <p:cNvPr id="24" name="Text 22"/>
          <p:cNvSpPr txBox="1"/>
          <p:nvPr/>
        </p:nvSpPr>
        <p:spPr>
          <a:xfrm>
            <a:off x="3639312" y="5120640"/>
            <a:ext cx="2057400" cy="777240"/>
          </a:xfrm>
          <a:prstGeom prst="rect">
            <a:avLst/>
          </a:prstGeom>
          <a:noFill/>
          <a:ln/>
        </p:spPr>
        <p:txBody>
          <a:bodyPr wrap="square" lIns="0" tIns="0" rIns="0" bIns="0" rtlCol="0" anchor="ctr"/>
          <a:lstStyle/>
          <a:p>
            <a:pPr indent="0" marL="0">
              <a:buNone/>
            </a:pPr>
            <a:r>
              <a:rPr lang="en-US" sz="1250" b="1" dirty="0">
                <a:solidFill>
                  <a:srgbClr val="0F5C6B"/>
                </a:solidFill>
                <a:latin typeface="Calibri" pitchFamily="34" charset="0"/>
                <a:ea typeface="Calibri" pitchFamily="34" charset="-122"/>
                <a:cs typeface="Calibri" pitchFamily="34" charset="-120"/>
              </a:rPr>
              <a:t>64 sự kiện · 149 fact</a:t>
            </a:r>
            <a:endParaRPr lang="en-US" sz="1250" dirty="0"/>
          </a:p>
          <a:p>
            <a:pPr indent="0" marL="0">
              <a:buNone/>
            </a:pPr>
            <a:r>
              <a:rPr lang="en-US" sz="1250" b="1" dirty="0">
                <a:solidFill>
                  <a:srgbClr val="0F5C6B"/>
                </a:solidFill>
                <a:latin typeface="Calibri" pitchFamily="34" charset="0"/>
                <a:ea typeface="Calibri" pitchFamily="34" charset="-122"/>
                <a:cs typeface="Calibri" pitchFamily="34" charset="-120"/>
              </a:rPr>
              <a:t>0 fact bị loại</a:t>
            </a:r>
            <a:endParaRPr lang="en-US" sz="1250" dirty="0"/>
          </a:p>
        </p:txBody>
      </p:sp>
      <p:sp>
        <p:nvSpPr>
          <p:cNvPr id="25" name="Shape 23"/>
          <p:cNvSpPr/>
          <p:nvPr/>
        </p:nvSpPr>
        <p:spPr>
          <a:xfrm>
            <a:off x="5989320" y="4069080"/>
            <a:ext cx="173736" cy="914"/>
          </a:xfrm>
          <a:prstGeom prst="line">
            <a:avLst/>
          </a:prstGeom>
          <a:noFill/>
          <a:ln w="19050">
            <a:solidFill>
              <a:srgbClr val="D98C1F"/>
            </a:solidFill>
            <a:prstDash val="solid"/>
            <a:tailEnd type="triangle"/>
          </a:ln>
        </p:spPr>
      </p:sp>
      <p:sp>
        <p:nvSpPr>
          <p:cNvPr id="26" name="Shape 24"/>
          <p:cNvSpPr/>
          <p:nvPr/>
        </p:nvSpPr>
        <p:spPr>
          <a:xfrm>
            <a:off x="6181344" y="2103120"/>
            <a:ext cx="2606040" cy="4023360"/>
          </a:xfrm>
          <a:prstGeom prst="roundRect">
            <a:avLst>
              <a:gd name="adj" fmla="val 2105"/>
            </a:avLst>
          </a:prstGeom>
          <a:solidFill>
            <a:srgbClr val="F3F7F8"/>
          </a:solidFill>
          <a:ln w="12700">
            <a:solidFill>
              <a:srgbClr val="F3F7F8"/>
            </a:solidFill>
            <a:prstDash val="solid"/>
          </a:ln>
        </p:spPr>
      </p:sp>
      <p:sp>
        <p:nvSpPr>
          <p:cNvPr id="27" name="Shape 25"/>
          <p:cNvSpPr/>
          <p:nvPr/>
        </p:nvSpPr>
        <p:spPr>
          <a:xfrm>
            <a:off x="6409944" y="2286000"/>
            <a:ext cx="384048" cy="384048"/>
          </a:xfrm>
          <a:prstGeom prst="ellipse">
            <a:avLst/>
          </a:prstGeom>
          <a:solidFill>
            <a:srgbClr val="0F5C6B"/>
          </a:solidFill>
          <a:ln w="12700">
            <a:solidFill>
              <a:srgbClr val="0F5C6B"/>
            </a:solidFill>
            <a:prstDash val="solid"/>
          </a:ln>
        </p:spPr>
      </p:sp>
      <p:sp>
        <p:nvSpPr>
          <p:cNvPr id="28" name="Text 26"/>
          <p:cNvSpPr txBox="1"/>
          <p:nvPr/>
        </p:nvSpPr>
        <p:spPr>
          <a:xfrm>
            <a:off x="6409944" y="2286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9" name="Shape 27"/>
          <p:cNvSpPr/>
          <p:nvPr/>
        </p:nvSpPr>
        <p:spPr>
          <a:xfrm>
            <a:off x="7644384" y="2350008"/>
            <a:ext cx="960120" cy="256032"/>
          </a:xfrm>
          <a:prstGeom prst="roundRect">
            <a:avLst>
              <a:gd name="adj" fmla="val 21429"/>
            </a:avLst>
          </a:prstGeom>
          <a:solidFill>
            <a:srgbClr val="FBF1E3"/>
          </a:solidFill>
          <a:ln w="12700">
            <a:solidFill>
              <a:srgbClr val="FBF1E3"/>
            </a:solidFill>
            <a:prstDash val="solid"/>
          </a:ln>
        </p:spPr>
      </p:sp>
      <p:sp>
        <p:nvSpPr>
          <p:cNvPr id="30" name="Text 28"/>
          <p:cNvSpPr txBox="1"/>
          <p:nvPr/>
        </p:nvSpPr>
        <p:spPr>
          <a:xfrm>
            <a:off x="7644384" y="2350008"/>
            <a:ext cx="960120" cy="256032"/>
          </a:xfrm>
          <a:prstGeom prst="rect">
            <a:avLst/>
          </a:prstGeom>
          <a:noFill/>
          <a:ln/>
        </p:spPr>
        <p:txBody>
          <a:bodyPr wrap="square" lIns="0" tIns="0" rIns="0" bIns="0" rtlCol="0" anchor="ctr"/>
          <a:lstStyle/>
          <a:p>
            <a:pPr algn="ctr" indent="0" marL="0">
              <a:buNone/>
            </a:pPr>
            <a:r>
              <a:rPr lang="en-US" sz="950" b="1" dirty="0">
                <a:solidFill>
                  <a:srgbClr val="D98C1F"/>
                </a:solidFill>
                <a:latin typeface="Calibri" pitchFamily="34" charset="0"/>
                <a:ea typeface="Calibri" pitchFamily="34" charset="-122"/>
                <a:cs typeface="Calibri" pitchFamily="34" charset="-120"/>
              </a:rPr>
              <a:t>4 lời gọi</a:t>
            </a:r>
            <a:endParaRPr lang="en-US" sz="950" dirty="0"/>
          </a:p>
        </p:txBody>
      </p:sp>
      <p:sp>
        <p:nvSpPr>
          <p:cNvPr id="31" name="Text 29"/>
          <p:cNvSpPr txBox="1"/>
          <p:nvPr/>
        </p:nvSpPr>
        <p:spPr>
          <a:xfrm>
            <a:off x="6409944" y="2788920"/>
            <a:ext cx="2194560" cy="365760"/>
          </a:xfrm>
          <a:prstGeom prst="rect">
            <a:avLst/>
          </a:prstGeom>
          <a:noFill/>
          <a:ln/>
        </p:spPr>
        <p:txBody>
          <a:bodyPr wrap="square" lIns="0" tIns="0" rIns="0" bIns="0" rtlCol="0" anchor="t"/>
          <a:lstStyle/>
          <a:p>
            <a:pPr indent="0" marL="0">
              <a:buNone/>
            </a:pPr>
            <a:r>
              <a:rPr lang="en-US" sz="1700" b="1" dirty="0">
                <a:solidFill>
                  <a:srgbClr val="12232E"/>
                </a:solidFill>
                <a:latin typeface="Cambria" pitchFamily="34" charset="0"/>
                <a:ea typeface="Cambria" pitchFamily="34" charset="-122"/>
                <a:cs typeface="Cambria" pitchFamily="34" charset="-120"/>
              </a:rPr>
              <a:t>Giải quyết</a:t>
            </a:r>
            <a:endParaRPr lang="en-US" sz="1700" dirty="0"/>
          </a:p>
        </p:txBody>
      </p:sp>
      <p:sp>
        <p:nvSpPr>
          <p:cNvPr id="32" name="Text 30"/>
          <p:cNvSpPr txBox="1"/>
          <p:nvPr/>
        </p:nvSpPr>
        <p:spPr>
          <a:xfrm>
            <a:off x="6409944" y="3200400"/>
            <a:ext cx="2194560" cy="1783080"/>
          </a:xfrm>
          <a:prstGeom prst="rect">
            <a:avLst/>
          </a:prstGeom>
          <a:noFill/>
          <a:ln/>
        </p:spPr>
        <p:txBody>
          <a:bodyPr wrap="square" lIns="0" tIns="0" rIns="0" bIns="0" rtlCol="0" anchor="t"/>
          <a:lstStyle/>
          <a:p>
            <a:pPr indent="0" marL="0">
              <a:buNone/>
            </a:pPr>
            <a:r>
              <a:rPr lang="en-US" sz="1250" dirty="0">
                <a:solidFill>
                  <a:srgbClr val="5B6B73"/>
                </a:solidFill>
                <a:latin typeface="Calibri" pitchFamily="34" charset="0"/>
                <a:ea typeface="Calibri" pitchFamily="34" charset="-122"/>
                <a:cs typeface="Calibri" pitchFamily="34" charset="-120"/>
              </a:rPr>
              <a:t>“User”/“Assistant” cố định · trùng tên → dùng lại · không có ứng viên gần → tạo mới · mơ hồ → hỏi LLM.</a:t>
            </a:r>
            <a:endParaRPr lang="en-US" sz="1250" dirty="0"/>
          </a:p>
        </p:txBody>
      </p:sp>
      <p:sp>
        <p:nvSpPr>
          <p:cNvPr id="33" name="Shape 31"/>
          <p:cNvSpPr/>
          <p:nvPr/>
        </p:nvSpPr>
        <p:spPr>
          <a:xfrm>
            <a:off x="6364224" y="5074920"/>
            <a:ext cx="2240280" cy="868680"/>
          </a:xfrm>
          <a:prstGeom prst="roundRect">
            <a:avLst>
              <a:gd name="adj" fmla="val 6316"/>
            </a:avLst>
          </a:prstGeom>
          <a:solidFill>
            <a:srgbClr val="FFFFFF"/>
          </a:solidFill>
          <a:ln w="9525">
            <a:solidFill>
              <a:srgbClr val="BFD8DD"/>
            </a:solidFill>
            <a:prstDash val="solid"/>
          </a:ln>
        </p:spPr>
      </p:sp>
      <p:sp>
        <p:nvSpPr>
          <p:cNvPr id="34" name="Text 32"/>
          <p:cNvSpPr txBox="1"/>
          <p:nvPr/>
        </p:nvSpPr>
        <p:spPr>
          <a:xfrm>
            <a:off x="6455664" y="5120640"/>
            <a:ext cx="2057400" cy="777240"/>
          </a:xfrm>
          <a:prstGeom prst="rect">
            <a:avLst/>
          </a:prstGeom>
          <a:noFill/>
          <a:ln/>
        </p:spPr>
        <p:txBody>
          <a:bodyPr wrap="square" lIns="0" tIns="0" rIns="0" bIns="0" rtlCol="0" anchor="ctr"/>
          <a:lstStyle/>
          <a:p>
            <a:pPr indent="0" marL="0">
              <a:buNone/>
            </a:pPr>
            <a:r>
              <a:rPr lang="en-US" sz="1250" b="1" dirty="0">
                <a:solidFill>
                  <a:srgbClr val="0F5C6B"/>
                </a:solidFill>
                <a:latin typeface="Calibri" pitchFamily="34" charset="0"/>
                <a:ea typeface="Calibri" pitchFamily="34" charset="-122"/>
                <a:cs typeface="Calibri" pitchFamily="34" charset="-120"/>
              </a:rPr>
              <a:t>8 thực thể</a:t>
            </a:r>
            <a:endParaRPr lang="en-US" sz="1250" dirty="0"/>
          </a:p>
          <a:p>
            <a:pPr indent="0" marL="0">
              <a:buNone/>
            </a:pPr>
            <a:r>
              <a:rPr lang="en-US" sz="1250" b="1" dirty="0">
                <a:solidFill>
                  <a:srgbClr val="0F5C6B"/>
                </a:solidFill>
                <a:latin typeface="Calibri" pitchFamily="34" charset="0"/>
                <a:ea typeface="Calibri" pitchFamily="34" charset="-122"/>
                <a:cs typeface="Calibri" pitchFamily="34" charset="-120"/>
              </a:rPr>
              <a:t>VD “Harvest Festival Market” → propose_new</a:t>
            </a:r>
            <a:endParaRPr lang="en-US" sz="1250" dirty="0"/>
          </a:p>
        </p:txBody>
      </p:sp>
      <p:sp>
        <p:nvSpPr>
          <p:cNvPr id="35" name="Shape 33"/>
          <p:cNvSpPr/>
          <p:nvPr/>
        </p:nvSpPr>
        <p:spPr>
          <a:xfrm>
            <a:off x="8805672" y="4069080"/>
            <a:ext cx="173736" cy="914"/>
          </a:xfrm>
          <a:prstGeom prst="line">
            <a:avLst/>
          </a:prstGeom>
          <a:noFill/>
          <a:ln w="19050">
            <a:solidFill>
              <a:srgbClr val="D98C1F"/>
            </a:solidFill>
            <a:prstDash val="solid"/>
            <a:tailEnd type="triangle"/>
          </a:ln>
        </p:spPr>
      </p:sp>
      <p:sp>
        <p:nvSpPr>
          <p:cNvPr id="36" name="Shape 34"/>
          <p:cNvSpPr/>
          <p:nvPr/>
        </p:nvSpPr>
        <p:spPr>
          <a:xfrm>
            <a:off x="8997696" y="2103120"/>
            <a:ext cx="2606040" cy="4023360"/>
          </a:xfrm>
          <a:prstGeom prst="roundRect">
            <a:avLst>
              <a:gd name="adj" fmla="val 2105"/>
            </a:avLst>
          </a:prstGeom>
          <a:solidFill>
            <a:srgbClr val="F3F7F8"/>
          </a:solidFill>
          <a:ln w="12700">
            <a:solidFill>
              <a:srgbClr val="F3F7F8"/>
            </a:solidFill>
            <a:prstDash val="solid"/>
          </a:ln>
        </p:spPr>
      </p:sp>
      <p:sp>
        <p:nvSpPr>
          <p:cNvPr id="37" name="Shape 35"/>
          <p:cNvSpPr/>
          <p:nvPr/>
        </p:nvSpPr>
        <p:spPr>
          <a:xfrm>
            <a:off x="9226296" y="2286000"/>
            <a:ext cx="384048" cy="384048"/>
          </a:xfrm>
          <a:prstGeom prst="ellipse">
            <a:avLst/>
          </a:prstGeom>
          <a:solidFill>
            <a:srgbClr val="0F5C6B"/>
          </a:solidFill>
          <a:ln w="12700">
            <a:solidFill>
              <a:srgbClr val="0F5C6B"/>
            </a:solidFill>
            <a:prstDash val="solid"/>
          </a:ln>
        </p:spPr>
      </p:sp>
      <p:sp>
        <p:nvSpPr>
          <p:cNvPr id="38" name="Text 36"/>
          <p:cNvSpPr txBox="1"/>
          <p:nvPr/>
        </p:nvSpPr>
        <p:spPr>
          <a:xfrm>
            <a:off x="9226296" y="2286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9" name="Shape 37"/>
          <p:cNvSpPr/>
          <p:nvPr/>
        </p:nvSpPr>
        <p:spPr>
          <a:xfrm>
            <a:off x="10460736" y="2350008"/>
            <a:ext cx="960120" cy="256032"/>
          </a:xfrm>
          <a:prstGeom prst="roundRect">
            <a:avLst>
              <a:gd name="adj" fmla="val 21429"/>
            </a:avLst>
          </a:prstGeom>
          <a:solidFill>
            <a:srgbClr val="E6F4EC"/>
          </a:solidFill>
          <a:ln w="12700">
            <a:solidFill>
              <a:srgbClr val="E6F4EC"/>
            </a:solidFill>
            <a:prstDash val="solid"/>
          </a:ln>
        </p:spPr>
      </p:sp>
      <p:sp>
        <p:nvSpPr>
          <p:cNvPr id="40" name="Text 38"/>
          <p:cNvSpPr txBox="1"/>
          <p:nvPr/>
        </p:nvSpPr>
        <p:spPr>
          <a:xfrm>
            <a:off x="10460736" y="2350008"/>
            <a:ext cx="960120" cy="256032"/>
          </a:xfrm>
          <a:prstGeom prst="rect">
            <a:avLst/>
          </a:prstGeom>
          <a:noFill/>
          <a:ln/>
        </p:spPr>
        <p:txBody>
          <a:bodyPr wrap="square" lIns="0" tIns="0" rIns="0" bIns="0" rtlCol="0" anchor="ctr"/>
          <a:lstStyle/>
          <a:p>
            <a:pPr algn="ctr" indent="0" marL="0">
              <a:buNone/>
            </a:pPr>
            <a:r>
              <a:rPr lang="en-US" sz="950" b="1" dirty="0">
                <a:solidFill>
                  <a:srgbClr val="1F7A4D"/>
                </a:solidFill>
                <a:latin typeface="Calibri" pitchFamily="34" charset="0"/>
                <a:ea typeface="Calibri" pitchFamily="34" charset="-122"/>
                <a:cs typeface="Calibri" pitchFamily="34" charset="-120"/>
              </a:rPr>
              <a:t>0 LLM</a:t>
            </a:r>
            <a:endParaRPr lang="en-US" sz="950" dirty="0"/>
          </a:p>
        </p:txBody>
      </p:sp>
      <p:sp>
        <p:nvSpPr>
          <p:cNvPr id="41" name="Text 39"/>
          <p:cNvSpPr txBox="1"/>
          <p:nvPr/>
        </p:nvSpPr>
        <p:spPr>
          <a:xfrm>
            <a:off x="9226296" y="2788920"/>
            <a:ext cx="2194560" cy="365760"/>
          </a:xfrm>
          <a:prstGeom prst="rect">
            <a:avLst/>
          </a:prstGeom>
          <a:noFill/>
          <a:ln/>
        </p:spPr>
        <p:txBody>
          <a:bodyPr wrap="square" lIns="0" tIns="0" rIns="0" bIns="0" rtlCol="0" anchor="t"/>
          <a:lstStyle/>
          <a:p>
            <a:pPr indent="0" marL="0">
              <a:buNone/>
            </a:pPr>
            <a:r>
              <a:rPr lang="en-US" sz="1700" b="1" dirty="0">
                <a:solidFill>
                  <a:srgbClr val="12232E"/>
                </a:solidFill>
                <a:latin typeface="Cambria" pitchFamily="34" charset="0"/>
                <a:ea typeface="Cambria" pitchFamily="34" charset="-122"/>
                <a:cs typeface="Cambria" pitchFamily="34" charset="-120"/>
              </a:rPr>
              <a:t>Ghi</a:t>
            </a:r>
            <a:endParaRPr lang="en-US" sz="1700" dirty="0"/>
          </a:p>
        </p:txBody>
      </p:sp>
      <p:sp>
        <p:nvSpPr>
          <p:cNvPr id="42" name="Text 40"/>
          <p:cNvSpPr txBox="1"/>
          <p:nvPr/>
        </p:nvSpPr>
        <p:spPr>
          <a:xfrm>
            <a:off x="9226296" y="3200400"/>
            <a:ext cx="2194560" cy="1783080"/>
          </a:xfrm>
          <a:prstGeom prst="rect">
            <a:avLst/>
          </a:prstGeom>
          <a:noFill/>
          <a:ln/>
        </p:spPr>
        <p:txBody>
          <a:bodyPr wrap="square" lIns="0" tIns="0" rIns="0" bIns="0" rtlCol="0" anchor="t"/>
          <a:lstStyle/>
          <a:p>
            <a:pPr indent="0" marL="0">
              <a:buNone/>
            </a:pPr>
            <a:r>
              <a:rPr lang="en-US" sz="1250" dirty="0">
                <a:solidFill>
                  <a:srgbClr val="5B6B73"/>
                </a:solidFill>
                <a:latin typeface="Calibri" pitchFamily="34" charset="0"/>
                <a:ea typeface="Calibri" pitchFamily="34" charset="-122"/>
                <a:cs typeface="Calibri" pitchFamily="34" charset="-120"/>
              </a:rPr>
              <a:t>Chèn thêm vào 7 bảng (append-only), cập nhật chỉ mục vector + FTS5. Lượt gốc của cả 47 phiên vẫn được lưu cho công cụ Search.</a:t>
            </a:r>
            <a:endParaRPr lang="en-US" sz="1250" dirty="0"/>
          </a:p>
        </p:txBody>
      </p:sp>
      <p:sp>
        <p:nvSpPr>
          <p:cNvPr id="43" name="Shape 41"/>
          <p:cNvSpPr/>
          <p:nvPr/>
        </p:nvSpPr>
        <p:spPr>
          <a:xfrm>
            <a:off x="9180576" y="5074920"/>
            <a:ext cx="2240280" cy="868680"/>
          </a:xfrm>
          <a:prstGeom prst="roundRect">
            <a:avLst>
              <a:gd name="adj" fmla="val 6316"/>
            </a:avLst>
          </a:prstGeom>
          <a:solidFill>
            <a:srgbClr val="FFFFFF"/>
          </a:solidFill>
          <a:ln w="9525">
            <a:solidFill>
              <a:srgbClr val="BFD8DD"/>
            </a:solidFill>
            <a:prstDash val="solid"/>
          </a:ln>
        </p:spPr>
      </p:sp>
      <p:sp>
        <p:nvSpPr>
          <p:cNvPr id="44" name="Text 42"/>
          <p:cNvSpPr txBox="1"/>
          <p:nvPr/>
        </p:nvSpPr>
        <p:spPr>
          <a:xfrm>
            <a:off x="9272016" y="5120640"/>
            <a:ext cx="2057400" cy="777240"/>
          </a:xfrm>
          <a:prstGeom prst="rect">
            <a:avLst/>
          </a:prstGeom>
          <a:noFill/>
          <a:ln/>
        </p:spPr>
        <p:txBody>
          <a:bodyPr wrap="square" lIns="0" tIns="0" rIns="0" bIns="0" rtlCol="0" anchor="ctr"/>
          <a:lstStyle/>
          <a:p>
            <a:pPr indent="0" marL="0">
              <a:buNone/>
            </a:pPr>
            <a:r>
              <a:rPr lang="en-US" sz="1250" b="1" dirty="0">
                <a:solidFill>
                  <a:srgbClr val="0F5C6B"/>
                </a:solidFill>
                <a:latin typeface="Calibri" pitchFamily="34" charset="0"/>
                <a:ea typeface="Calibri" pitchFamily="34" charset="-122"/>
                <a:cs typeface="Calibri" pitchFamily="34" charset="-120"/>
              </a:rPr>
              <a:t>13 lời gọi LLM</a:t>
            </a:r>
            <a:endParaRPr lang="en-US" sz="1250" dirty="0"/>
          </a:p>
          <a:p>
            <a:pPr indent="0" marL="0">
              <a:buNone/>
            </a:pPr>
            <a:r>
              <a:rPr lang="en-US" sz="1250" b="1" dirty="0">
                <a:solidFill>
                  <a:srgbClr val="0F5C6B"/>
                </a:solidFill>
                <a:latin typeface="Calibri" pitchFamily="34" charset="0"/>
                <a:ea typeface="Calibri" pitchFamily="34" charset="-122"/>
                <a:cs typeface="Calibri" pitchFamily="34" charset="-120"/>
              </a:rPr>
              <a:t>~5,2 phút cho cả câu</a:t>
            </a:r>
            <a:endParaRPr lang="en-US" sz="1250" dirty="0"/>
          </a:p>
        </p:txBody>
      </p:sp>
      <p:sp>
        <p:nvSpPr>
          <p:cNvPr id="45" name="Text 43"/>
          <p:cNvSpPr txBox="1"/>
          <p:nvPr/>
        </p:nvSpPr>
        <p:spPr>
          <a:xfrm>
            <a:off x="548640" y="6419088"/>
            <a:ext cx="11064240" cy="274320"/>
          </a:xfrm>
          <a:prstGeom prst="rect">
            <a:avLst/>
          </a:prstGeom>
          <a:noFill/>
          <a:ln/>
        </p:spPr>
        <p:txBody>
          <a:bodyPr wrap="square" lIns="0" tIns="0" rIns="0" bIns="0" rtlCol="0" anchor="t"/>
          <a:lstStyle/>
          <a:p>
            <a:pPr indent="0" marL="0">
              <a:buNone/>
            </a:pPr>
            <a:r>
              <a:rPr lang="en-US" sz="900" i="1" dirty="0">
                <a:solidFill>
                  <a:srgbClr val="5B6B73"/>
                </a:solidFill>
                <a:latin typeface="Calibri" pitchFamily="34" charset="0"/>
                <a:ea typeface="Calibri" pitchFamily="34" charset="-122"/>
                <a:cs typeface="Calibri" pitchFamily="34" charset="-120"/>
              </a:rPr>
              <a:t>Số liệu từ bảng trace của đồ thị 2b8f3739.db. Khác bài báo: gom ≤12 lượt/lời gọi (bài báo 1 lượt/lời gọi); LLM chỉ được hỏi khi giải quyết thực thể mơ hồ.</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100" b="1" spc="200" kern="0" dirty="0">
                <a:solidFill>
                  <a:srgbClr val="D98C1F"/>
                </a:solidFill>
                <a:latin typeface="Calibri" pitchFamily="34" charset="0"/>
                <a:ea typeface="Calibri" pitchFamily="34" charset="-122"/>
                <a:cs typeface="Calibri" pitchFamily="34" charset="-120"/>
              </a:rPr>
              <a:t>PHẦN 2 · LUỒNG CHẠY — GHI</a:t>
            </a:r>
            <a:endParaRPr lang="en-US" sz="1100" dirty="0"/>
          </a:p>
        </p:txBody>
      </p:sp>
      <p:sp>
        <p:nvSpPr>
          <p:cNvPr id="3" name="Text 1"/>
          <p:cNvSpPr txBox="1"/>
          <p:nvPr/>
        </p:nvSpPr>
        <p:spPr>
          <a:xfrm>
            <a:off x="548640" y="621792"/>
            <a:ext cx="11064240" cy="566928"/>
          </a:xfrm>
          <a:prstGeom prst="rect">
            <a:avLst/>
          </a:prstGeom>
          <a:noFill/>
          <a:ln/>
        </p:spPr>
        <p:txBody>
          <a:bodyPr wrap="square" lIns="0" tIns="0" rIns="0" bIns="0" rtlCol="0" anchor="ctr"/>
          <a:lstStyle/>
          <a:p>
            <a:pPr indent="0" marL="0">
              <a:buNone/>
            </a:pPr>
            <a:r>
              <a:rPr lang="en-US" sz="2800" b="1" dirty="0">
                <a:solidFill>
                  <a:srgbClr val="12232E"/>
                </a:solidFill>
                <a:latin typeface="Cambria" pitchFamily="34" charset="0"/>
                <a:ea typeface="Cambria" pitchFamily="34" charset="-122"/>
                <a:cs typeface="Cambria" pitchFamily="34" charset="-120"/>
              </a:rPr>
              <a:t>Bên trong bước trích xuất: một lượt → các dòng trong đồ thị</a:t>
            </a:r>
            <a:endParaRPr lang="en-US" sz="2800" dirty="0"/>
          </a:p>
        </p:txBody>
      </p:sp>
      <p:sp>
        <p:nvSpPr>
          <p:cNvPr id="4" name="Text 2"/>
          <p:cNvSpPr txBox="1"/>
          <p:nvPr/>
        </p:nvSpPr>
        <p:spPr>
          <a:xfrm>
            <a:off x="548640" y="1371600"/>
            <a:ext cx="4754880" cy="274320"/>
          </a:xfrm>
          <a:prstGeom prst="rect">
            <a:avLst/>
          </a:prstGeom>
          <a:noFill/>
          <a:ln/>
        </p:spPr>
        <p:txBody>
          <a:bodyPr wrap="square" lIns="0" tIns="0" rIns="0" bIns="0" rtlCol="0" anchor="t"/>
          <a:lstStyle/>
          <a:p>
            <a:pPr indent="0" marL="0">
              <a:buNone/>
            </a:pPr>
            <a:r>
              <a:rPr lang="en-US" sz="1050" b="1" dirty="0">
                <a:solidFill>
                  <a:srgbClr val="0F5C6B"/>
                </a:solidFill>
                <a:latin typeface="Calibri" pitchFamily="34" charset="0"/>
                <a:ea typeface="Calibri" pitchFamily="34" charset="-122"/>
                <a:cs typeface="Calibri" pitchFamily="34" charset="-120"/>
              </a:rPr>
              <a:t>ĐẦU VÀO — lượt 0, phiên answer_23759615_2 (ngày phiên 01/06/2023)</a:t>
            </a:r>
            <a:endParaRPr lang="en-US" sz="1050" dirty="0"/>
          </a:p>
        </p:txBody>
      </p:sp>
      <p:sp>
        <p:nvSpPr>
          <p:cNvPr id="5" name="Shape 3"/>
          <p:cNvSpPr/>
          <p:nvPr/>
        </p:nvSpPr>
        <p:spPr>
          <a:xfrm>
            <a:off x="548640" y="1691640"/>
            <a:ext cx="4754880" cy="1691640"/>
          </a:xfrm>
          <a:prstGeom prst="roundRect">
            <a:avLst>
              <a:gd name="adj" fmla="val 3243"/>
            </a:avLst>
          </a:prstGeom>
          <a:solidFill>
            <a:srgbClr val="F3F7F8"/>
          </a:solidFill>
          <a:ln w="12700">
            <a:solidFill>
              <a:srgbClr val="F3F7F8"/>
            </a:solidFill>
            <a:prstDash val="solid"/>
          </a:ln>
        </p:spPr>
      </p:sp>
      <p:sp>
        <p:nvSpPr>
          <p:cNvPr id="6" name="Text 4"/>
          <p:cNvSpPr txBox="1"/>
          <p:nvPr/>
        </p:nvSpPr>
        <p:spPr>
          <a:xfrm>
            <a:off x="731520" y="1828800"/>
            <a:ext cx="4434840" cy="1463040"/>
          </a:xfrm>
          <a:prstGeom prst="rect">
            <a:avLst/>
          </a:prstGeom>
          <a:noFill/>
          <a:ln/>
        </p:spPr>
        <p:txBody>
          <a:bodyPr wrap="square" lIns="0" tIns="0" rIns="0" bIns="0" rtlCol="0" anchor="t"/>
          <a:lstStyle/>
          <a:p>
            <a:pPr indent="0" marL="0">
              <a:buNone/>
            </a:pPr>
            <a:r>
              <a:rPr lang="en-US" sz="1200" i="1" dirty="0">
                <a:solidFill>
                  <a:srgbClr val="1E2A32"/>
                </a:solidFill>
                <a:latin typeface="Calibri" pitchFamily="34" charset="0"/>
                <a:ea typeface="Calibri" pitchFamily="34" charset="-122"/>
                <a:cs typeface="Calibri" pitchFamily="34" charset="-120"/>
              </a:rPr>
              <a:t>USER: I'm considering participating in the Harvest Festival Market on October 2nd … By the way, I've had a pretty successful few weeks, I just sold 15 jars of my homemade jam at the Homemade and Handmade Market on May 29th, earning $225.</a:t>
            </a:r>
            <a:endParaRPr lang="en-US" sz="1200" dirty="0"/>
          </a:p>
        </p:txBody>
      </p:sp>
      <p:sp>
        <p:nvSpPr>
          <p:cNvPr id="7" name="Text 5"/>
          <p:cNvSpPr txBox="1"/>
          <p:nvPr/>
        </p:nvSpPr>
        <p:spPr>
          <a:xfrm>
            <a:off x="548640" y="3611880"/>
            <a:ext cx="4754880" cy="274320"/>
          </a:xfrm>
          <a:prstGeom prst="rect">
            <a:avLst/>
          </a:prstGeom>
          <a:noFill/>
          <a:ln/>
        </p:spPr>
        <p:txBody>
          <a:bodyPr wrap="square" lIns="0" tIns="0" rIns="0" bIns="0" rtlCol="0" anchor="t"/>
          <a:lstStyle/>
          <a:p>
            <a:pPr indent="0" marL="0">
              <a:buNone/>
            </a:pPr>
            <a:r>
              <a:rPr lang="en-US" sz="1050" b="1" dirty="0">
                <a:solidFill>
                  <a:srgbClr val="0F5C6B"/>
                </a:solidFill>
                <a:latin typeface="Calibri" pitchFamily="34" charset="0"/>
                <a:ea typeface="Calibri" pitchFamily="34" charset="-122"/>
                <a:cs typeface="Calibri" pitchFamily="34" charset="-120"/>
              </a:rPr>
              <a:t>ĐIỂM ĐÁNG CHÚ Ý</a:t>
            </a:r>
            <a:endParaRPr lang="en-US" sz="1050" dirty="0"/>
          </a:p>
        </p:txBody>
      </p:sp>
      <p:sp>
        <p:nvSpPr>
          <p:cNvPr id="8" name="Text 6"/>
          <p:cNvSpPr txBox="1"/>
          <p:nvPr/>
        </p:nvSpPr>
        <p:spPr>
          <a:xfrm>
            <a:off x="548640" y="3931920"/>
            <a:ext cx="4754880" cy="20116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A32"/>
                </a:solidFill>
                <a:latin typeface="Calibri" pitchFamily="34" charset="0"/>
                <a:ea typeface="Calibri" pitchFamily="34" charset="-122"/>
                <a:cs typeface="Calibri" pitchFamily="34" charset="-120"/>
              </a:rPr>
              <a:t>“May 29th” nói trong phiên ngày 01/06 → mốc sự kiện 2023-05-29, không lấy ngày phiên.</a:t>
            </a:r>
            <a:endParaRPr lang="en-US" sz="1200" dirty="0"/>
          </a:p>
          <a:p>
            <a:pPr marL="342900" indent="-342900">
              <a:spcAft>
                <a:spcPts val="600"/>
              </a:spcAft>
              <a:buSzPct val="100000"/>
              <a:buChar char="•"/>
            </a:pPr>
            <a:r>
              <a:rPr lang="en-US" sz="1200" dirty="0">
                <a:solidFill>
                  <a:srgbClr val="1E2A32"/>
                </a:solidFill>
                <a:latin typeface="Calibri" pitchFamily="34" charset="0"/>
                <a:ea typeface="Calibri" pitchFamily="34" charset="-122"/>
                <a:cs typeface="Calibri" pitchFamily="34" charset="-120"/>
              </a:rPr>
              <a:t>Một câu → 2 sự kiện: bán hàng (quá khứ) và kế hoạch dự chợ 02/10 (tương lai).</a:t>
            </a:r>
            <a:endParaRPr lang="en-US" sz="1200" dirty="0"/>
          </a:p>
          <a:p>
            <a:pPr marL="342900" indent="-342900">
              <a:spcAft>
                <a:spcPts val="600"/>
              </a:spcAft>
              <a:buSzPct val="100000"/>
              <a:buChar char="•"/>
            </a:pPr>
            <a:r>
              <a:rPr lang="en-US" sz="1200" dirty="0">
                <a:solidFill>
                  <a:srgbClr val="1E2A32"/>
                </a:solidFill>
                <a:latin typeface="Calibri" pitchFamily="34" charset="0"/>
                <a:ea typeface="Calibri" pitchFamily="34" charset="-122"/>
                <a:cs typeface="Calibri" pitchFamily="34" charset="-120"/>
              </a:rPr>
              <a:t>Số giữ đúng kiểu: 15 là int, 225.0 là float → SQL cộng trừ được.</a:t>
            </a:r>
            <a:endParaRPr lang="en-US" sz="1200" dirty="0"/>
          </a:p>
          <a:p>
            <a:pPr marL="342900" indent="-342900">
              <a:spcAft>
                <a:spcPts val="600"/>
              </a:spcAft>
              <a:buSzPct val="100000"/>
              <a:buChar char="•"/>
            </a:pPr>
            <a:r>
              <a:rPr lang="en-US" sz="1200" dirty="0">
                <a:solidFill>
                  <a:srgbClr val="1E2A32"/>
                </a:solidFill>
                <a:latin typeface="Calibri" pitchFamily="34" charset="0"/>
                <a:ea typeface="Calibri" pitchFamily="34" charset="-122"/>
                <a:cs typeface="Calibri" pitchFamily="34" charset="-120"/>
              </a:rPr>
              <a:t>Mỗi fact mang span nguyên văn làm bằng chứng.</a:t>
            </a:r>
            <a:endParaRPr lang="en-US" sz="1200" dirty="0"/>
          </a:p>
        </p:txBody>
      </p:sp>
      <p:sp>
        <p:nvSpPr>
          <p:cNvPr id="9" name="Shape 7"/>
          <p:cNvSpPr/>
          <p:nvPr/>
        </p:nvSpPr>
        <p:spPr>
          <a:xfrm>
            <a:off x="5440680" y="2514600"/>
            <a:ext cx="457200" cy="914"/>
          </a:xfrm>
          <a:prstGeom prst="line">
            <a:avLst/>
          </a:prstGeom>
          <a:noFill/>
          <a:ln w="19050">
            <a:solidFill>
              <a:srgbClr val="D98C1F"/>
            </a:solidFill>
            <a:prstDash val="solid"/>
            <a:tailEnd type="triangle"/>
          </a:ln>
        </p:spPr>
      </p:sp>
      <p:sp>
        <p:nvSpPr>
          <p:cNvPr id="10" name="Text 8"/>
          <p:cNvSpPr txBox="1"/>
          <p:nvPr/>
        </p:nvSpPr>
        <p:spPr>
          <a:xfrm>
            <a:off x="6035040" y="1371600"/>
            <a:ext cx="5577840" cy="274320"/>
          </a:xfrm>
          <a:prstGeom prst="rect">
            <a:avLst/>
          </a:prstGeom>
          <a:noFill/>
          <a:ln/>
        </p:spPr>
        <p:txBody>
          <a:bodyPr wrap="square" lIns="0" tIns="0" rIns="0" bIns="0" rtlCol="0" anchor="t"/>
          <a:lstStyle/>
          <a:p>
            <a:pPr indent="0" marL="0">
              <a:buNone/>
            </a:pPr>
            <a:r>
              <a:rPr lang="en-US" sz="1050" b="1" dirty="0">
                <a:solidFill>
                  <a:srgbClr val="0F5C6B"/>
                </a:solidFill>
                <a:latin typeface="Calibri" pitchFamily="34" charset="0"/>
                <a:ea typeface="Calibri" pitchFamily="34" charset="-122"/>
                <a:cs typeface="Calibri" pitchFamily="34" charset="-120"/>
              </a:rPr>
              <a:t>ĐẦU RA LLM (rút gọn) → PYTHON KIỂM TRA → GHI</a:t>
            </a:r>
            <a:endParaRPr lang="en-US" sz="1050" dirty="0"/>
          </a:p>
        </p:txBody>
      </p:sp>
      <p:sp>
        <p:nvSpPr>
          <p:cNvPr id="11" name="Shape 9"/>
          <p:cNvSpPr/>
          <p:nvPr/>
        </p:nvSpPr>
        <p:spPr>
          <a:xfrm>
            <a:off x="6035040" y="1691640"/>
            <a:ext cx="5577840" cy="2514600"/>
          </a:xfrm>
          <a:prstGeom prst="roundRect">
            <a:avLst>
              <a:gd name="adj" fmla="val 2182"/>
            </a:avLst>
          </a:prstGeom>
          <a:solidFill>
            <a:srgbClr val="12232E"/>
          </a:solidFill>
          <a:ln w="12700">
            <a:solidFill>
              <a:srgbClr val="12232E"/>
            </a:solidFill>
            <a:prstDash val="solid"/>
          </a:ln>
        </p:spPr>
      </p:sp>
      <p:sp>
        <p:nvSpPr>
          <p:cNvPr id="12" name="Text 10"/>
          <p:cNvSpPr txBox="1"/>
          <p:nvPr/>
        </p:nvSpPr>
        <p:spPr>
          <a:xfrm>
            <a:off x="6217920" y="1828800"/>
            <a:ext cx="5303520" cy="2286000"/>
          </a:xfrm>
          <a:prstGeom prst="rect">
            <a:avLst/>
          </a:prstGeom>
          <a:noFill/>
          <a:ln/>
        </p:spPr>
        <p:txBody>
          <a:bodyPr wrap="square" lIns="0" tIns="0" rIns="0" bIns="0" rtlCol="0" anchor="t"/>
          <a:lstStyle/>
          <a:p>
            <a:pPr indent="0" marL="0">
              <a:buNone/>
            </a:pPr>
            <a:r>
              <a:rPr lang="en-US" sz="1000" dirty="0">
                <a:solidFill>
                  <a:srgbClr val="D6E6EA"/>
                </a:solidFill>
                <a:latin typeface="Courier New" pitchFamily="34" charset="0"/>
                <a:ea typeface="Courier New" pitchFamily="34" charset="-122"/>
                <a:cs typeface="Courier New" pitchFamily="34" charset="-120"/>
              </a:rPr>
              <a:t>{"type": "market_sale",</a:t>
            </a:r>
            <a:endParaRPr lang="en-US" sz="1000" dirty="0"/>
          </a:p>
          <a:p>
            <a:pPr indent="0" marL="0">
              <a:buNone/>
            </a:pPr>
            <a:r>
              <a:rPr lang="en-US" sz="1000" dirty="0">
                <a:solidFill>
                  <a:srgbClr val="D6E6EA"/>
                </a:solidFill>
                <a:latin typeface="Courier New" pitchFamily="34" charset="0"/>
                <a:ea typeface="Courier New" pitchFamily="34" charset="-122"/>
                <a:cs typeface="Courier New" pitchFamily="34" charset="-120"/>
              </a:rPr>
              <a:t> "anchor_datetime": "2023-05-29",</a:t>
            </a:r>
            <a:endParaRPr lang="en-US" sz="1000" dirty="0"/>
          </a:p>
          <a:p>
            <a:pPr indent="0" marL="0">
              <a:buNone/>
            </a:pPr>
            <a:r>
              <a:rPr lang="en-US" sz="1000" dirty="0">
                <a:solidFill>
                  <a:srgbClr val="D6E6EA"/>
                </a:solidFill>
                <a:latin typeface="Courier New" pitchFamily="34" charset="0"/>
                <a:ea typeface="Courier New" pitchFamily="34" charset="-122"/>
                <a:cs typeface="Courier New" pitchFamily="34" charset="-120"/>
              </a:rPr>
              <a:t> "location": "Homemade and Handmade Market",</a:t>
            </a:r>
            <a:endParaRPr lang="en-US" sz="1000" dirty="0"/>
          </a:p>
          <a:p>
            <a:pPr indent="0" marL="0">
              <a:buNone/>
            </a:pPr>
            <a:r>
              <a:rPr lang="en-US" sz="1000" dirty="0">
                <a:solidFill>
                  <a:srgbClr val="D6E6EA"/>
                </a:solidFill>
                <a:latin typeface="Courier New" pitchFamily="34" charset="0"/>
                <a:ea typeface="Courier New" pitchFamily="34" charset="-122"/>
                <a:cs typeface="Courier New" pitchFamily="34" charset="-120"/>
              </a:rPr>
              <a:t> "participants": ["User", "Homemade and Handmade Market"],</a:t>
            </a:r>
            <a:endParaRPr lang="en-US" sz="1000" dirty="0"/>
          </a:p>
          <a:p>
            <a:pPr indent="0" marL="0">
              <a:buNone/>
            </a:pPr>
            <a:r>
              <a:rPr lang="en-US" sz="1000" dirty="0">
                <a:solidFill>
                  <a:srgbClr val="D6E6EA"/>
                </a:solidFill>
                <a:latin typeface="Courier New" pitchFamily="34" charset="0"/>
                <a:ea typeface="Courier New" pitchFamily="34" charset="-122"/>
                <a:cs typeface="Courier New" pitchFamily="34" charset="-120"/>
              </a:rPr>
              <a:t> "facts": [</a:t>
            </a:r>
            <a:endParaRPr lang="en-US" sz="1000" dirty="0"/>
          </a:p>
          <a:p>
            <a:pPr indent="0" marL="0">
              <a:buNone/>
            </a:pPr>
            <a:r>
              <a:rPr lang="en-US" sz="1000" dirty="0">
                <a:solidFill>
                  <a:srgbClr val="D6E6EA"/>
                </a:solidFill>
                <a:latin typeface="Courier New" pitchFamily="34" charset="0"/>
                <a:ea typeface="Courier New" pitchFamily="34" charset="-122"/>
                <a:cs typeface="Courier New" pitchFamily="34" charset="-120"/>
              </a:rPr>
              <a:t>  {"subject":"User","property":"jars_of_homemade_jam_sold",</a:t>
            </a:r>
            <a:endParaRPr lang="en-US" sz="1000" dirty="0"/>
          </a:p>
          <a:p>
            <a:pPr indent="0" marL="0">
              <a:buNone/>
            </a:pPr>
            <a:r>
              <a:rPr lang="en-US" sz="1000" dirty="0">
                <a:solidFill>
                  <a:srgbClr val="D6E6EA"/>
                </a:solidFill>
                <a:latin typeface="Courier New" pitchFamily="34" charset="0"/>
                <a:ea typeface="Courier New" pitchFamily="34" charset="-122"/>
                <a:cs typeface="Courier New" pitchFamily="34" charset="-120"/>
              </a:rPr>
              <a:t>   "dtype":"int","value":15,"evidence_turn":0},</a:t>
            </a:r>
            <a:endParaRPr lang="en-US" sz="1000" dirty="0"/>
          </a:p>
          <a:p>
            <a:pPr indent="0" marL="0">
              <a:buNone/>
            </a:pPr>
            <a:r>
              <a:rPr lang="en-US" sz="1000" dirty="0">
                <a:solidFill>
                  <a:srgbClr val="D6E6EA"/>
                </a:solidFill>
                <a:latin typeface="Courier New" pitchFamily="34" charset="0"/>
                <a:ea typeface="Courier New" pitchFamily="34" charset="-122"/>
                <a:cs typeface="Courier New" pitchFamily="34" charset="-120"/>
              </a:rPr>
              <a:t>  {"subject":"User","property":"sales_revenue",</a:t>
            </a:r>
            <a:endParaRPr lang="en-US" sz="1000" dirty="0"/>
          </a:p>
          <a:p>
            <a:pPr indent="0" marL="0">
              <a:buNone/>
            </a:pPr>
            <a:r>
              <a:rPr lang="en-US" sz="1000" dirty="0">
                <a:solidFill>
                  <a:srgbClr val="D6E6EA"/>
                </a:solidFill>
                <a:latin typeface="Courier New" pitchFamily="34" charset="0"/>
                <a:ea typeface="Courier New" pitchFamily="34" charset="-122"/>
                <a:cs typeface="Courier New" pitchFamily="34" charset="-120"/>
              </a:rPr>
              <a:t>   "dtype":"float","value":225.0,"span":"earning $225"}]}</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035040" y="4389120"/>
          <a:ext cx="5577840" cy="914400"/>
        </p:xfrm>
        <a:graphic>
          <a:graphicData uri="http://schemas.openxmlformats.org/drawingml/2006/table">
            <a:tbl>
              <a:tblPr/>
              <a:tblGrid>
                <a:gridCol w="1554480"/>
                <a:gridCol w="4023360"/>
              </a:tblGrid>
              <a:tr h="30175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bảng</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dòng được ghi</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r>
              <a:tr h="301752">
                <a:tc>
                  <a:txBody>
                    <a:bodyPr/>
                    <a:lstStyle/>
                    <a:p>
                      <a:pPr indent="0" marL="0">
                        <a:buNone/>
                      </a:pPr>
                      <a:r>
                        <a:rPr lang="en-US" sz="1100" dirty="0">
                          <a:solidFill>
                            <a:srgbClr val="1E2A32"/>
                          </a:solidFill>
                          <a:latin typeface="Courier New" pitchFamily="34" charset="0"/>
                          <a:ea typeface="Courier New" pitchFamily="34" charset="-122"/>
                          <a:cs typeface="Courier New" pitchFamily="34" charset="-120"/>
                        </a:rPr>
                        <a:t>events</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#1  market_sale · 2023-05-29 · Homemade and Handmade Market</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r>
              <a:tr h="301752">
                <a:tc>
                  <a:txBody>
                    <a:bodyPr/>
                    <a:lstStyle/>
                    <a:p>
                      <a:pPr indent="0" marL="0">
                        <a:buNone/>
                      </a:pPr>
                      <a:r>
                        <a:rPr lang="en-US" sz="1000" dirty="0">
                          <a:solidFill>
                            <a:srgbClr val="1E2A32"/>
                          </a:solidFill>
                          <a:latin typeface="Courier New" pitchFamily="34" charset="0"/>
                          <a:ea typeface="Courier New" pitchFamily="34" charset="-122"/>
                          <a:cs typeface="Courier New" pitchFamily="34" charset="-120"/>
                        </a:rPr>
                        <a:t>event_participants</a:t>
                      </a:r>
                      <a:endParaRPr lang="en-US" sz="1000" dirty="0">
                        <a:latin typeface="Courier New" charset="0"/>
                        <a:ea typeface="Courier New" charset="0"/>
                        <a:cs typeface="Courier New"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(#1, User) · (#1, Homemade and Handmade Market)</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r>
              <a:tr h="301752">
                <a:tc>
                  <a:txBody>
                    <a:bodyPr/>
                    <a:lstStyle/>
                    <a:p>
                      <a:pPr indent="0" marL="0">
                        <a:buNone/>
                      </a:pPr>
                      <a:r>
                        <a:rPr lang="en-US" sz="1100" dirty="0">
                          <a:solidFill>
                            <a:srgbClr val="1E2A32"/>
                          </a:solidFill>
                          <a:latin typeface="Courier New" pitchFamily="34" charset="0"/>
                          <a:ea typeface="Courier New" pitchFamily="34" charset="-122"/>
                          <a:cs typeface="Courier New" pitchFamily="34" charset="-120"/>
                        </a:rPr>
                        <a:t>facts</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#1 jars_of_homemade_jam_sold = 15 · #2 sales_revenue = 225.0</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r>
              <a:tr h="301752">
                <a:tc>
                  <a:txBody>
                    <a:bodyPr/>
                    <a:lstStyle/>
                    <a:p>
                      <a:pPr indent="0" marL="0">
                        <a:buNone/>
                      </a:pPr>
                      <a:r>
                        <a:rPr lang="en-US" sz="1100" dirty="0">
                          <a:solidFill>
                            <a:srgbClr val="1E2A32"/>
                          </a:solidFill>
                          <a:latin typeface="Courier New" pitchFamily="34" charset="0"/>
                          <a:ea typeface="Courier New" pitchFamily="34" charset="-122"/>
                          <a:cs typeface="Courier New" pitchFamily="34" charset="-120"/>
                        </a:rPr>
                        <a:t>evidence</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fact #1, #2 → turn 99  (span nguyên văn)</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r>
            </a:tbl>
          </a:graphicData>
        </a:graphic>
      </p:graphicFrame>
      <p:sp>
        <p:nvSpPr>
          <p:cNvPr id="14" name="Text 11"/>
          <p:cNvSpPr txBox="1"/>
          <p:nvPr/>
        </p:nvSpPr>
        <p:spPr>
          <a:xfrm>
            <a:off x="548640" y="6419088"/>
            <a:ext cx="11064240" cy="274320"/>
          </a:xfrm>
          <a:prstGeom prst="rect">
            <a:avLst/>
          </a:prstGeom>
          <a:noFill/>
          <a:ln/>
        </p:spPr>
        <p:txBody>
          <a:bodyPr wrap="square" lIns="0" tIns="0" rIns="0" bIns="0" rtlCol="0" anchor="t"/>
          <a:lstStyle/>
          <a:p>
            <a:pPr indent="0" marL="0">
              <a:buNone/>
            </a:pPr>
            <a:r>
              <a:rPr lang="en-US" sz="900" i="1" dirty="0">
                <a:solidFill>
                  <a:srgbClr val="5B6B73"/>
                </a:solidFill>
                <a:latin typeface="Calibri" pitchFamily="34" charset="0"/>
                <a:ea typeface="Calibri" pitchFamily="34" charset="-122"/>
                <a:cs typeface="Calibri" pitchFamily="34" charset="-120"/>
              </a:rPr>
              <a:t>Trích nguyên văn từ đồ thị 2b8f3739.db. Prompt trích xuất viết bằng tiếng Anh; một lời gọi xử lý tối đa 12 lượt.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100" b="1" spc="200" kern="0" dirty="0">
                <a:solidFill>
                  <a:srgbClr val="D98C1F"/>
                </a:solidFill>
                <a:latin typeface="Calibri" pitchFamily="34" charset="0"/>
                <a:ea typeface="Calibri" pitchFamily="34" charset="-122"/>
                <a:cs typeface="Calibri" pitchFamily="34" charset="-120"/>
              </a:rPr>
              <a:t>PHẦN 2 · LUỒNG CHẠY — ĐỌC</a:t>
            </a:r>
            <a:endParaRPr lang="en-US" sz="1100" dirty="0"/>
          </a:p>
        </p:txBody>
      </p:sp>
      <p:sp>
        <p:nvSpPr>
          <p:cNvPr id="3" name="Text 1"/>
          <p:cNvSpPr txBox="1"/>
          <p:nvPr/>
        </p:nvSpPr>
        <p:spPr>
          <a:xfrm>
            <a:off x="548640" y="621792"/>
            <a:ext cx="11064240" cy="566928"/>
          </a:xfrm>
          <a:prstGeom prst="rect">
            <a:avLst/>
          </a:prstGeom>
          <a:noFill/>
          <a:ln/>
        </p:spPr>
        <p:txBody>
          <a:bodyPr wrap="square" lIns="0" tIns="0" rIns="0" bIns="0" rtlCol="0" anchor="ctr"/>
          <a:lstStyle/>
          <a:p>
            <a:pPr indent="0" marL="0">
              <a:buNone/>
            </a:pPr>
            <a:r>
              <a:rPr lang="en-US" sz="2800" b="1" dirty="0">
                <a:solidFill>
                  <a:srgbClr val="12232E"/>
                </a:solidFill>
                <a:latin typeface="Cambria" pitchFamily="34" charset="0"/>
                <a:ea typeface="Cambria" pitchFamily="34" charset="-122"/>
                <a:cs typeface="Cambria" pitchFamily="34" charset="-120"/>
              </a:rPr>
              <a:t>Agent ReAct trả lời câu 2b8f3739: 4 lần gọi công cụ</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65760"/>
                <a:gridCol w="1325880"/>
                <a:gridCol w="2606040"/>
                <a:gridCol w="2514600"/>
                <a:gridCol w="3429000"/>
                <a:gridCol w="822960"/>
              </a:tblGrid>
              <a:tr h="329184">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Công cụ</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Agent gửi</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Gọi để làm gì</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Công cụ trả về</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Thời gian</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r>
              <a:tr h="658368">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050" b="1" dirty="0">
                          <a:solidFill>
                            <a:srgbClr val="1E2A32"/>
                          </a:solidFill>
                          <a:latin typeface="Courier New" pitchFamily="34" charset="0"/>
                          <a:ea typeface="Courier New" pitchFamily="34" charset="-122"/>
                          <a:cs typeface="Courier New" pitchFamily="34" charset="-120"/>
                        </a:rPr>
                        <a:t>SchemaViewer</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950" dirty="0">
                          <a:solidFill>
                            <a:srgbClr val="1E2A32"/>
                          </a:solidFill>
                          <a:latin typeface="Courier New" pitchFamily="34" charset="0"/>
                          <a:ea typeface="Courier New" pitchFamily="34" charset="-122"/>
                          <a:cs typeface="Courier New" pitchFamily="34" charset="-120"/>
                        </a:rPr>
                        <a:t>include_examples = true</a:t>
                      </a:r>
                      <a:endParaRPr lang="en-US" sz="950" dirty="0">
                        <a:latin typeface="Courier New" charset="0"/>
                        <a:ea typeface="Courier New" charset="0"/>
                        <a:cs typeface="Courier New"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Xem 7 bảng, thống kê, danh sách thuộc tính và ví dụ SQL trước khi truy vấn</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146 thuộc tính, trong đó có sales_revenue, market_sales_total</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2 ms</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r>
              <a:tr h="731520">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050" b="1" dirty="0">
                          <a:solidFill>
                            <a:srgbClr val="1E2A32"/>
                          </a:solidFill>
                          <a:latin typeface="Courier New" pitchFamily="34" charset="0"/>
                          <a:ea typeface="Courier New" pitchFamily="34" charset="-122"/>
                          <a:cs typeface="Courier New" pitchFamily="34" charset="-120"/>
                        </a:rPr>
                        <a:t>Search</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950" dirty="0">
                          <a:solidFill>
                            <a:srgbClr val="1E2A32"/>
                          </a:solidFill>
                          <a:latin typeface="Courier New" pitchFamily="34" charset="0"/>
                          <a:ea typeface="Courier New" pitchFamily="34" charset="-122"/>
                          <a:cs typeface="Courier New" pitchFamily="34" charset="-120"/>
                        </a:rPr>
                        <a:t>"money earned selling products at markets total sales revenue"</a:t>
                      </a:r>
                      <a:endParaRPr lang="en-US" sz="950" dirty="0">
                        <a:latin typeface="Courier New" charset="0"/>
                        <a:ea typeface="Courier New" charset="0"/>
                        <a:cs typeface="Courier New"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Tìm lai (vector + FTS5, gộp RRF) trên fact, thực thể và lượt gốc</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3 fact: $150 (01/06), $225 (29/05), $120 (15/05) từ đúng 3 phiên bằng chứng + các lượt gốc</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11 s</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r>
              <a:tr h="566928">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050" b="1" dirty="0">
                          <a:solidFill>
                            <a:srgbClr val="1E2A32"/>
                          </a:solidFill>
                          <a:latin typeface="Courier New" pitchFamily="34" charset="0"/>
                          <a:ea typeface="Courier New" pitchFamily="34" charset="-122"/>
                          <a:cs typeface="Courier New" pitchFamily="34" charset="-120"/>
                        </a:rPr>
                        <a:t>EntityLookup</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950" dirty="0">
                          <a:solidFill>
                            <a:srgbClr val="1E2A32"/>
                          </a:solidFill>
                          <a:latin typeface="Courier New" pitchFamily="34" charset="0"/>
                          <a:ea typeface="Courier New" pitchFamily="34" charset="-122"/>
                          <a:cs typeface="Courier New" pitchFamily="34" charset="-120"/>
                        </a:rPr>
                        <a:t>"User market sales products revenue"</a:t>
                      </a:r>
                      <a:endParaRPr lang="en-US" sz="950" dirty="0">
                        <a:latin typeface="Courier New" charset="0"/>
                        <a:ea typeface="Courier New" charset="0"/>
                        <a:cs typeface="Courier New"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Xem hồ sơ User: giá trị mới nhất từng thuộc tính + lịch sử</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Bảng latest / history của User (61 sự kiện)</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0,2 s</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r>
              <a:tr h="658368">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050" b="1" dirty="0">
                          <a:solidFill>
                            <a:srgbClr val="1E2A32"/>
                          </a:solidFill>
                          <a:latin typeface="Courier New" pitchFamily="34" charset="0"/>
                          <a:ea typeface="Courier New" pitchFamily="34" charset="-122"/>
                          <a:cs typeface="Courier New" pitchFamily="34" charset="-120"/>
                        </a:rPr>
                        <a:t>GraphSQL</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950" dirty="0">
                          <a:solidFill>
                            <a:srgbClr val="1E2A32"/>
                          </a:solidFill>
                          <a:latin typeface="Courier New" pitchFamily="34" charset="0"/>
                          <a:ea typeface="Courier New" pitchFamily="34" charset="-122"/>
                          <a:cs typeface="Courier New" pitchFamily="34" charset="-120"/>
                        </a:rPr>
                        <a:t>SELECT … WHERE p.name LIKE '%sales%' OR '%revenue%' OR '%market%' ORDER BY effective</a:t>
                      </a:r>
                      <a:endParaRPr lang="en-US" sz="950" dirty="0">
                        <a:latin typeface="Courier New" charset="0"/>
                        <a:ea typeface="Courier New" charset="0"/>
                        <a:cs typeface="Courier New"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Liệt kê đủ mọi khoản thu để không sót khi cộng</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11 dòng — xác nhận đúng 3 khoản thu</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1 ms</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4572000"/>
            <a:ext cx="6675120" cy="1463040"/>
          </a:xfrm>
          <a:prstGeom prst="roundRect">
            <a:avLst>
              <a:gd name="adj" fmla="val 3750"/>
            </a:avLst>
          </a:prstGeom>
          <a:solidFill>
            <a:srgbClr val="E6F4EC"/>
          </a:solidFill>
          <a:ln w="12700">
            <a:solidFill>
              <a:srgbClr val="E6F4EC"/>
            </a:solidFill>
            <a:prstDash val="solid"/>
          </a:ln>
        </p:spPr>
      </p:sp>
      <p:sp>
        <p:nvSpPr>
          <p:cNvPr id="6" name="Text 3"/>
          <p:cNvSpPr txBox="1"/>
          <p:nvPr/>
        </p:nvSpPr>
        <p:spPr>
          <a:xfrm>
            <a:off x="777240" y="4681728"/>
            <a:ext cx="2743200" cy="274320"/>
          </a:xfrm>
          <a:prstGeom prst="rect">
            <a:avLst/>
          </a:prstGeom>
          <a:noFill/>
          <a:ln/>
        </p:spPr>
        <p:txBody>
          <a:bodyPr wrap="square" lIns="0" tIns="0" rIns="0" bIns="0" rtlCol="0" anchor="t"/>
          <a:lstStyle/>
          <a:p>
            <a:pPr indent="0" marL="0">
              <a:buNone/>
            </a:pPr>
            <a:r>
              <a:rPr lang="en-US" sz="1050" b="1" dirty="0">
                <a:solidFill>
                  <a:srgbClr val="1F7A4D"/>
                </a:solidFill>
                <a:latin typeface="Calibri" pitchFamily="34" charset="0"/>
                <a:ea typeface="Calibri" pitchFamily="34" charset="-122"/>
                <a:cs typeface="Calibri" pitchFamily="34" charset="-120"/>
              </a:rPr>
              <a:t>CÂU TRẢ LỜI</a:t>
            </a:r>
            <a:endParaRPr lang="en-US" sz="1050" dirty="0"/>
          </a:p>
        </p:txBody>
      </p:sp>
      <p:sp>
        <p:nvSpPr>
          <p:cNvPr id="7" name="Text 4"/>
          <p:cNvSpPr txBox="1"/>
          <p:nvPr/>
        </p:nvSpPr>
        <p:spPr>
          <a:xfrm>
            <a:off x="777240" y="4956048"/>
            <a:ext cx="6309360" cy="685800"/>
          </a:xfrm>
          <a:prstGeom prst="rect">
            <a:avLst/>
          </a:prstGeom>
          <a:noFill/>
          <a:ln/>
        </p:spPr>
        <p:txBody>
          <a:bodyPr wrap="square" lIns="0" tIns="0" rIns="0" bIns="0" rtlCol="0" anchor="t"/>
          <a:lstStyle/>
          <a:p>
            <a:pPr indent="0" marL="0">
              <a:buNone/>
            </a:pPr>
            <a:r>
              <a:rPr lang="en-US" sz="1250" i="1" dirty="0">
                <a:solidFill>
                  <a:srgbClr val="1E2A32"/>
                </a:solidFill>
                <a:latin typeface="Calibri" pitchFamily="34" charset="0"/>
                <a:ea typeface="Calibri" pitchFamily="34" charset="-122"/>
                <a:cs typeface="Calibri" pitchFamily="34" charset="-120"/>
              </a:rPr>
              <a:t>“You earned $495 total: $120 at the farmers' market on May 15, $225 at the Homemade and Handmade Market on May 29, $150 at the Summer Solstice Market.”</a:t>
            </a:r>
            <a:endParaRPr lang="en-US" sz="1250" dirty="0"/>
          </a:p>
        </p:txBody>
      </p:sp>
      <p:sp>
        <p:nvSpPr>
          <p:cNvPr id="8" name="Text 5"/>
          <p:cNvSpPr txBox="1"/>
          <p:nvPr/>
        </p:nvSpPr>
        <p:spPr>
          <a:xfrm>
            <a:off x="777240" y="5669280"/>
            <a:ext cx="6309360" cy="274320"/>
          </a:xfrm>
          <a:prstGeom prst="rect">
            <a:avLst/>
          </a:prstGeom>
          <a:noFill/>
          <a:ln/>
        </p:spPr>
        <p:txBody>
          <a:bodyPr wrap="square" lIns="0" tIns="0" rIns="0" bIns="0" rtlCol="0" anchor="t"/>
          <a:lstStyle/>
          <a:p>
            <a:pPr indent="0" marL="0">
              <a:buNone/>
            </a:pPr>
            <a:r>
              <a:rPr lang="en-US" sz="1150" b="1" dirty="0">
                <a:solidFill>
                  <a:srgbClr val="1F7A4D"/>
                </a:solidFill>
                <a:latin typeface="Calibri" pitchFamily="34" charset="0"/>
                <a:ea typeface="Calibri" pitchFamily="34" charset="-122"/>
                <a:cs typeface="Calibri" pitchFamily="34" charset="-120"/>
              </a:rPr>
              <a:t>✓ Đúng (đáp án chuẩn $495) · 3 lời gọi LLM · 8,3K token · 24,7 s</a:t>
            </a:r>
            <a:endParaRPr lang="en-US" sz="1150" dirty="0"/>
          </a:p>
        </p:txBody>
      </p:sp>
      <p:sp>
        <p:nvSpPr>
          <p:cNvPr id="9" name="Shape 6"/>
          <p:cNvSpPr/>
          <p:nvPr/>
        </p:nvSpPr>
        <p:spPr>
          <a:xfrm>
            <a:off x="7498080" y="4572000"/>
            <a:ext cx="4114800" cy="1463040"/>
          </a:xfrm>
          <a:prstGeom prst="roundRect">
            <a:avLst>
              <a:gd name="adj" fmla="val 3750"/>
            </a:avLst>
          </a:prstGeom>
          <a:solidFill>
            <a:srgbClr val="FBF1E3"/>
          </a:solidFill>
          <a:ln w="12700">
            <a:solidFill>
              <a:srgbClr val="FBF1E3"/>
            </a:solidFill>
            <a:prstDash val="solid"/>
          </a:ln>
        </p:spPr>
      </p:sp>
      <p:sp>
        <p:nvSpPr>
          <p:cNvPr id="10" name="Text 7"/>
          <p:cNvSpPr txBox="1"/>
          <p:nvPr/>
        </p:nvSpPr>
        <p:spPr>
          <a:xfrm>
            <a:off x="7726680" y="4681728"/>
            <a:ext cx="3657600" cy="274320"/>
          </a:xfrm>
          <a:prstGeom prst="rect">
            <a:avLst/>
          </a:prstGeom>
          <a:noFill/>
          <a:ln/>
        </p:spPr>
        <p:txBody>
          <a:bodyPr wrap="square" lIns="0" tIns="0" rIns="0" bIns="0" rtlCol="0" anchor="t"/>
          <a:lstStyle/>
          <a:p>
            <a:pPr indent="0" marL="0">
              <a:buNone/>
            </a:pPr>
            <a:r>
              <a:rPr lang="en-US" sz="1050" b="1" dirty="0">
                <a:solidFill>
                  <a:srgbClr val="D98C1F"/>
                </a:solidFill>
                <a:latin typeface="Calibri" pitchFamily="34" charset="0"/>
                <a:ea typeface="Calibri" pitchFamily="34" charset="-122"/>
                <a:cs typeface="Calibri" pitchFamily="34" charset="-120"/>
              </a:rPr>
              <a:t>ĐIỂM CẦN CẢI THIỆN</a:t>
            </a:r>
            <a:endParaRPr lang="en-US" sz="1050" dirty="0"/>
          </a:p>
        </p:txBody>
      </p:sp>
      <p:sp>
        <p:nvSpPr>
          <p:cNvPr id="11" name="Text 8"/>
          <p:cNvSpPr txBox="1"/>
          <p:nvPr/>
        </p:nvSpPr>
        <p:spPr>
          <a:xfrm>
            <a:off x="7726680" y="4956048"/>
            <a:ext cx="3749040" cy="1005840"/>
          </a:xfrm>
          <a:prstGeom prst="rect">
            <a:avLst/>
          </a:prstGeom>
          <a:noFill/>
          <a:ln/>
        </p:spPr>
        <p:txBody>
          <a:bodyPr wrap="square" lIns="0" tIns="0" rIns="0" bIns="0" rtlCol="0" anchor="t"/>
          <a:lstStyle/>
          <a:p>
            <a:pPr indent="0" marL="0">
              <a:buNone/>
            </a:pPr>
            <a:r>
              <a:rPr lang="en-US" sz="1150" dirty="0">
                <a:solidFill>
                  <a:srgbClr val="1E2A32"/>
                </a:solidFill>
                <a:latin typeface="Calibri" pitchFamily="34" charset="0"/>
                <a:ea typeface="Calibri" pitchFamily="34" charset="-122"/>
                <a:cs typeface="Calibri" pitchFamily="34" charset="-120"/>
              </a:rPr>
              <a:t>Cùng một ý “doanh thu” nhưng mang 2 tên thuộc tính: sales_revenue và market_sales_total — bước giải quyết thuộc tính chưa gộp. Agent vẫn đúng nhờ SQL với LIKE.</a:t>
            </a:r>
            <a:endParaRPr lang="en-US" sz="1150" dirty="0"/>
          </a:p>
        </p:txBody>
      </p:sp>
      <p:sp>
        <p:nvSpPr>
          <p:cNvPr id="12" name="Text 9"/>
          <p:cNvSpPr txBox="1"/>
          <p:nvPr/>
        </p:nvSpPr>
        <p:spPr>
          <a:xfrm>
            <a:off x="548640" y="6419088"/>
            <a:ext cx="11064240" cy="274320"/>
          </a:xfrm>
          <a:prstGeom prst="rect">
            <a:avLst/>
          </a:prstGeom>
          <a:noFill/>
          <a:ln/>
        </p:spPr>
        <p:txBody>
          <a:bodyPr wrap="square" lIns="0" tIns="0" rIns="0" bIns="0" rtlCol="0" anchor="t"/>
          <a:lstStyle/>
          <a:p>
            <a:pPr indent="0" marL="0">
              <a:buNone/>
            </a:pPr>
            <a:r>
              <a:rPr lang="en-US" sz="900" i="1" dirty="0">
                <a:solidFill>
                  <a:srgbClr val="5B6B73"/>
                </a:solidFill>
                <a:latin typeface="Calibri" pitchFamily="34" charset="0"/>
                <a:ea typeface="Calibri" pitchFamily="34" charset="-122"/>
                <a:cs typeface="Calibri" pitchFamily="34" charset="-120"/>
              </a:rPr>
              <a:t>Trích từ results.jsonl của lần chạy full/dev. Vòng lặp: suy nghĩ → chọn công cụ → đọc kết quả → lặp, tối đa 20 bước; hết lượt thì bị ép trả lời.</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100" b="1" spc="200" kern="0" dirty="0">
                <a:solidFill>
                  <a:srgbClr val="D98C1F"/>
                </a:solidFill>
                <a:latin typeface="Calibri" pitchFamily="34" charset="0"/>
                <a:ea typeface="Calibri" pitchFamily="34" charset="-122"/>
                <a:cs typeface="Calibri" pitchFamily="34" charset="-120"/>
              </a:rPr>
              <a:t>PHẦN 2 · LUỒNG CHẠY — ĐỌC</a:t>
            </a:r>
            <a:endParaRPr lang="en-US" sz="1100" dirty="0"/>
          </a:p>
        </p:txBody>
      </p:sp>
      <p:sp>
        <p:nvSpPr>
          <p:cNvPr id="3" name="Text 1"/>
          <p:cNvSpPr txBox="1"/>
          <p:nvPr/>
        </p:nvSpPr>
        <p:spPr>
          <a:xfrm>
            <a:off x="548640" y="621792"/>
            <a:ext cx="11064240" cy="566928"/>
          </a:xfrm>
          <a:prstGeom prst="rect">
            <a:avLst/>
          </a:prstGeom>
          <a:noFill/>
          <a:ln/>
        </p:spPr>
        <p:txBody>
          <a:bodyPr wrap="square" lIns="0" tIns="0" rIns="0" bIns="0" rtlCol="0" anchor="ctr"/>
          <a:lstStyle/>
          <a:p>
            <a:pPr indent="0" marL="0">
              <a:buNone/>
            </a:pPr>
            <a:r>
              <a:rPr lang="en-US" sz="2800" b="1" dirty="0">
                <a:solidFill>
                  <a:srgbClr val="12232E"/>
                </a:solidFill>
                <a:latin typeface="Cambria" pitchFamily="34" charset="0"/>
                <a:ea typeface="Cambria" pitchFamily="34" charset="-122"/>
                <a:cs typeface="Cambria" pitchFamily="34" charset="-120"/>
              </a:rPr>
              <a:t>Câu cập nhật kiến thức: agent chọn giá trị mới nhất</a:t>
            </a:r>
            <a:endParaRPr lang="en-US" sz="2800" dirty="0"/>
          </a:p>
        </p:txBody>
      </p:sp>
      <p:sp>
        <p:nvSpPr>
          <p:cNvPr id="4" name="Text 2"/>
          <p:cNvSpPr txBox="1"/>
          <p:nvPr/>
        </p:nvSpPr>
        <p:spPr>
          <a:xfrm>
            <a:off x="548640" y="1325880"/>
            <a:ext cx="10972800" cy="320040"/>
          </a:xfrm>
          <a:prstGeom prst="rect">
            <a:avLst/>
          </a:prstGeom>
          <a:noFill/>
          <a:ln/>
        </p:spPr>
        <p:txBody>
          <a:bodyPr wrap="square" lIns="0" tIns="0" rIns="0" bIns="0" rtlCol="0" anchor="t"/>
          <a:lstStyle/>
          <a:p>
            <a:pPr indent="0" marL="0">
              <a:buNone/>
            </a:pPr>
            <a:r>
              <a:rPr lang="en-US" sz="1300" i="1" dirty="0">
                <a:solidFill>
                  <a:srgbClr val="5B6B73"/>
                </a:solidFill>
                <a:latin typeface="Calibri" pitchFamily="34" charset="0"/>
                <a:ea typeface="Calibri" pitchFamily="34" charset="-122"/>
                <a:cs typeface="Calibri" pitchFamily="34" charset="-120"/>
              </a:rPr>
              <a:t>Câu 1cea1afa — “How many Instagram followers do I currently have?” · ngày hỏi 14/06/2023 · đáp án chuẩn 600</a:t>
            </a:r>
            <a:endParaRPr lang="en-US" sz="1300" dirty="0"/>
          </a:p>
        </p:txBody>
      </p:sp>
      <p:sp>
        <p:nvSpPr>
          <p:cNvPr id="5" name="Shape 3"/>
          <p:cNvSpPr/>
          <p:nvPr/>
        </p:nvSpPr>
        <p:spPr>
          <a:xfrm>
            <a:off x="548640" y="1828800"/>
            <a:ext cx="3611880" cy="3063240"/>
          </a:xfrm>
          <a:prstGeom prst="roundRect">
            <a:avLst>
              <a:gd name="adj" fmla="val 1791"/>
            </a:avLst>
          </a:prstGeom>
          <a:solidFill>
            <a:srgbClr val="F3F7F8"/>
          </a:solidFill>
          <a:ln w="12700">
            <a:solidFill>
              <a:srgbClr val="F3F7F8"/>
            </a:solidFill>
            <a:prstDash val="solid"/>
          </a:ln>
        </p:spPr>
      </p:sp>
      <p:sp>
        <p:nvSpPr>
          <p:cNvPr id="6" name="Shape 4"/>
          <p:cNvSpPr/>
          <p:nvPr/>
        </p:nvSpPr>
        <p:spPr>
          <a:xfrm>
            <a:off x="777240" y="2011680"/>
            <a:ext cx="384048" cy="384048"/>
          </a:xfrm>
          <a:prstGeom prst="ellipse">
            <a:avLst/>
          </a:prstGeom>
          <a:solidFill>
            <a:srgbClr val="0F5C6B"/>
          </a:solidFill>
          <a:ln w="12700">
            <a:solidFill>
              <a:srgbClr val="0F5C6B"/>
            </a:solidFill>
            <a:prstDash val="solid"/>
          </a:ln>
        </p:spPr>
      </p:sp>
      <p:sp>
        <p:nvSpPr>
          <p:cNvPr id="7" name="Text 5"/>
          <p:cNvSpPr txBox="1"/>
          <p:nvPr/>
        </p:nvSpPr>
        <p:spPr>
          <a:xfrm>
            <a:off x="777240" y="20116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280160" y="2029968"/>
            <a:ext cx="2011680" cy="365760"/>
          </a:xfrm>
          <a:prstGeom prst="rect">
            <a:avLst/>
          </a:prstGeom>
          <a:noFill/>
          <a:ln/>
        </p:spPr>
        <p:txBody>
          <a:bodyPr wrap="square" lIns="0" tIns="0" rIns="0" bIns="0" rtlCol="0" anchor="ctr"/>
          <a:lstStyle/>
          <a:p>
            <a:pPr indent="0" marL="0">
              <a:buNone/>
            </a:pPr>
            <a:r>
              <a:rPr lang="en-US" sz="1500" b="1" dirty="0">
                <a:solidFill>
                  <a:srgbClr val="12232E"/>
                </a:solidFill>
                <a:latin typeface="Courier New" pitchFamily="34" charset="0"/>
                <a:ea typeface="Courier New" pitchFamily="34" charset="-122"/>
                <a:cs typeface="Courier New" pitchFamily="34" charset="-120"/>
              </a:rPr>
              <a:t>Search</a:t>
            </a:r>
            <a:endParaRPr lang="en-US" sz="1500" dirty="0"/>
          </a:p>
        </p:txBody>
      </p:sp>
      <p:sp>
        <p:nvSpPr>
          <p:cNvPr id="9" name="Text 7"/>
          <p:cNvSpPr txBox="1"/>
          <p:nvPr/>
        </p:nvSpPr>
        <p:spPr>
          <a:xfrm>
            <a:off x="3291840" y="2029968"/>
            <a:ext cx="685800" cy="365760"/>
          </a:xfrm>
          <a:prstGeom prst="rect">
            <a:avLst/>
          </a:prstGeom>
          <a:noFill/>
          <a:ln/>
        </p:spPr>
        <p:txBody>
          <a:bodyPr wrap="square" lIns="0" tIns="0" rIns="0" bIns="0" rtlCol="0" anchor="ctr"/>
          <a:lstStyle/>
          <a:p>
            <a:pPr algn="r" indent="0" marL="0">
              <a:buNone/>
            </a:pPr>
            <a:r>
              <a:rPr lang="en-US" sz="1100" dirty="0">
                <a:solidFill>
                  <a:srgbClr val="5B6B73"/>
                </a:solidFill>
                <a:latin typeface="Calibri" pitchFamily="34" charset="0"/>
                <a:ea typeface="Calibri" pitchFamily="34" charset="-122"/>
                <a:cs typeface="Calibri" pitchFamily="34" charset="-120"/>
              </a:rPr>
              <a:t>12,7 s</a:t>
            </a:r>
            <a:endParaRPr lang="en-US" sz="1100" dirty="0"/>
          </a:p>
        </p:txBody>
      </p:sp>
      <p:sp>
        <p:nvSpPr>
          <p:cNvPr id="10" name="Text 8"/>
          <p:cNvSpPr txBox="1"/>
          <p:nvPr/>
        </p:nvSpPr>
        <p:spPr>
          <a:xfrm>
            <a:off x="777240" y="2560320"/>
            <a:ext cx="3200400" cy="457200"/>
          </a:xfrm>
          <a:prstGeom prst="rect">
            <a:avLst/>
          </a:prstGeom>
          <a:noFill/>
          <a:ln/>
        </p:spPr>
        <p:txBody>
          <a:bodyPr wrap="square" lIns="0" tIns="0" rIns="0" bIns="0" rtlCol="0" anchor="t"/>
          <a:lstStyle/>
          <a:p>
            <a:pPr indent="0" marL="0">
              <a:buNone/>
            </a:pPr>
            <a:r>
              <a:rPr lang="en-US" sz="950" dirty="0">
                <a:solidFill>
                  <a:srgbClr val="0F5C6B"/>
                </a:solidFill>
                <a:latin typeface="Courier New" pitchFamily="34" charset="0"/>
                <a:ea typeface="Courier New" pitchFamily="34" charset="-122"/>
                <a:cs typeface="Courier New" pitchFamily="34" charset="-120"/>
              </a:rPr>
              <a:t>"current Instagram followers follower count"</a:t>
            </a:r>
            <a:endParaRPr lang="en-US" sz="950" dirty="0"/>
          </a:p>
        </p:txBody>
      </p:sp>
      <p:sp>
        <p:nvSpPr>
          <p:cNvPr id="11" name="Text 9"/>
          <p:cNvSpPr txBox="1"/>
          <p:nvPr/>
        </p:nvSpPr>
        <p:spPr>
          <a:xfrm>
            <a:off x="777240" y="3063240"/>
            <a:ext cx="3200400" cy="457200"/>
          </a:xfrm>
          <a:prstGeom prst="rect">
            <a:avLst/>
          </a:prstGeom>
          <a:noFill/>
          <a:ln/>
        </p:spPr>
        <p:txBody>
          <a:bodyPr wrap="square" lIns="0" tIns="0" rIns="0" bIns="0" rtlCol="0" anchor="t"/>
          <a:lstStyle/>
          <a:p>
            <a:pPr indent="0" marL="0">
              <a:buNone/>
            </a:pPr>
            <a:r>
              <a:rPr lang="en-US" sz="1150" dirty="0">
                <a:solidFill>
                  <a:srgbClr val="1E2A32"/>
                </a:solidFill>
                <a:latin typeface="Calibri" pitchFamily="34" charset="0"/>
                <a:ea typeface="Calibri" pitchFamily="34" charset="-122"/>
                <a:cs typeface="Calibri" pitchFamily="34" charset="-120"/>
              </a:rPr>
              <a:t>Trả về CẢ HAI phiên bản, kèm thời điểm hiệu lực:</a:t>
            </a:r>
            <a:endParaRPr lang="en-US" sz="11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77240" y="3611880"/>
          <a:ext cx="3154680" cy="914400"/>
        </p:xfrm>
        <a:graphic>
          <a:graphicData uri="http://schemas.openxmlformats.org/drawingml/2006/table">
            <a:tbl>
              <a:tblPr/>
              <a:tblGrid>
                <a:gridCol w="731520"/>
                <a:gridCol w="1234440"/>
                <a:gridCol w="1188720"/>
              </a:tblGrid>
              <a:tr h="29260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value</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effective</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nguồn</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r>
              <a:tr h="292608">
                <a:tc>
                  <a:txBody>
                    <a:bodyPr/>
                    <a:lstStyle/>
                    <a:p>
                      <a:pPr indent="0" marL="0">
                        <a:buNone/>
                      </a:pPr>
                      <a:r>
                        <a:rPr lang="en-US" sz="1050" b="1" dirty="0">
                          <a:solidFill>
                            <a:srgbClr val="1E2A32"/>
                          </a:solidFill>
                          <a:latin typeface="Courier New" pitchFamily="34" charset="0"/>
                          <a:ea typeface="Courier New" pitchFamily="34" charset="-122"/>
                          <a:cs typeface="Courier New" pitchFamily="34" charset="-120"/>
                        </a:rPr>
                        <a:t>600</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050" dirty="0">
                          <a:solidFill>
                            <a:srgbClr val="1E2A32"/>
                          </a:solidFill>
                          <a:latin typeface="Courier New" pitchFamily="34" charset="0"/>
                          <a:ea typeface="Courier New" pitchFamily="34" charset="-122"/>
                          <a:cs typeface="Courier New" pitchFamily="34" charset="-120"/>
                        </a:rPr>
                        <a:t>2023-05-28</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050" dirty="0">
                          <a:solidFill>
                            <a:srgbClr val="1E2A32"/>
                          </a:solidFill>
                          <a:latin typeface="Courier New" pitchFamily="34" charset="0"/>
                          <a:ea typeface="Courier New" pitchFamily="34" charset="-122"/>
                          <a:cs typeface="Courier New" pitchFamily="34" charset="-120"/>
                        </a:rPr>
                        <a:t>…_2</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r>
              <a:tr h="292608">
                <a:tc>
                  <a:txBody>
                    <a:bodyPr/>
                    <a:lstStyle/>
                    <a:p>
                      <a:pPr indent="0" marL="0">
                        <a:buNone/>
                      </a:pPr>
                      <a:r>
                        <a:rPr lang="en-US" sz="1050" dirty="0">
                          <a:solidFill>
                            <a:srgbClr val="1E2A32"/>
                          </a:solidFill>
                          <a:latin typeface="Courier New" pitchFamily="34" charset="0"/>
                          <a:ea typeface="Courier New" pitchFamily="34" charset="-122"/>
                          <a:cs typeface="Courier New" pitchFamily="34" charset="-120"/>
                        </a:rPr>
                        <a:t>500</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050" dirty="0">
                          <a:solidFill>
                            <a:srgbClr val="1E2A32"/>
                          </a:solidFill>
                          <a:latin typeface="Courier New" pitchFamily="34" charset="0"/>
                          <a:ea typeface="Courier New" pitchFamily="34" charset="-122"/>
                          <a:cs typeface="Courier New" pitchFamily="34" charset="-120"/>
                        </a:rPr>
                        <a:t>2023-05-20</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050" dirty="0">
                          <a:solidFill>
                            <a:srgbClr val="1E2A32"/>
                          </a:solidFill>
                          <a:latin typeface="Courier New" pitchFamily="34" charset="0"/>
                          <a:ea typeface="Courier New" pitchFamily="34" charset="-122"/>
                          <a:cs typeface="Courier New" pitchFamily="34" charset="-120"/>
                        </a:rPr>
                        <a:t>…_1</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r>
            </a:tbl>
          </a:graphicData>
        </a:graphic>
      </p:graphicFrame>
      <p:sp>
        <p:nvSpPr>
          <p:cNvPr id="13" name="Shape 10"/>
          <p:cNvSpPr/>
          <p:nvPr/>
        </p:nvSpPr>
        <p:spPr>
          <a:xfrm>
            <a:off x="4389120" y="1828800"/>
            <a:ext cx="3611880" cy="3063240"/>
          </a:xfrm>
          <a:prstGeom prst="roundRect">
            <a:avLst>
              <a:gd name="adj" fmla="val 1791"/>
            </a:avLst>
          </a:prstGeom>
          <a:solidFill>
            <a:srgbClr val="F3F7F8"/>
          </a:solidFill>
          <a:ln w="12700">
            <a:solidFill>
              <a:srgbClr val="F3F7F8"/>
            </a:solidFill>
            <a:prstDash val="solid"/>
          </a:ln>
        </p:spPr>
      </p:sp>
      <p:sp>
        <p:nvSpPr>
          <p:cNvPr id="14" name="Shape 11"/>
          <p:cNvSpPr/>
          <p:nvPr/>
        </p:nvSpPr>
        <p:spPr>
          <a:xfrm>
            <a:off x="4617720" y="2011680"/>
            <a:ext cx="384048" cy="384048"/>
          </a:xfrm>
          <a:prstGeom prst="ellipse">
            <a:avLst/>
          </a:prstGeom>
          <a:solidFill>
            <a:srgbClr val="0F5C6B"/>
          </a:solidFill>
          <a:ln w="12700">
            <a:solidFill>
              <a:srgbClr val="0F5C6B"/>
            </a:solidFill>
            <a:prstDash val="solid"/>
          </a:ln>
        </p:spPr>
      </p:sp>
      <p:sp>
        <p:nvSpPr>
          <p:cNvPr id="15" name="Text 12"/>
          <p:cNvSpPr txBox="1"/>
          <p:nvPr/>
        </p:nvSpPr>
        <p:spPr>
          <a:xfrm>
            <a:off x="4617720" y="20116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5120640" y="2029968"/>
            <a:ext cx="2011680" cy="365760"/>
          </a:xfrm>
          <a:prstGeom prst="rect">
            <a:avLst/>
          </a:prstGeom>
          <a:noFill/>
          <a:ln/>
        </p:spPr>
        <p:txBody>
          <a:bodyPr wrap="square" lIns="0" tIns="0" rIns="0" bIns="0" rtlCol="0" anchor="ctr"/>
          <a:lstStyle/>
          <a:p>
            <a:pPr indent="0" marL="0">
              <a:buNone/>
            </a:pPr>
            <a:r>
              <a:rPr lang="en-US" sz="1500" b="1" dirty="0">
                <a:solidFill>
                  <a:srgbClr val="12232E"/>
                </a:solidFill>
                <a:latin typeface="Courier New" pitchFamily="34" charset="0"/>
                <a:ea typeface="Courier New" pitchFamily="34" charset="-122"/>
                <a:cs typeface="Courier New" pitchFamily="34" charset="-120"/>
              </a:rPr>
              <a:t>EntityLookup</a:t>
            </a:r>
            <a:endParaRPr lang="en-US" sz="1500" dirty="0"/>
          </a:p>
        </p:txBody>
      </p:sp>
      <p:sp>
        <p:nvSpPr>
          <p:cNvPr id="17" name="Text 14"/>
          <p:cNvSpPr txBox="1"/>
          <p:nvPr/>
        </p:nvSpPr>
        <p:spPr>
          <a:xfrm>
            <a:off x="7132320" y="2029968"/>
            <a:ext cx="685800" cy="365760"/>
          </a:xfrm>
          <a:prstGeom prst="rect">
            <a:avLst/>
          </a:prstGeom>
          <a:noFill/>
          <a:ln/>
        </p:spPr>
        <p:txBody>
          <a:bodyPr wrap="square" lIns="0" tIns="0" rIns="0" bIns="0" rtlCol="0" anchor="ctr"/>
          <a:lstStyle/>
          <a:p>
            <a:pPr algn="r" indent="0" marL="0">
              <a:buNone/>
            </a:pPr>
            <a:r>
              <a:rPr lang="en-US" sz="1100" dirty="0">
                <a:solidFill>
                  <a:srgbClr val="5B6B73"/>
                </a:solidFill>
                <a:latin typeface="Calibri" pitchFamily="34" charset="0"/>
                <a:ea typeface="Calibri" pitchFamily="34" charset="-122"/>
                <a:cs typeface="Calibri" pitchFamily="34" charset="-120"/>
              </a:rPr>
              <a:t>0,2 s</a:t>
            </a:r>
            <a:endParaRPr lang="en-US" sz="1100" dirty="0"/>
          </a:p>
        </p:txBody>
      </p:sp>
      <p:sp>
        <p:nvSpPr>
          <p:cNvPr id="18" name="Text 15"/>
          <p:cNvSpPr txBox="1"/>
          <p:nvPr/>
        </p:nvSpPr>
        <p:spPr>
          <a:xfrm>
            <a:off x="4617720" y="2560320"/>
            <a:ext cx="3200400" cy="457200"/>
          </a:xfrm>
          <a:prstGeom prst="rect">
            <a:avLst/>
          </a:prstGeom>
          <a:noFill/>
          <a:ln/>
        </p:spPr>
        <p:txBody>
          <a:bodyPr wrap="square" lIns="0" tIns="0" rIns="0" bIns="0" rtlCol="0" anchor="t"/>
          <a:lstStyle/>
          <a:p>
            <a:pPr indent="0" marL="0">
              <a:buNone/>
            </a:pPr>
            <a:r>
              <a:rPr lang="en-US" sz="950" dirty="0">
                <a:solidFill>
                  <a:srgbClr val="0F5C6B"/>
                </a:solidFill>
                <a:latin typeface="Courier New" pitchFamily="34" charset="0"/>
                <a:ea typeface="Courier New" pitchFamily="34" charset="-122"/>
                <a:cs typeface="Courier New" pitchFamily="34" charset="-120"/>
              </a:rPr>
              <a:t>"User Instagram followers"</a:t>
            </a:r>
            <a:endParaRPr lang="en-US" sz="950" dirty="0"/>
          </a:p>
        </p:txBody>
      </p:sp>
      <p:sp>
        <p:nvSpPr>
          <p:cNvPr id="19" name="Text 16"/>
          <p:cNvSpPr txBox="1"/>
          <p:nvPr/>
        </p:nvSpPr>
        <p:spPr>
          <a:xfrm>
            <a:off x="4617720" y="3063240"/>
            <a:ext cx="3200400" cy="457200"/>
          </a:xfrm>
          <a:prstGeom prst="rect">
            <a:avLst/>
          </a:prstGeom>
          <a:noFill/>
          <a:ln/>
        </p:spPr>
        <p:txBody>
          <a:bodyPr wrap="square" lIns="0" tIns="0" rIns="0" bIns="0" rtlCol="0" anchor="t"/>
          <a:lstStyle/>
          <a:p>
            <a:pPr indent="0" marL="0">
              <a:buNone/>
            </a:pPr>
            <a:r>
              <a:rPr lang="en-US" sz="1150" dirty="0">
                <a:solidFill>
                  <a:srgbClr val="1E2A32"/>
                </a:solidFill>
                <a:latin typeface="Calibri" pitchFamily="34" charset="0"/>
                <a:ea typeface="Calibri" pitchFamily="34" charset="-122"/>
                <a:cs typeface="Calibri" pitchFamily="34" charset="-120"/>
              </a:rPr>
              <a:t>Bảng latest của User chỉ còn giá trị mới nhất:</a:t>
            </a:r>
            <a:endParaRPr lang="en-US" sz="115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4617720" y="3611880"/>
          <a:ext cx="3154680" cy="914400"/>
        </p:xfrm>
        <a:graphic>
          <a:graphicData uri="http://schemas.openxmlformats.org/drawingml/2006/table">
            <a:tbl>
              <a:tblPr/>
              <a:tblGrid>
                <a:gridCol w="731520"/>
                <a:gridCol w="1234440"/>
                <a:gridCol w="1188720"/>
              </a:tblGrid>
              <a:tr h="29260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value</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effective</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nguồn</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r>
              <a:tr h="292608">
                <a:tc>
                  <a:txBody>
                    <a:bodyPr/>
                    <a:lstStyle/>
                    <a:p>
                      <a:pPr indent="0" marL="0">
                        <a:buNone/>
                      </a:pPr>
                      <a:r>
                        <a:rPr lang="en-US" sz="1050" b="1" dirty="0">
                          <a:solidFill>
                            <a:srgbClr val="1E2A32"/>
                          </a:solidFill>
                          <a:latin typeface="Courier New" pitchFamily="34" charset="0"/>
                          <a:ea typeface="Courier New" pitchFamily="34" charset="-122"/>
                          <a:cs typeface="Courier New" pitchFamily="34" charset="-120"/>
                        </a:rPr>
                        <a:t>600</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050" dirty="0">
                          <a:solidFill>
                            <a:srgbClr val="1E2A32"/>
                          </a:solidFill>
                          <a:latin typeface="Courier New" pitchFamily="34" charset="0"/>
                          <a:ea typeface="Courier New" pitchFamily="34" charset="-122"/>
                          <a:cs typeface="Courier New" pitchFamily="34" charset="-120"/>
                        </a:rPr>
                        <a:t>2023-05-28</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050" dirty="0">
                          <a:solidFill>
                            <a:srgbClr val="1E2A32"/>
                          </a:solidFill>
                          <a:latin typeface="Courier New" pitchFamily="34" charset="0"/>
                          <a:ea typeface="Courier New" pitchFamily="34" charset="-122"/>
                          <a:cs typeface="Courier New" pitchFamily="34" charset="-120"/>
                        </a:rPr>
                        <a:t>fact #64</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r>
            </a:tbl>
          </a:graphicData>
        </a:graphic>
      </p:graphicFrame>
      <p:sp>
        <p:nvSpPr>
          <p:cNvPr id="21" name="Shape 17"/>
          <p:cNvSpPr/>
          <p:nvPr/>
        </p:nvSpPr>
        <p:spPr>
          <a:xfrm>
            <a:off x="4178808" y="3291840"/>
            <a:ext cx="192024" cy="914"/>
          </a:xfrm>
          <a:prstGeom prst="line">
            <a:avLst/>
          </a:prstGeom>
          <a:noFill/>
          <a:ln w="19050">
            <a:solidFill>
              <a:srgbClr val="D98C1F"/>
            </a:solidFill>
            <a:prstDash val="solid"/>
            <a:tailEnd type="triangle"/>
          </a:ln>
        </p:spPr>
      </p:sp>
      <p:sp>
        <p:nvSpPr>
          <p:cNvPr id="22" name="Shape 18"/>
          <p:cNvSpPr/>
          <p:nvPr/>
        </p:nvSpPr>
        <p:spPr>
          <a:xfrm>
            <a:off x="8229600" y="1828800"/>
            <a:ext cx="3383280" cy="3063240"/>
          </a:xfrm>
          <a:prstGeom prst="roundRect">
            <a:avLst>
              <a:gd name="adj" fmla="val 1791"/>
            </a:avLst>
          </a:prstGeom>
          <a:solidFill>
            <a:srgbClr val="E6F4EC"/>
          </a:solidFill>
          <a:ln w="12700">
            <a:solidFill>
              <a:srgbClr val="E6F4EC"/>
            </a:solidFill>
            <a:prstDash val="solid"/>
          </a:ln>
        </p:spPr>
      </p:sp>
      <p:sp>
        <p:nvSpPr>
          <p:cNvPr id="23" name="Text 19"/>
          <p:cNvSpPr txBox="1"/>
          <p:nvPr/>
        </p:nvSpPr>
        <p:spPr>
          <a:xfrm>
            <a:off x="8458200" y="2011680"/>
            <a:ext cx="2743200" cy="274320"/>
          </a:xfrm>
          <a:prstGeom prst="rect">
            <a:avLst/>
          </a:prstGeom>
          <a:noFill/>
          <a:ln/>
        </p:spPr>
        <p:txBody>
          <a:bodyPr wrap="square" lIns="0" tIns="0" rIns="0" bIns="0" rtlCol="0" anchor="t"/>
          <a:lstStyle/>
          <a:p>
            <a:pPr indent="0" marL="0">
              <a:buNone/>
            </a:pPr>
            <a:r>
              <a:rPr lang="en-US" sz="1050" b="1" dirty="0">
                <a:solidFill>
                  <a:srgbClr val="1F7A4D"/>
                </a:solidFill>
                <a:latin typeface="Calibri" pitchFamily="34" charset="0"/>
                <a:ea typeface="Calibri" pitchFamily="34" charset="-122"/>
                <a:cs typeface="Calibri" pitchFamily="34" charset="-120"/>
              </a:rPr>
              <a:t>CÂU TRẢ LỜI</a:t>
            </a:r>
            <a:endParaRPr lang="en-US" sz="1050" dirty="0"/>
          </a:p>
        </p:txBody>
      </p:sp>
      <p:sp>
        <p:nvSpPr>
          <p:cNvPr id="24" name="Text 20"/>
          <p:cNvSpPr txBox="1"/>
          <p:nvPr/>
        </p:nvSpPr>
        <p:spPr>
          <a:xfrm>
            <a:off x="8458200" y="2331720"/>
            <a:ext cx="2971800" cy="1005840"/>
          </a:xfrm>
          <a:prstGeom prst="rect">
            <a:avLst/>
          </a:prstGeom>
          <a:noFill/>
          <a:ln/>
        </p:spPr>
        <p:txBody>
          <a:bodyPr wrap="square" lIns="0" tIns="0" rIns="0" bIns="0" rtlCol="0" anchor="t"/>
          <a:lstStyle/>
          <a:p>
            <a:pPr indent="0" marL="0">
              <a:buNone/>
            </a:pPr>
            <a:r>
              <a:rPr lang="en-US" sz="1400" i="1" dirty="0">
                <a:solidFill>
                  <a:srgbClr val="1E2A32"/>
                </a:solidFill>
                <a:latin typeface="Calibri" pitchFamily="34" charset="0"/>
                <a:ea typeface="Calibri" pitchFamily="34" charset="-122"/>
                <a:cs typeface="Calibri" pitchFamily="34" charset="-120"/>
              </a:rPr>
              <a:t>“You currently have 600 Instagram followers (as of May 28, 2023).”</a:t>
            </a:r>
            <a:endParaRPr lang="en-US" sz="1400" dirty="0"/>
          </a:p>
        </p:txBody>
      </p:sp>
      <p:sp>
        <p:nvSpPr>
          <p:cNvPr id="25" name="Text 21"/>
          <p:cNvSpPr txBox="1"/>
          <p:nvPr/>
        </p:nvSpPr>
        <p:spPr>
          <a:xfrm>
            <a:off x="8458200" y="3474720"/>
            <a:ext cx="2971800" cy="320040"/>
          </a:xfrm>
          <a:prstGeom prst="rect">
            <a:avLst/>
          </a:prstGeom>
          <a:noFill/>
          <a:ln/>
        </p:spPr>
        <p:txBody>
          <a:bodyPr wrap="square" lIns="0" tIns="0" rIns="0" bIns="0" rtlCol="0" anchor="t"/>
          <a:lstStyle/>
          <a:p>
            <a:pPr indent="0" marL="0">
              <a:buNone/>
            </a:pPr>
            <a:r>
              <a:rPr lang="en-US" sz="1200" b="1" dirty="0">
                <a:solidFill>
                  <a:srgbClr val="1F7A4D"/>
                </a:solidFill>
                <a:latin typeface="Calibri" pitchFamily="34" charset="0"/>
                <a:ea typeface="Calibri" pitchFamily="34" charset="-122"/>
                <a:cs typeface="Calibri" pitchFamily="34" charset="-120"/>
              </a:rPr>
              <a:t>✓ Đúng · 2 lời gọi LLM · 20 s</a:t>
            </a:r>
            <a:endParaRPr lang="en-US" sz="1200" dirty="0"/>
          </a:p>
        </p:txBody>
      </p:sp>
      <p:sp>
        <p:nvSpPr>
          <p:cNvPr id="26" name="Text 22"/>
          <p:cNvSpPr txBox="1"/>
          <p:nvPr/>
        </p:nvSpPr>
        <p:spPr>
          <a:xfrm>
            <a:off x="8458200" y="3886200"/>
            <a:ext cx="2971800" cy="822960"/>
          </a:xfrm>
          <a:prstGeom prst="rect">
            <a:avLst/>
          </a:prstGeom>
          <a:noFill/>
          <a:ln/>
        </p:spPr>
        <p:txBody>
          <a:bodyPr wrap="square" lIns="0" tIns="0" rIns="0" bIns="0" rtlCol="0" anchor="t"/>
          <a:lstStyle/>
          <a:p>
            <a:pPr indent="0" marL="0">
              <a:buNone/>
            </a:pPr>
            <a:r>
              <a:rPr lang="en-US" sz="1100" dirty="0">
                <a:solidFill>
                  <a:srgbClr val="1E2A32"/>
                </a:solidFill>
                <a:latin typeface="Calibri" pitchFamily="34" charset="0"/>
                <a:ea typeface="Calibri" pitchFamily="34" charset="-122"/>
                <a:cs typeface="Calibri" pitchFamily="34" charset="-120"/>
              </a:rPr>
              <a:t>Agent nêu kèm mốc thời gian — dấu hiệu nó đã so t_from, không chọn ngẫu nhiên.</a:t>
            </a:r>
            <a:endParaRPr lang="en-US" sz="1100" dirty="0"/>
          </a:p>
        </p:txBody>
      </p:sp>
      <p:sp>
        <p:nvSpPr>
          <p:cNvPr id="27" name="Shape 23"/>
          <p:cNvSpPr/>
          <p:nvPr/>
        </p:nvSpPr>
        <p:spPr>
          <a:xfrm>
            <a:off x="548640" y="5166360"/>
            <a:ext cx="11064240" cy="914400"/>
          </a:xfrm>
          <a:prstGeom prst="roundRect">
            <a:avLst>
              <a:gd name="adj" fmla="val 6000"/>
            </a:avLst>
          </a:prstGeom>
          <a:solidFill>
            <a:srgbClr val="FBF1E3"/>
          </a:solidFill>
          <a:ln w="12700">
            <a:solidFill>
              <a:srgbClr val="FBF1E3"/>
            </a:solidFill>
            <a:prstDash val="solid"/>
          </a:ln>
        </p:spPr>
      </p:sp>
      <p:sp>
        <p:nvSpPr>
          <p:cNvPr id="28" name="Text 24"/>
          <p:cNvSpPr txBox="1"/>
          <p:nvPr/>
        </p:nvSpPr>
        <p:spPr>
          <a:xfrm>
            <a:off x="777240" y="5257800"/>
            <a:ext cx="10607040" cy="731520"/>
          </a:xfrm>
          <a:prstGeom prst="rect">
            <a:avLst/>
          </a:prstGeom>
          <a:noFill/>
          <a:ln/>
        </p:spPr>
        <p:txBody>
          <a:bodyPr wrap="square" lIns="0" tIns="0" rIns="0" bIns="0" rtlCol="0" anchor="ctr"/>
          <a:lstStyle/>
          <a:p>
            <a:pPr indent="0" marL="0">
              <a:buNone/>
            </a:pPr>
            <a:r>
              <a:rPr lang="en-US" sz="1250" b="1" dirty="0">
                <a:solidFill>
                  <a:srgbClr val="1E2A32"/>
                </a:solidFill>
                <a:latin typeface="Calibri" pitchFamily="34" charset="0"/>
                <a:ea typeface="Calibri" pitchFamily="34" charset="-122"/>
                <a:cs typeface="Calibri" pitchFamily="34" charset="-120"/>
              </a:rPr>
              <a:t>Vì sao không chốt bản mới ngay lúc ghi (như Mem0)?  </a:t>
            </a:r>
            <a:pPr indent="0" marL="0">
              <a:buNone/>
            </a:pPr>
            <a:r>
              <a:rPr lang="en-US" sz="1250" dirty="0">
                <a:solidFill>
                  <a:srgbClr val="1E2A32"/>
                </a:solidFill>
                <a:latin typeface="Calibri" pitchFamily="34" charset="0"/>
                <a:ea typeface="Calibri" pitchFamily="34" charset="-122"/>
                <a:cs typeface="Calibri" pitchFamily="34" charset="-120"/>
              </a:rPr>
              <a:t>Câu “trước đây tôi có bao nhiêu follower?” hay “tăng bao nhiêu trong một tuần?” cần cả bản cũ. Giữ mọi phiên bản và để agent quyết định lúc đọc thì trả lời được cả hai loại — đó là lựa chọn thiết kế của APEX-MEM.</a:t>
            </a:r>
            <a:endParaRPr lang="en-US" sz="1250" dirty="0"/>
          </a:p>
        </p:txBody>
      </p:sp>
      <p:sp>
        <p:nvSpPr>
          <p:cNvPr id="29" name="Text 25"/>
          <p:cNvSpPr txBox="1"/>
          <p:nvPr/>
        </p:nvSpPr>
        <p:spPr>
          <a:xfrm>
            <a:off x="548640" y="6419088"/>
            <a:ext cx="11064240" cy="274320"/>
          </a:xfrm>
          <a:prstGeom prst="rect">
            <a:avLst/>
          </a:prstGeom>
          <a:noFill/>
          <a:ln/>
        </p:spPr>
        <p:txBody>
          <a:bodyPr wrap="square" lIns="0" tIns="0" rIns="0" bIns="0" rtlCol="0" anchor="t"/>
          <a:lstStyle/>
          <a:p>
            <a:pPr indent="0" marL="0">
              <a:buNone/>
            </a:pPr>
            <a:r>
              <a:rPr lang="en-US" sz="900" i="1" dirty="0">
                <a:solidFill>
                  <a:srgbClr val="5B6B73"/>
                </a:solidFill>
                <a:latin typeface="Calibri" pitchFamily="34" charset="0"/>
                <a:ea typeface="Calibri" pitchFamily="34" charset="-122"/>
                <a:cs typeface="Calibri" pitchFamily="34" charset="-120"/>
              </a:rPr>
              <a:t>4/4 câu knowledge-update trong 20 câu dev đều đúng. Số câu còn nhỏ — cần chạy thêm để kết luận.</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100" b="1" spc="200" kern="0" dirty="0">
                <a:solidFill>
                  <a:srgbClr val="D98C1F"/>
                </a:solidFill>
                <a:latin typeface="Calibri" pitchFamily="34" charset="0"/>
                <a:ea typeface="Calibri" pitchFamily="34" charset="-122"/>
                <a:cs typeface="Calibri" pitchFamily="34" charset="-120"/>
              </a:rPr>
              <a:t>PHẦN 3 · KẾT QUẢ</a:t>
            </a:r>
            <a:endParaRPr lang="en-US" sz="1100" dirty="0"/>
          </a:p>
        </p:txBody>
      </p:sp>
      <p:sp>
        <p:nvSpPr>
          <p:cNvPr id="3" name="Text 1"/>
          <p:cNvSpPr txBox="1"/>
          <p:nvPr/>
        </p:nvSpPr>
        <p:spPr>
          <a:xfrm>
            <a:off x="548640" y="621792"/>
            <a:ext cx="11064240" cy="566928"/>
          </a:xfrm>
          <a:prstGeom prst="rect">
            <a:avLst/>
          </a:prstGeom>
          <a:noFill/>
          <a:ln/>
        </p:spPr>
        <p:txBody>
          <a:bodyPr wrap="square" lIns="0" tIns="0" rIns="0" bIns="0" rtlCol="0" anchor="ctr"/>
          <a:lstStyle/>
          <a:p>
            <a:pPr indent="0" marL="0">
              <a:buNone/>
            </a:pPr>
            <a:r>
              <a:rPr lang="en-US" sz="2800" b="1" dirty="0">
                <a:solidFill>
                  <a:srgbClr val="12232E"/>
                </a:solidFill>
                <a:latin typeface="Cambria" pitchFamily="34" charset="0"/>
                <a:ea typeface="Cambria" pitchFamily="34" charset="-122"/>
                <a:cs typeface="Cambria" pitchFamily="34" charset="-120"/>
              </a:rPr>
              <a:t>Thiết lập thí nghiệm</a:t>
            </a:r>
            <a:endParaRPr lang="en-US" sz="2800" dirty="0"/>
          </a:p>
        </p:txBody>
      </p:sp>
      <p:sp>
        <p:nvSpPr>
          <p:cNvPr id="4" name="Shape 2"/>
          <p:cNvSpPr/>
          <p:nvPr/>
        </p:nvSpPr>
        <p:spPr>
          <a:xfrm>
            <a:off x="548640" y="1463040"/>
            <a:ext cx="3520440" cy="2148840"/>
          </a:xfrm>
          <a:prstGeom prst="roundRect">
            <a:avLst>
              <a:gd name="adj" fmla="val 2553"/>
            </a:avLst>
          </a:prstGeom>
          <a:solidFill>
            <a:srgbClr val="F3F7F8"/>
          </a:solidFill>
          <a:ln w="12700">
            <a:solidFill>
              <a:srgbClr val="F3F7F8"/>
            </a:solidFill>
            <a:prstDash val="solid"/>
          </a:ln>
        </p:spPr>
      </p:sp>
      <p:sp>
        <p:nvSpPr>
          <p:cNvPr id="5" name="Text 3"/>
          <p:cNvSpPr txBox="1"/>
          <p:nvPr/>
        </p:nvSpPr>
        <p:spPr>
          <a:xfrm>
            <a:off x="777240" y="1645920"/>
            <a:ext cx="3108960" cy="365760"/>
          </a:xfrm>
          <a:prstGeom prst="rect">
            <a:avLst/>
          </a:prstGeom>
          <a:noFill/>
          <a:ln/>
        </p:spPr>
        <p:txBody>
          <a:bodyPr wrap="square" lIns="0" tIns="0" rIns="0" bIns="0" rtlCol="0" anchor="t"/>
          <a:lstStyle/>
          <a:p>
            <a:pPr indent="0" marL="0">
              <a:buNone/>
            </a:pPr>
            <a:r>
              <a:rPr lang="en-US" sz="1600" b="1" dirty="0">
                <a:solidFill>
                  <a:srgbClr val="0F5C6B"/>
                </a:solidFill>
                <a:latin typeface="Cambria" pitchFamily="34" charset="0"/>
                <a:ea typeface="Cambria" pitchFamily="34" charset="-122"/>
                <a:cs typeface="Cambria" pitchFamily="34" charset="-120"/>
              </a:rPr>
              <a:t>Mô hình nền</a:t>
            </a:r>
            <a:endParaRPr lang="en-US" sz="1600" dirty="0"/>
          </a:p>
        </p:txBody>
      </p:sp>
      <p:sp>
        <p:nvSpPr>
          <p:cNvPr id="6" name="Text 4"/>
          <p:cNvSpPr txBox="1"/>
          <p:nvPr/>
        </p:nvSpPr>
        <p:spPr>
          <a:xfrm>
            <a:off x="777240" y="2103120"/>
            <a:ext cx="3108960" cy="1417320"/>
          </a:xfrm>
          <a:prstGeom prst="rect">
            <a:avLst/>
          </a:prstGeom>
          <a:noFill/>
          <a:ln/>
        </p:spPr>
        <p:txBody>
          <a:bodyPr wrap="square" lIns="0" tIns="0" rIns="0" bIns="0" rtlCol="0" anchor="t"/>
          <a:lstStyle/>
          <a:p>
            <a:pPr indent="0" marL="0">
              <a:buNone/>
            </a:pPr>
            <a:r>
              <a:rPr lang="en-US" sz="1350" dirty="0">
                <a:solidFill>
                  <a:srgbClr val="1E2A32"/>
                </a:solidFill>
                <a:latin typeface="Calibri" pitchFamily="34" charset="0"/>
                <a:ea typeface="Calibri" pitchFamily="34" charset="-122"/>
                <a:cs typeface="Calibri" pitchFamily="34" charset="-120"/>
              </a:rPr>
              <a:t>GPT-5.6 Luna qua 9router — dùng cho trích xuất, giải quyết thực thể, agent và cả chấm điểm. Ghi lại model thực sự phục vụ ở mọi lời gọi: 362/362 là Luna.</a:t>
            </a:r>
            <a:endParaRPr lang="en-US" sz="1350" dirty="0"/>
          </a:p>
        </p:txBody>
      </p:sp>
      <p:sp>
        <p:nvSpPr>
          <p:cNvPr id="7" name="Shape 5"/>
          <p:cNvSpPr/>
          <p:nvPr/>
        </p:nvSpPr>
        <p:spPr>
          <a:xfrm>
            <a:off x="4279392" y="1463040"/>
            <a:ext cx="3520440" cy="2148840"/>
          </a:xfrm>
          <a:prstGeom prst="roundRect">
            <a:avLst>
              <a:gd name="adj" fmla="val 2553"/>
            </a:avLst>
          </a:prstGeom>
          <a:solidFill>
            <a:srgbClr val="F3F7F8"/>
          </a:solidFill>
          <a:ln w="12700">
            <a:solidFill>
              <a:srgbClr val="F3F7F8"/>
            </a:solidFill>
            <a:prstDash val="solid"/>
          </a:ln>
        </p:spPr>
      </p:sp>
      <p:sp>
        <p:nvSpPr>
          <p:cNvPr id="8" name="Text 6"/>
          <p:cNvSpPr txBox="1"/>
          <p:nvPr/>
        </p:nvSpPr>
        <p:spPr>
          <a:xfrm>
            <a:off x="4507992" y="1645920"/>
            <a:ext cx="3108960" cy="365760"/>
          </a:xfrm>
          <a:prstGeom prst="rect">
            <a:avLst/>
          </a:prstGeom>
          <a:noFill/>
          <a:ln/>
        </p:spPr>
        <p:txBody>
          <a:bodyPr wrap="square" lIns="0" tIns="0" rIns="0" bIns="0" rtlCol="0" anchor="t"/>
          <a:lstStyle/>
          <a:p>
            <a:pPr indent="0" marL="0">
              <a:buNone/>
            </a:pPr>
            <a:r>
              <a:rPr lang="en-US" sz="1600" b="1" dirty="0">
                <a:solidFill>
                  <a:srgbClr val="0F5C6B"/>
                </a:solidFill>
                <a:latin typeface="Cambria" pitchFamily="34" charset="0"/>
                <a:ea typeface="Cambria" pitchFamily="34" charset="-122"/>
                <a:cs typeface="Cambria" pitchFamily="34" charset="-120"/>
              </a:rPr>
              <a:t>Embedding</a:t>
            </a:r>
            <a:endParaRPr lang="en-US" sz="1600" dirty="0"/>
          </a:p>
        </p:txBody>
      </p:sp>
      <p:sp>
        <p:nvSpPr>
          <p:cNvPr id="9" name="Text 7"/>
          <p:cNvSpPr txBox="1"/>
          <p:nvPr/>
        </p:nvSpPr>
        <p:spPr>
          <a:xfrm>
            <a:off x="4507992" y="2103120"/>
            <a:ext cx="3108960" cy="1417320"/>
          </a:xfrm>
          <a:prstGeom prst="rect">
            <a:avLst/>
          </a:prstGeom>
          <a:noFill/>
          <a:ln/>
        </p:spPr>
        <p:txBody>
          <a:bodyPr wrap="square" lIns="0" tIns="0" rIns="0" bIns="0" rtlCol="0" anchor="t"/>
          <a:lstStyle/>
          <a:p>
            <a:pPr indent="0" marL="0">
              <a:buNone/>
            </a:pPr>
            <a:r>
              <a:rPr lang="en-US" sz="1350" dirty="0">
                <a:solidFill>
                  <a:srgbClr val="1E2A32"/>
                </a:solidFill>
                <a:latin typeface="Calibri" pitchFamily="34" charset="0"/>
                <a:ea typeface="Calibri" pitchFamily="34" charset="-122"/>
                <a:cs typeface="Calibri" pitchFamily="34" charset="-120"/>
              </a:rPr>
              <a:t>BGE-M3, nhúng sẵn ~247K lượt trên GPU Kaggle (T4). Máy local chỉ đọc cache: khi hiệu chỉnh 150 câu dev, 73.568 lần tra đều trúng, 0 lần nhúng lại.</a:t>
            </a:r>
            <a:endParaRPr lang="en-US" sz="1350" dirty="0"/>
          </a:p>
        </p:txBody>
      </p:sp>
      <p:sp>
        <p:nvSpPr>
          <p:cNvPr id="10" name="Shape 8"/>
          <p:cNvSpPr/>
          <p:nvPr/>
        </p:nvSpPr>
        <p:spPr>
          <a:xfrm>
            <a:off x="8010144" y="1463040"/>
            <a:ext cx="3520440" cy="2148840"/>
          </a:xfrm>
          <a:prstGeom prst="roundRect">
            <a:avLst>
              <a:gd name="adj" fmla="val 2553"/>
            </a:avLst>
          </a:prstGeom>
          <a:solidFill>
            <a:srgbClr val="F3F7F8"/>
          </a:solidFill>
          <a:ln w="12700">
            <a:solidFill>
              <a:srgbClr val="F3F7F8"/>
            </a:solidFill>
            <a:prstDash val="solid"/>
          </a:ln>
        </p:spPr>
      </p:sp>
      <p:sp>
        <p:nvSpPr>
          <p:cNvPr id="11" name="Text 9"/>
          <p:cNvSpPr txBox="1"/>
          <p:nvPr/>
        </p:nvSpPr>
        <p:spPr>
          <a:xfrm>
            <a:off x="8238744" y="1645920"/>
            <a:ext cx="3108960" cy="365760"/>
          </a:xfrm>
          <a:prstGeom prst="rect">
            <a:avLst/>
          </a:prstGeom>
          <a:noFill/>
          <a:ln/>
        </p:spPr>
        <p:txBody>
          <a:bodyPr wrap="square" lIns="0" tIns="0" rIns="0" bIns="0" rtlCol="0" anchor="t"/>
          <a:lstStyle/>
          <a:p>
            <a:pPr indent="0" marL="0">
              <a:buNone/>
            </a:pPr>
            <a:r>
              <a:rPr lang="en-US" sz="1600" b="1" dirty="0">
                <a:solidFill>
                  <a:srgbClr val="0F5C6B"/>
                </a:solidFill>
                <a:latin typeface="Cambria" pitchFamily="34" charset="0"/>
                <a:ea typeface="Cambria" pitchFamily="34" charset="-122"/>
                <a:cs typeface="Cambria" pitchFamily="34" charset="-120"/>
              </a:rPr>
              <a:t>Dữ liệu</a:t>
            </a:r>
            <a:endParaRPr lang="en-US" sz="1600" dirty="0"/>
          </a:p>
        </p:txBody>
      </p:sp>
      <p:sp>
        <p:nvSpPr>
          <p:cNvPr id="12" name="Text 10"/>
          <p:cNvSpPr txBox="1"/>
          <p:nvPr/>
        </p:nvSpPr>
        <p:spPr>
          <a:xfrm>
            <a:off x="8238744" y="2103120"/>
            <a:ext cx="3108960" cy="1417320"/>
          </a:xfrm>
          <a:prstGeom prst="rect">
            <a:avLst/>
          </a:prstGeom>
          <a:noFill/>
          <a:ln/>
        </p:spPr>
        <p:txBody>
          <a:bodyPr wrap="square" lIns="0" tIns="0" rIns="0" bIns="0" rtlCol="0" anchor="t"/>
          <a:lstStyle/>
          <a:p>
            <a:pPr indent="0" marL="0">
              <a:buNone/>
            </a:pPr>
            <a:r>
              <a:rPr lang="en-US" sz="1350" dirty="0">
                <a:solidFill>
                  <a:srgbClr val="1E2A32"/>
                </a:solidFill>
                <a:latin typeface="Calibri" pitchFamily="34" charset="0"/>
                <a:ea typeface="Calibri" pitchFamily="34" charset="-122"/>
                <a:cs typeface="Calibri" pitchFamily="34" charset="-120"/>
              </a:rPr>
              <a:t>LongMemEval-S, tách dev 150 / test 350 phân tầng theo loại, seed 42 — trùng đúng tập dev của notebook tuần 2. Test chưa mở.</a:t>
            </a:r>
            <a:endParaRPr lang="en-US" sz="1350" dirty="0"/>
          </a:p>
        </p:txBody>
      </p:sp>
      <p:sp>
        <p:nvSpPr>
          <p:cNvPr id="13" name="Shape 11"/>
          <p:cNvSpPr/>
          <p:nvPr/>
        </p:nvSpPr>
        <p:spPr>
          <a:xfrm>
            <a:off x="548640" y="3840480"/>
            <a:ext cx="3520440" cy="2148840"/>
          </a:xfrm>
          <a:prstGeom prst="roundRect">
            <a:avLst>
              <a:gd name="adj" fmla="val 2553"/>
            </a:avLst>
          </a:prstGeom>
          <a:solidFill>
            <a:srgbClr val="F3F7F8"/>
          </a:solidFill>
          <a:ln w="12700">
            <a:solidFill>
              <a:srgbClr val="F3F7F8"/>
            </a:solidFill>
            <a:prstDash val="solid"/>
          </a:ln>
        </p:spPr>
      </p:sp>
      <p:sp>
        <p:nvSpPr>
          <p:cNvPr id="14" name="Text 12"/>
          <p:cNvSpPr txBox="1"/>
          <p:nvPr/>
        </p:nvSpPr>
        <p:spPr>
          <a:xfrm>
            <a:off x="777240" y="4023360"/>
            <a:ext cx="3108960" cy="365760"/>
          </a:xfrm>
          <a:prstGeom prst="rect">
            <a:avLst/>
          </a:prstGeom>
          <a:noFill/>
          <a:ln/>
        </p:spPr>
        <p:txBody>
          <a:bodyPr wrap="square" lIns="0" tIns="0" rIns="0" bIns="0" rtlCol="0" anchor="t"/>
          <a:lstStyle/>
          <a:p>
            <a:pPr indent="0" marL="0">
              <a:buNone/>
            </a:pPr>
            <a:r>
              <a:rPr lang="en-US" sz="1600" b="1" dirty="0">
                <a:solidFill>
                  <a:srgbClr val="0F5C6B"/>
                </a:solidFill>
                <a:latin typeface="Cambria" pitchFamily="34" charset="0"/>
                <a:ea typeface="Cambria" pitchFamily="34" charset="-122"/>
                <a:cs typeface="Cambria" pitchFamily="34" charset="-120"/>
              </a:rPr>
              <a:t>Mẫu đã chạy</a:t>
            </a:r>
            <a:endParaRPr lang="en-US" sz="1600" dirty="0"/>
          </a:p>
        </p:txBody>
      </p:sp>
      <p:sp>
        <p:nvSpPr>
          <p:cNvPr id="15" name="Text 13"/>
          <p:cNvSpPr txBox="1"/>
          <p:nvPr/>
        </p:nvSpPr>
        <p:spPr>
          <a:xfrm>
            <a:off x="777240" y="4480560"/>
            <a:ext cx="3108960" cy="1417320"/>
          </a:xfrm>
          <a:prstGeom prst="rect">
            <a:avLst/>
          </a:prstGeom>
          <a:noFill/>
          <a:ln/>
        </p:spPr>
        <p:txBody>
          <a:bodyPr wrap="square" lIns="0" tIns="0" rIns="0" bIns="0" rtlCol="0" anchor="t"/>
          <a:lstStyle/>
          <a:p>
            <a:pPr indent="0" marL="0">
              <a:buNone/>
            </a:pPr>
            <a:r>
              <a:rPr lang="en-US" sz="1350" dirty="0">
                <a:solidFill>
                  <a:srgbClr val="1E2A32"/>
                </a:solidFill>
                <a:latin typeface="Calibri" pitchFamily="34" charset="0"/>
                <a:ea typeface="Calibri" pitchFamily="34" charset="-122"/>
                <a:cs typeface="Calibri" pitchFamily="34" charset="-120"/>
              </a:rPr>
              <a:t>20 câu đầu của dev (sắp theo id): 3 SSU · 3 SSA · 2 SSP · 7 multi-session · 1 temporal · 4 KU; 1 câu _abs.</a:t>
            </a:r>
            <a:endParaRPr lang="en-US" sz="1350" dirty="0"/>
          </a:p>
        </p:txBody>
      </p:sp>
      <p:sp>
        <p:nvSpPr>
          <p:cNvPr id="16" name="Shape 14"/>
          <p:cNvSpPr/>
          <p:nvPr/>
        </p:nvSpPr>
        <p:spPr>
          <a:xfrm>
            <a:off x="4279392" y="3840480"/>
            <a:ext cx="3520440" cy="2148840"/>
          </a:xfrm>
          <a:prstGeom prst="roundRect">
            <a:avLst>
              <a:gd name="adj" fmla="val 2553"/>
            </a:avLst>
          </a:prstGeom>
          <a:solidFill>
            <a:srgbClr val="F3F7F8"/>
          </a:solidFill>
          <a:ln w="12700">
            <a:solidFill>
              <a:srgbClr val="F3F7F8"/>
            </a:solidFill>
            <a:prstDash val="solid"/>
          </a:ln>
        </p:spPr>
      </p:sp>
      <p:sp>
        <p:nvSpPr>
          <p:cNvPr id="17" name="Text 15"/>
          <p:cNvSpPr txBox="1"/>
          <p:nvPr/>
        </p:nvSpPr>
        <p:spPr>
          <a:xfrm>
            <a:off x="4507992" y="4023360"/>
            <a:ext cx="3108960" cy="365760"/>
          </a:xfrm>
          <a:prstGeom prst="rect">
            <a:avLst/>
          </a:prstGeom>
          <a:noFill/>
          <a:ln/>
        </p:spPr>
        <p:txBody>
          <a:bodyPr wrap="square" lIns="0" tIns="0" rIns="0" bIns="0" rtlCol="0" anchor="t"/>
          <a:lstStyle/>
          <a:p>
            <a:pPr indent="0" marL="0">
              <a:buNone/>
            </a:pPr>
            <a:r>
              <a:rPr lang="en-US" sz="1600" b="1" dirty="0">
                <a:solidFill>
                  <a:srgbClr val="0F5C6B"/>
                </a:solidFill>
                <a:latin typeface="Cambria" pitchFamily="34" charset="0"/>
                <a:ea typeface="Cambria" pitchFamily="34" charset="-122"/>
                <a:cs typeface="Cambria" pitchFamily="34" charset="-120"/>
              </a:rPr>
              <a:t>Bộ lọc phiên</a:t>
            </a:r>
            <a:endParaRPr lang="en-US" sz="1600" dirty="0"/>
          </a:p>
        </p:txBody>
      </p:sp>
      <p:sp>
        <p:nvSpPr>
          <p:cNvPr id="18" name="Text 16"/>
          <p:cNvSpPr txBox="1"/>
          <p:nvPr/>
        </p:nvSpPr>
        <p:spPr>
          <a:xfrm>
            <a:off x="4507992" y="4480560"/>
            <a:ext cx="3108960" cy="1417320"/>
          </a:xfrm>
          <a:prstGeom prst="rect">
            <a:avLst/>
          </a:prstGeom>
          <a:noFill/>
          <a:ln/>
        </p:spPr>
        <p:txBody>
          <a:bodyPr wrap="square" lIns="0" tIns="0" rIns="0" bIns="0" rtlCol="0" anchor="t"/>
          <a:lstStyle/>
          <a:p>
            <a:pPr indent="0" marL="0">
              <a:buNone/>
            </a:pPr>
            <a:r>
              <a:rPr lang="en-US" sz="1350" dirty="0">
                <a:solidFill>
                  <a:srgbClr val="1E2A32"/>
                </a:solidFill>
                <a:latin typeface="Calibri" pitchFamily="34" charset="0"/>
                <a:ea typeface="Calibri" pitchFamily="34" charset="-122"/>
                <a:cs typeface="Calibri" pitchFamily="34" charset="-120"/>
              </a:rPr>
              <a:t>Ngưỡng cosine 0,475, tối thiểu 5, tối đa 20 phiên. TB giữ 7,75 / 46,75 phiên mỗi câu. Chọn bằng số đo ở slide sau.</a:t>
            </a:r>
            <a:endParaRPr lang="en-US" sz="1350" dirty="0"/>
          </a:p>
        </p:txBody>
      </p:sp>
      <p:sp>
        <p:nvSpPr>
          <p:cNvPr id="19" name="Shape 17"/>
          <p:cNvSpPr/>
          <p:nvPr/>
        </p:nvSpPr>
        <p:spPr>
          <a:xfrm>
            <a:off x="8010144" y="3840480"/>
            <a:ext cx="3520440" cy="2148840"/>
          </a:xfrm>
          <a:prstGeom prst="roundRect">
            <a:avLst>
              <a:gd name="adj" fmla="val 2553"/>
            </a:avLst>
          </a:prstGeom>
          <a:solidFill>
            <a:srgbClr val="F3F7F8"/>
          </a:solidFill>
          <a:ln w="12700">
            <a:solidFill>
              <a:srgbClr val="F3F7F8"/>
            </a:solidFill>
            <a:prstDash val="solid"/>
          </a:ln>
        </p:spPr>
      </p:sp>
      <p:sp>
        <p:nvSpPr>
          <p:cNvPr id="20" name="Text 18"/>
          <p:cNvSpPr txBox="1"/>
          <p:nvPr/>
        </p:nvSpPr>
        <p:spPr>
          <a:xfrm>
            <a:off x="8238744" y="4023360"/>
            <a:ext cx="3108960" cy="365760"/>
          </a:xfrm>
          <a:prstGeom prst="rect">
            <a:avLst/>
          </a:prstGeom>
          <a:noFill/>
          <a:ln/>
        </p:spPr>
        <p:txBody>
          <a:bodyPr wrap="square" lIns="0" tIns="0" rIns="0" bIns="0" rtlCol="0" anchor="t"/>
          <a:lstStyle/>
          <a:p>
            <a:pPr indent="0" marL="0">
              <a:buNone/>
            </a:pPr>
            <a:r>
              <a:rPr lang="en-US" sz="1600" b="1" dirty="0">
                <a:solidFill>
                  <a:srgbClr val="0F5C6B"/>
                </a:solidFill>
                <a:latin typeface="Cambria" pitchFamily="34" charset="0"/>
                <a:ea typeface="Cambria" pitchFamily="34" charset="-122"/>
                <a:cs typeface="Cambria" pitchFamily="34" charset="-120"/>
              </a:rPr>
              <a:t>Hai cấu hình</a:t>
            </a:r>
            <a:endParaRPr lang="en-US" sz="1600" dirty="0"/>
          </a:p>
        </p:txBody>
      </p:sp>
      <p:sp>
        <p:nvSpPr>
          <p:cNvPr id="21" name="Text 19"/>
          <p:cNvSpPr txBox="1"/>
          <p:nvPr/>
        </p:nvSpPr>
        <p:spPr>
          <a:xfrm>
            <a:off x="8238744" y="4480560"/>
            <a:ext cx="3108960" cy="1417320"/>
          </a:xfrm>
          <a:prstGeom prst="rect">
            <a:avLst/>
          </a:prstGeom>
          <a:noFill/>
          <a:ln/>
        </p:spPr>
        <p:txBody>
          <a:bodyPr wrap="square" lIns="0" tIns="0" rIns="0" bIns="0" rtlCol="0" anchor="t"/>
          <a:lstStyle/>
          <a:p>
            <a:pPr indent="0" marL="0">
              <a:buNone/>
            </a:pPr>
            <a:r>
              <a:rPr lang="en-US" sz="1350" dirty="0">
                <a:solidFill>
                  <a:srgbClr val="1E2A32"/>
                </a:solidFill>
                <a:latin typeface="Calibri" pitchFamily="34" charset="0"/>
                <a:ea typeface="Calibri" pitchFamily="34" charset="-122"/>
                <a:cs typeface="Calibri" pitchFamily="34" charset="-120"/>
              </a:rPr>
              <a:t>full — agent 5 công cụ, tối đa 20 bước.</a:t>
            </a:r>
            <a:endParaRPr lang="en-US" sz="1350" dirty="0"/>
          </a:p>
          <a:p>
            <a:pPr indent="0" marL="0">
              <a:buNone/>
            </a:pPr>
            <a:r>
              <a:rPr lang="en-US" sz="1350" dirty="0">
                <a:solidFill>
                  <a:srgbClr val="1E2A32"/>
                </a:solidFill>
                <a:latin typeface="Calibri" pitchFamily="34" charset="0"/>
                <a:ea typeface="Calibri" pitchFamily="34" charset="-122"/>
                <a:cs typeface="Calibri" pitchFamily="34" charset="-120"/>
              </a:rPr>
              <a:t>simple_search — baseline của LongMemEval: lấy top-5 phiên (khóa = lượt + fact), đưa nguyên văn cho LLM đọc.</a:t>
            </a:r>
            <a:endParaRPr lang="en-US" sz="1350" dirty="0"/>
          </a:p>
        </p:txBody>
      </p:sp>
      <p:sp>
        <p:nvSpPr>
          <p:cNvPr id="22" name="Text 20"/>
          <p:cNvSpPr txBox="1"/>
          <p:nvPr/>
        </p:nvSpPr>
        <p:spPr>
          <a:xfrm>
            <a:off x="548640" y="6419088"/>
            <a:ext cx="11064240" cy="274320"/>
          </a:xfrm>
          <a:prstGeom prst="rect">
            <a:avLst/>
          </a:prstGeom>
          <a:noFill/>
          <a:ln/>
        </p:spPr>
        <p:txBody>
          <a:bodyPr wrap="square" lIns="0" tIns="0" rIns="0" bIns="0" rtlCol="0" anchor="t"/>
          <a:lstStyle/>
          <a:p>
            <a:pPr indent="0" marL="0">
              <a:buNone/>
            </a:pPr>
            <a:r>
              <a:rPr lang="en-US" sz="900" i="1" dirty="0">
                <a:solidFill>
                  <a:srgbClr val="5B6B73"/>
                </a:solidFill>
                <a:latin typeface="Calibri" pitchFamily="34" charset="0"/>
                <a:ea typeface="Calibri" pitchFamily="34" charset="-122"/>
                <a:cs typeface="Calibri" pitchFamily="34" charset="-120"/>
              </a:rPr>
              <a:t>Chấm bằng LLM-as-a-Judge với đúng prompt chính thức của LongMemEval (evaluate_qa.py). Mô hình chấm trùng mô hình trả lời — xem phần hạn chế.</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100" b="1" spc="200" kern="0" dirty="0">
                <a:solidFill>
                  <a:srgbClr val="D98C1F"/>
                </a:solidFill>
                <a:latin typeface="Calibri" pitchFamily="34" charset="0"/>
                <a:ea typeface="Calibri" pitchFamily="34" charset="-122"/>
                <a:cs typeface="Calibri" pitchFamily="34" charset="-120"/>
              </a:rPr>
              <a:t>PHẦN 3 · KẾT QUẢ</a:t>
            </a:r>
            <a:endParaRPr lang="en-US" sz="1100" dirty="0"/>
          </a:p>
        </p:txBody>
      </p:sp>
      <p:sp>
        <p:nvSpPr>
          <p:cNvPr id="3" name="Text 1"/>
          <p:cNvSpPr txBox="1"/>
          <p:nvPr/>
        </p:nvSpPr>
        <p:spPr>
          <a:xfrm>
            <a:off x="548640" y="621792"/>
            <a:ext cx="11064240" cy="566928"/>
          </a:xfrm>
          <a:prstGeom prst="rect">
            <a:avLst/>
          </a:prstGeom>
          <a:noFill/>
          <a:ln/>
        </p:spPr>
        <p:txBody>
          <a:bodyPr wrap="square" lIns="0" tIns="0" rIns="0" bIns="0" rtlCol="0" anchor="ctr"/>
          <a:lstStyle/>
          <a:p>
            <a:pPr indent="0" marL="0">
              <a:buNone/>
            </a:pPr>
            <a:r>
              <a:rPr lang="en-US" sz="2800" b="1" dirty="0">
                <a:solidFill>
                  <a:srgbClr val="12232E"/>
                </a:solidFill>
                <a:latin typeface="Cambria" pitchFamily="34" charset="0"/>
                <a:ea typeface="Cambria" pitchFamily="34" charset="-122"/>
                <a:cs typeface="Cambria" pitchFamily="34" charset="-120"/>
              </a:rPr>
              <a:t>Chọn ngưỡng lọc phiên bằng số đo — 150 câu dev, 0 lời gọi LLM</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7223760" cy="914400"/>
        </p:xfrm>
        <a:graphic>
          <a:graphicData uri="http://schemas.openxmlformats.org/drawingml/2006/table">
            <a:tbl>
              <a:tblPr/>
              <a:tblGrid>
                <a:gridCol w="2651760"/>
                <a:gridCol w="731520"/>
                <a:gridCol w="1051560"/>
                <a:gridCol w="960120"/>
                <a:gridCol w="594360"/>
                <a:gridCol w="594360"/>
                <a:gridCol w="640080"/>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Luật lọc</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Recall</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Đủ bằng chứng</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Phiên giữ TB</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MS đủ</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TR đủ</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KU đủ</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r>
              <a:tr h="384048">
                <a:tc>
                  <a:txBody>
                    <a:bodyPr/>
                    <a:lstStyle/>
                    <a:p>
                      <a:pPr algn="l" indent="0" marL="0">
                        <a:buNone/>
                      </a:pPr>
                      <a:r>
                        <a:rPr lang="en-US" sz="1100" dirty="0">
                          <a:solidFill>
                            <a:srgbClr val="1E2A32"/>
                          </a:solidFill>
                          <a:latin typeface="Calibri" pitchFamily="34" charset="0"/>
                          <a:ea typeface="Calibri" pitchFamily="34" charset="-122"/>
                          <a:cs typeface="Calibri" pitchFamily="34" charset="-120"/>
                        </a:rPr>
                        <a:t>top-k 5</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96,3%</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92,0%</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5,0</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87,5%</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85,0%</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95,7%</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1E2A32"/>
                          </a:solidFill>
                          <a:latin typeface="Calibri" pitchFamily="34" charset="0"/>
                          <a:ea typeface="Calibri" pitchFamily="34" charset="-122"/>
                          <a:cs typeface="Calibri" pitchFamily="34" charset="-120"/>
                        </a:rPr>
                        <a:t>top-k 10</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98,4%</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96,0%</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95,0%</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92,5%</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95,7%</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1E2A32"/>
                          </a:solidFill>
                          <a:latin typeface="Calibri" pitchFamily="34" charset="0"/>
                          <a:ea typeface="Calibri" pitchFamily="34" charset="-122"/>
                          <a:cs typeface="Calibri" pitchFamily="34" charset="-120"/>
                        </a:rPr>
                        <a:t>top-k 12</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98,9%</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97,3%</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12,0</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95,0%</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97,5%</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95,7%</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1E2A32"/>
                          </a:solidFill>
                          <a:latin typeface="Calibri" pitchFamily="34" charset="0"/>
                          <a:ea typeface="Calibri" pitchFamily="34" charset="-122"/>
                          <a:cs typeface="Calibri" pitchFamily="34" charset="-120"/>
                        </a:rPr>
                        <a:t>top-k 20</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1E2A32"/>
                          </a:solidFill>
                          <a:latin typeface="Calibri" pitchFamily="34" charset="0"/>
                          <a:ea typeface="Calibri" pitchFamily="34" charset="-122"/>
                          <a:cs typeface="Calibri" pitchFamily="34" charset="-120"/>
                        </a:rPr>
                        <a:t>ngưỡng 0,495 · min 5 · max 20</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97,8%</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96,0%</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6,5</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95,0%</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92,5%</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95,7%</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r>
              <a:tr h="384048">
                <a:tc>
                  <a:txBody>
                    <a:bodyPr/>
                    <a:lstStyle/>
                    <a:p>
                      <a:pPr algn="l" indent="0" marL="0">
                        <a:buNone/>
                      </a:pPr>
                      <a:r>
                        <a:rPr lang="en-US" sz="1100" b="1" dirty="0">
                          <a:solidFill>
                            <a:srgbClr val="1E2A32"/>
                          </a:solidFill>
                          <a:latin typeface="Calibri" pitchFamily="34" charset="0"/>
                          <a:ea typeface="Calibri" pitchFamily="34" charset="-122"/>
                          <a:cs typeface="Calibri" pitchFamily="34" charset="-120"/>
                        </a:rPr>
                        <a:t>ngưỡng 0,475 · min 5 · max 20  ← chọn</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BF1E3"/>
                    </a:solidFill>
                  </a:tcPr>
                </a:tc>
                <a:tc>
                  <a:txBody>
                    <a:bodyPr/>
                    <a:lstStyle/>
                    <a:p>
                      <a:pPr algn="ctr" indent="0" marL="0">
                        <a:buNone/>
                      </a:pPr>
                      <a:r>
                        <a:rPr lang="en-US" sz="1100" b="1" dirty="0">
                          <a:solidFill>
                            <a:srgbClr val="1E2A32"/>
                          </a:solidFill>
                          <a:latin typeface="Calibri" pitchFamily="34" charset="0"/>
                          <a:ea typeface="Calibri" pitchFamily="34" charset="-122"/>
                          <a:cs typeface="Calibri" pitchFamily="34" charset="-120"/>
                        </a:rPr>
                        <a:t>98,5%</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BF1E3"/>
                    </a:solidFill>
                  </a:tcPr>
                </a:tc>
                <a:tc>
                  <a:txBody>
                    <a:bodyPr/>
                    <a:lstStyle/>
                    <a:p>
                      <a:pPr algn="ctr" indent="0" marL="0">
                        <a:buNone/>
                      </a:pPr>
                      <a:r>
                        <a:rPr lang="en-US" sz="1100" b="1" dirty="0">
                          <a:solidFill>
                            <a:srgbClr val="1E2A32"/>
                          </a:solidFill>
                          <a:latin typeface="Calibri" pitchFamily="34" charset="0"/>
                          <a:ea typeface="Calibri" pitchFamily="34" charset="-122"/>
                          <a:cs typeface="Calibri" pitchFamily="34" charset="-120"/>
                        </a:rPr>
                        <a:t>96,7%</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BF1E3"/>
                    </a:solidFill>
                  </a:tcPr>
                </a:tc>
                <a:tc>
                  <a:txBody>
                    <a:bodyPr/>
                    <a:lstStyle/>
                    <a:p>
                      <a:pPr algn="ctr" indent="0" marL="0">
                        <a:buNone/>
                      </a:pPr>
                      <a:r>
                        <a:rPr lang="en-US" sz="1100" b="1" dirty="0">
                          <a:solidFill>
                            <a:srgbClr val="1E2A32"/>
                          </a:solidFill>
                          <a:latin typeface="Calibri" pitchFamily="34" charset="0"/>
                          <a:ea typeface="Calibri" pitchFamily="34" charset="-122"/>
                          <a:cs typeface="Calibri" pitchFamily="34" charset="-120"/>
                        </a:rPr>
                        <a:t>7,7</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BF1E3"/>
                    </a:solidFill>
                  </a:tcPr>
                </a:tc>
                <a:tc>
                  <a:txBody>
                    <a:bodyPr/>
                    <a:lstStyle/>
                    <a:p>
                      <a:pPr algn="ctr" indent="0" marL="0">
                        <a:buNone/>
                      </a:pPr>
                      <a:r>
                        <a:rPr lang="en-US" sz="1100" b="1" dirty="0">
                          <a:solidFill>
                            <a:srgbClr val="1E2A32"/>
                          </a:solidFill>
                          <a:latin typeface="Calibri" pitchFamily="34" charset="0"/>
                          <a:ea typeface="Calibri" pitchFamily="34" charset="-122"/>
                          <a:cs typeface="Calibri" pitchFamily="34" charset="-120"/>
                        </a:rPr>
                        <a:t>95,0%</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BF1E3"/>
                    </a:solidFill>
                  </a:tcPr>
                </a:tc>
                <a:tc>
                  <a:txBody>
                    <a:bodyPr/>
                    <a:lstStyle/>
                    <a:p>
                      <a:pPr algn="ctr" indent="0" marL="0">
                        <a:buNone/>
                      </a:pPr>
                      <a:r>
                        <a:rPr lang="en-US" sz="1100" b="1" dirty="0">
                          <a:solidFill>
                            <a:srgbClr val="1E2A32"/>
                          </a:solidFill>
                          <a:latin typeface="Calibri" pitchFamily="34" charset="0"/>
                          <a:ea typeface="Calibri" pitchFamily="34" charset="-122"/>
                          <a:cs typeface="Calibri" pitchFamily="34" charset="-120"/>
                        </a:rPr>
                        <a:t>92,5%</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BF1E3"/>
                    </a:solidFill>
                  </a:tcPr>
                </a:tc>
                <a:tc>
                  <a:txBody>
                    <a:bodyPr/>
                    <a:lstStyle/>
                    <a:p>
                      <a:pPr algn="ctr" indent="0" marL="0">
                        <a:buNone/>
                      </a:pPr>
                      <a:r>
                        <a:rPr lang="en-US" sz="1100" b="1" dirty="0">
                          <a:solidFill>
                            <a:srgbClr val="1E2A32"/>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BF1E3"/>
                    </a:solidFill>
                  </a:tcPr>
                </a:tc>
              </a:tr>
            </a:tbl>
          </a:graphicData>
        </a:graphic>
      </p:graphicFrame>
      <p:sp>
        <p:nvSpPr>
          <p:cNvPr id="5" name="Text 2"/>
          <p:cNvSpPr txBox="1"/>
          <p:nvPr/>
        </p:nvSpPr>
        <p:spPr>
          <a:xfrm>
            <a:off x="548640" y="4206240"/>
            <a:ext cx="7223760" cy="685800"/>
          </a:xfrm>
          <a:prstGeom prst="rect">
            <a:avLst/>
          </a:prstGeom>
          <a:noFill/>
          <a:ln/>
        </p:spPr>
        <p:txBody>
          <a:bodyPr wrap="square" lIns="0" tIns="0" rIns="0" bIns="0" rtlCol="0" anchor="t"/>
          <a:lstStyle/>
          <a:p>
            <a:pPr indent="0" marL="0">
              <a:buNone/>
            </a:pPr>
            <a:r>
              <a:rPr lang="en-US" sz="1100" b="1" dirty="0">
                <a:solidFill>
                  <a:srgbClr val="5B6B73"/>
                </a:solidFill>
                <a:latin typeface="Calibri" pitchFamily="34" charset="0"/>
                <a:ea typeface="Calibri" pitchFamily="34" charset="-122"/>
                <a:cs typeface="Calibri" pitchFamily="34" charset="-120"/>
              </a:rPr>
              <a:t>Recall</a:t>
            </a:r>
            <a:pPr indent="0" marL="0">
              <a:buNone/>
            </a:pPr>
            <a:r>
              <a:rPr lang="en-US" sz="1100" dirty="0">
                <a:solidFill>
                  <a:srgbClr val="5B6B73"/>
                </a:solidFill>
                <a:latin typeface="Calibri" pitchFamily="34" charset="0"/>
                <a:ea typeface="Calibri" pitchFamily="34" charset="-122"/>
                <a:cs typeface="Calibri" pitchFamily="34" charset="-120"/>
              </a:rPr>
              <a:t>: tỉ lệ phiên bằng chứng (answer_session_ids — nhãn của LongMemEval) được giữ, TB theo câu.  </a:t>
            </a:r>
            <a:pPr indent="0" marL="0">
              <a:buNone/>
            </a:pPr>
            <a:r>
              <a:rPr lang="en-US" sz="1100" b="1" dirty="0">
                <a:solidFill>
                  <a:srgbClr val="5B6B73"/>
                </a:solidFill>
                <a:latin typeface="Calibri" pitchFamily="34" charset="0"/>
                <a:ea typeface="Calibri" pitchFamily="34" charset="-122"/>
                <a:cs typeface="Calibri" pitchFamily="34" charset="-120"/>
              </a:rPr>
              <a:t>Đủ bằng chứng</a:t>
            </a:r>
            <a:pPr indent="0" marL="0">
              <a:buNone/>
            </a:pPr>
            <a:r>
              <a:rPr lang="en-US" sz="1100" dirty="0">
                <a:solidFill>
                  <a:srgbClr val="5B6B73"/>
                </a:solidFill>
                <a:latin typeface="Calibri" pitchFamily="34" charset="0"/>
                <a:ea typeface="Calibri" pitchFamily="34" charset="-122"/>
                <a:cs typeface="Calibri" pitchFamily="34" charset="-120"/>
              </a:rPr>
              <a:t>: % câu giữ được TẤT CẢ phiên bằng chứng — câu đa phiên thiếu một phiên là sai.</a:t>
            </a:r>
            <a:endParaRPr lang="en-US" sz="1100" dirty="0"/>
          </a:p>
        </p:txBody>
      </p:sp>
      <p:sp>
        <p:nvSpPr>
          <p:cNvPr id="6" name="Shape 3"/>
          <p:cNvSpPr/>
          <p:nvPr/>
        </p:nvSpPr>
        <p:spPr>
          <a:xfrm>
            <a:off x="8138160" y="1371600"/>
            <a:ext cx="3474720" cy="2103120"/>
          </a:xfrm>
          <a:prstGeom prst="roundRect">
            <a:avLst>
              <a:gd name="adj" fmla="val 2609"/>
            </a:avLst>
          </a:prstGeom>
          <a:solidFill>
            <a:srgbClr val="0F5C6B"/>
          </a:solidFill>
          <a:ln w="12700">
            <a:solidFill>
              <a:srgbClr val="0F5C6B"/>
            </a:solidFill>
            <a:prstDash val="solid"/>
          </a:ln>
        </p:spPr>
      </p:sp>
      <p:sp>
        <p:nvSpPr>
          <p:cNvPr id="7" name="Text 4"/>
          <p:cNvSpPr txBox="1"/>
          <p:nvPr/>
        </p:nvSpPr>
        <p:spPr>
          <a:xfrm>
            <a:off x="8321040" y="1463040"/>
            <a:ext cx="3108960" cy="914400"/>
          </a:xfrm>
          <a:prstGeom prst="rect">
            <a:avLst/>
          </a:prstGeom>
          <a:noFill/>
          <a:ln/>
        </p:spPr>
        <p:txBody>
          <a:bodyPr wrap="square" lIns="0" tIns="0" rIns="0" bIns="0" rtlCol="0" anchor="t"/>
          <a:lstStyle/>
          <a:p>
            <a:pPr indent="0" marL="0">
              <a:buNone/>
            </a:pPr>
            <a:r>
              <a:rPr lang="en-US" sz="5400" b="1" dirty="0">
                <a:solidFill>
                  <a:srgbClr val="FFFFFF"/>
                </a:solidFill>
                <a:latin typeface="Cambria" pitchFamily="34" charset="0"/>
                <a:ea typeface="Cambria" pitchFamily="34" charset="-122"/>
                <a:cs typeface="Cambria" pitchFamily="34" charset="-120"/>
              </a:rPr>
              <a:t>7,7</a:t>
            </a:r>
            <a:endParaRPr lang="en-US" sz="5400" dirty="0"/>
          </a:p>
        </p:txBody>
      </p:sp>
      <p:sp>
        <p:nvSpPr>
          <p:cNvPr id="8" name="Text 5"/>
          <p:cNvSpPr txBox="1"/>
          <p:nvPr/>
        </p:nvSpPr>
        <p:spPr>
          <a:xfrm>
            <a:off x="8321040" y="2377440"/>
            <a:ext cx="3108960" cy="1005840"/>
          </a:xfrm>
          <a:prstGeom prst="rect">
            <a:avLst/>
          </a:prstGeom>
          <a:noFill/>
          <a:ln/>
        </p:spPr>
        <p:txBody>
          <a:bodyPr wrap="square" lIns="0" tIns="0" rIns="0" bIns="0" rtlCol="0" anchor="t"/>
          <a:lstStyle/>
          <a:p>
            <a:pPr indent="0" marL="0">
              <a:buNone/>
            </a:pPr>
            <a:r>
              <a:rPr lang="en-US" sz="1200" dirty="0">
                <a:solidFill>
                  <a:srgbClr val="D6E6EA"/>
                </a:solidFill>
                <a:latin typeface="Calibri" pitchFamily="34" charset="0"/>
                <a:ea typeface="Calibri" pitchFamily="34" charset="-122"/>
                <a:cs typeface="Calibri" pitchFamily="34" charset="-120"/>
              </a:rPr>
              <a:t>phiên/câu (so với 10 của top-10), recall và độ đủ bằng chứng bằng hoặc cao hơn → giảm ~23% lời gọi trích xuất</a:t>
            </a:r>
            <a:endParaRPr lang="en-US" sz="1200" dirty="0"/>
          </a:p>
        </p:txBody>
      </p:sp>
      <p:sp>
        <p:nvSpPr>
          <p:cNvPr id="9" name="Shape 6"/>
          <p:cNvSpPr/>
          <p:nvPr/>
        </p:nvSpPr>
        <p:spPr>
          <a:xfrm>
            <a:off x="8138160" y="3657600"/>
            <a:ext cx="3474720" cy="1234440"/>
          </a:xfrm>
          <a:prstGeom prst="roundRect">
            <a:avLst>
              <a:gd name="adj" fmla="val 4444"/>
            </a:avLst>
          </a:prstGeom>
          <a:solidFill>
            <a:srgbClr val="F3F7F8"/>
          </a:solidFill>
          <a:ln w="12700">
            <a:solidFill>
              <a:srgbClr val="F3F7F8"/>
            </a:solidFill>
            <a:prstDash val="solid"/>
          </a:ln>
        </p:spPr>
      </p:sp>
      <p:sp>
        <p:nvSpPr>
          <p:cNvPr id="10" name="Text 7"/>
          <p:cNvSpPr txBox="1"/>
          <p:nvPr/>
        </p:nvSpPr>
        <p:spPr>
          <a:xfrm>
            <a:off x="8321040" y="3749040"/>
            <a:ext cx="3108960" cy="274320"/>
          </a:xfrm>
          <a:prstGeom prst="rect">
            <a:avLst/>
          </a:prstGeom>
          <a:noFill/>
          <a:ln/>
        </p:spPr>
        <p:txBody>
          <a:bodyPr wrap="square" lIns="0" tIns="0" rIns="0" bIns="0" rtlCol="0" anchor="t"/>
          <a:lstStyle/>
          <a:p>
            <a:pPr indent="0" marL="0">
              <a:buNone/>
            </a:pPr>
            <a:r>
              <a:rPr lang="en-US" sz="1100" b="1" dirty="0">
                <a:solidFill>
                  <a:srgbClr val="0F5C6B"/>
                </a:solidFill>
                <a:latin typeface="Calibri" pitchFamily="34" charset="0"/>
                <a:ea typeface="Calibri" pitchFamily="34" charset="-122"/>
                <a:cs typeface="Calibri" pitchFamily="34" charset="-120"/>
              </a:rPr>
              <a:t>Cosine lớn nhất theo phiên</a:t>
            </a:r>
            <a:endParaRPr lang="en-US" sz="1100" dirty="0"/>
          </a:p>
        </p:txBody>
      </p:sp>
      <p:sp>
        <p:nvSpPr>
          <p:cNvPr id="11" name="Text 8"/>
          <p:cNvSpPr txBox="1"/>
          <p:nvPr/>
        </p:nvSpPr>
        <p:spPr>
          <a:xfrm>
            <a:off x="8321040" y="4041648"/>
            <a:ext cx="3108960" cy="822960"/>
          </a:xfrm>
          <a:prstGeom prst="rect">
            <a:avLst/>
          </a:prstGeom>
          <a:noFill/>
          <a:ln/>
        </p:spPr>
        <p:txBody>
          <a:bodyPr wrap="square" lIns="0" tIns="0" rIns="0" bIns="0" rtlCol="0" anchor="t"/>
          <a:lstStyle/>
          <a:p>
            <a:pPr indent="0" marL="0">
              <a:buNone/>
            </a:pPr>
            <a:r>
              <a:rPr lang="en-US" sz="1150" dirty="0">
                <a:solidFill>
                  <a:srgbClr val="1E2A32"/>
                </a:solidFill>
                <a:latin typeface="Calibri" pitchFamily="34" charset="0"/>
                <a:ea typeface="Calibri" pitchFamily="34" charset="-122"/>
                <a:cs typeface="Calibri" pitchFamily="34" charset="-120"/>
              </a:rPr>
              <a:t>Phiên bằng chứng: p10 = 0,507</a:t>
            </a:r>
            <a:endParaRPr lang="en-US" sz="1150" dirty="0"/>
          </a:p>
          <a:p>
            <a:pPr indent="0" marL="0">
              <a:buNone/>
            </a:pPr>
            <a:r>
              <a:rPr lang="en-US" sz="1150" dirty="0">
                <a:solidFill>
                  <a:srgbClr val="1E2A32"/>
                </a:solidFill>
                <a:latin typeface="Calibri" pitchFamily="34" charset="0"/>
                <a:ea typeface="Calibri" pitchFamily="34" charset="-122"/>
                <a:cs typeface="Calibri" pitchFamily="34" charset="-120"/>
              </a:rPr>
              <a:t>Phiên không liên quan: p90 = 0,478</a:t>
            </a:r>
            <a:endParaRPr lang="en-US" sz="1150" dirty="0"/>
          </a:p>
          <a:p>
            <a:pPr indent="0" marL="0">
              <a:buNone/>
            </a:pPr>
            <a:r>
              <a:rPr lang="en-US" sz="1150" dirty="0">
                <a:solidFill>
                  <a:srgbClr val="1E2A32"/>
                </a:solidFill>
                <a:latin typeface="Calibri" pitchFamily="34" charset="0"/>
                <a:ea typeface="Calibri" pitchFamily="34" charset="-122"/>
                <a:cs typeface="Calibri" pitchFamily="34" charset="-120"/>
              </a:rPr>
              <a:t>→ ngưỡng 0,475 nằm đúng khe giữa</a:t>
            </a:r>
            <a:endParaRPr lang="en-US" sz="1150" dirty="0"/>
          </a:p>
        </p:txBody>
      </p:sp>
      <p:sp>
        <p:nvSpPr>
          <p:cNvPr id="12" name="Shape 9"/>
          <p:cNvSpPr/>
          <p:nvPr/>
        </p:nvSpPr>
        <p:spPr>
          <a:xfrm>
            <a:off x="548640" y="5074920"/>
            <a:ext cx="11064240" cy="1051560"/>
          </a:xfrm>
          <a:prstGeom prst="roundRect">
            <a:avLst>
              <a:gd name="adj" fmla="val 5217"/>
            </a:avLst>
          </a:prstGeom>
          <a:solidFill>
            <a:srgbClr val="FBF1E3"/>
          </a:solidFill>
          <a:ln w="12700">
            <a:solidFill>
              <a:srgbClr val="FBF1E3"/>
            </a:solidFill>
            <a:prstDash val="solid"/>
          </a:ln>
        </p:spPr>
      </p:sp>
      <p:sp>
        <p:nvSpPr>
          <p:cNvPr id="13" name="Text 10"/>
          <p:cNvSpPr txBox="1"/>
          <p:nvPr/>
        </p:nvSpPr>
        <p:spPr>
          <a:xfrm>
            <a:off x="777240" y="5166360"/>
            <a:ext cx="10607040" cy="868680"/>
          </a:xfrm>
          <a:prstGeom prst="rect">
            <a:avLst/>
          </a:prstGeom>
          <a:noFill/>
          <a:ln/>
        </p:spPr>
        <p:txBody>
          <a:bodyPr wrap="square" lIns="0" tIns="0" rIns="0" bIns="0" rtlCol="0" anchor="ctr"/>
          <a:lstStyle/>
          <a:p>
            <a:pPr indent="0" marL="0">
              <a:buNone/>
            </a:pPr>
            <a:r>
              <a:rPr lang="en-US" sz="1200" b="1" dirty="0">
                <a:solidFill>
                  <a:srgbClr val="1E2A32"/>
                </a:solidFill>
                <a:latin typeface="Calibri" pitchFamily="34" charset="0"/>
                <a:ea typeface="Calibri" pitchFamily="34" charset="-122"/>
                <a:cs typeface="Calibri" pitchFamily="34" charset="-120"/>
              </a:rPr>
              <a:t>Vì sao không dùng Θ = 0,2 như bài báo?  </a:t>
            </a:r>
            <a:pPr indent="0" marL="0">
              <a:buNone/>
            </a:pPr>
            <a:r>
              <a:rPr lang="en-US" sz="1200" dirty="0">
                <a:solidFill>
                  <a:srgbClr val="1E2A32"/>
                </a:solidFill>
                <a:latin typeface="Calibri" pitchFamily="34" charset="0"/>
                <a:ea typeface="Calibri" pitchFamily="34" charset="-122"/>
                <a:cs typeface="Calibri" pitchFamily="34" charset="-120"/>
              </a:rPr>
              <a:t>Bài báo không nêu điểm liên quan tính bằng mô hình nào, trên thang nào. Với BGE-M3, cosine giữa hai câu bất kỳ đã ~0,4 (trung vị phiên không liên quan 0,395) → ngưỡng 0,2 giữ gần như mọi phiên. Ngưỡng phải hiệu chỉnh lại trên thang của mình; chỉ chỉnh trên dev.</a:t>
            </a:r>
            <a:endParaRPr lang="en-US" sz="1200" dirty="0"/>
          </a:p>
        </p:txBody>
      </p:sp>
      <p:sp>
        <p:nvSpPr>
          <p:cNvPr id="14" name="Text 11"/>
          <p:cNvSpPr txBox="1"/>
          <p:nvPr/>
        </p:nvSpPr>
        <p:spPr>
          <a:xfrm>
            <a:off x="548640" y="6419088"/>
            <a:ext cx="11064240" cy="274320"/>
          </a:xfrm>
          <a:prstGeom prst="rect">
            <a:avLst/>
          </a:prstGeom>
          <a:noFill/>
          <a:ln/>
        </p:spPr>
        <p:txBody>
          <a:bodyPr wrap="square" lIns="0" tIns="0" rIns="0" bIns="0" rtlCol="0" anchor="t"/>
          <a:lstStyle/>
          <a:p>
            <a:pPr indent="0" marL="0">
              <a:buNone/>
            </a:pPr>
            <a:r>
              <a:rPr lang="en-US" sz="900" i="1" dirty="0">
                <a:solidFill>
                  <a:srgbClr val="5B6B73"/>
                </a:solidFill>
                <a:latin typeface="Calibri" pitchFamily="34" charset="0"/>
                <a:ea typeface="Calibri" pitchFamily="34" charset="-122"/>
                <a:cs typeface="Calibri" pitchFamily="34" charset="-120"/>
              </a:rPr>
              <a:t>python -m ltm.eval.calibrate_filter — chỉ đọc cache embedding. Ngưỡng chọn trên chính 150 câu dev nên số trên test có thể thấp hơn chút.</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100" b="1" spc="200" kern="0" dirty="0">
                <a:solidFill>
                  <a:srgbClr val="D98C1F"/>
                </a:solidFill>
                <a:latin typeface="Calibri" pitchFamily="34" charset="0"/>
                <a:ea typeface="Calibri" pitchFamily="34" charset="-122"/>
                <a:cs typeface="Calibri" pitchFamily="34" charset="-120"/>
              </a:rPr>
              <a:t>PHẦN 3 · KẾT QUẢ</a:t>
            </a:r>
            <a:endParaRPr lang="en-US" sz="1100" dirty="0"/>
          </a:p>
        </p:txBody>
      </p:sp>
      <p:sp>
        <p:nvSpPr>
          <p:cNvPr id="3" name="Text 1"/>
          <p:cNvSpPr txBox="1"/>
          <p:nvPr/>
        </p:nvSpPr>
        <p:spPr>
          <a:xfrm>
            <a:off x="548640" y="621792"/>
            <a:ext cx="11064240" cy="566928"/>
          </a:xfrm>
          <a:prstGeom prst="rect">
            <a:avLst/>
          </a:prstGeom>
          <a:noFill/>
          <a:ln/>
        </p:spPr>
        <p:txBody>
          <a:bodyPr wrap="square" lIns="0" tIns="0" rIns="0" bIns="0" rtlCol="0" anchor="ctr"/>
          <a:lstStyle/>
          <a:p>
            <a:pPr indent="0" marL="0">
              <a:buNone/>
            </a:pPr>
            <a:r>
              <a:rPr lang="en-US" sz="2800" b="1" dirty="0">
                <a:solidFill>
                  <a:srgbClr val="12232E"/>
                </a:solidFill>
                <a:latin typeface="Cambria" pitchFamily="34" charset="0"/>
                <a:ea typeface="Cambria" pitchFamily="34" charset="-122"/>
                <a:cs typeface="Cambria" pitchFamily="34" charset="-120"/>
              </a:rPr>
              <a:t>Độ chính xác trên 20 câu dev: hệ đầy đủ 18/20, baseline 16/20</a:t>
            </a:r>
            <a:endParaRPr lang="en-US" sz="2800" dirty="0"/>
          </a:p>
        </p:txBody>
      </p:sp>
      <p:graphicFrame>
        <p:nvGraphicFramePr>
          <p:cNvPr id="4" name="Chart 0" descr=""/>
          <p:cNvGraphicFramePr/>
          <p:nvPr/>
        </p:nvGraphicFramePr>
        <p:xfrm>
          <a:off x="457200" y="1325880"/>
          <a:ext cx="7223760" cy="48463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046720" y="1371600"/>
            <a:ext cx="3566160" cy="1234440"/>
          </a:xfrm>
          <a:prstGeom prst="roundRect">
            <a:avLst>
              <a:gd name="adj" fmla="val 4444"/>
            </a:avLst>
          </a:prstGeom>
          <a:solidFill>
            <a:srgbClr val="0F5C6B"/>
          </a:solidFill>
          <a:ln w="12700">
            <a:solidFill>
              <a:srgbClr val="0F5C6B"/>
            </a:solidFill>
            <a:prstDash val="solid"/>
          </a:ln>
        </p:spPr>
      </p:sp>
      <p:sp>
        <p:nvSpPr>
          <p:cNvPr id="6" name="Text 3"/>
          <p:cNvSpPr txBox="1"/>
          <p:nvPr/>
        </p:nvSpPr>
        <p:spPr>
          <a:xfrm>
            <a:off x="8275320" y="1463040"/>
            <a:ext cx="1737360" cy="10058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90%</a:t>
            </a:r>
            <a:endParaRPr lang="en-US" sz="4000" dirty="0"/>
          </a:p>
        </p:txBody>
      </p:sp>
      <p:sp>
        <p:nvSpPr>
          <p:cNvPr id="7" name="Text 4"/>
          <p:cNvSpPr txBox="1"/>
          <p:nvPr/>
        </p:nvSpPr>
        <p:spPr>
          <a:xfrm>
            <a:off x="10012680" y="1463040"/>
            <a:ext cx="1554480" cy="10058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full · 18/20</a:t>
            </a:r>
            <a:endParaRPr lang="en-US" sz="1200" dirty="0"/>
          </a:p>
        </p:txBody>
      </p:sp>
      <p:sp>
        <p:nvSpPr>
          <p:cNvPr id="8" name="Shape 5"/>
          <p:cNvSpPr/>
          <p:nvPr/>
        </p:nvSpPr>
        <p:spPr>
          <a:xfrm>
            <a:off x="8046720" y="2788920"/>
            <a:ext cx="3566160" cy="1234440"/>
          </a:xfrm>
          <a:prstGeom prst="roundRect">
            <a:avLst>
              <a:gd name="adj" fmla="val 4444"/>
            </a:avLst>
          </a:prstGeom>
          <a:solidFill>
            <a:srgbClr val="FBF1E3"/>
          </a:solidFill>
          <a:ln w="12700">
            <a:solidFill>
              <a:srgbClr val="FBF1E3"/>
            </a:solidFill>
            <a:prstDash val="solid"/>
          </a:ln>
        </p:spPr>
      </p:sp>
      <p:sp>
        <p:nvSpPr>
          <p:cNvPr id="9" name="Text 6"/>
          <p:cNvSpPr txBox="1"/>
          <p:nvPr/>
        </p:nvSpPr>
        <p:spPr>
          <a:xfrm>
            <a:off x="8275320" y="2880360"/>
            <a:ext cx="1737360" cy="1005840"/>
          </a:xfrm>
          <a:prstGeom prst="rect">
            <a:avLst/>
          </a:prstGeom>
          <a:noFill/>
          <a:ln/>
        </p:spPr>
        <p:txBody>
          <a:bodyPr wrap="square" lIns="0" tIns="0" rIns="0" bIns="0" rtlCol="0" anchor="ctr"/>
          <a:lstStyle/>
          <a:p>
            <a:pPr indent="0" marL="0">
              <a:buNone/>
            </a:pPr>
            <a:r>
              <a:rPr lang="en-US" sz="4000" b="1" dirty="0">
                <a:solidFill>
                  <a:srgbClr val="1E2A32"/>
                </a:solidFill>
                <a:latin typeface="Cambria" pitchFamily="34" charset="0"/>
                <a:ea typeface="Cambria" pitchFamily="34" charset="-122"/>
                <a:cs typeface="Cambria" pitchFamily="34" charset="-120"/>
              </a:rPr>
              <a:t>80%</a:t>
            </a:r>
            <a:endParaRPr lang="en-US" sz="4000" dirty="0"/>
          </a:p>
        </p:txBody>
      </p:sp>
      <p:sp>
        <p:nvSpPr>
          <p:cNvPr id="10" name="Text 7"/>
          <p:cNvSpPr txBox="1"/>
          <p:nvPr/>
        </p:nvSpPr>
        <p:spPr>
          <a:xfrm>
            <a:off x="10012680" y="2880360"/>
            <a:ext cx="1554480" cy="1005840"/>
          </a:xfrm>
          <a:prstGeom prst="rect">
            <a:avLst/>
          </a:prstGeom>
          <a:noFill/>
          <a:ln/>
        </p:spPr>
        <p:txBody>
          <a:bodyPr wrap="square" lIns="0" tIns="0" rIns="0" bIns="0" rtlCol="0" anchor="ctr"/>
          <a:lstStyle/>
          <a:p>
            <a:pPr indent="0" marL="0">
              <a:buNone/>
            </a:pPr>
            <a:r>
              <a:rPr lang="en-US" sz="1200" dirty="0">
                <a:solidFill>
                  <a:srgbClr val="1E2A32"/>
                </a:solidFill>
                <a:latin typeface="Calibri" pitchFamily="34" charset="0"/>
                <a:ea typeface="Calibri" pitchFamily="34" charset="-122"/>
                <a:cs typeface="Calibri" pitchFamily="34" charset="-120"/>
              </a:rPr>
              <a:t>simple_search · 16/20</a:t>
            </a:r>
            <a:endParaRPr lang="en-US" sz="1200" dirty="0"/>
          </a:p>
        </p:txBody>
      </p:sp>
      <p:sp>
        <p:nvSpPr>
          <p:cNvPr id="11" name="Shape 8"/>
          <p:cNvSpPr/>
          <p:nvPr/>
        </p:nvSpPr>
        <p:spPr>
          <a:xfrm>
            <a:off x="8046720" y="4251960"/>
            <a:ext cx="3566160" cy="1920240"/>
          </a:xfrm>
          <a:prstGeom prst="roundRect">
            <a:avLst>
              <a:gd name="adj" fmla="val 2857"/>
            </a:avLst>
          </a:prstGeom>
          <a:solidFill>
            <a:srgbClr val="F3F7F8"/>
          </a:solidFill>
          <a:ln w="12700">
            <a:solidFill>
              <a:srgbClr val="F3F7F8"/>
            </a:solidFill>
            <a:prstDash val="solid"/>
          </a:ln>
        </p:spPr>
      </p:sp>
      <p:sp>
        <p:nvSpPr>
          <p:cNvPr id="12" name="Text 9"/>
          <p:cNvSpPr txBox="1"/>
          <p:nvPr/>
        </p:nvSpPr>
        <p:spPr>
          <a:xfrm>
            <a:off x="8275320" y="4343400"/>
            <a:ext cx="3200400" cy="274320"/>
          </a:xfrm>
          <a:prstGeom prst="rect">
            <a:avLst/>
          </a:prstGeom>
          <a:noFill/>
          <a:ln/>
        </p:spPr>
        <p:txBody>
          <a:bodyPr wrap="square" lIns="0" tIns="0" rIns="0" bIns="0" rtlCol="0" anchor="t"/>
          <a:lstStyle/>
          <a:p>
            <a:pPr indent="0" marL="0">
              <a:buNone/>
            </a:pPr>
            <a:r>
              <a:rPr lang="en-US" sz="1200" b="1" dirty="0">
                <a:solidFill>
                  <a:srgbClr val="0F5C6B"/>
                </a:solidFill>
                <a:latin typeface="Calibri" pitchFamily="34" charset="0"/>
                <a:ea typeface="Calibri" pitchFamily="34" charset="-122"/>
                <a:cs typeface="Calibri" pitchFamily="34" charset="-120"/>
              </a:rPr>
              <a:t>Đọc đúng mức</a:t>
            </a:r>
            <a:endParaRPr lang="en-US" sz="1200" dirty="0"/>
          </a:p>
        </p:txBody>
      </p:sp>
      <p:sp>
        <p:nvSpPr>
          <p:cNvPr id="13" name="Text 10"/>
          <p:cNvSpPr txBox="1"/>
          <p:nvPr/>
        </p:nvSpPr>
        <p:spPr>
          <a:xfrm>
            <a:off x="8275320" y="4663440"/>
            <a:ext cx="3200400" cy="146304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E2A32"/>
                </a:solidFill>
                <a:latin typeface="Calibri" pitchFamily="34" charset="0"/>
                <a:ea typeface="Calibri" pitchFamily="34" charset="-122"/>
                <a:cs typeface="Calibri" pitchFamily="34" charset="-120"/>
              </a:rPr>
              <a:t>KTC 95% của 18/20: ~70–97%.</a:t>
            </a:r>
            <a:endParaRPr lang="en-US" sz="1100" dirty="0"/>
          </a:p>
          <a:p>
            <a:pPr marL="342900" indent="-342900">
              <a:spcAft>
                <a:spcPts val="400"/>
              </a:spcAft>
              <a:buSzPct val="100000"/>
              <a:buChar char="•"/>
            </a:pPr>
            <a:r>
              <a:rPr lang="en-US" sz="1100" dirty="0">
                <a:solidFill>
                  <a:srgbClr val="1E2A32"/>
                </a:solidFill>
                <a:latin typeface="Calibri" pitchFamily="34" charset="0"/>
                <a:ea typeface="Calibri" pitchFamily="34" charset="-122"/>
                <a:cs typeface="Calibri" pitchFamily="34" charset="-120"/>
              </a:rPr>
              <a:t>Chênh 2 câu, cùng bộ câu: McNemar p = 0,5 → chưa khẳng định full hơn baseline.</a:t>
            </a:r>
            <a:endParaRPr lang="en-US" sz="1100" dirty="0"/>
          </a:p>
          <a:p>
            <a:pPr marL="342900" indent="-342900">
              <a:spcAft>
                <a:spcPts val="400"/>
              </a:spcAft>
              <a:buSzPct val="100000"/>
              <a:buChar char="•"/>
            </a:pPr>
            <a:r>
              <a:rPr lang="en-US" sz="1100" dirty="0">
                <a:solidFill>
                  <a:srgbClr val="1E2A32"/>
                </a:solidFill>
                <a:latin typeface="Calibri" pitchFamily="34" charset="0"/>
                <a:ea typeface="Calibri" pitchFamily="34" charset="-122"/>
                <a:cs typeface="Calibri" pitchFamily="34" charset="-120"/>
              </a:rPr>
              <a:t>Ô chỉ 1–2 câu (temporal, preference) không có ý nghĩa thống kê.</a:t>
            </a:r>
            <a:endParaRPr lang="en-US" sz="1100" dirty="0"/>
          </a:p>
        </p:txBody>
      </p:sp>
      <p:sp>
        <p:nvSpPr>
          <p:cNvPr id="14" name="Text 11"/>
          <p:cNvSpPr txBox="1"/>
          <p:nvPr/>
        </p:nvSpPr>
        <p:spPr>
          <a:xfrm>
            <a:off x="548640" y="6419088"/>
            <a:ext cx="11064240" cy="274320"/>
          </a:xfrm>
          <a:prstGeom prst="rect">
            <a:avLst/>
          </a:prstGeom>
          <a:noFill/>
          <a:ln/>
        </p:spPr>
        <p:txBody>
          <a:bodyPr wrap="square" lIns="0" tIns="0" rIns="0" bIns="0" rtlCol="0" anchor="t"/>
          <a:lstStyle/>
          <a:p>
            <a:pPr indent="0" marL="0">
              <a:buNone/>
            </a:pPr>
            <a:r>
              <a:rPr lang="en-US" sz="900" i="1" dirty="0">
                <a:solidFill>
                  <a:srgbClr val="5B6B73"/>
                </a:solidFill>
                <a:latin typeface="Calibri" pitchFamily="34" charset="0"/>
                <a:ea typeface="Calibri" pitchFamily="34" charset="-122"/>
                <a:cs typeface="Calibri" pitchFamily="34" charset="-120"/>
              </a:rPr>
              <a:t>Hai câu cả hai hệ cùng sai: câu _abs (multi-session) và câu temporal — phân tích ở slide sau. Mọi fact/tỉ lệ tính trên cùng 20 câu, cùng đồ thị.</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100" b="1" spc="200" kern="0" dirty="0">
                <a:solidFill>
                  <a:srgbClr val="D98C1F"/>
                </a:solidFill>
                <a:latin typeface="Calibri" pitchFamily="34" charset="0"/>
                <a:ea typeface="Calibri" pitchFamily="34" charset="-122"/>
                <a:cs typeface="Calibri" pitchFamily="34" charset="-120"/>
              </a:rPr>
              <a:t>PHẦN 3 · KẾT QUẢ</a:t>
            </a:r>
            <a:endParaRPr lang="en-US" sz="1100" dirty="0"/>
          </a:p>
        </p:txBody>
      </p:sp>
      <p:sp>
        <p:nvSpPr>
          <p:cNvPr id="3" name="Text 1"/>
          <p:cNvSpPr txBox="1"/>
          <p:nvPr/>
        </p:nvSpPr>
        <p:spPr>
          <a:xfrm>
            <a:off x="548640" y="621792"/>
            <a:ext cx="11064240" cy="566928"/>
          </a:xfrm>
          <a:prstGeom prst="rect">
            <a:avLst/>
          </a:prstGeom>
          <a:noFill/>
          <a:ln/>
        </p:spPr>
        <p:txBody>
          <a:bodyPr wrap="square" lIns="0" tIns="0" rIns="0" bIns="0" rtlCol="0" anchor="ctr"/>
          <a:lstStyle/>
          <a:p>
            <a:pPr indent="0" marL="0">
              <a:buNone/>
            </a:pPr>
            <a:r>
              <a:rPr lang="en-US" sz="2800" b="1" dirty="0">
                <a:solidFill>
                  <a:srgbClr val="12232E"/>
                </a:solidFill>
                <a:latin typeface="Cambria" pitchFamily="34" charset="0"/>
                <a:ea typeface="Cambria" pitchFamily="34" charset="-122"/>
                <a:cs typeface="Cambria" pitchFamily="34" charset="-120"/>
              </a:rPr>
              <a:t>Chi phí mỗi câu: pha dựng chiếm 87% token</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669280" cy="914400"/>
        </p:xfrm>
        <a:graphic>
          <a:graphicData uri="http://schemas.openxmlformats.org/drawingml/2006/table">
            <a:tbl>
              <a:tblPr/>
              <a:tblGrid>
                <a:gridCol w="2651760"/>
                <a:gridCol w="1508760"/>
                <a:gridCol w="1508760"/>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Mỗi câu (TB)</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full</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simple_search</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r>
              <a:tr h="384048">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Lời gọi LLM dựng đồ thị</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13,8</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B6B73"/>
                          </a:solidFill>
                          <a:latin typeface="Calibri" pitchFamily="34" charset="0"/>
                          <a:ea typeface="Calibri" pitchFamily="34" charset="-122"/>
                          <a:cs typeface="Calibri" pitchFamily="34" charset="-120"/>
                        </a:rPr>
                        <a:t>dùng chung</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Token dựng đồ thị</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58,8K</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B6B73"/>
                          </a:solidFill>
                          <a:latin typeface="Calibri" pitchFamily="34" charset="0"/>
                          <a:ea typeface="Calibri" pitchFamily="34" charset="-122"/>
                          <a:cs typeface="Calibri" pitchFamily="34" charset="-120"/>
                        </a:rPr>
                        <a:t>dùng chung</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Lời gọi LLM trả lời</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Token trả lời</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8,8K</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18,2K</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Lần gọi công cụ</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2,9</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Độ trễ trả lời p50 / p95</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25 s / 40 s</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5,5 s / 12 s</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Độ trễ dựng p50 / p95</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4,9 / 11,1 phút</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B6B73"/>
                          </a:solidFill>
                          <a:latin typeface="Calibri" pitchFamily="34" charset="0"/>
                          <a:ea typeface="Calibri" pitchFamily="34" charset="-122"/>
                          <a:cs typeface="Calibri" pitchFamily="34" charset="-120"/>
                        </a:rPr>
                        <a:t>dùng chung</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4709160"/>
            <a:ext cx="5669280" cy="1463040"/>
          </a:xfrm>
          <a:prstGeom prst="roundRect">
            <a:avLst>
              <a:gd name="adj" fmla="val 3750"/>
            </a:avLst>
          </a:prstGeom>
          <a:solidFill>
            <a:srgbClr val="E6F0F2"/>
          </a:solidFill>
          <a:ln w="12700">
            <a:solidFill>
              <a:srgbClr val="E6F0F2"/>
            </a:solidFill>
            <a:prstDash val="solid"/>
          </a:ln>
        </p:spPr>
      </p:sp>
      <p:sp>
        <p:nvSpPr>
          <p:cNvPr id="6" name="Text 3"/>
          <p:cNvSpPr txBox="1"/>
          <p:nvPr/>
        </p:nvSpPr>
        <p:spPr>
          <a:xfrm>
            <a:off x="777240" y="4800600"/>
            <a:ext cx="5257800" cy="1280160"/>
          </a:xfrm>
          <a:prstGeom prst="rect">
            <a:avLst/>
          </a:prstGeom>
          <a:noFill/>
          <a:ln/>
        </p:spPr>
        <p:txBody>
          <a:bodyPr wrap="square" lIns="0" tIns="0" rIns="0" bIns="0" rtlCol="0" anchor="ctr"/>
          <a:lstStyle/>
          <a:p>
            <a:pPr indent="0" marL="0">
              <a:buNone/>
            </a:pPr>
            <a:r>
              <a:rPr lang="en-US" sz="1200" b="1" dirty="0">
                <a:solidFill>
                  <a:srgbClr val="1E2A32"/>
                </a:solidFill>
                <a:latin typeface="Calibri" pitchFamily="34" charset="0"/>
                <a:ea typeface="Calibri" pitchFamily="34" charset="-122"/>
                <a:cs typeface="Calibri" pitchFamily="34" charset="-120"/>
              </a:rPr>
              <a:t>Ý nghĩa: </a:t>
            </a:r>
            <a:pPr indent="0" marL="0">
              <a:buNone/>
            </a:pPr>
            <a:r>
              <a:rPr lang="en-US" sz="1200" dirty="0">
                <a:solidFill>
                  <a:srgbClr val="1E2A32"/>
                </a:solidFill>
                <a:latin typeface="Calibri" pitchFamily="34" charset="0"/>
                <a:ea typeface="Calibri" pitchFamily="34" charset="-122"/>
                <a:cs typeface="Calibri" pitchFamily="34" charset="-120"/>
              </a:rPr>
              <a:t>Tối ưu chi phí phải nhắm vào pha dựng (lọc bớt phiên, gom lượt). Pha trả lời của full dùng ít token hơn baseline (8,8K so với 18,2K) vì chỉ đọc fact liên quan thay vì 5 phiên nguyên văn — nhưng chậm hơn do nhiều vòng gọi công cụ.</a:t>
            </a:r>
            <a:endParaRPr lang="en-US" sz="1200" dirty="0"/>
          </a:p>
        </p:txBody>
      </p:sp>
      <p:graphicFrame>
        <p:nvGraphicFramePr>
          <p:cNvPr id="7" name="Chart 0" descr=""/>
          <p:cNvGraphicFramePr/>
          <p:nvPr/>
        </p:nvGraphicFramePr>
        <p:xfrm>
          <a:off x="6583680" y="1325880"/>
          <a:ext cx="5029200" cy="3566160"/>
        </p:xfrm>
        <a:graphic xmlns:a="http://schemas.openxmlformats.org/drawingml/2006/main">
          <a:graphicData uri="http://schemas.openxmlformats.org/drawingml/2006/chart">
            <c:chart xmlns:c="http://schemas.openxmlformats.org/drawingml/2006/chart" r:id="rId1"/>
          </a:graphicData>
        </a:graphic>
      </p:graphicFrame>
      <p:sp>
        <p:nvSpPr>
          <p:cNvPr id="8" name="Shape 4"/>
          <p:cNvSpPr/>
          <p:nvPr/>
        </p:nvSpPr>
        <p:spPr>
          <a:xfrm>
            <a:off x="6583680" y="5074920"/>
            <a:ext cx="5029200" cy="1097280"/>
          </a:xfrm>
          <a:prstGeom prst="roundRect">
            <a:avLst>
              <a:gd name="adj" fmla="val 5000"/>
            </a:avLst>
          </a:prstGeom>
          <a:solidFill>
            <a:srgbClr val="FBF1E3"/>
          </a:solidFill>
          <a:ln w="12700">
            <a:solidFill>
              <a:srgbClr val="FBF1E3"/>
            </a:solidFill>
            <a:prstDash val="solid"/>
          </a:ln>
        </p:spPr>
      </p:sp>
      <p:sp>
        <p:nvSpPr>
          <p:cNvPr id="9" name="Text 5"/>
          <p:cNvSpPr txBox="1"/>
          <p:nvPr/>
        </p:nvSpPr>
        <p:spPr>
          <a:xfrm>
            <a:off x="6812280" y="5138928"/>
            <a:ext cx="4617720" cy="960120"/>
          </a:xfrm>
          <a:prstGeom prst="rect">
            <a:avLst/>
          </a:prstGeom>
          <a:noFill/>
          <a:ln/>
        </p:spPr>
        <p:txBody>
          <a:bodyPr wrap="square" lIns="0" tIns="0" rIns="0" bIns="0" rtlCol="0" anchor="ctr"/>
          <a:lstStyle/>
          <a:p>
            <a:pPr indent="0" marL="0">
              <a:buNone/>
            </a:pPr>
            <a:r>
              <a:rPr lang="en-US" sz="1150" dirty="0">
                <a:solidFill>
                  <a:srgbClr val="1E2A32"/>
                </a:solidFill>
                <a:latin typeface="Calibri" pitchFamily="34" charset="0"/>
                <a:ea typeface="Calibri" pitchFamily="34" charset="-122"/>
                <a:cs typeface="Calibri" pitchFamily="34" charset="-120"/>
              </a:rPr>
              <a:t>Search được dùng nhiều nhất (bài báo: +7,55 điểm khi thêm Search trên LoCoMo). GraphSQL xuất hiện ở 12/20 câu — chủ yếu để cộng, đếm, xếp theo thời gian.</a:t>
            </a:r>
            <a:endParaRPr lang="en-US" sz="1150" dirty="0"/>
          </a:p>
        </p:txBody>
      </p:sp>
      <p:sp>
        <p:nvSpPr>
          <p:cNvPr id="10" name="Text 6"/>
          <p:cNvSpPr txBox="1"/>
          <p:nvPr/>
        </p:nvSpPr>
        <p:spPr>
          <a:xfrm>
            <a:off x="548640" y="6419088"/>
            <a:ext cx="11064240" cy="274320"/>
          </a:xfrm>
          <a:prstGeom prst="rect">
            <a:avLst/>
          </a:prstGeom>
          <a:noFill/>
          <a:ln/>
        </p:spPr>
        <p:txBody>
          <a:bodyPr wrap="square" lIns="0" tIns="0" rIns="0" bIns="0" rtlCol="0" anchor="t"/>
          <a:lstStyle/>
          <a:p>
            <a:pPr indent="0" marL="0">
              <a:buNone/>
            </a:pPr>
            <a:r>
              <a:rPr lang="en-US" sz="900" i="1" dirty="0">
                <a:solidFill>
                  <a:srgbClr val="5B6B73"/>
                </a:solidFill>
                <a:latin typeface="Calibri" pitchFamily="34" charset="0"/>
                <a:ea typeface="Calibri" pitchFamily="34" charset="-122"/>
                <a:cs typeface="Calibri" pitchFamily="34" charset="-120"/>
              </a:rPr>
              <a:t>Mọi con số từ report của full/dev và simple_search/dev. Chỉ tính lần dựng đầu — cấu hình sau dùng lại đồ thị và cache LLM.</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100" b="1" spc="200" kern="0" dirty="0">
                <a:solidFill>
                  <a:srgbClr val="D98C1F"/>
                </a:solidFill>
                <a:latin typeface="Calibri" pitchFamily="34" charset="0"/>
                <a:ea typeface="Calibri" pitchFamily="34" charset="-122"/>
                <a:cs typeface="Calibri" pitchFamily="34" charset="-120"/>
              </a:rPr>
              <a:t>PHẦN 3 · KẾT QUẢ</a:t>
            </a:r>
            <a:endParaRPr lang="en-US" sz="1100" dirty="0"/>
          </a:p>
        </p:txBody>
      </p:sp>
      <p:sp>
        <p:nvSpPr>
          <p:cNvPr id="3" name="Text 1"/>
          <p:cNvSpPr txBox="1"/>
          <p:nvPr/>
        </p:nvSpPr>
        <p:spPr>
          <a:xfrm>
            <a:off x="548640" y="621792"/>
            <a:ext cx="11064240" cy="566928"/>
          </a:xfrm>
          <a:prstGeom prst="rect">
            <a:avLst/>
          </a:prstGeom>
          <a:noFill/>
          <a:ln/>
        </p:spPr>
        <p:txBody>
          <a:bodyPr wrap="square" lIns="0" tIns="0" rIns="0" bIns="0" rtlCol="0" anchor="ctr"/>
          <a:lstStyle/>
          <a:p>
            <a:pPr indent="0" marL="0">
              <a:buNone/>
            </a:pPr>
            <a:r>
              <a:rPr lang="en-US" sz="2800" b="1" dirty="0">
                <a:solidFill>
                  <a:srgbClr val="12232E"/>
                </a:solidFill>
                <a:latin typeface="Cambria" pitchFamily="34" charset="0"/>
                <a:ea typeface="Cambria" pitchFamily="34" charset="-122"/>
                <a:cs typeface="Cambria" pitchFamily="34" charset="-120"/>
              </a:rPr>
              <a:t>Hai câu sai — và nguyên nhân thật</a:t>
            </a:r>
            <a:endParaRPr lang="en-US" sz="2800" dirty="0"/>
          </a:p>
        </p:txBody>
      </p:sp>
      <p:sp>
        <p:nvSpPr>
          <p:cNvPr id="4" name="Shape 2"/>
          <p:cNvSpPr/>
          <p:nvPr/>
        </p:nvSpPr>
        <p:spPr>
          <a:xfrm>
            <a:off x="548640" y="1371600"/>
            <a:ext cx="5440680" cy="3977640"/>
          </a:xfrm>
          <a:prstGeom prst="roundRect">
            <a:avLst>
              <a:gd name="adj" fmla="val 1379"/>
            </a:avLst>
          </a:prstGeom>
          <a:solidFill>
            <a:srgbClr val="F3F7F8"/>
          </a:solidFill>
          <a:ln w="12700">
            <a:solidFill>
              <a:srgbClr val="F3F7F8"/>
            </a:solidFill>
            <a:prstDash val="solid"/>
          </a:ln>
        </p:spPr>
      </p:sp>
      <p:sp>
        <p:nvSpPr>
          <p:cNvPr id="5" name="Text 3"/>
          <p:cNvSpPr txBox="1"/>
          <p:nvPr/>
        </p:nvSpPr>
        <p:spPr>
          <a:xfrm>
            <a:off x="777240" y="1508760"/>
            <a:ext cx="5029200" cy="320040"/>
          </a:xfrm>
          <a:prstGeom prst="rect">
            <a:avLst/>
          </a:prstGeom>
          <a:noFill/>
          <a:ln/>
        </p:spPr>
        <p:txBody>
          <a:bodyPr wrap="square" lIns="0" tIns="0" rIns="0" bIns="0" rtlCol="0" anchor="t"/>
          <a:lstStyle/>
          <a:p>
            <a:pPr indent="0" marL="0">
              <a:buNone/>
            </a:pPr>
            <a:r>
              <a:rPr lang="en-US" sz="1500" b="1" dirty="0">
                <a:solidFill>
                  <a:srgbClr val="12232E"/>
                </a:solidFill>
                <a:latin typeface="Calibri" pitchFamily="34" charset="0"/>
                <a:ea typeface="Calibri" pitchFamily="34" charset="-122"/>
                <a:cs typeface="Calibri" pitchFamily="34" charset="-120"/>
              </a:rPr>
              <a:t>Câu _abs 09ba9854 · biết từ chối</a:t>
            </a:r>
            <a:endParaRPr lang="en-US" sz="1500" dirty="0"/>
          </a:p>
        </p:txBody>
      </p:sp>
      <p:sp>
        <p:nvSpPr>
          <p:cNvPr id="6" name="Text 4"/>
          <p:cNvSpPr txBox="1"/>
          <p:nvPr/>
        </p:nvSpPr>
        <p:spPr>
          <a:xfrm>
            <a:off x="777240" y="1874520"/>
            <a:ext cx="5029200" cy="685800"/>
          </a:xfrm>
          <a:prstGeom prst="rect">
            <a:avLst/>
          </a:prstGeom>
          <a:noFill/>
          <a:ln/>
        </p:spPr>
        <p:txBody>
          <a:bodyPr wrap="square" lIns="0" tIns="0" rIns="0" bIns="0" rtlCol="0" anchor="t"/>
          <a:lstStyle/>
          <a:p>
            <a:pPr indent="0" marL="0">
              <a:buNone/>
            </a:pPr>
            <a:r>
              <a:rPr lang="en-US" sz="1250" i="1" dirty="0">
                <a:solidFill>
                  <a:srgbClr val="5B6B73"/>
                </a:solidFill>
                <a:latin typeface="Calibri" pitchFamily="34" charset="0"/>
                <a:ea typeface="Calibri" pitchFamily="34" charset="-122"/>
                <a:cs typeface="Calibri" pitchFamily="34" charset="-120"/>
              </a:rPr>
              <a:t>“How much will I save by taking the bus from the airport to my hotel instead of a taxi?”</a:t>
            </a:r>
            <a:endParaRPr lang="en-US" sz="1250" dirty="0"/>
          </a:p>
        </p:txBody>
      </p:sp>
      <p:sp>
        <p:nvSpPr>
          <p:cNvPr id="7" name="Text 5"/>
          <p:cNvSpPr txBox="1"/>
          <p:nvPr/>
        </p:nvSpPr>
        <p:spPr>
          <a:xfrm>
            <a:off x="777240" y="2606040"/>
            <a:ext cx="5029200" cy="594360"/>
          </a:xfrm>
          <a:prstGeom prst="rect">
            <a:avLst/>
          </a:prstGeom>
          <a:noFill/>
          <a:ln/>
        </p:spPr>
        <p:txBody>
          <a:bodyPr wrap="square" lIns="0" tIns="0" rIns="0" bIns="0" rtlCol="0" anchor="t"/>
          <a:lstStyle/>
          <a:p>
            <a:pPr indent="0" marL="0">
              <a:buNone/>
            </a:pPr>
            <a:r>
              <a:rPr lang="en-US" sz="1250" b="1" dirty="0">
                <a:solidFill>
                  <a:srgbClr val="1F7A4D"/>
                </a:solidFill>
                <a:latin typeface="Calibri" pitchFamily="34" charset="0"/>
                <a:ea typeface="Calibri" pitchFamily="34" charset="-122"/>
                <a:cs typeface="Calibri" pitchFamily="34" charset="-120"/>
              </a:rPr>
              <a:t>Đúng ra: </a:t>
            </a:r>
            <a:pPr indent="0" marL="0">
              <a:buNone/>
            </a:pPr>
            <a:r>
              <a:rPr lang="en-US" sz="1250" dirty="0">
                <a:solidFill>
                  <a:srgbClr val="1E2A32"/>
                </a:solidFill>
                <a:latin typeface="Calibri" pitchFamily="34" charset="0"/>
                <a:ea typeface="Calibri" pitchFamily="34" charset="-122"/>
                <a:cs typeface="Calibri" pitchFamily="34" charset="-120"/>
              </a:rPr>
              <a:t>không đủ thông tin — người dùng chưa từng nói giá vé bus.</a:t>
            </a:r>
            <a:endParaRPr lang="en-US" sz="1250" dirty="0"/>
          </a:p>
        </p:txBody>
      </p:sp>
      <p:sp>
        <p:nvSpPr>
          <p:cNvPr id="8" name="Text 6"/>
          <p:cNvSpPr txBox="1"/>
          <p:nvPr/>
        </p:nvSpPr>
        <p:spPr>
          <a:xfrm>
            <a:off x="777240" y="3200400"/>
            <a:ext cx="5029200" cy="731520"/>
          </a:xfrm>
          <a:prstGeom prst="rect">
            <a:avLst/>
          </a:prstGeom>
          <a:noFill/>
          <a:ln/>
        </p:spPr>
        <p:txBody>
          <a:bodyPr wrap="square" lIns="0" tIns="0" rIns="0" bIns="0" rtlCol="0" anchor="t"/>
          <a:lstStyle/>
          <a:p>
            <a:pPr indent="0" marL="0">
              <a:buNone/>
            </a:pPr>
            <a:r>
              <a:rPr lang="en-US" sz="1250" b="1" dirty="0">
                <a:solidFill>
                  <a:srgbClr val="B3261E"/>
                </a:solidFill>
                <a:latin typeface="Calibri" pitchFamily="34" charset="0"/>
                <a:ea typeface="Calibri" pitchFamily="34" charset="-122"/>
                <a:cs typeface="Calibri" pitchFamily="34" charset="-120"/>
              </a:rPr>
              <a:t>Hệ trả lời: </a:t>
            </a:r>
            <a:pPr indent="0" marL="0">
              <a:buNone/>
            </a:pPr>
            <a:r>
              <a:rPr lang="en-US" sz="1250" dirty="0">
                <a:solidFill>
                  <a:srgbClr val="1E2A32"/>
                </a:solidFill>
                <a:latin typeface="Calibri" pitchFamily="34" charset="0"/>
                <a:ea typeface="Calibri" pitchFamily="34" charset="-122"/>
                <a:cs typeface="Calibri" pitchFamily="34" charset="-120"/>
              </a:rPr>
              <a:t>“tiết kiệm ¥16.800–26.800” — lấy giá bus ¥3.200 do chính TRỢ LÝ ước lượng làm như thông tin người dùng.</a:t>
            </a:r>
            <a:endParaRPr lang="en-US" sz="1250" dirty="0"/>
          </a:p>
        </p:txBody>
      </p:sp>
      <p:sp>
        <p:nvSpPr>
          <p:cNvPr id="9" name="Shape 7"/>
          <p:cNvSpPr/>
          <p:nvPr/>
        </p:nvSpPr>
        <p:spPr>
          <a:xfrm>
            <a:off x="731520" y="4023360"/>
            <a:ext cx="5074920" cy="1188720"/>
          </a:xfrm>
          <a:prstGeom prst="roundRect">
            <a:avLst>
              <a:gd name="adj" fmla="val 4615"/>
            </a:avLst>
          </a:prstGeom>
          <a:solidFill>
            <a:srgbClr val="FFFFFF"/>
          </a:solidFill>
          <a:ln w="9525">
            <a:solidFill>
              <a:srgbClr val="BFD8DD"/>
            </a:solidFill>
            <a:prstDash val="solid"/>
          </a:ln>
        </p:spPr>
      </p:sp>
      <p:sp>
        <p:nvSpPr>
          <p:cNvPr id="10" name="Text 8"/>
          <p:cNvSpPr txBox="1"/>
          <p:nvPr/>
        </p:nvSpPr>
        <p:spPr>
          <a:xfrm>
            <a:off x="868680" y="4069080"/>
            <a:ext cx="4846320" cy="1097280"/>
          </a:xfrm>
          <a:prstGeom prst="rect">
            <a:avLst/>
          </a:prstGeom>
          <a:noFill/>
          <a:ln/>
        </p:spPr>
        <p:txBody>
          <a:bodyPr wrap="square" lIns="0" tIns="0" rIns="0" bIns="0" rtlCol="0" anchor="ctr"/>
          <a:lstStyle/>
          <a:p>
            <a:pPr indent="0" marL="0">
              <a:buNone/>
            </a:pPr>
            <a:r>
              <a:rPr lang="en-US" sz="1250" b="1" dirty="0">
                <a:solidFill>
                  <a:srgbClr val="D98C1F"/>
                </a:solidFill>
                <a:latin typeface="Calibri" pitchFamily="34" charset="0"/>
                <a:ea typeface="Calibri" pitchFamily="34" charset="-122"/>
                <a:cs typeface="Calibri" pitchFamily="34" charset="-120"/>
              </a:rPr>
              <a:t>Nguyên nhân: </a:t>
            </a:r>
            <a:pPr indent="0" marL="0">
              <a:buNone/>
            </a:pPr>
            <a:r>
              <a:rPr lang="en-US" sz="1250" dirty="0">
                <a:solidFill>
                  <a:srgbClr val="1E2A32"/>
                </a:solidFill>
                <a:latin typeface="Calibri" pitchFamily="34" charset="0"/>
                <a:ea typeface="Calibri" pitchFamily="34" charset="-122"/>
                <a:cs typeface="Calibri" pitchFamily="34" charset="-120"/>
              </a:rPr>
              <a:t>Agent chưa phân biệt fact của User với fact của Assistant. Baseline cũng sai y hệt → lỗi của prompt/mô hình, không phải kiến trúc.</a:t>
            </a:r>
            <a:endParaRPr lang="en-US" sz="1250" dirty="0"/>
          </a:p>
        </p:txBody>
      </p:sp>
      <p:sp>
        <p:nvSpPr>
          <p:cNvPr id="11" name="Shape 9"/>
          <p:cNvSpPr/>
          <p:nvPr/>
        </p:nvSpPr>
        <p:spPr>
          <a:xfrm>
            <a:off x="6172200" y="1371600"/>
            <a:ext cx="5440680" cy="3977640"/>
          </a:xfrm>
          <a:prstGeom prst="roundRect">
            <a:avLst>
              <a:gd name="adj" fmla="val 1379"/>
            </a:avLst>
          </a:prstGeom>
          <a:solidFill>
            <a:srgbClr val="F3F7F8"/>
          </a:solidFill>
          <a:ln w="12700">
            <a:solidFill>
              <a:srgbClr val="F3F7F8"/>
            </a:solidFill>
            <a:prstDash val="solid"/>
          </a:ln>
        </p:spPr>
      </p:sp>
      <p:sp>
        <p:nvSpPr>
          <p:cNvPr id="12" name="Text 10"/>
          <p:cNvSpPr txBox="1"/>
          <p:nvPr/>
        </p:nvSpPr>
        <p:spPr>
          <a:xfrm>
            <a:off x="6400800" y="1508760"/>
            <a:ext cx="5029200" cy="320040"/>
          </a:xfrm>
          <a:prstGeom prst="rect">
            <a:avLst/>
          </a:prstGeom>
          <a:noFill/>
          <a:ln/>
        </p:spPr>
        <p:txBody>
          <a:bodyPr wrap="square" lIns="0" tIns="0" rIns="0" bIns="0" rtlCol="0" anchor="t"/>
          <a:lstStyle/>
          <a:p>
            <a:pPr indent="0" marL="0">
              <a:buNone/>
            </a:pPr>
            <a:r>
              <a:rPr lang="en-US" sz="1500" b="1" dirty="0">
                <a:solidFill>
                  <a:srgbClr val="12232E"/>
                </a:solidFill>
                <a:latin typeface="Calibri" pitchFamily="34" charset="0"/>
                <a:ea typeface="Calibri" pitchFamily="34" charset="-122"/>
                <a:cs typeface="Calibri" pitchFamily="34" charset="-120"/>
              </a:rPr>
              <a:t>Câu temporal 0bc8ad93</a:t>
            </a:r>
            <a:endParaRPr lang="en-US" sz="1500" dirty="0"/>
          </a:p>
        </p:txBody>
      </p:sp>
      <p:sp>
        <p:nvSpPr>
          <p:cNvPr id="13" name="Text 11"/>
          <p:cNvSpPr txBox="1"/>
          <p:nvPr/>
        </p:nvSpPr>
        <p:spPr>
          <a:xfrm>
            <a:off x="6400800" y="1874520"/>
            <a:ext cx="5029200" cy="685800"/>
          </a:xfrm>
          <a:prstGeom prst="rect">
            <a:avLst/>
          </a:prstGeom>
          <a:noFill/>
          <a:ln/>
        </p:spPr>
        <p:txBody>
          <a:bodyPr wrap="square" lIns="0" tIns="0" rIns="0" bIns="0" rtlCol="0" anchor="t"/>
          <a:lstStyle/>
          <a:p>
            <a:pPr indent="0" marL="0">
              <a:buNone/>
            </a:pPr>
            <a:r>
              <a:rPr lang="en-US" sz="1250" i="1" dirty="0">
                <a:solidFill>
                  <a:srgbClr val="5B6B73"/>
                </a:solidFill>
                <a:latin typeface="Calibri" pitchFamily="34" charset="0"/>
                <a:ea typeface="Calibri" pitchFamily="34" charset="-122"/>
                <a:cs typeface="Calibri" pitchFamily="34" charset="-120"/>
              </a:rPr>
              <a:t>“I mentioned visiting a museum two months ago. Did I visit with a friend or not?”  (ngày hỏi 11/03/2023)</a:t>
            </a:r>
            <a:endParaRPr lang="en-US" sz="1250" dirty="0"/>
          </a:p>
        </p:txBody>
      </p:sp>
      <p:sp>
        <p:nvSpPr>
          <p:cNvPr id="14" name="Text 12"/>
          <p:cNvSpPr txBox="1"/>
          <p:nvPr/>
        </p:nvSpPr>
        <p:spPr>
          <a:xfrm>
            <a:off x="6400800" y="2606040"/>
            <a:ext cx="5029200" cy="594360"/>
          </a:xfrm>
          <a:prstGeom prst="rect">
            <a:avLst/>
          </a:prstGeom>
          <a:noFill/>
          <a:ln/>
        </p:spPr>
        <p:txBody>
          <a:bodyPr wrap="square" lIns="0" tIns="0" rIns="0" bIns="0" rtlCol="0" anchor="t"/>
          <a:lstStyle/>
          <a:p>
            <a:pPr indent="0" marL="0">
              <a:buNone/>
            </a:pPr>
            <a:r>
              <a:rPr lang="en-US" sz="1250" b="1" dirty="0">
                <a:solidFill>
                  <a:srgbClr val="1F7A4D"/>
                </a:solidFill>
                <a:latin typeface="Calibri" pitchFamily="34" charset="0"/>
                <a:ea typeface="Calibri" pitchFamily="34" charset="-122"/>
                <a:cs typeface="Calibri" pitchFamily="34" charset="-120"/>
              </a:rPr>
              <a:t>Đúng ra: </a:t>
            </a:r>
            <a:pPr indent="0" marL="0">
              <a:buNone/>
            </a:pPr>
            <a:r>
              <a:rPr lang="en-US" sz="1250" dirty="0">
                <a:solidFill>
                  <a:srgbClr val="1E2A32"/>
                </a:solidFill>
                <a:latin typeface="Calibri" pitchFamily="34" charset="0"/>
                <a:ea typeface="Calibri" pitchFamily="34" charset="-122"/>
                <a:cs typeface="Calibri" pitchFamily="34" charset="-120"/>
              </a:rPr>
              <a:t>Hai tháng trước = 11/01 → buổi nghe giảng ở History Museum, không đi cùng bạn → “No”.</a:t>
            </a:r>
            <a:endParaRPr lang="en-US" sz="1250" dirty="0"/>
          </a:p>
        </p:txBody>
      </p:sp>
      <p:sp>
        <p:nvSpPr>
          <p:cNvPr id="15" name="Text 13"/>
          <p:cNvSpPr txBox="1"/>
          <p:nvPr/>
        </p:nvSpPr>
        <p:spPr>
          <a:xfrm>
            <a:off x="6400800" y="3200400"/>
            <a:ext cx="5029200" cy="731520"/>
          </a:xfrm>
          <a:prstGeom prst="rect">
            <a:avLst/>
          </a:prstGeom>
          <a:noFill/>
          <a:ln/>
        </p:spPr>
        <p:txBody>
          <a:bodyPr wrap="square" lIns="0" tIns="0" rIns="0" bIns="0" rtlCol="0" anchor="t"/>
          <a:lstStyle/>
          <a:p>
            <a:pPr indent="0" marL="0">
              <a:buNone/>
            </a:pPr>
            <a:r>
              <a:rPr lang="en-US" sz="1250" b="1" dirty="0">
                <a:solidFill>
                  <a:srgbClr val="B3261E"/>
                </a:solidFill>
                <a:latin typeface="Calibri" pitchFamily="34" charset="0"/>
                <a:ea typeface="Calibri" pitchFamily="34" charset="-122"/>
                <a:cs typeface="Calibri" pitchFamily="34" charset="-120"/>
              </a:rPr>
              <a:t>Hệ trả lời: </a:t>
            </a:r>
            <a:pPr indent="0" marL="0">
              <a:buNone/>
            </a:pPr>
            <a:r>
              <a:rPr lang="en-US" sz="1250" dirty="0">
                <a:solidFill>
                  <a:srgbClr val="1E2A32"/>
                </a:solidFill>
                <a:latin typeface="Calibri" pitchFamily="34" charset="0"/>
                <a:ea typeface="Calibri" pitchFamily="34" charset="-122"/>
                <a:cs typeface="Calibri" pitchFamily="34" charset="-120"/>
              </a:rPr>
              <a:t>chọn lần gần nhất (17/02, đi cùng bố) và tự mâu thuẫn: “Yes… with your dad”.</a:t>
            </a:r>
            <a:endParaRPr lang="en-US" sz="1250" dirty="0"/>
          </a:p>
        </p:txBody>
      </p:sp>
      <p:sp>
        <p:nvSpPr>
          <p:cNvPr id="16" name="Shape 14"/>
          <p:cNvSpPr/>
          <p:nvPr/>
        </p:nvSpPr>
        <p:spPr>
          <a:xfrm>
            <a:off x="6355080" y="4023360"/>
            <a:ext cx="5074920" cy="1188720"/>
          </a:xfrm>
          <a:prstGeom prst="roundRect">
            <a:avLst>
              <a:gd name="adj" fmla="val 4615"/>
            </a:avLst>
          </a:prstGeom>
          <a:solidFill>
            <a:srgbClr val="FFFFFF"/>
          </a:solidFill>
          <a:ln w="9525">
            <a:solidFill>
              <a:srgbClr val="BFD8DD"/>
            </a:solidFill>
            <a:prstDash val="solid"/>
          </a:ln>
        </p:spPr>
      </p:sp>
      <p:sp>
        <p:nvSpPr>
          <p:cNvPr id="17" name="Text 15"/>
          <p:cNvSpPr txBox="1"/>
          <p:nvPr/>
        </p:nvSpPr>
        <p:spPr>
          <a:xfrm>
            <a:off x="6492240" y="4069080"/>
            <a:ext cx="4846320" cy="1097280"/>
          </a:xfrm>
          <a:prstGeom prst="rect">
            <a:avLst/>
          </a:prstGeom>
          <a:noFill/>
          <a:ln/>
        </p:spPr>
        <p:txBody>
          <a:bodyPr wrap="square" lIns="0" tIns="0" rIns="0" bIns="0" rtlCol="0" anchor="ctr"/>
          <a:lstStyle/>
          <a:p>
            <a:pPr indent="0" marL="0">
              <a:buNone/>
            </a:pPr>
            <a:r>
              <a:rPr lang="en-US" sz="1250" b="1" dirty="0">
                <a:solidFill>
                  <a:srgbClr val="D98C1F"/>
                </a:solidFill>
                <a:latin typeface="Calibri" pitchFamily="34" charset="0"/>
                <a:ea typeface="Calibri" pitchFamily="34" charset="-122"/>
                <a:cs typeface="Calibri" pitchFamily="34" charset="-120"/>
              </a:rPr>
              <a:t>Nguyên nhân: </a:t>
            </a:r>
            <a:pPr indent="0" marL="0">
              <a:buNone/>
            </a:pPr>
            <a:r>
              <a:rPr lang="en-US" sz="1250" dirty="0">
                <a:solidFill>
                  <a:srgbClr val="1E2A32"/>
                </a:solidFill>
                <a:latin typeface="Calibri" pitchFamily="34" charset="0"/>
                <a:ea typeface="Calibri" pitchFamily="34" charset="-122"/>
                <a:cs typeface="Calibri" pitchFamily="34" charset="-120"/>
              </a:rPr>
              <a:t>(1) Trích xuất làm mất chi tiết “History Museum” và “with my dad”. (2) Agent không quy đổi “hai tháng trước” thành ngày cụ thể.</a:t>
            </a:r>
            <a:endParaRPr lang="en-US" sz="1250" dirty="0"/>
          </a:p>
        </p:txBody>
      </p:sp>
      <p:sp>
        <p:nvSpPr>
          <p:cNvPr id="18" name="Shape 16"/>
          <p:cNvSpPr/>
          <p:nvPr/>
        </p:nvSpPr>
        <p:spPr>
          <a:xfrm>
            <a:off x="548640" y="5532120"/>
            <a:ext cx="11064240" cy="685800"/>
          </a:xfrm>
          <a:prstGeom prst="roundRect">
            <a:avLst>
              <a:gd name="adj" fmla="val 8000"/>
            </a:avLst>
          </a:prstGeom>
          <a:solidFill>
            <a:srgbClr val="E6F0F2"/>
          </a:solidFill>
          <a:ln w="12700">
            <a:solidFill>
              <a:srgbClr val="E6F0F2"/>
            </a:solidFill>
            <a:prstDash val="solid"/>
          </a:ln>
        </p:spPr>
      </p:sp>
      <p:sp>
        <p:nvSpPr>
          <p:cNvPr id="19" name="Text 17"/>
          <p:cNvSpPr txBox="1"/>
          <p:nvPr/>
        </p:nvSpPr>
        <p:spPr>
          <a:xfrm>
            <a:off x="777240" y="5577840"/>
            <a:ext cx="10607040" cy="594360"/>
          </a:xfrm>
          <a:prstGeom prst="rect">
            <a:avLst/>
          </a:prstGeom>
          <a:noFill/>
          <a:ln/>
        </p:spPr>
        <p:txBody>
          <a:bodyPr wrap="square" lIns="0" tIns="0" rIns="0" bIns="0" rtlCol="0" anchor="ctr"/>
          <a:lstStyle/>
          <a:p>
            <a:pPr indent="0" marL="0">
              <a:buNone/>
            </a:pPr>
            <a:r>
              <a:rPr lang="en-US" sz="1150" b="1" dirty="0">
                <a:solidFill>
                  <a:srgbClr val="1E2A32"/>
                </a:solidFill>
                <a:latin typeface="Calibri" pitchFamily="34" charset="0"/>
                <a:ea typeface="Calibri" pitchFamily="34" charset="-122"/>
                <a:cs typeface="Calibri" pitchFamily="34" charset="-120"/>
              </a:rPr>
              <a:t>Đối chiếu nhãn chấm: </a:t>
            </a:r>
            <a:pPr indent="0" marL="0">
              <a:buNone/>
            </a:pPr>
            <a:r>
              <a:rPr lang="en-US" sz="1150" dirty="0">
                <a:solidFill>
                  <a:srgbClr val="1E2A32"/>
                </a:solidFill>
                <a:latin typeface="Calibri" pitchFamily="34" charset="0"/>
                <a:ea typeface="Calibri" pitchFamily="34" charset="-122"/>
                <a:cs typeface="Calibri" pitchFamily="34" charset="-120"/>
              </a:rPr>
              <a:t>chấm lại độc lập cả 20 câu bằng một mô hình khác (không phải Luna) → trùng 20/20 với nhãn của judge. Nhóm sẽ chấm tay để có đối chiếu của người.</a:t>
            </a:r>
            <a:endParaRPr lang="en-US" sz="1150" dirty="0"/>
          </a:p>
        </p:txBody>
      </p:sp>
      <p:sp>
        <p:nvSpPr>
          <p:cNvPr id="20" name="Text 18"/>
          <p:cNvSpPr txBox="1"/>
          <p:nvPr/>
        </p:nvSpPr>
        <p:spPr>
          <a:xfrm>
            <a:off x="548640" y="6419088"/>
            <a:ext cx="11064240" cy="274320"/>
          </a:xfrm>
          <a:prstGeom prst="rect">
            <a:avLst/>
          </a:prstGeom>
          <a:noFill/>
          <a:ln/>
        </p:spPr>
        <p:txBody>
          <a:bodyPr wrap="square" lIns="0" tIns="0" rIns="0" bIns="0" rtlCol="0" anchor="t"/>
          <a:lstStyle/>
          <a:p>
            <a:pPr indent="0" marL="0">
              <a:buNone/>
            </a:pPr>
            <a:r>
              <a:rPr lang="en-US" sz="900" i="1" dirty="0">
                <a:solidFill>
                  <a:srgbClr val="5B6B73"/>
                </a:solidFill>
                <a:latin typeface="Calibri" pitchFamily="34" charset="0"/>
                <a:ea typeface="Calibri" pitchFamily="34" charset="-122"/>
                <a:cs typeface="Calibri" pitchFamily="34" charset="-120"/>
              </a:rPr>
              <a:t>Bộ phân loại lỗi tự động xếp câu temporal là “reasoning” vì chỉ kiểm tra có ≥1 fact từ phiên bằng chứng — chưa bắt được fact then chốt bị thiếu. Sẽ sửa bằng nhãn has_answer theo lượt.</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100" b="1" spc="200" kern="0" dirty="0">
                <a:solidFill>
                  <a:srgbClr val="D98C1F"/>
                </a:solidFill>
                <a:latin typeface="Calibri" pitchFamily="34" charset="0"/>
                <a:ea typeface="Calibri" pitchFamily="34" charset="-122"/>
                <a:cs typeface="Calibri" pitchFamily="34" charset="-120"/>
              </a:rPr>
              <a:t>TỔNG KẾT</a:t>
            </a:r>
            <a:endParaRPr lang="en-US" sz="1100" dirty="0"/>
          </a:p>
        </p:txBody>
      </p:sp>
      <p:sp>
        <p:nvSpPr>
          <p:cNvPr id="3" name="Text 1"/>
          <p:cNvSpPr txBox="1"/>
          <p:nvPr/>
        </p:nvSpPr>
        <p:spPr>
          <a:xfrm>
            <a:off x="548640" y="621792"/>
            <a:ext cx="11064240" cy="566928"/>
          </a:xfrm>
          <a:prstGeom prst="rect">
            <a:avLst/>
          </a:prstGeom>
          <a:noFill/>
          <a:ln/>
        </p:spPr>
        <p:txBody>
          <a:bodyPr wrap="square" lIns="0" tIns="0" rIns="0" bIns="0" rtlCol="0" anchor="ctr"/>
          <a:lstStyle/>
          <a:p>
            <a:pPr indent="0" marL="0">
              <a:buNone/>
            </a:pPr>
            <a:r>
              <a:rPr lang="en-US" sz="2800" b="1" dirty="0">
                <a:solidFill>
                  <a:srgbClr val="12232E"/>
                </a:solidFill>
                <a:latin typeface="Cambria" pitchFamily="34" charset="0"/>
                <a:ea typeface="Cambria" pitchFamily="34" charset="-122"/>
                <a:cs typeface="Cambria" pitchFamily="34" charset="-120"/>
              </a:rPr>
              <a:t>Hạn chế hiện tại và kế hoạch tuần tới</a:t>
            </a:r>
            <a:endParaRPr lang="en-US" sz="2800" dirty="0"/>
          </a:p>
        </p:txBody>
      </p:sp>
      <p:sp>
        <p:nvSpPr>
          <p:cNvPr id="4" name="Text 2"/>
          <p:cNvSpPr txBox="1"/>
          <p:nvPr/>
        </p:nvSpPr>
        <p:spPr>
          <a:xfrm>
            <a:off x="548640" y="1371600"/>
            <a:ext cx="5303520" cy="274320"/>
          </a:xfrm>
          <a:prstGeom prst="rect">
            <a:avLst/>
          </a:prstGeom>
          <a:noFill/>
          <a:ln/>
        </p:spPr>
        <p:txBody>
          <a:bodyPr wrap="square" lIns="0" tIns="0" rIns="0" bIns="0" rtlCol="0" anchor="t"/>
          <a:lstStyle/>
          <a:p>
            <a:pPr indent="0" marL="0">
              <a:buNone/>
            </a:pPr>
            <a:r>
              <a:rPr lang="en-US" sz="1100" b="1" dirty="0">
                <a:solidFill>
                  <a:srgbClr val="B3261E"/>
                </a:solidFill>
                <a:latin typeface="Calibri" pitchFamily="34" charset="0"/>
                <a:ea typeface="Calibri" pitchFamily="34" charset="-122"/>
                <a:cs typeface="Calibri" pitchFamily="34" charset="-120"/>
              </a:rPr>
              <a:t>HẠN CHẾ — NÊU RÕ KHI ĐỌC SỐ</a:t>
            </a:r>
            <a:endParaRPr lang="en-US" sz="1100" dirty="0"/>
          </a:p>
        </p:txBody>
      </p:sp>
      <p:sp>
        <p:nvSpPr>
          <p:cNvPr id="5" name="Shape 3"/>
          <p:cNvSpPr/>
          <p:nvPr/>
        </p:nvSpPr>
        <p:spPr>
          <a:xfrm>
            <a:off x="548640" y="1737360"/>
            <a:ext cx="5303520" cy="1005840"/>
          </a:xfrm>
          <a:prstGeom prst="roundRect">
            <a:avLst>
              <a:gd name="adj" fmla="val 5455"/>
            </a:avLst>
          </a:prstGeom>
          <a:solidFill>
            <a:srgbClr val="FBE9E7"/>
          </a:solidFill>
          <a:ln w="12700">
            <a:solidFill>
              <a:srgbClr val="FBE9E7"/>
            </a:solidFill>
            <a:prstDash val="solid"/>
          </a:ln>
        </p:spPr>
      </p:sp>
      <p:sp>
        <p:nvSpPr>
          <p:cNvPr id="6" name="Text 4"/>
          <p:cNvSpPr txBox="1"/>
          <p:nvPr/>
        </p:nvSpPr>
        <p:spPr>
          <a:xfrm>
            <a:off x="777240" y="1847088"/>
            <a:ext cx="4937760" cy="320040"/>
          </a:xfrm>
          <a:prstGeom prst="rect">
            <a:avLst/>
          </a:prstGeom>
          <a:noFill/>
          <a:ln/>
        </p:spPr>
        <p:txBody>
          <a:bodyPr wrap="square" lIns="0" tIns="0" rIns="0" bIns="0" rtlCol="0" anchor="t"/>
          <a:lstStyle/>
          <a:p>
            <a:pPr indent="0" marL="0">
              <a:buNone/>
            </a:pPr>
            <a:r>
              <a:rPr lang="en-US" sz="1350" b="1" dirty="0">
                <a:solidFill>
                  <a:srgbClr val="12232E"/>
                </a:solidFill>
                <a:latin typeface="Calibri" pitchFamily="34" charset="0"/>
                <a:ea typeface="Calibri" pitchFamily="34" charset="-122"/>
                <a:cs typeface="Calibri" pitchFamily="34" charset="-120"/>
              </a:rPr>
              <a:t>Mẫu nhỏ, lệch loại</a:t>
            </a:r>
            <a:endParaRPr lang="en-US" sz="1350" dirty="0"/>
          </a:p>
        </p:txBody>
      </p:sp>
      <p:sp>
        <p:nvSpPr>
          <p:cNvPr id="7" name="Text 5"/>
          <p:cNvSpPr txBox="1"/>
          <p:nvPr/>
        </p:nvSpPr>
        <p:spPr>
          <a:xfrm>
            <a:off x="777240" y="2194560"/>
            <a:ext cx="4937760" cy="502920"/>
          </a:xfrm>
          <a:prstGeom prst="rect">
            <a:avLst/>
          </a:prstGeom>
          <a:noFill/>
          <a:ln/>
        </p:spPr>
        <p:txBody>
          <a:bodyPr wrap="square" lIns="0" tIns="0" rIns="0" bIns="0" rtlCol="0" anchor="t"/>
          <a:lstStyle/>
          <a:p>
            <a:pPr indent="0" marL="0">
              <a:buNone/>
            </a:pPr>
            <a:r>
              <a:rPr lang="en-US" sz="1150" dirty="0">
                <a:solidFill>
                  <a:srgbClr val="1E2A32"/>
                </a:solidFill>
                <a:latin typeface="Calibri" pitchFamily="34" charset="0"/>
                <a:ea typeface="Calibri" pitchFamily="34" charset="-122"/>
                <a:cs typeface="Calibri" pitchFamily="34" charset="-120"/>
              </a:rPr>
              <a:t>20 câu, temporal chỉ 1 câu — chưa đủ để kết luận theo loại.</a:t>
            </a:r>
            <a:endParaRPr lang="en-US" sz="1150" dirty="0"/>
          </a:p>
        </p:txBody>
      </p:sp>
      <p:sp>
        <p:nvSpPr>
          <p:cNvPr id="8" name="Shape 6"/>
          <p:cNvSpPr/>
          <p:nvPr/>
        </p:nvSpPr>
        <p:spPr>
          <a:xfrm>
            <a:off x="548640" y="2926080"/>
            <a:ext cx="5303520" cy="1005840"/>
          </a:xfrm>
          <a:prstGeom prst="roundRect">
            <a:avLst>
              <a:gd name="adj" fmla="val 5455"/>
            </a:avLst>
          </a:prstGeom>
          <a:solidFill>
            <a:srgbClr val="FBE9E7"/>
          </a:solidFill>
          <a:ln w="12700">
            <a:solidFill>
              <a:srgbClr val="FBE9E7"/>
            </a:solidFill>
            <a:prstDash val="solid"/>
          </a:ln>
        </p:spPr>
      </p:sp>
      <p:sp>
        <p:nvSpPr>
          <p:cNvPr id="9" name="Text 7"/>
          <p:cNvSpPr txBox="1"/>
          <p:nvPr/>
        </p:nvSpPr>
        <p:spPr>
          <a:xfrm>
            <a:off x="777240" y="3035808"/>
            <a:ext cx="4937760" cy="320040"/>
          </a:xfrm>
          <a:prstGeom prst="rect">
            <a:avLst/>
          </a:prstGeom>
          <a:noFill/>
          <a:ln/>
        </p:spPr>
        <p:txBody>
          <a:bodyPr wrap="square" lIns="0" tIns="0" rIns="0" bIns="0" rtlCol="0" anchor="t"/>
          <a:lstStyle/>
          <a:p>
            <a:pPr indent="0" marL="0">
              <a:buNone/>
            </a:pPr>
            <a:r>
              <a:rPr lang="en-US" sz="1350" b="1" dirty="0">
                <a:solidFill>
                  <a:srgbClr val="12232E"/>
                </a:solidFill>
                <a:latin typeface="Calibri" pitchFamily="34" charset="0"/>
                <a:ea typeface="Calibri" pitchFamily="34" charset="-122"/>
                <a:cs typeface="Calibri" pitchFamily="34" charset="-120"/>
              </a:rPr>
              <a:t>Bộ lọc biết trước câu hỏi</a:t>
            </a:r>
            <a:endParaRPr lang="en-US" sz="1350" dirty="0"/>
          </a:p>
        </p:txBody>
      </p:sp>
      <p:sp>
        <p:nvSpPr>
          <p:cNvPr id="10" name="Text 8"/>
          <p:cNvSpPr txBox="1"/>
          <p:nvPr/>
        </p:nvSpPr>
        <p:spPr>
          <a:xfrm>
            <a:off x="777240" y="3383280"/>
            <a:ext cx="4937760" cy="502920"/>
          </a:xfrm>
          <a:prstGeom prst="rect">
            <a:avLst/>
          </a:prstGeom>
          <a:noFill/>
          <a:ln/>
        </p:spPr>
        <p:txBody>
          <a:bodyPr wrap="square" lIns="0" tIns="0" rIns="0" bIns="0" rtlCol="0" anchor="t"/>
          <a:lstStyle/>
          <a:p>
            <a:pPr indent="0" marL="0">
              <a:buNone/>
            </a:pPr>
            <a:r>
              <a:rPr lang="en-US" sz="1150" dirty="0">
                <a:solidFill>
                  <a:srgbClr val="1E2A32"/>
                </a:solidFill>
                <a:latin typeface="Calibri" pitchFamily="34" charset="0"/>
                <a:ea typeface="Calibri" pitchFamily="34" charset="-122"/>
                <a:cs typeface="Calibri" pitchFamily="34" charset="-120"/>
              </a:rPr>
              <a:t>Giống APEX-MEM trên LongMemEval, nhưng trợ lý thật không biết trước người dùng sẽ hỏi gì.</a:t>
            </a:r>
            <a:endParaRPr lang="en-US" sz="1150" dirty="0"/>
          </a:p>
        </p:txBody>
      </p:sp>
      <p:sp>
        <p:nvSpPr>
          <p:cNvPr id="11" name="Shape 9"/>
          <p:cNvSpPr/>
          <p:nvPr/>
        </p:nvSpPr>
        <p:spPr>
          <a:xfrm>
            <a:off x="548640" y="4114800"/>
            <a:ext cx="5303520" cy="1005840"/>
          </a:xfrm>
          <a:prstGeom prst="roundRect">
            <a:avLst>
              <a:gd name="adj" fmla="val 5455"/>
            </a:avLst>
          </a:prstGeom>
          <a:solidFill>
            <a:srgbClr val="FBE9E7"/>
          </a:solidFill>
          <a:ln w="12700">
            <a:solidFill>
              <a:srgbClr val="FBE9E7"/>
            </a:solidFill>
            <a:prstDash val="solid"/>
          </a:ln>
        </p:spPr>
      </p:sp>
      <p:sp>
        <p:nvSpPr>
          <p:cNvPr id="12" name="Text 10"/>
          <p:cNvSpPr txBox="1"/>
          <p:nvPr/>
        </p:nvSpPr>
        <p:spPr>
          <a:xfrm>
            <a:off x="777240" y="4224528"/>
            <a:ext cx="4937760" cy="320040"/>
          </a:xfrm>
          <a:prstGeom prst="rect">
            <a:avLst/>
          </a:prstGeom>
          <a:noFill/>
          <a:ln/>
        </p:spPr>
        <p:txBody>
          <a:bodyPr wrap="square" lIns="0" tIns="0" rIns="0" bIns="0" rtlCol="0" anchor="t"/>
          <a:lstStyle/>
          <a:p>
            <a:pPr indent="0" marL="0">
              <a:buNone/>
            </a:pPr>
            <a:r>
              <a:rPr lang="en-US" sz="1350" b="1" dirty="0">
                <a:solidFill>
                  <a:srgbClr val="12232E"/>
                </a:solidFill>
                <a:latin typeface="Calibri" pitchFamily="34" charset="0"/>
                <a:ea typeface="Calibri" pitchFamily="34" charset="-122"/>
                <a:cs typeface="Calibri" pitchFamily="34" charset="-120"/>
              </a:rPr>
              <a:t>Judge trùng mô hình trả lời</a:t>
            </a:r>
            <a:endParaRPr lang="en-US" sz="1350" dirty="0"/>
          </a:p>
        </p:txBody>
      </p:sp>
      <p:sp>
        <p:nvSpPr>
          <p:cNvPr id="13" name="Text 11"/>
          <p:cNvSpPr txBox="1"/>
          <p:nvPr/>
        </p:nvSpPr>
        <p:spPr>
          <a:xfrm>
            <a:off x="777240" y="4572000"/>
            <a:ext cx="4937760" cy="502920"/>
          </a:xfrm>
          <a:prstGeom prst="rect">
            <a:avLst/>
          </a:prstGeom>
          <a:noFill/>
          <a:ln/>
        </p:spPr>
        <p:txBody>
          <a:bodyPr wrap="square" lIns="0" tIns="0" rIns="0" bIns="0" rtlCol="0" anchor="t"/>
          <a:lstStyle/>
          <a:p>
            <a:pPr indent="0" marL="0">
              <a:buNone/>
            </a:pPr>
            <a:r>
              <a:rPr lang="en-US" sz="1150" dirty="0">
                <a:solidFill>
                  <a:srgbClr val="1E2A32"/>
                </a:solidFill>
                <a:latin typeface="Calibri" pitchFamily="34" charset="0"/>
                <a:ea typeface="Calibri" pitchFamily="34" charset="-122"/>
                <a:cs typeface="Calibri" pitchFamily="34" charset="-120"/>
              </a:rPr>
              <a:t>Luna tự chấm bài của mình; mới đối chiếu bằng mô hình khác, chưa chấm tay.</a:t>
            </a:r>
            <a:endParaRPr lang="en-US" sz="1150" dirty="0"/>
          </a:p>
        </p:txBody>
      </p:sp>
      <p:sp>
        <p:nvSpPr>
          <p:cNvPr id="14" name="Text 12"/>
          <p:cNvSpPr txBox="1"/>
          <p:nvPr/>
        </p:nvSpPr>
        <p:spPr>
          <a:xfrm>
            <a:off x="6309360" y="1371600"/>
            <a:ext cx="5303520" cy="274320"/>
          </a:xfrm>
          <a:prstGeom prst="rect">
            <a:avLst/>
          </a:prstGeom>
          <a:noFill/>
          <a:ln/>
        </p:spPr>
        <p:txBody>
          <a:bodyPr wrap="square" lIns="0" tIns="0" rIns="0" bIns="0" rtlCol="0" anchor="t"/>
          <a:lstStyle/>
          <a:p>
            <a:pPr indent="0" marL="0">
              <a:buNone/>
            </a:pPr>
            <a:r>
              <a:rPr lang="en-US" sz="1100" b="1" dirty="0">
                <a:solidFill>
                  <a:srgbClr val="0F5C6B"/>
                </a:solidFill>
                <a:latin typeface="Calibri" pitchFamily="34" charset="0"/>
                <a:ea typeface="Calibri" pitchFamily="34" charset="-122"/>
                <a:cs typeface="Calibri" pitchFamily="34" charset="-120"/>
              </a:rPr>
              <a:t>KẾ HOẠCH TUẦN TỚI</a:t>
            </a:r>
            <a:endParaRPr lang="en-US" sz="1100" dirty="0"/>
          </a:p>
        </p:txBody>
      </p:sp>
      <p:sp>
        <p:nvSpPr>
          <p:cNvPr id="15" name="Shape 13"/>
          <p:cNvSpPr/>
          <p:nvPr/>
        </p:nvSpPr>
        <p:spPr>
          <a:xfrm>
            <a:off x="6309360" y="1810512"/>
            <a:ext cx="384048" cy="384048"/>
          </a:xfrm>
          <a:prstGeom prst="ellipse">
            <a:avLst/>
          </a:prstGeom>
          <a:solidFill>
            <a:srgbClr val="0F5C6B"/>
          </a:solidFill>
          <a:ln w="12700">
            <a:solidFill>
              <a:srgbClr val="0F5C6B"/>
            </a:solidFill>
            <a:prstDash val="solid"/>
          </a:ln>
        </p:spPr>
      </p:sp>
      <p:sp>
        <p:nvSpPr>
          <p:cNvPr id="16" name="Text 14"/>
          <p:cNvSpPr txBox="1"/>
          <p:nvPr/>
        </p:nvSpPr>
        <p:spPr>
          <a:xfrm>
            <a:off x="6309360" y="18105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7" name="Text 15"/>
          <p:cNvSpPr txBox="1"/>
          <p:nvPr/>
        </p:nvSpPr>
        <p:spPr>
          <a:xfrm>
            <a:off x="6812280" y="1737360"/>
            <a:ext cx="4800600" cy="320040"/>
          </a:xfrm>
          <a:prstGeom prst="rect">
            <a:avLst/>
          </a:prstGeom>
          <a:noFill/>
          <a:ln/>
        </p:spPr>
        <p:txBody>
          <a:bodyPr wrap="square" lIns="0" tIns="0" rIns="0" bIns="0" rtlCol="0" anchor="t"/>
          <a:lstStyle/>
          <a:p>
            <a:pPr indent="0" marL="0">
              <a:buNone/>
            </a:pPr>
            <a:r>
              <a:rPr lang="en-US" sz="1350" b="1" dirty="0">
                <a:solidFill>
                  <a:srgbClr val="12232E"/>
                </a:solidFill>
                <a:latin typeface="Calibri" pitchFamily="34" charset="0"/>
                <a:ea typeface="Calibri" pitchFamily="34" charset="-122"/>
                <a:cs typeface="Calibri" pitchFamily="34" charset="-120"/>
              </a:rPr>
              <a:t>Sửa prompt agent (rẻ, không dựng lại đồ thị)</a:t>
            </a:r>
            <a:endParaRPr lang="en-US" sz="1350" dirty="0"/>
          </a:p>
        </p:txBody>
      </p:sp>
      <p:sp>
        <p:nvSpPr>
          <p:cNvPr id="18" name="Text 16"/>
          <p:cNvSpPr txBox="1"/>
          <p:nvPr/>
        </p:nvSpPr>
        <p:spPr>
          <a:xfrm>
            <a:off x="6812280" y="2084832"/>
            <a:ext cx="4800600" cy="54864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Phân biệt fact của User / Assistant cho câu _abs; Python tính sẵn mốc “1 tuần / 1 tháng / 2 tháng trước” đưa vào prompt.</a:t>
            </a:r>
            <a:endParaRPr lang="en-US" sz="1150" dirty="0"/>
          </a:p>
        </p:txBody>
      </p:sp>
      <p:sp>
        <p:nvSpPr>
          <p:cNvPr id="19" name="Shape 17"/>
          <p:cNvSpPr/>
          <p:nvPr/>
        </p:nvSpPr>
        <p:spPr>
          <a:xfrm>
            <a:off x="6309360" y="2743200"/>
            <a:ext cx="384048" cy="384048"/>
          </a:xfrm>
          <a:prstGeom prst="ellipse">
            <a:avLst/>
          </a:prstGeom>
          <a:solidFill>
            <a:srgbClr val="0F5C6B"/>
          </a:solidFill>
          <a:ln w="12700">
            <a:solidFill>
              <a:srgbClr val="0F5C6B"/>
            </a:solidFill>
            <a:prstDash val="solid"/>
          </a:ln>
        </p:spPr>
      </p:sp>
      <p:sp>
        <p:nvSpPr>
          <p:cNvPr id="20" name="Text 18"/>
          <p:cNvSpPr txBox="1"/>
          <p:nvPr/>
        </p:nvSpPr>
        <p:spPr>
          <a:xfrm>
            <a:off x="6309360" y="27432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1" name="Text 19"/>
          <p:cNvSpPr txBox="1"/>
          <p:nvPr/>
        </p:nvSpPr>
        <p:spPr>
          <a:xfrm>
            <a:off x="6812280" y="2670048"/>
            <a:ext cx="4800600" cy="320040"/>
          </a:xfrm>
          <a:prstGeom prst="rect">
            <a:avLst/>
          </a:prstGeom>
          <a:noFill/>
          <a:ln/>
        </p:spPr>
        <p:txBody>
          <a:bodyPr wrap="square" lIns="0" tIns="0" rIns="0" bIns="0" rtlCol="0" anchor="t"/>
          <a:lstStyle/>
          <a:p>
            <a:pPr indent="0" marL="0">
              <a:buNone/>
            </a:pPr>
            <a:r>
              <a:rPr lang="en-US" sz="1350" b="1" dirty="0">
                <a:solidFill>
                  <a:srgbClr val="12232E"/>
                </a:solidFill>
                <a:latin typeface="Calibri" pitchFamily="34" charset="0"/>
                <a:ea typeface="Calibri" pitchFamily="34" charset="-122"/>
                <a:cs typeface="Calibri" pitchFamily="34" charset="-120"/>
              </a:rPr>
              <a:t>Chạy thêm 10 câu temporal + mở rộng dev</a:t>
            </a:r>
            <a:endParaRPr lang="en-US" sz="1350" dirty="0"/>
          </a:p>
        </p:txBody>
      </p:sp>
      <p:sp>
        <p:nvSpPr>
          <p:cNvPr id="22" name="Text 20"/>
          <p:cNvSpPr txBox="1"/>
          <p:nvPr/>
        </p:nvSpPr>
        <p:spPr>
          <a:xfrm>
            <a:off x="6812280" y="3017520"/>
            <a:ext cx="4800600" cy="54864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Đo tác dụng của bản sửa trên câu KHÁC nhóm câu đã soi lỗi, tránh tối ưu theo 20 câu.</a:t>
            </a:r>
            <a:endParaRPr lang="en-US" sz="1150" dirty="0"/>
          </a:p>
        </p:txBody>
      </p:sp>
      <p:sp>
        <p:nvSpPr>
          <p:cNvPr id="23" name="Shape 21"/>
          <p:cNvSpPr/>
          <p:nvPr/>
        </p:nvSpPr>
        <p:spPr>
          <a:xfrm>
            <a:off x="6309360" y="3675888"/>
            <a:ext cx="384048" cy="384048"/>
          </a:xfrm>
          <a:prstGeom prst="ellipse">
            <a:avLst/>
          </a:prstGeom>
          <a:solidFill>
            <a:srgbClr val="0F5C6B"/>
          </a:solidFill>
          <a:ln w="12700">
            <a:solidFill>
              <a:srgbClr val="0F5C6B"/>
            </a:solidFill>
            <a:prstDash val="solid"/>
          </a:ln>
        </p:spPr>
      </p:sp>
      <p:sp>
        <p:nvSpPr>
          <p:cNvPr id="24" name="Text 22"/>
          <p:cNvSpPr txBox="1"/>
          <p:nvPr/>
        </p:nvSpPr>
        <p:spPr>
          <a:xfrm>
            <a:off x="6309360" y="36758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5" name="Text 23"/>
          <p:cNvSpPr txBox="1"/>
          <p:nvPr/>
        </p:nvSpPr>
        <p:spPr>
          <a:xfrm>
            <a:off x="6812280" y="3602736"/>
            <a:ext cx="4800600" cy="320040"/>
          </a:xfrm>
          <a:prstGeom prst="rect">
            <a:avLst/>
          </a:prstGeom>
          <a:noFill/>
          <a:ln/>
        </p:spPr>
        <p:txBody>
          <a:bodyPr wrap="square" lIns="0" tIns="0" rIns="0" bIns="0" rtlCol="0" anchor="t"/>
          <a:lstStyle/>
          <a:p>
            <a:pPr indent="0" marL="0">
              <a:buNone/>
            </a:pPr>
            <a:r>
              <a:rPr lang="en-US" sz="1350" b="1" dirty="0">
                <a:solidFill>
                  <a:srgbClr val="12232E"/>
                </a:solidFill>
                <a:latin typeface="Calibri" pitchFamily="34" charset="0"/>
                <a:ea typeface="Calibri" pitchFamily="34" charset="-122"/>
                <a:cs typeface="Calibri" pitchFamily="34" charset="-120"/>
              </a:rPr>
              <a:t>Thí nghiệm không lọc phiên</a:t>
            </a:r>
            <a:endParaRPr lang="en-US" sz="1350" dirty="0"/>
          </a:p>
        </p:txBody>
      </p:sp>
      <p:sp>
        <p:nvSpPr>
          <p:cNvPr id="26" name="Text 24"/>
          <p:cNvSpPr txBox="1"/>
          <p:nvPr/>
        </p:nvSpPr>
        <p:spPr>
          <a:xfrm>
            <a:off x="6812280" y="3950208"/>
            <a:ext cx="4800600" cy="54864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Dựng từ toàn bộ ~48 phiên trên vài câu: bộ lọc có đang “gánh” điểm số không.</a:t>
            </a:r>
            <a:endParaRPr lang="en-US" sz="1150" dirty="0"/>
          </a:p>
        </p:txBody>
      </p:sp>
      <p:sp>
        <p:nvSpPr>
          <p:cNvPr id="27" name="Shape 25"/>
          <p:cNvSpPr/>
          <p:nvPr/>
        </p:nvSpPr>
        <p:spPr>
          <a:xfrm>
            <a:off x="6309360" y="4608576"/>
            <a:ext cx="384048" cy="384048"/>
          </a:xfrm>
          <a:prstGeom prst="ellipse">
            <a:avLst/>
          </a:prstGeom>
          <a:solidFill>
            <a:srgbClr val="0F5C6B"/>
          </a:solidFill>
          <a:ln w="12700">
            <a:solidFill>
              <a:srgbClr val="0F5C6B"/>
            </a:solidFill>
            <a:prstDash val="solid"/>
          </a:ln>
        </p:spPr>
      </p:sp>
      <p:sp>
        <p:nvSpPr>
          <p:cNvPr id="28" name="Text 26"/>
          <p:cNvSpPr txBox="1"/>
          <p:nvPr/>
        </p:nvSpPr>
        <p:spPr>
          <a:xfrm>
            <a:off x="6309360" y="460857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9" name="Text 27"/>
          <p:cNvSpPr txBox="1"/>
          <p:nvPr/>
        </p:nvSpPr>
        <p:spPr>
          <a:xfrm>
            <a:off x="6812280" y="4535424"/>
            <a:ext cx="4800600" cy="320040"/>
          </a:xfrm>
          <a:prstGeom prst="rect">
            <a:avLst/>
          </a:prstGeom>
          <a:noFill/>
          <a:ln/>
        </p:spPr>
        <p:txBody>
          <a:bodyPr wrap="square" lIns="0" tIns="0" rIns="0" bIns="0" rtlCol="0" anchor="t"/>
          <a:lstStyle/>
          <a:p>
            <a:pPr indent="0" marL="0">
              <a:buNone/>
            </a:pPr>
            <a:r>
              <a:rPr lang="en-US" sz="1350" b="1" dirty="0">
                <a:solidFill>
                  <a:srgbClr val="12232E"/>
                </a:solidFill>
                <a:latin typeface="Calibri" pitchFamily="34" charset="0"/>
                <a:ea typeface="Calibri" pitchFamily="34" charset="-122"/>
                <a:cs typeface="Calibri" pitchFamily="34" charset="-120"/>
              </a:rPr>
              <a:t>Chấm tay 20 câu + sửa bộ phân loại lỗi</a:t>
            </a:r>
            <a:endParaRPr lang="en-US" sz="1350" dirty="0"/>
          </a:p>
        </p:txBody>
      </p:sp>
      <p:sp>
        <p:nvSpPr>
          <p:cNvPr id="30" name="Text 28"/>
          <p:cNvSpPr txBox="1"/>
          <p:nvPr/>
        </p:nvSpPr>
        <p:spPr>
          <a:xfrm>
            <a:off x="6812280" y="4882896"/>
            <a:ext cx="4800600" cy="54864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Dùng nhãn has_answer theo lượt để phát hiện fact then chốt bị trích thiếu.</a:t>
            </a:r>
            <a:endParaRPr lang="en-US" sz="1150" dirty="0"/>
          </a:p>
        </p:txBody>
      </p:sp>
      <p:sp>
        <p:nvSpPr>
          <p:cNvPr id="31" name="Shape 29"/>
          <p:cNvSpPr/>
          <p:nvPr/>
        </p:nvSpPr>
        <p:spPr>
          <a:xfrm>
            <a:off x="548640" y="5623560"/>
            <a:ext cx="11064240" cy="658368"/>
          </a:xfrm>
          <a:prstGeom prst="roundRect">
            <a:avLst>
              <a:gd name="adj" fmla="val 8333"/>
            </a:avLst>
          </a:prstGeom>
          <a:solidFill>
            <a:srgbClr val="12232E"/>
          </a:solidFill>
          <a:ln w="12700">
            <a:solidFill>
              <a:srgbClr val="12232E"/>
            </a:solidFill>
            <a:prstDash val="solid"/>
          </a:ln>
        </p:spPr>
      </p:sp>
      <p:sp>
        <p:nvSpPr>
          <p:cNvPr id="32" name="Text 30"/>
          <p:cNvSpPr txBox="1"/>
          <p:nvPr/>
        </p:nvSpPr>
        <p:spPr>
          <a:xfrm>
            <a:off x="777240" y="5650992"/>
            <a:ext cx="10607040" cy="603504"/>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Câu hỏi xin ý kiến anh: nên ưu tiên mở rộng số câu (độ tin cậy của số liệu) hay thí nghiệm không lọc phiên (tính trung thực của bối cảnh bộ nhớ dài hạn)?</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
    <p:bg>
      <p:bgPr>
        <a:solidFill>
          <a:srgbClr val="10243E"/>
        </a:solidFill>
      </p:bgPr>
    </p:bg>
    <p:spTree>
      <p:nvGrpSpPr>
        <p:cNvPr id="1" name=""/>
        <p:cNvGrpSpPr/>
        <p:nvPr/>
      </p:nvGrpSpPr>
      <p:grpSpPr>
        <a:xfrm>
          <a:off x="0" y="0"/>
          <a:ext cx="0" cy="0"/>
          <a:chOff x="0" y="0"/>
          <a:chExt cx="0" cy="0"/>
        </a:xfrm>
      </p:grpSpPr>
      <p:sp>
        <p:nvSpPr>
          <p:cNvPr id="2" name="Text 0"/>
          <p:cNvSpPr txBox="1"/>
          <p:nvPr/>
        </p:nvSpPr>
        <p:spPr>
          <a:xfrm>
            <a:off x="853438" y="1463036"/>
            <a:ext cx="10485094" cy="487679"/>
          </a:xfrm>
          <a:prstGeom prst="rect">
            <a:avLst/>
          </a:prstGeom>
          <a:noFill/>
          <a:ln/>
        </p:spPr>
        <p:txBody>
          <a:bodyPr wrap="square" lIns="0" tIns="0" rIns="0" bIns="0" rtlCol="0" anchor="ctr"/>
          <a:lstStyle/>
          <a:p>
            <a:pPr indent="0" marL="0">
              <a:buNone/>
            </a:pPr>
            <a:r>
              <a:rPr lang="en-US" sz="1867" b="1" dirty="0">
                <a:solidFill>
                  <a:srgbClr val="F2A541"/>
                </a:solidFill>
                <a:latin typeface="Calibri" pitchFamily="34" charset="0"/>
                <a:ea typeface="Calibri" pitchFamily="34" charset="-122"/>
                <a:cs typeface="Calibri" pitchFamily="34" charset="-120"/>
              </a:rPr>
              <a:t>PHẦN 2</a:t>
            </a:r>
            <a:endParaRPr lang="en-US" sz="1867" dirty="0"/>
          </a:p>
        </p:txBody>
      </p:sp>
      <p:sp>
        <p:nvSpPr>
          <p:cNvPr id="3" name="Text 1"/>
          <p:cNvSpPr txBox="1"/>
          <p:nvPr/>
        </p:nvSpPr>
        <p:spPr>
          <a:xfrm>
            <a:off x="853438" y="2011675"/>
            <a:ext cx="10485094" cy="1341117"/>
          </a:xfrm>
          <a:prstGeom prst="rect">
            <a:avLst/>
          </a:prstGeom>
          <a:noFill/>
          <a:ln/>
        </p:spPr>
        <p:txBody>
          <a:bodyPr wrap="square" lIns="0" tIns="0" rIns="0" bIns="0" rtlCol="0" anchor="ctr"/>
          <a:lstStyle/>
          <a:p>
            <a:pPr indent="0" marL="0">
              <a:buNone/>
            </a:pPr>
            <a:r>
              <a:rPr lang="en-US" sz="4533" b="1" dirty="0">
                <a:solidFill>
                  <a:srgbClr val="FFFFFF"/>
                </a:solidFill>
                <a:latin typeface="Cambria" pitchFamily="34" charset="0"/>
                <a:ea typeface="Cambria" pitchFamily="34" charset="-122"/>
                <a:cs typeface="Cambria" pitchFamily="34" charset="-120"/>
              </a:rPr>
              <a:t>Baseline LightMem và so sánh với APEX-MEM</a:t>
            </a:r>
            <a:endParaRPr lang="en-US" sz="4533" dirty="0"/>
          </a:p>
        </p:txBody>
      </p:sp>
      <p:sp>
        <p:nvSpPr>
          <p:cNvPr id="4" name="Text 2"/>
          <p:cNvSpPr txBox="1"/>
          <p:nvPr/>
        </p:nvSpPr>
        <p:spPr>
          <a:xfrm>
            <a:off x="853438" y="3474711"/>
            <a:ext cx="10485094" cy="609598"/>
          </a:xfrm>
          <a:prstGeom prst="rect">
            <a:avLst/>
          </a:prstGeom>
          <a:noFill/>
          <a:ln/>
        </p:spPr>
        <p:txBody>
          <a:bodyPr wrap="square" lIns="0" tIns="0" rIns="0" bIns="0" rtlCol="0" anchor="ctr"/>
          <a:lstStyle/>
          <a:p>
            <a:pPr indent="0" marL="0">
              <a:buNone/>
            </a:pPr>
            <a:r>
              <a:rPr lang="en-US" sz="2400" dirty="0">
                <a:solidFill>
                  <a:srgbClr val="CADCFC"/>
                </a:solidFill>
                <a:latin typeface="Calibri" pitchFamily="34" charset="0"/>
                <a:ea typeface="Calibri" pitchFamily="34" charset="-122"/>
                <a:cs typeface="Calibri" pitchFamily="34" charset="-120"/>
              </a:rPr>
              <a:t>Kết quả đầy đủ trên 150 câu dev, thay cho kết quả 20 câu ở phần trước. Cả hai hệ cùng model trả lời, cùng model chấm</a:t>
            </a:r>
            <a:endParaRPr lang="en-US" sz="2400" dirty="0"/>
          </a:p>
        </p:txBody>
      </p:sp>
      <p:sp>
        <p:nvSpPr>
          <p:cNvPr id="5" name="Text 3"/>
          <p:cNvSpPr txBox="1"/>
          <p:nvPr/>
        </p:nvSpPr>
        <p:spPr>
          <a:xfrm>
            <a:off x="853438" y="5608306"/>
            <a:ext cx="10485094" cy="426719"/>
          </a:xfrm>
          <a:prstGeom prst="rect">
            <a:avLst/>
          </a:prstGeom>
          <a:noFill/>
          <a:ln/>
        </p:spPr>
        <p:txBody>
          <a:bodyPr wrap="square" lIns="0" tIns="0" rIns="0" bIns="0" rtlCol="0" anchor="ctr"/>
          <a:lstStyle/>
          <a:p>
            <a:pPr indent="0" marL="0">
              <a:buNone/>
            </a:pPr>
            <a:r>
              <a:rPr lang="en-US" sz="1733" dirty="0">
                <a:solidFill>
                  <a:srgbClr val="8FA7C4"/>
                </a:solidFill>
                <a:latin typeface="Calibri" pitchFamily="34" charset="0"/>
                <a:ea typeface="Calibri" pitchFamily="34" charset="-122"/>
                <a:cs typeface="Calibri" pitchFamily="34" charset="-120"/>
              </a:rPr>
              <a:t>Đủ 150 câu dev · nhóm 2 thành viên · 10/2026</a:t>
            </a:r>
            <a:endParaRPr lang="en-US" sz="1733"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
    <p:bg>
      <p:bgPr>
        <a:solidFill>
          <a:srgbClr val="F7F9FB"/>
        </a:solidFill>
      </p:bgPr>
    </p:bg>
    <p:spTree>
      <p:nvGrpSpPr>
        <p:cNvPr id="1" name=""/>
        <p:cNvGrpSpPr/>
        <p:nvPr/>
      </p:nvGrpSpPr>
      <p:grpSpPr>
        <a:xfrm>
          <a:off x="0" y="0"/>
          <a:ext cx="0" cy="0"/>
          <a:chOff x="0" y="0"/>
          <a:chExt cx="0" cy="0"/>
        </a:xfrm>
      </p:grpSpPr>
      <p:sp>
        <p:nvSpPr>
          <p:cNvPr id="2" name="Text 0"/>
          <p:cNvSpPr txBox="1"/>
          <p:nvPr/>
        </p:nvSpPr>
        <p:spPr>
          <a:xfrm>
            <a:off x="609598" y="365759"/>
            <a:ext cx="10972773" cy="365759"/>
          </a:xfrm>
          <a:prstGeom prst="rect">
            <a:avLst/>
          </a:prstGeom>
          <a:noFill/>
          <a:ln/>
        </p:spPr>
        <p:txBody>
          <a:bodyPr wrap="square" lIns="0" tIns="0" rIns="0" bIns="0" rtlCol="0" anchor="ctr"/>
          <a:lstStyle/>
          <a:p>
            <a:pPr indent="0" marL="0">
              <a:buNone/>
            </a:pPr>
            <a:r>
              <a:rPr lang="en-US" sz="1467" b="1" dirty="0">
                <a:solidFill>
                  <a:srgbClr val="1F6F8B"/>
                </a:solidFill>
                <a:latin typeface="Calibri" pitchFamily="34" charset="0"/>
                <a:ea typeface="Calibri" pitchFamily="34" charset="-122"/>
                <a:cs typeface="Calibri" pitchFamily="34" charset="-120"/>
              </a:rPr>
              <a:t>CÁCH HOẠT ĐỘNG</a:t>
            </a:r>
            <a:endParaRPr lang="en-US" sz="1467" dirty="0"/>
          </a:p>
        </p:txBody>
      </p:sp>
      <p:sp>
        <p:nvSpPr>
          <p:cNvPr id="3" name="Text 1"/>
          <p:cNvSpPr txBox="1"/>
          <p:nvPr/>
        </p:nvSpPr>
        <p:spPr>
          <a:xfrm>
            <a:off x="609598" y="670558"/>
            <a:ext cx="10972773" cy="731518"/>
          </a:xfrm>
          <a:prstGeom prst="rect">
            <a:avLst/>
          </a:prstGeom>
          <a:noFill/>
          <a:ln/>
        </p:spPr>
        <p:txBody>
          <a:bodyPr wrap="square" lIns="0" tIns="0" rIns="0" bIns="0" rtlCol="0" anchor="ctr"/>
          <a:lstStyle/>
          <a:p>
            <a:pPr indent="0" marL="0">
              <a:buNone/>
            </a:pPr>
            <a:r>
              <a:rPr lang="en-US" sz="3467" b="1" dirty="0">
                <a:solidFill>
                  <a:srgbClr val="10243E"/>
                </a:solidFill>
                <a:latin typeface="Cambria" pitchFamily="34" charset="0"/>
                <a:ea typeface="Cambria" pitchFamily="34" charset="-122"/>
                <a:cs typeface="Cambria" pitchFamily="34" charset="-120"/>
              </a:rPr>
              <a:t>LightMem lưu và truy xuất ký ức thế nào</a:t>
            </a:r>
            <a:endParaRPr lang="en-US" sz="3467" dirty="0"/>
          </a:p>
        </p:txBody>
      </p:sp>
      <p:sp>
        <p:nvSpPr>
          <p:cNvPr id="5" name="Shape 2"/>
          <p:cNvSpPr/>
          <p:nvPr/>
        </p:nvSpPr>
        <p:spPr>
          <a:xfrm>
            <a:off x="609598" y="1889755"/>
            <a:ext cx="2023867" cy="2133595"/>
          </a:xfrm>
          <a:prstGeom prst="rect">
            <a:avLst/>
          </a:prstGeom>
          <a:solidFill>
            <a:srgbClr val="FFFFFF"/>
          </a:solidFill>
          <a:ln w="9525">
            <a:solidFill>
              <a:srgbClr val="DCE3EA"/>
            </a:solidFill>
            <a:prstDash val="solid"/>
          </a:ln>
        </p:spPr>
      </p:sp>
      <p:sp>
        <p:nvSpPr>
          <p:cNvPr id="6" name="Shape 3"/>
          <p:cNvSpPr/>
          <p:nvPr/>
        </p:nvSpPr>
        <p:spPr>
          <a:xfrm>
            <a:off x="792478" y="2072635"/>
            <a:ext cx="512063" cy="512063"/>
          </a:xfrm>
          <a:prstGeom prst="ellipse">
            <a:avLst/>
          </a:prstGeom>
          <a:solidFill>
            <a:srgbClr val="1F6F8B"/>
          </a:solidFill>
          <a:ln w="12700">
            <a:solidFill>
              <a:srgbClr val="1F6F8B"/>
            </a:solidFill>
            <a:prstDash val="solid"/>
          </a:ln>
        </p:spPr>
      </p:sp>
      <p:sp>
        <p:nvSpPr>
          <p:cNvPr id="7" name="Text 4"/>
          <p:cNvSpPr txBox="1"/>
          <p:nvPr/>
        </p:nvSpPr>
        <p:spPr>
          <a:xfrm>
            <a:off x="792478" y="2072635"/>
            <a:ext cx="512063" cy="512063"/>
          </a:xfrm>
          <a:prstGeom prst="rect">
            <a:avLst/>
          </a:prstGeom>
          <a:noFill/>
          <a:ln/>
        </p:spPr>
        <p:txBody>
          <a:bodyPr wrap="square" lIns="0" tIns="0" rIns="0" bIns="0" rtlCol="0" anchor="ctr"/>
          <a:lstStyle/>
          <a:p>
            <a:pPr algn="ctr" indent="0" marL="0">
              <a:buNone/>
            </a:pPr>
            <a:r>
              <a:rPr lang="en-US" sz="1867" b="1" dirty="0">
                <a:solidFill>
                  <a:srgbClr val="FFFFFF"/>
                </a:solidFill>
                <a:latin typeface="Calibri" pitchFamily="34" charset="0"/>
                <a:ea typeface="Calibri" pitchFamily="34" charset="-122"/>
                <a:cs typeface="Calibri" pitchFamily="34" charset="-120"/>
              </a:rPr>
              <a:t>1</a:t>
            </a:r>
            <a:endParaRPr lang="en-US" sz="1867" dirty="0"/>
          </a:p>
        </p:txBody>
      </p:sp>
      <p:sp>
        <p:nvSpPr>
          <p:cNvPr id="8" name="Text 5"/>
          <p:cNvSpPr txBox="1"/>
          <p:nvPr/>
        </p:nvSpPr>
        <p:spPr>
          <a:xfrm>
            <a:off x="792478" y="2682233"/>
            <a:ext cx="1658108" cy="426719"/>
          </a:xfrm>
          <a:prstGeom prst="rect">
            <a:avLst/>
          </a:prstGeom>
          <a:noFill/>
          <a:ln/>
        </p:spPr>
        <p:txBody>
          <a:bodyPr wrap="square" lIns="0" tIns="0" rIns="0" bIns="0" rtlCol="0" anchor="ctr"/>
          <a:lstStyle/>
          <a:p>
            <a:pPr indent="0" marL="0">
              <a:buNone/>
            </a:pPr>
            <a:r>
              <a:rPr lang="en-US" sz="2000" b="1" dirty="0">
                <a:solidFill>
                  <a:srgbClr val="10243E"/>
                </a:solidFill>
                <a:latin typeface="Cambria" pitchFamily="34" charset="0"/>
                <a:ea typeface="Cambria" pitchFamily="34" charset="-122"/>
                <a:cs typeface="Cambria" pitchFamily="34" charset="-120"/>
              </a:rPr>
              <a:t>Nén trước</a:t>
            </a:r>
            <a:endParaRPr lang="en-US" sz="2000" dirty="0"/>
          </a:p>
        </p:txBody>
      </p:sp>
      <p:sp>
        <p:nvSpPr>
          <p:cNvPr id="9" name="Text 6"/>
          <p:cNvSpPr txBox="1"/>
          <p:nvPr/>
        </p:nvSpPr>
        <p:spPr>
          <a:xfrm>
            <a:off x="792478" y="3145528"/>
            <a:ext cx="1658108" cy="792478"/>
          </a:xfrm>
          <a:prstGeom prst="rect">
            <a:avLst/>
          </a:prstGeom>
          <a:noFill/>
          <a:ln/>
        </p:spPr>
        <p:txBody>
          <a:bodyPr wrap="square" lIns="0" tIns="0" rIns="0" bIns="0" rtlCol="0" anchor="t"/>
          <a:lstStyle/>
          <a:p>
            <a:pPr indent="0" marL="0">
              <a:buNone/>
            </a:pPr>
            <a:r>
              <a:rPr lang="en-US" sz="1533" dirty="0">
                <a:solidFill>
                  <a:srgbClr val="5B6B7A"/>
                </a:solidFill>
                <a:latin typeface="Calibri" pitchFamily="34" charset="0"/>
                <a:ea typeface="Calibri" pitchFamily="34" charset="-122"/>
                <a:cs typeface="Calibri" pitchFamily="34" charset="-120"/>
              </a:rPr>
              <a:t>LLMLingua-2 bỏ token ít thông tin</a:t>
            </a:r>
            <a:endParaRPr lang="en-US" sz="1533" dirty="0"/>
          </a:p>
        </p:txBody>
      </p:sp>
      <p:sp>
        <p:nvSpPr>
          <p:cNvPr id="10" name="Shape 7"/>
          <p:cNvSpPr/>
          <p:nvPr/>
        </p:nvSpPr>
        <p:spPr>
          <a:xfrm>
            <a:off x="2846825" y="1889755"/>
            <a:ext cx="2023867" cy="2133595"/>
          </a:xfrm>
          <a:prstGeom prst="rect">
            <a:avLst/>
          </a:prstGeom>
          <a:solidFill>
            <a:srgbClr val="FFFFFF"/>
          </a:solidFill>
          <a:ln w="9525">
            <a:solidFill>
              <a:srgbClr val="DCE3EA"/>
            </a:solidFill>
            <a:prstDash val="solid"/>
          </a:ln>
        </p:spPr>
      </p:sp>
      <p:sp>
        <p:nvSpPr>
          <p:cNvPr id="11" name="Shape 8"/>
          <p:cNvSpPr/>
          <p:nvPr/>
        </p:nvSpPr>
        <p:spPr>
          <a:xfrm>
            <a:off x="3029704" y="2072635"/>
            <a:ext cx="512063" cy="512063"/>
          </a:xfrm>
          <a:prstGeom prst="ellipse">
            <a:avLst/>
          </a:prstGeom>
          <a:solidFill>
            <a:srgbClr val="1F6F8B"/>
          </a:solidFill>
          <a:ln w="12700">
            <a:solidFill>
              <a:srgbClr val="1F6F8B"/>
            </a:solidFill>
            <a:prstDash val="solid"/>
          </a:ln>
        </p:spPr>
      </p:sp>
      <p:sp>
        <p:nvSpPr>
          <p:cNvPr id="12" name="Text 9"/>
          <p:cNvSpPr txBox="1"/>
          <p:nvPr/>
        </p:nvSpPr>
        <p:spPr>
          <a:xfrm>
            <a:off x="3029704" y="2072635"/>
            <a:ext cx="512063" cy="512063"/>
          </a:xfrm>
          <a:prstGeom prst="rect">
            <a:avLst/>
          </a:prstGeom>
          <a:noFill/>
          <a:ln/>
        </p:spPr>
        <p:txBody>
          <a:bodyPr wrap="square" lIns="0" tIns="0" rIns="0" bIns="0" rtlCol="0" anchor="ctr"/>
          <a:lstStyle/>
          <a:p>
            <a:pPr algn="ctr" indent="0" marL="0">
              <a:buNone/>
            </a:pPr>
            <a:r>
              <a:rPr lang="en-US" sz="1867" b="1" dirty="0">
                <a:solidFill>
                  <a:srgbClr val="FFFFFF"/>
                </a:solidFill>
                <a:latin typeface="Calibri" pitchFamily="34" charset="0"/>
                <a:ea typeface="Calibri" pitchFamily="34" charset="-122"/>
                <a:cs typeface="Calibri" pitchFamily="34" charset="-120"/>
              </a:rPr>
              <a:t>2</a:t>
            </a:r>
            <a:endParaRPr lang="en-US" sz="1867" dirty="0"/>
          </a:p>
        </p:txBody>
      </p:sp>
      <p:sp>
        <p:nvSpPr>
          <p:cNvPr id="13" name="Text 10"/>
          <p:cNvSpPr txBox="1"/>
          <p:nvPr/>
        </p:nvSpPr>
        <p:spPr>
          <a:xfrm>
            <a:off x="3029704" y="2682233"/>
            <a:ext cx="1658108" cy="426719"/>
          </a:xfrm>
          <a:prstGeom prst="rect">
            <a:avLst/>
          </a:prstGeom>
          <a:noFill/>
          <a:ln/>
        </p:spPr>
        <p:txBody>
          <a:bodyPr wrap="square" lIns="0" tIns="0" rIns="0" bIns="0" rtlCol="0" anchor="ctr"/>
          <a:lstStyle/>
          <a:p>
            <a:pPr indent="0" marL="0">
              <a:buNone/>
            </a:pPr>
            <a:r>
              <a:rPr lang="en-US" sz="2000" b="1" dirty="0">
                <a:solidFill>
                  <a:srgbClr val="10243E"/>
                </a:solidFill>
                <a:latin typeface="Cambria" pitchFamily="34" charset="0"/>
                <a:ea typeface="Cambria" pitchFamily="34" charset="-122"/>
                <a:cs typeface="Cambria" pitchFamily="34" charset="-120"/>
              </a:rPr>
              <a:t>Chia chủ đề</a:t>
            </a:r>
            <a:endParaRPr lang="en-US" sz="2000" dirty="0"/>
          </a:p>
        </p:txBody>
      </p:sp>
      <p:sp>
        <p:nvSpPr>
          <p:cNvPr id="14" name="Text 11"/>
          <p:cNvSpPr txBox="1"/>
          <p:nvPr/>
        </p:nvSpPr>
        <p:spPr>
          <a:xfrm>
            <a:off x="3029704" y="3145528"/>
            <a:ext cx="1658108" cy="792478"/>
          </a:xfrm>
          <a:prstGeom prst="rect">
            <a:avLst/>
          </a:prstGeom>
          <a:noFill/>
          <a:ln/>
        </p:spPr>
        <p:txBody>
          <a:bodyPr wrap="square" lIns="0" tIns="0" rIns="0" bIns="0" rtlCol="0" anchor="t"/>
          <a:lstStyle/>
          <a:p>
            <a:pPr indent="0" marL="0">
              <a:buNone/>
            </a:pPr>
            <a:r>
              <a:rPr lang="en-US" sz="1533" dirty="0">
                <a:solidFill>
                  <a:srgbClr val="5B6B7A"/>
                </a:solidFill>
                <a:latin typeface="Calibri" pitchFamily="34" charset="0"/>
                <a:ea typeface="Calibri" pitchFamily="34" charset="-122"/>
                <a:cs typeface="Calibri" pitchFamily="34" charset="-120"/>
              </a:rPr>
              <a:t>Cắt hội thoại thành các topic</a:t>
            </a:r>
            <a:endParaRPr lang="en-US" sz="1533" dirty="0"/>
          </a:p>
        </p:txBody>
      </p:sp>
      <p:sp>
        <p:nvSpPr>
          <p:cNvPr id="15" name="Shape 12"/>
          <p:cNvSpPr/>
          <p:nvPr/>
        </p:nvSpPr>
        <p:spPr>
          <a:xfrm>
            <a:off x="5084051" y="1889755"/>
            <a:ext cx="2023867" cy="2133595"/>
          </a:xfrm>
          <a:prstGeom prst="rect">
            <a:avLst/>
          </a:prstGeom>
          <a:solidFill>
            <a:srgbClr val="FFFFFF"/>
          </a:solidFill>
          <a:ln w="9525">
            <a:solidFill>
              <a:srgbClr val="DCE3EA"/>
            </a:solidFill>
            <a:prstDash val="solid"/>
          </a:ln>
        </p:spPr>
      </p:sp>
      <p:sp>
        <p:nvSpPr>
          <p:cNvPr id="16" name="Shape 13"/>
          <p:cNvSpPr/>
          <p:nvPr/>
        </p:nvSpPr>
        <p:spPr>
          <a:xfrm>
            <a:off x="5266931" y="2072635"/>
            <a:ext cx="512063" cy="512063"/>
          </a:xfrm>
          <a:prstGeom prst="ellipse">
            <a:avLst/>
          </a:prstGeom>
          <a:solidFill>
            <a:srgbClr val="F2A541"/>
          </a:solidFill>
          <a:ln w="12700">
            <a:solidFill>
              <a:srgbClr val="F2A541"/>
            </a:solidFill>
            <a:prstDash val="solid"/>
          </a:ln>
        </p:spPr>
      </p:sp>
      <p:sp>
        <p:nvSpPr>
          <p:cNvPr id="17" name="Text 14"/>
          <p:cNvSpPr txBox="1"/>
          <p:nvPr/>
        </p:nvSpPr>
        <p:spPr>
          <a:xfrm>
            <a:off x="5266931" y="2072635"/>
            <a:ext cx="512063" cy="512063"/>
          </a:xfrm>
          <a:prstGeom prst="rect">
            <a:avLst/>
          </a:prstGeom>
          <a:noFill/>
          <a:ln/>
        </p:spPr>
        <p:txBody>
          <a:bodyPr wrap="square" lIns="0" tIns="0" rIns="0" bIns="0" rtlCol="0" anchor="ctr"/>
          <a:lstStyle/>
          <a:p>
            <a:pPr algn="ctr" indent="0" marL="0">
              <a:buNone/>
            </a:pPr>
            <a:r>
              <a:rPr lang="en-US" sz="1867" b="1" dirty="0">
                <a:solidFill>
                  <a:srgbClr val="FFFFFF"/>
                </a:solidFill>
                <a:latin typeface="Calibri" pitchFamily="34" charset="0"/>
                <a:ea typeface="Calibri" pitchFamily="34" charset="-122"/>
                <a:cs typeface="Calibri" pitchFamily="34" charset="-120"/>
              </a:rPr>
              <a:t>3</a:t>
            </a:r>
            <a:endParaRPr lang="en-US" sz="1867" dirty="0"/>
          </a:p>
        </p:txBody>
      </p:sp>
      <p:sp>
        <p:nvSpPr>
          <p:cNvPr id="18" name="Text 15"/>
          <p:cNvSpPr txBox="1"/>
          <p:nvPr/>
        </p:nvSpPr>
        <p:spPr>
          <a:xfrm>
            <a:off x="5266931" y="2682233"/>
            <a:ext cx="1658108" cy="426719"/>
          </a:xfrm>
          <a:prstGeom prst="rect">
            <a:avLst/>
          </a:prstGeom>
          <a:noFill/>
          <a:ln/>
        </p:spPr>
        <p:txBody>
          <a:bodyPr wrap="square" lIns="0" tIns="0" rIns="0" bIns="0" rtlCol="0" anchor="ctr"/>
          <a:lstStyle/>
          <a:p>
            <a:pPr indent="0" marL="0">
              <a:buNone/>
            </a:pPr>
            <a:r>
              <a:rPr lang="en-US" sz="2000" b="1" dirty="0">
                <a:solidFill>
                  <a:srgbClr val="10243E"/>
                </a:solidFill>
                <a:latin typeface="Cambria" pitchFamily="34" charset="0"/>
                <a:ea typeface="Cambria" pitchFamily="34" charset="-122"/>
                <a:cs typeface="Cambria" pitchFamily="34" charset="-120"/>
              </a:rPr>
              <a:t>Trích fact</a:t>
            </a:r>
            <a:endParaRPr lang="en-US" sz="2000" dirty="0"/>
          </a:p>
        </p:txBody>
      </p:sp>
      <p:sp>
        <p:nvSpPr>
          <p:cNvPr id="19" name="Text 16"/>
          <p:cNvSpPr txBox="1"/>
          <p:nvPr/>
        </p:nvSpPr>
        <p:spPr>
          <a:xfrm>
            <a:off x="5266931" y="3145528"/>
            <a:ext cx="1658108" cy="792478"/>
          </a:xfrm>
          <a:prstGeom prst="rect">
            <a:avLst/>
          </a:prstGeom>
          <a:noFill/>
          <a:ln/>
        </p:spPr>
        <p:txBody>
          <a:bodyPr wrap="square" lIns="0" tIns="0" rIns="0" bIns="0" rtlCol="0" anchor="t"/>
          <a:lstStyle/>
          <a:p>
            <a:pPr indent="0" marL="0">
              <a:buNone/>
            </a:pPr>
            <a:r>
              <a:rPr lang="en-US" sz="1533" dirty="0">
                <a:solidFill>
                  <a:srgbClr val="5B6B7A"/>
                </a:solidFill>
                <a:latin typeface="Calibri" pitchFamily="34" charset="0"/>
                <a:ea typeface="Calibri" pitchFamily="34" charset="-122"/>
                <a:cs typeface="Calibri" pitchFamily="34" charset="-120"/>
              </a:rPr>
              <a:t>LLM tóm fact + metadata cho mỗi topic</a:t>
            </a:r>
            <a:endParaRPr lang="en-US" sz="1533" dirty="0"/>
          </a:p>
        </p:txBody>
      </p:sp>
      <p:sp>
        <p:nvSpPr>
          <p:cNvPr id="20" name="Shape 17"/>
          <p:cNvSpPr/>
          <p:nvPr/>
        </p:nvSpPr>
        <p:spPr>
          <a:xfrm>
            <a:off x="7321278" y="1889755"/>
            <a:ext cx="2023867" cy="2133595"/>
          </a:xfrm>
          <a:prstGeom prst="rect">
            <a:avLst/>
          </a:prstGeom>
          <a:solidFill>
            <a:srgbClr val="FFFFFF"/>
          </a:solidFill>
          <a:ln w="9525">
            <a:solidFill>
              <a:srgbClr val="DCE3EA"/>
            </a:solidFill>
            <a:prstDash val="solid"/>
          </a:ln>
        </p:spPr>
      </p:sp>
      <p:sp>
        <p:nvSpPr>
          <p:cNvPr id="21" name="Shape 18"/>
          <p:cNvSpPr/>
          <p:nvPr/>
        </p:nvSpPr>
        <p:spPr>
          <a:xfrm>
            <a:off x="7504157" y="2072635"/>
            <a:ext cx="512063" cy="512063"/>
          </a:xfrm>
          <a:prstGeom prst="ellipse">
            <a:avLst/>
          </a:prstGeom>
          <a:solidFill>
            <a:srgbClr val="1F6F8B"/>
          </a:solidFill>
          <a:ln w="12700">
            <a:solidFill>
              <a:srgbClr val="1F6F8B"/>
            </a:solidFill>
            <a:prstDash val="solid"/>
          </a:ln>
        </p:spPr>
      </p:sp>
      <p:sp>
        <p:nvSpPr>
          <p:cNvPr id="22" name="Text 19"/>
          <p:cNvSpPr txBox="1"/>
          <p:nvPr/>
        </p:nvSpPr>
        <p:spPr>
          <a:xfrm>
            <a:off x="7504157" y="2072635"/>
            <a:ext cx="512063" cy="512063"/>
          </a:xfrm>
          <a:prstGeom prst="rect">
            <a:avLst/>
          </a:prstGeom>
          <a:noFill/>
          <a:ln/>
        </p:spPr>
        <p:txBody>
          <a:bodyPr wrap="square" lIns="0" tIns="0" rIns="0" bIns="0" rtlCol="0" anchor="ctr"/>
          <a:lstStyle/>
          <a:p>
            <a:pPr algn="ctr" indent="0" marL="0">
              <a:buNone/>
            </a:pPr>
            <a:r>
              <a:rPr lang="en-US" sz="1867" b="1" dirty="0">
                <a:solidFill>
                  <a:srgbClr val="FFFFFF"/>
                </a:solidFill>
                <a:latin typeface="Calibri" pitchFamily="34" charset="0"/>
                <a:ea typeface="Calibri" pitchFamily="34" charset="-122"/>
                <a:cs typeface="Calibri" pitchFamily="34" charset="-120"/>
              </a:rPr>
              <a:t>4</a:t>
            </a:r>
            <a:endParaRPr lang="en-US" sz="1867" dirty="0"/>
          </a:p>
        </p:txBody>
      </p:sp>
      <p:sp>
        <p:nvSpPr>
          <p:cNvPr id="23" name="Text 20"/>
          <p:cNvSpPr txBox="1"/>
          <p:nvPr/>
        </p:nvSpPr>
        <p:spPr>
          <a:xfrm>
            <a:off x="7504157" y="2682233"/>
            <a:ext cx="1658108" cy="426719"/>
          </a:xfrm>
          <a:prstGeom prst="rect">
            <a:avLst/>
          </a:prstGeom>
          <a:noFill/>
          <a:ln/>
        </p:spPr>
        <p:txBody>
          <a:bodyPr wrap="square" lIns="0" tIns="0" rIns="0" bIns="0" rtlCol="0" anchor="ctr"/>
          <a:lstStyle/>
          <a:p>
            <a:pPr indent="0" marL="0">
              <a:buNone/>
            </a:pPr>
            <a:r>
              <a:rPr lang="en-US" sz="2000" b="1" dirty="0">
                <a:solidFill>
                  <a:srgbClr val="10243E"/>
                </a:solidFill>
                <a:latin typeface="Cambria" pitchFamily="34" charset="0"/>
                <a:ea typeface="Cambria" pitchFamily="34" charset="-122"/>
                <a:cs typeface="Cambria" pitchFamily="34" charset="-120"/>
              </a:rPr>
              <a:t>Lập chỉ mục</a:t>
            </a:r>
            <a:endParaRPr lang="en-US" sz="2000" dirty="0"/>
          </a:p>
        </p:txBody>
      </p:sp>
      <p:sp>
        <p:nvSpPr>
          <p:cNvPr id="24" name="Text 21"/>
          <p:cNvSpPr txBox="1"/>
          <p:nvPr/>
        </p:nvSpPr>
        <p:spPr>
          <a:xfrm>
            <a:off x="7504157" y="3145528"/>
            <a:ext cx="1658108" cy="792478"/>
          </a:xfrm>
          <a:prstGeom prst="rect">
            <a:avLst/>
          </a:prstGeom>
          <a:noFill/>
          <a:ln/>
        </p:spPr>
        <p:txBody>
          <a:bodyPr wrap="square" lIns="0" tIns="0" rIns="0" bIns="0" rtlCol="0" anchor="t"/>
          <a:lstStyle/>
          <a:p>
            <a:pPr indent="0" marL="0">
              <a:buNone/>
            </a:pPr>
            <a:r>
              <a:rPr lang="en-US" sz="1533" dirty="0">
                <a:solidFill>
                  <a:srgbClr val="5B6B7A"/>
                </a:solidFill>
                <a:latin typeface="Calibri" pitchFamily="34" charset="0"/>
                <a:ea typeface="Calibri" pitchFamily="34" charset="-122"/>
                <a:cs typeface="Calibri" pitchFamily="34" charset="-120"/>
              </a:rPr>
              <a:t>Nhúng MiniLM, lưu Qdrant</a:t>
            </a:r>
            <a:endParaRPr lang="en-US" sz="1533" dirty="0"/>
          </a:p>
        </p:txBody>
      </p:sp>
      <p:sp>
        <p:nvSpPr>
          <p:cNvPr id="25" name="Shape 22"/>
          <p:cNvSpPr/>
          <p:nvPr/>
        </p:nvSpPr>
        <p:spPr>
          <a:xfrm>
            <a:off x="9558504" y="1889755"/>
            <a:ext cx="2023867" cy="2133595"/>
          </a:xfrm>
          <a:prstGeom prst="rect">
            <a:avLst/>
          </a:prstGeom>
          <a:solidFill>
            <a:srgbClr val="FFFFFF"/>
          </a:solidFill>
          <a:ln w="9525">
            <a:solidFill>
              <a:srgbClr val="DCE3EA"/>
            </a:solidFill>
            <a:prstDash val="solid"/>
          </a:ln>
        </p:spPr>
      </p:sp>
      <p:sp>
        <p:nvSpPr>
          <p:cNvPr id="26" name="Shape 23"/>
          <p:cNvSpPr/>
          <p:nvPr/>
        </p:nvSpPr>
        <p:spPr>
          <a:xfrm>
            <a:off x="9741384" y="2072635"/>
            <a:ext cx="512063" cy="512063"/>
          </a:xfrm>
          <a:prstGeom prst="ellipse">
            <a:avLst/>
          </a:prstGeom>
          <a:solidFill>
            <a:srgbClr val="1F6F8B"/>
          </a:solidFill>
          <a:ln w="12700">
            <a:solidFill>
              <a:srgbClr val="1F6F8B"/>
            </a:solidFill>
            <a:prstDash val="solid"/>
          </a:ln>
        </p:spPr>
      </p:sp>
      <p:sp>
        <p:nvSpPr>
          <p:cNvPr id="27" name="Text 24"/>
          <p:cNvSpPr txBox="1"/>
          <p:nvPr/>
        </p:nvSpPr>
        <p:spPr>
          <a:xfrm>
            <a:off x="9741384" y="2072635"/>
            <a:ext cx="512063" cy="512063"/>
          </a:xfrm>
          <a:prstGeom prst="rect">
            <a:avLst/>
          </a:prstGeom>
          <a:noFill/>
          <a:ln/>
        </p:spPr>
        <p:txBody>
          <a:bodyPr wrap="square" lIns="0" tIns="0" rIns="0" bIns="0" rtlCol="0" anchor="ctr"/>
          <a:lstStyle/>
          <a:p>
            <a:pPr algn="ctr" indent="0" marL="0">
              <a:buNone/>
            </a:pPr>
            <a:r>
              <a:rPr lang="en-US" sz="1867" b="1" dirty="0">
                <a:solidFill>
                  <a:srgbClr val="FFFFFF"/>
                </a:solidFill>
                <a:latin typeface="Calibri" pitchFamily="34" charset="0"/>
                <a:ea typeface="Calibri" pitchFamily="34" charset="-122"/>
                <a:cs typeface="Calibri" pitchFamily="34" charset="-120"/>
              </a:rPr>
              <a:t>5</a:t>
            </a:r>
            <a:endParaRPr lang="en-US" sz="1867" dirty="0"/>
          </a:p>
        </p:txBody>
      </p:sp>
      <p:sp>
        <p:nvSpPr>
          <p:cNvPr id="28" name="Text 25"/>
          <p:cNvSpPr txBox="1"/>
          <p:nvPr/>
        </p:nvSpPr>
        <p:spPr>
          <a:xfrm>
            <a:off x="9741384" y="2682233"/>
            <a:ext cx="1658108" cy="426719"/>
          </a:xfrm>
          <a:prstGeom prst="rect">
            <a:avLst/>
          </a:prstGeom>
          <a:noFill/>
          <a:ln/>
        </p:spPr>
        <p:txBody>
          <a:bodyPr wrap="square" lIns="0" tIns="0" rIns="0" bIns="0" rtlCol="0" anchor="ctr"/>
          <a:lstStyle/>
          <a:p>
            <a:pPr indent="0" marL="0">
              <a:buNone/>
            </a:pPr>
            <a:r>
              <a:rPr lang="en-US" sz="2000" b="1" dirty="0">
                <a:solidFill>
                  <a:srgbClr val="10243E"/>
                </a:solidFill>
                <a:latin typeface="Cambria" pitchFamily="34" charset="0"/>
                <a:ea typeface="Cambria" pitchFamily="34" charset="-122"/>
                <a:cs typeface="Cambria" pitchFamily="34" charset="-120"/>
              </a:rPr>
              <a:t>Truy xuất</a:t>
            </a:r>
            <a:endParaRPr lang="en-US" sz="2000" dirty="0"/>
          </a:p>
        </p:txBody>
      </p:sp>
      <p:sp>
        <p:nvSpPr>
          <p:cNvPr id="29" name="Text 26"/>
          <p:cNvSpPr txBox="1"/>
          <p:nvPr/>
        </p:nvSpPr>
        <p:spPr>
          <a:xfrm>
            <a:off x="9741384" y="3145528"/>
            <a:ext cx="1658108" cy="792478"/>
          </a:xfrm>
          <a:prstGeom prst="rect">
            <a:avLst/>
          </a:prstGeom>
          <a:noFill/>
          <a:ln/>
        </p:spPr>
        <p:txBody>
          <a:bodyPr wrap="square" lIns="0" tIns="0" rIns="0" bIns="0" rtlCol="0" anchor="t"/>
          <a:lstStyle/>
          <a:p>
            <a:pPr indent="0" marL="0">
              <a:buNone/>
            </a:pPr>
            <a:r>
              <a:rPr lang="en-US" sz="1533" dirty="0">
                <a:solidFill>
                  <a:srgbClr val="5B6B7A"/>
                </a:solidFill>
                <a:latin typeface="Calibri" pitchFamily="34" charset="0"/>
                <a:ea typeface="Calibri" pitchFamily="34" charset="-122"/>
                <a:cs typeface="Calibri" pitchFamily="34" charset="-120"/>
              </a:rPr>
              <a:t>Top-20 ký ức → LLM trả lời</a:t>
            </a:r>
            <a:endParaRPr lang="en-US" sz="1533" dirty="0"/>
          </a:p>
        </p:txBody>
      </p:sp>
      <p:sp>
        <p:nvSpPr>
          <p:cNvPr id="30" name="Shape 27"/>
          <p:cNvSpPr/>
          <p:nvPr/>
        </p:nvSpPr>
        <p:spPr>
          <a:xfrm>
            <a:off x="609598" y="4389109"/>
            <a:ext cx="5364467" cy="1706876"/>
          </a:xfrm>
          <a:prstGeom prst="rect">
            <a:avLst/>
          </a:prstGeom>
          <a:solidFill>
            <a:srgbClr val="E7F0F4"/>
          </a:solidFill>
          <a:ln w="9525">
            <a:solidFill>
              <a:srgbClr val="DCE3EA"/>
            </a:solidFill>
            <a:prstDash val="solid"/>
          </a:ln>
        </p:spPr>
      </p:sp>
      <p:sp>
        <p:nvSpPr>
          <p:cNvPr id="31" name="Text 28"/>
          <p:cNvSpPr txBox="1"/>
          <p:nvPr/>
        </p:nvSpPr>
        <p:spPr>
          <a:xfrm>
            <a:off x="853438" y="4511029"/>
            <a:ext cx="4876788" cy="1463036"/>
          </a:xfrm>
          <a:prstGeom prst="rect">
            <a:avLst/>
          </a:prstGeom>
          <a:noFill/>
          <a:ln/>
        </p:spPr>
        <p:txBody>
          <a:bodyPr wrap="square" lIns="0" tIns="0" rIns="0" bIns="0" rtlCol="0" anchor="t"/>
          <a:lstStyle/>
          <a:p>
            <a:pPr indent="0" marL="0">
              <a:buNone/>
            </a:pPr>
            <a:r>
              <a:rPr lang="en-US" sz="1667" b="1" dirty="0">
                <a:solidFill>
                  <a:srgbClr val="10243E"/>
                </a:solidFill>
                <a:latin typeface="Calibri" pitchFamily="34" charset="0"/>
                <a:ea typeface="Calibri" pitchFamily="34" charset="-122"/>
                <a:cs typeface="Calibri" pitchFamily="34" charset="-120"/>
              </a:rPr>
              <a:t>Giới hạn quan trọng</a:t>
            </a:r>
            <a:endParaRPr lang="en-US" sz="1667" dirty="0"/>
          </a:p>
          <a:p>
            <a:pPr indent="0" marL="0">
              <a:buNone/>
            </a:pPr>
            <a:r>
              <a:rPr lang="en-US" sz="1667" dirty="0">
                <a:solidFill>
                  <a:srgbClr val="1B2B3A"/>
                </a:solidFill>
                <a:latin typeface="Calibri" pitchFamily="34" charset="0"/>
                <a:ea typeface="Calibri" pitchFamily="34" charset="-122"/>
                <a:cs typeface="Calibri" pitchFamily="34" charset="-120"/>
              </a:rPr>
              <a:t>Chỉ lưu lượt của người dùng (user_only). Nội dung do trợ lý nói không vào bộ nhớ.</a:t>
            </a:r>
            <a:endParaRPr lang="en-US" sz="1667" dirty="0"/>
          </a:p>
        </p:txBody>
      </p:sp>
      <p:sp>
        <p:nvSpPr>
          <p:cNvPr id="32" name="Shape 29"/>
          <p:cNvSpPr/>
          <p:nvPr/>
        </p:nvSpPr>
        <p:spPr>
          <a:xfrm>
            <a:off x="6217904" y="4389109"/>
            <a:ext cx="5364467" cy="1706876"/>
          </a:xfrm>
          <a:prstGeom prst="rect">
            <a:avLst/>
          </a:prstGeom>
          <a:solidFill>
            <a:srgbClr val="E7F0F4"/>
          </a:solidFill>
          <a:ln w="9525">
            <a:solidFill>
              <a:srgbClr val="DCE3EA"/>
            </a:solidFill>
            <a:prstDash val="solid"/>
          </a:ln>
        </p:spPr>
      </p:sp>
      <p:sp>
        <p:nvSpPr>
          <p:cNvPr id="33" name="Text 30"/>
          <p:cNvSpPr txBox="1"/>
          <p:nvPr/>
        </p:nvSpPr>
        <p:spPr>
          <a:xfrm>
            <a:off x="6461744" y="4511029"/>
            <a:ext cx="4876788" cy="1463036"/>
          </a:xfrm>
          <a:prstGeom prst="rect">
            <a:avLst/>
          </a:prstGeom>
          <a:noFill/>
          <a:ln/>
        </p:spPr>
        <p:txBody>
          <a:bodyPr wrap="square" lIns="0" tIns="0" rIns="0" bIns="0" rtlCol="0" anchor="t"/>
          <a:lstStyle/>
          <a:p>
            <a:pPr indent="0" marL="0">
              <a:buNone/>
            </a:pPr>
            <a:r>
              <a:rPr lang="en-US" sz="1667" b="1" dirty="0">
                <a:solidFill>
                  <a:srgbClr val="10243E"/>
                </a:solidFill>
                <a:latin typeface="Calibri" pitchFamily="34" charset="0"/>
                <a:ea typeface="Calibri" pitchFamily="34" charset="-122"/>
                <a:cs typeface="Calibri" pitchFamily="34" charset="-120"/>
              </a:rPr>
              <a:t>Vì sao chọn làm baseline</a:t>
            </a:r>
            <a:endParaRPr lang="en-US" sz="1667" dirty="0"/>
          </a:p>
          <a:p>
            <a:pPr indent="0" marL="0">
              <a:buNone/>
            </a:pPr>
            <a:r>
              <a:rPr lang="en-US" sz="1667" dirty="0">
                <a:solidFill>
                  <a:srgbClr val="1B2B3A"/>
                </a:solidFill>
                <a:latin typeface="Calibri" pitchFamily="34" charset="0"/>
                <a:ea typeface="Calibri" pitchFamily="34" charset="-122"/>
                <a:cs typeface="Calibri" pitchFamily="34" charset="-120"/>
              </a:rPr>
              <a:t>Đã bình duyệt, có mã nguồn mở, chạy được trên LongMemEval. Đối chứng tốt cho hệ dựa trên đồ thị của nhóm.</a:t>
            </a:r>
            <a:endParaRPr lang="en-US" sz="1667"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3">
    <p:bg>
      <p:bgPr>
        <a:solidFill>
          <a:srgbClr val="F7F9FB"/>
        </a:solidFill>
      </p:bgPr>
    </p:bg>
    <p:spTree>
      <p:nvGrpSpPr>
        <p:cNvPr id="1" name=""/>
        <p:cNvGrpSpPr/>
        <p:nvPr/>
      </p:nvGrpSpPr>
      <p:grpSpPr>
        <a:xfrm>
          <a:off x="0" y="0"/>
          <a:ext cx="0" cy="0"/>
          <a:chOff x="0" y="0"/>
          <a:chExt cx="0" cy="0"/>
        </a:xfrm>
      </p:grpSpPr>
      <p:sp>
        <p:nvSpPr>
          <p:cNvPr id="2" name="Text 0"/>
          <p:cNvSpPr txBox="1"/>
          <p:nvPr/>
        </p:nvSpPr>
        <p:spPr>
          <a:xfrm>
            <a:off x="609598" y="365759"/>
            <a:ext cx="10972773" cy="365759"/>
          </a:xfrm>
          <a:prstGeom prst="rect">
            <a:avLst/>
          </a:prstGeom>
          <a:noFill/>
          <a:ln/>
        </p:spPr>
        <p:txBody>
          <a:bodyPr wrap="square" lIns="0" tIns="0" rIns="0" bIns="0" rtlCol="0" anchor="ctr"/>
          <a:lstStyle/>
          <a:p>
            <a:pPr indent="0" marL="0">
              <a:buNone/>
            </a:pPr>
            <a:r>
              <a:rPr lang="en-US" sz="1467" b="1" dirty="0">
                <a:solidFill>
                  <a:srgbClr val="1F6F8B"/>
                </a:solidFill>
                <a:latin typeface="Calibri" pitchFamily="34" charset="0"/>
                <a:ea typeface="Calibri" pitchFamily="34" charset="-122"/>
                <a:cs typeface="Calibri" pitchFamily="34" charset="-120"/>
              </a:rPr>
              <a:t>SO SÁNH KIẾN TRÚC</a:t>
            </a:r>
            <a:endParaRPr lang="en-US" sz="1467" dirty="0"/>
          </a:p>
        </p:txBody>
      </p:sp>
      <p:sp>
        <p:nvSpPr>
          <p:cNvPr id="3" name="Text 1"/>
          <p:cNvSpPr txBox="1"/>
          <p:nvPr/>
        </p:nvSpPr>
        <p:spPr>
          <a:xfrm>
            <a:off x="609598" y="670558"/>
            <a:ext cx="10972773" cy="731518"/>
          </a:xfrm>
          <a:prstGeom prst="rect">
            <a:avLst/>
          </a:prstGeom>
          <a:noFill/>
          <a:ln/>
        </p:spPr>
        <p:txBody>
          <a:bodyPr wrap="square" lIns="0" tIns="0" rIns="0" bIns="0" rtlCol="0" anchor="ctr"/>
          <a:lstStyle/>
          <a:p>
            <a:pPr indent="0" marL="0">
              <a:buNone/>
            </a:pPr>
            <a:r>
              <a:rPr lang="en-US" sz="3467" b="1" dirty="0">
                <a:solidFill>
                  <a:srgbClr val="10243E"/>
                </a:solidFill>
                <a:latin typeface="Cambria" pitchFamily="34" charset="0"/>
                <a:ea typeface="Cambria" pitchFamily="34" charset="-122"/>
                <a:cs typeface="Cambria" pitchFamily="34" charset="-120"/>
              </a:rPr>
              <a:t>Hai hệ khác nhau ở những điểm nào</a:t>
            </a:r>
            <a:endParaRPr lang="en-US" sz="3467"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87679" y="1523996"/>
          <a:ext cx="11094692" cy="914400"/>
        </p:xfrm>
        <a:graphic>
          <a:graphicData uri="http://schemas.openxmlformats.org/drawingml/2006/table">
            <a:tbl>
              <a:tblPr/>
              <a:tblGrid>
                <a:gridCol w="2560314"/>
                <a:gridCol w="3901430"/>
                <a:gridCol w="4632948"/>
              </a:tblGrid>
              <a:tr h="560831">
                <a:tc>
                  <a:txBody>
                    <a:bodyPr/>
                    <a:lstStyle/>
                    <a:p>
                      <a:pPr indent="0" marL="0">
                        <a:buNone/>
                      </a:pPr>
                      <a:endParaRPr lang="en-US" sz="14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1F6F8B"/>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LightMem</a:t>
                      </a:r>
                      <a:endParaRPr lang="en-US" sz="14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1F6F8B"/>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APEX-MEM</a:t>
                      </a:r>
                      <a:endParaRPr lang="en-US" sz="14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1F6F8B"/>
                    </a:solidFill>
                  </a:tcPr>
                </a:tc>
              </a:tr>
              <a:tr h="560831">
                <a:tc>
                  <a:txBody>
                    <a:bodyPr/>
                    <a:lstStyle/>
                    <a:p>
                      <a:pPr indent="0" marL="0">
                        <a:buNone/>
                      </a:pPr>
                      <a:r>
                        <a:rPr lang="en-US" sz="1400" b="1" dirty="0">
                          <a:solidFill>
                            <a:srgbClr val="10243E"/>
                          </a:solidFill>
                          <a:latin typeface="Calibri" pitchFamily="34" charset="0"/>
                          <a:ea typeface="Calibri" pitchFamily="34" charset="-122"/>
                          <a:cs typeface="Calibri" pitchFamily="34" charset="-120"/>
                        </a:rPr>
                        <a:t>Dạng ký ức</a:t>
                      </a:r>
                      <a:endParaRPr lang="en-US" sz="14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400" dirty="0">
                          <a:solidFill>
                            <a:srgbClr val="1B2B3A"/>
                          </a:solidFill>
                          <a:latin typeface="Calibri" pitchFamily="34" charset="0"/>
                          <a:ea typeface="Calibri" pitchFamily="34" charset="-122"/>
                          <a:cs typeface="Calibri" pitchFamily="34" charset="-120"/>
                        </a:rPr>
                        <a:t>Đoạn tóm tắt ngắn: fact kèm metadata, đã nén trước khi lưu</a:t>
                      </a:r>
                      <a:endParaRPr lang="en-US" sz="14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400" dirty="0">
                          <a:solidFill>
                            <a:srgbClr val="1B2B3A"/>
                          </a:solidFill>
                          <a:latin typeface="Calibri" pitchFamily="34" charset="0"/>
                          <a:ea typeface="Calibri" pitchFamily="34" charset="-122"/>
                          <a:cs typeface="Calibri" pitchFamily="34" charset="-120"/>
                        </a:rPr>
                        <a:t>Đồ thị thuộc tính: thực thể, sự kiện, fact có mốc thời gian và bằng chứng (7 bảng SQLite)</a:t>
                      </a:r>
                      <a:endParaRPr lang="en-US" sz="14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r>
              <a:tr h="560831">
                <a:tc>
                  <a:txBody>
                    <a:bodyPr/>
                    <a:lstStyle/>
                    <a:p>
                      <a:pPr indent="0" marL="0">
                        <a:buNone/>
                      </a:pPr>
                      <a:r>
                        <a:rPr lang="en-US" sz="1400" b="1" dirty="0">
                          <a:solidFill>
                            <a:srgbClr val="10243E"/>
                          </a:solidFill>
                          <a:latin typeface="Calibri" pitchFamily="34" charset="0"/>
                          <a:ea typeface="Calibri" pitchFamily="34" charset="-122"/>
                          <a:cs typeface="Calibri" pitchFamily="34" charset="-120"/>
                        </a:rPr>
                        <a:t>Lượt được lưu</a:t>
                      </a:r>
                      <a:endParaRPr lang="en-US" sz="14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400" b="1" dirty="0">
                          <a:solidFill>
                            <a:srgbClr val="C8553D"/>
                          </a:solidFill>
                          <a:latin typeface="Calibri" pitchFamily="34" charset="0"/>
                          <a:ea typeface="Calibri" pitchFamily="34" charset="-122"/>
                          <a:cs typeface="Calibri" pitchFamily="34" charset="-120"/>
                        </a:rPr>
                        <a:t>Chỉ lượt người dùng</a:t>
                      </a:r>
                      <a:endParaRPr lang="en-US" sz="14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400" b="1" dirty="0">
                          <a:solidFill>
                            <a:srgbClr val="1F6F8B"/>
                          </a:solidFill>
                          <a:latin typeface="Calibri" pitchFamily="34" charset="0"/>
                          <a:ea typeface="Calibri" pitchFamily="34" charset="-122"/>
                          <a:cs typeface="Calibri" pitchFamily="34" charset="-120"/>
                        </a:rPr>
                        <a:t>Cả lượt người dùng và lượt trợ lý</a:t>
                      </a:r>
                      <a:endParaRPr lang="en-US" sz="14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r>
              <a:tr h="560831">
                <a:tc>
                  <a:txBody>
                    <a:bodyPr/>
                    <a:lstStyle/>
                    <a:p>
                      <a:pPr indent="0" marL="0">
                        <a:buNone/>
                      </a:pPr>
                      <a:r>
                        <a:rPr lang="en-US" sz="1400" b="1" dirty="0">
                          <a:solidFill>
                            <a:srgbClr val="10243E"/>
                          </a:solidFill>
                          <a:latin typeface="Calibri" pitchFamily="34" charset="0"/>
                          <a:ea typeface="Calibri" pitchFamily="34" charset="-122"/>
                          <a:cs typeface="Calibri" pitchFamily="34" charset="-120"/>
                        </a:rPr>
                        <a:t>Biết câu hỏi lúc dựng</a:t>
                      </a:r>
                      <a:endParaRPr lang="en-US" sz="14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400" b="1" dirty="0">
                          <a:solidFill>
                            <a:srgbClr val="C8553D"/>
                          </a:solidFill>
                          <a:latin typeface="Calibri" pitchFamily="34" charset="0"/>
                          <a:ea typeface="Calibri" pitchFamily="34" charset="-122"/>
                          <a:cs typeface="Calibri" pitchFamily="34" charset="-120"/>
                        </a:rPr>
                        <a:t>Không: dựng từ toàn bộ haystack</a:t>
                      </a:r>
                      <a:endParaRPr lang="en-US" sz="14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400" b="1" dirty="0">
                          <a:solidFill>
                            <a:srgbClr val="1F6F8B"/>
                          </a:solidFill>
                          <a:latin typeface="Calibri" pitchFamily="34" charset="0"/>
                          <a:ea typeface="Calibri" pitchFamily="34" charset="-122"/>
                          <a:cs typeface="Calibri" pitchFamily="34" charset="-120"/>
                        </a:rPr>
                        <a:t>Có: lọc còn khoảng 8 trên 47 phiên theo độ liên quan với câu hỏi</a:t>
                      </a:r>
                      <a:endParaRPr lang="en-US" sz="14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r>
              <a:tr h="560831">
                <a:tc>
                  <a:txBody>
                    <a:bodyPr/>
                    <a:lstStyle/>
                    <a:p>
                      <a:pPr indent="0" marL="0">
                        <a:buNone/>
                      </a:pPr>
                      <a:r>
                        <a:rPr lang="en-US" sz="1400" b="1" dirty="0">
                          <a:solidFill>
                            <a:srgbClr val="10243E"/>
                          </a:solidFill>
                          <a:latin typeface="Calibri" pitchFamily="34" charset="0"/>
                          <a:ea typeface="Calibri" pitchFamily="34" charset="-122"/>
                          <a:cs typeface="Calibri" pitchFamily="34" charset="-120"/>
                        </a:rPr>
                        <a:t>Khi thông tin đổi</a:t>
                      </a:r>
                      <a:endParaRPr lang="en-US" sz="14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400" dirty="0">
                          <a:solidFill>
                            <a:srgbClr val="1B2B3A"/>
                          </a:solidFill>
                          <a:latin typeface="Calibri" pitchFamily="34" charset="0"/>
                          <a:ea typeface="Calibri" pitchFamily="34" charset="-122"/>
                          <a:cs typeface="Calibri" pitchFamily="34" charset="-120"/>
                        </a:rPr>
                        <a:t>Mỗi fact lưu riêng; bước gộp ký ức offline là script riêng, không chạy trong lần đo này</a:t>
                      </a:r>
                      <a:endParaRPr lang="en-US" sz="14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400" dirty="0">
                          <a:solidFill>
                            <a:srgbClr val="1B2B3A"/>
                          </a:solidFill>
                          <a:latin typeface="Calibri" pitchFamily="34" charset="0"/>
                          <a:ea typeface="Calibri" pitchFamily="34" charset="-122"/>
                          <a:cs typeface="Calibri" pitchFamily="34" charset="-120"/>
                        </a:rPr>
                        <a:t>Chỉ ghi thêm, giữ mọi phiên bản; agent chọn bản hợp lệ lúc đọc</a:t>
                      </a:r>
                      <a:endParaRPr lang="en-US" sz="14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r>
              <a:tr h="560831">
                <a:tc>
                  <a:txBody>
                    <a:bodyPr/>
                    <a:lstStyle/>
                    <a:p>
                      <a:pPr indent="0" marL="0">
                        <a:buNone/>
                      </a:pPr>
                      <a:r>
                        <a:rPr lang="en-US" sz="1400" b="1" dirty="0">
                          <a:solidFill>
                            <a:srgbClr val="10243E"/>
                          </a:solidFill>
                          <a:latin typeface="Calibri" pitchFamily="34" charset="0"/>
                          <a:ea typeface="Calibri" pitchFamily="34" charset="-122"/>
                          <a:cs typeface="Calibri" pitchFamily="34" charset="-120"/>
                        </a:rPr>
                        <a:t>Cách truy xuất</a:t>
                      </a:r>
                      <a:endParaRPr lang="en-US" sz="14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400" dirty="0">
                          <a:solidFill>
                            <a:srgbClr val="1B2B3A"/>
                          </a:solidFill>
                          <a:latin typeface="Calibri" pitchFamily="34" charset="0"/>
                          <a:ea typeface="Calibri" pitchFamily="34" charset="-122"/>
                          <a:cs typeface="Calibri" pitchFamily="34" charset="-120"/>
                        </a:rPr>
                        <a:t>Một lần tìm vector, lấy 20 ký ức gần nhất</a:t>
                      </a:r>
                      <a:endParaRPr lang="en-US" sz="14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400" dirty="0">
                          <a:solidFill>
                            <a:srgbClr val="1B2B3A"/>
                          </a:solidFill>
                          <a:latin typeface="Calibri" pitchFamily="34" charset="0"/>
                          <a:ea typeface="Calibri" pitchFamily="34" charset="-122"/>
                          <a:cs typeface="Calibri" pitchFamily="34" charset="-120"/>
                        </a:rPr>
                        <a:t>Agent ReAct tối đa 20 bước, 5 công cụ: xem lược đồ, tra thực thể, SQL, tìm lai, tìm thuộc tính</a:t>
                      </a:r>
                      <a:endParaRPr lang="en-US" sz="14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r>
              <a:tr h="560831">
                <a:tc>
                  <a:txBody>
                    <a:bodyPr/>
                    <a:lstStyle/>
                    <a:p>
                      <a:pPr indent="0" marL="0">
                        <a:buNone/>
                      </a:pPr>
                      <a:r>
                        <a:rPr lang="en-US" sz="1400" b="1" dirty="0">
                          <a:solidFill>
                            <a:srgbClr val="10243E"/>
                          </a:solidFill>
                          <a:latin typeface="Calibri" pitchFamily="34" charset="0"/>
                          <a:ea typeface="Calibri" pitchFamily="34" charset="-122"/>
                          <a:cs typeface="Calibri" pitchFamily="34" charset="-120"/>
                        </a:rPr>
                        <a:t>Lời gọi LLM khi dựng, mỗi câu</a:t>
                      </a:r>
                      <a:endParaRPr lang="en-US" sz="14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400" dirty="0">
                          <a:solidFill>
                            <a:srgbClr val="5B6B7A"/>
                          </a:solidFill>
                          <a:latin typeface="Calibri" pitchFamily="34" charset="0"/>
                          <a:ea typeface="Calibri" pitchFamily="34" charset="-122"/>
                          <a:cs typeface="Calibri" pitchFamily="34" charset="-120"/>
                        </a:rPr>
                        <a:t>chưa ghi</a:t>
                      </a:r>
                      <a:endParaRPr lang="en-US" sz="14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400" dirty="0">
                          <a:solidFill>
                            <a:srgbClr val="1B2B3A"/>
                          </a:solidFill>
                          <a:latin typeface="Calibri" pitchFamily="34" charset="0"/>
                          <a:ea typeface="Calibri" pitchFamily="34" charset="-122"/>
                          <a:cs typeface="Calibri" pitchFamily="34" charset="-120"/>
                        </a:rPr>
                        <a:t>22,4</a:t>
                      </a:r>
                      <a:endParaRPr lang="en-US" sz="14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r>
            </a:tbl>
          </a:graphicData>
        </a:graphic>
      </p:graphicFrame>
      <p:sp>
        <p:nvSpPr>
          <p:cNvPr id="6" name="Shape 2"/>
          <p:cNvSpPr/>
          <p:nvPr/>
        </p:nvSpPr>
        <p:spPr>
          <a:xfrm>
            <a:off x="487679" y="5730226"/>
            <a:ext cx="11094692" cy="792478"/>
          </a:xfrm>
          <a:prstGeom prst="rect">
            <a:avLst/>
          </a:prstGeom>
          <a:solidFill>
            <a:srgbClr val="FDF3E1"/>
          </a:solidFill>
          <a:ln w="9525">
            <a:solidFill>
              <a:srgbClr val="DCE3EA"/>
            </a:solidFill>
            <a:prstDash val="solid"/>
          </a:ln>
        </p:spPr>
      </p:sp>
      <p:sp>
        <p:nvSpPr>
          <p:cNvPr id="7" name="Text 3"/>
          <p:cNvSpPr txBox="1"/>
          <p:nvPr/>
        </p:nvSpPr>
        <p:spPr>
          <a:xfrm>
            <a:off x="731518" y="5766802"/>
            <a:ext cx="10607013" cy="731518"/>
          </a:xfrm>
          <a:prstGeom prst="rect">
            <a:avLst/>
          </a:prstGeom>
          <a:noFill/>
          <a:ln/>
        </p:spPr>
        <p:txBody>
          <a:bodyPr wrap="square" lIns="0" tIns="0" rIns="0" bIns="0" rtlCol="0" anchor="ctr"/>
          <a:lstStyle/>
          <a:p>
            <a:pPr indent="0" marL="0">
              <a:buNone/>
            </a:pPr>
            <a:r>
              <a:rPr lang="en-US" sz="1400" b="1" dirty="0">
                <a:solidFill>
                  <a:srgbClr val="C8553D"/>
                </a:solidFill>
                <a:latin typeface="Calibri" pitchFamily="34" charset="0"/>
                <a:ea typeface="Calibri" pitchFamily="34" charset="-122"/>
                <a:cs typeface="Calibri" pitchFamily="34" charset="-120"/>
              </a:rPr>
              <a:t>Hai khác biệt lớn nhất: </a:t>
            </a:r>
            <a:pPr indent="0" marL="0">
              <a:buNone/>
            </a:pPr>
            <a:r>
              <a:rPr lang="en-US" sz="1400" dirty="0">
                <a:solidFill>
                  <a:srgbClr val="1B2B3A"/>
                </a:solidFill>
                <a:latin typeface="Calibri" pitchFamily="34" charset="0"/>
                <a:ea typeface="Calibri" pitchFamily="34" charset="-122"/>
                <a:cs typeface="Calibri" pitchFamily="34" charset="-120"/>
              </a:rPr>
              <a:t>lượt được lưu và việc biết câu hỏi lúc dựng. Cả hai là khác biệt về giao thức chứ không phải về đồ thị, đều có thể ảnh hưởng kết quả, và phép so sánh hiện tại chưa tách được từng yếu tố.</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4">
    <p:bg>
      <p:bgPr>
        <a:solidFill>
          <a:srgbClr val="F7F9FB"/>
        </a:solidFill>
      </p:bgPr>
    </p:bg>
    <p:spTree>
      <p:nvGrpSpPr>
        <p:cNvPr id="1" name=""/>
        <p:cNvGrpSpPr/>
        <p:nvPr/>
      </p:nvGrpSpPr>
      <p:grpSpPr>
        <a:xfrm>
          <a:off x="0" y="0"/>
          <a:ext cx="0" cy="0"/>
          <a:chOff x="0" y="0"/>
          <a:chExt cx="0" cy="0"/>
        </a:xfrm>
      </p:grpSpPr>
      <p:sp>
        <p:nvSpPr>
          <p:cNvPr id="2" name="Text 0"/>
          <p:cNvSpPr txBox="1"/>
          <p:nvPr/>
        </p:nvSpPr>
        <p:spPr>
          <a:xfrm>
            <a:off x="609598" y="365759"/>
            <a:ext cx="10972773" cy="365759"/>
          </a:xfrm>
          <a:prstGeom prst="rect">
            <a:avLst/>
          </a:prstGeom>
          <a:noFill/>
          <a:ln/>
        </p:spPr>
        <p:txBody>
          <a:bodyPr wrap="square" lIns="0" tIns="0" rIns="0" bIns="0" rtlCol="0" anchor="ctr"/>
          <a:lstStyle/>
          <a:p>
            <a:pPr indent="0" marL="0">
              <a:buNone/>
            </a:pPr>
            <a:r>
              <a:rPr lang="en-US" sz="1467" b="1" dirty="0">
                <a:solidFill>
                  <a:srgbClr val="1F6F8B"/>
                </a:solidFill>
                <a:latin typeface="Calibri" pitchFamily="34" charset="0"/>
                <a:ea typeface="Calibri" pitchFamily="34" charset="-122"/>
                <a:cs typeface="Calibri" pitchFamily="34" charset="-120"/>
              </a:rPr>
              <a:t>CÁCH CHẠY</a:t>
            </a:r>
            <a:endParaRPr lang="en-US" sz="1467" dirty="0"/>
          </a:p>
        </p:txBody>
      </p:sp>
      <p:sp>
        <p:nvSpPr>
          <p:cNvPr id="3" name="Text 1"/>
          <p:cNvSpPr txBox="1"/>
          <p:nvPr/>
        </p:nvSpPr>
        <p:spPr>
          <a:xfrm>
            <a:off x="609598" y="670558"/>
            <a:ext cx="10972773" cy="731518"/>
          </a:xfrm>
          <a:prstGeom prst="rect">
            <a:avLst/>
          </a:prstGeom>
          <a:noFill/>
          <a:ln/>
        </p:spPr>
        <p:txBody>
          <a:bodyPr wrap="square" lIns="0" tIns="0" rIns="0" bIns="0" rtlCol="0" anchor="ctr"/>
          <a:lstStyle/>
          <a:p>
            <a:pPr indent="0" marL="0">
              <a:buNone/>
            </a:pPr>
            <a:r>
              <a:rPr lang="en-US" sz="3467" b="1" dirty="0">
                <a:solidFill>
                  <a:srgbClr val="10243E"/>
                </a:solidFill>
                <a:latin typeface="Cambria" pitchFamily="34" charset="0"/>
                <a:ea typeface="Cambria" pitchFamily="34" charset="-122"/>
                <a:cs typeface="Cambria" pitchFamily="34" charset="-120"/>
              </a:rPr>
              <a:t>Thiết lập thực nghiệm</a:t>
            </a:r>
            <a:endParaRPr lang="en-US" sz="3467" dirty="0"/>
          </a:p>
        </p:txBody>
      </p:sp>
      <p:sp>
        <p:nvSpPr>
          <p:cNvPr id="5" name="Text 2"/>
          <p:cNvSpPr txBox="1"/>
          <p:nvPr/>
        </p:nvSpPr>
        <p:spPr>
          <a:xfrm>
            <a:off x="609598" y="1584956"/>
            <a:ext cx="2804153" cy="609598"/>
          </a:xfrm>
          <a:prstGeom prst="rect">
            <a:avLst/>
          </a:prstGeom>
          <a:noFill/>
          <a:ln/>
        </p:spPr>
        <p:txBody>
          <a:bodyPr wrap="square" lIns="0" tIns="0" rIns="0" bIns="0" rtlCol="0" anchor="ctr"/>
          <a:lstStyle/>
          <a:p>
            <a:pPr indent="0" marL="0">
              <a:buNone/>
            </a:pPr>
            <a:r>
              <a:rPr lang="en-US" sz="1600" b="1" dirty="0">
                <a:solidFill>
                  <a:srgbClr val="1F6F8B"/>
                </a:solidFill>
                <a:latin typeface="Calibri" pitchFamily="34" charset="0"/>
                <a:ea typeface="Calibri" pitchFamily="34" charset="-122"/>
                <a:cs typeface="Calibri" pitchFamily="34" charset="-120"/>
              </a:rPr>
              <a:t>Dữ liệu</a:t>
            </a:r>
            <a:endParaRPr lang="en-US" sz="1600" dirty="0"/>
          </a:p>
        </p:txBody>
      </p:sp>
      <p:sp>
        <p:nvSpPr>
          <p:cNvPr id="6" name="Text 3"/>
          <p:cNvSpPr txBox="1"/>
          <p:nvPr/>
        </p:nvSpPr>
        <p:spPr>
          <a:xfrm>
            <a:off x="3413751" y="1584956"/>
            <a:ext cx="4998708" cy="609598"/>
          </a:xfrm>
          <a:prstGeom prst="rect">
            <a:avLst/>
          </a:prstGeom>
          <a:noFill/>
          <a:ln/>
        </p:spPr>
        <p:txBody>
          <a:bodyPr wrap="square" lIns="0" tIns="0" rIns="0" bIns="0" rtlCol="0" anchor="ctr"/>
          <a:lstStyle/>
          <a:p>
            <a:pPr indent="0" marL="0">
              <a:buNone/>
            </a:pPr>
            <a:r>
              <a:rPr lang="en-US" sz="1533" dirty="0">
                <a:solidFill>
                  <a:srgbClr val="1B2B3A"/>
                </a:solidFill>
                <a:latin typeface="Calibri" pitchFamily="34" charset="0"/>
                <a:ea typeface="Calibri" pitchFamily="34" charset="-122"/>
                <a:cs typeface="Calibri" pitchFamily="34" charset="-120"/>
              </a:rPr>
              <a:t>LongMemEval-S, 500 câu, mỗi câu một haystack ~115K token</a:t>
            </a:r>
            <a:endParaRPr lang="en-US" sz="1533" dirty="0"/>
          </a:p>
        </p:txBody>
      </p:sp>
      <p:sp>
        <p:nvSpPr>
          <p:cNvPr id="7" name="Text 4"/>
          <p:cNvSpPr txBox="1"/>
          <p:nvPr/>
        </p:nvSpPr>
        <p:spPr>
          <a:xfrm>
            <a:off x="609598" y="2255514"/>
            <a:ext cx="2804153" cy="609598"/>
          </a:xfrm>
          <a:prstGeom prst="rect">
            <a:avLst/>
          </a:prstGeom>
          <a:noFill/>
          <a:ln/>
        </p:spPr>
        <p:txBody>
          <a:bodyPr wrap="square" lIns="0" tIns="0" rIns="0" bIns="0" rtlCol="0" anchor="ctr"/>
          <a:lstStyle/>
          <a:p>
            <a:pPr indent="0" marL="0">
              <a:buNone/>
            </a:pPr>
            <a:r>
              <a:rPr lang="en-US" sz="1600" b="1" dirty="0">
                <a:solidFill>
                  <a:srgbClr val="1F6F8B"/>
                </a:solidFill>
                <a:latin typeface="Calibri" pitchFamily="34" charset="0"/>
                <a:ea typeface="Calibri" pitchFamily="34" charset="-122"/>
                <a:cs typeface="Calibri" pitchFamily="34" charset="-120"/>
              </a:rPr>
              <a:t>Chia tập</a:t>
            </a:r>
            <a:endParaRPr lang="en-US" sz="1600" dirty="0"/>
          </a:p>
        </p:txBody>
      </p:sp>
      <p:sp>
        <p:nvSpPr>
          <p:cNvPr id="8" name="Text 5"/>
          <p:cNvSpPr txBox="1"/>
          <p:nvPr/>
        </p:nvSpPr>
        <p:spPr>
          <a:xfrm>
            <a:off x="3413751" y="2255514"/>
            <a:ext cx="4998708" cy="609598"/>
          </a:xfrm>
          <a:prstGeom prst="rect">
            <a:avLst/>
          </a:prstGeom>
          <a:noFill/>
          <a:ln/>
        </p:spPr>
        <p:txBody>
          <a:bodyPr wrap="square" lIns="0" tIns="0" rIns="0" bIns="0" rtlCol="0" anchor="ctr"/>
          <a:lstStyle/>
          <a:p>
            <a:pPr indent="0" marL="0">
              <a:buNone/>
            </a:pPr>
            <a:r>
              <a:rPr lang="en-US" sz="1533" dirty="0">
                <a:solidFill>
                  <a:srgbClr val="1B2B3A"/>
                </a:solidFill>
                <a:latin typeface="Calibri" pitchFamily="34" charset="0"/>
                <a:ea typeface="Calibri" pitchFamily="34" charset="-122"/>
                <a:cs typeface="Calibri" pitchFamily="34" charset="-120"/>
              </a:rPr>
              <a:t>Dev 150 / test 350, phân tầng theo loại, seed 42 (khớp split.json của nhóm)</a:t>
            </a:r>
            <a:endParaRPr lang="en-US" sz="1533" dirty="0"/>
          </a:p>
        </p:txBody>
      </p:sp>
      <p:sp>
        <p:nvSpPr>
          <p:cNvPr id="9" name="Text 6"/>
          <p:cNvSpPr txBox="1"/>
          <p:nvPr/>
        </p:nvSpPr>
        <p:spPr>
          <a:xfrm>
            <a:off x="609598" y="2926073"/>
            <a:ext cx="2804153" cy="609598"/>
          </a:xfrm>
          <a:prstGeom prst="rect">
            <a:avLst/>
          </a:prstGeom>
          <a:noFill/>
          <a:ln/>
        </p:spPr>
        <p:txBody>
          <a:bodyPr wrap="square" lIns="0" tIns="0" rIns="0" bIns="0" rtlCol="0" anchor="ctr"/>
          <a:lstStyle/>
          <a:p>
            <a:pPr indent="0" marL="0">
              <a:buNone/>
            </a:pPr>
            <a:r>
              <a:rPr lang="en-US" sz="1600" b="1" dirty="0">
                <a:solidFill>
                  <a:srgbClr val="1F6F8B"/>
                </a:solidFill>
                <a:latin typeface="Calibri" pitchFamily="34" charset="0"/>
                <a:ea typeface="Calibri" pitchFamily="34" charset="-122"/>
                <a:cs typeface="Calibri" pitchFamily="34" charset="-120"/>
              </a:rPr>
              <a:t>Model trả lời (cả hai hệ)</a:t>
            </a:r>
            <a:endParaRPr lang="en-US" sz="1600" dirty="0"/>
          </a:p>
        </p:txBody>
      </p:sp>
      <p:sp>
        <p:nvSpPr>
          <p:cNvPr id="10" name="Text 7"/>
          <p:cNvSpPr txBox="1"/>
          <p:nvPr/>
        </p:nvSpPr>
        <p:spPr>
          <a:xfrm>
            <a:off x="3413751" y="2926073"/>
            <a:ext cx="4998708" cy="609598"/>
          </a:xfrm>
          <a:prstGeom prst="rect">
            <a:avLst/>
          </a:prstGeom>
          <a:noFill/>
          <a:ln/>
        </p:spPr>
        <p:txBody>
          <a:bodyPr wrap="square" lIns="0" tIns="0" rIns="0" bIns="0" rtlCol="0" anchor="ctr"/>
          <a:lstStyle/>
          <a:p>
            <a:pPr indent="0" marL="0">
              <a:buNone/>
            </a:pPr>
            <a:r>
              <a:rPr lang="en-US" sz="1533" dirty="0">
                <a:solidFill>
                  <a:srgbClr val="1B2B3A"/>
                </a:solidFill>
                <a:latin typeface="Calibri" pitchFamily="34" charset="0"/>
                <a:ea typeface="Calibri" pitchFamily="34" charset="-122"/>
                <a:cs typeface="Calibri" pitchFamily="34" charset="-120"/>
              </a:rPr>
              <a:t>cx/gpt-5.6-luna</a:t>
            </a:r>
            <a:endParaRPr lang="en-US" sz="1533" dirty="0"/>
          </a:p>
        </p:txBody>
      </p:sp>
      <p:sp>
        <p:nvSpPr>
          <p:cNvPr id="11" name="Text 8"/>
          <p:cNvSpPr txBox="1"/>
          <p:nvPr/>
        </p:nvSpPr>
        <p:spPr>
          <a:xfrm>
            <a:off x="609598" y="3596631"/>
            <a:ext cx="2804153" cy="609598"/>
          </a:xfrm>
          <a:prstGeom prst="rect">
            <a:avLst/>
          </a:prstGeom>
          <a:noFill/>
          <a:ln/>
        </p:spPr>
        <p:txBody>
          <a:bodyPr wrap="square" lIns="0" tIns="0" rIns="0" bIns="0" rtlCol="0" anchor="ctr"/>
          <a:lstStyle/>
          <a:p>
            <a:pPr indent="0" marL="0">
              <a:buNone/>
            </a:pPr>
            <a:r>
              <a:rPr lang="en-US" sz="1600" b="1" dirty="0">
                <a:solidFill>
                  <a:srgbClr val="1F6F8B"/>
                </a:solidFill>
                <a:latin typeface="Calibri" pitchFamily="34" charset="0"/>
                <a:ea typeface="Calibri" pitchFamily="34" charset="-122"/>
                <a:cs typeface="Calibri" pitchFamily="34" charset="-120"/>
              </a:rPr>
              <a:t>Model chấm (cả hai hệ)</a:t>
            </a:r>
            <a:endParaRPr lang="en-US" sz="1600" dirty="0"/>
          </a:p>
        </p:txBody>
      </p:sp>
      <p:sp>
        <p:nvSpPr>
          <p:cNvPr id="12" name="Text 9"/>
          <p:cNvSpPr txBox="1"/>
          <p:nvPr/>
        </p:nvSpPr>
        <p:spPr>
          <a:xfrm>
            <a:off x="3413751" y="3596631"/>
            <a:ext cx="4998708" cy="609598"/>
          </a:xfrm>
          <a:prstGeom prst="rect">
            <a:avLst/>
          </a:prstGeom>
          <a:noFill/>
          <a:ln/>
        </p:spPr>
        <p:txBody>
          <a:bodyPr wrap="square" lIns="0" tIns="0" rIns="0" bIns="0" rtlCol="0" anchor="ctr"/>
          <a:lstStyle/>
          <a:p>
            <a:pPr indent="0" marL="0">
              <a:buNone/>
            </a:pPr>
            <a:r>
              <a:rPr lang="en-US" sz="1533" dirty="0">
                <a:solidFill>
                  <a:srgbClr val="1B2B3A"/>
                </a:solidFill>
                <a:latin typeface="Calibri" pitchFamily="34" charset="0"/>
                <a:ea typeface="Calibri" pitchFamily="34" charset="-122"/>
                <a:cs typeface="Calibri" pitchFamily="34" charset="-120"/>
              </a:rPr>
              <a:t>cx/gpt-5.6-terra — khác model trả lời</a:t>
            </a:r>
            <a:endParaRPr lang="en-US" sz="1533" dirty="0"/>
          </a:p>
        </p:txBody>
      </p:sp>
      <p:sp>
        <p:nvSpPr>
          <p:cNvPr id="13" name="Text 10"/>
          <p:cNvSpPr txBox="1"/>
          <p:nvPr/>
        </p:nvSpPr>
        <p:spPr>
          <a:xfrm>
            <a:off x="609598" y="4267189"/>
            <a:ext cx="2804153" cy="609598"/>
          </a:xfrm>
          <a:prstGeom prst="rect">
            <a:avLst/>
          </a:prstGeom>
          <a:noFill/>
          <a:ln/>
        </p:spPr>
        <p:txBody>
          <a:bodyPr wrap="square" lIns="0" tIns="0" rIns="0" bIns="0" rtlCol="0" anchor="ctr"/>
          <a:lstStyle/>
          <a:p>
            <a:pPr indent="0" marL="0">
              <a:buNone/>
            </a:pPr>
            <a:r>
              <a:rPr lang="en-US" sz="1600" b="1" dirty="0">
                <a:solidFill>
                  <a:srgbClr val="1F6F8B"/>
                </a:solidFill>
                <a:latin typeface="Calibri" pitchFamily="34" charset="0"/>
                <a:ea typeface="Calibri" pitchFamily="34" charset="-122"/>
                <a:cs typeface="Calibri" pitchFamily="34" charset="-120"/>
              </a:rPr>
              <a:t>Prompt chấm</a:t>
            </a:r>
            <a:endParaRPr lang="en-US" sz="1600" dirty="0"/>
          </a:p>
        </p:txBody>
      </p:sp>
      <p:sp>
        <p:nvSpPr>
          <p:cNvPr id="14" name="Text 11"/>
          <p:cNvSpPr txBox="1"/>
          <p:nvPr/>
        </p:nvSpPr>
        <p:spPr>
          <a:xfrm>
            <a:off x="3413751" y="4267189"/>
            <a:ext cx="4998708" cy="609598"/>
          </a:xfrm>
          <a:prstGeom prst="rect">
            <a:avLst/>
          </a:prstGeom>
          <a:noFill/>
          <a:ln/>
        </p:spPr>
        <p:txBody>
          <a:bodyPr wrap="square" lIns="0" tIns="0" rIns="0" bIns="0" rtlCol="0" anchor="ctr"/>
          <a:lstStyle/>
          <a:p>
            <a:pPr indent="0" marL="0">
              <a:buNone/>
            </a:pPr>
            <a:r>
              <a:rPr lang="en-US" sz="1533" dirty="0">
                <a:solidFill>
                  <a:srgbClr val="1B2B3A"/>
                </a:solidFill>
                <a:latin typeface="Calibri" pitchFamily="34" charset="0"/>
                <a:ea typeface="Calibri" pitchFamily="34" charset="-122"/>
                <a:cs typeface="Calibri" pitchFamily="34" charset="-120"/>
              </a:rPr>
              <a:t>Prompt chính thức của LongMemEval, theo từng loại câu hỏi</a:t>
            </a:r>
            <a:endParaRPr lang="en-US" sz="1533" dirty="0"/>
          </a:p>
        </p:txBody>
      </p:sp>
      <p:sp>
        <p:nvSpPr>
          <p:cNvPr id="15" name="Text 12"/>
          <p:cNvSpPr txBox="1"/>
          <p:nvPr/>
        </p:nvSpPr>
        <p:spPr>
          <a:xfrm>
            <a:off x="609598" y="4937748"/>
            <a:ext cx="2804153" cy="609598"/>
          </a:xfrm>
          <a:prstGeom prst="rect">
            <a:avLst/>
          </a:prstGeom>
          <a:noFill/>
          <a:ln/>
        </p:spPr>
        <p:txBody>
          <a:bodyPr wrap="square" lIns="0" tIns="0" rIns="0" bIns="0" rtlCol="0" anchor="ctr"/>
          <a:lstStyle/>
          <a:p>
            <a:pPr indent="0" marL="0">
              <a:buNone/>
            </a:pPr>
            <a:r>
              <a:rPr lang="en-US" sz="1600" b="1" dirty="0">
                <a:solidFill>
                  <a:srgbClr val="F2A541"/>
                </a:solidFill>
                <a:latin typeface="Calibri" pitchFamily="34" charset="0"/>
                <a:ea typeface="Calibri" pitchFamily="34" charset="-122"/>
                <a:cs typeface="Calibri" pitchFamily="34" charset="-120"/>
              </a:rPr>
              <a:t>LightMem</a:t>
            </a:r>
            <a:endParaRPr lang="en-US" sz="1600" dirty="0"/>
          </a:p>
        </p:txBody>
      </p:sp>
      <p:sp>
        <p:nvSpPr>
          <p:cNvPr id="16" name="Text 13"/>
          <p:cNvSpPr txBox="1"/>
          <p:nvPr/>
        </p:nvSpPr>
        <p:spPr>
          <a:xfrm>
            <a:off x="3413751" y="4937748"/>
            <a:ext cx="4998708" cy="609598"/>
          </a:xfrm>
          <a:prstGeom prst="rect">
            <a:avLst/>
          </a:prstGeom>
          <a:noFill/>
          <a:ln/>
        </p:spPr>
        <p:txBody>
          <a:bodyPr wrap="square" lIns="0" tIns="0" rIns="0" bIns="0" rtlCol="0" anchor="ctr"/>
          <a:lstStyle/>
          <a:p>
            <a:pPr indent="0" marL="0">
              <a:buNone/>
            </a:pPr>
            <a:r>
              <a:rPr lang="en-US" sz="1533" dirty="0">
                <a:solidFill>
                  <a:srgbClr val="1B2B3A"/>
                </a:solidFill>
                <a:latin typeface="Calibri" pitchFamily="34" charset="0"/>
                <a:ea typeface="Calibri" pitchFamily="34" charset="-122"/>
                <a:cs typeface="Calibri" pitchFamily="34" charset="-120"/>
              </a:rPr>
              <a:t>Top-20 ký ức, MiniLM. Chỉ lưu lượt của người dùng</a:t>
            </a:r>
            <a:endParaRPr lang="en-US" sz="1533" dirty="0"/>
          </a:p>
        </p:txBody>
      </p:sp>
      <p:sp>
        <p:nvSpPr>
          <p:cNvPr id="17" name="Text 14"/>
          <p:cNvSpPr txBox="1"/>
          <p:nvPr/>
        </p:nvSpPr>
        <p:spPr>
          <a:xfrm>
            <a:off x="609598" y="5608306"/>
            <a:ext cx="2804153" cy="609598"/>
          </a:xfrm>
          <a:prstGeom prst="rect">
            <a:avLst/>
          </a:prstGeom>
          <a:noFill/>
          <a:ln/>
        </p:spPr>
        <p:txBody>
          <a:bodyPr wrap="square" lIns="0" tIns="0" rIns="0" bIns="0" rtlCol="0" anchor="ctr"/>
          <a:lstStyle/>
          <a:p>
            <a:pPr indent="0" marL="0">
              <a:buNone/>
            </a:pPr>
            <a:r>
              <a:rPr lang="en-US" sz="1600" b="1" dirty="0">
                <a:solidFill>
                  <a:srgbClr val="F2A541"/>
                </a:solidFill>
                <a:latin typeface="Calibri" pitchFamily="34" charset="0"/>
                <a:ea typeface="Calibri" pitchFamily="34" charset="-122"/>
                <a:cs typeface="Calibri" pitchFamily="34" charset="-120"/>
              </a:rPr>
              <a:t>APEX-MEM</a:t>
            </a:r>
            <a:endParaRPr lang="en-US" sz="1600" dirty="0"/>
          </a:p>
        </p:txBody>
      </p:sp>
      <p:sp>
        <p:nvSpPr>
          <p:cNvPr id="18" name="Text 15"/>
          <p:cNvSpPr txBox="1"/>
          <p:nvPr/>
        </p:nvSpPr>
        <p:spPr>
          <a:xfrm>
            <a:off x="3413751" y="5608306"/>
            <a:ext cx="4998708" cy="609598"/>
          </a:xfrm>
          <a:prstGeom prst="rect">
            <a:avLst/>
          </a:prstGeom>
          <a:noFill/>
          <a:ln/>
        </p:spPr>
        <p:txBody>
          <a:bodyPr wrap="square" lIns="0" tIns="0" rIns="0" bIns="0" rtlCol="0" anchor="ctr"/>
          <a:lstStyle/>
          <a:p>
            <a:pPr indent="0" marL="0">
              <a:buNone/>
            </a:pPr>
            <a:r>
              <a:rPr lang="en-US" sz="1533" dirty="0">
                <a:solidFill>
                  <a:srgbClr val="1B2B3A"/>
                </a:solidFill>
                <a:latin typeface="Calibri" pitchFamily="34" charset="0"/>
                <a:ea typeface="Calibri" pitchFamily="34" charset="-122"/>
                <a:cs typeface="Calibri" pitchFamily="34" charset="-120"/>
              </a:rPr>
              <a:t>Đồ thị SQLite, agent ReAct ≤ 20 bước, BGE-M3. Lưu cả lượt trợ lý</a:t>
            </a:r>
            <a:endParaRPr lang="en-US" sz="1533" dirty="0"/>
          </a:p>
        </p:txBody>
      </p:sp>
      <p:sp>
        <p:nvSpPr>
          <p:cNvPr id="19" name="Shape 16"/>
          <p:cNvSpPr/>
          <p:nvPr/>
        </p:nvSpPr>
        <p:spPr>
          <a:xfrm>
            <a:off x="8656298" y="1706876"/>
            <a:ext cx="2926073" cy="4267189"/>
          </a:xfrm>
          <a:prstGeom prst="rect">
            <a:avLst/>
          </a:prstGeom>
          <a:solidFill>
            <a:srgbClr val="FFFFFF"/>
          </a:solidFill>
          <a:ln w="9525">
            <a:solidFill>
              <a:srgbClr val="DCE3EA"/>
            </a:solidFill>
            <a:prstDash val="solid"/>
          </a:ln>
        </p:spPr>
      </p:sp>
      <p:sp>
        <p:nvSpPr>
          <p:cNvPr id="20" name="Text 17"/>
          <p:cNvSpPr txBox="1"/>
          <p:nvPr/>
        </p:nvSpPr>
        <p:spPr>
          <a:xfrm>
            <a:off x="8656298" y="1950715"/>
            <a:ext cx="2926073" cy="1097277"/>
          </a:xfrm>
          <a:prstGeom prst="rect">
            <a:avLst/>
          </a:prstGeom>
          <a:noFill/>
          <a:ln/>
        </p:spPr>
        <p:txBody>
          <a:bodyPr wrap="square" lIns="0" tIns="0" rIns="0" bIns="0" rtlCol="0" anchor="ctr"/>
          <a:lstStyle/>
          <a:p>
            <a:pPr algn="ctr" indent="0" marL="0">
              <a:buNone/>
            </a:pPr>
            <a:r>
              <a:rPr lang="en-US" sz="7200" b="1" dirty="0">
                <a:solidFill>
                  <a:srgbClr val="1F6F8B"/>
                </a:solidFill>
                <a:latin typeface="Cambria" pitchFamily="34" charset="0"/>
                <a:ea typeface="Cambria" pitchFamily="34" charset="-122"/>
                <a:cs typeface="Cambria" pitchFamily="34" charset="-120"/>
              </a:rPr>
              <a:t>150</a:t>
            </a:r>
            <a:endParaRPr lang="en-US" sz="7200" dirty="0"/>
          </a:p>
        </p:txBody>
      </p:sp>
      <p:sp>
        <p:nvSpPr>
          <p:cNvPr id="21" name="Text 18"/>
          <p:cNvSpPr txBox="1"/>
          <p:nvPr/>
        </p:nvSpPr>
        <p:spPr>
          <a:xfrm>
            <a:off x="8656298" y="3047992"/>
            <a:ext cx="2926073" cy="487679"/>
          </a:xfrm>
          <a:prstGeom prst="rect">
            <a:avLst/>
          </a:prstGeom>
          <a:noFill/>
          <a:ln/>
        </p:spPr>
        <p:txBody>
          <a:bodyPr wrap="square" lIns="0" tIns="0" rIns="0" bIns="0" rtlCol="0" anchor="ctr"/>
          <a:lstStyle/>
          <a:p>
            <a:pPr algn="ctr" indent="0" marL="0">
              <a:buNone/>
            </a:pPr>
            <a:r>
              <a:rPr lang="en-US" sz="1600" dirty="0">
                <a:solidFill>
                  <a:srgbClr val="5B6B7A"/>
                </a:solidFill>
                <a:latin typeface="Calibri" pitchFamily="34" charset="0"/>
                <a:ea typeface="Calibri" pitchFamily="34" charset="-122"/>
                <a:cs typeface="Calibri" pitchFamily="34" charset="-120"/>
              </a:rPr>
              <a:t>câu dev để chạy và chỉnh</a:t>
            </a:r>
            <a:endParaRPr lang="en-US" sz="1600" dirty="0"/>
          </a:p>
        </p:txBody>
      </p:sp>
      <p:sp>
        <p:nvSpPr>
          <p:cNvPr id="22" name="Text 19"/>
          <p:cNvSpPr txBox="1"/>
          <p:nvPr/>
        </p:nvSpPr>
        <p:spPr>
          <a:xfrm>
            <a:off x="8656298" y="3901430"/>
            <a:ext cx="2926073" cy="1097277"/>
          </a:xfrm>
          <a:prstGeom prst="rect">
            <a:avLst/>
          </a:prstGeom>
          <a:noFill/>
          <a:ln/>
        </p:spPr>
        <p:txBody>
          <a:bodyPr wrap="square" lIns="0" tIns="0" rIns="0" bIns="0" rtlCol="0" anchor="ctr"/>
          <a:lstStyle/>
          <a:p>
            <a:pPr algn="ctr" indent="0" marL="0">
              <a:buNone/>
            </a:pPr>
            <a:r>
              <a:rPr lang="en-US" sz="7200" b="1" dirty="0">
                <a:solidFill>
                  <a:srgbClr val="5B6B7A"/>
                </a:solidFill>
                <a:latin typeface="Cambria" pitchFamily="34" charset="0"/>
                <a:ea typeface="Cambria" pitchFamily="34" charset="-122"/>
                <a:cs typeface="Cambria" pitchFamily="34" charset="-120"/>
              </a:rPr>
              <a:t>350</a:t>
            </a:r>
            <a:endParaRPr lang="en-US" sz="7200" dirty="0"/>
          </a:p>
        </p:txBody>
      </p:sp>
      <p:sp>
        <p:nvSpPr>
          <p:cNvPr id="23" name="Text 20"/>
          <p:cNvSpPr txBox="1"/>
          <p:nvPr/>
        </p:nvSpPr>
        <p:spPr>
          <a:xfrm>
            <a:off x="8656298" y="4998708"/>
            <a:ext cx="2926073" cy="487679"/>
          </a:xfrm>
          <a:prstGeom prst="rect">
            <a:avLst/>
          </a:prstGeom>
          <a:noFill/>
          <a:ln/>
        </p:spPr>
        <p:txBody>
          <a:bodyPr wrap="square" lIns="0" tIns="0" rIns="0" bIns="0" rtlCol="0" anchor="ctr"/>
          <a:lstStyle/>
          <a:p>
            <a:pPr algn="ctr" indent="0" marL="0">
              <a:buNone/>
            </a:pPr>
            <a:r>
              <a:rPr lang="en-US" sz="1600" dirty="0">
                <a:solidFill>
                  <a:srgbClr val="5B6B7A"/>
                </a:solidFill>
                <a:latin typeface="Calibri" pitchFamily="34" charset="0"/>
                <a:ea typeface="Calibri" pitchFamily="34" charset="-122"/>
                <a:cs typeface="Calibri" pitchFamily="34" charset="-120"/>
              </a:rPr>
              <a:t>câu test, khóa đến tuần 7</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5">
    <p:bg>
      <p:bgPr>
        <a:solidFill>
          <a:srgbClr val="F7F9FB"/>
        </a:solidFill>
      </p:bgPr>
    </p:bg>
    <p:spTree>
      <p:nvGrpSpPr>
        <p:cNvPr id="1" name=""/>
        <p:cNvGrpSpPr/>
        <p:nvPr/>
      </p:nvGrpSpPr>
      <p:grpSpPr>
        <a:xfrm>
          <a:off x="0" y="0"/>
          <a:ext cx="0" cy="0"/>
          <a:chOff x="0" y="0"/>
          <a:chExt cx="0" cy="0"/>
        </a:xfrm>
      </p:grpSpPr>
      <p:sp>
        <p:nvSpPr>
          <p:cNvPr id="2" name="Text 0"/>
          <p:cNvSpPr txBox="1"/>
          <p:nvPr/>
        </p:nvSpPr>
        <p:spPr>
          <a:xfrm>
            <a:off x="609598" y="365759"/>
            <a:ext cx="10972773" cy="365759"/>
          </a:xfrm>
          <a:prstGeom prst="rect">
            <a:avLst/>
          </a:prstGeom>
          <a:noFill/>
          <a:ln/>
        </p:spPr>
        <p:txBody>
          <a:bodyPr wrap="square" lIns="0" tIns="0" rIns="0" bIns="0" rtlCol="0" anchor="ctr"/>
          <a:lstStyle/>
          <a:p>
            <a:pPr indent="0" marL="0">
              <a:buNone/>
            </a:pPr>
            <a:r>
              <a:rPr lang="en-US" sz="1467" b="1" dirty="0">
                <a:solidFill>
                  <a:srgbClr val="1F6F8B"/>
                </a:solidFill>
                <a:latin typeface="Calibri" pitchFamily="34" charset="0"/>
                <a:ea typeface="Calibri" pitchFamily="34" charset="-122"/>
                <a:cs typeface="Calibri" pitchFamily="34" charset="-120"/>
              </a:rPr>
              <a:t>SO SÁNH TRỰC TIẾP</a:t>
            </a:r>
            <a:endParaRPr lang="en-US" sz="1467" dirty="0"/>
          </a:p>
        </p:txBody>
      </p:sp>
      <p:sp>
        <p:nvSpPr>
          <p:cNvPr id="3" name="Text 1"/>
          <p:cNvSpPr txBox="1"/>
          <p:nvPr/>
        </p:nvSpPr>
        <p:spPr>
          <a:xfrm>
            <a:off x="609598" y="670558"/>
            <a:ext cx="10972773" cy="731518"/>
          </a:xfrm>
          <a:prstGeom prst="rect">
            <a:avLst/>
          </a:prstGeom>
          <a:noFill/>
          <a:ln/>
        </p:spPr>
        <p:txBody>
          <a:bodyPr wrap="square" lIns="0" tIns="0" rIns="0" bIns="0" rtlCol="0" anchor="ctr"/>
          <a:lstStyle/>
          <a:p>
            <a:pPr indent="0" marL="0">
              <a:buNone/>
            </a:pPr>
            <a:r>
              <a:rPr lang="en-US" sz="3467" b="1" dirty="0">
                <a:solidFill>
                  <a:srgbClr val="10243E"/>
                </a:solidFill>
                <a:latin typeface="Cambria" pitchFamily="34" charset="0"/>
                <a:ea typeface="Cambria" pitchFamily="34" charset="-122"/>
                <a:cs typeface="Cambria" pitchFamily="34" charset="-120"/>
              </a:rPr>
              <a:t>APEX-MEM 84,7%, LightMem 81,3%: chưa khác biệt</a:t>
            </a:r>
            <a:endParaRPr lang="en-US" sz="3467" dirty="0"/>
          </a:p>
        </p:txBody>
      </p:sp>
      <p:graphicFrame>
        <p:nvGraphicFramePr>
          <p:cNvPr id="5" name="Chart 0" descr=""/>
          <p:cNvGraphicFramePr/>
          <p:nvPr/>
        </p:nvGraphicFramePr>
        <p:xfrm>
          <a:off x="487679" y="1463036"/>
          <a:ext cx="7680941" cy="4206229"/>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8412459" y="1584956"/>
            <a:ext cx="3169912" cy="1889755"/>
          </a:xfrm>
          <a:prstGeom prst="rect">
            <a:avLst/>
          </a:prstGeom>
          <a:solidFill>
            <a:srgbClr val="FFFFFF"/>
          </a:solidFill>
          <a:ln w="9525">
            <a:solidFill>
              <a:srgbClr val="DCE3EA"/>
            </a:solidFill>
            <a:prstDash val="solid"/>
          </a:ln>
        </p:spPr>
      </p:sp>
      <p:sp>
        <p:nvSpPr>
          <p:cNvPr id="7" name="Text 3"/>
          <p:cNvSpPr txBox="1"/>
          <p:nvPr/>
        </p:nvSpPr>
        <p:spPr>
          <a:xfrm>
            <a:off x="8412459" y="1682492"/>
            <a:ext cx="3169912" cy="365759"/>
          </a:xfrm>
          <a:prstGeom prst="rect">
            <a:avLst/>
          </a:prstGeom>
          <a:noFill/>
          <a:ln/>
        </p:spPr>
        <p:txBody>
          <a:bodyPr wrap="square" lIns="0" tIns="0" rIns="0" bIns="0" rtlCol="0" anchor="ctr"/>
          <a:lstStyle/>
          <a:p>
            <a:pPr algn="ctr" indent="0" marL="0">
              <a:buNone/>
            </a:pPr>
            <a:r>
              <a:rPr lang="en-US" sz="1600" b="1" dirty="0">
                <a:solidFill>
                  <a:srgbClr val="1F6F8B"/>
                </a:solidFill>
                <a:latin typeface="Calibri" pitchFamily="34" charset="0"/>
                <a:ea typeface="Calibri" pitchFamily="34" charset="-122"/>
                <a:cs typeface="Calibri" pitchFamily="34" charset="-120"/>
              </a:rPr>
              <a:t>APEX-MEM</a:t>
            </a:r>
            <a:endParaRPr lang="en-US" sz="1600" dirty="0"/>
          </a:p>
        </p:txBody>
      </p:sp>
      <p:sp>
        <p:nvSpPr>
          <p:cNvPr id="8" name="Text 4"/>
          <p:cNvSpPr txBox="1"/>
          <p:nvPr/>
        </p:nvSpPr>
        <p:spPr>
          <a:xfrm>
            <a:off x="8412459" y="2048251"/>
            <a:ext cx="3169912" cy="792478"/>
          </a:xfrm>
          <a:prstGeom prst="rect">
            <a:avLst/>
          </a:prstGeom>
          <a:noFill/>
          <a:ln/>
        </p:spPr>
        <p:txBody>
          <a:bodyPr wrap="square" lIns="0" tIns="0" rIns="0" bIns="0" rtlCol="0" anchor="ctr"/>
          <a:lstStyle/>
          <a:p>
            <a:pPr algn="ctr" indent="0" marL="0">
              <a:buNone/>
            </a:pPr>
            <a:r>
              <a:rPr lang="en-US" sz="4267" b="1" dirty="0">
                <a:solidFill>
                  <a:srgbClr val="10243E"/>
                </a:solidFill>
                <a:latin typeface="Cambria" pitchFamily="34" charset="0"/>
                <a:ea typeface="Cambria" pitchFamily="34" charset="-122"/>
                <a:cs typeface="Cambria" pitchFamily="34" charset="-120"/>
              </a:rPr>
              <a:t>84,7%</a:t>
            </a:r>
            <a:endParaRPr lang="en-US" sz="4267" dirty="0"/>
          </a:p>
        </p:txBody>
      </p:sp>
      <p:sp>
        <p:nvSpPr>
          <p:cNvPr id="9" name="Text 5"/>
          <p:cNvSpPr txBox="1"/>
          <p:nvPr/>
        </p:nvSpPr>
        <p:spPr>
          <a:xfrm>
            <a:off x="8412459" y="2804153"/>
            <a:ext cx="3169912" cy="304799"/>
          </a:xfrm>
          <a:prstGeom prst="rect">
            <a:avLst/>
          </a:prstGeom>
          <a:noFill/>
          <a:ln/>
        </p:spPr>
        <p:txBody>
          <a:bodyPr wrap="square" lIns="0" tIns="0" rIns="0" bIns="0" rtlCol="0" anchor="ctr"/>
          <a:lstStyle/>
          <a:p>
            <a:pPr algn="ctr" indent="0" marL="0">
              <a:buNone/>
            </a:pPr>
            <a:r>
              <a:rPr lang="en-US" sz="1267" dirty="0">
                <a:solidFill>
                  <a:srgbClr val="5B6B7A"/>
                </a:solidFill>
                <a:latin typeface="Calibri" pitchFamily="34" charset="0"/>
                <a:ea typeface="Calibri" pitchFamily="34" charset="-122"/>
                <a:cs typeface="Calibri" pitchFamily="34" charset="-120"/>
              </a:rPr>
              <a:t>gộp chung 127/150 · KTC 95% 78–90%</a:t>
            </a:r>
            <a:endParaRPr lang="en-US" sz="1267" dirty="0"/>
          </a:p>
        </p:txBody>
      </p:sp>
      <p:sp>
        <p:nvSpPr>
          <p:cNvPr id="10" name="Text 6"/>
          <p:cNvSpPr txBox="1"/>
          <p:nvPr/>
        </p:nvSpPr>
        <p:spPr>
          <a:xfrm>
            <a:off x="8412459" y="3096760"/>
            <a:ext cx="3169912" cy="304799"/>
          </a:xfrm>
          <a:prstGeom prst="rect">
            <a:avLst/>
          </a:prstGeom>
          <a:noFill/>
          <a:ln/>
        </p:spPr>
        <p:txBody>
          <a:bodyPr wrap="square" lIns="0" tIns="0" rIns="0" bIns="0" rtlCol="0" anchor="ctr"/>
          <a:lstStyle/>
          <a:p>
            <a:pPr algn="ctr" indent="0" marL="0">
              <a:buNone/>
            </a:pPr>
            <a:r>
              <a:rPr lang="en-US" sz="1267" dirty="0">
                <a:solidFill>
                  <a:srgbClr val="5B6B7A"/>
                </a:solidFill>
                <a:latin typeface="Calibri" pitchFamily="34" charset="0"/>
                <a:ea typeface="Calibri" pitchFamily="34" charset="-122"/>
                <a:cs typeface="Calibri" pitchFamily="34" charset="-120"/>
              </a:rPr>
              <a:t>theo loại (macro) 84,6%</a:t>
            </a:r>
            <a:endParaRPr lang="en-US" sz="1267" dirty="0"/>
          </a:p>
        </p:txBody>
      </p:sp>
      <p:sp>
        <p:nvSpPr>
          <p:cNvPr id="11" name="Shape 7"/>
          <p:cNvSpPr/>
          <p:nvPr/>
        </p:nvSpPr>
        <p:spPr>
          <a:xfrm>
            <a:off x="8412459" y="3657591"/>
            <a:ext cx="3169912" cy="1889755"/>
          </a:xfrm>
          <a:prstGeom prst="rect">
            <a:avLst/>
          </a:prstGeom>
          <a:solidFill>
            <a:srgbClr val="FFFFFF"/>
          </a:solidFill>
          <a:ln w="9525">
            <a:solidFill>
              <a:srgbClr val="DCE3EA"/>
            </a:solidFill>
            <a:prstDash val="solid"/>
          </a:ln>
        </p:spPr>
      </p:sp>
      <p:sp>
        <p:nvSpPr>
          <p:cNvPr id="12" name="Text 8"/>
          <p:cNvSpPr txBox="1"/>
          <p:nvPr/>
        </p:nvSpPr>
        <p:spPr>
          <a:xfrm>
            <a:off x="8412459" y="3755127"/>
            <a:ext cx="3169912" cy="365759"/>
          </a:xfrm>
          <a:prstGeom prst="rect">
            <a:avLst/>
          </a:prstGeom>
          <a:noFill/>
          <a:ln/>
        </p:spPr>
        <p:txBody>
          <a:bodyPr wrap="square" lIns="0" tIns="0" rIns="0" bIns="0" rtlCol="0" anchor="ctr"/>
          <a:lstStyle/>
          <a:p>
            <a:pPr algn="ctr" indent="0" marL="0">
              <a:buNone/>
            </a:pPr>
            <a:r>
              <a:rPr lang="en-US" sz="1600" b="1" dirty="0">
                <a:solidFill>
                  <a:srgbClr val="F2A541"/>
                </a:solidFill>
                <a:latin typeface="Calibri" pitchFamily="34" charset="0"/>
                <a:ea typeface="Calibri" pitchFamily="34" charset="-122"/>
                <a:cs typeface="Calibri" pitchFamily="34" charset="-120"/>
              </a:rPr>
              <a:t>LightMem</a:t>
            </a:r>
            <a:endParaRPr lang="en-US" sz="1600" dirty="0"/>
          </a:p>
        </p:txBody>
      </p:sp>
      <p:sp>
        <p:nvSpPr>
          <p:cNvPr id="13" name="Text 9"/>
          <p:cNvSpPr txBox="1"/>
          <p:nvPr/>
        </p:nvSpPr>
        <p:spPr>
          <a:xfrm>
            <a:off x="8412459" y="4120886"/>
            <a:ext cx="3169912" cy="792478"/>
          </a:xfrm>
          <a:prstGeom prst="rect">
            <a:avLst/>
          </a:prstGeom>
          <a:noFill/>
          <a:ln/>
        </p:spPr>
        <p:txBody>
          <a:bodyPr wrap="square" lIns="0" tIns="0" rIns="0" bIns="0" rtlCol="0" anchor="ctr"/>
          <a:lstStyle/>
          <a:p>
            <a:pPr algn="ctr" indent="0" marL="0">
              <a:buNone/>
            </a:pPr>
            <a:r>
              <a:rPr lang="en-US" sz="4267" b="1" dirty="0">
                <a:solidFill>
                  <a:srgbClr val="10243E"/>
                </a:solidFill>
                <a:latin typeface="Cambria" pitchFamily="34" charset="0"/>
                <a:ea typeface="Cambria" pitchFamily="34" charset="-122"/>
                <a:cs typeface="Cambria" pitchFamily="34" charset="-120"/>
              </a:rPr>
              <a:t>81,3%</a:t>
            </a:r>
            <a:endParaRPr lang="en-US" sz="4267" dirty="0"/>
          </a:p>
        </p:txBody>
      </p:sp>
      <p:sp>
        <p:nvSpPr>
          <p:cNvPr id="14" name="Text 10"/>
          <p:cNvSpPr txBox="1"/>
          <p:nvPr/>
        </p:nvSpPr>
        <p:spPr>
          <a:xfrm>
            <a:off x="8412459" y="4876788"/>
            <a:ext cx="3169912" cy="304799"/>
          </a:xfrm>
          <a:prstGeom prst="rect">
            <a:avLst/>
          </a:prstGeom>
          <a:noFill/>
          <a:ln/>
        </p:spPr>
        <p:txBody>
          <a:bodyPr wrap="square" lIns="0" tIns="0" rIns="0" bIns="0" rtlCol="0" anchor="ctr"/>
          <a:lstStyle/>
          <a:p>
            <a:pPr algn="ctr" indent="0" marL="0">
              <a:buNone/>
            </a:pPr>
            <a:r>
              <a:rPr lang="en-US" sz="1267" dirty="0">
                <a:solidFill>
                  <a:srgbClr val="5B6B7A"/>
                </a:solidFill>
                <a:latin typeface="Calibri" pitchFamily="34" charset="0"/>
                <a:ea typeface="Calibri" pitchFamily="34" charset="-122"/>
                <a:cs typeface="Calibri" pitchFamily="34" charset="-120"/>
              </a:rPr>
              <a:t>gộp chung 122/150 · KTC 95% 74–87%</a:t>
            </a:r>
            <a:endParaRPr lang="en-US" sz="1267" dirty="0"/>
          </a:p>
        </p:txBody>
      </p:sp>
      <p:sp>
        <p:nvSpPr>
          <p:cNvPr id="15" name="Text 11"/>
          <p:cNvSpPr txBox="1"/>
          <p:nvPr/>
        </p:nvSpPr>
        <p:spPr>
          <a:xfrm>
            <a:off x="8412459" y="5169395"/>
            <a:ext cx="3169912" cy="304799"/>
          </a:xfrm>
          <a:prstGeom prst="rect">
            <a:avLst/>
          </a:prstGeom>
          <a:noFill/>
          <a:ln/>
        </p:spPr>
        <p:txBody>
          <a:bodyPr wrap="square" lIns="0" tIns="0" rIns="0" bIns="0" rtlCol="0" anchor="ctr"/>
          <a:lstStyle/>
          <a:p>
            <a:pPr algn="ctr" indent="0" marL="0">
              <a:buNone/>
            </a:pPr>
            <a:r>
              <a:rPr lang="en-US" sz="1267" dirty="0">
                <a:solidFill>
                  <a:srgbClr val="5B6B7A"/>
                </a:solidFill>
                <a:latin typeface="Calibri" pitchFamily="34" charset="0"/>
                <a:ea typeface="Calibri" pitchFamily="34" charset="-122"/>
                <a:cs typeface="Calibri" pitchFamily="34" charset="-120"/>
              </a:rPr>
              <a:t>theo loại (macro) 78,9%</a:t>
            </a:r>
            <a:endParaRPr lang="en-US" sz="1267" dirty="0"/>
          </a:p>
        </p:txBody>
      </p:sp>
      <p:sp>
        <p:nvSpPr>
          <p:cNvPr id="16" name="Shape 12"/>
          <p:cNvSpPr/>
          <p:nvPr/>
        </p:nvSpPr>
        <p:spPr>
          <a:xfrm>
            <a:off x="487679" y="5852145"/>
            <a:ext cx="11094692" cy="670558"/>
          </a:xfrm>
          <a:prstGeom prst="rect">
            <a:avLst/>
          </a:prstGeom>
          <a:solidFill>
            <a:srgbClr val="FDF3E1"/>
          </a:solidFill>
          <a:ln w="9525">
            <a:solidFill>
              <a:srgbClr val="DCE3EA"/>
            </a:solidFill>
            <a:prstDash val="solid"/>
          </a:ln>
        </p:spPr>
      </p:sp>
      <p:sp>
        <p:nvSpPr>
          <p:cNvPr id="17" name="Text 13"/>
          <p:cNvSpPr txBox="1"/>
          <p:nvPr/>
        </p:nvSpPr>
        <p:spPr>
          <a:xfrm>
            <a:off x="731518" y="5888721"/>
            <a:ext cx="10607013" cy="609598"/>
          </a:xfrm>
          <a:prstGeom prst="rect">
            <a:avLst/>
          </a:prstGeom>
          <a:noFill/>
          <a:ln/>
        </p:spPr>
        <p:txBody>
          <a:bodyPr wrap="square" lIns="0" tIns="0" rIns="0" bIns="0" rtlCol="0" anchor="ctr"/>
          <a:lstStyle/>
          <a:p>
            <a:pPr indent="0" marL="0">
              <a:buNone/>
            </a:pPr>
            <a:r>
              <a:rPr lang="en-US" sz="1400" b="1" dirty="0">
                <a:solidFill>
                  <a:srgbClr val="C8553D"/>
                </a:solidFill>
                <a:latin typeface="Calibri" pitchFamily="34" charset="0"/>
                <a:ea typeface="Calibri" pitchFamily="34" charset="-122"/>
                <a:cs typeface="Calibri" pitchFamily="34" charset="-120"/>
              </a:rPr>
              <a:t>Đọc đúng mức: </a:t>
            </a:r>
            <a:pPr indent="0" marL="0">
              <a:buNone/>
            </a:pPr>
            <a:r>
              <a:rPr lang="en-US" sz="1400" dirty="0">
                <a:solidFill>
                  <a:srgbClr val="1B2B3A"/>
                </a:solidFill>
                <a:latin typeface="Calibri" pitchFamily="34" charset="0"/>
                <a:ea typeface="Calibri" pitchFamily="34" charset="-122"/>
                <a:cs typeface="Calibri" pitchFamily="34" charset="-120"/>
              </a:rPr>
              <a:t>chênh 5 câu trên 150 câu; nhóm câu từ chối (_abs) chỉ có 4 câu (APEX-MEM 3, LightMem 2). Cả hai hệ cùng model nên khác biệt đến từ cách lưu và truy xuất ký ức.</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6">
    <p:bg>
      <p:bgPr>
        <a:solidFill>
          <a:srgbClr val="F7F9FB"/>
        </a:solidFill>
      </p:bgPr>
    </p:bg>
    <p:spTree>
      <p:nvGrpSpPr>
        <p:cNvPr id="1" name=""/>
        <p:cNvGrpSpPr/>
        <p:nvPr/>
      </p:nvGrpSpPr>
      <p:grpSpPr>
        <a:xfrm>
          <a:off x="0" y="0"/>
          <a:ext cx="0" cy="0"/>
          <a:chOff x="0" y="0"/>
          <a:chExt cx="0" cy="0"/>
        </a:xfrm>
      </p:grpSpPr>
      <p:sp>
        <p:nvSpPr>
          <p:cNvPr id="2" name="Text 0"/>
          <p:cNvSpPr txBox="1"/>
          <p:nvPr/>
        </p:nvSpPr>
        <p:spPr>
          <a:xfrm>
            <a:off x="609598" y="365759"/>
            <a:ext cx="10972773" cy="365759"/>
          </a:xfrm>
          <a:prstGeom prst="rect">
            <a:avLst/>
          </a:prstGeom>
          <a:noFill/>
          <a:ln/>
        </p:spPr>
        <p:txBody>
          <a:bodyPr wrap="square" lIns="0" tIns="0" rIns="0" bIns="0" rtlCol="0" anchor="ctr"/>
          <a:lstStyle/>
          <a:p>
            <a:pPr indent="0" marL="0">
              <a:buNone/>
            </a:pPr>
            <a:r>
              <a:rPr lang="en-US" sz="1467" b="1" dirty="0">
                <a:solidFill>
                  <a:srgbClr val="1F6F8B"/>
                </a:solidFill>
                <a:latin typeface="Calibri" pitchFamily="34" charset="0"/>
                <a:ea typeface="Calibri" pitchFamily="34" charset="-122"/>
                <a:cs typeface="Calibri" pitchFamily="34" charset="-120"/>
              </a:rPr>
              <a:t>CHÊNH LỆCH ĐẾN TỪ ĐÂU</a:t>
            </a:r>
            <a:endParaRPr lang="en-US" sz="1467" dirty="0"/>
          </a:p>
        </p:txBody>
      </p:sp>
      <p:sp>
        <p:nvSpPr>
          <p:cNvPr id="3" name="Text 1"/>
          <p:cNvSpPr txBox="1"/>
          <p:nvPr/>
        </p:nvSpPr>
        <p:spPr>
          <a:xfrm>
            <a:off x="609598" y="670558"/>
            <a:ext cx="10972773" cy="731518"/>
          </a:xfrm>
          <a:prstGeom prst="rect">
            <a:avLst/>
          </a:prstGeom>
          <a:noFill/>
          <a:ln/>
        </p:spPr>
        <p:txBody>
          <a:bodyPr wrap="square" lIns="0" tIns="0" rIns="0" bIns="0" rtlCol="0" anchor="ctr"/>
          <a:lstStyle/>
          <a:p>
            <a:pPr indent="0" marL="0">
              <a:buNone/>
            </a:pPr>
            <a:r>
              <a:rPr lang="en-US" sz="3467" b="1" dirty="0">
                <a:solidFill>
                  <a:srgbClr val="10243E"/>
                </a:solidFill>
                <a:latin typeface="Cambria" pitchFamily="34" charset="0"/>
                <a:ea typeface="Cambria" pitchFamily="34" charset="-122"/>
                <a:cs typeface="Cambria" pitchFamily="34" charset="-120"/>
              </a:rPr>
              <a:t>Toàn bộ chênh lệch nằm ở loại lượt trợ lý</a:t>
            </a:r>
            <a:endParaRPr lang="en-US" sz="3467" dirty="0"/>
          </a:p>
        </p:txBody>
      </p:sp>
      <p:sp>
        <p:nvSpPr>
          <p:cNvPr id="5" name="Shape 2"/>
          <p:cNvSpPr/>
          <p:nvPr/>
        </p:nvSpPr>
        <p:spPr>
          <a:xfrm>
            <a:off x="487679" y="1584956"/>
            <a:ext cx="2743193" cy="1706876"/>
          </a:xfrm>
          <a:prstGeom prst="rect">
            <a:avLst/>
          </a:prstGeom>
          <a:solidFill>
            <a:srgbClr val="FFFFFF"/>
          </a:solidFill>
          <a:ln w="9525">
            <a:solidFill>
              <a:srgbClr val="DCE3EA"/>
            </a:solidFill>
            <a:prstDash val="solid"/>
          </a:ln>
        </p:spPr>
      </p:sp>
      <p:sp>
        <p:nvSpPr>
          <p:cNvPr id="6" name="Text 3"/>
          <p:cNvSpPr txBox="1"/>
          <p:nvPr/>
        </p:nvSpPr>
        <p:spPr>
          <a:xfrm>
            <a:off x="487679" y="1731260"/>
            <a:ext cx="2743193" cy="914398"/>
          </a:xfrm>
          <a:prstGeom prst="rect">
            <a:avLst/>
          </a:prstGeom>
          <a:noFill/>
          <a:ln/>
        </p:spPr>
        <p:txBody>
          <a:bodyPr wrap="square" lIns="0" tIns="0" rIns="0" bIns="0" rtlCol="0" anchor="ctr"/>
          <a:lstStyle/>
          <a:p>
            <a:pPr algn="ctr" indent="0" marL="0">
              <a:buNone/>
            </a:pPr>
            <a:r>
              <a:rPr lang="en-US" sz="5067" b="1" dirty="0">
                <a:solidFill>
                  <a:srgbClr val="1F6F8B"/>
                </a:solidFill>
                <a:latin typeface="Cambria" pitchFamily="34" charset="0"/>
                <a:ea typeface="Cambria" pitchFamily="34" charset="-122"/>
                <a:cs typeface="Cambria" pitchFamily="34" charset="-120"/>
              </a:rPr>
              <a:t>107</a:t>
            </a:r>
            <a:endParaRPr lang="en-US" sz="5067" dirty="0"/>
          </a:p>
        </p:txBody>
      </p:sp>
      <p:sp>
        <p:nvSpPr>
          <p:cNvPr id="7" name="Text 4"/>
          <p:cNvSpPr txBox="1"/>
          <p:nvPr/>
        </p:nvSpPr>
        <p:spPr>
          <a:xfrm>
            <a:off x="487679" y="2682233"/>
            <a:ext cx="2743193" cy="365759"/>
          </a:xfrm>
          <a:prstGeom prst="rect">
            <a:avLst/>
          </a:prstGeom>
          <a:noFill/>
          <a:ln/>
        </p:spPr>
        <p:txBody>
          <a:bodyPr wrap="square" lIns="0" tIns="0" rIns="0" bIns="0" rtlCol="0" anchor="ctr"/>
          <a:lstStyle/>
          <a:p>
            <a:pPr algn="ctr" indent="0" marL="0">
              <a:buNone/>
            </a:pPr>
            <a:r>
              <a:rPr lang="en-US" sz="1533" dirty="0">
                <a:solidFill>
                  <a:srgbClr val="1B2B3A"/>
                </a:solidFill>
                <a:latin typeface="Calibri" pitchFamily="34" charset="0"/>
                <a:ea typeface="Calibri" pitchFamily="34" charset="-122"/>
                <a:cs typeface="Calibri" pitchFamily="34" charset="-120"/>
              </a:rPr>
              <a:t>cả hai đúng</a:t>
            </a:r>
            <a:endParaRPr lang="en-US" sz="1533" dirty="0"/>
          </a:p>
        </p:txBody>
      </p:sp>
      <p:sp>
        <p:nvSpPr>
          <p:cNvPr id="8" name="Shape 5"/>
          <p:cNvSpPr/>
          <p:nvPr/>
        </p:nvSpPr>
        <p:spPr>
          <a:xfrm>
            <a:off x="3352792" y="1584956"/>
            <a:ext cx="2743193" cy="1706876"/>
          </a:xfrm>
          <a:prstGeom prst="rect">
            <a:avLst/>
          </a:prstGeom>
          <a:solidFill>
            <a:srgbClr val="E4F1F5"/>
          </a:solidFill>
          <a:ln w="9525">
            <a:solidFill>
              <a:srgbClr val="DCE3EA"/>
            </a:solidFill>
            <a:prstDash val="solid"/>
          </a:ln>
        </p:spPr>
      </p:sp>
      <p:sp>
        <p:nvSpPr>
          <p:cNvPr id="9" name="Text 6"/>
          <p:cNvSpPr txBox="1"/>
          <p:nvPr/>
        </p:nvSpPr>
        <p:spPr>
          <a:xfrm>
            <a:off x="3352792" y="1731260"/>
            <a:ext cx="2743193" cy="914398"/>
          </a:xfrm>
          <a:prstGeom prst="rect">
            <a:avLst/>
          </a:prstGeom>
          <a:noFill/>
          <a:ln/>
        </p:spPr>
        <p:txBody>
          <a:bodyPr wrap="square" lIns="0" tIns="0" rIns="0" bIns="0" rtlCol="0" anchor="ctr"/>
          <a:lstStyle/>
          <a:p>
            <a:pPr algn="ctr" indent="0" marL="0">
              <a:buNone/>
            </a:pPr>
            <a:r>
              <a:rPr lang="en-US" sz="5067" b="1" dirty="0">
                <a:solidFill>
                  <a:srgbClr val="1F6F8B"/>
                </a:solidFill>
                <a:latin typeface="Cambria" pitchFamily="34" charset="0"/>
                <a:ea typeface="Cambria" pitchFamily="34" charset="-122"/>
                <a:cs typeface="Cambria" pitchFamily="34" charset="-120"/>
              </a:rPr>
              <a:t>20</a:t>
            </a:r>
            <a:endParaRPr lang="en-US" sz="5067" dirty="0"/>
          </a:p>
        </p:txBody>
      </p:sp>
      <p:sp>
        <p:nvSpPr>
          <p:cNvPr id="10" name="Text 7"/>
          <p:cNvSpPr txBox="1"/>
          <p:nvPr/>
        </p:nvSpPr>
        <p:spPr>
          <a:xfrm>
            <a:off x="3352792" y="2682233"/>
            <a:ext cx="2743193" cy="365759"/>
          </a:xfrm>
          <a:prstGeom prst="rect">
            <a:avLst/>
          </a:prstGeom>
          <a:noFill/>
          <a:ln/>
        </p:spPr>
        <p:txBody>
          <a:bodyPr wrap="square" lIns="0" tIns="0" rIns="0" bIns="0" rtlCol="0" anchor="ctr"/>
          <a:lstStyle/>
          <a:p>
            <a:pPr algn="ctr" indent="0" marL="0">
              <a:buNone/>
            </a:pPr>
            <a:r>
              <a:rPr lang="en-US" sz="1533" dirty="0">
                <a:solidFill>
                  <a:srgbClr val="1B2B3A"/>
                </a:solidFill>
                <a:latin typeface="Calibri" pitchFamily="34" charset="0"/>
                <a:ea typeface="Calibri" pitchFamily="34" charset="-122"/>
                <a:cs typeface="Calibri" pitchFamily="34" charset="-120"/>
              </a:rPr>
              <a:t>chỉ APEX-MEM đúng</a:t>
            </a:r>
            <a:endParaRPr lang="en-US" sz="1533" dirty="0"/>
          </a:p>
        </p:txBody>
      </p:sp>
      <p:sp>
        <p:nvSpPr>
          <p:cNvPr id="11" name="Shape 8"/>
          <p:cNvSpPr/>
          <p:nvPr/>
        </p:nvSpPr>
        <p:spPr>
          <a:xfrm>
            <a:off x="487679" y="3413751"/>
            <a:ext cx="2743193" cy="1706876"/>
          </a:xfrm>
          <a:prstGeom prst="rect">
            <a:avLst/>
          </a:prstGeom>
          <a:solidFill>
            <a:srgbClr val="FDF3E1"/>
          </a:solidFill>
          <a:ln w="9525">
            <a:solidFill>
              <a:srgbClr val="DCE3EA"/>
            </a:solidFill>
            <a:prstDash val="solid"/>
          </a:ln>
        </p:spPr>
      </p:sp>
      <p:sp>
        <p:nvSpPr>
          <p:cNvPr id="12" name="Text 9"/>
          <p:cNvSpPr txBox="1"/>
          <p:nvPr/>
        </p:nvSpPr>
        <p:spPr>
          <a:xfrm>
            <a:off x="487679" y="3560055"/>
            <a:ext cx="2743193" cy="914398"/>
          </a:xfrm>
          <a:prstGeom prst="rect">
            <a:avLst/>
          </a:prstGeom>
          <a:noFill/>
          <a:ln/>
        </p:spPr>
        <p:txBody>
          <a:bodyPr wrap="square" lIns="0" tIns="0" rIns="0" bIns="0" rtlCol="0" anchor="ctr"/>
          <a:lstStyle/>
          <a:p>
            <a:pPr algn="ctr" indent="0" marL="0">
              <a:buNone/>
            </a:pPr>
            <a:r>
              <a:rPr lang="en-US" sz="5067" b="1" dirty="0">
                <a:solidFill>
                  <a:srgbClr val="F2A541"/>
                </a:solidFill>
                <a:latin typeface="Cambria" pitchFamily="34" charset="0"/>
                <a:ea typeface="Cambria" pitchFamily="34" charset="-122"/>
                <a:cs typeface="Cambria" pitchFamily="34" charset="-120"/>
              </a:rPr>
              <a:t>15</a:t>
            </a:r>
            <a:endParaRPr lang="en-US" sz="5067" dirty="0"/>
          </a:p>
        </p:txBody>
      </p:sp>
      <p:sp>
        <p:nvSpPr>
          <p:cNvPr id="13" name="Text 10"/>
          <p:cNvSpPr txBox="1"/>
          <p:nvPr/>
        </p:nvSpPr>
        <p:spPr>
          <a:xfrm>
            <a:off x="487679" y="4511029"/>
            <a:ext cx="2743193" cy="365759"/>
          </a:xfrm>
          <a:prstGeom prst="rect">
            <a:avLst/>
          </a:prstGeom>
          <a:noFill/>
          <a:ln/>
        </p:spPr>
        <p:txBody>
          <a:bodyPr wrap="square" lIns="0" tIns="0" rIns="0" bIns="0" rtlCol="0" anchor="ctr"/>
          <a:lstStyle/>
          <a:p>
            <a:pPr algn="ctr" indent="0" marL="0">
              <a:buNone/>
            </a:pPr>
            <a:r>
              <a:rPr lang="en-US" sz="1533" dirty="0">
                <a:solidFill>
                  <a:srgbClr val="1B2B3A"/>
                </a:solidFill>
                <a:latin typeface="Calibri" pitchFamily="34" charset="0"/>
                <a:ea typeface="Calibri" pitchFamily="34" charset="-122"/>
                <a:cs typeface="Calibri" pitchFamily="34" charset="-120"/>
              </a:rPr>
              <a:t>chỉ LightMem đúng</a:t>
            </a:r>
            <a:endParaRPr lang="en-US" sz="1533" dirty="0"/>
          </a:p>
        </p:txBody>
      </p:sp>
      <p:sp>
        <p:nvSpPr>
          <p:cNvPr id="14" name="Shape 11"/>
          <p:cNvSpPr/>
          <p:nvPr/>
        </p:nvSpPr>
        <p:spPr>
          <a:xfrm>
            <a:off x="3352792" y="3413751"/>
            <a:ext cx="2743193" cy="1706876"/>
          </a:xfrm>
          <a:prstGeom prst="rect">
            <a:avLst/>
          </a:prstGeom>
          <a:solidFill>
            <a:srgbClr val="FFFFFF"/>
          </a:solidFill>
          <a:ln w="9525">
            <a:solidFill>
              <a:srgbClr val="DCE3EA"/>
            </a:solidFill>
            <a:prstDash val="solid"/>
          </a:ln>
        </p:spPr>
      </p:sp>
      <p:sp>
        <p:nvSpPr>
          <p:cNvPr id="15" name="Text 12"/>
          <p:cNvSpPr txBox="1"/>
          <p:nvPr/>
        </p:nvSpPr>
        <p:spPr>
          <a:xfrm>
            <a:off x="3352792" y="3560055"/>
            <a:ext cx="2743193" cy="914398"/>
          </a:xfrm>
          <a:prstGeom prst="rect">
            <a:avLst/>
          </a:prstGeom>
          <a:noFill/>
          <a:ln/>
        </p:spPr>
        <p:txBody>
          <a:bodyPr wrap="square" lIns="0" tIns="0" rIns="0" bIns="0" rtlCol="0" anchor="ctr"/>
          <a:lstStyle/>
          <a:p>
            <a:pPr algn="ctr" indent="0" marL="0">
              <a:buNone/>
            </a:pPr>
            <a:r>
              <a:rPr lang="en-US" sz="5067" b="1" dirty="0">
                <a:solidFill>
                  <a:srgbClr val="5B6B7A"/>
                </a:solidFill>
                <a:latin typeface="Cambria" pitchFamily="34" charset="0"/>
                <a:ea typeface="Cambria" pitchFamily="34" charset="-122"/>
                <a:cs typeface="Cambria" pitchFamily="34" charset="-120"/>
              </a:rPr>
              <a:t>8</a:t>
            </a:r>
            <a:endParaRPr lang="en-US" sz="5067" dirty="0"/>
          </a:p>
        </p:txBody>
      </p:sp>
      <p:sp>
        <p:nvSpPr>
          <p:cNvPr id="16" name="Text 13"/>
          <p:cNvSpPr txBox="1"/>
          <p:nvPr/>
        </p:nvSpPr>
        <p:spPr>
          <a:xfrm>
            <a:off x="3352792" y="4511029"/>
            <a:ext cx="2743193" cy="365759"/>
          </a:xfrm>
          <a:prstGeom prst="rect">
            <a:avLst/>
          </a:prstGeom>
          <a:noFill/>
          <a:ln/>
        </p:spPr>
        <p:txBody>
          <a:bodyPr wrap="square" lIns="0" tIns="0" rIns="0" bIns="0" rtlCol="0" anchor="ctr"/>
          <a:lstStyle/>
          <a:p>
            <a:pPr algn="ctr" indent="0" marL="0">
              <a:buNone/>
            </a:pPr>
            <a:r>
              <a:rPr lang="en-US" sz="1533" dirty="0">
                <a:solidFill>
                  <a:srgbClr val="1B2B3A"/>
                </a:solidFill>
                <a:latin typeface="Calibri" pitchFamily="34" charset="0"/>
                <a:ea typeface="Calibri" pitchFamily="34" charset="-122"/>
                <a:cs typeface="Calibri" pitchFamily="34" charset="-120"/>
              </a:rPr>
              <a:t>cả hai sai</a:t>
            </a:r>
            <a:endParaRPr lang="en-US" sz="1533" dirty="0"/>
          </a:p>
        </p:txBody>
      </p:sp>
      <p:sp>
        <p:nvSpPr>
          <p:cNvPr id="17" name="Text 14"/>
          <p:cNvSpPr txBox="1"/>
          <p:nvPr/>
        </p:nvSpPr>
        <p:spPr>
          <a:xfrm>
            <a:off x="487679" y="5266931"/>
            <a:ext cx="5608306" cy="365759"/>
          </a:xfrm>
          <a:prstGeom prst="rect">
            <a:avLst/>
          </a:prstGeom>
          <a:noFill/>
          <a:ln/>
        </p:spPr>
        <p:txBody>
          <a:bodyPr wrap="square" lIns="0" tIns="0" rIns="0" bIns="0" rtlCol="0" anchor="ctr"/>
          <a:lstStyle/>
          <a:p>
            <a:pPr indent="0" marL="0">
              <a:buNone/>
            </a:pPr>
            <a:r>
              <a:rPr lang="en-US" sz="1467" b="1" dirty="0">
                <a:solidFill>
                  <a:srgbClr val="10243E"/>
                </a:solidFill>
                <a:latin typeface="Calibri" pitchFamily="34" charset="0"/>
                <a:ea typeface="Calibri" pitchFamily="34" charset="-122"/>
                <a:cs typeface="Calibri" pitchFamily="34" charset="-120"/>
              </a:rPr>
              <a:t>McNemar chính xác: p = 0,50 (chưa khác biệt)</a:t>
            </a:r>
            <a:endParaRPr lang="en-US" sz="1467"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339824" y="1584956"/>
          <a:ext cx="5242547" cy="914400"/>
        </p:xfrm>
        <a:graphic>
          <a:graphicData uri="http://schemas.openxmlformats.org/drawingml/2006/table">
            <a:tbl>
              <a:tblPr/>
              <a:tblGrid>
                <a:gridCol w="1767836"/>
                <a:gridCol w="1402076"/>
                <a:gridCol w="1219197"/>
                <a:gridCol w="853438"/>
              </a:tblGrid>
              <a:tr h="609598">
                <a:tc>
                  <a:txBody>
                    <a:bodyPr/>
                    <a:lstStyle/>
                    <a:p>
                      <a:pPr indent="0" marL="0">
                        <a:buNone/>
                      </a:pPr>
                      <a:endParaRPr lang="en-US" sz="1467"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1F6F8B"/>
                    </a:solidFill>
                  </a:tcPr>
                </a:tc>
                <a:tc>
                  <a:txBody>
                    <a:bodyPr/>
                    <a:lstStyle/>
                    <a:p>
                      <a:pPr algn="ctr" indent="0" marL="0">
                        <a:buNone/>
                      </a:pPr>
                      <a:r>
                        <a:rPr lang="en-US" sz="1467" b="1" dirty="0">
                          <a:solidFill>
                            <a:srgbClr val="FFFFFF"/>
                          </a:solidFill>
                          <a:latin typeface="Calibri" pitchFamily="34" charset="0"/>
                          <a:ea typeface="Calibri" pitchFamily="34" charset="-122"/>
                          <a:cs typeface="Calibri" pitchFamily="34" charset="-120"/>
                        </a:rPr>
                        <a:t>APEX-MEM</a:t>
                      </a:r>
                      <a:endParaRPr lang="en-US" sz="1467"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1F6F8B"/>
                    </a:solidFill>
                  </a:tcPr>
                </a:tc>
                <a:tc>
                  <a:txBody>
                    <a:bodyPr/>
                    <a:lstStyle/>
                    <a:p>
                      <a:pPr algn="ctr" indent="0" marL="0">
                        <a:buNone/>
                      </a:pPr>
                      <a:r>
                        <a:rPr lang="en-US" sz="1467" b="1" dirty="0">
                          <a:solidFill>
                            <a:srgbClr val="FFFFFF"/>
                          </a:solidFill>
                          <a:latin typeface="Calibri" pitchFamily="34" charset="0"/>
                          <a:ea typeface="Calibri" pitchFamily="34" charset="-122"/>
                          <a:cs typeface="Calibri" pitchFamily="34" charset="-120"/>
                        </a:rPr>
                        <a:t>LightMem</a:t>
                      </a:r>
                      <a:endParaRPr lang="en-US" sz="1467"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1F6F8B"/>
                    </a:solidFill>
                  </a:tcPr>
                </a:tc>
                <a:tc>
                  <a:txBody>
                    <a:bodyPr/>
                    <a:lstStyle/>
                    <a:p>
                      <a:pPr algn="ctr" indent="0" marL="0">
                        <a:buNone/>
                      </a:pPr>
                      <a:r>
                        <a:rPr lang="en-US" sz="1467" b="1" dirty="0">
                          <a:solidFill>
                            <a:srgbClr val="FFFFFF"/>
                          </a:solidFill>
                          <a:latin typeface="Calibri" pitchFamily="34" charset="0"/>
                          <a:ea typeface="Calibri" pitchFamily="34" charset="-122"/>
                          <a:cs typeface="Calibri" pitchFamily="34" charset="-120"/>
                        </a:rPr>
                        <a:t>Chênh</a:t>
                      </a:r>
                      <a:endParaRPr lang="en-US" sz="1467"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1F6F8B"/>
                    </a:solidFill>
                  </a:tcPr>
                </a:tc>
              </a:tr>
              <a:tr h="609598">
                <a:tc>
                  <a:txBody>
                    <a:bodyPr/>
                    <a:lstStyle/>
                    <a:p>
                      <a:pPr indent="0" marL="0">
                        <a:buNone/>
                      </a:pPr>
                      <a:r>
                        <a:rPr lang="en-US" sz="1467" b="1" dirty="0">
                          <a:solidFill>
                            <a:srgbClr val="1B2B3A"/>
                          </a:solidFill>
                          <a:latin typeface="Calibri" pitchFamily="34" charset="0"/>
                          <a:ea typeface="Calibri" pitchFamily="34" charset="-122"/>
                          <a:cs typeface="Calibri" pitchFamily="34" charset="-120"/>
                        </a:rPr>
                        <a:t>Loại lượt trợ lý</a:t>
                      </a:r>
                      <a:endParaRPr lang="en-US" sz="1467"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algn="ctr" indent="0" marL="0">
                        <a:buNone/>
                      </a:pPr>
                      <a:r>
                        <a:rPr lang="en-US" sz="1467" dirty="0">
                          <a:solidFill>
                            <a:srgbClr val="1B2B3A"/>
                          </a:solidFill>
                          <a:latin typeface="Calibri" pitchFamily="34" charset="0"/>
                          <a:ea typeface="Calibri" pitchFamily="34" charset="-122"/>
                          <a:cs typeface="Calibri" pitchFamily="34" charset="-120"/>
                        </a:rPr>
                        <a:t>14/17</a:t>
                      </a:r>
                      <a:endParaRPr lang="en-US" sz="1467"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algn="ctr" indent="0" marL="0">
                        <a:buNone/>
                      </a:pPr>
                      <a:r>
                        <a:rPr lang="en-US" sz="1467" dirty="0">
                          <a:solidFill>
                            <a:srgbClr val="1B2B3A"/>
                          </a:solidFill>
                          <a:latin typeface="Calibri" pitchFamily="34" charset="0"/>
                          <a:ea typeface="Calibri" pitchFamily="34" charset="-122"/>
                          <a:cs typeface="Calibri" pitchFamily="34" charset="-120"/>
                        </a:rPr>
                        <a:t>7/17</a:t>
                      </a:r>
                      <a:endParaRPr lang="en-US" sz="1467"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algn="ctr" indent="0" marL="0">
                        <a:buNone/>
                      </a:pPr>
                      <a:r>
                        <a:rPr lang="en-US" sz="1467" b="1" dirty="0">
                          <a:solidFill>
                            <a:srgbClr val="1F6F8B"/>
                          </a:solidFill>
                          <a:latin typeface="Calibri" pitchFamily="34" charset="0"/>
                          <a:ea typeface="Calibri" pitchFamily="34" charset="-122"/>
                          <a:cs typeface="Calibri" pitchFamily="34" charset="-120"/>
                        </a:rPr>
                        <a:t>+7</a:t>
                      </a:r>
                      <a:endParaRPr lang="en-US" sz="1467"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r>
              <a:tr h="609598">
                <a:tc>
                  <a:txBody>
                    <a:bodyPr/>
                    <a:lstStyle/>
                    <a:p>
                      <a:pPr indent="0" marL="0">
                        <a:buNone/>
                      </a:pPr>
                      <a:r>
                        <a:rPr lang="en-US" sz="1467" b="1" dirty="0">
                          <a:solidFill>
                            <a:srgbClr val="1B2B3A"/>
                          </a:solidFill>
                          <a:latin typeface="Calibri" pitchFamily="34" charset="0"/>
                          <a:ea typeface="Calibri" pitchFamily="34" charset="-122"/>
                          <a:cs typeface="Calibri" pitchFamily="34" charset="-120"/>
                        </a:rPr>
                        <a:t>Năm loại còn lại</a:t>
                      </a:r>
                      <a:endParaRPr lang="en-US" sz="1467"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algn="ctr" indent="0" marL="0">
                        <a:buNone/>
                      </a:pPr>
                      <a:r>
                        <a:rPr lang="en-US" sz="1467" dirty="0">
                          <a:solidFill>
                            <a:srgbClr val="1B2B3A"/>
                          </a:solidFill>
                          <a:latin typeface="Calibri" pitchFamily="34" charset="0"/>
                          <a:ea typeface="Calibri" pitchFamily="34" charset="-122"/>
                          <a:cs typeface="Calibri" pitchFamily="34" charset="-120"/>
                        </a:rPr>
                        <a:t>113/133</a:t>
                      </a:r>
                      <a:endParaRPr lang="en-US" sz="1467"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algn="ctr" indent="0" marL="0">
                        <a:buNone/>
                      </a:pPr>
                      <a:r>
                        <a:rPr lang="en-US" sz="1467" dirty="0">
                          <a:solidFill>
                            <a:srgbClr val="1B2B3A"/>
                          </a:solidFill>
                          <a:latin typeface="Calibri" pitchFamily="34" charset="0"/>
                          <a:ea typeface="Calibri" pitchFamily="34" charset="-122"/>
                          <a:cs typeface="Calibri" pitchFamily="34" charset="-120"/>
                        </a:rPr>
                        <a:t>115/133</a:t>
                      </a:r>
                      <a:endParaRPr lang="en-US" sz="1467"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algn="ctr" indent="0" marL="0">
                        <a:buNone/>
                      </a:pPr>
                      <a:r>
                        <a:rPr lang="en-US" sz="1467" b="1" dirty="0">
                          <a:solidFill>
                            <a:srgbClr val="C8553D"/>
                          </a:solidFill>
                          <a:latin typeface="Calibri" pitchFamily="34" charset="0"/>
                          <a:ea typeface="Calibri" pitchFamily="34" charset="-122"/>
                          <a:cs typeface="Calibri" pitchFamily="34" charset="-120"/>
                        </a:rPr>
                        <a:t>-2</a:t>
                      </a:r>
                      <a:endParaRPr lang="en-US" sz="1467"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r>
            </a:tbl>
          </a:graphicData>
        </a:graphic>
      </p:graphicFrame>
      <p:sp>
        <p:nvSpPr>
          <p:cNvPr id="19" name="Text 15"/>
          <p:cNvSpPr txBox="1"/>
          <p:nvPr/>
        </p:nvSpPr>
        <p:spPr>
          <a:xfrm>
            <a:off x="6339824" y="3596631"/>
            <a:ext cx="5242547" cy="609598"/>
          </a:xfrm>
          <a:prstGeom prst="rect">
            <a:avLst/>
          </a:prstGeom>
          <a:noFill/>
          <a:ln/>
        </p:spPr>
        <p:txBody>
          <a:bodyPr wrap="square" lIns="0" tIns="0" rIns="0" bIns="0" rtlCol="0" anchor="t"/>
          <a:lstStyle/>
          <a:p>
            <a:pPr indent="0" marL="0">
              <a:buNone/>
            </a:pPr>
            <a:r>
              <a:rPr lang="en-US" sz="1467" dirty="0">
                <a:solidFill>
                  <a:srgbClr val="1B2B3A"/>
                </a:solidFill>
                <a:latin typeface="Calibri" pitchFamily="34" charset="0"/>
                <a:ea typeface="Calibri" pitchFamily="34" charset="-122"/>
                <a:cs typeface="Calibri" pitchFamily="34" charset="-120"/>
              </a:rPr>
              <a:t>Năm loại còn lại: APEX-MEM 85,0%, LightMem 86,5%.</a:t>
            </a:r>
            <a:endParaRPr lang="en-US" sz="1467" dirty="0"/>
          </a:p>
        </p:txBody>
      </p:sp>
      <p:sp>
        <p:nvSpPr>
          <p:cNvPr id="20" name="Shape 16"/>
          <p:cNvSpPr/>
          <p:nvPr/>
        </p:nvSpPr>
        <p:spPr>
          <a:xfrm>
            <a:off x="6339824" y="4267189"/>
            <a:ext cx="5242547" cy="1365501"/>
          </a:xfrm>
          <a:prstGeom prst="rect">
            <a:avLst/>
          </a:prstGeom>
          <a:solidFill>
            <a:srgbClr val="FBEAE5"/>
          </a:solidFill>
          <a:ln w="9525">
            <a:solidFill>
              <a:srgbClr val="DCE3EA"/>
            </a:solidFill>
            <a:prstDash val="solid"/>
          </a:ln>
        </p:spPr>
      </p:sp>
      <p:sp>
        <p:nvSpPr>
          <p:cNvPr id="21" name="Text 17"/>
          <p:cNvSpPr txBox="1"/>
          <p:nvPr/>
        </p:nvSpPr>
        <p:spPr>
          <a:xfrm>
            <a:off x="6522704" y="4328149"/>
            <a:ext cx="4876788" cy="1243581"/>
          </a:xfrm>
          <a:prstGeom prst="rect">
            <a:avLst/>
          </a:prstGeom>
          <a:noFill/>
          <a:ln/>
        </p:spPr>
        <p:txBody>
          <a:bodyPr wrap="square" lIns="0" tIns="0" rIns="0" bIns="0" rtlCol="0" anchor="ctr"/>
          <a:lstStyle/>
          <a:p>
            <a:pPr indent="0" marL="0">
              <a:buNone/>
            </a:pPr>
            <a:r>
              <a:rPr lang="en-US" sz="1400" b="1" dirty="0">
                <a:solidFill>
                  <a:srgbClr val="C8553D"/>
                </a:solidFill>
                <a:latin typeface="Calibri" pitchFamily="34" charset="0"/>
                <a:ea typeface="Calibri" pitchFamily="34" charset="-122"/>
                <a:cs typeface="Calibri" pitchFamily="34" charset="-120"/>
              </a:rPr>
              <a:t>Khác biệt cấu hình: </a:t>
            </a:r>
            <a:pPr indent="0" marL="0">
              <a:buNone/>
            </a:pPr>
            <a:r>
              <a:rPr lang="en-US" sz="1400" dirty="0">
                <a:solidFill>
                  <a:srgbClr val="1B2B3A"/>
                </a:solidFill>
                <a:latin typeface="Calibri" pitchFamily="34" charset="0"/>
                <a:ea typeface="Calibri" pitchFamily="34" charset="-122"/>
                <a:cs typeface="Calibri" pitchFamily="34" charset="-120"/>
              </a:rPr>
              <a:t>APEX-MEM lưu cả lượt trợ lý, LightMem mặc định chỉ lưu lượt người dùng. Loại câu hỏi này hỏi đúng về lời trợ lý.</a:t>
            </a:r>
            <a:endParaRPr lang="en-US" sz="1400" dirty="0"/>
          </a:p>
        </p:txBody>
      </p:sp>
      <p:sp>
        <p:nvSpPr>
          <p:cNvPr id="22" name="Shape 18"/>
          <p:cNvSpPr/>
          <p:nvPr/>
        </p:nvSpPr>
        <p:spPr>
          <a:xfrm>
            <a:off x="487679" y="5827761"/>
            <a:ext cx="11094692" cy="707134"/>
          </a:xfrm>
          <a:prstGeom prst="rect">
            <a:avLst/>
          </a:prstGeom>
          <a:solidFill>
            <a:srgbClr val="E7F0F4"/>
          </a:solidFill>
          <a:ln w="9525">
            <a:solidFill>
              <a:srgbClr val="DCE3EA"/>
            </a:solidFill>
            <a:prstDash val="solid"/>
          </a:ln>
        </p:spPr>
      </p:sp>
      <p:sp>
        <p:nvSpPr>
          <p:cNvPr id="23" name="Text 19"/>
          <p:cNvSpPr txBox="1"/>
          <p:nvPr/>
        </p:nvSpPr>
        <p:spPr>
          <a:xfrm>
            <a:off x="731518" y="5864337"/>
            <a:ext cx="10607013" cy="633982"/>
          </a:xfrm>
          <a:prstGeom prst="rect">
            <a:avLst/>
          </a:prstGeom>
          <a:noFill/>
          <a:ln/>
        </p:spPr>
        <p:txBody>
          <a:bodyPr wrap="square" lIns="0" tIns="0" rIns="0" bIns="0" rtlCol="0" anchor="ctr"/>
          <a:lstStyle/>
          <a:p>
            <a:pPr indent="0" marL="0">
              <a:buNone/>
            </a:pPr>
            <a:r>
              <a:rPr lang="en-US" sz="1400" b="1" dirty="0">
                <a:solidFill>
                  <a:srgbClr val="10243E"/>
                </a:solidFill>
                <a:latin typeface="Calibri" pitchFamily="34" charset="0"/>
                <a:ea typeface="Calibri" pitchFamily="34" charset="-122"/>
                <a:cs typeface="Calibri" pitchFamily="34" charset="-120"/>
              </a:rPr>
              <a:t>Chưa kết luận được: </a:t>
            </a:r>
            <a:pPr indent="0" marL="0">
              <a:buNone/>
            </a:pPr>
            <a:r>
              <a:rPr lang="en-US" sz="1400" dirty="0">
                <a:solidFill>
                  <a:srgbClr val="1B2B3A"/>
                </a:solidFill>
                <a:latin typeface="Calibri" pitchFamily="34" charset="0"/>
                <a:ea typeface="Calibri" pitchFamily="34" charset="-122"/>
                <a:cs typeface="Calibri" pitchFamily="34" charset="-120"/>
              </a:rPr>
              <a:t>giả thuyết là khác biệt cấu hình, không phải đồ thị, tạo ra chênh lệch. Muốn kiểm chứng phải chạy lại LightMem loại này với messages_use = user_assistant.</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7">
    <p:bg>
      <p:bgPr>
        <a:solidFill>
          <a:srgbClr val="F7F9FB"/>
        </a:solidFill>
      </p:bgPr>
    </p:bg>
    <p:spTree>
      <p:nvGrpSpPr>
        <p:cNvPr id="1" name=""/>
        <p:cNvGrpSpPr/>
        <p:nvPr/>
      </p:nvGrpSpPr>
      <p:grpSpPr>
        <a:xfrm>
          <a:off x="0" y="0"/>
          <a:ext cx="0" cy="0"/>
          <a:chOff x="0" y="0"/>
          <a:chExt cx="0" cy="0"/>
        </a:xfrm>
      </p:grpSpPr>
      <p:sp>
        <p:nvSpPr>
          <p:cNvPr id="2" name="Text 0"/>
          <p:cNvSpPr txBox="1"/>
          <p:nvPr/>
        </p:nvSpPr>
        <p:spPr>
          <a:xfrm>
            <a:off x="609598" y="365759"/>
            <a:ext cx="10972773" cy="365759"/>
          </a:xfrm>
          <a:prstGeom prst="rect">
            <a:avLst/>
          </a:prstGeom>
          <a:noFill/>
          <a:ln/>
        </p:spPr>
        <p:txBody>
          <a:bodyPr wrap="square" lIns="0" tIns="0" rIns="0" bIns="0" rtlCol="0" anchor="ctr"/>
          <a:lstStyle/>
          <a:p>
            <a:pPr indent="0" marL="0">
              <a:buNone/>
            </a:pPr>
            <a:r>
              <a:rPr lang="en-US" sz="1467" b="1" dirty="0">
                <a:solidFill>
                  <a:srgbClr val="1F6F8B"/>
                </a:solidFill>
                <a:latin typeface="Calibri" pitchFamily="34" charset="0"/>
                <a:ea typeface="Calibri" pitchFamily="34" charset="-122"/>
                <a:cs typeface="Calibri" pitchFamily="34" charset="-120"/>
              </a:rPr>
              <a:t>PHÂN TÍCH LỖI APEX-MEM</a:t>
            </a:r>
            <a:endParaRPr lang="en-US" sz="1467" dirty="0"/>
          </a:p>
        </p:txBody>
      </p:sp>
      <p:sp>
        <p:nvSpPr>
          <p:cNvPr id="3" name="Text 1"/>
          <p:cNvSpPr txBox="1"/>
          <p:nvPr/>
        </p:nvSpPr>
        <p:spPr>
          <a:xfrm>
            <a:off x="609598" y="670558"/>
            <a:ext cx="10972773" cy="731518"/>
          </a:xfrm>
          <a:prstGeom prst="rect">
            <a:avLst/>
          </a:prstGeom>
          <a:noFill/>
          <a:ln/>
        </p:spPr>
        <p:txBody>
          <a:bodyPr wrap="square" lIns="0" tIns="0" rIns="0" bIns="0" rtlCol="0" anchor="ctr"/>
          <a:lstStyle/>
          <a:p>
            <a:pPr indent="0" marL="0">
              <a:buNone/>
            </a:pPr>
            <a:r>
              <a:rPr lang="en-US" sz="3467" b="1" dirty="0">
                <a:solidFill>
                  <a:srgbClr val="10243E"/>
                </a:solidFill>
                <a:latin typeface="Cambria" pitchFamily="34" charset="0"/>
                <a:ea typeface="Cambria" pitchFamily="34" charset="-122"/>
                <a:cs typeface="Cambria" pitchFamily="34" charset="-120"/>
              </a:rPr>
              <a:t>APEX-MEM sai 23 câu, gần như không do tìm kiếm</a:t>
            </a:r>
            <a:endParaRPr lang="en-US" sz="3467" dirty="0"/>
          </a:p>
        </p:txBody>
      </p:sp>
      <p:sp>
        <p:nvSpPr>
          <p:cNvPr id="5" name="Shape 2"/>
          <p:cNvSpPr/>
          <p:nvPr/>
        </p:nvSpPr>
        <p:spPr>
          <a:xfrm>
            <a:off x="487679" y="1584956"/>
            <a:ext cx="3413751" cy="4328149"/>
          </a:xfrm>
          <a:prstGeom prst="rect">
            <a:avLst/>
          </a:prstGeom>
          <a:solidFill>
            <a:srgbClr val="FFFFFF"/>
          </a:solidFill>
          <a:ln w="9525">
            <a:solidFill>
              <a:srgbClr val="DCE3EA"/>
            </a:solidFill>
            <a:prstDash val="solid"/>
          </a:ln>
        </p:spPr>
      </p:sp>
      <p:sp>
        <p:nvSpPr>
          <p:cNvPr id="6" name="Text 3"/>
          <p:cNvSpPr txBox="1"/>
          <p:nvPr/>
        </p:nvSpPr>
        <p:spPr>
          <a:xfrm>
            <a:off x="487679" y="1706876"/>
            <a:ext cx="3413751" cy="975358"/>
          </a:xfrm>
          <a:prstGeom prst="rect">
            <a:avLst/>
          </a:prstGeom>
          <a:noFill/>
          <a:ln/>
        </p:spPr>
        <p:txBody>
          <a:bodyPr wrap="square" lIns="0" tIns="0" rIns="0" bIns="0" rtlCol="0" anchor="ctr"/>
          <a:lstStyle/>
          <a:p>
            <a:pPr algn="ctr" indent="0" marL="0">
              <a:buNone/>
            </a:pPr>
            <a:r>
              <a:rPr lang="en-US" sz="5867" b="1" dirty="0">
                <a:solidFill>
                  <a:srgbClr val="C8553D"/>
                </a:solidFill>
                <a:latin typeface="Cambria" pitchFamily="34" charset="0"/>
                <a:ea typeface="Cambria" pitchFamily="34" charset="-122"/>
                <a:cs typeface="Cambria" pitchFamily="34" charset="-120"/>
              </a:rPr>
              <a:t>23</a:t>
            </a:r>
            <a:endParaRPr lang="en-US" sz="5867" dirty="0"/>
          </a:p>
        </p:txBody>
      </p:sp>
      <p:sp>
        <p:nvSpPr>
          <p:cNvPr id="7" name="Text 4"/>
          <p:cNvSpPr txBox="1"/>
          <p:nvPr/>
        </p:nvSpPr>
        <p:spPr>
          <a:xfrm>
            <a:off x="487679" y="2682233"/>
            <a:ext cx="3413751" cy="365759"/>
          </a:xfrm>
          <a:prstGeom prst="rect">
            <a:avLst/>
          </a:prstGeom>
          <a:noFill/>
          <a:ln/>
        </p:spPr>
        <p:txBody>
          <a:bodyPr wrap="square" lIns="0" tIns="0" rIns="0" bIns="0" rtlCol="0" anchor="ctr"/>
          <a:lstStyle/>
          <a:p>
            <a:pPr algn="ctr" indent="0" marL="0">
              <a:buNone/>
            </a:pPr>
            <a:r>
              <a:rPr lang="en-US" sz="1533" dirty="0">
                <a:solidFill>
                  <a:srgbClr val="5B6B7A"/>
                </a:solidFill>
                <a:latin typeface="Calibri" pitchFamily="34" charset="0"/>
                <a:ea typeface="Calibri" pitchFamily="34" charset="-122"/>
                <a:cs typeface="Calibri" pitchFamily="34" charset="-120"/>
              </a:rPr>
              <a:t>câu sai trong 150 câu</a:t>
            </a:r>
            <a:endParaRPr lang="en-US" sz="1533" dirty="0"/>
          </a:p>
        </p:txBody>
      </p:sp>
      <p:sp>
        <p:nvSpPr>
          <p:cNvPr id="8" name="Text 5"/>
          <p:cNvSpPr txBox="1"/>
          <p:nvPr/>
        </p:nvSpPr>
        <p:spPr>
          <a:xfrm>
            <a:off x="731518" y="3169912"/>
            <a:ext cx="2438394" cy="390143"/>
          </a:xfrm>
          <a:prstGeom prst="rect">
            <a:avLst/>
          </a:prstGeom>
          <a:noFill/>
          <a:ln/>
        </p:spPr>
        <p:txBody>
          <a:bodyPr wrap="square" lIns="0" tIns="0" rIns="0" bIns="0" rtlCol="0" anchor="ctr"/>
          <a:lstStyle/>
          <a:p>
            <a:pPr indent="0" marL="0">
              <a:buNone/>
            </a:pPr>
            <a:r>
              <a:rPr lang="en-US" sz="1467" dirty="0">
                <a:solidFill>
                  <a:srgbClr val="1B2B3A"/>
                </a:solidFill>
                <a:latin typeface="Calibri" pitchFamily="34" charset="0"/>
                <a:ea typeface="Calibri" pitchFamily="34" charset="-122"/>
                <a:cs typeface="Calibri" pitchFamily="34" charset="-120"/>
              </a:rPr>
              <a:t>Đa phiên</a:t>
            </a:r>
            <a:endParaRPr lang="en-US" sz="1467" dirty="0"/>
          </a:p>
        </p:txBody>
      </p:sp>
      <p:sp>
        <p:nvSpPr>
          <p:cNvPr id="9" name="Text 6"/>
          <p:cNvSpPr txBox="1"/>
          <p:nvPr/>
        </p:nvSpPr>
        <p:spPr>
          <a:xfrm>
            <a:off x="3169912" y="3169912"/>
            <a:ext cx="548639" cy="390143"/>
          </a:xfrm>
          <a:prstGeom prst="rect">
            <a:avLst/>
          </a:prstGeom>
          <a:noFill/>
          <a:ln/>
        </p:spPr>
        <p:txBody>
          <a:bodyPr wrap="square" lIns="0" tIns="0" rIns="0" bIns="0" rtlCol="0" anchor="ctr"/>
          <a:lstStyle/>
          <a:p>
            <a:pPr algn="r" indent="0" marL="0">
              <a:buNone/>
            </a:pPr>
            <a:r>
              <a:rPr lang="en-US" sz="1467" b="1" dirty="0">
                <a:solidFill>
                  <a:srgbClr val="C8553D"/>
                </a:solidFill>
                <a:latin typeface="Calibri" pitchFamily="34" charset="0"/>
                <a:ea typeface="Calibri" pitchFamily="34" charset="-122"/>
                <a:cs typeface="Calibri" pitchFamily="34" charset="-120"/>
              </a:rPr>
              <a:t>8</a:t>
            </a:r>
            <a:endParaRPr lang="en-US" sz="1467" dirty="0"/>
          </a:p>
        </p:txBody>
      </p:sp>
      <p:sp>
        <p:nvSpPr>
          <p:cNvPr id="10" name="Text 7"/>
          <p:cNvSpPr txBox="1"/>
          <p:nvPr/>
        </p:nvSpPr>
        <p:spPr>
          <a:xfrm>
            <a:off x="731518" y="3621015"/>
            <a:ext cx="2438394" cy="390143"/>
          </a:xfrm>
          <a:prstGeom prst="rect">
            <a:avLst/>
          </a:prstGeom>
          <a:noFill/>
          <a:ln/>
        </p:spPr>
        <p:txBody>
          <a:bodyPr wrap="square" lIns="0" tIns="0" rIns="0" bIns="0" rtlCol="0" anchor="ctr"/>
          <a:lstStyle/>
          <a:p>
            <a:pPr indent="0" marL="0">
              <a:buNone/>
            </a:pPr>
            <a:r>
              <a:rPr lang="en-US" sz="1467" dirty="0">
                <a:solidFill>
                  <a:srgbClr val="1B2B3A"/>
                </a:solidFill>
                <a:latin typeface="Calibri" pitchFamily="34" charset="0"/>
                <a:ea typeface="Calibri" pitchFamily="34" charset="-122"/>
                <a:cs typeface="Calibri" pitchFamily="34" charset="-120"/>
              </a:rPr>
              <a:t>Suy luận thời gian</a:t>
            </a:r>
            <a:endParaRPr lang="en-US" sz="1467" dirty="0"/>
          </a:p>
        </p:txBody>
      </p:sp>
      <p:sp>
        <p:nvSpPr>
          <p:cNvPr id="11" name="Text 8"/>
          <p:cNvSpPr txBox="1"/>
          <p:nvPr/>
        </p:nvSpPr>
        <p:spPr>
          <a:xfrm>
            <a:off x="3169912" y="3621015"/>
            <a:ext cx="548639" cy="390143"/>
          </a:xfrm>
          <a:prstGeom prst="rect">
            <a:avLst/>
          </a:prstGeom>
          <a:noFill/>
          <a:ln/>
        </p:spPr>
        <p:txBody>
          <a:bodyPr wrap="square" lIns="0" tIns="0" rIns="0" bIns="0" rtlCol="0" anchor="ctr"/>
          <a:lstStyle/>
          <a:p>
            <a:pPr algn="r" indent="0" marL="0">
              <a:buNone/>
            </a:pPr>
            <a:r>
              <a:rPr lang="en-US" sz="1467" b="1" dirty="0">
                <a:solidFill>
                  <a:srgbClr val="C8553D"/>
                </a:solidFill>
                <a:latin typeface="Calibri" pitchFamily="34" charset="0"/>
                <a:ea typeface="Calibri" pitchFamily="34" charset="-122"/>
                <a:cs typeface="Calibri" pitchFamily="34" charset="-120"/>
              </a:rPr>
              <a:t>6</a:t>
            </a:r>
            <a:endParaRPr lang="en-US" sz="1467" dirty="0"/>
          </a:p>
        </p:txBody>
      </p:sp>
      <p:sp>
        <p:nvSpPr>
          <p:cNvPr id="12" name="Text 9"/>
          <p:cNvSpPr txBox="1"/>
          <p:nvPr/>
        </p:nvSpPr>
        <p:spPr>
          <a:xfrm>
            <a:off x="731518" y="4072118"/>
            <a:ext cx="2438394" cy="390143"/>
          </a:xfrm>
          <a:prstGeom prst="rect">
            <a:avLst/>
          </a:prstGeom>
          <a:noFill/>
          <a:ln/>
        </p:spPr>
        <p:txBody>
          <a:bodyPr wrap="square" lIns="0" tIns="0" rIns="0" bIns="0" rtlCol="0" anchor="ctr"/>
          <a:lstStyle/>
          <a:p>
            <a:pPr indent="0" marL="0">
              <a:buNone/>
            </a:pPr>
            <a:r>
              <a:rPr lang="en-US" sz="1467" dirty="0">
                <a:solidFill>
                  <a:srgbClr val="1B2B3A"/>
                </a:solidFill>
                <a:latin typeface="Calibri" pitchFamily="34" charset="0"/>
                <a:ea typeface="Calibri" pitchFamily="34" charset="-122"/>
                <a:cs typeface="Calibri" pitchFamily="34" charset="-120"/>
              </a:rPr>
              <a:t>Cập nhật kiến thức</a:t>
            </a:r>
            <a:endParaRPr lang="en-US" sz="1467" dirty="0"/>
          </a:p>
        </p:txBody>
      </p:sp>
      <p:sp>
        <p:nvSpPr>
          <p:cNvPr id="13" name="Text 10"/>
          <p:cNvSpPr txBox="1"/>
          <p:nvPr/>
        </p:nvSpPr>
        <p:spPr>
          <a:xfrm>
            <a:off x="3169912" y="4072118"/>
            <a:ext cx="548639" cy="390143"/>
          </a:xfrm>
          <a:prstGeom prst="rect">
            <a:avLst/>
          </a:prstGeom>
          <a:noFill/>
          <a:ln/>
        </p:spPr>
        <p:txBody>
          <a:bodyPr wrap="square" lIns="0" tIns="0" rIns="0" bIns="0" rtlCol="0" anchor="ctr"/>
          <a:lstStyle/>
          <a:p>
            <a:pPr algn="r" indent="0" marL="0">
              <a:buNone/>
            </a:pPr>
            <a:r>
              <a:rPr lang="en-US" sz="1467" b="1" dirty="0">
                <a:solidFill>
                  <a:srgbClr val="5B6B7A"/>
                </a:solidFill>
                <a:latin typeface="Calibri" pitchFamily="34" charset="0"/>
                <a:ea typeface="Calibri" pitchFamily="34" charset="-122"/>
                <a:cs typeface="Calibri" pitchFamily="34" charset="-120"/>
              </a:rPr>
              <a:t>3</a:t>
            </a:r>
            <a:endParaRPr lang="en-US" sz="1467" dirty="0"/>
          </a:p>
        </p:txBody>
      </p:sp>
      <p:sp>
        <p:nvSpPr>
          <p:cNvPr id="14" name="Text 11"/>
          <p:cNvSpPr txBox="1"/>
          <p:nvPr/>
        </p:nvSpPr>
        <p:spPr>
          <a:xfrm>
            <a:off x="731518" y="4523221"/>
            <a:ext cx="2438394" cy="390143"/>
          </a:xfrm>
          <a:prstGeom prst="rect">
            <a:avLst/>
          </a:prstGeom>
          <a:noFill/>
          <a:ln/>
        </p:spPr>
        <p:txBody>
          <a:bodyPr wrap="square" lIns="0" tIns="0" rIns="0" bIns="0" rtlCol="0" anchor="ctr"/>
          <a:lstStyle/>
          <a:p>
            <a:pPr indent="0" marL="0">
              <a:buNone/>
            </a:pPr>
            <a:r>
              <a:rPr lang="en-US" sz="1467" dirty="0">
                <a:solidFill>
                  <a:srgbClr val="1B2B3A"/>
                </a:solidFill>
                <a:latin typeface="Calibri" pitchFamily="34" charset="0"/>
                <a:ea typeface="Calibri" pitchFamily="34" charset="-122"/>
                <a:cs typeface="Calibri" pitchFamily="34" charset="-120"/>
              </a:rPr>
              <a:t>Đơn phiên · trợ lý</a:t>
            </a:r>
            <a:endParaRPr lang="en-US" sz="1467" dirty="0"/>
          </a:p>
        </p:txBody>
      </p:sp>
      <p:sp>
        <p:nvSpPr>
          <p:cNvPr id="15" name="Text 12"/>
          <p:cNvSpPr txBox="1"/>
          <p:nvPr/>
        </p:nvSpPr>
        <p:spPr>
          <a:xfrm>
            <a:off x="3169912" y="4523221"/>
            <a:ext cx="548639" cy="390143"/>
          </a:xfrm>
          <a:prstGeom prst="rect">
            <a:avLst/>
          </a:prstGeom>
          <a:noFill/>
          <a:ln/>
        </p:spPr>
        <p:txBody>
          <a:bodyPr wrap="square" lIns="0" tIns="0" rIns="0" bIns="0" rtlCol="0" anchor="ctr"/>
          <a:lstStyle/>
          <a:p>
            <a:pPr algn="r" indent="0" marL="0">
              <a:buNone/>
            </a:pPr>
            <a:r>
              <a:rPr lang="en-US" sz="1467" b="1" dirty="0">
                <a:solidFill>
                  <a:srgbClr val="5B6B7A"/>
                </a:solidFill>
                <a:latin typeface="Calibri" pitchFamily="34" charset="0"/>
                <a:ea typeface="Calibri" pitchFamily="34" charset="-122"/>
                <a:cs typeface="Calibri" pitchFamily="34" charset="-120"/>
              </a:rPr>
              <a:t>3</a:t>
            </a:r>
            <a:endParaRPr lang="en-US" sz="1467" dirty="0"/>
          </a:p>
        </p:txBody>
      </p:sp>
      <p:sp>
        <p:nvSpPr>
          <p:cNvPr id="16" name="Text 13"/>
          <p:cNvSpPr txBox="1"/>
          <p:nvPr/>
        </p:nvSpPr>
        <p:spPr>
          <a:xfrm>
            <a:off x="731518" y="4974324"/>
            <a:ext cx="2438394" cy="390143"/>
          </a:xfrm>
          <a:prstGeom prst="rect">
            <a:avLst/>
          </a:prstGeom>
          <a:noFill/>
          <a:ln/>
        </p:spPr>
        <p:txBody>
          <a:bodyPr wrap="square" lIns="0" tIns="0" rIns="0" bIns="0" rtlCol="0" anchor="ctr"/>
          <a:lstStyle/>
          <a:p>
            <a:pPr indent="0" marL="0">
              <a:buNone/>
            </a:pPr>
            <a:r>
              <a:rPr lang="en-US" sz="1467" dirty="0">
                <a:solidFill>
                  <a:srgbClr val="1B2B3A"/>
                </a:solidFill>
                <a:latin typeface="Calibri" pitchFamily="34" charset="0"/>
                <a:ea typeface="Calibri" pitchFamily="34" charset="-122"/>
                <a:cs typeface="Calibri" pitchFamily="34" charset="-120"/>
              </a:rPr>
              <a:t>Đơn phiên · sở thích</a:t>
            </a:r>
            <a:endParaRPr lang="en-US" sz="1467" dirty="0"/>
          </a:p>
        </p:txBody>
      </p:sp>
      <p:sp>
        <p:nvSpPr>
          <p:cNvPr id="17" name="Text 14"/>
          <p:cNvSpPr txBox="1"/>
          <p:nvPr/>
        </p:nvSpPr>
        <p:spPr>
          <a:xfrm>
            <a:off x="3169912" y="4974324"/>
            <a:ext cx="548639" cy="390143"/>
          </a:xfrm>
          <a:prstGeom prst="rect">
            <a:avLst/>
          </a:prstGeom>
          <a:noFill/>
          <a:ln/>
        </p:spPr>
        <p:txBody>
          <a:bodyPr wrap="square" lIns="0" tIns="0" rIns="0" bIns="0" rtlCol="0" anchor="ctr"/>
          <a:lstStyle/>
          <a:p>
            <a:pPr algn="r" indent="0" marL="0">
              <a:buNone/>
            </a:pPr>
            <a:r>
              <a:rPr lang="en-US" sz="1467" b="1" dirty="0">
                <a:solidFill>
                  <a:srgbClr val="5B6B7A"/>
                </a:solidFill>
                <a:latin typeface="Calibri" pitchFamily="34" charset="0"/>
                <a:ea typeface="Calibri" pitchFamily="34" charset="-122"/>
                <a:cs typeface="Calibri" pitchFamily="34" charset="-120"/>
              </a:rPr>
              <a:t>2</a:t>
            </a:r>
            <a:endParaRPr lang="en-US" sz="1467" dirty="0"/>
          </a:p>
        </p:txBody>
      </p:sp>
      <p:sp>
        <p:nvSpPr>
          <p:cNvPr id="18" name="Text 15"/>
          <p:cNvSpPr txBox="1"/>
          <p:nvPr/>
        </p:nvSpPr>
        <p:spPr>
          <a:xfrm>
            <a:off x="731518" y="5425426"/>
            <a:ext cx="2438394" cy="390143"/>
          </a:xfrm>
          <a:prstGeom prst="rect">
            <a:avLst/>
          </a:prstGeom>
          <a:noFill/>
          <a:ln/>
        </p:spPr>
        <p:txBody>
          <a:bodyPr wrap="square" lIns="0" tIns="0" rIns="0" bIns="0" rtlCol="0" anchor="ctr"/>
          <a:lstStyle/>
          <a:p>
            <a:pPr indent="0" marL="0">
              <a:buNone/>
            </a:pPr>
            <a:r>
              <a:rPr lang="en-US" sz="1467" dirty="0">
                <a:solidFill>
                  <a:srgbClr val="1B2B3A"/>
                </a:solidFill>
                <a:latin typeface="Calibri" pitchFamily="34" charset="0"/>
                <a:ea typeface="Calibri" pitchFamily="34" charset="-122"/>
                <a:cs typeface="Calibri" pitchFamily="34" charset="-120"/>
              </a:rPr>
              <a:t>Đơn phiên · người dùng</a:t>
            </a:r>
            <a:endParaRPr lang="en-US" sz="1467" dirty="0"/>
          </a:p>
        </p:txBody>
      </p:sp>
      <p:sp>
        <p:nvSpPr>
          <p:cNvPr id="19" name="Text 16"/>
          <p:cNvSpPr txBox="1"/>
          <p:nvPr/>
        </p:nvSpPr>
        <p:spPr>
          <a:xfrm>
            <a:off x="3169912" y="5425426"/>
            <a:ext cx="548639" cy="390143"/>
          </a:xfrm>
          <a:prstGeom prst="rect">
            <a:avLst/>
          </a:prstGeom>
          <a:noFill/>
          <a:ln/>
        </p:spPr>
        <p:txBody>
          <a:bodyPr wrap="square" lIns="0" tIns="0" rIns="0" bIns="0" rtlCol="0" anchor="ctr"/>
          <a:lstStyle/>
          <a:p>
            <a:pPr algn="r" indent="0" marL="0">
              <a:buNone/>
            </a:pPr>
            <a:r>
              <a:rPr lang="en-US" sz="1467" b="1" dirty="0">
                <a:solidFill>
                  <a:srgbClr val="5B6B7A"/>
                </a:solidFill>
                <a:latin typeface="Calibri" pitchFamily="34" charset="0"/>
                <a:ea typeface="Calibri" pitchFamily="34" charset="-122"/>
                <a:cs typeface="Calibri" pitchFamily="34" charset="-120"/>
              </a:rPr>
              <a:t>1</a:t>
            </a:r>
            <a:endParaRPr lang="en-US" sz="1467" dirty="0"/>
          </a:p>
        </p:txBody>
      </p:sp>
      <p:sp>
        <p:nvSpPr>
          <p:cNvPr id="20" name="Shape 17"/>
          <p:cNvSpPr/>
          <p:nvPr/>
        </p:nvSpPr>
        <p:spPr>
          <a:xfrm>
            <a:off x="4145270" y="1584956"/>
            <a:ext cx="2377434" cy="1158237"/>
          </a:xfrm>
          <a:prstGeom prst="rect">
            <a:avLst/>
          </a:prstGeom>
          <a:solidFill>
            <a:srgbClr val="FFFFFF"/>
          </a:solidFill>
          <a:ln w="9525">
            <a:solidFill>
              <a:srgbClr val="DCE3EA"/>
            </a:solidFill>
            <a:prstDash val="solid"/>
          </a:ln>
        </p:spPr>
      </p:sp>
      <p:sp>
        <p:nvSpPr>
          <p:cNvPr id="21" name="Text 18"/>
          <p:cNvSpPr txBox="1"/>
          <p:nvPr/>
        </p:nvSpPr>
        <p:spPr>
          <a:xfrm>
            <a:off x="4145270" y="1621532"/>
            <a:ext cx="2377434" cy="670558"/>
          </a:xfrm>
          <a:prstGeom prst="rect">
            <a:avLst/>
          </a:prstGeom>
          <a:noFill/>
          <a:ln/>
        </p:spPr>
        <p:txBody>
          <a:bodyPr wrap="square" lIns="0" tIns="0" rIns="0" bIns="0" rtlCol="0" anchor="ctr"/>
          <a:lstStyle/>
          <a:p>
            <a:pPr algn="ctr" indent="0" marL="0">
              <a:buNone/>
            </a:pPr>
            <a:r>
              <a:rPr lang="en-US" sz="3733" b="1" dirty="0">
                <a:solidFill>
                  <a:srgbClr val="C8553D"/>
                </a:solidFill>
                <a:latin typeface="Cambria" pitchFamily="34" charset="0"/>
                <a:ea typeface="Cambria" pitchFamily="34" charset="-122"/>
                <a:cs typeface="Cambria" pitchFamily="34" charset="-120"/>
              </a:rPr>
              <a:t>21</a:t>
            </a:r>
            <a:endParaRPr lang="en-US" sz="3733" dirty="0"/>
          </a:p>
        </p:txBody>
      </p:sp>
      <p:sp>
        <p:nvSpPr>
          <p:cNvPr id="22" name="Text 19"/>
          <p:cNvSpPr txBox="1"/>
          <p:nvPr/>
        </p:nvSpPr>
        <p:spPr>
          <a:xfrm>
            <a:off x="4145270" y="2292090"/>
            <a:ext cx="2377434" cy="365759"/>
          </a:xfrm>
          <a:prstGeom prst="rect">
            <a:avLst/>
          </a:prstGeom>
          <a:noFill/>
          <a:ln/>
        </p:spPr>
        <p:txBody>
          <a:bodyPr wrap="square" lIns="0" tIns="0" rIns="0" bIns="0" rtlCol="0" anchor="ctr"/>
          <a:lstStyle/>
          <a:p>
            <a:pPr algn="ctr" indent="0" marL="0">
              <a:buNone/>
            </a:pPr>
            <a:r>
              <a:rPr lang="en-US" sz="1400" dirty="0">
                <a:solidFill>
                  <a:srgbClr val="1B2B3A"/>
                </a:solidFill>
                <a:latin typeface="Calibri" pitchFamily="34" charset="0"/>
                <a:ea typeface="Calibri" pitchFamily="34" charset="-122"/>
                <a:cs typeface="Calibri" pitchFamily="34" charset="-120"/>
              </a:rPr>
              <a:t>reasoning</a:t>
            </a:r>
            <a:endParaRPr lang="en-US" sz="1400" dirty="0"/>
          </a:p>
        </p:txBody>
      </p:sp>
      <p:sp>
        <p:nvSpPr>
          <p:cNvPr id="23" name="Shape 20"/>
          <p:cNvSpPr/>
          <p:nvPr/>
        </p:nvSpPr>
        <p:spPr>
          <a:xfrm>
            <a:off x="6644623" y="1584956"/>
            <a:ext cx="2377434" cy="1158237"/>
          </a:xfrm>
          <a:prstGeom prst="rect">
            <a:avLst/>
          </a:prstGeom>
          <a:solidFill>
            <a:srgbClr val="FFFFFF"/>
          </a:solidFill>
          <a:ln w="9525">
            <a:solidFill>
              <a:srgbClr val="DCE3EA"/>
            </a:solidFill>
            <a:prstDash val="solid"/>
          </a:ln>
        </p:spPr>
      </p:sp>
      <p:sp>
        <p:nvSpPr>
          <p:cNvPr id="24" name="Text 21"/>
          <p:cNvSpPr txBox="1"/>
          <p:nvPr/>
        </p:nvSpPr>
        <p:spPr>
          <a:xfrm>
            <a:off x="6644623" y="1621532"/>
            <a:ext cx="2377434" cy="670558"/>
          </a:xfrm>
          <a:prstGeom prst="rect">
            <a:avLst/>
          </a:prstGeom>
          <a:noFill/>
          <a:ln/>
        </p:spPr>
        <p:txBody>
          <a:bodyPr wrap="square" lIns="0" tIns="0" rIns="0" bIns="0" rtlCol="0" anchor="ctr"/>
          <a:lstStyle/>
          <a:p>
            <a:pPr algn="ctr" indent="0" marL="0">
              <a:buNone/>
            </a:pPr>
            <a:r>
              <a:rPr lang="en-US" sz="3733" b="1" dirty="0">
                <a:solidFill>
                  <a:srgbClr val="5B6B7A"/>
                </a:solidFill>
                <a:latin typeface="Cambria" pitchFamily="34" charset="0"/>
                <a:ea typeface="Cambria" pitchFamily="34" charset="-122"/>
                <a:cs typeface="Cambria" pitchFamily="34" charset="-120"/>
              </a:rPr>
              <a:t>1</a:t>
            </a:r>
            <a:endParaRPr lang="en-US" sz="3733" dirty="0"/>
          </a:p>
        </p:txBody>
      </p:sp>
      <p:sp>
        <p:nvSpPr>
          <p:cNvPr id="25" name="Text 22"/>
          <p:cNvSpPr txBox="1"/>
          <p:nvPr/>
        </p:nvSpPr>
        <p:spPr>
          <a:xfrm>
            <a:off x="6644623" y="2292090"/>
            <a:ext cx="2377434" cy="365759"/>
          </a:xfrm>
          <a:prstGeom prst="rect">
            <a:avLst/>
          </a:prstGeom>
          <a:noFill/>
          <a:ln/>
        </p:spPr>
        <p:txBody>
          <a:bodyPr wrap="square" lIns="0" tIns="0" rIns="0" bIns="0" rtlCol="0" anchor="ctr"/>
          <a:lstStyle/>
          <a:p>
            <a:pPr algn="ctr" indent="0" marL="0">
              <a:buNone/>
            </a:pPr>
            <a:r>
              <a:rPr lang="en-US" sz="1400" dirty="0">
                <a:solidFill>
                  <a:srgbClr val="1B2B3A"/>
                </a:solidFill>
                <a:latin typeface="Calibri" pitchFamily="34" charset="0"/>
                <a:ea typeface="Calibri" pitchFamily="34" charset="-122"/>
                <a:cs typeface="Calibri" pitchFamily="34" charset="-120"/>
              </a:rPr>
              <a:t>không biết từ chối</a:t>
            </a:r>
            <a:endParaRPr lang="en-US" sz="1400" dirty="0"/>
          </a:p>
        </p:txBody>
      </p:sp>
      <p:sp>
        <p:nvSpPr>
          <p:cNvPr id="26" name="Shape 23"/>
          <p:cNvSpPr/>
          <p:nvPr/>
        </p:nvSpPr>
        <p:spPr>
          <a:xfrm>
            <a:off x="9143977" y="1584956"/>
            <a:ext cx="2377434" cy="1158237"/>
          </a:xfrm>
          <a:prstGeom prst="rect">
            <a:avLst/>
          </a:prstGeom>
          <a:solidFill>
            <a:srgbClr val="FFFFFF"/>
          </a:solidFill>
          <a:ln w="9525">
            <a:solidFill>
              <a:srgbClr val="DCE3EA"/>
            </a:solidFill>
            <a:prstDash val="solid"/>
          </a:ln>
        </p:spPr>
      </p:sp>
      <p:sp>
        <p:nvSpPr>
          <p:cNvPr id="27" name="Text 24"/>
          <p:cNvSpPr txBox="1"/>
          <p:nvPr/>
        </p:nvSpPr>
        <p:spPr>
          <a:xfrm>
            <a:off x="9143977" y="1621532"/>
            <a:ext cx="2377434" cy="670558"/>
          </a:xfrm>
          <a:prstGeom prst="rect">
            <a:avLst/>
          </a:prstGeom>
          <a:noFill/>
          <a:ln/>
        </p:spPr>
        <p:txBody>
          <a:bodyPr wrap="square" lIns="0" tIns="0" rIns="0" bIns="0" rtlCol="0" anchor="ctr"/>
          <a:lstStyle/>
          <a:p>
            <a:pPr algn="ctr" indent="0" marL="0">
              <a:buNone/>
            </a:pPr>
            <a:r>
              <a:rPr lang="en-US" sz="3733" b="1" dirty="0">
                <a:solidFill>
                  <a:srgbClr val="5B6B7A"/>
                </a:solidFill>
                <a:latin typeface="Cambria" pitchFamily="34" charset="0"/>
                <a:ea typeface="Cambria" pitchFamily="34" charset="-122"/>
                <a:cs typeface="Cambria" pitchFamily="34" charset="-120"/>
              </a:rPr>
              <a:t>1</a:t>
            </a:r>
            <a:endParaRPr lang="en-US" sz="3733" dirty="0"/>
          </a:p>
        </p:txBody>
      </p:sp>
      <p:sp>
        <p:nvSpPr>
          <p:cNvPr id="28" name="Text 25"/>
          <p:cNvSpPr txBox="1"/>
          <p:nvPr/>
        </p:nvSpPr>
        <p:spPr>
          <a:xfrm>
            <a:off x="9143977" y="2292090"/>
            <a:ext cx="2377434" cy="365759"/>
          </a:xfrm>
          <a:prstGeom prst="rect">
            <a:avLst/>
          </a:prstGeom>
          <a:noFill/>
          <a:ln/>
        </p:spPr>
        <p:txBody>
          <a:bodyPr wrap="square" lIns="0" tIns="0" rIns="0" bIns="0" rtlCol="0" anchor="ctr"/>
          <a:lstStyle/>
          <a:p>
            <a:pPr algn="ctr" indent="0" marL="0">
              <a:buNone/>
            </a:pPr>
            <a:r>
              <a:rPr lang="en-US" sz="1400" dirty="0">
                <a:solidFill>
                  <a:srgbClr val="1B2B3A"/>
                </a:solidFill>
                <a:latin typeface="Calibri" pitchFamily="34" charset="0"/>
                <a:ea typeface="Calibri" pitchFamily="34" charset="-122"/>
                <a:cs typeface="Calibri" pitchFamily="34" charset="-120"/>
              </a:rPr>
              <a:t>bộ lọc loại mất phiên</a:t>
            </a:r>
            <a:endParaRPr lang="en-US" sz="1400" dirty="0"/>
          </a:p>
        </p:txBody>
      </p:sp>
      <p:sp>
        <p:nvSpPr>
          <p:cNvPr id="29" name="Text 26"/>
          <p:cNvSpPr txBox="1"/>
          <p:nvPr/>
        </p:nvSpPr>
        <p:spPr>
          <a:xfrm>
            <a:off x="4145270" y="2901689"/>
            <a:ext cx="7437101" cy="365759"/>
          </a:xfrm>
          <a:prstGeom prst="rect">
            <a:avLst/>
          </a:prstGeom>
          <a:noFill/>
          <a:ln/>
        </p:spPr>
        <p:txBody>
          <a:bodyPr wrap="square" lIns="0" tIns="0" rIns="0" bIns="0" rtlCol="0" anchor="ctr"/>
          <a:lstStyle/>
          <a:p>
            <a:pPr indent="0" marL="0">
              <a:buNone/>
            </a:pPr>
            <a:r>
              <a:rPr lang="en-US" sz="1667" b="1" dirty="0">
                <a:solidFill>
                  <a:srgbClr val="10243E"/>
                </a:solidFill>
                <a:latin typeface="Cambria" pitchFamily="34" charset="0"/>
                <a:ea typeface="Cambria" pitchFamily="34" charset="-122"/>
                <a:cs typeface="Cambria" pitchFamily="34" charset="-120"/>
              </a:rPr>
              <a:t>Trong 8 câu cả hai hệ cùng sai, ví dụ:</a:t>
            </a:r>
            <a:endParaRPr lang="en-US" sz="1667"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145270" y="3316216"/>
          <a:ext cx="7437101" cy="914400"/>
        </p:xfrm>
        <a:graphic>
          <a:graphicData uri="http://schemas.openxmlformats.org/drawingml/2006/table">
            <a:tbl>
              <a:tblPr/>
              <a:tblGrid>
                <a:gridCol w="1463036"/>
                <a:gridCol w="2682233"/>
                <a:gridCol w="975358"/>
                <a:gridCol w="2316474"/>
              </a:tblGrid>
              <a:tr h="487679">
                <a:tc>
                  <a:txBody>
                    <a:bodyPr/>
                    <a:lstStyle/>
                    <a:p>
                      <a:pPr indent="0" marL="0">
                        <a:buNone/>
                      </a:pPr>
                      <a:r>
                        <a:rPr lang="en-US" sz="1133" b="1" dirty="0">
                          <a:solidFill>
                            <a:srgbClr val="FFFFFF"/>
                          </a:solidFill>
                          <a:latin typeface="Calibri" pitchFamily="34" charset="0"/>
                          <a:ea typeface="Calibri" pitchFamily="34" charset="-122"/>
                          <a:cs typeface="Calibri" pitchFamily="34" charset="-120"/>
                        </a:rPr>
                        <a:t>Loại</a:t>
                      </a:r>
                      <a:endParaRPr lang="en-US" sz="1133"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1F6F8B"/>
                    </a:solidFill>
                  </a:tcPr>
                </a:tc>
                <a:tc>
                  <a:txBody>
                    <a:bodyPr/>
                    <a:lstStyle/>
                    <a:p>
                      <a:pPr indent="0" marL="0">
                        <a:buNone/>
                      </a:pPr>
                      <a:r>
                        <a:rPr lang="en-US" sz="1133" b="1" dirty="0">
                          <a:solidFill>
                            <a:srgbClr val="FFFFFF"/>
                          </a:solidFill>
                          <a:latin typeface="Calibri" pitchFamily="34" charset="0"/>
                          <a:ea typeface="Calibri" pitchFamily="34" charset="-122"/>
                          <a:cs typeface="Calibri" pitchFamily="34" charset="-120"/>
                        </a:rPr>
                        <a:t>Câu hỏi</a:t>
                      </a:r>
                      <a:endParaRPr lang="en-US" sz="1133"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1F6F8B"/>
                    </a:solidFill>
                  </a:tcPr>
                </a:tc>
                <a:tc>
                  <a:txBody>
                    <a:bodyPr/>
                    <a:lstStyle/>
                    <a:p>
                      <a:pPr indent="0" marL="0">
                        <a:buNone/>
                      </a:pPr>
                      <a:r>
                        <a:rPr lang="en-US" sz="1133" b="1" dirty="0">
                          <a:solidFill>
                            <a:srgbClr val="FFFFFF"/>
                          </a:solidFill>
                          <a:latin typeface="Calibri" pitchFamily="34" charset="0"/>
                          <a:ea typeface="Calibri" pitchFamily="34" charset="-122"/>
                          <a:cs typeface="Calibri" pitchFamily="34" charset="-120"/>
                        </a:rPr>
                        <a:t>Đáp án</a:t>
                      </a:r>
                      <a:endParaRPr lang="en-US" sz="1133"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1F6F8B"/>
                    </a:solidFill>
                  </a:tcPr>
                </a:tc>
                <a:tc>
                  <a:txBody>
                    <a:bodyPr/>
                    <a:lstStyle/>
                    <a:p>
                      <a:pPr indent="0" marL="0">
                        <a:buNone/>
                      </a:pPr>
                      <a:r>
                        <a:rPr lang="en-US" sz="1133" b="1" dirty="0">
                          <a:solidFill>
                            <a:srgbClr val="FFFFFF"/>
                          </a:solidFill>
                          <a:latin typeface="Calibri" pitchFamily="34" charset="0"/>
                          <a:ea typeface="Calibri" pitchFamily="34" charset="-122"/>
                          <a:cs typeface="Calibri" pitchFamily="34" charset="-120"/>
                        </a:rPr>
                        <a:t>APEX-MEM trả lời</a:t>
                      </a:r>
                      <a:endParaRPr lang="en-US" sz="1133"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1F6F8B"/>
                    </a:solidFill>
                  </a:tcPr>
                </a:tc>
              </a:tr>
              <a:tr h="487679">
                <a:tc>
                  <a:txBody>
                    <a:bodyPr/>
                    <a:lstStyle/>
                    <a:p>
                      <a:pPr indent="0" marL="0">
                        <a:buNone/>
                      </a:pPr>
                      <a:r>
                        <a:rPr lang="en-US" sz="1133" b="1" dirty="0">
                          <a:solidFill>
                            <a:srgbClr val="1F6F8B"/>
                          </a:solidFill>
                          <a:latin typeface="Calibri" pitchFamily="34" charset="0"/>
                          <a:ea typeface="Calibri" pitchFamily="34" charset="-122"/>
                          <a:cs typeface="Calibri" pitchFamily="34" charset="-120"/>
                        </a:rPr>
                        <a:t>Suy luận thời gian</a:t>
                      </a:r>
                      <a:endParaRPr lang="en-US" sz="1133"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133" dirty="0">
                          <a:solidFill>
                            <a:srgbClr val="1B2B3A"/>
                          </a:solidFill>
                          <a:latin typeface="Calibri" pitchFamily="34" charset="0"/>
                          <a:ea typeface="Calibri" pitchFamily="34" charset="-122"/>
                          <a:cs typeface="Calibri" pitchFamily="34" charset="-120"/>
                        </a:rPr>
                        <a:t>I mentioned visiting a museum two months ago. Did I visit with a frie…</a:t>
                      </a:r>
                      <a:endParaRPr lang="en-US" sz="1133"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133" dirty="0">
                          <a:solidFill>
                            <a:srgbClr val="1B2B3A"/>
                          </a:solidFill>
                          <a:latin typeface="Calibri" pitchFamily="34" charset="0"/>
                          <a:ea typeface="Calibri" pitchFamily="34" charset="-122"/>
                          <a:cs typeface="Calibri" pitchFamily="34" charset="-120"/>
                        </a:rPr>
                        <a:t>No, you did not visit…</a:t>
                      </a:r>
                      <a:endParaRPr lang="en-US" sz="1133"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133" dirty="0">
                          <a:solidFill>
                            <a:srgbClr val="1B2B3A"/>
                          </a:solidFill>
                          <a:latin typeface="Calibri" pitchFamily="34" charset="0"/>
                          <a:ea typeface="Calibri" pitchFamily="34" charset="-122"/>
                          <a:cs typeface="Calibri" pitchFamily="34" charset="-120"/>
                        </a:rPr>
                        <a:t>Yes. Two months ago, you visited the Science Museum with…</a:t>
                      </a:r>
                      <a:endParaRPr lang="en-US" sz="1133"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r>
              <a:tr h="487679">
                <a:tc>
                  <a:txBody>
                    <a:bodyPr/>
                    <a:lstStyle/>
                    <a:p>
                      <a:pPr indent="0" marL="0">
                        <a:buNone/>
                      </a:pPr>
                      <a:r>
                        <a:rPr lang="en-US" sz="1133" b="1" dirty="0">
                          <a:solidFill>
                            <a:srgbClr val="1F6F8B"/>
                          </a:solidFill>
                          <a:latin typeface="Calibri" pitchFamily="34" charset="0"/>
                          <a:ea typeface="Calibri" pitchFamily="34" charset="-122"/>
                          <a:cs typeface="Calibri" pitchFamily="34" charset="-120"/>
                        </a:rPr>
                        <a:t>Đa phiên</a:t>
                      </a:r>
                      <a:endParaRPr lang="en-US" sz="1133"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133" dirty="0">
                          <a:solidFill>
                            <a:srgbClr val="1B2B3A"/>
                          </a:solidFill>
                          <a:latin typeface="Calibri" pitchFamily="34" charset="0"/>
                          <a:ea typeface="Calibri" pitchFamily="34" charset="-122"/>
                          <a:cs typeface="Calibri" pitchFamily="34" charset="-120"/>
                        </a:rPr>
                        <a:t>What was the page count of the two novels I finished in January and M…</a:t>
                      </a:r>
                      <a:endParaRPr lang="en-US" sz="1133"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133" dirty="0">
                          <a:solidFill>
                            <a:srgbClr val="1B2B3A"/>
                          </a:solidFill>
                          <a:latin typeface="Calibri" pitchFamily="34" charset="0"/>
                          <a:ea typeface="Calibri" pitchFamily="34" charset="-122"/>
                          <a:cs typeface="Calibri" pitchFamily="34" charset="-120"/>
                        </a:rPr>
                        <a:t>856</a:t>
                      </a:r>
                      <a:endParaRPr lang="en-US" sz="1133"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133" dirty="0">
                          <a:solidFill>
                            <a:srgbClr val="1B2B3A"/>
                          </a:solidFill>
                          <a:latin typeface="Calibri" pitchFamily="34" charset="0"/>
                          <a:ea typeface="Calibri" pitchFamily="34" charset="-122"/>
                          <a:cs typeface="Calibri" pitchFamily="34" charset="-120"/>
                        </a:rPr>
                        <a:t>I don’t have enough information to identify novels finish…</a:t>
                      </a:r>
                      <a:endParaRPr lang="en-US" sz="1133"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r>
              <a:tr h="487679">
                <a:tc>
                  <a:txBody>
                    <a:bodyPr/>
                    <a:lstStyle/>
                    <a:p>
                      <a:pPr indent="0" marL="0">
                        <a:buNone/>
                      </a:pPr>
                      <a:r>
                        <a:rPr lang="en-US" sz="1133" b="1" dirty="0">
                          <a:solidFill>
                            <a:srgbClr val="1F6F8B"/>
                          </a:solidFill>
                          <a:latin typeface="Calibri" pitchFamily="34" charset="0"/>
                          <a:ea typeface="Calibri" pitchFamily="34" charset="-122"/>
                          <a:cs typeface="Calibri" pitchFamily="34" charset="-120"/>
                        </a:rPr>
                        <a:t>Cập nhật kiến thức</a:t>
                      </a:r>
                      <a:endParaRPr lang="en-US" sz="1133"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133" dirty="0">
                          <a:solidFill>
                            <a:srgbClr val="1B2B3A"/>
                          </a:solidFill>
                          <a:latin typeface="Calibri" pitchFamily="34" charset="0"/>
                          <a:ea typeface="Calibri" pitchFamily="34" charset="-122"/>
                          <a:cs typeface="Calibri" pitchFamily="34" charset="-120"/>
                        </a:rPr>
                        <a:t>How many pre-1920 American coins do I have in my collection?</a:t>
                      </a:r>
                      <a:endParaRPr lang="en-US" sz="1133"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133" dirty="0">
                          <a:solidFill>
                            <a:srgbClr val="1B2B3A"/>
                          </a:solidFill>
                          <a:latin typeface="Calibri" pitchFamily="34" charset="0"/>
                          <a:ea typeface="Calibri" pitchFamily="34" charset="-122"/>
                          <a:cs typeface="Calibri" pitchFamily="34" charset="-120"/>
                        </a:rPr>
                        <a:t>38</a:t>
                      </a:r>
                      <a:endParaRPr lang="en-US" sz="1133"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133" dirty="0">
                          <a:solidFill>
                            <a:srgbClr val="1B2B3A"/>
                          </a:solidFill>
                          <a:latin typeface="Calibri" pitchFamily="34" charset="0"/>
                          <a:ea typeface="Calibri" pitchFamily="34" charset="-122"/>
                          <a:cs typeface="Calibri" pitchFamily="34" charset="-120"/>
                        </a:rPr>
                        <a:t>You have 37 pre-1920 American coins in your collection.</a:t>
                      </a:r>
                      <a:endParaRPr lang="en-US" sz="1133"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r>
            </a:tbl>
          </a:graphicData>
        </a:graphic>
      </p:graphicFrame>
      <p:sp>
        <p:nvSpPr>
          <p:cNvPr id="31" name="Shape 27"/>
          <p:cNvSpPr/>
          <p:nvPr/>
        </p:nvSpPr>
        <p:spPr>
          <a:xfrm>
            <a:off x="487679" y="6035025"/>
            <a:ext cx="11094692" cy="512063"/>
          </a:xfrm>
          <a:prstGeom prst="rect">
            <a:avLst/>
          </a:prstGeom>
          <a:solidFill>
            <a:srgbClr val="E7F0F4"/>
          </a:solidFill>
          <a:ln w="9525">
            <a:solidFill>
              <a:srgbClr val="DCE3EA"/>
            </a:solidFill>
            <a:prstDash val="solid"/>
          </a:ln>
        </p:spPr>
      </p:sp>
      <p:sp>
        <p:nvSpPr>
          <p:cNvPr id="32" name="Text 28"/>
          <p:cNvSpPr txBox="1"/>
          <p:nvPr/>
        </p:nvSpPr>
        <p:spPr>
          <a:xfrm>
            <a:off x="731518" y="6047217"/>
            <a:ext cx="10607013" cy="487679"/>
          </a:xfrm>
          <a:prstGeom prst="rect">
            <a:avLst/>
          </a:prstGeom>
          <a:noFill/>
          <a:ln/>
        </p:spPr>
        <p:txBody>
          <a:bodyPr wrap="square" lIns="0" tIns="0" rIns="0" bIns="0" rtlCol="0" anchor="ctr"/>
          <a:lstStyle/>
          <a:p>
            <a:pPr indent="0" marL="0">
              <a:buNone/>
            </a:pPr>
            <a:r>
              <a:rPr lang="en-US" sz="1333" b="1" dirty="0">
                <a:solidFill>
                  <a:srgbClr val="10243E"/>
                </a:solidFill>
                <a:latin typeface="Calibri" pitchFamily="34" charset="0"/>
                <a:ea typeface="Calibri" pitchFamily="34" charset="-122"/>
                <a:cs typeface="Calibri" pitchFamily="34" charset="-120"/>
              </a:rPr>
              <a:t>Lưu ý: </a:t>
            </a:r>
            <a:pPr indent="0" marL="0">
              <a:buNone/>
            </a:pPr>
            <a:r>
              <a:rPr lang="en-US" sz="1333" dirty="0">
                <a:solidFill>
                  <a:srgbClr val="1B2B3A"/>
                </a:solidFill>
                <a:latin typeface="Calibri" pitchFamily="34" charset="0"/>
                <a:ea typeface="Calibri" pitchFamily="34" charset="-122"/>
                <a:cs typeface="Calibri" pitchFamily="34" charset="-120"/>
              </a:rPr>
              <a:t>23/23 câu sai đã có fact từ đúng lượt chứa đáp án; nhãn reasoning còn gồm cả trích xuất thiếu fact then chốt.</a:t>
            </a:r>
            <a:endParaRPr lang="en-US" sz="1333"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8">
    <p:bg>
      <p:bgPr>
        <a:solidFill>
          <a:srgbClr val="F7F9FB"/>
        </a:solidFill>
      </p:bgPr>
    </p:bg>
    <p:spTree>
      <p:nvGrpSpPr>
        <p:cNvPr id="1" name=""/>
        <p:cNvGrpSpPr/>
        <p:nvPr/>
      </p:nvGrpSpPr>
      <p:grpSpPr>
        <a:xfrm>
          <a:off x="0" y="0"/>
          <a:ext cx="0" cy="0"/>
          <a:chOff x="0" y="0"/>
          <a:chExt cx="0" cy="0"/>
        </a:xfrm>
      </p:grpSpPr>
      <p:sp>
        <p:nvSpPr>
          <p:cNvPr id="2" name="Text 0"/>
          <p:cNvSpPr txBox="1"/>
          <p:nvPr/>
        </p:nvSpPr>
        <p:spPr>
          <a:xfrm>
            <a:off x="609598" y="365759"/>
            <a:ext cx="10972773" cy="365759"/>
          </a:xfrm>
          <a:prstGeom prst="rect">
            <a:avLst/>
          </a:prstGeom>
          <a:noFill/>
          <a:ln/>
        </p:spPr>
        <p:txBody>
          <a:bodyPr wrap="square" lIns="0" tIns="0" rIns="0" bIns="0" rtlCol="0" anchor="ctr"/>
          <a:lstStyle/>
          <a:p>
            <a:pPr indent="0" marL="0">
              <a:buNone/>
            </a:pPr>
            <a:r>
              <a:rPr lang="en-US" sz="1467" b="1" dirty="0">
                <a:solidFill>
                  <a:srgbClr val="1F6F8B"/>
                </a:solidFill>
                <a:latin typeface="Calibri" pitchFamily="34" charset="0"/>
                <a:ea typeface="Calibri" pitchFamily="34" charset="-122"/>
                <a:cs typeface="Calibri" pitchFamily="34" charset="-120"/>
              </a:rPr>
              <a:t>KẾT QUẢ LIGHTMEM</a:t>
            </a:r>
            <a:endParaRPr lang="en-US" sz="1467" dirty="0"/>
          </a:p>
        </p:txBody>
      </p:sp>
      <p:sp>
        <p:nvSpPr>
          <p:cNvPr id="3" name="Text 1"/>
          <p:cNvSpPr txBox="1"/>
          <p:nvPr/>
        </p:nvSpPr>
        <p:spPr>
          <a:xfrm>
            <a:off x="609598" y="670558"/>
            <a:ext cx="10972773" cy="731518"/>
          </a:xfrm>
          <a:prstGeom prst="rect">
            <a:avLst/>
          </a:prstGeom>
          <a:noFill/>
          <a:ln/>
        </p:spPr>
        <p:txBody>
          <a:bodyPr wrap="square" lIns="0" tIns="0" rIns="0" bIns="0" rtlCol="0" anchor="ctr"/>
          <a:lstStyle/>
          <a:p>
            <a:pPr indent="0" marL="0">
              <a:buNone/>
            </a:pPr>
            <a:r>
              <a:rPr lang="en-US" sz="3467" b="1" dirty="0">
                <a:solidFill>
                  <a:srgbClr val="10243E"/>
                </a:solidFill>
                <a:latin typeface="Cambria" pitchFamily="34" charset="0"/>
                <a:ea typeface="Cambria" pitchFamily="34" charset="-122"/>
                <a:cs typeface="Cambria" pitchFamily="34" charset="-120"/>
              </a:rPr>
              <a:t>Năm loại đạt 78–100%, riêng lượt trợ lý 41%</a:t>
            </a:r>
            <a:endParaRPr lang="en-US" sz="3467" dirty="0"/>
          </a:p>
        </p:txBody>
      </p:sp>
      <p:graphicFrame>
        <p:nvGraphicFramePr>
          <p:cNvPr id="5" name="Chart 0" descr=""/>
          <p:cNvGraphicFramePr/>
          <p:nvPr/>
        </p:nvGraphicFramePr>
        <p:xfrm>
          <a:off x="487679" y="1523996"/>
          <a:ext cx="6949423" cy="390143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680941" y="1523996"/>
            <a:ext cx="3901430" cy="1219197"/>
          </a:xfrm>
          <a:prstGeom prst="rect">
            <a:avLst/>
          </a:prstGeom>
          <a:solidFill>
            <a:srgbClr val="FFFFFF"/>
          </a:solidFill>
          <a:ln w="9525">
            <a:solidFill>
              <a:srgbClr val="DCE3EA"/>
            </a:solidFill>
            <a:prstDash val="solid"/>
          </a:ln>
        </p:spPr>
      </p:sp>
      <p:sp>
        <p:nvSpPr>
          <p:cNvPr id="7" name="Text 3"/>
          <p:cNvSpPr txBox="1"/>
          <p:nvPr/>
        </p:nvSpPr>
        <p:spPr>
          <a:xfrm>
            <a:off x="7680941" y="1584956"/>
            <a:ext cx="3901430" cy="755902"/>
          </a:xfrm>
          <a:prstGeom prst="rect">
            <a:avLst/>
          </a:prstGeom>
          <a:noFill/>
          <a:ln/>
        </p:spPr>
        <p:txBody>
          <a:bodyPr wrap="square" lIns="0" tIns="0" rIns="0" bIns="0" rtlCol="0" anchor="ctr"/>
          <a:lstStyle/>
          <a:p>
            <a:pPr algn="ctr" indent="0" marL="0">
              <a:buNone/>
            </a:pPr>
            <a:r>
              <a:rPr lang="en-US" sz="4267" b="1" dirty="0">
                <a:solidFill>
                  <a:srgbClr val="1F6F8B"/>
                </a:solidFill>
                <a:latin typeface="Cambria" pitchFamily="34" charset="0"/>
                <a:ea typeface="Cambria" pitchFamily="34" charset="-122"/>
                <a:cs typeface="Cambria" pitchFamily="34" charset="-120"/>
              </a:rPr>
              <a:t>78,9%</a:t>
            </a:r>
            <a:endParaRPr lang="en-US" sz="4267" dirty="0"/>
          </a:p>
        </p:txBody>
      </p:sp>
      <p:sp>
        <p:nvSpPr>
          <p:cNvPr id="8" name="Text 4"/>
          <p:cNvSpPr txBox="1"/>
          <p:nvPr/>
        </p:nvSpPr>
        <p:spPr>
          <a:xfrm>
            <a:off x="7680941" y="2316474"/>
            <a:ext cx="3901430" cy="365759"/>
          </a:xfrm>
          <a:prstGeom prst="rect">
            <a:avLst/>
          </a:prstGeom>
          <a:noFill/>
          <a:ln/>
        </p:spPr>
        <p:txBody>
          <a:bodyPr wrap="square" lIns="0" tIns="0" rIns="0" bIns="0" rtlCol="0" anchor="ctr"/>
          <a:lstStyle/>
          <a:p>
            <a:pPr algn="ctr" indent="0" marL="0">
              <a:buNone/>
            </a:pPr>
            <a:r>
              <a:rPr lang="en-US" sz="1400" dirty="0">
                <a:solidFill>
                  <a:srgbClr val="5B6B7A"/>
                </a:solidFill>
                <a:latin typeface="Calibri" pitchFamily="34" charset="0"/>
                <a:ea typeface="Calibri" pitchFamily="34" charset="-122"/>
                <a:cs typeface="Calibri" pitchFamily="34" charset="-120"/>
              </a:rPr>
              <a:t>macro-average, 6/6 loại · micro 81,3%</a:t>
            </a:r>
            <a:endParaRPr lang="en-US" sz="1400" dirty="0"/>
          </a:p>
        </p:txBody>
      </p:sp>
      <p:sp>
        <p:nvSpPr>
          <p:cNvPr id="9" name="Shape 5"/>
          <p:cNvSpPr/>
          <p:nvPr/>
        </p:nvSpPr>
        <p:spPr>
          <a:xfrm>
            <a:off x="7680941" y="2987033"/>
            <a:ext cx="3901430" cy="2438394"/>
          </a:xfrm>
          <a:prstGeom prst="rect">
            <a:avLst/>
          </a:prstGeom>
          <a:solidFill>
            <a:srgbClr val="FBEAE5"/>
          </a:solidFill>
          <a:ln w="9525">
            <a:solidFill>
              <a:srgbClr val="DCE3EA"/>
            </a:solidFill>
            <a:prstDash val="solid"/>
          </a:ln>
        </p:spPr>
      </p:sp>
      <p:sp>
        <p:nvSpPr>
          <p:cNvPr id="10" name="Text 6"/>
          <p:cNvSpPr txBox="1"/>
          <p:nvPr/>
        </p:nvSpPr>
        <p:spPr>
          <a:xfrm>
            <a:off x="7680941" y="3108952"/>
            <a:ext cx="3901430" cy="731518"/>
          </a:xfrm>
          <a:prstGeom prst="rect">
            <a:avLst/>
          </a:prstGeom>
          <a:noFill/>
          <a:ln/>
        </p:spPr>
        <p:txBody>
          <a:bodyPr wrap="square" lIns="0" tIns="0" rIns="0" bIns="0" rtlCol="0" anchor="ctr"/>
          <a:lstStyle/>
          <a:p>
            <a:pPr algn="ctr" indent="0" marL="0">
              <a:buNone/>
            </a:pPr>
            <a:r>
              <a:rPr lang="en-US" sz="4267" b="1" dirty="0">
                <a:solidFill>
                  <a:srgbClr val="C8553D"/>
                </a:solidFill>
                <a:latin typeface="Cambria" pitchFamily="34" charset="0"/>
                <a:ea typeface="Cambria" pitchFamily="34" charset="-122"/>
                <a:cs typeface="Cambria" pitchFamily="34" charset="-120"/>
              </a:rPr>
              <a:t>41,2%</a:t>
            </a:r>
            <a:endParaRPr lang="en-US" sz="4267" dirty="0"/>
          </a:p>
        </p:txBody>
      </p:sp>
      <p:sp>
        <p:nvSpPr>
          <p:cNvPr id="11" name="Text 7"/>
          <p:cNvSpPr txBox="1"/>
          <p:nvPr/>
        </p:nvSpPr>
        <p:spPr>
          <a:xfrm>
            <a:off x="7680941" y="3840470"/>
            <a:ext cx="3901430" cy="365759"/>
          </a:xfrm>
          <a:prstGeom prst="rect">
            <a:avLst/>
          </a:prstGeom>
          <a:noFill/>
          <a:ln/>
        </p:spPr>
        <p:txBody>
          <a:bodyPr wrap="square" lIns="0" tIns="0" rIns="0" bIns="0" rtlCol="0" anchor="ctr"/>
          <a:lstStyle/>
          <a:p>
            <a:pPr algn="ctr" indent="0" marL="0">
              <a:buNone/>
            </a:pPr>
            <a:r>
              <a:rPr lang="en-US" sz="1467" b="1" dirty="0">
                <a:solidFill>
                  <a:srgbClr val="10243E"/>
                </a:solidFill>
                <a:latin typeface="Calibri" pitchFamily="34" charset="0"/>
                <a:ea typeface="Calibri" pitchFamily="34" charset="-122"/>
                <a:cs typeface="Calibri" pitchFamily="34" charset="-120"/>
              </a:rPr>
              <a:t>Đơn phiên · trợ lý (7/17)</a:t>
            </a:r>
            <a:endParaRPr lang="en-US" sz="1467" dirty="0"/>
          </a:p>
        </p:txBody>
      </p:sp>
      <p:sp>
        <p:nvSpPr>
          <p:cNvPr id="12" name="Text 8"/>
          <p:cNvSpPr txBox="1"/>
          <p:nvPr/>
        </p:nvSpPr>
        <p:spPr>
          <a:xfrm>
            <a:off x="7924780" y="4267189"/>
            <a:ext cx="3413751" cy="1036317"/>
          </a:xfrm>
          <a:prstGeom prst="rect">
            <a:avLst/>
          </a:prstGeom>
          <a:noFill/>
          <a:ln/>
        </p:spPr>
        <p:txBody>
          <a:bodyPr wrap="square" lIns="0" tIns="0" rIns="0" bIns="0" rtlCol="0" anchor="t"/>
          <a:lstStyle/>
          <a:p>
            <a:pPr indent="0" marL="0">
              <a:buNone/>
            </a:pPr>
            <a:r>
              <a:rPr lang="en-US" sz="1467" dirty="0">
                <a:solidFill>
                  <a:srgbClr val="1B2B3A"/>
                </a:solidFill>
                <a:latin typeface="Calibri" pitchFamily="34" charset="0"/>
                <a:ea typeface="Calibri" pitchFamily="34" charset="-122"/>
                <a:cs typeface="Calibri" pitchFamily="34" charset="-120"/>
              </a:rPr>
              <a:t>LightMem chỉ lưu lượt người dùng (user_only), nên câu hỏi “trước đây bạn gợi ý gì” không có bằng chứng nào trong bộ nhớ.</a:t>
            </a:r>
            <a:endParaRPr lang="en-US" sz="1467" dirty="0"/>
          </a:p>
        </p:txBody>
      </p:sp>
      <p:sp>
        <p:nvSpPr>
          <p:cNvPr id="13" name="Shape 9"/>
          <p:cNvSpPr/>
          <p:nvPr/>
        </p:nvSpPr>
        <p:spPr>
          <a:xfrm>
            <a:off x="487679" y="5669266"/>
            <a:ext cx="11094692" cy="792478"/>
          </a:xfrm>
          <a:prstGeom prst="rect">
            <a:avLst/>
          </a:prstGeom>
          <a:solidFill>
            <a:srgbClr val="FDF3E1"/>
          </a:solidFill>
          <a:ln w="9525">
            <a:solidFill>
              <a:srgbClr val="DCE3EA"/>
            </a:solidFill>
            <a:prstDash val="solid"/>
          </a:ln>
        </p:spPr>
      </p:sp>
      <p:sp>
        <p:nvSpPr>
          <p:cNvPr id="14" name="Text 10"/>
          <p:cNvSpPr txBox="1"/>
          <p:nvPr/>
        </p:nvSpPr>
        <p:spPr>
          <a:xfrm>
            <a:off x="731518" y="5730226"/>
            <a:ext cx="10607013" cy="670558"/>
          </a:xfrm>
          <a:prstGeom prst="rect">
            <a:avLst/>
          </a:prstGeom>
          <a:noFill/>
          <a:ln/>
        </p:spPr>
        <p:txBody>
          <a:bodyPr wrap="square" lIns="0" tIns="0" rIns="0" bIns="0" rtlCol="0" anchor="ctr"/>
          <a:lstStyle/>
          <a:p>
            <a:pPr indent="0" marL="0">
              <a:buNone/>
            </a:pPr>
            <a:r>
              <a:rPr lang="en-US" sz="1533" b="1" dirty="0">
                <a:solidFill>
                  <a:srgbClr val="C8553D"/>
                </a:solidFill>
                <a:latin typeface="Calibri" pitchFamily="34" charset="0"/>
                <a:ea typeface="Calibri" pitchFamily="34" charset="-122"/>
                <a:cs typeface="Calibri" pitchFamily="34" charset="-120"/>
              </a:rPr>
              <a:t>Đủ 150 câu dev. </a:t>
            </a:r>
            <a:pPr indent="0" marL="0">
              <a:buNone/>
            </a:pPr>
            <a:r>
              <a:rPr lang="en-US" sz="1533" dirty="0">
                <a:solidFill>
                  <a:srgbClr val="1B2B3A"/>
                </a:solidFill>
                <a:latin typeface="Calibri" pitchFamily="34" charset="0"/>
                <a:ea typeface="Calibri" pitchFamily="34" charset="-122"/>
                <a:cs typeface="Calibri" pitchFamily="34" charset="-120"/>
              </a:rPr>
              <a:t>Nhóm câu từ chối (_abs) chỉ có 4 câu, quá ít để nói về năng lực biết từ chối.</a:t>
            </a:r>
            <a:endParaRPr lang="en-US" sz="1533"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9">
    <p:bg>
      <p:bgPr>
        <a:solidFill>
          <a:srgbClr val="F7F9FB"/>
        </a:solidFill>
      </p:bgPr>
    </p:bg>
    <p:spTree>
      <p:nvGrpSpPr>
        <p:cNvPr id="1" name=""/>
        <p:cNvGrpSpPr/>
        <p:nvPr/>
      </p:nvGrpSpPr>
      <p:grpSpPr>
        <a:xfrm>
          <a:off x="0" y="0"/>
          <a:ext cx="0" cy="0"/>
          <a:chOff x="0" y="0"/>
          <a:chExt cx="0" cy="0"/>
        </a:xfrm>
      </p:grpSpPr>
      <p:sp>
        <p:nvSpPr>
          <p:cNvPr id="2" name="Text 0"/>
          <p:cNvSpPr txBox="1"/>
          <p:nvPr/>
        </p:nvSpPr>
        <p:spPr>
          <a:xfrm>
            <a:off x="609598" y="365759"/>
            <a:ext cx="10972773" cy="365759"/>
          </a:xfrm>
          <a:prstGeom prst="rect">
            <a:avLst/>
          </a:prstGeom>
          <a:noFill/>
          <a:ln/>
        </p:spPr>
        <p:txBody>
          <a:bodyPr wrap="square" lIns="0" tIns="0" rIns="0" bIns="0" rtlCol="0" anchor="ctr"/>
          <a:lstStyle/>
          <a:p>
            <a:pPr indent="0" marL="0">
              <a:buNone/>
            </a:pPr>
            <a:r>
              <a:rPr lang="en-US" sz="1467" b="1" dirty="0">
                <a:solidFill>
                  <a:srgbClr val="1F6F8B"/>
                </a:solidFill>
                <a:latin typeface="Calibri" pitchFamily="34" charset="0"/>
                <a:ea typeface="Calibri" pitchFamily="34" charset="-122"/>
                <a:cs typeface="Calibri" pitchFamily="34" charset="-120"/>
              </a:rPr>
              <a:t>PHÂN TÍCH LỖI</a:t>
            </a:r>
            <a:endParaRPr lang="en-US" sz="1467" dirty="0"/>
          </a:p>
        </p:txBody>
      </p:sp>
      <p:sp>
        <p:nvSpPr>
          <p:cNvPr id="3" name="Text 1"/>
          <p:cNvSpPr txBox="1"/>
          <p:nvPr/>
        </p:nvSpPr>
        <p:spPr>
          <a:xfrm>
            <a:off x="609598" y="670558"/>
            <a:ext cx="10972773" cy="731518"/>
          </a:xfrm>
          <a:prstGeom prst="rect">
            <a:avLst/>
          </a:prstGeom>
          <a:noFill/>
          <a:ln/>
        </p:spPr>
        <p:txBody>
          <a:bodyPr wrap="square" lIns="0" tIns="0" rIns="0" bIns="0" rtlCol="0" anchor="ctr"/>
          <a:lstStyle/>
          <a:p>
            <a:pPr indent="0" marL="0">
              <a:buNone/>
            </a:pPr>
            <a:r>
              <a:rPr lang="en-US" sz="3467" b="1" dirty="0">
                <a:solidFill>
                  <a:srgbClr val="10243E"/>
                </a:solidFill>
                <a:latin typeface="Cambria" pitchFamily="34" charset="0"/>
                <a:ea typeface="Cambria" pitchFamily="34" charset="-122"/>
                <a:cs typeface="Cambria" pitchFamily="34" charset="-120"/>
              </a:rPr>
              <a:t>Hai kiểu lỗi chính trong 28 câu sai</a:t>
            </a:r>
            <a:endParaRPr lang="en-US" sz="3467" dirty="0"/>
          </a:p>
        </p:txBody>
      </p:sp>
      <p:sp>
        <p:nvSpPr>
          <p:cNvPr id="5" name="Shape 2"/>
          <p:cNvSpPr/>
          <p:nvPr/>
        </p:nvSpPr>
        <p:spPr>
          <a:xfrm>
            <a:off x="487679" y="1584956"/>
            <a:ext cx="3535671" cy="4389109"/>
          </a:xfrm>
          <a:prstGeom prst="rect">
            <a:avLst/>
          </a:prstGeom>
          <a:solidFill>
            <a:srgbClr val="FFFFFF"/>
          </a:solidFill>
          <a:ln w="9525">
            <a:solidFill>
              <a:srgbClr val="DCE3EA"/>
            </a:solidFill>
            <a:prstDash val="solid"/>
          </a:ln>
        </p:spPr>
      </p:sp>
      <p:sp>
        <p:nvSpPr>
          <p:cNvPr id="6" name="Text 3"/>
          <p:cNvSpPr txBox="1"/>
          <p:nvPr/>
        </p:nvSpPr>
        <p:spPr>
          <a:xfrm>
            <a:off x="487679" y="1767836"/>
            <a:ext cx="3535671" cy="1036317"/>
          </a:xfrm>
          <a:prstGeom prst="rect">
            <a:avLst/>
          </a:prstGeom>
          <a:noFill/>
          <a:ln/>
        </p:spPr>
        <p:txBody>
          <a:bodyPr wrap="square" lIns="0" tIns="0" rIns="0" bIns="0" rtlCol="0" anchor="ctr"/>
          <a:lstStyle/>
          <a:p>
            <a:pPr algn="ctr" indent="0" marL="0">
              <a:buNone/>
            </a:pPr>
            <a:r>
              <a:rPr lang="en-US" sz="6133" b="1" dirty="0">
                <a:solidFill>
                  <a:srgbClr val="C8553D"/>
                </a:solidFill>
                <a:latin typeface="Cambria" pitchFamily="34" charset="0"/>
                <a:ea typeface="Cambria" pitchFamily="34" charset="-122"/>
                <a:cs typeface="Cambria" pitchFamily="34" charset="-120"/>
              </a:rPr>
              <a:t>28</a:t>
            </a:r>
            <a:endParaRPr lang="en-US" sz="6133" dirty="0"/>
          </a:p>
        </p:txBody>
      </p:sp>
      <p:sp>
        <p:nvSpPr>
          <p:cNvPr id="7" name="Text 4"/>
          <p:cNvSpPr txBox="1"/>
          <p:nvPr/>
        </p:nvSpPr>
        <p:spPr>
          <a:xfrm>
            <a:off x="609598" y="2804153"/>
            <a:ext cx="3291832" cy="365759"/>
          </a:xfrm>
          <a:prstGeom prst="rect">
            <a:avLst/>
          </a:prstGeom>
          <a:noFill/>
          <a:ln/>
        </p:spPr>
        <p:txBody>
          <a:bodyPr wrap="square" lIns="0" tIns="0" rIns="0" bIns="0" rtlCol="0" anchor="ctr"/>
          <a:lstStyle/>
          <a:p>
            <a:pPr algn="ctr" indent="0" marL="0">
              <a:buNone/>
            </a:pPr>
            <a:r>
              <a:rPr lang="en-US" sz="1533" dirty="0">
                <a:solidFill>
                  <a:srgbClr val="5B6B7A"/>
                </a:solidFill>
                <a:latin typeface="Calibri" pitchFamily="34" charset="0"/>
                <a:ea typeface="Calibri" pitchFamily="34" charset="-122"/>
                <a:cs typeface="Calibri" pitchFamily="34" charset="-120"/>
              </a:rPr>
              <a:t>câu sai trong 150 câu đã chạy</a:t>
            </a:r>
            <a:endParaRPr lang="en-US" sz="1533" dirty="0"/>
          </a:p>
        </p:txBody>
      </p:sp>
      <p:sp>
        <p:nvSpPr>
          <p:cNvPr id="8" name="Text 5"/>
          <p:cNvSpPr txBox="1"/>
          <p:nvPr/>
        </p:nvSpPr>
        <p:spPr>
          <a:xfrm>
            <a:off x="792478" y="3413751"/>
            <a:ext cx="2438394" cy="414527"/>
          </a:xfrm>
          <a:prstGeom prst="rect">
            <a:avLst/>
          </a:prstGeom>
          <a:noFill/>
          <a:ln/>
        </p:spPr>
        <p:txBody>
          <a:bodyPr wrap="square" lIns="0" tIns="0" rIns="0" bIns="0" rtlCol="0" anchor="ctr"/>
          <a:lstStyle/>
          <a:p>
            <a:pPr indent="0" marL="0">
              <a:buNone/>
            </a:pPr>
            <a:r>
              <a:rPr lang="en-US" sz="1533" dirty="0">
                <a:solidFill>
                  <a:srgbClr val="1B2B3A"/>
                </a:solidFill>
                <a:latin typeface="Calibri" pitchFamily="34" charset="0"/>
                <a:ea typeface="Calibri" pitchFamily="34" charset="-122"/>
                <a:cs typeface="Calibri" pitchFamily="34" charset="-120"/>
              </a:rPr>
              <a:t>Đơn phiên · trợ lý</a:t>
            </a:r>
            <a:endParaRPr lang="en-US" sz="1533" dirty="0"/>
          </a:p>
        </p:txBody>
      </p:sp>
      <p:sp>
        <p:nvSpPr>
          <p:cNvPr id="9" name="Text 6"/>
          <p:cNvSpPr txBox="1"/>
          <p:nvPr/>
        </p:nvSpPr>
        <p:spPr>
          <a:xfrm>
            <a:off x="3230872" y="3413751"/>
            <a:ext cx="548639" cy="414527"/>
          </a:xfrm>
          <a:prstGeom prst="rect">
            <a:avLst/>
          </a:prstGeom>
          <a:noFill/>
          <a:ln/>
        </p:spPr>
        <p:txBody>
          <a:bodyPr wrap="square" lIns="0" tIns="0" rIns="0" bIns="0" rtlCol="0" anchor="ctr"/>
          <a:lstStyle/>
          <a:p>
            <a:pPr algn="r" indent="0" marL="0">
              <a:buNone/>
            </a:pPr>
            <a:r>
              <a:rPr lang="en-US" sz="1533" b="1" dirty="0">
                <a:solidFill>
                  <a:srgbClr val="C8553D"/>
                </a:solidFill>
                <a:latin typeface="Calibri" pitchFamily="34" charset="0"/>
                <a:ea typeface="Calibri" pitchFamily="34" charset="-122"/>
                <a:cs typeface="Calibri" pitchFamily="34" charset="-120"/>
              </a:rPr>
              <a:t>10</a:t>
            </a:r>
            <a:endParaRPr lang="en-US" sz="1533" dirty="0"/>
          </a:p>
        </p:txBody>
      </p:sp>
      <p:sp>
        <p:nvSpPr>
          <p:cNvPr id="10" name="Text 7"/>
          <p:cNvSpPr txBox="1"/>
          <p:nvPr/>
        </p:nvSpPr>
        <p:spPr>
          <a:xfrm>
            <a:off x="792478" y="3901430"/>
            <a:ext cx="2438394" cy="414527"/>
          </a:xfrm>
          <a:prstGeom prst="rect">
            <a:avLst/>
          </a:prstGeom>
          <a:noFill/>
          <a:ln/>
        </p:spPr>
        <p:txBody>
          <a:bodyPr wrap="square" lIns="0" tIns="0" rIns="0" bIns="0" rtlCol="0" anchor="ctr"/>
          <a:lstStyle/>
          <a:p>
            <a:pPr indent="0" marL="0">
              <a:buNone/>
            </a:pPr>
            <a:r>
              <a:rPr lang="en-US" sz="1533" dirty="0">
                <a:solidFill>
                  <a:srgbClr val="1B2B3A"/>
                </a:solidFill>
                <a:latin typeface="Calibri" pitchFamily="34" charset="0"/>
                <a:ea typeface="Calibri" pitchFamily="34" charset="-122"/>
                <a:cs typeface="Calibri" pitchFamily="34" charset="-120"/>
              </a:rPr>
              <a:t>Đa phiên</a:t>
            </a:r>
            <a:endParaRPr lang="en-US" sz="1533" dirty="0"/>
          </a:p>
        </p:txBody>
      </p:sp>
      <p:sp>
        <p:nvSpPr>
          <p:cNvPr id="11" name="Text 8"/>
          <p:cNvSpPr txBox="1"/>
          <p:nvPr/>
        </p:nvSpPr>
        <p:spPr>
          <a:xfrm>
            <a:off x="3230872" y="3901430"/>
            <a:ext cx="548639" cy="414527"/>
          </a:xfrm>
          <a:prstGeom prst="rect">
            <a:avLst/>
          </a:prstGeom>
          <a:noFill/>
          <a:ln/>
        </p:spPr>
        <p:txBody>
          <a:bodyPr wrap="square" lIns="0" tIns="0" rIns="0" bIns="0" rtlCol="0" anchor="ctr"/>
          <a:lstStyle/>
          <a:p>
            <a:pPr algn="r" indent="0" marL="0">
              <a:buNone/>
            </a:pPr>
            <a:r>
              <a:rPr lang="en-US" sz="1533" b="1" dirty="0">
                <a:solidFill>
                  <a:srgbClr val="C8553D"/>
                </a:solidFill>
                <a:latin typeface="Calibri" pitchFamily="34" charset="0"/>
                <a:ea typeface="Calibri" pitchFamily="34" charset="-122"/>
                <a:cs typeface="Calibri" pitchFamily="34" charset="-120"/>
              </a:rPr>
              <a:t>7</a:t>
            </a:r>
            <a:endParaRPr lang="en-US" sz="1533" dirty="0"/>
          </a:p>
        </p:txBody>
      </p:sp>
      <p:sp>
        <p:nvSpPr>
          <p:cNvPr id="12" name="Text 9"/>
          <p:cNvSpPr txBox="1"/>
          <p:nvPr/>
        </p:nvSpPr>
        <p:spPr>
          <a:xfrm>
            <a:off x="792478" y="4389109"/>
            <a:ext cx="2438394" cy="414527"/>
          </a:xfrm>
          <a:prstGeom prst="rect">
            <a:avLst/>
          </a:prstGeom>
          <a:noFill/>
          <a:ln/>
        </p:spPr>
        <p:txBody>
          <a:bodyPr wrap="square" lIns="0" tIns="0" rIns="0" bIns="0" rtlCol="0" anchor="ctr"/>
          <a:lstStyle/>
          <a:p>
            <a:pPr indent="0" marL="0">
              <a:buNone/>
            </a:pPr>
            <a:r>
              <a:rPr lang="en-US" sz="1533" dirty="0">
                <a:solidFill>
                  <a:srgbClr val="1B2B3A"/>
                </a:solidFill>
                <a:latin typeface="Calibri" pitchFamily="34" charset="0"/>
                <a:ea typeface="Calibri" pitchFamily="34" charset="-122"/>
                <a:cs typeface="Calibri" pitchFamily="34" charset="-120"/>
              </a:rPr>
              <a:t>Suy luận thời gian</a:t>
            </a:r>
            <a:endParaRPr lang="en-US" sz="1533" dirty="0"/>
          </a:p>
        </p:txBody>
      </p:sp>
      <p:sp>
        <p:nvSpPr>
          <p:cNvPr id="13" name="Text 10"/>
          <p:cNvSpPr txBox="1"/>
          <p:nvPr/>
        </p:nvSpPr>
        <p:spPr>
          <a:xfrm>
            <a:off x="3230872" y="4389109"/>
            <a:ext cx="548639" cy="414527"/>
          </a:xfrm>
          <a:prstGeom prst="rect">
            <a:avLst/>
          </a:prstGeom>
          <a:noFill/>
          <a:ln/>
        </p:spPr>
        <p:txBody>
          <a:bodyPr wrap="square" lIns="0" tIns="0" rIns="0" bIns="0" rtlCol="0" anchor="ctr"/>
          <a:lstStyle/>
          <a:p>
            <a:pPr algn="r" indent="0" marL="0">
              <a:buNone/>
            </a:pPr>
            <a:r>
              <a:rPr lang="en-US" sz="1533" b="1" dirty="0">
                <a:solidFill>
                  <a:srgbClr val="5B6B7A"/>
                </a:solidFill>
                <a:latin typeface="Calibri" pitchFamily="34" charset="0"/>
                <a:ea typeface="Calibri" pitchFamily="34" charset="-122"/>
                <a:cs typeface="Calibri" pitchFamily="34" charset="-120"/>
              </a:rPr>
              <a:t>6</a:t>
            </a:r>
            <a:endParaRPr lang="en-US" sz="1533" dirty="0"/>
          </a:p>
        </p:txBody>
      </p:sp>
      <p:sp>
        <p:nvSpPr>
          <p:cNvPr id="14" name="Text 11"/>
          <p:cNvSpPr txBox="1"/>
          <p:nvPr/>
        </p:nvSpPr>
        <p:spPr>
          <a:xfrm>
            <a:off x="792478" y="4876788"/>
            <a:ext cx="2438394" cy="414527"/>
          </a:xfrm>
          <a:prstGeom prst="rect">
            <a:avLst/>
          </a:prstGeom>
          <a:noFill/>
          <a:ln/>
        </p:spPr>
        <p:txBody>
          <a:bodyPr wrap="square" lIns="0" tIns="0" rIns="0" bIns="0" rtlCol="0" anchor="ctr"/>
          <a:lstStyle/>
          <a:p>
            <a:pPr indent="0" marL="0">
              <a:buNone/>
            </a:pPr>
            <a:r>
              <a:rPr lang="en-US" sz="1533" dirty="0">
                <a:solidFill>
                  <a:srgbClr val="1B2B3A"/>
                </a:solidFill>
                <a:latin typeface="Calibri" pitchFamily="34" charset="0"/>
                <a:ea typeface="Calibri" pitchFamily="34" charset="-122"/>
                <a:cs typeface="Calibri" pitchFamily="34" charset="-120"/>
              </a:rPr>
              <a:t>Cập nhật kiến thức</a:t>
            </a:r>
            <a:endParaRPr lang="en-US" sz="1533" dirty="0"/>
          </a:p>
        </p:txBody>
      </p:sp>
      <p:sp>
        <p:nvSpPr>
          <p:cNvPr id="15" name="Text 12"/>
          <p:cNvSpPr txBox="1"/>
          <p:nvPr/>
        </p:nvSpPr>
        <p:spPr>
          <a:xfrm>
            <a:off x="3230872" y="4876788"/>
            <a:ext cx="548639" cy="414527"/>
          </a:xfrm>
          <a:prstGeom prst="rect">
            <a:avLst/>
          </a:prstGeom>
          <a:noFill/>
          <a:ln/>
        </p:spPr>
        <p:txBody>
          <a:bodyPr wrap="square" lIns="0" tIns="0" rIns="0" bIns="0" rtlCol="0" anchor="ctr"/>
          <a:lstStyle/>
          <a:p>
            <a:pPr algn="r" indent="0" marL="0">
              <a:buNone/>
            </a:pPr>
            <a:r>
              <a:rPr lang="en-US" sz="1533" b="1" dirty="0">
                <a:solidFill>
                  <a:srgbClr val="5B6B7A"/>
                </a:solidFill>
                <a:latin typeface="Calibri" pitchFamily="34" charset="0"/>
                <a:ea typeface="Calibri" pitchFamily="34" charset="-122"/>
                <a:cs typeface="Calibri" pitchFamily="34" charset="-120"/>
              </a:rPr>
              <a:t>3</a:t>
            </a:r>
            <a:endParaRPr lang="en-US" sz="1533" dirty="0"/>
          </a:p>
        </p:txBody>
      </p:sp>
      <p:sp>
        <p:nvSpPr>
          <p:cNvPr id="16" name="Text 13"/>
          <p:cNvSpPr txBox="1"/>
          <p:nvPr/>
        </p:nvSpPr>
        <p:spPr>
          <a:xfrm>
            <a:off x="792478" y="5364467"/>
            <a:ext cx="2438394" cy="414527"/>
          </a:xfrm>
          <a:prstGeom prst="rect">
            <a:avLst/>
          </a:prstGeom>
          <a:noFill/>
          <a:ln/>
        </p:spPr>
        <p:txBody>
          <a:bodyPr wrap="square" lIns="0" tIns="0" rIns="0" bIns="0" rtlCol="0" anchor="ctr"/>
          <a:lstStyle/>
          <a:p>
            <a:pPr indent="0" marL="0">
              <a:buNone/>
            </a:pPr>
            <a:r>
              <a:rPr lang="en-US" sz="1533" dirty="0">
                <a:solidFill>
                  <a:srgbClr val="1B2B3A"/>
                </a:solidFill>
                <a:latin typeface="Calibri" pitchFamily="34" charset="0"/>
                <a:ea typeface="Calibri" pitchFamily="34" charset="-122"/>
                <a:cs typeface="Calibri" pitchFamily="34" charset="-120"/>
              </a:rPr>
              <a:t>Đơn phiên · sở thích</a:t>
            </a:r>
            <a:endParaRPr lang="en-US" sz="1533" dirty="0"/>
          </a:p>
        </p:txBody>
      </p:sp>
      <p:sp>
        <p:nvSpPr>
          <p:cNvPr id="17" name="Text 14"/>
          <p:cNvSpPr txBox="1"/>
          <p:nvPr/>
        </p:nvSpPr>
        <p:spPr>
          <a:xfrm>
            <a:off x="3230872" y="5364467"/>
            <a:ext cx="548639" cy="414527"/>
          </a:xfrm>
          <a:prstGeom prst="rect">
            <a:avLst/>
          </a:prstGeom>
          <a:noFill/>
          <a:ln/>
        </p:spPr>
        <p:txBody>
          <a:bodyPr wrap="square" lIns="0" tIns="0" rIns="0" bIns="0" rtlCol="0" anchor="ctr"/>
          <a:lstStyle/>
          <a:p>
            <a:pPr algn="r" indent="0" marL="0">
              <a:buNone/>
            </a:pPr>
            <a:r>
              <a:rPr lang="en-US" sz="1533" b="1" dirty="0">
                <a:solidFill>
                  <a:srgbClr val="5B6B7A"/>
                </a:solidFill>
                <a:latin typeface="Calibri" pitchFamily="34" charset="0"/>
                <a:ea typeface="Calibri" pitchFamily="34" charset="-122"/>
                <a:cs typeface="Calibri" pitchFamily="34" charset="-120"/>
              </a:rPr>
              <a:t>2</a:t>
            </a:r>
            <a:endParaRPr lang="en-US" sz="1533"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389109" y="1584956"/>
          <a:ext cx="7193262" cy="914400"/>
        </p:xfrm>
        <a:graphic>
          <a:graphicData uri="http://schemas.openxmlformats.org/drawingml/2006/table">
            <a:tbl>
              <a:tblPr/>
              <a:tblGrid>
                <a:gridCol w="1158237"/>
                <a:gridCol w="2865113"/>
                <a:gridCol w="853438"/>
                <a:gridCol w="2316474"/>
              </a:tblGrid>
              <a:tr h="75590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Kiểu lỗi</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1F6F8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Câu hỏi</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1F6F8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Đáp án</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1F6F8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Hệ trả lời</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1F6F8B"/>
                    </a:solidFill>
                  </a:tcPr>
                </a:tc>
              </a:tr>
              <a:tr h="755902">
                <a:tc>
                  <a:txBody>
                    <a:bodyPr/>
                    <a:lstStyle/>
                    <a:p>
                      <a:pPr indent="0" marL="0">
                        <a:buNone/>
                      </a:pPr>
                      <a:r>
                        <a:rPr lang="en-US" sz="1200" b="1" dirty="0">
                          <a:solidFill>
                            <a:srgbClr val="1F6F8B"/>
                          </a:solidFill>
                          <a:latin typeface="Calibri" pitchFamily="34" charset="0"/>
                          <a:ea typeface="Calibri" pitchFamily="34" charset="-122"/>
                          <a:cs typeface="Calibri" pitchFamily="34" charset="-120"/>
                        </a:rPr>
                        <a:t>Đếm đa phiên</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200" dirty="0">
                          <a:solidFill>
                            <a:srgbClr val="1B2B3A"/>
                          </a:solidFill>
                          <a:latin typeface="Calibri" pitchFamily="34" charset="0"/>
                          <a:ea typeface="Calibri" pitchFamily="34" charset="-122"/>
                          <a:cs typeface="Calibri" pitchFamily="34" charset="-120"/>
                        </a:rPr>
                        <a:t>What was the page count of the two novels I finished in Janua…</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200" dirty="0">
                          <a:solidFill>
                            <a:srgbClr val="1B2B3A"/>
                          </a:solidFill>
                          <a:latin typeface="Calibri" pitchFamily="34" charset="0"/>
                          <a:ea typeface="Calibri" pitchFamily="34" charset="-122"/>
                          <a:cs typeface="Calibri" pitchFamily="34" charset="-120"/>
                        </a:rPr>
                        <a:t>856</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200" dirty="0">
                          <a:solidFill>
                            <a:srgbClr val="1B2B3A"/>
                          </a:solidFill>
                          <a:latin typeface="Calibri" pitchFamily="34" charset="0"/>
                          <a:ea typeface="Calibri" pitchFamily="34" charset="-122"/>
                          <a:cs typeface="Calibri" pitchFamily="34" charset="-120"/>
                        </a:rPr>
                        <a:t>The two novels were:  - The Nightingale by…</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r>
              <a:tr h="755902">
                <a:tc>
                  <a:txBody>
                    <a:bodyPr/>
                    <a:lstStyle/>
                    <a:p>
                      <a:pPr indent="0" marL="0">
                        <a:buNone/>
                      </a:pPr>
                      <a:r>
                        <a:rPr lang="en-US" sz="1200" b="1" dirty="0">
                          <a:solidFill>
                            <a:srgbClr val="1F6F8B"/>
                          </a:solidFill>
                          <a:latin typeface="Calibri" pitchFamily="34" charset="0"/>
                          <a:ea typeface="Calibri" pitchFamily="34" charset="-122"/>
                          <a:cs typeface="Calibri" pitchFamily="34" charset="-120"/>
                        </a:rPr>
                        <a:t>Đếm đa phiên</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200" dirty="0">
                          <a:solidFill>
                            <a:srgbClr val="1B2B3A"/>
                          </a:solidFill>
                          <a:latin typeface="Calibri" pitchFamily="34" charset="0"/>
                          <a:ea typeface="Calibri" pitchFamily="34" charset="-122"/>
                          <a:cs typeface="Calibri" pitchFamily="34" charset="-120"/>
                        </a:rPr>
                        <a:t>How many hours of jogging and yoga did I do last week?</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200" dirty="0">
                          <a:solidFill>
                            <a:srgbClr val="1B2B3A"/>
                          </a:solidFill>
                          <a:latin typeface="Calibri" pitchFamily="34" charset="0"/>
                          <a:ea typeface="Calibri" pitchFamily="34" charset="-122"/>
                          <a:cs typeface="Calibri" pitchFamily="34" charset="-120"/>
                        </a:rPr>
                        <a:t>0.5 hours</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200" dirty="0">
                          <a:solidFill>
                            <a:srgbClr val="1B2B3A"/>
                          </a:solidFill>
                          <a:latin typeface="Calibri" pitchFamily="34" charset="0"/>
                          <a:ea typeface="Calibri" pitchFamily="34" charset="-122"/>
                          <a:cs typeface="Calibri" pitchFamily="34" charset="-120"/>
                        </a:rPr>
                        <a:t>Based on the memories, you did 0 hours of j…</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r>
              <a:tr h="755902">
                <a:tc>
                  <a:txBody>
                    <a:bodyPr/>
                    <a:lstStyle/>
                    <a:p>
                      <a:pPr indent="0" marL="0">
                        <a:buNone/>
                      </a:pPr>
                      <a:r>
                        <a:rPr lang="en-US" sz="1200" b="1" dirty="0">
                          <a:solidFill>
                            <a:srgbClr val="C8553D"/>
                          </a:solidFill>
                          <a:latin typeface="Calibri" pitchFamily="34" charset="0"/>
                          <a:ea typeface="Calibri" pitchFamily="34" charset="-122"/>
                          <a:cs typeface="Calibri" pitchFamily="34" charset="-120"/>
                        </a:rPr>
                        <a:t>Lượt trợ lý</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200" dirty="0">
                          <a:solidFill>
                            <a:srgbClr val="1B2B3A"/>
                          </a:solidFill>
                          <a:latin typeface="Calibri" pitchFamily="34" charset="0"/>
                          <a:ea typeface="Calibri" pitchFamily="34" charset="-122"/>
                          <a:cs typeface="Calibri" pitchFamily="34" charset="-120"/>
                        </a:rPr>
                        <a:t>I wanted to follow up on our previous conversation about mind…</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200" dirty="0">
                          <a:solidFill>
                            <a:srgbClr val="1B2B3A"/>
                          </a:solidFill>
                          <a:latin typeface="Calibri" pitchFamily="34" charset="0"/>
                          <a:ea typeface="Calibri" pitchFamily="34" charset="-122"/>
                          <a:cs typeface="Calibri" pitchFamily="34" charset="-120"/>
                        </a:rPr>
                        <a:t>Mindful.org.</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200" dirty="0">
                          <a:solidFill>
                            <a:srgbClr val="1B2B3A"/>
                          </a:solidFill>
                          <a:latin typeface="Calibri" pitchFamily="34" charset="0"/>
                          <a:ea typeface="Calibri" pitchFamily="34" charset="-122"/>
                          <a:cs typeface="Calibri" pitchFamily="34" charset="-120"/>
                        </a:rPr>
                        <a:t>The website was likely UCLA Mindful (the UC…</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r>
              <a:tr h="755902">
                <a:tc>
                  <a:txBody>
                    <a:bodyPr/>
                    <a:lstStyle/>
                    <a:p>
                      <a:pPr indent="0" marL="0">
                        <a:buNone/>
                      </a:pPr>
                      <a:r>
                        <a:rPr lang="en-US" sz="1200" b="1" dirty="0">
                          <a:solidFill>
                            <a:srgbClr val="C8553D"/>
                          </a:solidFill>
                          <a:latin typeface="Calibri" pitchFamily="34" charset="0"/>
                          <a:ea typeface="Calibri" pitchFamily="34" charset="-122"/>
                          <a:cs typeface="Calibri" pitchFamily="34" charset="-120"/>
                        </a:rPr>
                        <a:t>Lượt trợ lý</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200" dirty="0">
                          <a:solidFill>
                            <a:srgbClr val="1B2B3A"/>
                          </a:solidFill>
                          <a:latin typeface="Calibri" pitchFamily="34" charset="0"/>
                          <a:ea typeface="Calibri" pitchFamily="34" charset="-122"/>
                          <a:cs typeface="Calibri" pitchFamily="34" charset="-120"/>
                        </a:rPr>
                        <a:t>I'm looking back at our previous conversation about building…</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200" dirty="0">
                          <a:solidFill>
                            <a:srgbClr val="1B2B3A"/>
                          </a:solidFill>
                          <a:latin typeface="Calibri" pitchFamily="34" charset="0"/>
                          <a:ea typeface="Calibri" pitchFamily="34" charset="-122"/>
                          <a:cs typeface="Calibri" pitchFamily="34" charset="-120"/>
                        </a:rPr>
                        <a:t>Absinthe</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200" dirty="0">
                          <a:solidFill>
                            <a:srgbClr val="1B2B3A"/>
                          </a:solidFill>
                          <a:latin typeface="Calibri" pitchFamily="34" charset="0"/>
                          <a:ea typeface="Calibri" pitchFamily="34" charset="-122"/>
                          <a:cs typeface="Calibri" pitchFamily="34" charset="-120"/>
                        </a:rPr>
                        <a:t>The memories don’t specify the five-bottle…</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r>
            </a:tbl>
          </a:graphicData>
        </a:graphic>
      </p:graphicFrame>
      <p:sp>
        <p:nvSpPr>
          <p:cNvPr id="19" name="Shape 15"/>
          <p:cNvSpPr/>
          <p:nvPr/>
        </p:nvSpPr>
        <p:spPr>
          <a:xfrm>
            <a:off x="4389109" y="5547346"/>
            <a:ext cx="7193262" cy="914398"/>
          </a:xfrm>
          <a:prstGeom prst="rect">
            <a:avLst/>
          </a:prstGeom>
          <a:solidFill>
            <a:srgbClr val="E7F0F4"/>
          </a:solidFill>
          <a:ln w="9525">
            <a:solidFill>
              <a:srgbClr val="DCE3EA"/>
            </a:solidFill>
            <a:prstDash val="solid"/>
          </a:ln>
        </p:spPr>
      </p:sp>
      <p:sp>
        <p:nvSpPr>
          <p:cNvPr id="20" name="Text 16"/>
          <p:cNvSpPr txBox="1"/>
          <p:nvPr/>
        </p:nvSpPr>
        <p:spPr>
          <a:xfrm>
            <a:off x="4632948" y="5608306"/>
            <a:ext cx="6705583" cy="792478"/>
          </a:xfrm>
          <a:prstGeom prst="rect">
            <a:avLst/>
          </a:prstGeom>
          <a:noFill/>
          <a:ln/>
        </p:spPr>
        <p:txBody>
          <a:bodyPr wrap="square" lIns="0" tIns="0" rIns="0" bIns="0" rtlCol="0" anchor="ctr"/>
          <a:lstStyle/>
          <a:p>
            <a:pPr indent="0" marL="0">
              <a:buNone/>
            </a:pPr>
            <a:r>
              <a:rPr lang="en-US" sz="1400" b="1" dirty="0">
                <a:solidFill>
                  <a:srgbClr val="10243E"/>
                </a:solidFill>
                <a:latin typeface="Calibri" pitchFamily="34" charset="0"/>
                <a:ea typeface="Calibri" pitchFamily="34" charset="-122"/>
                <a:cs typeface="Calibri" pitchFamily="34" charset="-120"/>
              </a:rPr>
              <a:t>Bằng chứng: </a:t>
            </a:r>
            <a:pPr indent="0" marL="0">
              <a:buNone/>
            </a:pPr>
            <a:r>
              <a:rPr lang="en-US" sz="1400" dirty="0">
                <a:solidFill>
                  <a:srgbClr val="1B2B3A"/>
                </a:solidFill>
                <a:latin typeface="Calibri" pitchFamily="34" charset="0"/>
                <a:ea typeface="Calibri" pitchFamily="34" charset="-122"/>
                <a:cs typeface="Calibri" pitchFamily="34" charset="-120"/>
              </a:rPr>
              <a:t>6/10 câu sai loại lượt trợ lý, hệ trả lời thẳng là không tìm thấy thông tin trong bộ nhớ, khớp với cấu hình user_only.</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0">
    <p:bg>
      <p:bgPr>
        <a:solidFill>
          <a:srgbClr val="F7F9FB"/>
        </a:solidFill>
      </p:bgPr>
    </p:bg>
    <p:spTree>
      <p:nvGrpSpPr>
        <p:cNvPr id="1" name=""/>
        <p:cNvGrpSpPr/>
        <p:nvPr/>
      </p:nvGrpSpPr>
      <p:grpSpPr>
        <a:xfrm>
          <a:off x="0" y="0"/>
          <a:ext cx="0" cy="0"/>
          <a:chOff x="0" y="0"/>
          <a:chExt cx="0" cy="0"/>
        </a:xfrm>
      </p:grpSpPr>
      <p:sp>
        <p:nvSpPr>
          <p:cNvPr id="2" name="Text 0"/>
          <p:cNvSpPr txBox="1"/>
          <p:nvPr/>
        </p:nvSpPr>
        <p:spPr>
          <a:xfrm>
            <a:off x="609598" y="365759"/>
            <a:ext cx="10972773" cy="365759"/>
          </a:xfrm>
          <a:prstGeom prst="rect">
            <a:avLst/>
          </a:prstGeom>
          <a:noFill/>
          <a:ln/>
        </p:spPr>
        <p:txBody>
          <a:bodyPr wrap="square" lIns="0" tIns="0" rIns="0" bIns="0" rtlCol="0" anchor="ctr"/>
          <a:lstStyle/>
          <a:p>
            <a:pPr indent="0" marL="0">
              <a:buNone/>
            </a:pPr>
            <a:r>
              <a:rPr lang="en-US" sz="1467" b="1" dirty="0">
                <a:solidFill>
                  <a:srgbClr val="1F6F8B"/>
                </a:solidFill>
                <a:latin typeface="Calibri" pitchFamily="34" charset="0"/>
                <a:ea typeface="Calibri" pitchFamily="34" charset="-122"/>
                <a:cs typeface="Calibri" pitchFamily="34" charset="-120"/>
              </a:rPr>
              <a:t>TÁCH NGUỒN LỖI</a:t>
            </a:r>
            <a:endParaRPr lang="en-US" sz="1467" dirty="0"/>
          </a:p>
        </p:txBody>
      </p:sp>
      <p:sp>
        <p:nvSpPr>
          <p:cNvPr id="3" name="Text 1"/>
          <p:cNvSpPr txBox="1"/>
          <p:nvPr/>
        </p:nvSpPr>
        <p:spPr>
          <a:xfrm>
            <a:off x="609598" y="670558"/>
            <a:ext cx="10972773" cy="731518"/>
          </a:xfrm>
          <a:prstGeom prst="rect">
            <a:avLst/>
          </a:prstGeom>
          <a:noFill/>
          <a:ln/>
        </p:spPr>
        <p:txBody>
          <a:bodyPr wrap="square" lIns="0" tIns="0" rIns="0" bIns="0" rtlCol="0" anchor="ctr"/>
          <a:lstStyle/>
          <a:p>
            <a:pPr indent="0" marL="0">
              <a:buNone/>
            </a:pPr>
            <a:r>
              <a:rPr lang="en-US" sz="3467" b="1" dirty="0">
                <a:solidFill>
                  <a:srgbClr val="10243E"/>
                </a:solidFill>
                <a:latin typeface="Cambria" pitchFamily="34" charset="0"/>
                <a:ea typeface="Cambria" pitchFamily="34" charset="-122"/>
                <a:cs typeface="Cambria" pitchFamily="34" charset="-120"/>
              </a:rPr>
              <a:t>Lỗi không nằm ở khâu tìm kiếm</a:t>
            </a:r>
            <a:endParaRPr lang="en-US" sz="3467" dirty="0"/>
          </a:p>
        </p:txBody>
      </p:sp>
      <p:sp>
        <p:nvSpPr>
          <p:cNvPr id="5" name="Shape 2"/>
          <p:cNvSpPr/>
          <p:nvPr/>
        </p:nvSpPr>
        <p:spPr>
          <a:xfrm>
            <a:off x="487679" y="1584956"/>
            <a:ext cx="3535671" cy="3901430"/>
          </a:xfrm>
          <a:prstGeom prst="rect">
            <a:avLst/>
          </a:prstGeom>
          <a:solidFill>
            <a:srgbClr val="FFFFFF"/>
          </a:solidFill>
          <a:ln w="9525">
            <a:solidFill>
              <a:srgbClr val="DCE3EA"/>
            </a:solidFill>
            <a:prstDash val="solid"/>
          </a:ln>
        </p:spPr>
      </p:sp>
      <p:sp>
        <p:nvSpPr>
          <p:cNvPr id="6" name="Text 3"/>
          <p:cNvSpPr txBox="1"/>
          <p:nvPr/>
        </p:nvSpPr>
        <p:spPr>
          <a:xfrm>
            <a:off x="487679" y="1767836"/>
            <a:ext cx="3535671" cy="975358"/>
          </a:xfrm>
          <a:prstGeom prst="rect">
            <a:avLst/>
          </a:prstGeom>
          <a:noFill/>
          <a:ln/>
        </p:spPr>
        <p:txBody>
          <a:bodyPr wrap="square" lIns="0" tIns="0" rIns="0" bIns="0" rtlCol="0" anchor="ctr"/>
          <a:lstStyle/>
          <a:p>
            <a:pPr algn="ctr" indent="0" marL="0">
              <a:buNone/>
            </a:pPr>
            <a:r>
              <a:rPr lang="en-US" sz="5333" b="1" dirty="0">
                <a:solidFill>
                  <a:srgbClr val="1F6F8B"/>
                </a:solidFill>
                <a:latin typeface="Cambria" pitchFamily="34" charset="0"/>
                <a:ea typeface="Cambria" pitchFamily="34" charset="-122"/>
                <a:cs typeface="Cambria" pitchFamily="34" charset="-120"/>
              </a:rPr>
              <a:t>99,3%</a:t>
            </a:r>
            <a:endParaRPr lang="en-US" sz="5333" dirty="0"/>
          </a:p>
        </p:txBody>
      </p:sp>
      <p:sp>
        <p:nvSpPr>
          <p:cNvPr id="7" name="Text 4"/>
          <p:cNvSpPr txBox="1"/>
          <p:nvPr/>
        </p:nvSpPr>
        <p:spPr>
          <a:xfrm>
            <a:off x="731518" y="2743193"/>
            <a:ext cx="3047992" cy="731518"/>
          </a:xfrm>
          <a:prstGeom prst="rect">
            <a:avLst/>
          </a:prstGeom>
          <a:noFill/>
          <a:ln/>
        </p:spPr>
        <p:txBody>
          <a:bodyPr wrap="square" lIns="0" tIns="0" rIns="0" bIns="0" rtlCol="0" anchor="t"/>
          <a:lstStyle/>
          <a:p>
            <a:pPr algn="ctr" indent="0" marL="0">
              <a:buNone/>
            </a:pPr>
            <a:r>
              <a:rPr lang="en-US" sz="1600" dirty="0">
                <a:solidFill>
                  <a:srgbClr val="5B6B7A"/>
                </a:solidFill>
                <a:latin typeface="Calibri" pitchFamily="34" charset="0"/>
                <a:ea typeface="Calibri" pitchFamily="34" charset="-122"/>
                <a:cs typeface="Calibri" pitchFamily="34" charset="-120"/>
              </a:rPr>
              <a:t>truy xuất trúng phiên chứa bằng chứng (149/150 câu)</a:t>
            </a:r>
            <a:endParaRPr lang="en-US" sz="1600" dirty="0"/>
          </a:p>
        </p:txBody>
      </p:sp>
      <p:sp>
        <p:nvSpPr>
          <p:cNvPr id="8" name="Text 5"/>
          <p:cNvSpPr txBox="1"/>
          <p:nvPr/>
        </p:nvSpPr>
        <p:spPr>
          <a:xfrm>
            <a:off x="731518" y="3596631"/>
            <a:ext cx="3047992" cy="1767836"/>
          </a:xfrm>
          <a:prstGeom prst="rect">
            <a:avLst/>
          </a:prstGeom>
          <a:noFill/>
          <a:ln/>
        </p:spPr>
        <p:txBody>
          <a:bodyPr wrap="square" lIns="0" tIns="0" rIns="0" bIns="0" rtlCol="0" anchor="t"/>
          <a:lstStyle/>
          <a:p>
            <a:pPr indent="0" marL="0">
              <a:buNone/>
            </a:pPr>
            <a:r>
              <a:rPr lang="en-US" sz="1400" b="1" dirty="0">
                <a:solidFill>
                  <a:srgbClr val="10243E"/>
                </a:solidFill>
                <a:latin typeface="Calibri" pitchFamily="34" charset="0"/>
                <a:ea typeface="Calibri" pitchFamily="34" charset="-122"/>
                <a:cs typeface="Calibri" pitchFamily="34" charset="-120"/>
              </a:rPr>
              <a:t>Đo thế nào</a:t>
            </a:r>
            <a:endParaRPr lang="en-US" sz="1400" dirty="0"/>
          </a:p>
          <a:p>
            <a:pPr indent="0" marL="0">
              <a:buNone/>
            </a:pPr>
            <a:r>
              <a:rPr lang="en-US" sz="1400" dirty="0">
                <a:solidFill>
                  <a:srgbClr val="1B2B3A"/>
                </a:solidFill>
                <a:latin typeface="Calibri" pitchFamily="34" charset="0"/>
                <a:ea typeface="Calibri" pitchFamily="34" charset="-122"/>
                <a:cs typeface="Calibri" pitchFamily="34" charset="-120"/>
              </a:rPr>
              <a:t>Mỗi ký ức LightMem trả về đều mở đầu bằng mốc thời gian của phiên. Khớp mốc đó với haystack_dates để biết ký ức đến từ phiên nào, rồi so với answer_session_ids của bộ dữ liệu. Có 2 câu có phiên trùng mốc với phiên khác nên khớp chưa chắc chắn.</a:t>
            </a:r>
            <a:endParaRPr lang="en-US" sz="1400" dirty="0"/>
          </a:p>
        </p:txBody>
      </p:sp>
      <p:sp>
        <p:nvSpPr>
          <p:cNvPr id="9" name="Text 6"/>
          <p:cNvSpPr txBox="1"/>
          <p:nvPr/>
        </p:nvSpPr>
        <p:spPr>
          <a:xfrm>
            <a:off x="4389109" y="1584956"/>
            <a:ext cx="7193262" cy="365759"/>
          </a:xfrm>
          <a:prstGeom prst="rect">
            <a:avLst/>
          </a:prstGeom>
          <a:noFill/>
          <a:ln/>
        </p:spPr>
        <p:txBody>
          <a:bodyPr wrap="square" lIns="0" tIns="0" rIns="0" bIns="0" rtlCol="0" anchor="ctr"/>
          <a:lstStyle/>
          <a:p>
            <a:pPr indent="0" marL="0">
              <a:buNone/>
            </a:pPr>
            <a:r>
              <a:rPr lang="en-US" sz="2000" b="1" dirty="0">
                <a:solidFill>
                  <a:srgbClr val="10243E"/>
                </a:solidFill>
                <a:latin typeface="Cambria" pitchFamily="34" charset="0"/>
                <a:ea typeface="Cambria" pitchFamily="34" charset="-122"/>
                <a:cs typeface="Cambria" pitchFamily="34" charset="-120"/>
              </a:rPr>
              <a:t>Trong 28 câu sai</a:t>
            </a:r>
            <a:endParaRPr lang="en-US" sz="2000" dirty="0"/>
          </a:p>
        </p:txBody>
      </p:sp>
      <p:sp>
        <p:nvSpPr>
          <p:cNvPr id="10" name="Shape 7"/>
          <p:cNvSpPr/>
          <p:nvPr/>
        </p:nvSpPr>
        <p:spPr>
          <a:xfrm>
            <a:off x="4389109" y="2072635"/>
            <a:ext cx="7193262" cy="2133595"/>
          </a:xfrm>
          <a:prstGeom prst="rect">
            <a:avLst/>
          </a:prstGeom>
          <a:solidFill>
            <a:srgbClr val="FBEAE5"/>
          </a:solidFill>
          <a:ln w="9525">
            <a:solidFill>
              <a:srgbClr val="DCE3EA"/>
            </a:solidFill>
            <a:prstDash val="solid"/>
          </a:ln>
        </p:spPr>
      </p:sp>
      <p:sp>
        <p:nvSpPr>
          <p:cNvPr id="11" name="Text 8"/>
          <p:cNvSpPr txBox="1"/>
          <p:nvPr/>
        </p:nvSpPr>
        <p:spPr>
          <a:xfrm>
            <a:off x="4571989" y="2255514"/>
            <a:ext cx="1158237" cy="975358"/>
          </a:xfrm>
          <a:prstGeom prst="rect">
            <a:avLst/>
          </a:prstGeom>
          <a:noFill/>
          <a:ln/>
        </p:spPr>
        <p:txBody>
          <a:bodyPr wrap="square" lIns="0" tIns="0" rIns="0" bIns="0" rtlCol="0" anchor="ctr"/>
          <a:lstStyle/>
          <a:p>
            <a:pPr algn="ctr" indent="0" marL="0">
              <a:buNone/>
            </a:pPr>
            <a:r>
              <a:rPr lang="en-US" sz="5067" b="1" dirty="0">
                <a:solidFill>
                  <a:srgbClr val="C8553D"/>
                </a:solidFill>
                <a:latin typeface="Cambria" pitchFamily="34" charset="0"/>
                <a:ea typeface="Cambria" pitchFamily="34" charset="-122"/>
                <a:cs typeface="Cambria" pitchFamily="34" charset="-120"/>
              </a:rPr>
              <a:t>27</a:t>
            </a:r>
            <a:endParaRPr lang="en-US" sz="5067" dirty="0"/>
          </a:p>
        </p:txBody>
      </p:sp>
      <p:sp>
        <p:nvSpPr>
          <p:cNvPr id="12" name="Text 9"/>
          <p:cNvSpPr txBox="1"/>
          <p:nvPr/>
        </p:nvSpPr>
        <p:spPr>
          <a:xfrm>
            <a:off x="5852145" y="2243322"/>
            <a:ext cx="5547346" cy="512063"/>
          </a:xfrm>
          <a:prstGeom prst="rect">
            <a:avLst/>
          </a:prstGeom>
          <a:noFill/>
          <a:ln/>
        </p:spPr>
        <p:txBody>
          <a:bodyPr wrap="square" lIns="0" tIns="0" rIns="0" bIns="0" rtlCol="0" anchor="ctr"/>
          <a:lstStyle/>
          <a:p>
            <a:pPr indent="0" marL="0">
              <a:buNone/>
            </a:pPr>
            <a:r>
              <a:rPr lang="en-US" sz="1667" b="1" dirty="0">
                <a:solidFill>
                  <a:srgbClr val="10243E"/>
                </a:solidFill>
                <a:latin typeface="Calibri" pitchFamily="34" charset="0"/>
                <a:ea typeface="Calibri" pitchFamily="34" charset="-122"/>
                <a:cs typeface="Calibri" pitchFamily="34" charset="-120"/>
              </a:rPr>
              <a:t>đã có bằng chứng trong ký ức lấy về, vẫn trả lời sai</a:t>
            </a:r>
            <a:endParaRPr lang="en-US" sz="1667" dirty="0"/>
          </a:p>
        </p:txBody>
      </p:sp>
      <p:sp>
        <p:nvSpPr>
          <p:cNvPr id="13" name="Text 10"/>
          <p:cNvSpPr txBox="1"/>
          <p:nvPr/>
        </p:nvSpPr>
        <p:spPr>
          <a:xfrm>
            <a:off x="5852145" y="2755385"/>
            <a:ext cx="5547346" cy="1304541"/>
          </a:xfrm>
          <a:prstGeom prst="rect">
            <a:avLst/>
          </a:prstGeom>
          <a:noFill/>
          <a:ln/>
        </p:spPr>
        <p:txBody>
          <a:bodyPr wrap="square" lIns="0" tIns="0" rIns="0" bIns="0" rtlCol="0" anchor="t"/>
          <a:lstStyle/>
          <a:p>
            <a:pPr indent="0" marL="0">
              <a:buNone/>
            </a:pPr>
            <a:r>
              <a:rPr lang="en-US" sz="1467" dirty="0">
                <a:solidFill>
                  <a:srgbClr val="1B2B3A"/>
                </a:solidFill>
                <a:latin typeface="Calibri" pitchFamily="34" charset="0"/>
                <a:ea typeface="Calibri" pitchFamily="34" charset="-122"/>
                <a:cs typeface="Calibri" pitchFamily="34" charset="-120"/>
              </a:rPr>
              <a:t>Lỗi nằm ở tầng trích xuất (nén làm mất chi tiết) hoặc tầng suy luận, không phải tầng tìm kiếm. Ví dụ rõ nhất: một câu tính khoảng ngày, hệ nêu đúng cả hai mốc 22/03 và 15/04/2023 nhưng tính ra 18 ngày thay vì 24 — ký ức đúng, phép trừ sai.</a:t>
            </a:r>
            <a:endParaRPr lang="en-US" sz="1467" dirty="0"/>
          </a:p>
        </p:txBody>
      </p:sp>
      <p:sp>
        <p:nvSpPr>
          <p:cNvPr id="14" name="Shape 11"/>
          <p:cNvSpPr/>
          <p:nvPr/>
        </p:nvSpPr>
        <p:spPr>
          <a:xfrm>
            <a:off x="4389109" y="4389109"/>
            <a:ext cx="7193262" cy="1219197"/>
          </a:xfrm>
          <a:prstGeom prst="rect">
            <a:avLst/>
          </a:prstGeom>
          <a:solidFill>
            <a:srgbClr val="FFFFFF"/>
          </a:solidFill>
          <a:ln w="9525">
            <a:solidFill>
              <a:srgbClr val="DCE3EA"/>
            </a:solidFill>
            <a:prstDash val="solid"/>
          </a:ln>
        </p:spPr>
      </p:sp>
      <p:sp>
        <p:nvSpPr>
          <p:cNvPr id="15" name="Text 12"/>
          <p:cNvSpPr txBox="1"/>
          <p:nvPr/>
        </p:nvSpPr>
        <p:spPr>
          <a:xfrm>
            <a:off x="4571989" y="4571989"/>
            <a:ext cx="1158237" cy="975358"/>
          </a:xfrm>
          <a:prstGeom prst="rect">
            <a:avLst/>
          </a:prstGeom>
          <a:noFill/>
          <a:ln/>
        </p:spPr>
        <p:txBody>
          <a:bodyPr wrap="square" lIns="0" tIns="0" rIns="0" bIns="0" rtlCol="0" anchor="ctr"/>
          <a:lstStyle/>
          <a:p>
            <a:pPr algn="ctr" indent="0" marL="0">
              <a:buNone/>
            </a:pPr>
            <a:r>
              <a:rPr lang="en-US" sz="5067" b="1" dirty="0">
                <a:solidFill>
                  <a:srgbClr val="5B6B7A"/>
                </a:solidFill>
                <a:latin typeface="Cambria" pitchFamily="34" charset="0"/>
                <a:ea typeface="Cambria" pitchFamily="34" charset="-122"/>
                <a:cs typeface="Cambria" pitchFamily="34" charset="-120"/>
              </a:rPr>
              <a:t>1</a:t>
            </a:r>
            <a:endParaRPr lang="en-US" sz="5067" dirty="0"/>
          </a:p>
        </p:txBody>
      </p:sp>
      <p:sp>
        <p:nvSpPr>
          <p:cNvPr id="16" name="Text 13"/>
          <p:cNvSpPr txBox="1"/>
          <p:nvPr/>
        </p:nvSpPr>
        <p:spPr>
          <a:xfrm>
            <a:off x="5852145" y="4559797"/>
            <a:ext cx="5547346" cy="512063"/>
          </a:xfrm>
          <a:prstGeom prst="rect">
            <a:avLst/>
          </a:prstGeom>
          <a:noFill/>
          <a:ln/>
        </p:spPr>
        <p:txBody>
          <a:bodyPr wrap="square" lIns="0" tIns="0" rIns="0" bIns="0" rtlCol="0" anchor="ctr"/>
          <a:lstStyle/>
          <a:p>
            <a:pPr indent="0" marL="0">
              <a:buNone/>
            </a:pPr>
            <a:r>
              <a:rPr lang="en-US" sz="1667" b="1" dirty="0">
                <a:solidFill>
                  <a:srgbClr val="10243E"/>
                </a:solidFill>
                <a:latin typeface="Calibri" pitchFamily="34" charset="0"/>
                <a:ea typeface="Calibri" pitchFamily="34" charset="-122"/>
                <a:cs typeface="Calibri" pitchFamily="34" charset="-120"/>
              </a:rPr>
              <a:t>không truy xuất được bằng chứng</a:t>
            </a:r>
            <a:endParaRPr lang="en-US" sz="1667" dirty="0"/>
          </a:p>
        </p:txBody>
      </p:sp>
      <p:sp>
        <p:nvSpPr>
          <p:cNvPr id="17" name="Text 14"/>
          <p:cNvSpPr txBox="1"/>
          <p:nvPr/>
        </p:nvSpPr>
        <p:spPr>
          <a:xfrm>
            <a:off x="5852145" y="5071859"/>
            <a:ext cx="5547346" cy="390143"/>
          </a:xfrm>
          <a:prstGeom prst="rect">
            <a:avLst/>
          </a:prstGeom>
          <a:noFill/>
          <a:ln/>
        </p:spPr>
        <p:txBody>
          <a:bodyPr wrap="square" lIns="0" tIns="0" rIns="0" bIns="0" rtlCol="0" anchor="t"/>
          <a:lstStyle/>
          <a:p>
            <a:pPr indent="0" marL="0">
              <a:buNone/>
            </a:pPr>
            <a:r>
              <a:rPr lang="en-US" sz="1467" dirty="0">
                <a:solidFill>
                  <a:srgbClr val="1B2B3A"/>
                </a:solidFill>
                <a:latin typeface="Calibri" pitchFamily="34" charset="0"/>
                <a:ea typeface="Calibri" pitchFamily="34" charset="-122"/>
                <a:cs typeface="Calibri" pitchFamily="34" charset="-120"/>
              </a:rPr>
              <a:t>Câu duy nhất thuộc loại lượt trợ lý, mà lời trợ lý thì không được lưu do cấu hình user_only.</a:t>
            </a:r>
            <a:endParaRPr lang="en-US" sz="1467" dirty="0"/>
          </a:p>
        </p:txBody>
      </p:sp>
      <p:sp>
        <p:nvSpPr>
          <p:cNvPr id="18" name="Shape 15"/>
          <p:cNvSpPr/>
          <p:nvPr/>
        </p:nvSpPr>
        <p:spPr>
          <a:xfrm>
            <a:off x="487679" y="5791186"/>
            <a:ext cx="11094692" cy="731518"/>
          </a:xfrm>
          <a:prstGeom prst="rect">
            <a:avLst/>
          </a:prstGeom>
          <a:solidFill>
            <a:srgbClr val="FDF3E1"/>
          </a:solidFill>
          <a:ln w="9525">
            <a:solidFill>
              <a:srgbClr val="DCE3EA"/>
            </a:solidFill>
            <a:prstDash val="solid"/>
          </a:ln>
        </p:spPr>
      </p:sp>
      <p:sp>
        <p:nvSpPr>
          <p:cNvPr id="19" name="Text 16"/>
          <p:cNvSpPr txBox="1"/>
          <p:nvPr/>
        </p:nvSpPr>
        <p:spPr>
          <a:xfrm>
            <a:off x="731518" y="5852145"/>
            <a:ext cx="10607013" cy="609598"/>
          </a:xfrm>
          <a:prstGeom prst="rect">
            <a:avLst/>
          </a:prstGeom>
          <a:noFill/>
          <a:ln/>
        </p:spPr>
        <p:txBody>
          <a:bodyPr wrap="square" lIns="0" tIns="0" rIns="0" bIns="0" rtlCol="0" anchor="ctr"/>
          <a:lstStyle/>
          <a:p>
            <a:pPr indent="0" marL="0">
              <a:buNone/>
            </a:pPr>
            <a:r>
              <a:rPr lang="en-US" sz="1533" b="1" dirty="0">
                <a:solidFill>
                  <a:srgbClr val="10243E"/>
                </a:solidFill>
                <a:latin typeface="Calibri" pitchFamily="34" charset="0"/>
                <a:ea typeface="Calibri" pitchFamily="34" charset="-122"/>
                <a:cs typeface="Calibri" pitchFamily="34" charset="-120"/>
              </a:rPr>
              <a:t>Ý nghĩa cho hệ của nhóm: </a:t>
            </a:r>
            <a:pPr indent="0" marL="0">
              <a:buNone/>
            </a:pPr>
            <a:r>
              <a:rPr lang="en-US" sz="1533" dirty="0">
                <a:solidFill>
                  <a:srgbClr val="1B2B3A"/>
                </a:solidFill>
                <a:latin typeface="Calibri" pitchFamily="34" charset="0"/>
                <a:ea typeface="Calibri" pitchFamily="34" charset="-122"/>
                <a:cs typeface="Calibri" pitchFamily="34" charset="-120"/>
              </a:rPr>
              <a:t>trên bộ dữ liệu này, cải thiện khâu tìm kiếm gần như không còn dư địa; điểm số phụ thuộc vào việc trích xuất giữ được bao nhiêu chi tiết và mô hình suy luận ra sao.</a:t>
            </a:r>
            <a:endParaRPr lang="en-US" sz="1533"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1">
    <p:bg>
      <p:bgPr>
        <a:solidFill>
          <a:srgbClr val="F7F9FB"/>
        </a:solidFill>
      </p:bgPr>
    </p:bg>
    <p:spTree>
      <p:nvGrpSpPr>
        <p:cNvPr id="1" name=""/>
        <p:cNvGrpSpPr/>
        <p:nvPr/>
      </p:nvGrpSpPr>
      <p:grpSpPr>
        <a:xfrm>
          <a:off x="0" y="0"/>
          <a:ext cx="0" cy="0"/>
          <a:chOff x="0" y="0"/>
          <a:chExt cx="0" cy="0"/>
        </a:xfrm>
      </p:grpSpPr>
      <p:sp>
        <p:nvSpPr>
          <p:cNvPr id="2" name="Text 0"/>
          <p:cNvSpPr txBox="1"/>
          <p:nvPr/>
        </p:nvSpPr>
        <p:spPr>
          <a:xfrm>
            <a:off x="609598" y="365759"/>
            <a:ext cx="10972773" cy="365759"/>
          </a:xfrm>
          <a:prstGeom prst="rect">
            <a:avLst/>
          </a:prstGeom>
          <a:noFill/>
          <a:ln/>
        </p:spPr>
        <p:txBody>
          <a:bodyPr wrap="square" lIns="0" tIns="0" rIns="0" bIns="0" rtlCol="0" anchor="ctr"/>
          <a:lstStyle/>
          <a:p>
            <a:pPr indent="0" marL="0">
              <a:buNone/>
            </a:pPr>
            <a:r>
              <a:rPr lang="en-US" sz="1467" b="1" dirty="0">
                <a:solidFill>
                  <a:srgbClr val="1F6F8B"/>
                </a:solidFill>
                <a:latin typeface="Calibri" pitchFamily="34" charset="0"/>
                <a:ea typeface="Calibri" pitchFamily="34" charset="-122"/>
                <a:cs typeface="Calibri" pitchFamily="34" charset="-120"/>
              </a:rPr>
              <a:t>ĐỘ TIN CẬY CỦA PHÉP ĐO</a:t>
            </a:r>
            <a:endParaRPr lang="en-US" sz="1467" dirty="0"/>
          </a:p>
        </p:txBody>
      </p:sp>
      <p:sp>
        <p:nvSpPr>
          <p:cNvPr id="3" name="Text 1"/>
          <p:cNvSpPr txBox="1"/>
          <p:nvPr/>
        </p:nvSpPr>
        <p:spPr>
          <a:xfrm>
            <a:off x="609598" y="670558"/>
            <a:ext cx="10972773" cy="731518"/>
          </a:xfrm>
          <a:prstGeom prst="rect">
            <a:avLst/>
          </a:prstGeom>
          <a:noFill/>
          <a:ln/>
        </p:spPr>
        <p:txBody>
          <a:bodyPr wrap="square" lIns="0" tIns="0" rIns="0" bIns="0" rtlCol="0" anchor="ctr"/>
          <a:lstStyle/>
          <a:p>
            <a:pPr indent="0" marL="0">
              <a:buNone/>
            </a:pPr>
            <a:r>
              <a:rPr lang="en-US" sz="3467" b="1" dirty="0">
                <a:solidFill>
                  <a:srgbClr val="10243E"/>
                </a:solidFill>
                <a:latin typeface="Cambria" pitchFamily="34" charset="0"/>
                <a:ea typeface="Cambria" pitchFamily="34" charset="-122"/>
                <a:cs typeface="Cambria" pitchFamily="34" charset="-120"/>
              </a:rPr>
              <a:t>Model chấm đáng tin, nhưng hơi khắt khe</a:t>
            </a:r>
            <a:endParaRPr lang="en-US" sz="3467" dirty="0"/>
          </a:p>
        </p:txBody>
      </p:sp>
      <p:sp>
        <p:nvSpPr>
          <p:cNvPr id="5" name="Shape 2"/>
          <p:cNvSpPr/>
          <p:nvPr/>
        </p:nvSpPr>
        <p:spPr>
          <a:xfrm>
            <a:off x="487679" y="1584956"/>
            <a:ext cx="5425426" cy="1584956"/>
          </a:xfrm>
          <a:prstGeom prst="rect">
            <a:avLst/>
          </a:prstGeom>
          <a:solidFill>
            <a:srgbClr val="FFFFFF"/>
          </a:solidFill>
          <a:ln w="9525">
            <a:solidFill>
              <a:srgbClr val="DCE3EA"/>
            </a:solidFill>
            <a:prstDash val="solid"/>
          </a:ln>
        </p:spPr>
      </p:sp>
      <p:sp>
        <p:nvSpPr>
          <p:cNvPr id="6" name="Text 3"/>
          <p:cNvSpPr txBox="1"/>
          <p:nvPr/>
        </p:nvSpPr>
        <p:spPr>
          <a:xfrm>
            <a:off x="670558" y="1767836"/>
            <a:ext cx="1645916" cy="914398"/>
          </a:xfrm>
          <a:prstGeom prst="rect">
            <a:avLst/>
          </a:prstGeom>
          <a:noFill/>
          <a:ln/>
        </p:spPr>
        <p:txBody>
          <a:bodyPr wrap="square" lIns="0" tIns="0" rIns="0" bIns="0" rtlCol="0" anchor="ctr"/>
          <a:lstStyle/>
          <a:p>
            <a:pPr algn="ctr" indent="0" marL="0">
              <a:buNone/>
            </a:pPr>
            <a:r>
              <a:rPr lang="en-US" sz="4000" b="1" dirty="0">
                <a:solidFill>
                  <a:srgbClr val="1F6F8B"/>
                </a:solidFill>
                <a:latin typeface="Cambria" pitchFamily="34" charset="0"/>
                <a:ea typeface="Cambria" pitchFamily="34" charset="-122"/>
                <a:cs typeface="Cambria" pitchFamily="34" charset="-120"/>
              </a:rPr>
              <a:t>0/20</a:t>
            </a:r>
            <a:endParaRPr lang="en-US" sz="4000" dirty="0"/>
          </a:p>
        </p:txBody>
      </p:sp>
      <p:sp>
        <p:nvSpPr>
          <p:cNvPr id="7" name="Text 4"/>
          <p:cNvSpPr txBox="1"/>
          <p:nvPr/>
        </p:nvSpPr>
        <p:spPr>
          <a:xfrm>
            <a:off x="2438394" y="1731260"/>
            <a:ext cx="3291832" cy="487679"/>
          </a:xfrm>
          <a:prstGeom prst="rect">
            <a:avLst/>
          </a:prstGeom>
          <a:noFill/>
          <a:ln/>
        </p:spPr>
        <p:txBody>
          <a:bodyPr wrap="square" lIns="0" tIns="0" rIns="0" bIns="0" rtlCol="0" anchor="ctr"/>
          <a:lstStyle/>
          <a:p>
            <a:pPr indent="0" marL="0">
              <a:buNone/>
            </a:pPr>
            <a:r>
              <a:rPr lang="en-US" sz="1667" b="1" dirty="0">
                <a:solidFill>
                  <a:srgbClr val="10243E"/>
                </a:solidFill>
                <a:latin typeface="Calibri" pitchFamily="34" charset="0"/>
                <a:ea typeface="Calibri" pitchFamily="34" charset="-122"/>
                <a:cs typeface="Calibri" pitchFamily="34" charset="-120"/>
              </a:rPr>
              <a:t>câu chấm đúng bị sai</a:t>
            </a:r>
            <a:endParaRPr lang="en-US" sz="1667" dirty="0"/>
          </a:p>
        </p:txBody>
      </p:sp>
      <p:sp>
        <p:nvSpPr>
          <p:cNvPr id="8" name="Text 5"/>
          <p:cNvSpPr txBox="1"/>
          <p:nvPr/>
        </p:nvSpPr>
        <p:spPr>
          <a:xfrm>
            <a:off x="2438394" y="2218938"/>
            <a:ext cx="3291832" cy="1036317"/>
          </a:xfrm>
          <a:prstGeom prst="rect">
            <a:avLst/>
          </a:prstGeom>
          <a:noFill/>
          <a:ln/>
        </p:spPr>
        <p:txBody>
          <a:bodyPr wrap="square" lIns="0" tIns="0" rIns="0" bIns="0" rtlCol="0" anchor="t"/>
          <a:lstStyle/>
          <a:p>
            <a:pPr indent="0" marL="0">
              <a:buNone/>
            </a:pPr>
            <a:r>
              <a:rPr lang="en-US" sz="1400" dirty="0">
                <a:solidFill>
                  <a:srgbClr val="1B2B3A"/>
                </a:solidFill>
                <a:latin typeface="Calibri" pitchFamily="34" charset="0"/>
                <a:ea typeface="Calibri" pitchFamily="34" charset="-122"/>
                <a:cs typeface="Calibri" pitchFamily="34" charset="-120"/>
              </a:rPr>
              <a:t>Soi ngẫu nhiên trong nhóm được chấm đúng. Không có câu nào được cho điểm oan.</a:t>
            </a:r>
            <a:endParaRPr lang="en-US" sz="1400" dirty="0"/>
          </a:p>
        </p:txBody>
      </p:sp>
      <p:sp>
        <p:nvSpPr>
          <p:cNvPr id="9" name="Shape 6"/>
          <p:cNvSpPr/>
          <p:nvPr/>
        </p:nvSpPr>
        <p:spPr>
          <a:xfrm>
            <a:off x="6156945" y="1584956"/>
            <a:ext cx="5425426" cy="1584956"/>
          </a:xfrm>
          <a:prstGeom prst="rect">
            <a:avLst/>
          </a:prstGeom>
          <a:solidFill>
            <a:srgbClr val="FFFFFF"/>
          </a:solidFill>
          <a:ln w="9525">
            <a:solidFill>
              <a:srgbClr val="DCE3EA"/>
            </a:solidFill>
            <a:prstDash val="solid"/>
          </a:ln>
        </p:spPr>
      </p:sp>
      <p:sp>
        <p:nvSpPr>
          <p:cNvPr id="10" name="Text 7"/>
          <p:cNvSpPr txBox="1"/>
          <p:nvPr/>
        </p:nvSpPr>
        <p:spPr>
          <a:xfrm>
            <a:off x="6339824" y="1767836"/>
            <a:ext cx="1645916" cy="914398"/>
          </a:xfrm>
          <a:prstGeom prst="rect">
            <a:avLst/>
          </a:prstGeom>
          <a:noFill/>
          <a:ln/>
        </p:spPr>
        <p:txBody>
          <a:bodyPr wrap="square" lIns="0" tIns="0" rIns="0" bIns="0" rtlCol="0" anchor="ctr"/>
          <a:lstStyle/>
          <a:p>
            <a:pPr algn="ctr" indent="0" marL="0">
              <a:buNone/>
            </a:pPr>
            <a:r>
              <a:rPr lang="en-US" sz="4000" b="1" dirty="0">
                <a:solidFill>
                  <a:srgbClr val="F2A541"/>
                </a:solidFill>
                <a:latin typeface="Cambria" pitchFamily="34" charset="0"/>
                <a:ea typeface="Cambria" pitchFamily="34" charset="-122"/>
                <a:cs typeface="Cambria" pitchFamily="34" charset="-120"/>
              </a:rPr>
              <a:t>2/28</a:t>
            </a:r>
            <a:endParaRPr lang="en-US" sz="4000" dirty="0"/>
          </a:p>
        </p:txBody>
      </p:sp>
      <p:sp>
        <p:nvSpPr>
          <p:cNvPr id="11" name="Text 8"/>
          <p:cNvSpPr txBox="1"/>
          <p:nvPr/>
        </p:nvSpPr>
        <p:spPr>
          <a:xfrm>
            <a:off x="8107660" y="1731260"/>
            <a:ext cx="3291832" cy="487679"/>
          </a:xfrm>
          <a:prstGeom prst="rect">
            <a:avLst/>
          </a:prstGeom>
          <a:noFill/>
          <a:ln/>
        </p:spPr>
        <p:txBody>
          <a:bodyPr wrap="square" lIns="0" tIns="0" rIns="0" bIns="0" rtlCol="0" anchor="ctr"/>
          <a:lstStyle/>
          <a:p>
            <a:pPr indent="0" marL="0">
              <a:buNone/>
            </a:pPr>
            <a:r>
              <a:rPr lang="en-US" sz="1667" b="1" dirty="0">
                <a:solidFill>
                  <a:srgbClr val="10243E"/>
                </a:solidFill>
                <a:latin typeface="Calibri" pitchFamily="34" charset="0"/>
                <a:ea typeface="Calibri" pitchFamily="34" charset="-122"/>
                <a:cs typeface="Calibri" pitchFamily="34" charset="-120"/>
              </a:rPr>
              <a:t>câu chấm sai đáng ngờ</a:t>
            </a:r>
            <a:endParaRPr lang="en-US" sz="1667" dirty="0"/>
          </a:p>
        </p:txBody>
      </p:sp>
      <p:sp>
        <p:nvSpPr>
          <p:cNvPr id="12" name="Text 9"/>
          <p:cNvSpPr txBox="1"/>
          <p:nvPr/>
        </p:nvSpPr>
        <p:spPr>
          <a:xfrm>
            <a:off x="8107660" y="2218938"/>
            <a:ext cx="3291832" cy="1036317"/>
          </a:xfrm>
          <a:prstGeom prst="rect">
            <a:avLst/>
          </a:prstGeom>
          <a:noFill/>
          <a:ln/>
        </p:spPr>
        <p:txBody>
          <a:bodyPr wrap="square" lIns="0" tIns="0" rIns="0" bIns="0" rtlCol="0" anchor="t"/>
          <a:lstStyle/>
          <a:p>
            <a:pPr indent="0" marL="0">
              <a:buNone/>
            </a:pPr>
            <a:r>
              <a:rPr lang="en-US" sz="1400" dirty="0">
                <a:solidFill>
                  <a:srgbClr val="1B2B3A"/>
                </a:solidFill>
                <a:latin typeface="Calibri" pitchFamily="34" charset="0"/>
                <a:ea typeface="Calibri" pitchFamily="34" charset="-122"/>
                <a:cs typeface="Calibri" pitchFamily="34" charset="-120"/>
              </a:rPr>
              <a:t>Soi toàn bộ nhóm bị chấm sai. Hai câu dưới đây nhóm thấy nên tính đúng.</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87679" y="3352792"/>
          <a:ext cx="11094692" cy="914400"/>
        </p:xfrm>
        <a:graphic>
          <a:graphicData uri="http://schemas.openxmlformats.org/drawingml/2006/table">
            <a:tbl>
              <a:tblPr/>
              <a:tblGrid>
                <a:gridCol w="3291832"/>
                <a:gridCol w="3657591"/>
                <a:gridCol w="4145270"/>
              </a:tblGrid>
              <a:tr h="87782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Đáp án gốc</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1F6F8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Hệ trả lời</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1F6F8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Vì sao nhóm thấy đáng ngờ</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1F6F8B"/>
                    </a:solidFill>
                  </a:tcPr>
                </a:tc>
              </a:tr>
              <a:tr h="877822">
                <a:tc>
                  <a:txBody>
                    <a:bodyPr/>
                    <a:lstStyle/>
                    <a:p>
                      <a:pPr indent="0" marL="0">
                        <a:buNone/>
                      </a:pPr>
                      <a:r>
                        <a:rPr lang="en-US" sz="1200" dirty="0">
                          <a:solidFill>
                            <a:srgbClr val="1B2B3A"/>
                          </a:solidFill>
                          <a:latin typeface="Calibri" pitchFamily="34" charset="0"/>
                          <a:ea typeface="Calibri" pitchFamily="34" charset="-122"/>
                          <a:cs typeface="Calibri" pitchFamily="34" charset="-120"/>
                        </a:rPr>
                        <a:t>Đáp án là một rubric: câu trả lời cần xét tới ảnh hưởng của con mèo Luna và việc nó rụng lông.</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200" dirty="0">
                          <a:solidFill>
                            <a:srgbClr val="1B2B3A"/>
                          </a:solidFill>
                          <a:latin typeface="Calibri" pitchFamily="34" charset="0"/>
                          <a:ea typeface="Calibri" pitchFamily="34" charset="-122"/>
                          <a:cs typeface="Calibri" pitchFamily="34" charset="-120"/>
                        </a:rPr>
                        <a:t>Yes, it could be. Your cat sheds heavily, so the living room may contain cat hair and dander…</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200" dirty="0">
                          <a:solidFill>
                            <a:srgbClr val="1B2B3A"/>
                          </a:solidFill>
                          <a:latin typeface="Calibri" pitchFamily="34" charset="0"/>
                          <a:ea typeface="Calibri" pitchFamily="34" charset="-122"/>
                          <a:cs typeface="Calibri" pitchFamily="34" charset="-120"/>
                        </a:rPr>
                        <a:t>Câu trả lời đã nhắc đúng việc mèo rụng lông, tức là đáp ứng rubric, nhưng vẫn bị chấm sai.</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r>
              <a:tr h="877822">
                <a:tc>
                  <a:txBody>
                    <a:bodyPr/>
                    <a:lstStyle/>
                    <a:p>
                      <a:pPr indent="0" marL="0">
                        <a:buNone/>
                      </a:pPr>
                      <a:r>
                        <a:rPr lang="en-US" sz="1200" dirty="0">
                          <a:solidFill>
                            <a:srgbClr val="1B2B3A"/>
                          </a:solidFill>
                          <a:latin typeface="Calibri" pitchFamily="34" charset="0"/>
                          <a:ea typeface="Calibri" pitchFamily="34" charset="-122"/>
                          <a:cs typeface="Calibri" pitchFamily="34" charset="-120"/>
                        </a:rPr>
                        <a:t>19 days ago. 20 days (including the last day) is also acceptable.</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200" dirty="0">
                          <a:solidFill>
                            <a:srgbClr val="1B2B3A"/>
                          </a:solidFill>
                          <a:latin typeface="Calibri" pitchFamily="34" charset="0"/>
                          <a:ea typeface="Calibri" pitchFamily="34" charset="-122"/>
                          <a:cs typeface="Calibri" pitchFamily="34" charset="-120"/>
                        </a:rPr>
                        <a:t>You launched your website 19 days before signing your first-client contract (February 10 to March 1, 2023). As of March 25, 2023, that…</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200" dirty="0">
                          <a:solidFill>
                            <a:srgbClr val="1B2B3A"/>
                          </a:solidFill>
                          <a:latin typeface="Calibri" pitchFamily="34" charset="0"/>
                          <a:ea typeface="Calibri" pitchFamily="34" charset="-122"/>
                          <a:cs typeface="Calibri" pitchFamily="34" charset="-120"/>
                        </a:rPr>
                        <a:t>Câu trả lời có nêu đúng con số 19 ngày. Nhưng nó nói thêm '43 days ago' ở cuối, nên có thể bị hiểu là đáp án cuối cùng là 43. Trường hợp này thật sự mập mờ.</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r>
            </a:tbl>
          </a:graphicData>
        </a:graphic>
      </p:graphicFrame>
      <p:sp>
        <p:nvSpPr>
          <p:cNvPr id="14" name="Shape 10"/>
          <p:cNvSpPr/>
          <p:nvPr/>
        </p:nvSpPr>
        <p:spPr>
          <a:xfrm>
            <a:off x="487679" y="6120369"/>
            <a:ext cx="11094692" cy="585215"/>
          </a:xfrm>
          <a:prstGeom prst="rect">
            <a:avLst/>
          </a:prstGeom>
          <a:solidFill>
            <a:srgbClr val="E7F0F4"/>
          </a:solidFill>
          <a:ln w="9525">
            <a:solidFill>
              <a:srgbClr val="DCE3EA"/>
            </a:solidFill>
            <a:prstDash val="solid"/>
          </a:ln>
        </p:spPr>
      </p:sp>
      <p:sp>
        <p:nvSpPr>
          <p:cNvPr id="15" name="Text 11"/>
          <p:cNvSpPr txBox="1"/>
          <p:nvPr/>
        </p:nvSpPr>
        <p:spPr>
          <a:xfrm>
            <a:off x="731518" y="6144753"/>
            <a:ext cx="10607013" cy="536447"/>
          </a:xfrm>
          <a:prstGeom prst="rect">
            <a:avLst/>
          </a:prstGeom>
          <a:noFill/>
          <a:ln/>
        </p:spPr>
        <p:txBody>
          <a:bodyPr wrap="square" lIns="0" tIns="0" rIns="0" bIns="0" rtlCol="0" anchor="ctr"/>
          <a:lstStyle/>
          <a:p>
            <a:pPr indent="0" marL="0">
              <a:buNone/>
            </a:pPr>
            <a:r>
              <a:rPr lang="en-US" sz="1400" b="1" dirty="0">
                <a:solidFill>
                  <a:srgbClr val="10243E"/>
                </a:solidFill>
                <a:latin typeface="Calibri" pitchFamily="34" charset="0"/>
                <a:ea typeface="Calibri" pitchFamily="34" charset="-122"/>
                <a:cs typeface="Calibri" pitchFamily="34" charset="-120"/>
              </a:rPr>
              <a:t>Vì vậy: </a:t>
            </a:r>
            <a:pPr indent="0" marL="0">
              <a:buNone/>
            </a:pPr>
            <a:r>
              <a:rPr lang="en-US" sz="1400" dirty="0">
                <a:solidFill>
                  <a:srgbClr val="1B2B3A"/>
                </a:solidFill>
                <a:latin typeface="Calibri" pitchFamily="34" charset="0"/>
                <a:ea typeface="Calibri" pitchFamily="34" charset="-122"/>
                <a:cs typeface="Calibri" pitchFamily="34" charset="-120"/>
              </a:rPr>
              <a:t>giữ nguyên kế hoạch chấm 3 lần lấy trung bình, và dùng đúng một model chấm cho cả LightMem lẫn APEX-MEM để sai lệch này triệt tiêu khi so sánh.</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2">
    <p:bg>
      <p:bgPr>
        <a:solidFill>
          <a:srgbClr val="F7F9FB"/>
        </a:solidFill>
      </p:bgPr>
    </p:bg>
    <p:spTree>
      <p:nvGrpSpPr>
        <p:cNvPr id="1" name=""/>
        <p:cNvGrpSpPr/>
        <p:nvPr/>
      </p:nvGrpSpPr>
      <p:grpSpPr>
        <a:xfrm>
          <a:off x="0" y="0"/>
          <a:ext cx="0" cy="0"/>
          <a:chOff x="0" y="0"/>
          <a:chExt cx="0" cy="0"/>
        </a:xfrm>
      </p:grpSpPr>
      <p:sp>
        <p:nvSpPr>
          <p:cNvPr id="2" name="Text 0"/>
          <p:cNvSpPr txBox="1"/>
          <p:nvPr/>
        </p:nvSpPr>
        <p:spPr>
          <a:xfrm>
            <a:off x="609598" y="365759"/>
            <a:ext cx="10972773" cy="365759"/>
          </a:xfrm>
          <a:prstGeom prst="rect">
            <a:avLst/>
          </a:prstGeom>
          <a:noFill/>
          <a:ln/>
        </p:spPr>
        <p:txBody>
          <a:bodyPr wrap="square" lIns="0" tIns="0" rIns="0" bIns="0" rtlCol="0" anchor="ctr"/>
          <a:lstStyle/>
          <a:p>
            <a:pPr indent="0" marL="0">
              <a:buNone/>
            </a:pPr>
            <a:r>
              <a:rPr lang="en-US" sz="1467" b="1" dirty="0">
                <a:solidFill>
                  <a:srgbClr val="1F6F8B"/>
                </a:solidFill>
                <a:latin typeface="Calibri" pitchFamily="34" charset="0"/>
                <a:ea typeface="Calibri" pitchFamily="34" charset="-122"/>
                <a:cs typeface="Calibri" pitchFamily="34" charset="-120"/>
              </a:rPr>
              <a:t>CHI PHÍ VÀ THỜI GIAN</a:t>
            </a:r>
            <a:endParaRPr lang="en-US" sz="1467" dirty="0"/>
          </a:p>
        </p:txBody>
      </p:sp>
      <p:sp>
        <p:nvSpPr>
          <p:cNvPr id="3" name="Text 1"/>
          <p:cNvSpPr txBox="1"/>
          <p:nvPr/>
        </p:nvSpPr>
        <p:spPr>
          <a:xfrm>
            <a:off x="609598" y="670558"/>
            <a:ext cx="10972773" cy="731518"/>
          </a:xfrm>
          <a:prstGeom prst="rect">
            <a:avLst/>
          </a:prstGeom>
          <a:noFill/>
          <a:ln/>
        </p:spPr>
        <p:txBody>
          <a:bodyPr wrap="square" lIns="0" tIns="0" rIns="0" bIns="0" rtlCol="0" anchor="ctr"/>
          <a:lstStyle/>
          <a:p>
            <a:pPr indent="0" marL="0">
              <a:buNone/>
            </a:pPr>
            <a:r>
              <a:rPr lang="en-US" sz="3467" b="1" dirty="0">
                <a:solidFill>
                  <a:srgbClr val="10243E"/>
                </a:solidFill>
                <a:latin typeface="Cambria" pitchFamily="34" charset="0"/>
                <a:ea typeface="Cambria" pitchFamily="34" charset="-122"/>
                <a:cs typeface="Cambria" pitchFamily="34" charset="-120"/>
              </a:rPr>
              <a:t>Cả hai hệ đều tốn nhất ở bước dựng bộ nhớ</a:t>
            </a:r>
            <a:endParaRPr lang="en-US" sz="3467"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09598" y="1584956"/>
          <a:ext cx="10972773" cy="914400"/>
        </p:xfrm>
        <a:graphic>
          <a:graphicData uri="http://schemas.openxmlformats.org/drawingml/2006/table">
            <a:tbl>
              <a:tblPr/>
              <a:tblGrid>
                <a:gridCol w="4145270"/>
                <a:gridCol w="3169912"/>
                <a:gridCol w="3657591"/>
              </a:tblGrid>
              <a:tr h="512063">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Mỗi câu hỏi</a:t>
                      </a:r>
                      <a:endParaRPr lang="en-US" sz="16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1F6F8B"/>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LightMem</a:t>
                      </a:r>
                      <a:endParaRPr lang="en-US" sz="16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1F6F8B"/>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APEX-MEM</a:t>
                      </a:r>
                      <a:endParaRPr lang="en-US" sz="16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1F6F8B"/>
                    </a:solidFill>
                  </a:tcPr>
                </a:tc>
              </a:tr>
              <a:tr h="512063">
                <a:tc>
                  <a:txBody>
                    <a:bodyPr/>
                    <a:lstStyle/>
                    <a:p>
                      <a:pPr indent="0" marL="0">
                        <a:buNone/>
                      </a:pPr>
                      <a:r>
                        <a:rPr lang="en-US" sz="1600" dirty="0">
                          <a:solidFill>
                            <a:srgbClr val="1B2B3A"/>
                          </a:solidFill>
                          <a:latin typeface="Calibri" pitchFamily="34" charset="0"/>
                          <a:ea typeface="Calibri" pitchFamily="34" charset="-122"/>
                          <a:cs typeface="Calibri" pitchFamily="34" charset="-120"/>
                        </a:rPr>
                        <a:t>Dựng bộ nhớ, trung vị</a:t>
                      </a:r>
                      <a:endParaRPr lang="en-US" sz="16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algn="ctr" indent="0" marL="0">
                        <a:buNone/>
                      </a:pPr>
                      <a:r>
                        <a:rPr lang="en-US" sz="1600" dirty="0">
                          <a:solidFill>
                            <a:srgbClr val="1B2B3A"/>
                          </a:solidFill>
                          <a:latin typeface="Calibri" pitchFamily="34" charset="0"/>
                          <a:ea typeface="Calibri" pitchFamily="34" charset="-122"/>
                          <a:cs typeface="Calibri" pitchFamily="34" charset="-120"/>
                        </a:rPr>
                        <a:t>33 phút</a:t>
                      </a:r>
                      <a:endParaRPr lang="en-US" sz="16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algn="ctr" indent="0" marL="0">
                        <a:buNone/>
                      </a:pPr>
                      <a:r>
                        <a:rPr lang="en-US" sz="1600" dirty="0">
                          <a:solidFill>
                            <a:srgbClr val="1B2B3A"/>
                          </a:solidFill>
                          <a:latin typeface="Calibri" pitchFamily="34" charset="0"/>
                          <a:ea typeface="Calibri" pitchFamily="34" charset="-122"/>
                          <a:cs typeface="Calibri" pitchFamily="34" charset="-120"/>
                        </a:rPr>
                        <a:t>7,1 phút</a:t>
                      </a:r>
                      <a:endParaRPr lang="en-US" sz="16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r>
              <a:tr h="512063">
                <a:tc>
                  <a:txBody>
                    <a:bodyPr/>
                    <a:lstStyle/>
                    <a:p>
                      <a:pPr indent="0" marL="0">
                        <a:buNone/>
                      </a:pPr>
                      <a:r>
                        <a:rPr lang="en-US" sz="1600" dirty="0">
                          <a:solidFill>
                            <a:srgbClr val="1B2B3A"/>
                          </a:solidFill>
                          <a:latin typeface="Calibri" pitchFamily="34" charset="0"/>
                          <a:ea typeface="Calibri" pitchFamily="34" charset="-122"/>
                          <a:cs typeface="Calibri" pitchFamily="34" charset="-120"/>
                        </a:rPr>
                        <a:t>Dựng bộ nhớ, p95</a:t>
                      </a:r>
                      <a:endParaRPr lang="en-US" sz="16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algn="ctr" indent="0" marL="0">
                        <a:buNone/>
                      </a:pPr>
                      <a:r>
                        <a:rPr lang="en-US" sz="1600" dirty="0">
                          <a:solidFill>
                            <a:srgbClr val="1B2B3A"/>
                          </a:solidFill>
                          <a:latin typeface="Calibri" pitchFamily="34" charset="0"/>
                          <a:ea typeface="Calibri" pitchFamily="34" charset="-122"/>
                          <a:cs typeface="Calibri" pitchFamily="34" charset="-120"/>
                        </a:rPr>
                        <a:t>57 phút</a:t>
                      </a:r>
                      <a:endParaRPr lang="en-US" sz="16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algn="ctr" indent="0" marL="0">
                        <a:buNone/>
                      </a:pPr>
                      <a:r>
                        <a:rPr lang="en-US" sz="1600" dirty="0">
                          <a:solidFill>
                            <a:srgbClr val="1B2B3A"/>
                          </a:solidFill>
                          <a:latin typeface="Calibri" pitchFamily="34" charset="0"/>
                          <a:ea typeface="Calibri" pitchFamily="34" charset="-122"/>
                          <a:cs typeface="Calibri" pitchFamily="34" charset="-120"/>
                        </a:rPr>
                        <a:t>23,1 phút</a:t>
                      </a:r>
                      <a:endParaRPr lang="en-US" sz="16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r>
              <a:tr h="512063">
                <a:tc>
                  <a:txBody>
                    <a:bodyPr/>
                    <a:lstStyle/>
                    <a:p>
                      <a:pPr indent="0" marL="0">
                        <a:buNone/>
                      </a:pPr>
                      <a:r>
                        <a:rPr lang="en-US" sz="1600" dirty="0">
                          <a:solidFill>
                            <a:srgbClr val="1B2B3A"/>
                          </a:solidFill>
                          <a:latin typeface="Calibri" pitchFamily="34" charset="0"/>
                          <a:ea typeface="Calibri" pitchFamily="34" charset="-122"/>
                          <a:cs typeface="Calibri" pitchFamily="34" charset="-120"/>
                        </a:rPr>
                        <a:t>Trả lời, trung vị</a:t>
                      </a:r>
                      <a:endParaRPr lang="en-US" sz="16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algn="ctr" indent="0" marL="0">
                        <a:buNone/>
                      </a:pPr>
                      <a:r>
                        <a:rPr lang="en-US" sz="1600" dirty="0">
                          <a:solidFill>
                            <a:srgbClr val="1B2B3A"/>
                          </a:solidFill>
                          <a:latin typeface="Calibri" pitchFamily="34" charset="0"/>
                          <a:ea typeface="Calibri" pitchFamily="34" charset="-122"/>
                          <a:cs typeface="Calibri" pitchFamily="34" charset="-120"/>
                        </a:rPr>
                        <a:t>3,3 giây</a:t>
                      </a:r>
                      <a:endParaRPr lang="en-US" sz="16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algn="ctr" indent="0" marL="0">
                        <a:buNone/>
                      </a:pPr>
                      <a:r>
                        <a:rPr lang="en-US" sz="1600" dirty="0">
                          <a:solidFill>
                            <a:srgbClr val="1B2B3A"/>
                          </a:solidFill>
                          <a:latin typeface="Calibri" pitchFamily="34" charset="0"/>
                          <a:ea typeface="Calibri" pitchFamily="34" charset="-122"/>
                          <a:cs typeface="Calibri" pitchFamily="34" charset="-120"/>
                        </a:rPr>
                        <a:t>33,2 giây</a:t>
                      </a:r>
                      <a:endParaRPr lang="en-US" sz="16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r>
              <a:tr h="512063">
                <a:tc>
                  <a:txBody>
                    <a:bodyPr/>
                    <a:lstStyle/>
                    <a:p>
                      <a:pPr indent="0" marL="0">
                        <a:buNone/>
                      </a:pPr>
                      <a:r>
                        <a:rPr lang="en-US" sz="1600" dirty="0">
                          <a:solidFill>
                            <a:srgbClr val="1B2B3A"/>
                          </a:solidFill>
                          <a:latin typeface="Calibri" pitchFamily="34" charset="0"/>
                          <a:ea typeface="Calibri" pitchFamily="34" charset="-122"/>
                          <a:cs typeface="Calibri" pitchFamily="34" charset="-120"/>
                        </a:rPr>
                        <a:t>Lời gọi LLM khi dựng</a:t>
                      </a:r>
                      <a:endParaRPr lang="en-US" sz="16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algn="ctr" indent="0" marL="0">
                        <a:buNone/>
                      </a:pPr>
                      <a:r>
                        <a:rPr lang="en-US" sz="1600" dirty="0">
                          <a:solidFill>
                            <a:srgbClr val="5B6B7A"/>
                          </a:solidFill>
                          <a:latin typeface="Calibri" pitchFamily="34" charset="0"/>
                          <a:ea typeface="Calibri" pitchFamily="34" charset="-122"/>
                          <a:cs typeface="Calibri" pitchFamily="34" charset="-120"/>
                        </a:rPr>
                        <a:t>chưa ghi</a:t>
                      </a:r>
                      <a:endParaRPr lang="en-US" sz="16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algn="ctr" indent="0" marL="0">
                        <a:buNone/>
                      </a:pPr>
                      <a:r>
                        <a:rPr lang="en-US" sz="1600" dirty="0">
                          <a:solidFill>
                            <a:srgbClr val="1B2B3A"/>
                          </a:solidFill>
                          <a:latin typeface="Calibri" pitchFamily="34" charset="0"/>
                          <a:ea typeface="Calibri" pitchFamily="34" charset="-122"/>
                          <a:cs typeface="Calibri" pitchFamily="34" charset="-120"/>
                        </a:rPr>
                        <a:t>22,4</a:t>
                      </a:r>
                      <a:endParaRPr lang="en-US" sz="16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r>
              <a:tr h="512063">
                <a:tc>
                  <a:txBody>
                    <a:bodyPr/>
                    <a:lstStyle/>
                    <a:p>
                      <a:pPr indent="0" marL="0">
                        <a:buNone/>
                      </a:pPr>
                      <a:r>
                        <a:rPr lang="en-US" sz="1600" dirty="0">
                          <a:solidFill>
                            <a:srgbClr val="1B2B3A"/>
                          </a:solidFill>
                          <a:latin typeface="Calibri" pitchFamily="34" charset="0"/>
                          <a:ea typeface="Calibri" pitchFamily="34" charset="-122"/>
                          <a:cs typeface="Calibri" pitchFamily="34" charset="-120"/>
                        </a:rPr>
                        <a:t>Token khi dựng</a:t>
                      </a:r>
                      <a:endParaRPr lang="en-US" sz="16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algn="ctr" indent="0" marL="0">
                        <a:buNone/>
                      </a:pPr>
                      <a:r>
                        <a:rPr lang="en-US" sz="1600" dirty="0">
                          <a:solidFill>
                            <a:srgbClr val="5B6B7A"/>
                          </a:solidFill>
                          <a:latin typeface="Calibri" pitchFamily="34" charset="0"/>
                          <a:ea typeface="Calibri" pitchFamily="34" charset="-122"/>
                          <a:cs typeface="Calibri" pitchFamily="34" charset="-120"/>
                        </a:rPr>
                        <a:t>chưa ghi</a:t>
                      </a:r>
                      <a:endParaRPr lang="en-US" sz="16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algn="ctr" indent="0" marL="0">
                        <a:buNone/>
                      </a:pPr>
                      <a:r>
                        <a:rPr lang="en-US" sz="1600" dirty="0">
                          <a:solidFill>
                            <a:srgbClr val="1B2B3A"/>
                          </a:solidFill>
                          <a:latin typeface="Calibri" pitchFamily="34" charset="0"/>
                          <a:ea typeface="Calibri" pitchFamily="34" charset="-122"/>
                          <a:cs typeface="Calibri" pitchFamily="34" charset="-120"/>
                        </a:rPr>
                        <a:t>89.172 (88,1% tổng)</a:t>
                      </a:r>
                      <a:endParaRPr lang="en-US" sz="16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r>
              <a:tr h="512063">
                <a:tc>
                  <a:txBody>
                    <a:bodyPr/>
                    <a:lstStyle/>
                    <a:p>
                      <a:pPr indent="0" marL="0">
                        <a:buNone/>
                      </a:pPr>
                      <a:r>
                        <a:rPr lang="en-US" sz="1600" dirty="0">
                          <a:solidFill>
                            <a:srgbClr val="1B2B3A"/>
                          </a:solidFill>
                          <a:latin typeface="Calibri" pitchFamily="34" charset="0"/>
                          <a:ea typeface="Calibri" pitchFamily="34" charset="-122"/>
                          <a:cs typeface="Calibri" pitchFamily="34" charset="-120"/>
                        </a:rPr>
                        <a:t>Token khi trả lời</a:t>
                      </a:r>
                      <a:endParaRPr lang="en-US" sz="16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algn="ctr" indent="0" marL="0">
                        <a:buNone/>
                      </a:pPr>
                      <a:r>
                        <a:rPr lang="en-US" sz="1600" dirty="0">
                          <a:solidFill>
                            <a:srgbClr val="5B6B7A"/>
                          </a:solidFill>
                          <a:latin typeface="Calibri" pitchFamily="34" charset="0"/>
                          <a:ea typeface="Calibri" pitchFamily="34" charset="-122"/>
                          <a:cs typeface="Calibri" pitchFamily="34" charset="-120"/>
                        </a:rPr>
                        <a:t>chưa ghi</a:t>
                      </a:r>
                      <a:endParaRPr lang="en-US" sz="16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algn="ctr" indent="0" marL="0">
                        <a:buNone/>
                      </a:pPr>
                      <a:r>
                        <a:rPr lang="en-US" sz="1600" dirty="0">
                          <a:solidFill>
                            <a:srgbClr val="1B2B3A"/>
                          </a:solidFill>
                          <a:latin typeface="Calibri" pitchFamily="34" charset="0"/>
                          <a:ea typeface="Calibri" pitchFamily="34" charset="-122"/>
                          <a:cs typeface="Calibri" pitchFamily="34" charset="-120"/>
                        </a:rPr>
                        <a:t>12.036</a:t>
                      </a:r>
                      <a:endParaRPr lang="en-US" sz="16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r>
            </a:tbl>
          </a:graphicData>
        </a:graphic>
      </p:graphicFrame>
      <p:sp>
        <p:nvSpPr>
          <p:cNvPr id="6" name="Text 2"/>
          <p:cNvSpPr txBox="1"/>
          <p:nvPr/>
        </p:nvSpPr>
        <p:spPr>
          <a:xfrm>
            <a:off x="609598" y="5303507"/>
            <a:ext cx="10972773" cy="1341117"/>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1B2B3A"/>
                </a:solidFill>
                <a:latin typeface="Calibri" pitchFamily="34" charset="0"/>
                <a:ea typeface="Calibri" pitchFamily="34" charset="-122"/>
                <a:cs typeface="Calibri" pitchFamily="34" charset="-120"/>
              </a:rPr>
              <a:t>Thời gian đo khi chạy song song khác nhau (LightMem 5–9 luồng, APEX-MEM 2–8 luồng) và bị hạn mức tài khoản làm chậm: chỉ để tham khảo, không dùng để nói hệ nào nhanh hơn.</a:t>
            </a:r>
            <a:endParaRPr lang="en-US" sz="1400" dirty="0"/>
          </a:p>
          <a:p>
            <a:pPr marL="342900" indent="-342900">
              <a:spcAft>
                <a:spcPts val="500"/>
              </a:spcAft>
              <a:buSzPct val="100000"/>
              <a:buChar char="•"/>
            </a:pPr>
            <a:r>
              <a:rPr lang="en-US" sz="1400" dirty="0">
                <a:solidFill>
                  <a:srgbClr val="1B2B3A"/>
                </a:solidFill>
                <a:latin typeface="Calibri" pitchFamily="34" charset="0"/>
                <a:ea typeface="Calibri" pitchFamily="34" charset="-122"/>
                <a:cs typeface="Calibri" pitchFamily="34" charset="-120"/>
              </a:rPr>
              <a:t>LightMem chưa có số token: script không ghi lại, và 9router chèn thêm khoảng 2.500 token vào mỗi lời gọi nên số đếm qua router bị phình.</a:t>
            </a:r>
            <a:endParaRPr lang="en-US" sz="1400" dirty="0"/>
          </a:p>
          <a:p>
            <a:pPr marL="342900" indent="-342900">
              <a:spcAft>
                <a:spcPts val="500"/>
              </a:spcAft>
              <a:buSzPct val="100000"/>
              <a:buChar char="•"/>
            </a:pPr>
            <a:r>
              <a:rPr lang="en-US" sz="1400" dirty="0">
                <a:solidFill>
                  <a:srgbClr val="1B2B3A"/>
                </a:solidFill>
                <a:latin typeface="Calibri" pitchFamily="34" charset="0"/>
                <a:ea typeface="Calibri" pitchFamily="34" charset="-122"/>
                <a:cs typeface="Calibri" pitchFamily="34" charset="-120"/>
              </a:rPr>
              <a:t>APEX-MEM phục vụ đúng model: 3.998 lời gọi luna và 150 lời gọi terra (chấm), không có model nào bị đổi lén.</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3">
    <p:bg>
      <p:bgPr>
        <a:solidFill>
          <a:srgbClr val="F7F9FB"/>
        </a:solidFill>
      </p:bgPr>
    </p:bg>
    <p:spTree>
      <p:nvGrpSpPr>
        <p:cNvPr id="1" name=""/>
        <p:cNvGrpSpPr/>
        <p:nvPr/>
      </p:nvGrpSpPr>
      <p:grpSpPr>
        <a:xfrm>
          <a:off x="0" y="0"/>
          <a:ext cx="0" cy="0"/>
          <a:chOff x="0" y="0"/>
          <a:chExt cx="0" cy="0"/>
        </a:xfrm>
      </p:grpSpPr>
      <p:sp>
        <p:nvSpPr>
          <p:cNvPr id="2" name="Text 0"/>
          <p:cNvSpPr txBox="1"/>
          <p:nvPr/>
        </p:nvSpPr>
        <p:spPr>
          <a:xfrm>
            <a:off x="609598" y="365759"/>
            <a:ext cx="10972773" cy="365759"/>
          </a:xfrm>
          <a:prstGeom prst="rect">
            <a:avLst/>
          </a:prstGeom>
          <a:noFill/>
          <a:ln/>
        </p:spPr>
        <p:txBody>
          <a:bodyPr wrap="square" lIns="0" tIns="0" rIns="0" bIns="0" rtlCol="0" anchor="ctr"/>
          <a:lstStyle/>
          <a:p>
            <a:pPr indent="0" marL="0">
              <a:buNone/>
            </a:pPr>
            <a:r>
              <a:rPr lang="en-US" sz="1467" b="1" dirty="0">
                <a:solidFill>
                  <a:srgbClr val="1F6F8B"/>
                </a:solidFill>
                <a:latin typeface="Calibri" pitchFamily="34" charset="0"/>
                <a:ea typeface="Calibri" pitchFamily="34" charset="-122"/>
                <a:cs typeface="Calibri" pitchFamily="34" charset="-120"/>
              </a:rPr>
              <a:t>SỰ CỐ KỸ THUẬT</a:t>
            </a:r>
            <a:endParaRPr lang="en-US" sz="1467" dirty="0"/>
          </a:p>
        </p:txBody>
      </p:sp>
      <p:sp>
        <p:nvSpPr>
          <p:cNvPr id="3" name="Text 1"/>
          <p:cNvSpPr txBox="1"/>
          <p:nvPr/>
        </p:nvSpPr>
        <p:spPr>
          <a:xfrm>
            <a:off x="609598" y="670558"/>
            <a:ext cx="10972773" cy="731518"/>
          </a:xfrm>
          <a:prstGeom prst="rect">
            <a:avLst/>
          </a:prstGeom>
          <a:noFill/>
          <a:ln/>
        </p:spPr>
        <p:txBody>
          <a:bodyPr wrap="square" lIns="0" tIns="0" rIns="0" bIns="0" rtlCol="0" anchor="ctr"/>
          <a:lstStyle/>
          <a:p>
            <a:pPr indent="0" marL="0">
              <a:buNone/>
            </a:pPr>
            <a:r>
              <a:rPr lang="en-US" sz="3467" b="1" dirty="0">
                <a:solidFill>
                  <a:srgbClr val="10243E"/>
                </a:solidFill>
                <a:latin typeface="Cambria" pitchFamily="34" charset="0"/>
                <a:ea typeface="Cambria" pitchFamily="34" charset="-122"/>
                <a:cs typeface="Cambria" pitchFamily="34" charset="-120"/>
              </a:rPr>
              <a:t>Sự cố gặp phải và cách xử lý</a:t>
            </a:r>
            <a:endParaRPr lang="en-US" sz="3467"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09598" y="1706876"/>
          <a:ext cx="10972773" cy="914400"/>
        </p:xfrm>
        <a:graphic>
          <a:graphicData uri="http://schemas.openxmlformats.org/drawingml/2006/table">
            <a:tbl>
              <a:tblPr/>
              <a:tblGrid>
                <a:gridCol w="3047992"/>
                <a:gridCol w="4145270"/>
                <a:gridCol w="3779511"/>
              </a:tblGrid>
              <a:tr h="670558">
                <a:tc>
                  <a:txBody>
                    <a:bodyPr/>
                    <a:lstStyle/>
                    <a:p>
                      <a:pPr indent="0" marL="0">
                        <a:buNone/>
                      </a:pPr>
                      <a:r>
                        <a:rPr lang="en-US" sz="1467" b="1" dirty="0">
                          <a:solidFill>
                            <a:srgbClr val="FFFFFF"/>
                          </a:solidFill>
                          <a:latin typeface="Calibri" pitchFamily="34" charset="0"/>
                          <a:ea typeface="Calibri" pitchFamily="34" charset="-122"/>
                          <a:cs typeface="Calibri" pitchFamily="34" charset="-120"/>
                        </a:rPr>
                        <a:t>Sự cố</a:t>
                      </a:r>
                      <a:endParaRPr lang="en-US" sz="1467"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1F6F8B"/>
                    </a:solidFill>
                  </a:tcPr>
                </a:tc>
                <a:tc>
                  <a:txBody>
                    <a:bodyPr/>
                    <a:lstStyle/>
                    <a:p>
                      <a:pPr indent="0" marL="0">
                        <a:buNone/>
                      </a:pPr>
                      <a:r>
                        <a:rPr lang="en-US" sz="1467" b="1" dirty="0">
                          <a:solidFill>
                            <a:srgbClr val="FFFFFF"/>
                          </a:solidFill>
                          <a:latin typeface="Calibri" pitchFamily="34" charset="0"/>
                          <a:ea typeface="Calibri" pitchFamily="34" charset="-122"/>
                          <a:cs typeface="Calibri" pitchFamily="34" charset="-120"/>
                        </a:rPr>
                        <a:t>Nguyên nhân</a:t>
                      </a:r>
                      <a:endParaRPr lang="en-US" sz="1467"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1F6F8B"/>
                    </a:solidFill>
                  </a:tcPr>
                </a:tc>
                <a:tc>
                  <a:txBody>
                    <a:bodyPr/>
                    <a:lstStyle/>
                    <a:p>
                      <a:pPr indent="0" marL="0">
                        <a:buNone/>
                      </a:pPr>
                      <a:r>
                        <a:rPr lang="en-US" sz="1467" b="1" dirty="0">
                          <a:solidFill>
                            <a:srgbClr val="FFFFFF"/>
                          </a:solidFill>
                          <a:latin typeface="Calibri" pitchFamily="34" charset="0"/>
                          <a:ea typeface="Calibri" pitchFamily="34" charset="-122"/>
                          <a:cs typeface="Calibri" pitchFamily="34" charset="-120"/>
                        </a:rPr>
                        <a:t>Cách xử lý</a:t>
                      </a:r>
                      <a:endParaRPr lang="en-US" sz="1467"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1F6F8B"/>
                    </a:solidFill>
                  </a:tcPr>
                </a:tc>
              </a:tr>
              <a:tr h="670558">
                <a:tc>
                  <a:txBody>
                    <a:bodyPr/>
                    <a:lstStyle/>
                    <a:p>
                      <a:pPr indent="0" marL="0">
                        <a:buNone/>
                      </a:pPr>
                      <a:r>
                        <a:rPr lang="en-US" sz="1467" dirty="0">
                          <a:solidFill>
                            <a:srgbClr val="1B2B3A"/>
                          </a:solidFill>
                          <a:latin typeface="Calibri" pitchFamily="34" charset="0"/>
                          <a:ea typeface="Calibri" pitchFamily="34" charset="-122"/>
                          <a:cs typeface="Calibri" pitchFamily="34" charset="-120"/>
                        </a:rPr>
                        <a:t>Script gốc không chạy</a:t>
                      </a:r>
                      <a:endParaRPr lang="en-US" sz="1467"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467" dirty="0">
                          <a:solidFill>
                            <a:srgbClr val="1B2B3A"/>
                          </a:solidFill>
                          <a:latin typeface="Calibri" pitchFamily="34" charset="0"/>
                          <a:ea typeface="Calibri" pitchFamily="34" charset="-122"/>
                          <a:cs typeface="Calibri" pitchFamily="34" charset="-120"/>
                        </a:rPr>
                        <a:t>Dùng f-string kiểu Python 3.12, môi trường là 3.11</a:t>
                      </a:r>
                      <a:endParaRPr lang="en-US" sz="1467"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467" dirty="0">
                          <a:solidFill>
                            <a:srgbClr val="1B2B3A"/>
                          </a:solidFill>
                          <a:latin typeface="Calibri" pitchFamily="34" charset="0"/>
                          <a:ea typeface="Calibri" pitchFamily="34" charset="-122"/>
                          <a:cs typeface="Calibri" pitchFamily="34" charset="-120"/>
                        </a:rPr>
                        <a:t>Viết script bọc ngoài, không sửa mã gốc</a:t>
                      </a:r>
                      <a:endParaRPr lang="en-US" sz="1467"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r>
              <a:tr h="670558">
                <a:tc>
                  <a:txBody>
                    <a:bodyPr/>
                    <a:lstStyle/>
                    <a:p>
                      <a:pPr indent="0" marL="0">
                        <a:buNone/>
                      </a:pPr>
                      <a:r>
                        <a:rPr lang="en-US" sz="1467" dirty="0">
                          <a:solidFill>
                            <a:srgbClr val="1B2B3A"/>
                          </a:solidFill>
                          <a:latin typeface="Calibri" pitchFamily="34" charset="0"/>
                          <a:ea typeface="Calibri" pitchFamily="34" charset="-122"/>
                          <a:cs typeface="Calibri" pitchFamily="34" charset="-120"/>
                        </a:rPr>
                        <a:t>Lỗi “meta tensor” khi chạy song song</a:t>
                      </a:r>
                      <a:endParaRPr lang="en-US" sz="1467"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467" dirty="0">
                          <a:solidFill>
                            <a:srgbClr val="1B2B3A"/>
                          </a:solidFill>
                          <a:latin typeface="Calibri" pitchFamily="34" charset="0"/>
                          <a:ea typeface="Calibri" pitchFamily="34" charset="-122"/>
                          <a:cs typeface="Calibri" pitchFamily="34" charset="-120"/>
                        </a:rPr>
                        <a:t>Nhiều luồng cùng nạp model, đụng nhau</a:t>
                      </a:r>
                      <a:endParaRPr lang="en-US" sz="1467"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467" dirty="0">
                          <a:solidFill>
                            <a:srgbClr val="1B2B3A"/>
                          </a:solidFill>
                          <a:latin typeface="Calibri" pitchFamily="34" charset="0"/>
                          <a:ea typeface="Calibri" pitchFamily="34" charset="-122"/>
                          <a:cs typeface="Calibri" pitchFamily="34" charset="-120"/>
                        </a:rPr>
                        <a:t>Khóa phần nạp model; mỗi luồng nạp một lần</a:t>
                      </a:r>
                      <a:endParaRPr lang="en-US" sz="1467"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r>
              <a:tr h="670558">
                <a:tc>
                  <a:txBody>
                    <a:bodyPr/>
                    <a:lstStyle/>
                    <a:p>
                      <a:pPr indent="0" marL="0">
                        <a:buNone/>
                      </a:pPr>
                      <a:r>
                        <a:rPr lang="en-US" sz="1467" dirty="0">
                          <a:solidFill>
                            <a:srgbClr val="1B2B3A"/>
                          </a:solidFill>
                          <a:latin typeface="Calibri" pitchFamily="34" charset="0"/>
                          <a:ea typeface="Calibri" pitchFamily="34" charset="-122"/>
                          <a:cs typeface="Calibri" pitchFamily="34" charset="-120"/>
                        </a:rPr>
                        <a:t>Cạn RAM (pagefile)</a:t>
                      </a:r>
                      <a:endParaRPr lang="en-US" sz="1467"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467" dirty="0">
                          <a:solidFill>
                            <a:srgbClr val="1B2B3A"/>
                          </a:solidFill>
                          <a:latin typeface="Calibri" pitchFamily="34" charset="0"/>
                          <a:ea typeface="Calibri" pitchFamily="34" charset="-122"/>
                          <a:cs typeface="Calibri" pitchFamily="34" charset="-120"/>
                        </a:rPr>
                        <a:t>Nạp lại model cho từng câu, không giải phóng kịp</a:t>
                      </a:r>
                      <a:endParaRPr lang="en-US" sz="1467"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467" dirty="0">
                          <a:solidFill>
                            <a:srgbClr val="1B2B3A"/>
                          </a:solidFill>
                          <a:latin typeface="Calibri" pitchFamily="34" charset="0"/>
                          <a:ea typeface="Calibri" pitchFamily="34" charset="-122"/>
                          <a:cs typeface="Calibri" pitchFamily="34" charset="-120"/>
                        </a:rPr>
                        <a:t>Cache model theo luồng, dọn bộ nhớ sau mỗi câu</a:t>
                      </a:r>
                      <a:endParaRPr lang="en-US" sz="1467"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r>
              <a:tr h="670558">
                <a:tc>
                  <a:txBody>
                    <a:bodyPr/>
                    <a:lstStyle/>
                    <a:p>
                      <a:pPr indent="0" marL="0">
                        <a:buNone/>
                      </a:pPr>
                      <a:r>
                        <a:rPr lang="en-US" sz="1467" dirty="0">
                          <a:solidFill>
                            <a:srgbClr val="1B2B3A"/>
                          </a:solidFill>
                          <a:latin typeface="Calibri" pitchFamily="34" charset="0"/>
                          <a:ea typeface="Calibri" pitchFamily="34" charset="-122"/>
                          <a:cs typeface="Calibri" pitchFamily="34" charset="-120"/>
                        </a:rPr>
                        <a:t>Windows chặn Python</a:t>
                      </a:r>
                      <a:endParaRPr lang="en-US" sz="1467"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467" dirty="0">
                          <a:solidFill>
                            <a:srgbClr val="1B2B3A"/>
                          </a:solidFill>
                          <a:latin typeface="Calibri" pitchFamily="34" charset="0"/>
                          <a:ea typeface="Calibri" pitchFamily="34" charset="-122"/>
                          <a:cs typeface="Calibri" pitchFamily="34" charset="-120"/>
                        </a:rPr>
                        <a:t>Smart App Control chặn file chưa ký</a:t>
                      </a:r>
                      <a:endParaRPr lang="en-US" sz="1467"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467" dirty="0">
                          <a:solidFill>
                            <a:srgbClr val="1B2B3A"/>
                          </a:solidFill>
                          <a:latin typeface="Calibri" pitchFamily="34" charset="0"/>
                          <a:ea typeface="Calibri" pitchFamily="34" charset="-122"/>
                          <a:cs typeface="Calibri" pitchFamily="34" charset="-120"/>
                        </a:rPr>
                        <a:t>Bật/tắt lại Smart App Control</a:t>
                      </a:r>
                      <a:endParaRPr lang="en-US" sz="1467"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r>
              <a:tr h="670558">
                <a:tc>
                  <a:txBody>
                    <a:bodyPr/>
                    <a:lstStyle/>
                    <a:p>
                      <a:pPr indent="0" marL="0">
                        <a:buNone/>
                      </a:pPr>
                      <a:r>
                        <a:rPr lang="en-US" sz="1467" dirty="0">
                          <a:solidFill>
                            <a:srgbClr val="1B2B3A"/>
                          </a:solidFill>
                          <a:latin typeface="Calibri" pitchFamily="34" charset="0"/>
                          <a:ea typeface="Calibri" pitchFamily="34" charset="-122"/>
                          <a:cs typeface="Calibri" pitchFamily="34" charset="-120"/>
                        </a:rPr>
                        <a:t>Hết hạn mức (429), rồi token bị thu hồi (401)</a:t>
                      </a:r>
                      <a:endParaRPr lang="en-US" sz="1467"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467" dirty="0">
                          <a:solidFill>
                            <a:srgbClr val="1B2B3A"/>
                          </a:solidFill>
                          <a:latin typeface="Calibri" pitchFamily="34" charset="0"/>
                          <a:ea typeface="Calibri" pitchFamily="34" charset="-122"/>
                          <a:cs typeface="Calibri" pitchFamily="34" charset="-120"/>
                        </a:rPr>
                        <a:t>Tài khoản gói free; chạy 8 luồng cạn nhanh, sau đó 2 token OAuth bị vô hiệu</a:t>
                      </a:r>
                      <a:endParaRPr lang="en-US" sz="1467"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467" dirty="0">
                          <a:solidFill>
                            <a:srgbClr val="1B2B3A"/>
                          </a:solidFill>
                          <a:latin typeface="Calibri" pitchFamily="34" charset="0"/>
                          <a:ea typeface="Calibri" pitchFamily="34" charset="-122"/>
                          <a:cs typeface="Calibri" pitchFamily="34" charset="-120"/>
                        </a:rPr>
                        <a:t>Giảm số luồng; đăng nhập lại từ đầu; chờ hạn mức mở lại</a:t>
                      </a:r>
                      <a:endParaRPr lang="en-US" sz="1467"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r>
              <a:tr h="670558">
                <a:tc>
                  <a:txBody>
                    <a:bodyPr/>
                    <a:lstStyle/>
                    <a:p>
                      <a:pPr indent="0" marL="0">
                        <a:buNone/>
                      </a:pPr>
                      <a:r>
                        <a:rPr lang="en-US" sz="1467" dirty="0">
                          <a:solidFill>
                            <a:srgbClr val="1B2B3A"/>
                          </a:solidFill>
                          <a:latin typeface="Calibri" pitchFamily="34" charset="0"/>
                          <a:ea typeface="Calibri" pitchFamily="34" charset="-122"/>
                          <a:cs typeface="Calibri" pitchFamily="34" charset="-120"/>
                        </a:rPr>
                        <a:t>9router tắt giữa chừng</a:t>
                      </a:r>
                      <a:endParaRPr lang="en-US" sz="1467"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467" dirty="0">
                          <a:solidFill>
                            <a:srgbClr val="1B2B3A"/>
                          </a:solidFill>
                          <a:latin typeface="Calibri" pitchFamily="34" charset="0"/>
                          <a:ea typeface="Calibri" pitchFamily="34" charset="-122"/>
                          <a:cs typeface="Calibri" pitchFamily="34" charset="-120"/>
                        </a:rPr>
                        <a:t>Chưa xác định chắc; nghi máy ngủ hoặc tiến trình bị đóng</a:t>
                      </a:r>
                      <a:endParaRPr lang="en-US" sz="1467"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467" dirty="0">
                          <a:solidFill>
                            <a:srgbClr val="1B2B3A"/>
                          </a:solidFill>
                          <a:latin typeface="Calibri" pitchFamily="34" charset="0"/>
                          <a:ea typeface="Calibri" pitchFamily="34" charset="-122"/>
                          <a:cs typeface="Calibri" pitchFamily="34" charset="-120"/>
                        </a:rPr>
                        <a:t>Chạy 9router trong terminal riêng; chạy lại lệnh cũ để tiếp tục</a:t>
                      </a:r>
                      <a:endParaRPr lang="en-US" sz="1467"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4">
    <p:bg>
      <p:bgPr>
        <a:solidFill>
          <a:srgbClr val="10243E"/>
        </a:solidFill>
      </p:bgPr>
    </p:bg>
    <p:spTree>
      <p:nvGrpSpPr>
        <p:cNvPr id="1" name=""/>
        <p:cNvGrpSpPr/>
        <p:nvPr/>
      </p:nvGrpSpPr>
      <p:grpSpPr>
        <a:xfrm>
          <a:off x="0" y="0"/>
          <a:ext cx="0" cy="0"/>
          <a:chOff x="0" y="0"/>
          <a:chExt cx="0" cy="0"/>
        </a:xfrm>
      </p:grpSpPr>
      <p:sp>
        <p:nvSpPr>
          <p:cNvPr id="2" name="Text 0"/>
          <p:cNvSpPr txBox="1"/>
          <p:nvPr/>
        </p:nvSpPr>
        <p:spPr>
          <a:xfrm>
            <a:off x="853438" y="548639"/>
            <a:ext cx="10485094" cy="914398"/>
          </a:xfrm>
          <a:prstGeom prst="rect">
            <a:avLst/>
          </a:prstGeom>
          <a:noFill/>
          <a:ln/>
        </p:spPr>
        <p:txBody>
          <a:bodyPr wrap="square" lIns="0" tIns="0" rIns="0" bIns="0" rtlCol="0" anchor="ctr"/>
          <a:lstStyle/>
          <a:p>
            <a:pPr indent="0" marL="0">
              <a:buNone/>
            </a:pPr>
            <a:r>
              <a:rPr lang="en-US" sz="3733" b="1" dirty="0">
                <a:solidFill>
                  <a:srgbClr val="FFFFFF"/>
                </a:solidFill>
                <a:latin typeface="Cambria" pitchFamily="34" charset="0"/>
                <a:ea typeface="Cambria" pitchFamily="34" charset="-122"/>
                <a:cs typeface="Cambria" pitchFamily="34" charset="-120"/>
              </a:rPr>
              <a:t>Chưa có bằng chứng APEX-MEM hơn LightMem</a:t>
            </a:r>
            <a:endParaRPr lang="en-US" sz="3733" dirty="0"/>
          </a:p>
        </p:txBody>
      </p:sp>
      <p:sp>
        <p:nvSpPr>
          <p:cNvPr id="3" name="Text 1"/>
          <p:cNvSpPr txBox="1"/>
          <p:nvPr/>
        </p:nvSpPr>
        <p:spPr>
          <a:xfrm>
            <a:off x="853438" y="1463036"/>
            <a:ext cx="10485094" cy="426719"/>
          </a:xfrm>
          <a:prstGeom prst="rect">
            <a:avLst/>
          </a:prstGeom>
          <a:noFill/>
          <a:ln/>
        </p:spPr>
        <p:txBody>
          <a:bodyPr wrap="square" lIns="0" tIns="0" rIns="0" bIns="0" rtlCol="0" anchor="ctr"/>
          <a:lstStyle/>
          <a:p>
            <a:pPr indent="0" marL="0">
              <a:buNone/>
            </a:pPr>
            <a:r>
              <a:rPr lang="en-US" sz="1867" b="1" dirty="0">
                <a:solidFill>
                  <a:srgbClr val="F2A541"/>
                </a:solidFill>
                <a:latin typeface="Calibri" pitchFamily="34" charset="0"/>
                <a:ea typeface="Calibri" pitchFamily="34" charset="-122"/>
                <a:cs typeface="Calibri" pitchFamily="34" charset="-120"/>
              </a:rPr>
              <a:t>Đã chạy đủ 150 câu dev</a:t>
            </a:r>
            <a:endParaRPr lang="en-US" sz="1867" dirty="0"/>
          </a:p>
        </p:txBody>
      </p:sp>
      <p:sp>
        <p:nvSpPr>
          <p:cNvPr id="4" name="Text 2"/>
          <p:cNvSpPr txBox="1"/>
          <p:nvPr/>
        </p:nvSpPr>
        <p:spPr>
          <a:xfrm>
            <a:off x="853438" y="2097019"/>
            <a:ext cx="5242547" cy="2987033"/>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E6EEF7"/>
                </a:solidFill>
                <a:latin typeface="Calibri" pitchFamily="34" charset="0"/>
                <a:ea typeface="Calibri" pitchFamily="34" charset="-122"/>
                <a:cs typeface="Calibri" pitchFamily="34" charset="-120"/>
              </a:rPr>
              <a:t>Cả hai hệ chạy đủ 150 câu dev, cùng model trả lời, cùng model chấm, cùng prompt chấm.</a:t>
            </a:r>
            <a:endParaRPr lang="en-US" sz="1600" dirty="0"/>
          </a:p>
          <a:p>
            <a:pPr marL="342900" indent="-342900">
              <a:spcAft>
                <a:spcPts val="800"/>
              </a:spcAft>
              <a:buSzPct val="100000"/>
              <a:buChar char="•"/>
            </a:pPr>
            <a:r>
              <a:rPr lang="en-US" sz="1600" dirty="0">
                <a:solidFill>
                  <a:srgbClr val="E6EEF7"/>
                </a:solidFill>
                <a:latin typeface="Calibri" pitchFamily="34" charset="0"/>
                <a:ea typeface="Calibri" pitchFamily="34" charset="-122"/>
                <a:cs typeface="Calibri" pitchFamily="34" charset="-120"/>
              </a:rPr>
              <a:t>APEX-MEM 84,7%, LightMem 81,3%; McNemar p = 0,50, chưa khác biệt.</a:t>
            </a:r>
            <a:endParaRPr lang="en-US" sz="1600" dirty="0"/>
          </a:p>
          <a:p>
            <a:pPr marL="342900" indent="-342900">
              <a:spcAft>
                <a:spcPts val="800"/>
              </a:spcAft>
              <a:buSzPct val="100000"/>
              <a:buChar char="•"/>
            </a:pPr>
            <a:r>
              <a:rPr lang="en-US" sz="1600" dirty="0">
                <a:solidFill>
                  <a:srgbClr val="E6EEF7"/>
                </a:solidFill>
                <a:latin typeface="Calibri" pitchFamily="34" charset="0"/>
                <a:ea typeface="Calibri" pitchFamily="34" charset="-122"/>
                <a:cs typeface="Calibri" pitchFamily="34" charset="-120"/>
              </a:rPr>
              <a:t>Chênh lệch nằm ở loại lượt trợ lý (+7); năm loại còn lại LightMem hơn nhẹ.</a:t>
            </a:r>
            <a:endParaRPr lang="en-US" sz="1600" dirty="0"/>
          </a:p>
          <a:p>
            <a:pPr marL="342900" indent="-342900">
              <a:spcAft>
                <a:spcPts val="800"/>
              </a:spcAft>
              <a:buSzPct val="100000"/>
              <a:buChar char="•"/>
            </a:pPr>
            <a:r>
              <a:rPr lang="en-US" sz="1600" dirty="0">
                <a:solidFill>
                  <a:srgbClr val="E6EEF7"/>
                </a:solidFill>
                <a:latin typeface="Calibri" pitchFamily="34" charset="0"/>
                <a:ea typeface="Calibri" pitchFamily="34" charset="-122"/>
                <a:cs typeface="Calibri" pitchFamily="34" charset="-120"/>
              </a:rPr>
              <a:t>Nguyên nhân nghi là cấu hình: LightMem chỉ lưu lượt người dùng, APEX-MEM lưu cả hai.</a:t>
            </a:r>
            <a:endParaRPr lang="en-US" sz="1600" dirty="0"/>
          </a:p>
          <a:p>
            <a:pPr marL="342900" indent="-342900">
              <a:spcAft>
                <a:spcPts val="800"/>
              </a:spcAft>
              <a:buSzPct val="100000"/>
              <a:buChar char="•"/>
            </a:pPr>
            <a:r>
              <a:rPr lang="en-US" sz="1600" dirty="0">
                <a:solidFill>
                  <a:srgbClr val="E6EEF7"/>
                </a:solidFill>
                <a:latin typeface="Calibri" pitchFamily="34" charset="0"/>
                <a:ea typeface="Calibri" pitchFamily="34" charset="-122"/>
                <a:cs typeface="Calibri" pitchFamily="34" charset="-120"/>
              </a:rPr>
              <a:t>Cả hai hệ truy xuất gần như không sai; lỗi nằm ở trích xuất và suy luận.</a:t>
            </a:r>
            <a:endParaRPr lang="en-US" sz="1600" dirty="0"/>
          </a:p>
        </p:txBody>
      </p:sp>
      <p:sp>
        <p:nvSpPr>
          <p:cNvPr id="5" name="Text 3"/>
          <p:cNvSpPr txBox="1"/>
          <p:nvPr/>
        </p:nvSpPr>
        <p:spPr>
          <a:xfrm>
            <a:off x="6461744" y="2133595"/>
            <a:ext cx="4876788" cy="426719"/>
          </a:xfrm>
          <a:prstGeom prst="rect">
            <a:avLst/>
          </a:prstGeom>
          <a:noFill/>
          <a:ln/>
        </p:spPr>
        <p:txBody>
          <a:bodyPr wrap="square" lIns="0" tIns="0" rIns="0" bIns="0" rtlCol="0" anchor="ctr"/>
          <a:lstStyle/>
          <a:p>
            <a:pPr indent="0" marL="0">
              <a:buNone/>
            </a:pPr>
            <a:r>
              <a:rPr lang="en-US" sz="2133" b="1" dirty="0">
                <a:solidFill>
                  <a:srgbClr val="F2A541"/>
                </a:solidFill>
                <a:latin typeface="Cambria" pitchFamily="34" charset="0"/>
                <a:ea typeface="Cambria" pitchFamily="34" charset="-122"/>
                <a:cs typeface="Cambria" pitchFamily="34" charset="-120"/>
              </a:rPr>
              <a:t>Bước tiếp</a:t>
            </a:r>
            <a:endParaRPr lang="en-US" sz="2133" dirty="0"/>
          </a:p>
        </p:txBody>
      </p:sp>
      <p:sp>
        <p:nvSpPr>
          <p:cNvPr id="6" name="Text 4"/>
          <p:cNvSpPr txBox="1"/>
          <p:nvPr/>
        </p:nvSpPr>
        <p:spPr>
          <a:xfrm>
            <a:off x="6461744" y="2584698"/>
            <a:ext cx="4876788" cy="2499354"/>
          </a:xfrm>
          <a:prstGeom prst="rect">
            <a:avLst/>
          </a:prstGeom>
          <a:noFill/>
          <a:ln/>
        </p:spPr>
        <p:txBody>
          <a:bodyPr wrap="square" lIns="0" tIns="0" rIns="0" bIns="0" rtlCol="0" anchor="t"/>
          <a:lstStyle/>
          <a:p>
            <a:pPr indent="0" marL="0">
              <a:spcAft>
                <a:spcPts val="800"/>
              </a:spcAft>
              <a:buNone/>
            </a:pPr>
            <a:r>
              <a:rPr lang="en-US" sz="1533" dirty="0">
                <a:solidFill>
                  <a:srgbClr val="E6EEF7"/>
                </a:solidFill>
                <a:latin typeface="Calibri" pitchFamily="34" charset="0"/>
                <a:ea typeface="Calibri" pitchFamily="34" charset="-122"/>
                <a:cs typeface="Calibri" pitchFamily="34" charset="-120"/>
              </a:rPr>
              <a:t>1.  Chạy lại LightMem loại lượt trợ lý (17 câu) với messages_use = user_assistant để so công bằng.</a:t>
            </a:r>
            <a:endParaRPr lang="en-US" sz="1533" dirty="0"/>
          </a:p>
          <a:p>
            <a:pPr indent="0" marL="0">
              <a:spcAft>
                <a:spcPts val="800"/>
              </a:spcAft>
              <a:buNone/>
            </a:pPr>
            <a:r>
              <a:rPr lang="en-US" sz="1533" dirty="0">
                <a:solidFill>
                  <a:srgbClr val="E6EEF7"/>
                </a:solidFill>
                <a:latin typeface="Calibri" pitchFamily="34" charset="0"/>
                <a:ea typeface="Calibri" pitchFamily="34" charset="-122"/>
                <a:cs typeface="Calibri" pitchFamily="34" charset="-120"/>
              </a:rPr>
              <a:t>2.  Chấm 3 lần lấy trung bình cho cả hai hệ, đúng kế hoạch đánh giá.</a:t>
            </a:r>
            <a:endParaRPr lang="en-US" sz="1533" dirty="0"/>
          </a:p>
          <a:p>
            <a:pPr indent="0" marL="0">
              <a:spcAft>
                <a:spcPts val="800"/>
              </a:spcAft>
              <a:buNone/>
            </a:pPr>
            <a:r>
              <a:rPr lang="en-US" sz="1533" dirty="0">
                <a:solidFill>
                  <a:srgbClr val="E6EEF7"/>
                </a:solidFill>
                <a:latin typeface="Calibri" pitchFamily="34" charset="0"/>
                <a:ea typeface="Calibri" pitchFamily="34" charset="-122"/>
                <a:cs typeface="Calibri" pitchFamily="34" charset="-120"/>
              </a:rPr>
              <a:t>3.  Soi 35 câu hai hệ trả lời khác nhau để biết mỗi hệ mạnh ở đâu.</a:t>
            </a:r>
            <a:endParaRPr lang="en-US" sz="1533" dirty="0"/>
          </a:p>
          <a:p>
            <a:pPr indent="0" marL="0">
              <a:spcAft>
                <a:spcPts val="800"/>
              </a:spcAft>
              <a:buNone/>
            </a:pPr>
            <a:r>
              <a:rPr lang="en-US" sz="1533" dirty="0">
                <a:solidFill>
                  <a:srgbClr val="E6EEF7"/>
                </a:solidFill>
                <a:latin typeface="Calibri" pitchFamily="34" charset="0"/>
                <a:ea typeface="Calibri" pitchFamily="34" charset="-122"/>
                <a:cs typeface="Calibri" pitchFamily="34" charset="-120"/>
              </a:rPr>
              <a:t>4.  Chốt với anh: chạy cả 350 câu test hay một mẫu con có phân tầng, vì hạn mức tài khoản.</a:t>
            </a:r>
            <a:endParaRPr lang="en-US" sz="1533" dirty="0"/>
          </a:p>
        </p:txBody>
      </p:sp>
      <p:sp>
        <p:nvSpPr>
          <p:cNvPr id="7" name="Shape 5"/>
          <p:cNvSpPr/>
          <p:nvPr/>
        </p:nvSpPr>
        <p:spPr>
          <a:xfrm>
            <a:off x="853438" y="5181587"/>
            <a:ext cx="4876788" cy="1036317"/>
          </a:xfrm>
          <a:prstGeom prst="rect">
            <a:avLst/>
          </a:prstGeom>
          <a:solidFill>
            <a:srgbClr val="1B3457"/>
          </a:solidFill>
          <a:ln w="9525">
            <a:solidFill>
              <a:srgbClr val="2C4A73"/>
            </a:solidFill>
            <a:prstDash val="solid"/>
          </a:ln>
        </p:spPr>
      </p:sp>
      <p:sp>
        <p:nvSpPr>
          <p:cNvPr id="8" name="Text 6"/>
          <p:cNvSpPr txBox="1"/>
          <p:nvPr/>
        </p:nvSpPr>
        <p:spPr>
          <a:xfrm>
            <a:off x="1036317" y="5303507"/>
            <a:ext cx="2682233" cy="792478"/>
          </a:xfrm>
          <a:prstGeom prst="rect">
            <a:avLst/>
          </a:prstGeom>
          <a:noFill/>
          <a:ln/>
        </p:spPr>
        <p:txBody>
          <a:bodyPr wrap="square" lIns="0" tIns="0" rIns="0" bIns="0" rtlCol="0" anchor="ctr"/>
          <a:lstStyle/>
          <a:p>
            <a:pPr indent="0" marL="0">
              <a:buNone/>
            </a:pPr>
            <a:r>
              <a:rPr lang="en-US" sz="2800" b="1" dirty="0">
                <a:solidFill>
                  <a:srgbClr val="F2A541"/>
                </a:solidFill>
                <a:latin typeface="Cambria" pitchFamily="34" charset="0"/>
                <a:ea typeface="Cambria" pitchFamily="34" charset="-122"/>
                <a:cs typeface="Cambria" pitchFamily="34" charset="-120"/>
              </a:rPr>
              <a:t>84,7% · 81,3%</a:t>
            </a:r>
            <a:endParaRPr lang="en-US" sz="2800" dirty="0"/>
          </a:p>
        </p:txBody>
      </p:sp>
      <p:sp>
        <p:nvSpPr>
          <p:cNvPr id="9" name="Text 7"/>
          <p:cNvSpPr txBox="1"/>
          <p:nvPr/>
        </p:nvSpPr>
        <p:spPr>
          <a:xfrm>
            <a:off x="3779511" y="5303507"/>
            <a:ext cx="1828795" cy="792478"/>
          </a:xfrm>
          <a:prstGeom prst="rect">
            <a:avLst/>
          </a:prstGeom>
          <a:noFill/>
          <a:ln/>
        </p:spPr>
        <p:txBody>
          <a:bodyPr wrap="square" lIns="0" tIns="0" rIns="0" bIns="0" rtlCol="0" anchor="ctr"/>
          <a:lstStyle/>
          <a:p>
            <a:pPr indent="0" marL="0">
              <a:buNone/>
            </a:pPr>
            <a:r>
              <a:rPr lang="en-US" sz="1533" dirty="0">
                <a:solidFill>
                  <a:srgbClr val="B9C9DD"/>
                </a:solidFill>
                <a:latin typeface="Calibri" pitchFamily="34" charset="0"/>
                <a:ea typeface="Calibri" pitchFamily="34" charset="-122"/>
                <a:cs typeface="Calibri" pitchFamily="34" charset="-120"/>
              </a:rPr>
              <a:t>APEX-MEM · LightMem, gộp chung</a:t>
            </a:r>
            <a:endParaRPr lang="en-US" sz="1533" dirty="0"/>
          </a:p>
        </p:txBody>
      </p:sp>
      <p:sp>
        <p:nvSpPr>
          <p:cNvPr id="10" name="Shape 8"/>
          <p:cNvSpPr/>
          <p:nvPr/>
        </p:nvSpPr>
        <p:spPr>
          <a:xfrm>
            <a:off x="6461744" y="5181587"/>
            <a:ext cx="4876788" cy="1036317"/>
          </a:xfrm>
          <a:prstGeom prst="rect">
            <a:avLst/>
          </a:prstGeom>
          <a:solidFill>
            <a:srgbClr val="1B3457"/>
          </a:solidFill>
          <a:ln w="9525">
            <a:solidFill>
              <a:srgbClr val="2C4A73"/>
            </a:solidFill>
            <a:prstDash val="solid"/>
          </a:ln>
        </p:spPr>
      </p:sp>
      <p:sp>
        <p:nvSpPr>
          <p:cNvPr id="11" name="Text 9"/>
          <p:cNvSpPr txBox="1"/>
          <p:nvPr/>
        </p:nvSpPr>
        <p:spPr>
          <a:xfrm>
            <a:off x="6644623" y="5303507"/>
            <a:ext cx="2682233" cy="792478"/>
          </a:xfrm>
          <a:prstGeom prst="rect">
            <a:avLst/>
          </a:prstGeom>
          <a:noFill/>
          <a:ln/>
        </p:spPr>
        <p:txBody>
          <a:bodyPr wrap="square" lIns="0" tIns="0" rIns="0" bIns="0" rtlCol="0" anchor="ctr"/>
          <a:lstStyle/>
          <a:p>
            <a:pPr indent="0" marL="0">
              <a:buNone/>
            </a:pPr>
            <a:r>
              <a:rPr lang="en-US" sz="2800" b="1" dirty="0">
                <a:solidFill>
                  <a:srgbClr val="F2A541"/>
                </a:solidFill>
                <a:latin typeface="Cambria" pitchFamily="34" charset="0"/>
                <a:ea typeface="Cambria" pitchFamily="34" charset="-122"/>
                <a:cs typeface="Cambria" pitchFamily="34" charset="-120"/>
              </a:rPr>
              <a:t>p = 0,50</a:t>
            </a:r>
            <a:endParaRPr lang="en-US" sz="2800" dirty="0"/>
          </a:p>
        </p:txBody>
      </p:sp>
      <p:sp>
        <p:nvSpPr>
          <p:cNvPr id="12" name="Text 10"/>
          <p:cNvSpPr txBox="1"/>
          <p:nvPr/>
        </p:nvSpPr>
        <p:spPr>
          <a:xfrm>
            <a:off x="9387817" y="5303507"/>
            <a:ext cx="1828795" cy="792478"/>
          </a:xfrm>
          <a:prstGeom prst="rect">
            <a:avLst/>
          </a:prstGeom>
          <a:noFill/>
          <a:ln/>
        </p:spPr>
        <p:txBody>
          <a:bodyPr wrap="square" lIns="0" tIns="0" rIns="0" bIns="0" rtlCol="0" anchor="ctr"/>
          <a:lstStyle/>
          <a:p>
            <a:pPr indent="0" marL="0">
              <a:buNone/>
            </a:pPr>
            <a:r>
              <a:rPr lang="en-US" sz="1533" dirty="0">
                <a:solidFill>
                  <a:srgbClr val="B9C9DD"/>
                </a:solidFill>
                <a:latin typeface="Calibri" pitchFamily="34" charset="0"/>
                <a:ea typeface="Calibri" pitchFamily="34" charset="-122"/>
                <a:cs typeface="Calibri" pitchFamily="34" charset="-120"/>
              </a:rPr>
              <a:t>McNemar, chưa khác biệt</a:t>
            </a:r>
            <a:endParaRPr lang="en-US" sz="1533"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Báo cáo tuần 4 — APEX-MEM</dc:title>
  <dc:subject>PptxGenJS Presentation</dc:subject>
  <dc:creator>PptxGenJS</dc:creator>
  <cp:lastModifiedBy>PptxGenJS</cp:lastModifiedBy>
  <cp:revision>1</cp:revision>
  <dcterms:created xsi:type="dcterms:W3CDTF">2026-09-30T11:07:55Z</dcterms:created>
  <dcterms:modified xsi:type="dcterms:W3CDTF">2026-09-30T11:07:55Z</dcterms:modified>
</cp:coreProperties>
</file>