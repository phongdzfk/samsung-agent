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65" r:id="rId14"/>
    <p:sldId id="266" r:id="rId15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4029" autoAdjust="0"/>
  </p:normalViewPr>
  <p:slideViewPr>
    <p:cSldViewPr snapToGrid="0" snapToObjects="1">
      <p:cViewPr varScale="1">
        <p:scale>
          <a:sx n="66" d="100"/>
          <a:sy n="66" d="100"/>
        </p:scale>
        <p:origin x="379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4990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mở đầu. Nêu rõ: đây là buổi báo cáo tuần 1, trọng tâm là đặt vấn đề và trình bày tổng quan đề tài (chưa phải kết quả code). Đề tài kéo dài 2 tháng, nhóm 2 người.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mạnh gốc rễ vấn đề: LLM vô trạng thái (stateless) giữa các lần gọi; context window hữu hạn. Dùng ví dụ dị ứng để mentor thấy hậu quả thực tế: sai sót, mâu thuẫn, không cá nhân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Định nghĩa rõ từng thuật ngữ cho mentor. Điểm mấu chốt cần chốt: LLM là stateless, và context window = bộ nhớ ngắn hạn. Đề tài chính là bổ sung phần bộ nhớ DÀI HẠN còn thiếu.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là kỹ thuật trung tâm của đề tài: bộ nhớ dài hạn thực chất là 'truy xuất đúng ký ức cũ rồi đưa vào ngữ cảnh'. Embedding + Vector DB là hạ tầng cho việc tìm kiếm theo nghĩa. Knowledge Graph là hướng nâng cao (Zep, Mem0g).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Khung phân loại kinh điển (Tulving). Giúp mentor thấy nhóm hiểu bản chất: đề tài tập trung xây Episodic + Semantic (nhớ hội thoại và facts người dùng) trên nền Working memory sẵn có của LLM. Procedural là hướng mở rộng.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Chốt định nghĩa bài toán một cách hình thức: input gồm câu hỏi hiện tại + ký ức tích lũy; output gồm câu trả lời dùng ký ức + hành động cập nhật bộ nhớ. Ví dụ N5 cho thấy hai năng lực: lưu đúng và truy xuất đúng lúc.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câu trả lời cho tiêu chí Kiến trúc: 3 thành phần (giao diện, agent, quản lý bộ nhớ) + kho lưu trữ, thiết kế module để dễ thay thế/thử nghiệm. Vòng lặp 4 bước là cơ chế vận hành bộ nhớ, lấy cảm hứng từ Mem0 (ADD/UPDATE/DELETE) và MemGPT.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thích rõ vì sao đi từ input đến output là khó: bốn thách thức này cũng chính là bốn trục để đánh giá hệ thống sau này. Ví dụ N5-&gt;N4 minh họa bài toán cập nhật/xung đột rất trực quan.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Khoanh vùng rõ ràng để mentor và nhóm cùng kỳ vọng đúng. Thông điệp: không phát minh mô hình mới; giá trị nằm ở LỚP BỘ NHỚ và kiến trúc quanh LLM. Phạm vi gói gọn để hoàn thành trong 2 tháng.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Lộ trình chia 8 tuần khớp cơ chế báo cáo hàng tuần. Nhấn: tuần 1 (hiện tại) là nền tảng &amp; thiết kế; tuần 2-5 xây dựng; tuần 6-7 đánh giá &amp; tối ưu; tuần 8 tổng kết. Có thể điều chỉnh khi phát sinh.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kết: neo cụ thể vào công nghệ và nguồn tài liệu để mentor thấy nhóm đã khảo sát nghiêm túc. Nhấn: sẽ dùng benchmark chuẩn (LoCoMo/LongMemEval) hoặc bộ test tự xây để đánh giá khách quan.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95560" y="-914400"/>
            <a:ext cx="3108960" cy="3108960"/>
          </a:xfrm>
          <a:prstGeom prst="ellipse">
            <a:avLst/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155680" y="5120640"/>
            <a:ext cx="2377440" cy="2377440"/>
          </a:xfrm>
          <a:prstGeom prst="ellipse">
            <a:avLst/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TUẦN 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65960"/>
            <a:ext cx="9692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nhớ dài hạn cho</a:t>
            </a:r>
            <a:endParaRPr lang="en-US" sz="4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Assistant / LLM Agent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88620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chế ghi nhớ và sử dụng thông tin xuyên suốt nhiều phiên tương tác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66928" y="4892040"/>
            <a:ext cx="3840480" cy="0"/>
          </a:xfrm>
          <a:prstGeom prst="line">
            <a:avLst/>
          </a:prstGeom>
          <a:noFill/>
          <a:ln w="25400">
            <a:solidFill>
              <a:srgbClr val="1F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66928" y="5074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nhóm 2 thành viên</a:t>
            </a:r>
            <a:r>
              <a:rPr lang="en-US" sz="1350" dirty="0">
                <a:solidFill>
                  <a:srgbClr val="9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Thời gian: Tháng 9 – Tháng 10 / 2026   ·   Nội dung: Đặt vấn đề &amp; Tổng quan đề tài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VẤN ĐỀ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31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AI cần bộ nhớ dài hạn?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126480" cy="1234440"/>
          </a:xfrm>
          <a:prstGeom prst="roundRect">
            <a:avLst>
              <a:gd name="adj" fmla="val 6667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075688"/>
            <a:ext cx="640080" cy="640080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2242109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64208" y="19293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trí nhớ sau mỗi phiên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64208" y="225856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chỉ “nhớ” trong phạm vi cửa sổ ngữ cảnh của một phiên. Kết thúc phiên hội thoại là quên sạch.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6126480" cy="1234440"/>
          </a:xfrm>
          <a:prstGeom prst="roundRect">
            <a:avLst>
              <a:gd name="adj" fmla="val 6667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22960" y="3447288"/>
            <a:ext cx="640080" cy="640080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36137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64208" y="33009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Cửa sổ ngữ cảnh hữu hạn &amp; tốn kém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664208" y="363016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thể nhồi toàn bộ lịch sử hàng trăm lượt / nhiều tháng vào mỗi lời nhắc (prompt).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66928" y="4526280"/>
            <a:ext cx="6126480" cy="1234440"/>
          </a:xfrm>
          <a:prstGeom prst="roundRect">
            <a:avLst>
              <a:gd name="adj" fmla="val 6667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22960" y="4818888"/>
            <a:ext cx="640080" cy="640080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498530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64208" y="46725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Trải nghiệm rời rạc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664208" y="500176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lý hỏi lại điều đã biết, tự mâu thuẫn, và không thể cá nhân hóa theo người dùng.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086600" y="1783080"/>
            <a:ext cx="4535424" cy="4023360"/>
          </a:xfrm>
          <a:prstGeom prst="roundRect">
            <a:avLst>
              <a:gd name="adj" fmla="val 2045"/>
            </a:avLst>
          </a:prstGeom>
          <a:solidFill>
            <a:srgbClr val="13123A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 txBox="1"/>
          <p:nvPr/>
        </p:nvSpPr>
        <p:spPr>
          <a:xfrm>
            <a:off x="7406640" y="2011680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 MINH HỌA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377440"/>
            <a:ext cx="3895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Phiên 1  </a:t>
            </a:r>
            <a:r>
              <a:rPr lang="en-US" sz="1400" i="1" dirty="0">
                <a:solidFill>
                  <a:srgbClr val="9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(hôm nay)
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dùng: “Tôi bị dị ứng đậu phộng.”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7406640" y="3310128"/>
            <a:ext cx="3895344" cy="0"/>
          </a:xfrm>
          <a:prstGeom prst="line">
            <a:avLst/>
          </a:prstGeom>
          <a:noFill/>
          <a:ln w="12700">
            <a:solidFill>
              <a:srgbClr val="3A3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 txBox="1"/>
          <p:nvPr/>
        </p:nvSpPr>
        <p:spPr>
          <a:xfrm>
            <a:off x="7406640" y="3456432"/>
            <a:ext cx="38953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Phiên 5  </a:t>
            </a:r>
            <a:r>
              <a:rPr lang="en-US" sz="1400" i="1" dirty="0">
                <a:solidFill>
                  <a:srgbClr val="9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tuần sau)
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dùng: “Gợi ý cho tôi vài món ăn nhẹ.”
</a:t>
            </a:r>
            <a:r>
              <a:rPr lang="en-US" sz="1400" dirty="0">
                <a:solidFill>
                  <a:srgbClr val="F2A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lý: gợi ý bánh có đậu phộng — vì đã “quên”.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406640" y="5074920"/>
            <a:ext cx="3895344" cy="566928"/>
          </a:xfrm>
          <a:prstGeom prst="roundRect">
            <a:avLst>
              <a:gd name="adj" fmla="val 12903"/>
            </a:avLst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 txBox="1"/>
          <p:nvPr/>
        </p:nvSpPr>
        <p:spPr>
          <a:xfrm>
            <a:off x="7406640" y="5074920"/>
            <a:ext cx="3895344" cy="56692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Cần một lớp bộ nhớ tồn tại XUYÊN các phiên.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THỨC NỀN TẢNG · 1/2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31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khái niệm cốt lõi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ECEBF7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057400"/>
            <a:ext cx="749808" cy="749808"/>
          </a:xfrm>
          <a:prstGeom prst="ellipse">
            <a:avLst/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198" y="2252350"/>
            <a:ext cx="359908" cy="3599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73936" y="207568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– Mô hình ngôn ngữ lớn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86207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dự đoán văn bản. Vô trạng thái: không tự lưu gì giữa các lần gọi.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77356" y="178308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E4F5F4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51676" y="2057400"/>
            <a:ext cx="749808" cy="749808"/>
          </a:xfrm>
          <a:prstGeom prst="ellipse">
            <a:avLst/>
          </a:prstGeom>
          <a:solidFill>
            <a:srgbClr val="1FA6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6626" y="225235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84364" y="207568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Agent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286207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dùng LLM làm “bộ não”, có thêm khả năng lập kế hoạch, gọi công cụ và truy cập bộ nhớ.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397764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FCEFD5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1248" y="4251960"/>
            <a:ext cx="749808" cy="749808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198" y="444691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73936" y="427024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– Cửa sổ ngữ cảnh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841248" y="505663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token tối đa mô hình “nhìn thấy” mỗi lần gọi — chính là bộ nhớ làm việc tạm thời.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277356" y="397764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ECEBF7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551676" y="4251960"/>
            <a:ext cx="749808" cy="749808"/>
          </a:xfrm>
          <a:prstGeom prst="ellipse">
            <a:avLst/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6626" y="4446910"/>
            <a:ext cx="359908" cy="3599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84364" y="427024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nhớ ngắn hạn vs. dài hạn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6551676" y="505663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Ngắn hạn = trong phiên (context). Dài hạn = lưu bên ngoài, tồn tại xuyên nhiều phiên.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THỨC NỀN TẢNG · 2/2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31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 để “nhớ” và “truy xuất”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ECEBF7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057400"/>
            <a:ext cx="749808" cy="749808"/>
          </a:xfrm>
          <a:prstGeom prst="ellipse">
            <a:avLst/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198" y="2252350"/>
            <a:ext cx="359908" cy="3599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73936" y="207568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– Vector nhúng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86207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Biểu diễn văn bản thành vector số. Câu gần nghĩa → vector nằm gần nhau.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77356" y="178308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E4F5F4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51676" y="2057400"/>
            <a:ext cx="749808" cy="749808"/>
          </a:xfrm>
          <a:prstGeom prst="ellipse">
            <a:avLst/>
          </a:prstGeom>
          <a:solidFill>
            <a:srgbClr val="1FA6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6626" y="225235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84364" y="207568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286207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lưu embedding, cho phép tìm kiếm theo độ tương đồng ngữ nghĩa (semantic search).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397764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FCEFD5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1248" y="4251960"/>
            <a:ext cx="749808" cy="749808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198" y="444691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73936" y="427024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– Truy xuất &amp; Tăng cường sinh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841248" y="505663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thông tin liên quan rồi chèn vào prompt, giúp LLM trả lời có căn cứ thay vì bịa.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277356" y="397764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ECEBF7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551676" y="4251960"/>
            <a:ext cx="749808" cy="749808"/>
          </a:xfrm>
          <a:prstGeom prst="ellipse">
            <a:avLst/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6626" y="4446910"/>
            <a:ext cx="359908" cy="3599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84364" y="427024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(tùy chọn)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6551676" y="505663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thực thể &amp; quan hệ; hỗ trợ suy luận nhiều bước và theo dòng thời gian.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THỨC NỀN TẢNG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31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loại bộ nhớ: từ nhận thức con người →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18488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 BỘ NHỚ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 TRÒ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 THỰC HÓA TRONG HỆ THỐNG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1055096" cy="932688"/>
          </a:xfrm>
          <a:prstGeom prst="roundRect">
            <a:avLst>
              <a:gd name="adj" fmla="val 5882"/>
            </a:avLst>
          </a:prstGeom>
          <a:solidFill>
            <a:srgbClr val="F1F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313432"/>
            <a:ext cx="603504" cy="603504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19" y="2470343"/>
            <a:ext cx="289682" cy="28968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18488" y="214884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việc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(Working)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214884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Ngữ cảnh của phiên hiện tại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48840"/>
            <a:ext cx="3611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của LLM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9808" y="3300984"/>
            <a:ext cx="603504" cy="603504"/>
          </a:xfrm>
          <a:prstGeom prst="ellipse">
            <a:avLst/>
          </a:prstGeom>
          <a:solidFill>
            <a:srgbClr val="1FA6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19" y="3457895"/>
            <a:ext cx="289682" cy="28968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18488" y="313639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tiết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(Episodic)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709160" y="313639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 kiện / hội thoại đã diễn ra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8275320" y="3136392"/>
            <a:ext cx="3611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hội thoại, tóm tắt từng phiên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66928" y="4123944"/>
            <a:ext cx="11055096" cy="932688"/>
          </a:xfrm>
          <a:prstGeom prst="roundRect">
            <a:avLst>
              <a:gd name="adj" fmla="val 5882"/>
            </a:avLst>
          </a:prstGeom>
          <a:solidFill>
            <a:srgbClr val="F1F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749808" y="4288536"/>
            <a:ext cx="603504" cy="603504"/>
          </a:xfrm>
          <a:prstGeom prst="ellipse">
            <a:avLst/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19" y="4445447"/>
            <a:ext cx="289682" cy="28968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618488" y="4123944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Ngữ nghĩa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(Semantic)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4709160" y="4123944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 thật &amp; sở thích người dùng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275320" y="4123944"/>
            <a:ext cx="3611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người dùng, kho facts (vector DB)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749808" y="5276088"/>
            <a:ext cx="603504" cy="603504"/>
          </a:xfrm>
          <a:prstGeom prst="ellipse">
            <a:avLst/>
          </a:prstGeom>
          <a:solidFill>
            <a:srgbClr val="6B4CC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719" y="5432999"/>
            <a:ext cx="289682" cy="28968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18488" y="5111496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(Procedural)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709160" y="5111496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thực hiện tác vụ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8275320" y="5111496"/>
            <a:ext cx="3611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dẫn hệ thống / luật cập nhật được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QUAN ĐỀ TÀI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31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nghĩa bài toán: Đầu vào → Đầu 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4668" cy="2148840"/>
          </a:xfrm>
          <a:prstGeom prst="roundRect">
            <a:avLst>
              <a:gd name="adj" fmla="val 3830"/>
            </a:avLst>
          </a:prstGeom>
          <a:solidFill>
            <a:srgbClr val="E4F5F4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011680"/>
            <a:ext cx="658368" cy="658368"/>
          </a:xfrm>
          <a:prstGeom prst="ellipse">
            <a:avLst/>
          </a:prstGeom>
          <a:solidFill>
            <a:srgbClr val="1FA6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424" y="218285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64208" y="2084832"/>
            <a:ext cx="4064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VÀO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86968" y="2697480"/>
            <a:ext cx="47045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Tin nhắn hiện tại của người dùng.
2. Lịch sử tương tác tích lũy qua nhiều phiên, đã được lưu trong bộ nhớ dài hạn.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7356" y="1783080"/>
            <a:ext cx="5344668" cy="2148840"/>
          </a:xfrm>
          <a:prstGeom prst="roundRect">
            <a:avLst>
              <a:gd name="adj" fmla="val 3830"/>
            </a:avLst>
          </a:prstGeom>
          <a:solidFill>
            <a:srgbClr val="FCEFD5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51676" y="2011680"/>
            <a:ext cx="658368" cy="658368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852" y="218285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74636" y="2084832"/>
            <a:ext cx="4064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RA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97396" y="2697480"/>
            <a:ext cx="47045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Phản hồi chính xác &amp; nhất quán, có sử dụng thông tin đã ghi nhớ.
2. Cập nhật bộ nhớ: thêm / sửa / xóa thông tin sau tương tác.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4160520"/>
            <a:ext cx="11055096" cy="1737360"/>
          </a:xfrm>
          <a:prstGeom prst="roundRect">
            <a:avLst>
              <a:gd name="adj" fmla="val 4737"/>
            </a:avLst>
          </a:prstGeom>
          <a:solidFill>
            <a:srgbClr val="13123A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 txBox="1"/>
          <p:nvPr/>
        </p:nvSpPr>
        <p:spPr>
          <a:xfrm>
            <a:off x="886968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886968" y="4709160"/>
            <a:ext cx="10415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Phiên 1: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“Tôi đang học tiếng Nhật, trình độ N5.”  </a:t>
            </a:r>
            <a:r>
              <a:rPr lang="en-US" sz="1400" dirty="0">
                <a:solidFill>
                  <a:srgbClr val="9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hệ thống trích xuất &amp; lưu fact “trình độ = N5”.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Phiên 8 (3 tuần sau):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“Gợi ý tài liệu luyện đọc cho tôi.”  </a:t>
            </a:r>
            <a:r>
              <a:rPr lang="en-US" sz="1400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truy xuất “N5” → gợi ý đúng trình độ, không hỏi lại.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QUAN ĐỀ TÀI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31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tổng quan hệ thống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2487168" cy="1234440"/>
          </a:xfrm>
          <a:prstGeom prst="roundRect">
            <a:avLst>
              <a:gd name="adj" fmla="val 6667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81328" y="2020824"/>
            <a:ext cx="658368" cy="658368"/>
          </a:xfrm>
          <a:prstGeom prst="ellipse">
            <a:avLst/>
          </a:prstGeom>
          <a:solidFill>
            <a:srgbClr val="1FA6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504" y="2192000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3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</a:t>
            </a:r>
            <a:endParaRPr lang="en-US" sz="13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3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tác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3054096" y="2194560"/>
            <a:ext cx="368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22904" y="1874520"/>
            <a:ext cx="2487168" cy="1234440"/>
          </a:xfrm>
          <a:prstGeom prst="roundRect">
            <a:avLst>
              <a:gd name="adj" fmla="val 6667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37304" y="2020824"/>
            <a:ext cx="658368" cy="658368"/>
          </a:xfrm>
          <a:prstGeom prst="ellipse">
            <a:avLst/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480" y="2192000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14344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3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Agent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5910072" y="2194560"/>
            <a:ext cx="368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278880" y="1874520"/>
            <a:ext cx="2487168" cy="1234440"/>
          </a:xfrm>
          <a:prstGeom prst="roundRect">
            <a:avLst>
              <a:gd name="adj" fmla="val 6667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193280" y="2020824"/>
            <a:ext cx="658368" cy="658368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4456" y="2192000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70320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3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quản lý</a:t>
            </a:r>
            <a:endParaRPr lang="en-US" sz="13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3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nhớ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766048" y="2194560"/>
            <a:ext cx="368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9" name="Shape 14"/>
          <p:cNvSpPr/>
          <p:nvPr/>
        </p:nvSpPr>
        <p:spPr>
          <a:xfrm>
            <a:off x="9134856" y="1874520"/>
            <a:ext cx="2487168" cy="1234440"/>
          </a:xfrm>
          <a:prstGeom prst="roundRect">
            <a:avLst>
              <a:gd name="adj" fmla="val 6667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10049256" y="2020824"/>
            <a:ext cx="658368" cy="658368"/>
          </a:xfrm>
          <a:prstGeom prst="ellipse">
            <a:avLst/>
          </a:prstGeom>
          <a:solidFill>
            <a:srgbClr val="6B4CC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0432" y="2192000"/>
            <a:ext cx="316017" cy="31601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26296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3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lưu trữ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612648" y="318211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dùng nhập &amp; nhận phản hồi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3468624" y="318211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phối: hiểu, quyết định, sinh phản hồi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324600" y="318211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Trích xuất · cập nhật · truy xuất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9180576" y="318211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 / Knowledge Graph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66928" y="4114800"/>
            <a:ext cx="11055096" cy="1874520"/>
          </a:xfrm>
          <a:prstGeom prst="roundRect">
            <a:avLst>
              <a:gd name="adj" fmla="val 4390"/>
            </a:avLst>
          </a:prstGeom>
          <a:solidFill>
            <a:srgbClr val="13123A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2"/>
          <p:cNvSpPr txBox="1"/>
          <p:nvPr/>
        </p:nvSpPr>
        <p:spPr>
          <a:xfrm>
            <a:off x="932688" y="4315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VÒNG LẶP BỘ NHỚ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932688" y="4681728"/>
            <a:ext cx="2375154" cy="1097280"/>
          </a:xfrm>
          <a:prstGeom prst="roundRect">
            <a:avLst>
              <a:gd name="adj" fmla="val 5833"/>
            </a:avLst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 txBox="1"/>
          <p:nvPr/>
        </p:nvSpPr>
        <p:spPr>
          <a:xfrm>
            <a:off x="1069848" y="4791456"/>
            <a:ext cx="21008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Trích xuất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1069848" y="5138928"/>
            <a:ext cx="21008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Lọc thông tin quan trọng từ hội thoại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3582162" y="4681728"/>
            <a:ext cx="2375154" cy="1097280"/>
          </a:xfrm>
          <a:prstGeom prst="roundRect">
            <a:avLst>
              <a:gd name="adj" fmla="val 5833"/>
            </a:avLst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 txBox="1"/>
          <p:nvPr/>
        </p:nvSpPr>
        <p:spPr>
          <a:xfrm>
            <a:off x="3719322" y="4791456"/>
            <a:ext cx="21008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Lưu / Cập nhật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3719322" y="5138928"/>
            <a:ext cx="21008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Thêm · Sửa · Xóa (ADD / UPDATE / DELETE)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231636" y="4681728"/>
            <a:ext cx="2375154" cy="1097280"/>
          </a:xfrm>
          <a:prstGeom prst="roundRect">
            <a:avLst>
              <a:gd name="adj" fmla="val 5833"/>
            </a:avLst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 txBox="1"/>
          <p:nvPr/>
        </p:nvSpPr>
        <p:spPr>
          <a:xfrm>
            <a:off x="6368796" y="4791456"/>
            <a:ext cx="21008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Truy xuất</a:t>
            </a:r>
            <a:endParaRPr lang="en-US" sz="1350" dirty="0"/>
          </a:p>
        </p:txBody>
      </p:sp>
      <p:sp>
        <p:nvSpPr>
          <p:cNvPr id="37" name="Text 31"/>
          <p:cNvSpPr txBox="1"/>
          <p:nvPr/>
        </p:nvSpPr>
        <p:spPr>
          <a:xfrm>
            <a:off x="6368796" y="5138928"/>
            <a:ext cx="21008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ký ức liên quan tới câu hỏi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8881110" y="4681728"/>
            <a:ext cx="2375154" cy="1097280"/>
          </a:xfrm>
          <a:prstGeom prst="roundRect">
            <a:avLst>
              <a:gd name="adj" fmla="val 5833"/>
            </a:avLst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3"/>
          <p:cNvSpPr txBox="1"/>
          <p:nvPr/>
        </p:nvSpPr>
        <p:spPr>
          <a:xfrm>
            <a:off x="9018270" y="4791456"/>
            <a:ext cx="21008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Sinh phản hồi</a:t>
            </a:r>
            <a:endParaRPr lang="en-US" sz="1350" dirty="0"/>
          </a:p>
        </p:txBody>
      </p:sp>
      <p:sp>
        <p:nvSpPr>
          <p:cNvPr id="40" name="Text 34"/>
          <p:cNvSpPr txBox="1"/>
          <p:nvPr/>
        </p:nvSpPr>
        <p:spPr>
          <a:xfrm>
            <a:off x="9018270" y="5138928"/>
            <a:ext cx="21008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7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Chèn ký ức vào prompt → trả lời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QUAN ĐỀ TÀI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31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Thách thức: vì sao khó?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057400"/>
            <a:ext cx="749808" cy="749808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198" y="2252350"/>
            <a:ext cx="359908" cy="3599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73936" y="207568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cái gì để nhớ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86207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thể lưu tất cả. Phải trích xuất thông tin quan trọng và loại bỏ nhiễu.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77356" y="178308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51676" y="2057400"/>
            <a:ext cx="749808" cy="749808"/>
          </a:xfrm>
          <a:prstGeom prst="ellipse">
            <a:avLst/>
          </a:prstGeom>
          <a:solidFill>
            <a:srgbClr val="1FA6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6626" y="225235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84364" y="207568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xuất đúng lúc, đúng chỗ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286207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theo tương đồng dễ trượt với câu hỏi đa bước, mơ hồ, hoặc theo thời gian.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397764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1248" y="4251960"/>
            <a:ext cx="749808" cy="749808"/>
          </a:xfrm>
          <a:prstGeom prst="ellipse">
            <a:avLst/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198" y="444691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73936" y="427024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Cập nhật &amp; giải quyết xung đột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841248" y="505663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thay đổi (“N5 → N4”). Cần ghi đè/sửa, tránh để bộ nhớ tự mâu thuẫn.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277356" y="3977640"/>
            <a:ext cx="5344668" cy="1874520"/>
          </a:xfrm>
          <a:prstGeom prst="roundRect">
            <a:avLst>
              <a:gd name="adj" fmla="val 4390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551676" y="4251960"/>
            <a:ext cx="749808" cy="749808"/>
          </a:xfrm>
          <a:prstGeom prst="ellipse">
            <a:avLst/>
          </a:prstGeom>
          <a:solidFill>
            <a:srgbClr val="6B4CC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6626" y="4446910"/>
            <a:ext cx="359908" cy="3599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84364" y="4270248"/>
            <a:ext cx="3927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Cân bằng hiệu năng – chi phí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6551676" y="5056632"/>
            <a:ext cx="4796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nhớ càng lớn, truy xuất càng chậm và tốn kém. Phải đánh đổi với độ chính xác.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QUAN ĐỀ TÀI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31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&amp; Phạm vi đề tài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4668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344668" cy="4114800"/>
          </a:xfrm>
          <a:prstGeom prst="roundRect">
            <a:avLst>
              <a:gd name="adj" fmla="val 2000"/>
            </a:avLst>
          </a:prstGeom>
          <a:ln w="19050">
            <a:solidFill>
              <a:srgbClr val="1F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59536" y="2011680"/>
            <a:ext cx="603504" cy="603504"/>
          </a:xfrm>
          <a:prstGeom prst="ellipse">
            <a:avLst/>
          </a:prstGeom>
          <a:solidFill>
            <a:srgbClr val="1FA6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447" y="2168591"/>
            <a:ext cx="289682" cy="28968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18488" y="2084832"/>
            <a:ext cx="41559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GỒM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2743200"/>
            <a:ext cx="461314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chế bộ nhớ dài hạn: lưu · cập nhật · truy xuất qua nhiều phiên.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module (Agent · Quản lý bộ nhớ · Giao diện), dễ mở rộng &amp; thử nghiệm.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≥ 1 LLM; bản demo minh họa khả năng ghi nhớ dài hạn.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độ chính xác, tính nhất quán, hiệu năng; kèm mã nguồn, tài liệu &amp; báo cáo.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77356" y="1783080"/>
            <a:ext cx="5344668" cy="4114800"/>
          </a:xfrm>
          <a:prstGeom prst="roundRect">
            <a:avLst>
              <a:gd name="adj" fmla="val 2000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569964" y="2011680"/>
            <a:ext cx="603504" cy="603504"/>
          </a:xfrm>
          <a:prstGeom prst="ellipse">
            <a:avLst/>
          </a:prstGeom>
          <a:solidFill>
            <a:srgbClr val="8A8FA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6875" y="2168591"/>
            <a:ext cx="289682" cy="28968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28916" y="2084832"/>
            <a:ext cx="41559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BAO GỒM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643116" y="2743200"/>
            <a:ext cx="461314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Huấn luyện / fine-tune một LLM mới (dùng mô hình có sẵn qua API hoặc nguồn mở).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nhớ đa phương thức (hình ảnh, âm thanh) — tập trung vào văn bản.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6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 quy mô sản xuất, đa người dùng lớn — tập trung nguyên mẫu chứng minh khái niệm.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C59ADA-808C-4C75-B960-D0663F77F552}"/>
              </a:ext>
            </a:extLst>
          </p:cNvPr>
          <p:cNvSpPr txBox="1"/>
          <p:nvPr/>
        </p:nvSpPr>
        <p:spPr>
          <a:xfrm>
            <a:off x="571500" y="508000"/>
            <a:ext cx="635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1FA6A6"/>
                </a:solidFill>
                <a:latin typeface="Calibri"/>
                <a:ea typeface="Calibri"/>
                <a:cs typeface="Calibri"/>
              </a:rPr>
              <a:t>CÔNG TRÌNH LIÊN QUAN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B83F39-5F7A-47E1-B507-EAE3452257E9}"/>
              </a:ext>
            </a:extLst>
          </p:cNvPr>
          <p:cNvSpPr txBox="1"/>
          <p:nvPr/>
        </p:nvSpPr>
        <p:spPr>
          <a:xfrm>
            <a:off x="571500" y="825500"/>
            <a:ext cx="11049000" cy="57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000" b="1">
                <a:solidFill>
                  <a:srgbClr val="13123A"/>
                </a:solidFill>
                <a:latin typeface="Cambria"/>
                <a:ea typeface="Cambria"/>
              </a:rPr>
              <a:t>Năm hệ thống bộ nhớ tiêu biểu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90251D-0DCC-4DAB-8F48-B1F16F5CB163}"/>
              </a:ext>
            </a:extLst>
          </p:cNvPr>
          <p:cNvSpPr txBox="1"/>
          <p:nvPr/>
        </p:nvSpPr>
        <p:spPr>
          <a:xfrm>
            <a:off x="571500" y="1676400"/>
            <a:ext cx="1905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3A36A0"/>
                </a:solidFill>
                <a:latin typeface="Calibri"/>
                <a:ea typeface="Calibri"/>
                <a:cs typeface="Calibri"/>
              </a:rPr>
              <a:t>HỆ THỐNG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1ADBA-4956-413F-A78C-551EA61DDCF1}"/>
              </a:ext>
            </a:extLst>
          </p:cNvPr>
          <p:cNvSpPr txBox="1"/>
          <p:nvPr/>
        </p:nvSpPr>
        <p:spPr>
          <a:xfrm>
            <a:off x="2603500" y="16764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100" b="1">
                <a:solidFill>
                  <a:srgbClr val="3A36A0"/>
                </a:solidFill>
                <a:latin typeface="Calibri"/>
                <a:ea typeface="Calibri"/>
                <a:cs typeface="Calibri"/>
              </a:rPr>
              <a:t>Ý TƯỞNG CỐT LÕI</a:t>
            </a:r>
            <a:endParaRPr lang="en-US" sz="1100" b="1">
              <a:solidFill>
                <a:srgbClr val="3A36A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46FDE4-BCD3-4C6A-9753-5C25DEB87AAD}"/>
              </a:ext>
            </a:extLst>
          </p:cNvPr>
          <p:cNvSpPr txBox="1"/>
          <p:nvPr/>
        </p:nvSpPr>
        <p:spPr>
          <a:xfrm>
            <a:off x="6604000" y="1676400"/>
            <a:ext cx="254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3A36A0"/>
                </a:solidFill>
                <a:latin typeface="Calibri"/>
                <a:ea typeface="Calibri"/>
                <a:cs typeface="Calibri"/>
              </a:rPr>
              <a:t>ĐIỂM MẠNH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001AF1-4EE4-428B-AB57-D5B605AEF1F1}"/>
              </a:ext>
            </a:extLst>
          </p:cNvPr>
          <p:cNvSpPr txBox="1"/>
          <p:nvPr/>
        </p:nvSpPr>
        <p:spPr>
          <a:xfrm>
            <a:off x="9321800" y="1676400"/>
            <a:ext cx="21209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3A36A0"/>
                </a:solidFill>
                <a:latin typeface="Calibri"/>
                <a:ea typeface="Calibri"/>
                <a:cs typeface="Calibri"/>
              </a:rPr>
              <a:t>ĐÁNH ĐỔI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44777B1-CFAA-41E3-A10B-ADD60DAE918B}"/>
              </a:ext>
            </a:extLst>
          </p:cNvPr>
          <p:cNvSpPr/>
          <p:nvPr/>
        </p:nvSpPr>
        <p:spPr>
          <a:xfrm>
            <a:off x="571500" y="2006600"/>
            <a:ext cx="11049000" cy="800100"/>
          </a:xfrm>
          <a:prstGeom prst="roundRect">
            <a:avLst/>
          </a:prstGeom>
          <a:solidFill>
            <a:srgbClr val="ECEB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00C06-E986-46F8-A765-0BD5DB569AE5}"/>
              </a:ext>
            </a:extLst>
          </p:cNvPr>
          <p:cNvSpPr txBox="1"/>
          <p:nvPr/>
        </p:nvSpPr>
        <p:spPr>
          <a:xfrm>
            <a:off x="749300" y="2082800"/>
            <a:ext cx="1778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3123A"/>
                </a:solidFill>
                <a:latin typeface="Cambria"/>
                <a:ea typeface="Cambria"/>
              </a:rPr>
              <a:t>MemGPT (2023)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D0604C-DE88-43FE-B26F-34F821CA7DA1}"/>
              </a:ext>
            </a:extLst>
          </p:cNvPr>
          <p:cNvSpPr txBox="1"/>
          <p:nvPr/>
        </p:nvSpPr>
        <p:spPr>
          <a:xfrm>
            <a:off x="2603500" y="2082800"/>
            <a:ext cx="381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vi-VN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LLM như hệ điều hành: main context (RAM) ↔ external context (đĩa), tự “phân trang” bằng function call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836C48-6F75-4E17-9CA4-5AA072D9941C}"/>
              </a:ext>
            </a:extLst>
          </p:cNvPr>
          <p:cNvSpPr txBox="1"/>
          <p:nvPr/>
        </p:nvSpPr>
        <p:spPr>
          <a:xfrm>
            <a:off x="6604000" y="2082800"/>
            <a:ext cx="254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Agent tự quyết định lục lại ký ức nào; tóm tắt đệ quy khi context đầy ~70%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07CCC9-33E3-4D24-83CA-D57CFB273EF9}"/>
              </a:ext>
            </a:extLst>
          </p:cNvPr>
          <p:cNvSpPr txBox="1"/>
          <p:nvPr/>
        </p:nvSpPr>
        <p:spPr>
          <a:xfrm>
            <a:off x="9321800" y="2082800"/>
            <a:ext cx="21209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vi-VN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Tóm tắt chồng tóm tắt → mất chi tiết; mỗi thao tác tốn 1 lượt LLM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9D8E621-F7C7-431E-91F2-E7C0C4270CEB}"/>
              </a:ext>
            </a:extLst>
          </p:cNvPr>
          <p:cNvSpPr/>
          <p:nvPr/>
        </p:nvSpPr>
        <p:spPr>
          <a:xfrm>
            <a:off x="571500" y="2882900"/>
            <a:ext cx="11049000" cy="800100"/>
          </a:xfrm>
          <a:prstGeom prst="roundRect">
            <a:avLst/>
          </a:prstGeom>
          <a:solidFill>
            <a:srgbClr val="F7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1D0C4-086D-4D07-A26A-C95F33DF8998}"/>
              </a:ext>
            </a:extLst>
          </p:cNvPr>
          <p:cNvSpPr txBox="1"/>
          <p:nvPr/>
        </p:nvSpPr>
        <p:spPr>
          <a:xfrm>
            <a:off x="749300" y="2959100"/>
            <a:ext cx="1778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3123A"/>
                </a:solidFill>
                <a:latin typeface="Cambria"/>
                <a:ea typeface="Cambria"/>
              </a:rPr>
              <a:t>Mem0 (2025)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9FA2FF-5F4B-4603-85F7-0B85C0A91049}"/>
              </a:ext>
            </a:extLst>
          </p:cNvPr>
          <p:cNvSpPr txBox="1"/>
          <p:nvPr/>
        </p:nvSpPr>
        <p:spPr>
          <a:xfrm>
            <a:off x="2603500" y="2959100"/>
            <a:ext cx="381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Pipeline 2 pha: Extraction (rút fact) → Update chọn ADD / UPDATE / DELETE / NOOP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8F1F3-D92E-4BEC-806F-E1A30273B305}"/>
              </a:ext>
            </a:extLst>
          </p:cNvPr>
          <p:cNvSpPr txBox="1"/>
          <p:nvPr/>
        </p:nvSpPr>
        <p:spPr>
          <a:xfrm>
            <a:off x="6604000" y="2959100"/>
            <a:ext cx="254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66,9% vs 52,9% (OpenAI memory) trên LOCOMO; −91% p95; ~1,7k token/hội thoại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2C1ED8-9956-4D9A-BF3B-2A47ABE7D130}"/>
              </a:ext>
            </a:extLst>
          </p:cNvPr>
          <p:cNvSpPr txBox="1"/>
          <p:nvPr/>
        </p:nvSpPr>
        <p:spPr>
          <a:xfrm>
            <a:off x="9321800" y="2959100"/>
            <a:ext cx="21209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Fact rời rạc, quan hệ yếu; số liệu tự công bố còn bị phản bác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798FCCF-6842-42D8-B156-6E0D68E5A1C2}"/>
              </a:ext>
            </a:extLst>
          </p:cNvPr>
          <p:cNvSpPr/>
          <p:nvPr/>
        </p:nvSpPr>
        <p:spPr>
          <a:xfrm>
            <a:off x="571500" y="3759200"/>
            <a:ext cx="11049000" cy="800100"/>
          </a:xfrm>
          <a:prstGeom prst="roundRect">
            <a:avLst/>
          </a:prstGeom>
          <a:solidFill>
            <a:srgbClr val="ECEB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882A5D-B9BF-4088-852B-98AD690AAE8F}"/>
              </a:ext>
            </a:extLst>
          </p:cNvPr>
          <p:cNvSpPr txBox="1"/>
          <p:nvPr/>
        </p:nvSpPr>
        <p:spPr>
          <a:xfrm>
            <a:off x="749300" y="3835400"/>
            <a:ext cx="1778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3123A"/>
                </a:solidFill>
                <a:latin typeface="Cambria"/>
                <a:ea typeface="Cambria"/>
              </a:rPr>
              <a:t>Zep (2025)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F9D934-9957-4B0D-BBB5-4D5BC34F67A5}"/>
              </a:ext>
            </a:extLst>
          </p:cNvPr>
          <p:cNvSpPr txBox="1"/>
          <p:nvPr/>
        </p:nvSpPr>
        <p:spPr>
          <a:xfrm>
            <a:off x="2603500" y="3835400"/>
            <a:ext cx="381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Đồ thị tri thức có thời gian: thực thể – quan hệ – dấu thời gian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B55245-A20A-4D75-94E8-EBF169D8908B}"/>
              </a:ext>
            </a:extLst>
          </p:cNvPr>
          <p:cNvSpPr txBox="1"/>
          <p:nvPr/>
        </p:nvSpPr>
        <p:spPr>
          <a:xfrm>
            <a:off x="6604000" y="3835400"/>
            <a:ext cx="254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vi-VN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Mạnh nhất ở suy luận thời gian và đa bước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669D7E-5B89-4A9A-B5F7-D0482FBA33D0}"/>
              </a:ext>
            </a:extLst>
          </p:cNvPr>
          <p:cNvSpPr txBox="1"/>
          <p:nvPr/>
        </p:nvSpPr>
        <p:spPr>
          <a:xfrm>
            <a:off x="9321800" y="3835400"/>
            <a:ext cx="21209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~600k token/hội thoại; xây nền hàng giờ ở chế độ nền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BA304AD-2618-421C-B652-5A1AD8F8EE85}"/>
              </a:ext>
            </a:extLst>
          </p:cNvPr>
          <p:cNvSpPr/>
          <p:nvPr/>
        </p:nvSpPr>
        <p:spPr>
          <a:xfrm>
            <a:off x="571500" y="4635500"/>
            <a:ext cx="11049000" cy="800100"/>
          </a:xfrm>
          <a:prstGeom prst="roundRect">
            <a:avLst/>
          </a:prstGeom>
          <a:solidFill>
            <a:srgbClr val="F7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9E533F-6FA1-46F9-B825-183F92CB2880}"/>
              </a:ext>
            </a:extLst>
          </p:cNvPr>
          <p:cNvSpPr txBox="1"/>
          <p:nvPr/>
        </p:nvSpPr>
        <p:spPr>
          <a:xfrm>
            <a:off x="749300" y="4711700"/>
            <a:ext cx="1778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3123A"/>
                </a:solidFill>
                <a:latin typeface="Cambria"/>
                <a:ea typeface="Cambria"/>
              </a:rPr>
              <a:t>A-MEM · LangMem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8AA5B4-1E6F-4410-80B7-C8EB8D3E9A19}"/>
              </a:ext>
            </a:extLst>
          </p:cNvPr>
          <p:cNvSpPr txBox="1"/>
          <p:nvPr/>
        </p:nvSpPr>
        <p:spPr>
          <a:xfrm>
            <a:off x="2603500" y="4711700"/>
            <a:ext cx="381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Ký ức tự liên kết (A-MEM); ba loại episodic / semantic / procedural (LangMem)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1FE503-81E4-4FEF-B018-CF12C98159BE}"/>
              </a:ext>
            </a:extLst>
          </p:cNvPr>
          <p:cNvSpPr txBox="1"/>
          <p:nvPr/>
        </p:nvSpPr>
        <p:spPr>
          <a:xfrm>
            <a:off x="6604000" y="4711700"/>
            <a:ext cx="254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Linh hoạt; agent tự sửa chỉ dẫn của chính nó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FFC4FD-A1A9-40E9-898D-091B262A7F61}"/>
              </a:ext>
            </a:extLst>
          </p:cNvPr>
          <p:cNvSpPr txBox="1"/>
          <p:nvPr/>
        </p:nvSpPr>
        <p:spPr>
          <a:xfrm>
            <a:off x="9321800" y="4711700"/>
            <a:ext cx="21209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Trễ cao: A-MEM ~1,41s; LangMem p50 ~18s, p95 ~60s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CC09713-DA20-4355-B94D-1935A288F1F3}"/>
              </a:ext>
            </a:extLst>
          </p:cNvPr>
          <p:cNvSpPr/>
          <p:nvPr/>
        </p:nvSpPr>
        <p:spPr>
          <a:xfrm>
            <a:off x="571500" y="5511800"/>
            <a:ext cx="11049000" cy="800100"/>
          </a:xfrm>
          <a:prstGeom prst="roundRect">
            <a:avLst/>
          </a:prstGeom>
          <a:solidFill>
            <a:srgbClr val="ECEB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62E5FF-69A0-4F31-BCCE-CF9CE14CED4C}"/>
              </a:ext>
            </a:extLst>
          </p:cNvPr>
          <p:cNvSpPr txBox="1"/>
          <p:nvPr/>
        </p:nvSpPr>
        <p:spPr>
          <a:xfrm>
            <a:off x="749300" y="5588000"/>
            <a:ext cx="1778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3123A"/>
                </a:solidFill>
                <a:latin typeface="Cambria"/>
                <a:ea typeface="Cambria"/>
              </a:rPr>
              <a:t>MemOS (2025)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8D8A03-03AA-4924-8538-6D9D7487894A}"/>
              </a:ext>
            </a:extLst>
          </p:cNvPr>
          <p:cNvSpPr txBox="1"/>
          <p:nvPr/>
        </p:nvSpPr>
        <p:spPr>
          <a:xfrm>
            <a:off x="2603500" y="5588000"/>
            <a:ext cx="381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vi-VN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Bộ nhớ như tài nguyên hệ thống: “MemCube” + scheduler + lifecycle manager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A8090E-88CE-456D-84F2-8EA1895C7BA5}"/>
              </a:ext>
            </a:extLst>
          </p:cNvPr>
          <p:cNvSpPr txBox="1"/>
          <p:nvPr/>
        </p:nvSpPr>
        <p:spPr>
          <a:xfrm>
            <a:off x="6604000" y="5588000"/>
            <a:ext cx="25400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Quản lý vòng đời bộ nhớ bài bản, có thể lập lịch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57D389-4A73-4DA2-8D76-C34898DF250B}"/>
              </a:ext>
            </a:extLst>
          </p:cNvPr>
          <p:cNvSpPr txBox="1"/>
          <p:nvPr/>
        </p:nvSpPr>
        <p:spPr>
          <a:xfrm>
            <a:off x="9321800" y="5588000"/>
            <a:ext cx="2120900" cy="647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vi-VN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Còn rất mới; hạ tầng nặng, chưa có benchmark rộng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588133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417CE6-0795-4B70-B16D-B9D7BB4FE449}"/>
              </a:ext>
            </a:extLst>
          </p:cNvPr>
          <p:cNvSpPr txBox="1"/>
          <p:nvPr/>
        </p:nvSpPr>
        <p:spPr>
          <a:xfrm>
            <a:off x="571500" y="508000"/>
            <a:ext cx="635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200" b="1">
                <a:solidFill>
                  <a:srgbClr val="1FA6A6"/>
                </a:solidFill>
                <a:latin typeface="Calibri"/>
                <a:ea typeface="Calibri"/>
                <a:cs typeface="Calibri"/>
              </a:rPr>
              <a:t>PHƯƠNG PHÁP ĐÁNH GIÁ</a:t>
            </a:r>
            <a:endParaRPr lang="en-US" sz="1200" b="1">
              <a:solidFill>
                <a:srgbClr val="1FA6A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B2F4AE-3EC0-498B-BA85-EF9ACEF38EE1}"/>
              </a:ext>
            </a:extLst>
          </p:cNvPr>
          <p:cNvSpPr txBox="1"/>
          <p:nvPr/>
        </p:nvSpPr>
        <p:spPr>
          <a:xfrm>
            <a:off x="571500" y="825500"/>
            <a:ext cx="11049000" cy="57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000" b="1">
                <a:solidFill>
                  <a:srgbClr val="13123A"/>
                </a:solidFill>
                <a:latin typeface="Cambria"/>
                <a:ea typeface="Cambria"/>
              </a:rPr>
              <a:t>Ba trục đo và hai benchmark chuẩn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EFBE15-D453-4C01-B358-C575723462CF}"/>
              </a:ext>
            </a:extLst>
          </p:cNvPr>
          <p:cNvSpPr/>
          <p:nvPr/>
        </p:nvSpPr>
        <p:spPr>
          <a:xfrm>
            <a:off x="571500" y="1676400"/>
            <a:ext cx="3479800" cy="1524000"/>
          </a:xfrm>
          <a:prstGeom prst="roundRect">
            <a:avLst/>
          </a:prstGeom>
          <a:solidFill>
            <a:srgbClr val="ECEB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29D388F-112A-4ED5-82AA-060C3AB0ACC2}"/>
              </a:ext>
            </a:extLst>
          </p:cNvPr>
          <p:cNvSpPr/>
          <p:nvPr/>
        </p:nvSpPr>
        <p:spPr>
          <a:xfrm>
            <a:off x="825500" y="1905000"/>
            <a:ext cx="431800" cy="431800"/>
          </a:xfrm>
          <a:prstGeom prst="ellipse">
            <a:avLst/>
          </a:prstGeom>
          <a:solidFill>
            <a:srgbClr val="3A36A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6DF43B-1178-49DA-9285-335046F1E132}"/>
              </a:ext>
            </a:extLst>
          </p:cNvPr>
          <p:cNvSpPr txBox="1"/>
          <p:nvPr/>
        </p:nvSpPr>
        <p:spPr>
          <a:xfrm>
            <a:off x="1384300" y="1955800"/>
            <a:ext cx="2413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13123A"/>
                </a:solidFill>
                <a:latin typeface="Cambria"/>
                <a:ea typeface="Cambria"/>
              </a:rPr>
              <a:t>Độ chính xác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1AFDCF-2CCA-44C4-BC5E-E615CBB601CF}"/>
              </a:ext>
            </a:extLst>
          </p:cNvPr>
          <p:cNvSpPr txBox="1"/>
          <p:nvPr/>
        </p:nvSpPr>
        <p:spPr>
          <a:xfrm>
            <a:off x="825500" y="2413000"/>
            <a:ext cx="29718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Tỉ lệ trả lời đúng theo từng loại câu hỏi · F1 · LLM-as-a-Judge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A46E70-2F57-4332-B8A8-15DDB1B1AB2F}"/>
              </a:ext>
            </a:extLst>
          </p:cNvPr>
          <p:cNvSpPr/>
          <p:nvPr/>
        </p:nvSpPr>
        <p:spPr>
          <a:xfrm>
            <a:off x="4356100" y="1676400"/>
            <a:ext cx="3479800" cy="1524000"/>
          </a:xfrm>
          <a:prstGeom prst="roundRect">
            <a:avLst/>
          </a:prstGeom>
          <a:solidFill>
            <a:srgbClr val="ECEB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576D18-A783-4D1B-9696-AEA9BBCBAD30}"/>
              </a:ext>
            </a:extLst>
          </p:cNvPr>
          <p:cNvSpPr/>
          <p:nvPr/>
        </p:nvSpPr>
        <p:spPr>
          <a:xfrm>
            <a:off x="4610100" y="1905000"/>
            <a:ext cx="431800" cy="431800"/>
          </a:xfrm>
          <a:prstGeom prst="ellipse">
            <a:avLst/>
          </a:prstGeom>
          <a:solidFill>
            <a:srgbClr val="3A36A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DD7038-315C-42A0-8DBE-9A290E242EAF}"/>
              </a:ext>
            </a:extLst>
          </p:cNvPr>
          <p:cNvSpPr txBox="1"/>
          <p:nvPr/>
        </p:nvSpPr>
        <p:spPr>
          <a:xfrm>
            <a:off x="5168900" y="1955800"/>
            <a:ext cx="2413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13123A"/>
                </a:solidFill>
                <a:latin typeface="Cambria"/>
                <a:ea typeface="Cambria"/>
              </a:rPr>
              <a:t>Tính nhất quán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F2E058-4ABE-49A9-AFC1-A07BAB09322C}"/>
              </a:ext>
            </a:extLst>
          </p:cNvPr>
          <p:cNvSpPr txBox="1"/>
          <p:nvPr/>
        </p:nvSpPr>
        <p:spPr>
          <a:xfrm>
            <a:off x="4610100" y="2413000"/>
            <a:ext cx="29718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Tỉ lệ dùng đúng fact sau cập nhật · tỉ lệ tự mâu thuẫn · biết từ chối khi thiếu dữ liệu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3FD8200-3ED6-4BFC-995C-104767B44218}"/>
              </a:ext>
            </a:extLst>
          </p:cNvPr>
          <p:cNvSpPr/>
          <p:nvPr/>
        </p:nvSpPr>
        <p:spPr>
          <a:xfrm>
            <a:off x="8140700" y="1676400"/>
            <a:ext cx="3479800" cy="1524000"/>
          </a:xfrm>
          <a:prstGeom prst="roundRect">
            <a:avLst/>
          </a:prstGeom>
          <a:solidFill>
            <a:srgbClr val="ECEB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8371934-D513-422B-82CC-14D7F708E45A}"/>
              </a:ext>
            </a:extLst>
          </p:cNvPr>
          <p:cNvSpPr/>
          <p:nvPr/>
        </p:nvSpPr>
        <p:spPr>
          <a:xfrm>
            <a:off x="8394700" y="1905000"/>
            <a:ext cx="431800" cy="431800"/>
          </a:xfrm>
          <a:prstGeom prst="ellipse">
            <a:avLst/>
          </a:prstGeom>
          <a:solidFill>
            <a:srgbClr val="3A36A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F5CAC1-041D-41AB-BB07-E8E051FAF6F0}"/>
              </a:ext>
            </a:extLst>
          </p:cNvPr>
          <p:cNvSpPr txBox="1"/>
          <p:nvPr/>
        </p:nvSpPr>
        <p:spPr>
          <a:xfrm>
            <a:off x="8953500" y="1955800"/>
            <a:ext cx="2413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13123A"/>
                </a:solidFill>
                <a:latin typeface="Cambria"/>
                <a:ea typeface="Cambria"/>
              </a:rPr>
              <a:t>Hiệu năng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AFFE4C-5F04-4E91-8B52-C87115BE6F05}"/>
              </a:ext>
            </a:extLst>
          </p:cNvPr>
          <p:cNvSpPr txBox="1"/>
          <p:nvPr/>
        </p:nvSpPr>
        <p:spPr>
          <a:xfrm>
            <a:off x="8394700" y="2413000"/>
            <a:ext cx="29718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Độ trễ p50/p95 (tách pha tìm kiếm vs. tổng) · token mỗi truy vấn · kích thước kho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88934F5-3A4D-4C54-B197-6A3F21F870CE}"/>
              </a:ext>
            </a:extLst>
          </p:cNvPr>
          <p:cNvSpPr/>
          <p:nvPr/>
        </p:nvSpPr>
        <p:spPr>
          <a:xfrm>
            <a:off x="571500" y="3403600"/>
            <a:ext cx="5359400" cy="1625600"/>
          </a:xfrm>
          <a:prstGeom prst="roundRect">
            <a:avLst/>
          </a:prstGeom>
          <a:solidFill>
            <a:srgbClr val="F7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8956D3-3C8E-484B-90F0-B711CC4638B6}"/>
              </a:ext>
            </a:extLst>
          </p:cNvPr>
          <p:cNvSpPr txBox="1"/>
          <p:nvPr/>
        </p:nvSpPr>
        <p:spPr>
          <a:xfrm>
            <a:off x="825500" y="3606800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3A36A0"/>
                </a:solidFill>
                <a:latin typeface="Cambria"/>
                <a:ea typeface="Cambria"/>
              </a:rPr>
              <a:t>LoCoMo (ACL 2024)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D941B7-8EC1-4AF7-8B7D-1C512CA8EBC8}"/>
              </a:ext>
            </a:extLst>
          </p:cNvPr>
          <p:cNvSpPr txBox="1"/>
          <p:nvPr/>
        </p:nvSpPr>
        <p:spPr>
          <a:xfrm>
            <a:off x="825500" y="3962400"/>
            <a:ext cx="4851400" cy="965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50 hội thoại · tới 35 phiên · ~300 lượt · ~200 cặp Q&amp;A. 5 loại câu hỏi: single-hop, multi-hop, temporal, open-domain, adversarial (thường bỏ nhóm adversarial khi so sánh).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1C73736-DDAC-4CFE-A5B4-5959B7BF70AF}"/>
              </a:ext>
            </a:extLst>
          </p:cNvPr>
          <p:cNvSpPr/>
          <p:nvPr/>
        </p:nvSpPr>
        <p:spPr>
          <a:xfrm>
            <a:off x="6261100" y="3403600"/>
            <a:ext cx="5359400" cy="1625600"/>
          </a:xfrm>
          <a:prstGeom prst="roundRect">
            <a:avLst/>
          </a:prstGeom>
          <a:solidFill>
            <a:srgbClr val="F7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7E8357-E8C8-4A95-B715-BD245C4527E6}"/>
              </a:ext>
            </a:extLst>
          </p:cNvPr>
          <p:cNvSpPr txBox="1"/>
          <p:nvPr/>
        </p:nvSpPr>
        <p:spPr>
          <a:xfrm>
            <a:off x="6515100" y="3606800"/>
            <a:ext cx="48514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3A36A0"/>
                </a:solidFill>
                <a:latin typeface="Cambria"/>
                <a:ea typeface="Cambria"/>
              </a:rPr>
              <a:t>LongMemEval (ICLR 2025)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3134EF-524E-40C8-B96E-1E25D06A2100}"/>
              </a:ext>
            </a:extLst>
          </p:cNvPr>
          <p:cNvSpPr txBox="1"/>
          <p:nvPr/>
        </p:nvSpPr>
        <p:spPr>
          <a:xfrm>
            <a:off x="6515100" y="3962400"/>
            <a:ext cx="4851400" cy="965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500 câu hỏi cài vào lịch sử co giãn (bản S ~115K token/câu; bản M tới ~1,5M). Đo 5 năng lực: trích xuất, đa phiên, thời gian, cập nhật kiến thức, biết từ chối.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E92D554-5B4D-4D8C-96B0-B3FC5089BF85}"/>
              </a:ext>
            </a:extLst>
          </p:cNvPr>
          <p:cNvSpPr/>
          <p:nvPr/>
        </p:nvSpPr>
        <p:spPr>
          <a:xfrm>
            <a:off x="571500" y="5232400"/>
            <a:ext cx="11049000" cy="1092200"/>
          </a:xfrm>
          <a:prstGeom prst="roundRect">
            <a:avLst/>
          </a:prstGeom>
          <a:solidFill>
            <a:srgbClr val="13123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371DD7-FF1E-40D8-A6CE-83E0DAC2512C}"/>
              </a:ext>
            </a:extLst>
          </p:cNvPr>
          <p:cNvSpPr txBox="1"/>
          <p:nvPr/>
        </p:nvSpPr>
        <p:spPr>
          <a:xfrm>
            <a:off x="825500" y="5435600"/>
            <a:ext cx="254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100" b="1">
                <a:solidFill>
                  <a:srgbClr val="1FA6A6"/>
                </a:solidFill>
                <a:latin typeface="Calibri"/>
                <a:ea typeface="Calibri"/>
                <a:cs typeface="Calibri"/>
              </a:rPr>
              <a:t>CHỐT PHƯƠNG ÁN</a:t>
            </a:r>
            <a:endParaRPr lang="en-US" sz="1100" b="1">
              <a:solidFill>
                <a:srgbClr val="1FA6A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B4D499-C5DC-458F-93A9-D4B212FDB0BD}"/>
              </a:ext>
            </a:extLst>
          </p:cNvPr>
          <p:cNvSpPr txBox="1"/>
          <p:nvPr/>
        </p:nvSpPr>
        <p:spPr>
          <a:xfrm>
            <a:off x="825500" y="5715000"/>
            <a:ext cx="105410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300">
                <a:solidFill>
                  <a:srgbClr val="EFEFFA"/>
                </a:solidFill>
                <a:latin typeface="Calibri"/>
                <a:ea typeface="Calibri"/>
                <a:cs typeface="Calibri"/>
              </a:rPr>
              <a:t>Chạy LoCoMo làm chính (dễ triển khai, thiên về chiều sâu suy luận), mượn khung 5 năng lực của LongMemEval để tự thiết kế bộ test tiếng Việt. Khi so sánh các cấu hình bộ nhớ, phải cố định cùng LLM – cùng ngân sách token – cùng k.</a:t>
            </a:r>
            <a:endParaRPr lang="en-US" sz="1300">
              <a:solidFill>
                <a:srgbClr val="EFEFF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12362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0DEE15-6BC6-4EB5-A4B2-3D71F572DFDB}"/>
              </a:ext>
            </a:extLst>
          </p:cNvPr>
          <p:cNvSpPr txBox="1"/>
          <p:nvPr/>
        </p:nvSpPr>
        <p:spPr>
          <a:xfrm>
            <a:off x="571500" y="508000"/>
            <a:ext cx="6604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200" b="1">
                <a:solidFill>
                  <a:srgbClr val="1FA6A6"/>
                </a:solidFill>
                <a:latin typeface="Calibri"/>
                <a:ea typeface="Calibri"/>
                <a:cs typeface="Calibri"/>
              </a:rPr>
              <a:t>PHƯƠNG PHÁP ĐÁNH GIÁ · SỐ LIỆU</a:t>
            </a:r>
            <a:endParaRPr lang="en-US" sz="1200" b="1">
              <a:solidFill>
                <a:srgbClr val="1FA6A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4F9EF5-CAB0-42A4-B15D-C8BFF09B446A}"/>
              </a:ext>
            </a:extLst>
          </p:cNvPr>
          <p:cNvSpPr txBox="1"/>
          <p:nvPr/>
        </p:nvSpPr>
        <p:spPr>
          <a:xfrm>
            <a:off x="571500" y="825500"/>
            <a:ext cx="11049000" cy="57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000" b="1">
                <a:solidFill>
                  <a:srgbClr val="13123A"/>
                </a:solidFill>
                <a:latin typeface="Cambria"/>
                <a:ea typeface="Cambria"/>
              </a:rPr>
              <a:t>Ba con số dựng nên mạch lập luận của đề tài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25EB906-D4FE-4F6B-A6DF-D79204282E70}"/>
              </a:ext>
            </a:extLst>
          </p:cNvPr>
          <p:cNvSpPr/>
          <p:nvPr/>
        </p:nvSpPr>
        <p:spPr>
          <a:xfrm>
            <a:off x="571500" y="1676400"/>
            <a:ext cx="3479800" cy="2743200"/>
          </a:xfrm>
          <a:prstGeom prst="roundRect">
            <a:avLst/>
          </a:prstGeom>
          <a:solidFill>
            <a:srgbClr val="F7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D749D9-D29C-4C27-9194-150702BFB82E}"/>
              </a:ext>
            </a:extLst>
          </p:cNvPr>
          <p:cNvSpPr txBox="1"/>
          <p:nvPr/>
        </p:nvSpPr>
        <p:spPr>
          <a:xfrm>
            <a:off x="825500" y="1905000"/>
            <a:ext cx="29718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4000" b="1">
                <a:solidFill>
                  <a:srgbClr val="3A36A0"/>
                </a:solidFill>
                <a:latin typeface="Cambria"/>
                <a:ea typeface="Cambria"/>
              </a:rPr>
              <a:t>~30%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5C7817-A3D9-4543-8737-4DD4A1FF7EBB}"/>
              </a:ext>
            </a:extLst>
          </p:cNvPr>
          <p:cNvSpPr txBox="1"/>
          <p:nvPr/>
        </p:nvSpPr>
        <p:spPr>
          <a:xfrm>
            <a:off x="825500" y="2590800"/>
            <a:ext cx="2971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1FA6A6"/>
                </a:solidFill>
                <a:latin typeface="Calibri"/>
                <a:ea typeface="Calibri"/>
                <a:cs typeface="Calibri"/>
              </a:rPr>
              <a:t>độ chính xác bị mất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772A50-6401-4247-A642-4C222A829DE5}"/>
              </a:ext>
            </a:extLst>
          </p:cNvPr>
          <p:cNvSpPr txBox="1"/>
          <p:nvPr/>
        </p:nvSpPr>
        <p:spPr>
          <a:xfrm>
            <a:off x="825500" y="2946400"/>
            <a:ext cx="29718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Trợ lý thương mại và LLM ngữ cảnh dài đều tụt khoảng 30% khi phải nhớ qua tương tác kéo dài.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A30318A-1AAE-4DDC-AB6B-C25EDECF233B}"/>
              </a:ext>
            </a:extLst>
          </p:cNvPr>
          <p:cNvSpPr/>
          <p:nvPr/>
        </p:nvSpPr>
        <p:spPr>
          <a:xfrm>
            <a:off x="825500" y="3886200"/>
            <a:ext cx="2971800" cy="330200"/>
          </a:xfrm>
          <a:prstGeom prst="roundRect">
            <a:avLst/>
          </a:prstGeom>
          <a:solidFill>
            <a:srgbClr val="13123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→ Vấn đề là thật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85806A-A2BC-4F0B-A604-ABEC5556DD65}"/>
              </a:ext>
            </a:extLst>
          </p:cNvPr>
          <p:cNvSpPr/>
          <p:nvPr/>
        </p:nvSpPr>
        <p:spPr>
          <a:xfrm>
            <a:off x="4305300" y="1676400"/>
            <a:ext cx="3479800" cy="2743200"/>
          </a:xfrm>
          <a:prstGeom prst="roundRect">
            <a:avLst/>
          </a:prstGeom>
          <a:solidFill>
            <a:srgbClr val="F7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8D18D8-D1B7-4A06-8F9E-22E33603AFFD}"/>
              </a:ext>
            </a:extLst>
          </p:cNvPr>
          <p:cNvSpPr txBox="1"/>
          <p:nvPr/>
        </p:nvSpPr>
        <p:spPr>
          <a:xfrm>
            <a:off x="4559300" y="1905000"/>
            <a:ext cx="29718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4000" b="1">
                <a:solidFill>
                  <a:srgbClr val="3A36A0"/>
                </a:solidFill>
                <a:latin typeface="Cambria"/>
                <a:ea typeface="Cambria"/>
              </a:rPr>
              <a:t>30–60%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8EA83B-16A0-4126-A89B-8AE972F2A7C8}"/>
              </a:ext>
            </a:extLst>
          </p:cNvPr>
          <p:cNvSpPr txBox="1"/>
          <p:nvPr/>
        </p:nvSpPr>
        <p:spPr>
          <a:xfrm>
            <a:off x="4559300" y="2590800"/>
            <a:ext cx="2971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1FA6A6"/>
                </a:solidFill>
                <a:latin typeface="Calibri"/>
                <a:ea typeface="Calibri"/>
                <a:cs typeface="Calibri"/>
              </a:rPr>
              <a:t>hiệu năng giảm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4423C3-9BA3-4171-977F-FA1672C71CA5}"/>
              </a:ext>
            </a:extLst>
          </p:cNvPr>
          <p:cNvSpPr txBox="1"/>
          <p:nvPr/>
        </p:nvSpPr>
        <p:spPr>
          <a:xfrm>
            <a:off x="4559300" y="2946400"/>
            <a:ext cx="29718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Trong LongMemEval, LLM ngữ cảnh dài giảm 30–60% khi đọc toàn bộ lịch sử — mà mới chỉ ~50 phiên.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3EDCFF5-B634-463A-9167-C662CB496F77}"/>
              </a:ext>
            </a:extLst>
          </p:cNvPr>
          <p:cNvSpPr/>
          <p:nvPr/>
        </p:nvSpPr>
        <p:spPr>
          <a:xfrm>
            <a:off x="4559300" y="3886200"/>
            <a:ext cx="2971800" cy="330200"/>
          </a:xfrm>
          <a:prstGeom prst="roundRect">
            <a:avLst/>
          </a:prstGeom>
          <a:solidFill>
            <a:srgbClr val="13123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→ Nhồi hết vào context không phải lời giải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C123B40-A1A6-4450-BFAA-0FEB58DB2B4F}"/>
              </a:ext>
            </a:extLst>
          </p:cNvPr>
          <p:cNvSpPr/>
          <p:nvPr/>
        </p:nvSpPr>
        <p:spPr>
          <a:xfrm>
            <a:off x="8039100" y="1676400"/>
            <a:ext cx="3479800" cy="2743200"/>
          </a:xfrm>
          <a:prstGeom prst="roundRect">
            <a:avLst/>
          </a:prstGeom>
          <a:solidFill>
            <a:srgbClr val="F7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4609B0-D3EE-4AF2-B9B8-F8EC56460FBD}"/>
              </a:ext>
            </a:extLst>
          </p:cNvPr>
          <p:cNvSpPr txBox="1"/>
          <p:nvPr/>
        </p:nvSpPr>
        <p:spPr>
          <a:xfrm>
            <a:off x="8293100" y="1905000"/>
            <a:ext cx="29718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4000" b="1">
                <a:solidFill>
                  <a:srgbClr val="3A36A0"/>
                </a:solidFill>
                <a:latin typeface="Cambria"/>
                <a:ea typeface="Cambria"/>
              </a:rPr>
              <a:t>−91%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FB4936-808A-47B0-BF09-0198C267E199}"/>
              </a:ext>
            </a:extLst>
          </p:cNvPr>
          <p:cNvSpPr txBox="1"/>
          <p:nvPr/>
        </p:nvSpPr>
        <p:spPr>
          <a:xfrm>
            <a:off x="8293100" y="2590800"/>
            <a:ext cx="2971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1FA6A6"/>
                </a:solidFill>
                <a:latin typeface="Calibri"/>
                <a:ea typeface="Calibri"/>
                <a:cs typeface="Calibri"/>
              </a:rPr>
              <a:t>độ trễ p95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E00AF2-24C1-47C4-9C3C-5086ACCD224A}"/>
              </a:ext>
            </a:extLst>
          </p:cNvPr>
          <p:cNvSpPr txBox="1"/>
          <p:nvPr/>
        </p:nvSpPr>
        <p:spPr>
          <a:xfrm>
            <a:off x="8293100" y="2946400"/>
            <a:ext cx="29718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300">
                <a:solidFill>
                  <a:srgbClr val="4A4E63"/>
                </a:solidFill>
                <a:latin typeface="Calibri"/>
                <a:ea typeface="Calibri"/>
                <a:cs typeface="Calibri"/>
              </a:rPr>
              <a:t>Mem0 giảm 91% p95 và hơn 90% chi phí token so với full-context (~1,7k vs ~26k token).</a:t>
            </a:r>
            <a:endParaRPr lang="en-US" sz="1300">
              <a:solidFill>
                <a:srgbClr val="4A4E6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4D9F38-E698-4C4A-B447-E877DEEA3C03}"/>
              </a:ext>
            </a:extLst>
          </p:cNvPr>
          <p:cNvSpPr/>
          <p:nvPr/>
        </p:nvSpPr>
        <p:spPr>
          <a:xfrm>
            <a:off x="8293100" y="3886200"/>
            <a:ext cx="2971800" cy="330200"/>
          </a:xfrm>
          <a:prstGeom prst="roundRect">
            <a:avLst/>
          </a:prstGeom>
          <a:solidFill>
            <a:srgbClr val="13123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vi-VN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→ Bộ nhớ chọn lọc là hướng đúng</a:t>
            </a:r>
            <a:endParaRPr lang="en-US" sz="11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016BB1D-FB68-4CEB-BF5E-4D09BF3DEEA2}"/>
              </a:ext>
            </a:extLst>
          </p:cNvPr>
          <p:cNvSpPr/>
          <p:nvPr/>
        </p:nvSpPr>
        <p:spPr>
          <a:xfrm>
            <a:off x="571500" y="4648200"/>
            <a:ext cx="11049000" cy="1676400"/>
          </a:xfrm>
          <a:prstGeom prst="roundRect">
            <a:avLst/>
          </a:prstGeom>
          <a:solidFill>
            <a:srgbClr val="FFF6E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398D62-D6D6-48A4-B3E7-8DF1CD5F315E}"/>
              </a:ext>
            </a:extLst>
          </p:cNvPr>
          <p:cNvSpPr txBox="1"/>
          <p:nvPr/>
        </p:nvSpPr>
        <p:spPr>
          <a:xfrm>
            <a:off x="876300" y="487680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B4670A"/>
                </a:solidFill>
                <a:latin typeface="Calibri"/>
                <a:ea typeface="Calibri"/>
                <a:cs typeface="Calibri"/>
              </a:rPr>
              <a:t>CẢNH BÁO KHI TRÍCH SỐ LIỆU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1AE7B5-5BD9-4D6F-8ED1-276041BF1A73}"/>
              </a:ext>
            </a:extLst>
          </p:cNvPr>
          <p:cNvSpPr txBox="1"/>
          <p:nvPr/>
        </p:nvSpPr>
        <p:spPr>
          <a:xfrm>
            <a:off x="876300" y="5207000"/>
            <a:ext cx="10439400" cy="1041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vi-VN" sz="1300">
                <a:solidFill>
                  <a:srgbClr val="5A4526"/>
                </a:solidFill>
                <a:latin typeface="Calibri"/>
                <a:ea typeface="Calibri"/>
                <a:cs typeface="Calibri"/>
              </a:rPr>
              <a:t>• Benchmark nhỏ (LoCoMo, LongMemEval) có thể tăng điểm chỉ nhờ truy xuất mạnh tay, context lớn hơn hoặc LLM mạnh hơn — không đồng nghĩa hệ bộ nhớ tốt hơn. Phải cố định điều kiện thí nghiệm khi so cấu hình.
• Có đánh giá độc lập cho Mem0 chỉ ~49,0% trên LongMemEval, và kết quả LOCOMO do tác giả công bố bị đối thủ phản bác → luôn ghi rõ “theo công bố của tác giả”.</a:t>
            </a:r>
            <a:endParaRPr lang="en-US" sz="1300">
              <a:solidFill>
                <a:srgbClr val="5A4526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1725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3A3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HOẠCH THỰC HIỆN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31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Lộ trình 8 tuần (Tháng 9 – Tháng 10 / 2026)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4668" cy="932688"/>
          </a:xfrm>
          <a:prstGeom prst="roundRect">
            <a:avLst>
              <a:gd name="adj" fmla="val 8824"/>
            </a:avLst>
          </a:prstGeom>
          <a:solidFill>
            <a:srgbClr val="13123A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" y="1965960"/>
            <a:ext cx="960120" cy="566928"/>
          </a:xfrm>
          <a:prstGeom prst="roundRect">
            <a:avLst>
              <a:gd name="adj" fmla="val 14516"/>
            </a:avLst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1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865376" y="1874520"/>
            <a:ext cx="28300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E7E8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nền tảng &amp; khảo sát liên quan; chốt vấn đề, phạm vi &amp; kiến trúc.</a:t>
            </a:r>
            <a:endParaRPr lang="en-US" sz="1180" dirty="0"/>
          </a:p>
        </p:txBody>
      </p:sp>
      <p:sp>
        <p:nvSpPr>
          <p:cNvPr id="8" name="Text 6"/>
          <p:cNvSpPr txBox="1"/>
          <p:nvPr/>
        </p:nvSpPr>
        <p:spPr>
          <a:xfrm>
            <a:off x="4677156" y="192938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i="1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đang ở đây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2807208"/>
            <a:ext cx="5344668" cy="932688"/>
          </a:xfrm>
          <a:prstGeom prst="roundRect">
            <a:avLst>
              <a:gd name="adj" fmla="val 8824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49808" y="2990088"/>
            <a:ext cx="960120" cy="566928"/>
          </a:xfrm>
          <a:prstGeom prst="roundRect">
            <a:avLst>
              <a:gd name="adj" fmla="val 14516"/>
            </a:avLst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749808" y="2990088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865376" y="2898648"/>
            <a:ext cx="38816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kiến trúc chi tiết; chọn LLM &amp; vector DB; dựng khung dự án + giao diện tối thiểu.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566928" y="3831336"/>
            <a:ext cx="5344668" cy="932688"/>
          </a:xfrm>
          <a:prstGeom prst="roundRect">
            <a:avLst>
              <a:gd name="adj" fmla="val 8824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49808" y="4014216"/>
            <a:ext cx="960120" cy="566928"/>
          </a:xfrm>
          <a:prstGeom prst="roundRect">
            <a:avLst>
              <a:gd name="adj" fmla="val 14516"/>
            </a:avLst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749808" y="4014216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865376" y="3922776"/>
            <a:ext cx="38816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pipeline lưu trữ &amp; truy xuất cơ bản (embedding + vector DB + RAG).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566928" y="4855464"/>
            <a:ext cx="5344668" cy="932688"/>
          </a:xfrm>
          <a:prstGeom prst="roundRect">
            <a:avLst>
              <a:gd name="adj" fmla="val 8824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9808" y="5038344"/>
            <a:ext cx="960120" cy="566928"/>
          </a:xfrm>
          <a:prstGeom prst="roundRect">
            <a:avLst>
              <a:gd name="adj" fmla="val 14516"/>
            </a:avLst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49808" y="5038344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865376" y="4946904"/>
            <a:ext cx="38816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chế trích xuất &amp; cập nhật bộ nhớ (ADD/UPDATE/DELETE); tách ngắn/dài hạn.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6277356" y="1783080"/>
            <a:ext cx="5344668" cy="932688"/>
          </a:xfrm>
          <a:prstGeom prst="roundRect">
            <a:avLst>
              <a:gd name="adj" fmla="val 8824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460236" y="1965960"/>
            <a:ext cx="960120" cy="566928"/>
          </a:xfrm>
          <a:prstGeom prst="roundRect">
            <a:avLst>
              <a:gd name="adj" fmla="val 14516"/>
            </a:avLst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460236" y="19659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75804" y="1874520"/>
            <a:ext cx="38816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Agent + bộ nhớ; sinh phản hồi dùng ký ức; demo phiên bản đầu.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6277356" y="2807208"/>
            <a:ext cx="5344668" cy="932688"/>
          </a:xfrm>
          <a:prstGeom prst="roundRect">
            <a:avLst>
              <a:gd name="adj" fmla="val 8824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460236" y="2990088"/>
            <a:ext cx="960120" cy="566928"/>
          </a:xfrm>
          <a:prstGeom prst="roundRect">
            <a:avLst>
              <a:gd name="adj" fmla="val 14516"/>
            </a:avLst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6460236" y="2990088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575804" y="2898648"/>
            <a:ext cx="38816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kịch bản/dữ liệu đánh giá; đo độ chính xác &amp; tính nhất quán; sửa lỗi.</a:t>
            </a:r>
            <a:endParaRPr lang="en-US" sz="1180" dirty="0"/>
          </a:p>
        </p:txBody>
      </p:sp>
      <p:sp>
        <p:nvSpPr>
          <p:cNvPr id="29" name="Shape 27"/>
          <p:cNvSpPr/>
          <p:nvPr/>
        </p:nvSpPr>
        <p:spPr>
          <a:xfrm>
            <a:off x="6277356" y="3831336"/>
            <a:ext cx="5344668" cy="932688"/>
          </a:xfrm>
          <a:prstGeom prst="roundRect">
            <a:avLst>
              <a:gd name="adj" fmla="val 8824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60236" y="4014216"/>
            <a:ext cx="960120" cy="566928"/>
          </a:xfrm>
          <a:prstGeom prst="roundRect">
            <a:avLst>
              <a:gd name="adj" fmla="val 14516"/>
            </a:avLst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460236" y="4014216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575804" y="3922776"/>
            <a:ext cx="38816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hiệu năng (tốc độ truy xuất, chi phí); hoàn thiện demo.</a:t>
            </a:r>
            <a:endParaRPr lang="en-US" sz="1180" dirty="0"/>
          </a:p>
        </p:txBody>
      </p:sp>
      <p:sp>
        <p:nvSpPr>
          <p:cNvPr id="33" name="Shape 31"/>
          <p:cNvSpPr/>
          <p:nvPr/>
        </p:nvSpPr>
        <p:spPr>
          <a:xfrm>
            <a:off x="6277356" y="4855464"/>
            <a:ext cx="5344668" cy="932688"/>
          </a:xfrm>
          <a:prstGeom prst="roundRect">
            <a:avLst>
              <a:gd name="adj" fmla="val 8824"/>
            </a:avLst>
          </a:prstGeom>
          <a:solidFill>
            <a:srgbClr val="F1F2FB"/>
          </a:solidFill>
          <a:ln/>
          <a:effectLst>
            <a:outerShdw blurRad="88900" dist="38100" dir="5400000" algn="bl" rotWithShape="0">
              <a:srgbClr val="8A8DA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60236" y="5038344"/>
            <a:ext cx="960120" cy="566928"/>
          </a:xfrm>
          <a:prstGeom prst="roundRect">
            <a:avLst>
              <a:gd name="adj" fmla="val 14516"/>
            </a:avLst>
          </a:prstGeom>
          <a:solidFill>
            <a:srgbClr val="3A3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 txBox="1"/>
          <p:nvPr/>
        </p:nvSpPr>
        <p:spPr>
          <a:xfrm>
            <a:off x="6460236" y="5038344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8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575804" y="4946904"/>
            <a:ext cx="38816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80" dirty="0">
                <a:solidFill>
                  <a:srgbClr val="20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báo cáo &amp; tài liệu hướng dẫn; đóng gói mã nguồn; chuẩn bị trình bày cuối.</a:t>
            </a:r>
            <a:endParaRPr lang="en-US" sz="11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4846320"/>
            <a:ext cx="2743200" cy="2743200"/>
          </a:xfrm>
          <a:prstGeom prst="ellipse">
            <a:avLst/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 · TÀI LIỆU THAM KHẢO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2296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nghệ dự kiến &amp; nguồn đọc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344668" cy="4160520"/>
          </a:xfrm>
          <a:prstGeom prst="roundRect">
            <a:avLst>
              <a:gd name="adj" fmla="val 1978"/>
            </a:avLst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59536" y="1993392"/>
            <a:ext cx="566928" cy="566928"/>
          </a:xfrm>
          <a:prstGeom prst="ellipse">
            <a:avLst/>
          </a:prstGeom>
          <a:solidFill>
            <a:srgbClr val="1FA6A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2140793"/>
            <a:ext cx="272125" cy="27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72768" y="2048256"/>
            <a:ext cx="41559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NGHỆ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2697480"/>
            <a:ext cx="46131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ngữ:  </a:t>
            </a:r>
            <a:r>
              <a:rPr lang="en-US" sz="1300" dirty="0">
                <a:solidFill>
                  <a:srgbClr val="D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32688" y="3337560"/>
            <a:ext cx="46131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 </a:t>
            </a:r>
            <a:r>
              <a:rPr lang="en-US" sz="1300" dirty="0">
                <a:solidFill>
                  <a:srgbClr val="D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(Gemini / OpenAI / Claude) hoặc mô hình nguồn mở qua Ollama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3977640"/>
            <a:ext cx="46131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DB:  </a:t>
            </a:r>
            <a:r>
              <a:rPr lang="en-US" sz="1300" dirty="0">
                <a:solidFill>
                  <a:srgbClr val="D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· FAISS · Qdrant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32688" y="4617720"/>
            <a:ext cx="46131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tham khảo:  </a:t>
            </a:r>
            <a:r>
              <a:rPr lang="en-US" sz="1300" dirty="0">
                <a:solidFill>
                  <a:srgbClr val="D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Mem0 · Letta (MemGPT) · Zep · LangMem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" y="5257800"/>
            <a:ext cx="46131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Orchestration:  </a:t>
            </a:r>
            <a:r>
              <a:rPr lang="en-US" sz="1300" dirty="0">
                <a:solidFill>
                  <a:srgbClr val="D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/ LangGraph (tùy chọn)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77356" y="1783080"/>
            <a:ext cx="5344668" cy="4160520"/>
          </a:xfrm>
          <a:prstGeom prst="roundRect">
            <a:avLst>
              <a:gd name="adj" fmla="val 1978"/>
            </a:avLst>
          </a:prstGeom>
          <a:solidFill>
            <a:srgbClr val="1E1C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569964" y="1993392"/>
            <a:ext cx="566928" cy="566928"/>
          </a:xfrm>
          <a:prstGeom prst="ellipse">
            <a:avLst/>
          </a:prstGeom>
          <a:solidFill>
            <a:srgbClr val="E997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365" y="2140793"/>
            <a:ext cx="272125" cy="27212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283196" y="2048256"/>
            <a:ext cx="41559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&amp; TÀI LIỆU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643116" y="2697480"/>
            <a:ext cx="46131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 </a:t>
            </a:r>
            <a:r>
              <a:rPr lang="en-US" sz="1300" dirty="0">
                <a:solidFill>
                  <a:srgbClr val="D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LoCoMo (ACL 2024) · LongMemEval (ICLR 2025)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643116" y="3447288"/>
            <a:ext cx="46131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nền tảng:  </a:t>
            </a:r>
            <a:r>
              <a:rPr lang="en-US" sz="1300" dirty="0">
                <a:solidFill>
                  <a:srgbClr val="D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MemGPT (2023) · Mem0 (2025) · Zep (2025) · A-MEM (2025)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643116" y="4197096"/>
            <a:ext cx="46131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Survey:  </a:t>
            </a:r>
            <a:r>
              <a:rPr lang="en-US" sz="1300" dirty="0">
                <a:solidFill>
                  <a:srgbClr val="D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 the Age of AI Agents (2025)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6643116" y="4946904"/>
            <a:ext cx="46131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99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đo:  </a:t>
            </a:r>
            <a:r>
              <a:rPr lang="en-US" sz="1300" dirty="0">
                <a:solidFill>
                  <a:srgbClr val="D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chính xác · Tính nhất quán · Hiệu năng (độ trễ, chi phí)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66928" y="6172200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D5D3E0-BC26-42C6-B918-9FA5E076C8D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4122995-3ffc-4722-b99c-7d85b1fc041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2761</Words>
  <Application>Microsoft Office PowerPoint</Application>
  <PresentationFormat>Custom</PresentationFormat>
  <Paragraphs>225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Phong Đặng Tuấn</cp:lastModifiedBy>
  <cp:revision>2</cp:revision>
  <dcterms:created xsi:type="dcterms:W3CDTF">2026-09-06T14:29:17Z</dcterms:created>
  <dcterms:modified xsi:type="dcterms:W3CDTF">2026-09-06T14:53:40Z</dcterms:modified>
</cp:coreProperties>
</file>