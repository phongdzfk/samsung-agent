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tuần 2 có ba phần. Một, trả lời phản hồi của thầy/cô về benchmark. Hai, trình bày khung tám năng lực và kiến trúc. Ba, chốt công nghệ — toàn bộ đều miễn phí. Nhấn ngay: đề tài hướng tới một hệ bộ nhớ hoàn chỉnh, đánh giá đủ các năng lực, không chỉ tập trung vào một khía cạnh.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trả lời trực tiếp câu hỏi tuần trước. Nói rõ nhóm đã tra lại từng benchmark chứ không trả lời cảm tính. Thầy/cô đúng với LoCoMo. LongMemEval thì có nhóm knowledge-update. Và nhóm tìm thêm được hai benchmark ICLR 2026 đo đúng trọng tâm. Nếu bị hỏi vì sao không dùng BEAM làm chính: BEAM tới 10M token, vượt khả năng hạ tầng của đồ án, nên chỉ dùng đối chiếu.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quan trọng nhất về mặt định vị. Thông điệp: đề tài nhắm tới một hệ bộ nhớ HOÀN CHỈNH, mỗi năng lực có một thành phần chịu trách nhiệm và một mốc tuần cụ thể, chứ không dồn hết vào một khía cạnh. Cập nhật kiến thức và giải quyết mâu thuẫn là hai dòng trong tám dòng — đó là chỗ nhóm có cải tiến, nhưng không phải toàn bộ đề tài. Nếu thầy/cô hỏi có kịp không: độ sâu mỗi năng lực ở mức nguyên mẫu, mục tiêu là mỗi năng lực đều chạy được và có test, không phải mỗi năng lực đều đạt SOTA.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khối chính, ba thành phần con nằm trong bộ quản lý bộ nhớ. Điểm cần nhấn là nguyên tắc tách lớp: nó không phải để đẹp mà để phục vụ thí nghiệm — phải đổi được mô hình nền mà không sửa lõi. Nếu thầy/cô hỏi vì sao chia nhỏ như vậy, trả lời bằng lý do thí nghiệm chứ không phải lý do kỹ thuật chung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Thay đổi so với dự kiến tuần 1: bỏ OpenAI, chuyển sang Gemini gói miễn phí. Điểm đáng nói nhất là quyết định tách embedding ra chạy local — không phải để tiết kiệm, mà vì embedding bị gọi nhiều nhất và sẽ đốt hết quota. Chạy local còn cho phép quét tham số thoải mái ở tuần 6. Nếu thầy/cô hỏi về chất lượng embedding tiếng Việt, nói là sẽ so vài mô hình ở tuần 6 và báo cáo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lược đồ. Bốn nhóm trường, mỗi nhóm phục vụ một số năng lực trong bảng ở slide 3. Nếu thầy/cô hỏi thông tin không có cấu trúc thì sao: slot chỉ áp cho fact semantic; episodic vẫn lưu dạng câu, và sự kiện đã xảy ra thì không cần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pha. Điểm cần nhấn: pha 2 hoàn toàn không gọi mô hình, và pha 3 lọc bản cũ hai lớp. Nếu còn thời gian thì mở code retriever ra chỉ. Nếu thầy/cô hỏi vì sao ghi nhớ làm sau khi trả lời: để không tăng độ trễ mà người dùng cảm nhận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giải thích một trong tám năng lực, không phải toàn bộ đề tài — nói rõ câu đó. Phân biệt hai khái niệm: cập nhật là có thứ tự thời gian, mâu thuẫn là không có. BEAM chấm chúng như hai năng lực riêng nên nhóm cũng tách. Ba con số cho thấy vì sao năng lực này đáng đầu tư, nhưng đừng để nó lấn át phần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trục áp cho tất cả tám năng lực, không phải chỉ cho trục cập nhật. Điểm cần nhấn mạnh: độ chính xác phải tách theo từng loại câu hỏi, vì gộp lại thành một con số sẽ che mất chỗ hệ thống yếu. Và điều kiện thí nghiệm phải cố định, nếu không thì số liệu không chứng minh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cấu hình là một nghiên cứu cắt bỏ thành phần. Cấu hình llm-judge là cái quan trọng nhất — không có nó thì không chứng minh được cơ chế tất định hơn ở đâu. Câu cuối trong khối tối là để thể hiện thái độ nghiên cứu trung thực, nên nói ra thành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đã sửa: trước đây tuần 3 đến tuần 5 chỉ ghi chung chung là xây pipeline. Giờ mỗi tuần gắn với một nhóm năng lực cụ thể trong bảng slide 3, nên theo dõi được tiến độ theo năng lực chứ không theo cảm tính. Tuần 7 dành trọn cho việc chạy đủ bốn cấu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buổi. Nói rõ tuần 2 đóng được phần thiết kế và phần chốt công nghệ, và quan trọng hơn là đã khoanh được phạm vi theo tám năng lực thay vì làm chung chung. Hai câu hỏi cuối là để mời thầy/cô góp ý — nên hỏi thật, vì đó là hai điểm nhóm chưa chắc.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23A"/>
        </a:solidFill>
      </p:bgPr>
    </p:bg>
    <p:spTree>
      <p:nvGrpSpPr>
        <p:cNvPr id="1" name=""/>
        <p:cNvGrpSpPr/>
        <p:nvPr/>
      </p:nvGrpSpPr>
      <p:grpSpPr>
        <a:xfrm>
          <a:off x="0" y="0"/>
          <a:ext cx="0" cy="0"/>
          <a:chOff x="0" y="0"/>
          <a:chExt cx="0" cy="0"/>
        </a:xfrm>
      </p:grpSpPr>
      <p:sp>
        <p:nvSpPr>
          <p:cNvPr id="2" name="Shape 0"/>
          <p:cNvSpPr/>
          <p:nvPr/>
        </p:nvSpPr>
        <p:spPr>
          <a:xfrm>
            <a:off x="10195560" y="-914400"/>
            <a:ext cx="3108960" cy="3108960"/>
          </a:xfrm>
          <a:prstGeom prst="ellipse">
            <a:avLst/>
          </a:prstGeom>
          <a:solidFill>
            <a:srgbClr val="1E1C55"/>
          </a:solidFill>
          <a:ln w="12700">
            <a:solidFill>
              <a:srgbClr val="1E1C55"/>
            </a:solidFill>
            <a:prstDash val="solid"/>
          </a:ln>
        </p:spPr>
      </p:sp>
      <p:sp>
        <p:nvSpPr>
          <p:cNvPr id="3" name="Shape 1"/>
          <p:cNvSpPr/>
          <p:nvPr/>
        </p:nvSpPr>
        <p:spPr>
          <a:xfrm>
            <a:off x="11155680" y="5120640"/>
            <a:ext cx="2377440" cy="2377440"/>
          </a:xfrm>
          <a:prstGeom prst="ellipse">
            <a:avLst/>
          </a:prstGeom>
          <a:solidFill>
            <a:srgbClr val="1E1C55"/>
          </a:solidFill>
          <a:ln w="12700">
            <a:solidFill>
              <a:srgbClr val="1E1C55"/>
            </a:solidFill>
            <a:prstDash val="solid"/>
          </a:ln>
        </p:spPr>
      </p:sp>
      <p:sp>
        <p:nvSpPr>
          <p:cNvPr id="4" name="Shape 2"/>
          <p:cNvSpPr/>
          <p:nvPr/>
        </p:nvSpPr>
        <p:spPr>
          <a:xfrm>
            <a:off x="566928" y="1417320"/>
            <a:ext cx="1828800" cy="384048"/>
          </a:xfrm>
          <a:prstGeom prst="rect">
            <a:avLst/>
          </a:prstGeom>
          <a:solidFill>
            <a:srgbClr val="E9970B"/>
          </a:solidFill>
          <a:ln w="12700">
            <a:solidFill>
              <a:srgbClr val="E9970B"/>
            </a:solidFill>
            <a:prstDash val="solid"/>
          </a:ln>
        </p:spPr>
      </p:sp>
      <p:sp>
        <p:nvSpPr>
          <p:cNvPr id="5" name="Text 3"/>
          <p:cNvSpPr txBox="1"/>
          <p:nvPr/>
        </p:nvSpPr>
        <p:spPr>
          <a:xfrm>
            <a:off x="566928" y="1417320"/>
            <a:ext cx="1828800" cy="384048"/>
          </a:xfrm>
          <a:prstGeom prst="rect">
            <a:avLst/>
          </a:prstGeom>
          <a:noFill/>
          <a:ln/>
        </p:spPr>
        <p:txBody>
          <a:bodyPr wrap="square" lIns="0" tIns="0" rIns="0" bIns="0" rtlCol="0" anchor="ctr"/>
          <a:lstStyle/>
          <a:p>
            <a:pPr algn="ctr" indent="0" marL="0">
              <a:buNone/>
            </a:pPr>
            <a:r>
              <a:rPr lang="en-US" sz="1150" b="1" dirty="0">
                <a:solidFill>
                  <a:srgbClr val="13123A"/>
                </a:solidFill>
                <a:latin typeface="Calibri" pitchFamily="34" charset="0"/>
                <a:ea typeface="Calibri" pitchFamily="34" charset="-122"/>
                <a:cs typeface="Calibri" pitchFamily="34" charset="-120"/>
              </a:rPr>
              <a:t>BÁO CÁO TUẦN 2</a:t>
            </a:r>
            <a:endParaRPr lang="en-US" sz="1150" dirty="0"/>
          </a:p>
        </p:txBody>
      </p:sp>
      <p:sp>
        <p:nvSpPr>
          <p:cNvPr id="6" name="Text 4"/>
          <p:cNvSpPr txBox="1"/>
          <p:nvPr/>
        </p:nvSpPr>
        <p:spPr>
          <a:xfrm>
            <a:off x="566928" y="1965960"/>
            <a:ext cx="9692640" cy="1828800"/>
          </a:xfrm>
          <a:prstGeom prst="rect">
            <a:avLst/>
          </a:prstGeom>
          <a:noFill/>
          <a:ln/>
        </p:spPr>
        <p:txBody>
          <a:bodyPr wrap="square" lIns="0" tIns="0" rIns="0" bIns="0" rtlCol="0" anchor="ctr"/>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Thiết kế kiến trúc</a:t>
            </a:r>
            <a:endParaRPr lang="en-US" sz="4600" dirty="0"/>
          </a:p>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&amp; Khung hệ thống</a:t>
            </a:r>
            <a:endParaRPr lang="en-US" sz="4600" dirty="0"/>
          </a:p>
        </p:txBody>
      </p:sp>
      <p:sp>
        <p:nvSpPr>
          <p:cNvPr id="7" name="Text 5"/>
          <p:cNvSpPr txBox="1"/>
          <p:nvPr/>
        </p:nvSpPr>
        <p:spPr>
          <a:xfrm>
            <a:off x="566928" y="3886200"/>
            <a:ext cx="9692640" cy="548640"/>
          </a:xfrm>
          <a:prstGeom prst="rect">
            <a:avLst/>
          </a:prstGeom>
          <a:noFill/>
          <a:ln/>
        </p:spPr>
        <p:txBody>
          <a:bodyPr wrap="square" lIns="0" tIns="0" rIns="0" bIns="0" rtlCol="0" anchor="ctr"/>
          <a:lstStyle/>
          <a:p>
            <a:pPr indent="0" marL="0">
              <a:buNone/>
            </a:pPr>
            <a:r>
              <a:rPr lang="en-US" sz="1800" dirty="0">
                <a:solidFill>
                  <a:srgbClr val="C7C9E6"/>
                </a:solidFill>
                <a:latin typeface="Calibri" pitchFamily="34" charset="0"/>
                <a:ea typeface="Calibri" pitchFamily="34" charset="-122"/>
                <a:cs typeface="Calibri" pitchFamily="34" charset="-120"/>
              </a:rPr>
              <a:t>Tám năng lực bộ nhớ · kiến trúc module · công nghệ đã chốt</a:t>
            </a:r>
            <a:endParaRPr lang="en-US" sz="1800" dirty="0"/>
          </a:p>
        </p:txBody>
      </p:sp>
      <p:sp>
        <p:nvSpPr>
          <p:cNvPr id="8" name="Shape 6"/>
          <p:cNvSpPr/>
          <p:nvPr/>
        </p:nvSpPr>
        <p:spPr>
          <a:xfrm>
            <a:off x="566928" y="4892040"/>
            <a:ext cx="3840480" cy="0"/>
          </a:xfrm>
          <a:prstGeom prst="line">
            <a:avLst/>
          </a:prstGeom>
          <a:noFill/>
          <a:ln w="25400">
            <a:solidFill>
              <a:srgbClr val="1FA6A6"/>
            </a:solidFill>
            <a:prstDash val="solid"/>
          </a:ln>
        </p:spPr>
      </p:sp>
      <p:sp>
        <p:nvSpPr>
          <p:cNvPr id="9" name="Text 7"/>
          <p:cNvSpPr txBox="1"/>
          <p:nvPr/>
        </p:nvSpPr>
        <p:spPr>
          <a:xfrm>
            <a:off x="566928" y="5074920"/>
            <a:ext cx="10515600" cy="36576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Đồ án nhóm 2 thành viên</a:t>
            </a:r>
            <a:pPr indent="0" marL="0">
              <a:buNone/>
            </a:pPr>
            <a:r>
              <a:rPr lang="en-US" sz="1350" dirty="0">
                <a:solidFill>
                  <a:srgbClr val="9FA2C8"/>
                </a:solidFill>
                <a:latin typeface="Calibri" pitchFamily="34" charset="0"/>
                <a:ea typeface="Calibri" pitchFamily="34" charset="-122"/>
                <a:cs typeface="Calibri" pitchFamily="34" charset="-120"/>
              </a:rPr>
              <a:t>   ·   Tuần 2 / 8   ·   Nội dung: Rà soát benchmark · Thiết kế chi tiết · Chốt công nghệ</a:t>
            </a:r>
            <a:endParaRPr lang="en-US" sz="1350" dirty="0"/>
          </a:p>
        </p:txBody>
      </p:sp>
      <p:sp>
        <p:nvSpPr>
          <p:cNvPr id="10" name="Text 8"/>
          <p:cNvSpPr txBox="1"/>
          <p:nvPr/>
        </p:nvSpPr>
        <p:spPr>
          <a:xfrm>
            <a:off x="566928" y="6464808"/>
            <a:ext cx="11045952" cy="329184"/>
          </a:xfrm>
          <a:prstGeom prst="rect">
            <a:avLst/>
          </a:prstGeom>
          <a:noFill/>
          <a:ln/>
        </p:spPr>
        <p:txBody>
          <a:bodyPr wrap="square" lIns="0" tIns="0" rIns="0" bIns="0" rtlCol="0" anchor="ctr"/>
          <a:lstStyle/>
          <a:p>
            <a:pPr indent="0" marL="0">
              <a:buNone/>
            </a:pPr>
            <a:r>
              <a:rPr lang="en-US" sz="1050" dirty="0">
                <a:solidFill>
                  <a:srgbClr val="6B6F82"/>
                </a:solidFill>
                <a:latin typeface="Calibri" pitchFamily="34" charset="0"/>
                <a:ea typeface="Calibri" pitchFamily="34" charset="-122"/>
                <a:cs typeface="Calibri" pitchFamily="34" charset="-120"/>
              </a:rPr>
              <a:t>Nguồn tham chiếu: các công trình bình duyệt ACL 2024 · NeurIPS 2023 · ICLR 2025 · ECAI 2025 · ICLR 2026 — liệt kê ở từng slide.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1FA6A6"/>
                </a:solidFill>
                <a:latin typeface="Calibri" pitchFamily="34" charset="0"/>
                <a:ea typeface="Calibri" pitchFamily="34" charset="-122"/>
                <a:cs typeface="Calibri" pitchFamily="34" charset="-120"/>
              </a:rPr>
              <a:t>PHẢN HỒI TUẦN 1</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Benchmark nào thật sự đo việc cập nhật kiến thức?</a:t>
            </a:r>
            <a:endParaRPr lang="en-US" sz="3000" dirty="0"/>
          </a:p>
        </p:txBody>
      </p:sp>
      <p:sp>
        <p:nvSpPr>
          <p:cNvPr id="4" name="Text 2"/>
          <p:cNvSpPr txBox="1"/>
          <p:nvPr/>
        </p:nvSpPr>
        <p:spPr>
          <a:xfrm>
            <a:off x="749808" y="1673352"/>
            <a:ext cx="196596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BENCHMARK</a:t>
            </a:r>
            <a:endParaRPr lang="en-US" sz="1100" dirty="0"/>
          </a:p>
        </p:txBody>
      </p:sp>
      <p:sp>
        <p:nvSpPr>
          <p:cNvPr id="5" name="Text 3"/>
          <p:cNvSpPr txBox="1"/>
          <p:nvPr/>
        </p:nvSpPr>
        <p:spPr>
          <a:xfrm>
            <a:off x="2834640" y="1673352"/>
            <a:ext cx="123444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HỘI NGHỊ</a:t>
            </a:r>
            <a:endParaRPr lang="en-US" sz="1100" dirty="0"/>
          </a:p>
        </p:txBody>
      </p:sp>
      <p:sp>
        <p:nvSpPr>
          <p:cNvPr id="6" name="Text 4"/>
          <p:cNvSpPr txBox="1"/>
          <p:nvPr/>
        </p:nvSpPr>
        <p:spPr>
          <a:xfrm>
            <a:off x="4187952" y="1673352"/>
            <a:ext cx="169164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ĐO CẬP NHẬT?</a:t>
            </a:r>
            <a:endParaRPr lang="en-US" sz="1100" dirty="0"/>
          </a:p>
        </p:txBody>
      </p:sp>
      <p:sp>
        <p:nvSpPr>
          <p:cNvPr id="7" name="Text 5"/>
          <p:cNvSpPr txBox="1"/>
          <p:nvPr/>
        </p:nvSpPr>
        <p:spPr>
          <a:xfrm>
            <a:off x="5998464" y="1673352"/>
            <a:ext cx="5431536"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CÁCH ĐO</a:t>
            </a:r>
            <a:endParaRPr lang="en-US" sz="1100" dirty="0"/>
          </a:p>
        </p:txBody>
      </p:sp>
      <p:sp>
        <p:nvSpPr>
          <p:cNvPr id="8" name="Shape 6"/>
          <p:cNvSpPr/>
          <p:nvPr/>
        </p:nvSpPr>
        <p:spPr>
          <a:xfrm>
            <a:off x="566928" y="2002536"/>
            <a:ext cx="11045952" cy="676656"/>
          </a:xfrm>
          <a:prstGeom prst="roundRect">
            <a:avLst>
              <a:gd name="adj" fmla="val 8108"/>
            </a:avLst>
          </a:prstGeom>
          <a:solidFill>
            <a:srgbClr val="ECEBF7"/>
          </a:solidFill>
          <a:ln w="12700">
            <a:solidFill>
              <a:srgbClr val="FFFFFF"/>
            </a:solidFill>
            <a:prstDash val="solid"/>
          </a:ln>
        </p:spPr>
      </p:sp>
      <p:sp>
        <p:nvSpPr>
          <p:cNvPr id="9" name="Text 7"/>
          <p:cNvSpPr txBox="1"/>
          <p:nvPr/>
        </p:nvSpPr>
        <p:spPr>
          <a:xfrm>
            <a:off x="749808" y="2084832"/>
            <a:ext cx="196596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LoCoMo</a:t>
            </a:r>
            <a:endParaRPr lang="en-US" sz="1250" dirty="0"/>
          </a:p>
        </p:txBody>
      </p:sp>
      <p:sp>
        <p:nvSpPr>
          <p:cNvPr id="10" name="Text 8"/>
          <p:cNvSpPr txBox="1"/>
          <p:nvPr/>
        </p:nvSpPr>
        <p:spPr>
          <a:xfrm>
            <a:off x="2834640" y="2084832"/>
            <a:ext cx="12344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ACL 2024</a:t>
            </a:r>
            <a:endParaRPr lang="en-US" sz="1150" dirty="0"/>
          </a:p>
        </p:txBody>
      </p:sp>
      <p:sp>
        <p:nvSpPr>
          <p:cNvPr id="11" name="Text 9"/>
          <p:cNvSpPr txBox="1"/>
          <p:nvPr/>
        </p:nvSpPr>
        <p:spPr>
          <a:xfrm>
            <a:off x="4187952" y="2084832"/>
            <a:ext cx="16916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Không</a:t>
            </a:r>
            <a:endParaRPr lang="en-US" sz="1150" dirty="0"/>
          </a:p>
        </p:txBody>
      </p:sp>
      <p:sp>
        <p:nvSpPr>
          <p:cNvPr id="12" name="Text 10"/>
          <p:cNvSpPr txBox="1"/>
          <p:nvPr/>
        </p:nvSpPr>
        <p:spPr>
          <a:xfrm>
            <a:off x="5998464" y="2084832"/>
            <a:ext cx="5431536"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5 loại câu hỏi: single-hop, multi-hop, temporal, open-domain, adversarial. Không loại nào chấm việc ghi đè thông tin cũ.</a:t>
            </a:r>
            <a:endParaRPr lang="en-US" sz="1150" dirty="0"/>
          </a:p>
        </p:txBody>
      </p:sp>
      <p:sp>
        <p:nvSpPr>
          <p:cNvPr id="13" name="Shape 11"/>
          <p:cNvSpPr/>
          <p:nvPr/>
        </p:nvSpPr>
        <p:spPr>
          <a:xfrm>
            <a:off x="566928" y="2752344"/>
            <a:ext cx="11045952" cy="676656"/>
          </a:xfrm>
          <a:prstGeom prst="roundRect">
            <a:avLst>
              <a:gd name="adj" fmla="val 8108"/>
            </a:avLst>
          </a:prstGeom>
          <a:solidFill>
            <a:srgbClr val="F7F7FB"/>
          </a:solidFill>
          <a:ln w="12700">
            <a:solidFill>
              <a:srgbClr val="FFFFFF"/>
            </a:solidFill>
            <a:prstDash val="solid"/>
          </a:ln>
        </p:spPr>
      </p:sp>
      <p:sp>
        <p:nvSpPr>
          <p:cNvPr id="14" name="Text 12"/>
          <p:cNvSpPr txBox="1"/>
          <p:nvPr/>
        </p:nvSpPr>
        <p:spPr>
          <a:xfrm>
            <a:off x="749808" y="2834640"/>
            <a:ext cx="196596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LongMemEval</a:t>
            </a:r>
            <a:endParaRPr lang="en-US" sz="1250" dirty="0"/>
          </a:p>
        </p:txBody>
      </p:sp>
      <p:sp>
        <p:nvSpPr>
          <p:cNvPr id="15" name="Text 13"/>
          <p:cNvSpPr txBox="1"/>
          <p:nvPr/>
        </p:nvSpPr>
        <p:spPr>
          <a:xfrm>
            <a:off x="2834640" y="2834640"/>
            <a:ext cx="12344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ICLR 2025</a:t>
            </a:r>
            <a:endParaRPr lang="en-US" sz="1150" dirty="0"/>
          </a:p>
        </p:txBody>
      </p:sp>
      <p:sp>
        <p:nvSpPr>
          <p:cNvPr id="16" name="Text 14"/>
          <p:cNvSpPr txBox="1"/>
          <p:nvPr/>
        </p:nvSpPr>
        <p:spPr>
          <a:xfrm>
            <a:off x="4187952" y="2834640"/>
            <a:ext cx="16916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Có</a:t>
            </a:r>
            <a:endParaRPr lang="en-US" sz="1150" dirty="0"/>
          </a:p>
        </p:txBody>
      </p:sp>
      <p:sp>
        <p:nvSpPr>
          <p:cNvPr id="17" name="Text 15"/>
          <p:cNvSpPr txBox="1"/>
          <p:nvPr/>
        </p:nvSpPr>
        <p:spPr>
          <a:xfrm>
            <a:off x="5998464" y="2834640"/>
            <a:ext cx="5431536"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Nhóm knowledge-update là 1 trong 5 năng lực cốt lõi — đúng tình huống N5 → N4.</a:t>
            </a:r>
            <a:endParaRPr lang="en-US" sz="1150" dirty="0"/>
          </a:p>
        </p:txBody>
      </p:sp>
      <p:sp>
        <p:nvSpPr>
          <p:cNvPr id="18" name="Shape 16"/>
          <p:cNvSpPr/>
          <p:nvPr/>
        </p:nvSpPr>
        <p:spPr>
          <a:xfrm>
            <a:off x="566928" y="3502152"/>
            <a:ext cx="11045952" cy="676656"/>
          </a:xfrm>
          <a:prstGeom prst="roundRect">
            <a:avLst>
              <a:gd name="adj" fmla="val 8108"/>
            </a:avLst>
          </a:prstGeom>
          <a:solidFill>
            <a:srgbClr val="ECEBF7"/>
          </a:solidFill>
          <a:ln w="12700">
            <a:solidFill>
              <a:srgbClr val="FFFFFF"/>
            </a:solidFill>
            <a:prstDash val="solid"/>
          </a:ln>
        </p:spPr>
      </p:sp>
      <p:sp>
        <p:nvSpPr>
          <p:cNvPr id="19" name="Text 17"/>
          <p:cNvSpPr txBox="1"/>
          <p:nvPr/>
        </p:nvSpPr>
        <p:spPr>
          <a:xfrm>
            <a:off x="749808" y="3584448"/>
            <a:ext cx="196596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MemoryAgentBench</a:t>
            </a:r>
            <a:endParaRPr lang="en-US" sz="1250" dirty="0"/>
          </a:p>
        </p:txBody>
      </p:sp>
      <p:sp>
        <p:nvSpPr>
          <p:cNvPr id="20" name="Text 18"/>
          <p:cNvSpPr txBox="1"/>
          <p:nvPr/>
        </p:nvSpPr>
        <p:spPr>
          <a:xfrm>
            <a:off x="2834640" y="3584448"/>
            <a:ext cx="12344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ICLR 2026</a:t>
            </a:r>
            <a:endParaRPr lang="en-US" sz="1150" dirty="0"/>
          </a:p>
        </p:txBody>
      </p:sp>
      <p:sp>
        <p:nvSpPr>
          <p:cNvPr id="21" name="Text 19"/>
          <p:cNvSpPr txBox="1"/>
          <p:nvPr/>
        </p:nvSpPr>
        <p:spPr>
          <a:xfrm>
            <a:off x="4187952" y="3584448"/>
            <a:ext cx="16916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Có — chuyên biệt</a:t>
            </a:r>
            <a:endParaRPr lang="en-US" sz="1150" dirty="0"/>
          </a:p>
        </p:txBody>
      </p:sp>
      <p:sp>
        <p:nvSpPr>
          <p:cNvPr id="22" name="Text 20"/>
          <p:cNvSpPr txBox="1"/>
          <p:nvPr/>
        </p:nvSpPr>
        <p:spPr>
          <a:xfrm>
            <a:off x="5998464" y="3584448"/>
            <a:ext cx="5431536"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Năng lực Conflict Resolution, bộ FactConsolidation: một fact có nhiều phiên bản đánh số, hệ phải trả về bản mới nhất.</a:t>
            </a:r>
            <a:endParaRPr lang="en-US" sz="1150" dirty="0"/>
          </a:p>
        </p:txBody>
      </p:sp>
      <p:sp>
        <p:nvSpPr>
          <p:cNvPr id="23" name="Shape 21"/>
          <p:cNvSpPr/>
          <p:nvPr/>
        </p:nvSpPr>
        <p:spPr>
          <a:xfrm>
            <a:off x="566928" y="4251960"/>
            <a:ext cx="11045952" cy="676656"/>
          </a:xfrm>
          <a:prstGeom prst="roundRect">
            <a:avLst>
              <a:gd name="adj" fmla="val 8108"/>
            </a:avLst>
          </a:prstGeom>
          <a:solidFill>
            <a:srgbClr val="F7F7FB"/>
          </a:solidFill>
          <a:ln w="12700">
            <a:solidFill>
              <a:srgbClr val="FFFFFF"/>
            </a:solidFill>
            <a:prstDash val="solid"/>
          </a:ln>
        </p:spPr>
      </p:sp>
      <p:sp>
        <p:nvSpPr>
          <p:cNvPr id="24" name="Text 22"/>
          <p:cNvSpPr txBox="1"/>
          <p:nvPr/>
        </p:nvSpPr>
        <p:spPr>
          <a:xfrm>
            <a:off x="749808" y="4334256"/>
            <a:ext cx="196596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BEAM</a:t>
            </a:r>
            <a:endParaRPr lang="en-US" sz="1250" dirty="0"/>
          </a:p>
        </p:txBody>
      </p:sp>
      <p:sp>
        <p:nvSpPr>
          <p:cNvPr id="25" name="Text 23"/>
          <p:cNvSpPr txBox="1"/>
          <p:nvPr/>
        </p:nvSpPr>
        <p:spPr>
          <a:xfrm>
            <a:off x="2834640" y="4334256"/>
            <a:ext cx="12344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ICLR 2026</a:t>
            </a:r>
            <a:endParaRPr lang="en-US" sz="1150" dirty="0"/>
          </a:p>
        </p:txBody>
      </p:sp>
      <p:sp>
        <p:nvSpPr>
          <p:cNvPr id="26" name="Text 24"/>
          <p:cNvSpPr txBox="1"/>
          <p:nvPr/>
        </p:nvSpPr>
        <p:spPr>
          <a:xfrm>
            <a:off x="4187952" y="4334256"/>
            <a:ext cx="169164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Có — 2 trục riêng</a:t>
            </a:r>
            <a:endParaRPr lang="en-US" sz="1150" dirty="0"/>
          </a:p>
        </p:txBody>
      </p:sp>
      <p:sp>
        <p:nvSpPr>
          <p:cNvPr id="27" name="Text 25"/>
          <p:cNvSpPr txBox="1"/>
          <p:nvPr/>
        </p:nvSpPr>
        <p:spPr>
          <a:xfrm>
            <a:off x="5998464" y="4334256"/>
            <a:ext cx="5431536"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Knowledge Update và Contradiction Resolution tách riêng trong 10 năng lực. 100 hội thoại tới 10M token.</a:t>
            </a:r>
            <a:endParaRPr lang="en-US" sz="1150" dirty="0"/>
          </a:p>
        </p:txBody>
      </p:sp>
      <p:sp>
        <p:nvSpPr>
          <p:cNvPr id="28" name="Shape 26"/>
          <p:cNvSpPr/>
          <p:nvPr/>
        </p:nvSpPr>
        <p:spPr>
          <a:xfrm>
            <a:off x="566928" y="5074920"/>
            <a:ext cx="11045952" cy="1225296"/>
          </a:xfrm>
          <a:prstGeom prst="roundRect">
            <a:avLst>
              <a:gd name="adj" fmla="val 3731"/>
            </a:avLst>
          </a:prstGeom>
          <a:solidFill>
            <a:srgbClr val="13123A"/>
          </a:solidFill>
          <a:ln w="12700">
            <a:solidFill>
              <a:srgbClr val="13123A"/>
            </a:solidFill>
            <a:prstDash val="solid"/>
          </a:ln>
        </p:spPr>
      </p:sp>
      <p:sp>
        <p:nvSpPr>
          <p:cNvPr id="29" name="Text 27"/>
          <p:cNvSpPr txBox="1"/>
          <p:nvPr/>
        </p:nvSpPr>
        <p:spPr>
          <a:xfrm>
            <a:off x="822960" y="5276088"/>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KẾT LUẬN SAU KHI TRA LẠI</a:t>
            </a:r>
            <a:endParaRPr lang="en-US" sz="1100" dirty="0"/>
          </a:p>
        </p:txBody>
      </p:sp>
      <p:sp>
        <p:nvSpPr>
          <p:cNvPr id="30" name="Text 28"/>
          <p:cNvSpPr txBox="1"/>
          <p:nvPr/>
        </p:nvSpPr>
        <p:spPr>
          <a:xfrm>
            <a:off x="822960" y="5559552"/>
            <a:ext cx="10533888" cy="585216"/>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Thầy/cô đúng với LoCoMo. Nhưng LongMemEval CÓ nhóm câu hỏi cập nhật, và nhóm đã bổ sung hai benchmark ICLR 2026 mới hơn, đo trực tiếp hơn. Phương án mới: LongMemEval-S làm chính (phủ 5 năng lực), FactConsolidation cho trục cập nhật, BEAM để đối chiếu các năng lực còn lại, LoCoMo hạ xuống vai trò so sánh với số đã công bố.</a:t>
            </a:r>
            <a:endParaRPr lang="en-US" sz="1250" dirty="0"/>
          </a:p>
        </p:txBody>
      </p:sp>
      <p:sp>
        <p:nvSpPr>
          <p:cNvPr id="31" name="Text 29"/>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Maharana et al., ACL 2024 (arXiv:2402.17753) · Wu et al., ICLR 2025 (arXiv:2410.10813) · Hu et al., ICLR 2026 (arXiv:2507.05257) · Tavakoli et al., ICLR 2026 (arXiv:2510.27246).</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E9970B"/>
                </a:solidFill>
                <a:latin typeface="Calibri" pitchFamily="34" charset="0"/>
                <a:ea typeface="Calibri" pitchFamily="34" charset="-122"/>
                <a:cs typeface="Calibri" pitchFamily="34" charset="-120"/>
              </a:rPr>
              <a:t>PHẠM VI ĐỀ TÀI</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Tám năng lực bộ nhớ và thành phần đảm nhiệm</a:t>
            </a:r>
            <a:endParaRPr lang="en-US" sz="3000" dirty="0"/>
          </a:p>
        </p:txBody>
      </p:sp>
      <p:sp>
        <p:nvSpPr>
          <p:cNvPr id="4" name="Text 2"/>
          <p:cNvSpPr txBox="1"/>
          <p:nvPr/>
        </p:nvSpPr>
        <p:spPr>
          <a:xfrm>
            <a:off x="749808" y="1673352"/>
            <a:ext cx="210312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NĂNG LỰC</a:t>
            </a:r>
            <a:endParaRPr lang="en-US" sz="1100" dirty="0"/>
          </a:p>
        </p:txBody>
      </p:sp>
      <p:sp>
        <p:nvSpPr>
          <p:cNvPr id="5" name="Text 3"/>
          <p:cNvSpPr txBox="1"/>
          <p:nvPr/>
        </p:nvSpPr>
        <p:spPr>
          <a:xfrm>
            <a:off x="2971800" y="1673352"/>
            <a:ext cx="233172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BENCHMARK CHẤM NÓ</a:t>
            </a:r>
            <a:endParaRPr lang="en-US" sz="1100" dirty="0"/>
          </a:p>
        </p:txBody>
      </p:sp>
      <p:sp>
        <p:nvSpPr>
          <p:cNvPr id="6" name="Text 4"/>
          <p:cNvSpPr txBox="1"/>
          <p:nvPr/>
        </p:nvSpPr>
        <p:spPr>
          <a:xfrm>
            <a:off x="5440680" y="1673352"/>
            <a:ext cx="470916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THÀNH PHẦN TRONG HỆ THỐNG</a:t>
            </a:r>
            <a:endParaRPr lang="en-US" sz="1100" dirty="0"/>
          </a:p>
        </p:txBody>
      </p:sp>
      <p:sp>
        <p:nvSpPr>
          <p:cNvPr id="7" name="Text 5"/>
          <p:cNvSpPr txBox="1"/>
          <p:nvPr/>
        </p:nvSpPr>
        <p:spPr>
          <a:xfrm>
            <a:off x="10314432" y="1673352"/>
            <a:ext cx="1115568"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TUẦN</a:t>
            </a:r>
            <a:endParaRPr lang="en-US" sz="1100" dirty="0"/>
          </a:p>
        </p:txBody>
      </p:sp>
      <p:sp>
        <p:nvSpPr>
          <p:cNvPr id="8" name="Shape 6"/>
          <p:cNvSpPr/>
          <p:nvPr/>
        </p:nvSpPr>
        <p:spPr>
          <a:xfrm>
            <a:off x="566928" y="2002536"/>
            <a:ext cx="11045952" cy="493776"/>
          </a:xfrm>
          <a:prstGeom prst="roundRect">
            <a:avLst>
              <a:gd name="adj" fmla="val 11111"/>
            </a:avLst>
          </a:prstGeom>
          <a:solidFill>
            <a:srgbClr val="ECEBF7"/>
          </a:solidFill>
          <a:ln w="12700">
            <a:solidFill>
              <a:srgbClr val="FFFFFF"/>
            </a:solidFill>
            <a:prstDash val="solid"/>
          </a:ln>
        </p:spPr>
      </p:sp>
      <p:sp>
        <p:nvSpPr>
          <p:cNvPr id="9" name="Text 7"/>
          <p:cNvSpPr txBox="1"/>
          <p:nvPr/>
        </p:nvSpPr>
        <p:spPr>
          <a:xfrm>
            <a:off x="749808" y="208483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Trích xuất &amp; nhớ chính xác</a:t>
            </a:r>
            <a:endParaRPr lang="en-US" sz="1250" dirty="0"/>
          </a:p>
        </p:txBody>
      </p:sp>
      <p:sp>
        <p:nvSpPr>
          <p:cNvPr id="10" name="Text 8"/>
          <p:cNvSpPr txBox="1"/>
          <p:nvPr/>
        </p:nvSpPr>
        <p:spPr>
          <a:xfrm>
            <a:off x="2971800" y="208483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LongMemEval IE · BEAM</a:t>
            </a:r>
            <a:endParaRPr lang="en-US" sz="1150" dirty="0"/>
          </a:p>
        </p:txBody>
      </p:sp>
      <p:sp>
        <p:nvSpPr>
          <p:cNvPr id="11" name="Text 9"/>
          <p:cNvSpPr txBox="1"/>
          <p:nvPr/>
        </p:nvSpPr>
        <p:spPr>
          <a:xfrm>
            <a:off x="5440680" y="208483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FactExtractor + truy xuất top-k theo embedding</a:t>
            </a:r>
            <a:endParaRPr lang="en-US" sz="1150" dirty="0"/>
          </a:p>
        </p:txBody>
      </p:sp>
      <p:sp>
        <p:nvSpPr>
          <p:cNvPr id="12" name="Text 10"/>
          <p:cNvSpPr txBox="1"/>
          <p:nvPr/>
        </p:nvSpPr>
        <p:spPr>
          <a:xfrm>
            <a:off x="10314432" y="208483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3</a:t>
            </a:r>
            <a:endParaRPr lang="en-US" sz="1150" dirty="0"/>
          </a:p>
        </p:txBody>
      </p:sp>
      <p:sp>
        <p:nvSpPr>
          <p:cNvPr id="13" name="Shape 11"/>
          <p:cNvSpPr/>
          <p:nvPr/>
        </p:nvSpPr>
        <p:spPr>
          <a:xfrm>
            <a:off x="566928" y="2551176"/>
            <a:ext cx="11045952" cy="493776"/>
          </a:xfrm>
          <a:prstGeom prst="roundRect">
            <a:avLst>
              <a:gd name="adj" fmla="val 11111"/>
            </a:avLst>
          </a:prstGeom>
          <a:solidFill>
            <a:srgbClr val="F7F7FB"/>
          </a:solidFill>
          <a:ln w="12700">
            <a:solidFill>
              <a:srgbClr val="FFFFFF"/>
            </a:solidFill>
            <a:prstDash val="solid"/>
          </a:ln>
        </p:spPr>
      </p:sp>
      <p:sp>
        <p:nvSpPr>
          <p:cNvPr id="14" name="Text 12"/>
          <p:cNvSpPr txBox="1"/>
          <p:nvPr/>
        </p:nvSpPr>
        <p:spPr>
          <a:xfrm>
            <a:off x="749808" y="263347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Suy luận đa phiên</a:t>
            </a:r>
            <a:endParaRPr lang="en-US" sz="1250" dirty="0"/>
          </a:p>
        </p:txBody>
      </p:sp>
      <p:sp>
        <p:nvSpPr>
          <p:cNvPr id="15" name="Text 13"/>
          <p:cNvSpPr txBox="1"/>
          <p:nvPr/>
        </p:nvSpPr>
        <p:spPr>
          <a:xfrm>
            <a:off x="2971800" y="263347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LongMemEval MR · BEAM</a:t>
            </a:r>
            <a:endParaRPr lang="en-US" sz="1150" dirty="0"/>
          </a:p>
        </p:txBody>
      </p:sp>
      <p:sp>
        <p:nvSpPr>
          <p:cNvPr id="16" name="Text 14"/>
          <p:cNvSpPr txBox="1"/>
          <p:nvPr/>
        </p:nvSpPr>
        <p:spPr>
          <a:xfrm>
            <a:off x="5440680" y="263347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QueryPlanner tách câu hỏi thành truy vấn con</a:t>
            </a:r>
            <a:endParaRPr lang="en-US" sz="1150" dirty="0"/>
          </a:p>
        </p:txBody>
      </p:sp>
      <p:sp>
        <p:nvSpPr>
          <p:cNvPr id="17" name="Text 15"/>
          <p:cNvSpPr txBox="1"/>
          <p:nvPr/>
        </p:nvSpPr>
        <p:spPr>
          <a:xfrm>
            <a:off x="10314432" y="263347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5</a:t>
            </a:r>
            <a:endParaRPr lang="en-US" sz="1150" dirty="0"/>
          </a:p>
        </p:txBody>
      </p:sp>
      <p:sp>
        <p:nvSpPr>
          <p:cNvPr id="18" name="Shape 16"/>
          <p:cNvSpPr/>
          <p:nvPr/>
        </p:nvSpPr>
        <p:spPr>
          <a:xfrm>
            <a:off x="566928" y="3099816"/>
            <a:ext cx="11045952" cy="493776"/>
          </a:xfrm>
          <a:prstGeom prst="roundRect">
            <a:avLst>
              <a:gd name="adj" fmla="val 11111"/>
            </a:avLst>
          </a:prstGeom>
          <a:solidFill>
            <a:srgbClr val="ECEBF7"/>
          </a:solidFill>
          <a:ln w="12700">
            <a:solidFill>
              <a:srgbClr val="FFFFFF"/>
            </a:solidFill>
            <a:prstDash val="solid"/>
          </a:ln>
        </p:spPr>
      </p:sp>
      <p:sp>
        <p:nvSpPr>
          <p:cNvPr id="19" name="Text 17"/>
          <p:cNvSpPr txBox="1"/>
          <p:nvPr/>
        </p:nvSpPr>
        <p:spPr>
          <a:xfrm>
            <a:off x="749808" y="318211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Suy luận thời gian</a:t>
            </a:r>
            <a:endParaRPr lang="en-US" sz="1250" dirty="0"/>
          </a:p>
        </p:txBody>
      </p:sp>
      <p:sp>
        <p:nvSpPr>
          <p:cNvPr id="20" name="Text 18"/>
          <p:cNvSpPr txBox="1"/>
          <p:nvPr/>
        </p:nvSpPr>
        <p:spPr>
          <a:xfrm>
            <a:off x="2971800" y="318211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LongMemEval TR · BEAM</a:t>
            </a:r>
            <a:endParaRPr lang="en-US" sz="1150" dirty="0"/>
          </a:p>
        </p:txBody>
      </p:sp>
      <p:sp>
        <p:nvSpPr>
          <p:cNvPr id="21" name="Text 19"/>
          <p:cNvSpPr txBox="1"/>
          <p:nvPr/>
        </p:nvSpPr>
        <p:spPr>
          <a:xfrm>
            <a:off x="5440680" y="318211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Khoảng hiệu lực valid_from / invalidated_at</a:t>
            </a:r>
            <a:endParaRPr lang="en-US" sz="1150" dirty="0"/>
          </a:p>
        </p:txBody>
      </p:sp>
      <p:sp>
        <p:nvSpPr>
          <p:cNvPr id="22" name="Text 20"/>
          <p:cNvSpPr txBox="1"/>
          <p:nvPr/>
        </p:nvSpPr>
        <p:spPr>
          <a:xfrm>
            <a:off x="10314432" y="318211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5</a:t>
            </a:r>
            <a:endParaRPr lang="en-US" sz="1150" dirty="0"/>
          </a:p>
        </p:txBody>
      </p:sp>
      <p:sp>
        <p:nvSpPr>
          <p:cNvPr id="23" name="Shape 21"/>
          <p:cNvSpPr/>
          <p:nvPr/>
        </p:nvSpPr>
        <p:spPr>
          <a:xfrm>
            <a:off x="566928" y="3648456"/>
            <a:ext cx="11045952" cy="493776"/>
          </a:xfrm>
          <a:prstGeom prst="roundRect">
            <a:avLst>
              <a:gd name="adj" fmla="val 11111"/>
            </a:avLst>
          </a:prstGeom>
          <a:solidFill>
            <a:srgbClr val="F7F7FB"/>
          </a:solidFill>
          <a:ln w="12700">
            <a:solidFill>
              <a:srgbClr val="FFFFFF"/>
            </a:solidFill>
            <a:prstDash val="solid"/>
          </a:ln>
        </p:spPr>
      </p:sp>
      <p:sp>
        <p:nvSpPr>
          <p:cNvPr id="24" name="Text 22"/>
          <p:cNvSpPr txBox="1"/>
          <p:nvPr/>
        </p:nvSpPr>
        <p:spPr>
          <a:xfrm>
            <a:off x="749808" y="373075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Cập nhật kiến thức</a:t>
            </a:r>
            <a:endParaRPr lang="en-US" sz="1250" dirty="0"/>
          </a:p>
        </p:txBody>
      </p:sp>
      <p:sp>
        <p:nvSpPr>
          <p:cNvPr id="25" name="Text 23"/>
          <p:cNvSpPr txBox="1"/>
          <p:nvPr/>
        </p:nvSpPr>
        <p:spPr>
          <a:xfrm>
            <a:off x="2971800" y="373075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LongMemEval KU · FactConsolidation</a:t>
            </a:r>
            <a:endParaRPr lang="en-US" sz="1150" dirty="0"/>
          </a:p>
        </p:txBody>
      </p:sp>
      <p:sp>
        <p:nvSpPr>
          <p:cNvPr id="26" name="Text 24"/>
          <p:cNvSpPr txBox="1"/>
          <p:nvPr/>
        </p:nvSpPr>
        <p:spPr>
          <a:xfrm>
            <a:off x="5440680" y="373075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Slot + seq; ADD / UPDATE / DELETE / NOOP</a:t>
            </a:r>
            <a:endParaRPr lang="en-US" sz="1150" dirty="0"/>
          </a:p>
        </p:txBody>
      </p:sp>
      <p:sp>
        <p:nvSpPr>
          <p:cNvPr id="27" name="Text 25"/>
          <p:cNvSpPr txBox="1"/>
          <p:nvPr/>
        </p:nvSpPr>
        <p:spPr>
          <a:xfrm>
            <a:off x="10314432" y="373075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4</a:t>
            </a:r>
            <a:endParaRPr lang="en-US" sz="1150" dirty="0"/>
          </a:p>
        </p:txBody>
      </p:sp>
      <p:sp>
        <p:nvSpPr>
          <p:cNvPr id="28" name="Shape 26"/>
          <p:cNvSpPr/>
          <p:nvPr/>
        </p:nvSpPr>
        <p:spPr>
          <a:xfrm>
            <a:off x="566928" y="4197096"/>
            <a:ext cx="11045952" cy="493776"/>
          </a:xfrm>
          <a:prstGeom prst="roundRect">
            <a:avLst>
              <a:gd name="adj" fmla="val 11111"/>
            </a:avLst>
          </a:prstGeom>
          <a:solidFill>
            <a:srgbClr val="ECEBF7"/>
          </a:solidFill>
          <a:ln w="12700">
            <a:solidFill>
              <a:srgbClr val="FFFFFF"/>
            </a:solidFill>
            <a:prstDash val="solid"/>
          </a:ln>
        </p:spPr>
      </p:sp>
      <p:sp>
        <p:nvSpPr>
          <p:cNvPr id="29" name="Text 27"/>
          <p:cNvSpPr txBox="1"/>
          <p:nvPr/>
        </p:nvSpPr>
        <p:spPr>
          <a:xfrm>
            <a:off x="749808" y="427939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Giải quyết mâu thuẫn</a:t>
            </a:r>
            <a:endParaRPr lang="en-US" sz="1250" dirty="0"/>
          </a:p>
        </p:txBody>
      </p:sp>
      <p:sp>
        <p:nvSpPr>
          <p:cNvPr id="30" name="Text 28"/>
          <p:cNvSpPr txBox="1"/>
          <p:nvPr/>
        </p:nvSpPr>
        <p:spPr>
          <a:xfrm>
            <a:off x="2971800" y="427939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BEAM contradiction</a:t>
            </a:r>
            <a:endParaRPr lang="en-US" sz="1150" dirty="0"/>
          </a:p>
        </p:txBody>
      </p:sp>
      <p:sp>
        <p:nvSpPr>
          <p:cNvPr id="31" name="Text 29"/>
          <p:cNvSpPr txBox="1"/>
          <p:nvPr/>
        </p:nvSpPr>
        <p:spPr>
          <a:xfrm>
            <a:off x="5440680" y="427939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Thao tác CONFLICT, đánh dấu cần rà soát</a:t>
            </a:r>
            <a:endParaRPr lang="en-US" sz="1150" dirty="0"/>
          </a:p>
        </p:txBody>
      </p:sp>
      <p:sp>
        <p:nvSpPr>
          <p:cNvPr id="32" name="Text 30"/>
          <p:cNvSpPr txBox="1"/>
          <p:nvPr/>
        </p:nvSpPr>
        <p:spPr>
          <a:xfrm>
            <a:off x="10314432" y="427939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4</a:t>
            </a:r>
            <a:endParaRPr lang="en-US" sz="1150" dirty="0"/>
          </a:p>
        </p:txBody>
      </p:sp>
      <p:sp>
        <p:nvSpPr>
          <p:cNvPr id="33" name="Shape 31"/>
          <p:cNvSpPr/>
          <p:nvPr/>
        </p:nvSpPr>
        <p:spPr>
          <a:xfrm>
            <a:off x="566928" y="4745736"/>
            <a:ext cx="11045952" cy="493776"/>
          </a:xfrm>
          <a:prstGeom prst="roundRect">
            <a:avLst>
              <a:gd name="adj" fmla="val 11111"/>
            </a:avLst>
          </a:prstGeom>
          <a:solidFill>
            <a:srgbClr val="F7F7FB"/>
          </a:solidFill>
          <a:ln w="12700">
            <a:solidFill>
              <a:srgbClr val="FFFFFF"/>
            </a:solidFill>
            <a:prstDash val="solid"/>
          </a:ln>
        </p:spPr>
      </p:sp>
      <p:sp>
        <p:nvSpPr>
          <p:cNvPr id="34" name="Text 32"/>
          <p:cNvSpPr txBox="1"/>
          <p:nvPr/>
        </p:nvSpPr>
        <p:spPr>
          <a:xfrm>
            <a:off x="749808" y="482803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Biết từ chối</a:t>
            </a:r>
            <a:endParaRPr lang="en-US" sz="1250" dirty="0"/>
          </a:p>
        </p:txBody>
      </p:sp>
      <p:sp>
        <p:nvSpPr>
          <p:cNvPr id="35" name="Text 33"/>
          <p:cNvSpPr txBox="1"/>
          <p:nvPr/>
        </p:nvSpPr>
        <p:spPr>
          <a:xfrm>
            <a:off x="2971800" y="482803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LongMemEval ABS · BEAM</a:t>
            </a:r>
            <a:endParaRPr lang="en-US" sz="1150" dirty="0"/>
          </a:p>
        </p:txBody>
      </p:sp>
      <p:sp>
        <p:nvSpPr>
          <p:cNvPr id="36" name="Text 34"/>
          <p:cNvSpPr txBox="1"/>
          <p:nvPr/>
        </p:nvSpPr>
        <p:spPr>
          <a:xfrm>
            <a:off x="5440680" y="482803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Ngưỡng tin cậy τ, hiệu chỉnh bằng thực nghiệm</a:t>
            </a:r>
            <a:endParaRPr lang="en-US" sz="1150" dirty="0"/>
          </a:p>
        </p:txBody>
      </p:sp>
      <p:sp>
        <p:nvSpPr>
          <p:cNvPr id="37" name="Text 35"/>
          <p:cNvSpPr txBox="1"/>
          <p:nvPr/>
        </p:nvSpPr>
        <p:spPr>
          <a:xfrm>
            <a:off x="10314432" y="482803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6</a:t>
            </a:r>
            <a:endParaRPr lang="en-US" sz="1150" dirty="0"/>
          </a:p>
        </p:txBody>
      </p:sp>
      <p:sp>
        <p:nvSpPr>
          <p:cNvPr id="38" name="Shape 36"/>
          <p:cNvSpPr/>
          <p:nvPr/>
        </p:nvSpPr>
        <p:spPr>
          <a:xfrm>
            <a:off x="566928" y="5294376"/>
            <a:ext cx="11045952" cy="493776"/>
          </a:xfrm>
          <a:prstGeom prst="roundRect">
            <a:avLst>
              <a:gd name="adj" fmla="val 11111"/>
            </a:avLst>
          </a:prstGeom>
          <a:solidFill>
            <a:srgbClr val="ECEBF7"/>
          </a:solidFill>
          <a:ln w="12700">
            <a:solidFill>
              <a:srgbClr val="FFFFFF"/>
            </a:solidFill>
            <a:prstDash val="solid"/>
          </a:ln>
        </p:spPr>
      </p:sp>
      <p:sp>
        <p:nvSpPr>
          <p:cNvPr id="39" name="Text 37"/>
          <p:cNvSpPr txBox="1"/>
          <p:nvPr/>
        </p:nvSpPr>
        <p:spPr>
          <a:xfrm>
            <a:off x="749808" y="537667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Tuân theo sở thích</a:t>
            </a:r>
            <a:endParaRPr lang="en-US" sz="1250" dirty="0"/>
          </a:p>
        </p:txBody>
      </p:sp>
      <p:sp>
        <p:nvSpPr>
          <p:cNvPr id="40" name="Text 38"/>
          <p:cNvSpPr txBox="1"/>
          <p:nvPr/>
        </p:nvSpPr>
        <p:spPr>
          <a:xfrm>
            <a:off x="2971800" y="537667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BEAM preference</a:t>
            </a:r>
            <a:endParaRPr lang="en-US" sz="1150" dirty="0"/>
          </a:p>
        </p:txBody>
      </p:sp>
      <p:sp>
        <p:nvSpPr>
          <p:cNvPr id="41" name="Text 39"/>
          <p:cNvSpPr txBox="1"/>
          <p:nvPr/>
        </p:nvSpPr>
        <p:spPr>
          <a:xfrm>
            <a:off x="5440680" y="537667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Ký ức pinned — luôn nạp, không qua top-k</a:t>
            </a:r>
            <a:endParaRPr lang="en-US" sz="1150" dirty="0"/>
          </a:p>
        </p:txBody>
      </p:sp>
      <p:sp>
        <p:nvSpPr>
          <p:cNvPr id="42" name="Text 40"/>
          <p:cNvSpPr txBox="1"/>
          <p:nvPr/>
        </p:nvSpPr>
        <p:spPr>
          <a:xfrm>
            <a:off x="10314432" y="537667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5</a:t>
            </a:r>
            <a:endParaRPr lang="en-US" sz="1150" dirty="0"/>
          </a:p>
        </p:txBody>
      </p:sp>
      <p:sp>
        <p:nvSpPr>
          <p:cNvPr id="43" name="Shape 41"/>
          <p:cNvSpPr/>
          <p:nvPr/>
        </p:nvSpPr>
        <p:spPr>
          <a:xfrm>
            <a:off x="566928" y="5843016"/>
            <a:ext cx="11045952" cy="493776"/>
          </a:xfrm>
          <a:prstGeom prst="roundRect">
            <a:avLst>
              <a:gd name="adj" fmla="val 11111"/>
            </a:avLst>
          </a:prstGeom>
          <a:solidFill>
            <a:srgbClr val="F7F7FB"/>
          </a:solidFill>
          <a:ln w="12700">
            <a:solidFill>
              <a:srgbClr val="FFFFFF"/>
            </a:solidFill>
            <a:prstDash val="solid"/>
          </a:ln>
        </p:spPr>
      </p:sp>
      <p:sp>
        <p:nvSpPr>
          <p:cNvPr id="44" name="Text 42"/>
          <p:cNvSpPr txBox="1"/>
          <p:nvPr/>
        </p:nvSpPr>
        <p:spPr>
          <a:xfrm>
            <a:off x="749808" y="5925312"/>
            <a:ext cx="2103120" cy="34747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Hiểu dài hạn / tóm tắt</a:t>
            </a:r>
            <a:endParaRPr lang="en-US" sz="1250" dirty="0"/>
          </a:p>
        </p:txBody>
      </p:sp>
      <p:sp>
        <p:nvSpPr>
          <p:cNvPr id="45" name="Text 43"/>
          <p:cNvSpPr txBox="1"/>
          <p:nvPr/>
        </p:nvSpPr>
        <p:spPr>
          <a:xfrm>
            <a:off x="2971800" y="5925312"/>
            <a:ext cx="233172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BEAM summarization</a:t>
            </a:r>
            <a:endParaRPr lang="en-US" sz="1150" dirty="0"/>
          </a:p>
        </p:txBody>
      </p:sp>
      <p:sp>
        <p:nvSpPr>
          <p:cNvPr id="46" name="Text 44"/>
          <p:cNvSpPr txBox="1"/>
          <p:nvPr/>
        </p:nvSpPr>
        <p:spPr>
          <a:xfrm>
            <a:off x="5440680" y="5925312"/>
            <a:ext cx="4709160"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Cô đọng mỗi phiên thành một ký ức episodic</a:t>
            </a:r>
            <a:endParaRPr lang="en-US" sz="1150" dirty="0"/>
          </a:p>
        </p:txBody>
      </p:sp>
      <p:sp>
        <p:nvSpPr>
          <p:cNvPr id="47" name="Text 45"/>
          <p:cNvSpPr txBox="1"/>
          <p:nvPr/>
        </p:nvSpPr>
        <p:spPr>
          <a:xfrm>
            <a:off x="10314432" y="5925312"/>
            <a:ext cx="1115568" cy="34747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Tuần 6</a:t>
            </a:r>
            <a:endParaRPr lang="en-US" sz="1150" dirty="0"/>
          </a:p>
        </p:txBody>
      </p:sp>
      <p:sp>
        <p:nvSpPr>
          <p:cNvPr id="48" name="Text 46"/>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Khung năng lực tổng hợp từ: Wu et al., LongMemEval, ICLR 2025 · Tavakoli et al., BEAM, ICLR 2026 · Hu et al., MemoryAgentBench, ICLR 2026.</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3A36A0"/>
                </a:solidFill>
                <a:latin typeface="Calibri" pitchFamily="34" charset="0"/>
                <a:ea typeface="Calibri" pitchFamily="34" charset="-122"/>
                <a:cs typeface="Calibri" pitchFamily="34" charset="-120"/>
              </a:rPr>
              <a:t>THIẾT KẾ · 1/4</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Kiến trúc module</a:t>
            </a:r>
            <a:endParaRPr lang="en-US" sz="3000" dirty="0"/>
          </a:p>
        </p:txBody>
      </p:sp>
      <p:sp>
        <p:nvSpPr>
          <p:cNvPr id="4" name="Shape 2"/>
          <p:cNvSpPr/>
          <p:nvPr/>
        </p:nvSpPr>
        <p:spPr>
          <a:xfrm>
            <a:off x="566928" y="1737360"/>
            <a:ext cx="2514600" cy="1463040"/>
          </a:xfrm>
          <a:prstGeom prst="roundRect">
            <a:avLst>
              <a:gd name="adj" fmla="val 3125"/>
            </a:avLst>
          </a:prstGeom>
          <a:solidFill>
            <a:srgbClr val="ECEBF7"/>
          </a:solidFill>
          <a:ln w="12700">
            <a:solidFill>
              <a:srgbClr val="ECEBF7"/>
            </a:solidFill>
            <a:prstDash val="solid"/>
          </a:ln>
        </p:spPr>
      </p:sp>
      <p:sp>
        <p:nvSpPr>
          <p:cNvPr id="5" name="Text 3"/>
          <p:cNvSpPr txBox="1"/>
          <p:nvPr/>
        </p:nvSpPr>
        <p:spPr>
          <a:xfrm>
            <a:off x="768096" y="1920240"/>
            <a:ext cx="2112264" cy="320040"/>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Giao diện</a:t>
            </a:r>
            <a:endParaRPr lang="en-US" sz="1500" dirty="0"/>
          </a:p>
        </p:txBody>
      </p:sp>
      <p:sp>
        <p:nvSpPr>
          <p:cNvPr id="6" name="Text 4"/>
          <p:cNvSpPr txBox="1"/>
          <p:nvPr/>
        </p:nvSpPr>
        <p:spPr>
          <a:xfrm>
            <a:off x="768096" y="2304288"/>
            <a:ext cx="2112264" cy="77724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CLI tối thiểu. Nhập câu hỏi, nhận phản hồi, xem được bộ nhớ.</a:t>
            </a:r>
            <a:endParaRPr lang="en-US" sz="1150" dirty="0"/>
          </a:p>
        </p:txBody>
      </p:sp>
      <p:sp>
        <p:nvSpPr>
          <p:cNvPr id="7" name="Text 5"/>
          <p:cNvSpPr txBox="1"/>
          <p:nvPr/>
        </p:nvSpPr>
        <p:spPr>
          <a:xfrm>
            <a:off x="3081528" y="2240280"/>
            <a:ext cx="301752" cy="365760"/>
          </a:xfrm>
          <a:prstGeom prst="rect">
            <a:avLst/>
          </a:prstGeom>
          <a:noFill/>
          <a:ln/>
        </p:spPr>
        <p:txBody>
          <a:bodyPr wrap="square" lIns="0" tIns="0" rIns="0" bIns="0" rtlCol="0" anchor="ctr"/>
          <a:lstStyle/>
          <a:p>
            <a:pPr algn="ctr" indent="0" marL="0">
              <a:buNone/>
            </a:pPr>
            <a:r>
              <a:rPr lang="en-US" sz="1600" b="1" dirty="0">
                <a:solidFill>
                  <a:srgbClr val="3A36A0"/>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3383280" y="1737360"/>
            <a:ext cx="2514600" cy="1463040"/>
          </a:xfrm>
          <a:prstGeom prst="roundRect">
            <a:avLst>
              <a:gd name="adj" fmla="val 3125"/>
            </a:avLst>
          </a:prstGeom>
          <a:solidFill>
            <a:srgbClr val="ECEBF7"/>
          </a:solidFill>
          <a:ln w="12700">
            <a:solidFill>
              <a:srgbClr val="ECEBF7"/>
            </a:solidFill>
            <a:prstDash val="solid"/>
          </a:ln>
        </p:spPr>
      </p:sp>
      <p:sp>
        <p:nvSpPr>
          <p:cNvPr id="9" name="Text 7"/>
          <p:cNvSpPr txBox="1"/>
          <p:nvPr/>
        </p:nvSpPr>
        <p:spPr>
          <a:xfrm>
            <a:off x="3584448" y="1920240"/>
            <a:ext cx="2112264" cy="320040"/>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LLM Agent</a:t>
            </a:r>
            <a:endParaRPr lang="en-US" sz="1500" dirty="0"/>
          </a:p>
        </p:txBody>
      </p:sp>
      <p:sp>
        <p:nvSpPr>
          <p:cNvPr id="10" name="Text 8"/>
          <p:cNvSpPr txBox="1"/>
          <p:nvPr/>
        </p:nvSpPr>
        <p:spPr>
          <a:xfrm>
            <a:off x="3584448" y="2304288"/>
            <a:ext cx="2112264" cy="77724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Điều phối: truy xuất → dựng prompt → sinh phản hồi → ghi nhớ.</a:t>
            </a:r>
            <a:endParaRPr lang="en-US" sz="1150" dirty="0"/>
          </a:p>
        </p:txBody>
      </p:sp>
      <p:sp>
        <p:nvSpPr>
          <p:cNvPr id="11" name="Text 9"/>
          <p:cNvSpPr txBox="1"/>
          <p:nvPr/>
        </p:nvSpPr>
        <p:spPr>
          <a:xfrm>
            <a:off x="5897880" y="2240280"/>
            <a:ext cx="301752" cy="365760"/>
          </a:xfrm>
          <a:prstGeom prst="rect">
            <a:avLst/>
          </a:prstGeom>
          <a:noFill/>
          <a:ln/>
        </p:spPr>
        <p:txBody>
          <a:bodyPr wrap="square" lIns="0" tIns="0" rIns="0" bIns="0" rtlCol="0" anchor="ctr"/>
          <a:lstStyle/>
          <a:p>
            <a:pPr algn="ctr" indent="0" marL="0">
              <a:buNone/>
            </a:pPr>
            <a:r>
              <a:rPr lang="en-US" sz="1600" b="1" dirty="0">
                <a:solidFill>
                  <a:srgbClr val="3A36A0"/>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6199632" y="1737360"/>
            <a:ext cx="2514600" cy="1463040"/>
          </a:xfrm>
          <a:prstGeom prst="roundRect">
            <a:avLst>
              <a:gd name="adj" fmla="val 3125"/>
            </a:avLst>
          </a:prstGeom>
          <a:solidFill>
            <a:srgbClr val="13123A"/>
          </a:solidFill>
          <a:ln w="12700">
            <a:solidFill>
              <a:srgbClr val="13123A"/>
            </a:solidFill>
            <a:prstDash val="solid"/>
          </a:ln>
        </p:spPr>
      </p:sp>
      <p:sp>
        <p:nvSpPr>
          <p:cNvPr id="13" name="Text 11"/>
          <p:cNvSpPr txBox="1"/>
          <p:nvPr/>
        </p:nvSpPr>
        <p:spPr>
          <a:xfrm>
            <a:off x="6400800" y="1920240"/>
            <a:ext cx="2112264"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Bộ quản lý bộ nhớ</a:t>
            </a:r>
            <a:endParaRPr lang="en-US" sz="1500" dirty="0"/>
          </a:p>
        </p:txBody>
      </p:sp>
      <p:sp>
        <p:nvSpPr>
          <p:cNvPr id="14" name="Text 12"/>
          <p:cNvSpPr txBox="1"/>
          <p:nvPr/>
        </p:nvSpPr>
        <p:spPr>
          <a:xfrm>
            <a:off x="6400800" y="2304288"/>
            <a:ext cx="2112264" cy="777240"/>
          </a:xfrm>
          <a:prstGeom prst="rect">
            <a:avLst/>
          </a:prstGeom>
          <a:noFill/>
          <a:ln/>
        </p:spPr>
        <p:txBody>
          <a:bodyPr wrap="square" lIns="0" tIns="0" rIns="0" bIns="0" rtlCol="0" anchor="t"/>
          <a:lstStyle/>
          <a:p>
            <a:pPr indent="0" marL="0">
              <a:lnSpc>
                <a:spcPct val="95000"/>
              </a:lnSpc>
              <a:buNone/>
            </a:pPr>
            <a:r>
              <a:rPr lang="en-US" sz="1150" dirty="0">
                <a:solidFill>
                  <a:srgbClr val="C7C9E6"/>
                </a:solidFill>
                <a:latin typeface="Calibri" pitchFamily="34" charset="0"/>
                <a:ea typeface="Calibri" pitchFamily="34" charset="-122"/>
                <a:cs typeface="Calibri" pitchFamily="34" charset="-120"/>
              </a:rPr>
              <a:t>Gói 4 pha của vòng lặp thành một giao diện duy nhất.</a:t>
            </a:r>
            <a:endParaRPr lang="en-US" sz="1150" dirty="0"/>
          </a:p>
        </p:txBody>
      </p:sp>
      <p:sp>
        <p:nvSpPr>
          <p:cNvPr id="15" name="Text 13"/>
          <p:cNvSpPr txBox="1"/>
          <p:nvPr/>
        </p:nvSpPr>
        <p:spPr>
          <a:xfrm>
            <a:off x="8714232" y="2240280"/>
            <a:ext cx="301752" cy="365760"/>
          </a:xfrm>
          <a:prstGeom prst="rect">
            <a:avLst/>
          </a:prstGeom>
          <a:noFill/>
          <a:ln/>
        </p:spPr>
        <p:txBody>
          <a:bodyPr wrap="square" lIns="0" tIns="0" rIns="0" bIns="0" rtlCol="0" anchor="ctr"/>
          <a:lstStyle/>
          <a:p>
            <a:pPr algn="ctr" indent="0" marL="0">
              <a:buNone/>
            </a:pPr>
            <a:r>
              <a:rPr lang="en-US" sz="1600" b="1" dirty="0">
                <a:solidFill>
                  <a:srgbClr val="3A36A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9015984" y="1737360"/>
            <a:ext cx="2514600" cy="1463040"/>
          </a:xfrm>
          <a:prstGeom prst="roundRect">
            <a:avLst>
              <a:gd name="adj" fmla="val 3125"/>
            </a:avLst>
          </a:prstGeom>
          <a:solidFill>
            <a:srgbClr val="ECEBF7"/>
          </a:solidFill>
          <a:ln w="12700">
            <a:solidFill>
              <a:srgbClr val="ECEBF7"/>
            </a:solidFill>
            <a:prstDash val="solid"/>
          </a:ln>
        </p:spPr>
      </p:sp>
      <p:sp>
        <p:nvSpPr>
          <p:cNvPr id="17" name="Text 15"/>
          <p:cNvSpPr txBox="1"/>
          <p:nvPr/>
        </p:nvSpPr>
        <p:spPr>
          <a:xfrm>
            <a:off x="9217152" y="1920240"/>
            <a:ext cx="2112264" cy="320040"/>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Kho lưu trữ</a:t>
            </a:r>
            <a:endParaRPr lang="en-US" sz="1500" dirty="0"/>
          </a:p>
        </p:txBody>
      </p:sp>
      <p:sp>
        <p:nvSpPr>
          <p:cNvPr id="18" name="Text 16"/>
          <p:cNvSpPr txBox="1"/>
          <p:nvPr/>
        </p:nvSpPr>
        <p:spPr>
          <a:xfrm>
            <a:off x="9217152" y="2304288"/>
            <a:ext cx="2112264" cy="77724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ChromaDB — vector + metadata, persist ra đĩa.</a:t>
            </a:r>
            <a:endParaRPr lang="en-US" sz="1150" dirty="0"/>
          </a:p>
        </p:txBody>
      </p:sp>
      <p:sp>
        <p:nvSpPr>
          <p:cNvPr id="19" name="Shape 17"/>
          <p:cNvSpPr/>
          <p:nvPr/>
        </p:nvSpPr>
        <p:spPr>
          <a:xfrm>
            <a:off x="566928" y="3456432"/>
            <a:ext cx="3483864" cy="1170432"/>
          </a:xfrm>
          <a:prstGeom prst="roundRect">
            <a:avLst>
              <a:gd name="adj" fmla="val 3906"/>
            </a:avLst>
          </a:prstGeom>
          <a:solidFill>
            <a:srgbClr val="F7F7FB"/>
          </a:solidFill>
          <a:ln w="12700">
            <a:solidFill>
              <a:srgbClr val="3A36A0"/>
            </a:solidFill>
            <a:prstDash val="dash"/>
          </a:ln>
        </p:spPr>
      </p:sp>
      <p:sp>
        <p:nvSpPr>
          <p:cNvPr id="20" name="Text 18"/>
          <p:cNvSpPr txBox="1"/>
          <p:nvPr/>
        </p:nvSpPr>
        <p:spPr>
          <a:xfrm>
            <a:off x="804672" y="3639312"/>
            <a:ext cx="3008376" cy="292608"/>
          </a:xfrm>
          <a:prstGeom prst="rect">
            <a:avLst/>
          </a:prstGeom>
          <a:noFill/>
          <a:ln/>
        </p:spPr>
        <p:txBody>
          <a:bodyPr wrap="square" lIns="0" tIns="0" rIns="0" bIns="0" rtlCol="0" anchor="ctr"/>
          <a:lstStyle/>
          <a:p>
            <a:pPr indent="0" marL="0">
              <a:buNone/>
            </a:pPr>
            <a:r>
              <a:rPr lang="en-US" sz="1400" b="1" dirty="0">
                <a:solidFill>
                  <a:srgbClr val="3A36A0"/>
                </a:solidFill>
                <a:latin typeface="Cambria" pitchFamily="34" charset="0"/>
                <a:ea typeface="Cambria" pitchFamily="34" charset="-122"/>
                <a:cs typeface="Cambria" pitchFamily="34" charset="-120"/>
              </a:rPr>
              <a:t>FactExtractor</a:t>
            </a:r>
            <a:endParaRPr lang="en-US" sz="1400" dirty="0"/>
          </a:p>
        </p:txBody>
      </p:sp>
      <p:sp>
        <p:nvSpPr>
          <p:cNvPr id="21" name="Text 19"/>
          <p:cNvSpPr txBox="1"/>
          <p:nvPr/>
        </p:nvSpPr>
        <p:spPr>
          <a:xfrm>
            <a:off x="804672" y="3986784"/>
            <a:ext cx="3008376" cy="54864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Pha 1 — LLM rút fact từ lượt hội thoại và phân loại ký ức.</a:t>
            </a:r>
            <a:endParaRPr lang="en-US" sz="1150" dirty="0"/>
          </a:p>
        </p:txBody>
      </p:sp>
      <p:sp>
        <p:nvSpPr>
          <p:cNvPr id="22" name="Shape 20"/>
          <p:cNvSpPr/>
          <p:nvPr/>
        </p:nvSpPr>
        <p:spPr>
          <a:xfrm>
            <a:off x="4352544" y="3456432"/>
            <a:ext cx="3483864" cy="1170432"/>
          </a:xfrm>
          <a:prstGeom prst="roundRect">
            <a:avLst>
              <a:gd name="adj" fmla="val 3906"/>
            </a:avLst>
          </a:prstGeom>
          <a:solidFill>
            <a:srgbClr val="F7F7FB"/>
          </a:solidFill>
          <a:ln w="12700">
            <a:solidFill>
              <a:srgbClr val="3A36A0"/>
            </a:solidFill>
            <a:prstDash val="dash"/>
          </a:ln>
        </p:spPr>
      </p:sp>
      <p:sp>
        <p:nvSpPr>
          <p:cNvPr id="23" name="Text 21"/>
          <p:cNvSpPr txBox="1"/>
          <p:nvPr/>
        </p:nvSpPr>
        <p:spPr>
          <a:xfrm>
            <a:off x="4590288" y="3639312"/>
            <a:ext cx="3008376" cy="292608"/>
          </a:xfrm>
          <a:prstGeom prst="rect">
            <a:avLst/>
          </a:prstGeom>
          <a:noFill/>
          <a:ln/>
        </p:spPr>
        <p:txBody>
          <a:bodyPr wrap="square" lIns="0" tIns="0" rIns="0" bIns="0" rtlCol="0" anchor="ctr"/>
          <a:lstStyle/>
          <a:p>
            <a:pPr indent="0" marL="0">
              <a:buNone/>
            </a:pPr>
            <a:r>
              <a:rPr lang="en-US" sz="1400" b="1" dirty="0">
                <a:solidFill>
                  <a:srgbClr val="3A36A0"/>
                </a:solidFill>
                <a:latin typeface="Cambria" pitchFamily="34" charset="0"/>
                <a:ea typeface="Cambria" pitchFamily="34" charset="-122"/>
                <a:cs typeface="Cambria" pitchFamily="34" charset="-120"/>
              </a:rPr>
              <a:t>MemoryUpdater</a:t>
            </a:r>
            <a:endParaRPr lang="en-US" sz="1400" dirty="0"/>
          </a:p>
        </p:txBody>
      </p:sp>
      <p:sp>
        <p:nvSpPr>
          <p:cNvPr id="24" name="Text 22"/>
          <p:cNvSpPr txBox="1"/>
          <p:nvPr/>
        </p:nvSpPr>
        <p:spPr>
          <a:xfrm>
            <a:off x="4590288" y="3986784"/>
            <a:ext cx="3008376" cy="54864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Pha 2 — ADD / UPDATE / DELETE / NOOP / CONFLICT.</a:t>
            </a:r>
            <a:endParaRPr lang="en-US" sz="1150" dirty="0"/>
          </a:p>
        </p:txBody>
      </p:sp>
      <p:sp>
        <p:nvSpPr>
          <p:cNvPr id="25" name="Shape 23"/>
          <p:cNvSpPr/>
          <p:nvPr/>
        </p:nvSpPr>
        <p:spPr>
          <a:xfrm>
            <a:off x="8138160" y="3456432"/>
            <a:ext cx="3483864" cy="1170432"/>
          </a:xfrm>
          <a:prstGeom prst="roundRect">
            <a:avLst>
              <a:gd name="adj" fmla="val 3906"/>
            </a:avLst>
          </a:prstGeom>
          <a:solidFill>
            <a:srgbClr val="F7F7FB"/>
          </a:solidFill>
          <a:ln w="12700">
            <a:solidFill>
              <a:srgbClr val="3A36A0"/>
            </a:solidFill>
            <a:prstDash val="dash"/>
          </a:ln>
        </p:spPr>
      </p:sp>
      <p:sp>
        <p:nvSpPr>
          <p:cNvPr id="26" name="Text 24"/>
          <p:cNvSpPr txBox="1"/>
          <p:nvPr/>
        </p:nvSpPr>
        <p:spPr>
          <a:xfrm>
            <a:off x="8375904" y="3639312"/>
            <a:ext cx="3008376" cy="292608"/>
          </a:xfrm>
          <a:prstGeom prst="rect">
            <a:avLst/>
          </a:prstGeom>
          <a:noFill/>
          <a:ln/>
        </p:spPr>
        <p:txBody>
          <a:bodyPr wrap="square" lIns="0" tIns="0" rIns="0" bIns="0" rtlCol="0" anchor="ctr"/>
          <a:lstStyle/>
          <a:p>
            <a:pPr indent="0" marL="0">
              <a:buNone/>
            </a:pPr>
            <a:r>
              <a:rPr lang="en-US" sz="1400" b="1" dirty="0">
                <a:solidFill>
                  <a:srgbClr val="3A36A0"/>
                </a:solidFill>
                <a:latin typeface="Cambria" pitchFamily="34" charset="0"/>
                <a:ea typeface="Cambria" pitchFamily="34" charset="-122"/>
                <a:cs typeface="Cambria" pitchFamily="34" charset="-120"/>
              </a:rPr>
              <a:t>MemoryRetriever</a:t>
            </a:r>
            <a:endParaRPr lang="en-US" sz="1400" dirty="0"/>
          </a:p>
        </p:txBody>
      </p:sp>
      <p:sp>
        <p:nvSpPr>
          <p:cNvPr id="27" name="Text 25"/>
          <p:cNvSpPr txBox="1"/>
          <p:nvPr/>
        </p:nvSpPr>
        <p:spPr>
          <a:xfrm>
            <a:off x="8375904" y="3986784"/>
            <a:ext cx="3008376" cy="54864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Pha 3 — top-k, lọc bản cũ, nạp ký ức pinned, báo tín hiệu từ chối.</a:t>
            </a:r>
            <a:endParaRPr lang="en-US" sz="1150" dirty="0"/>
          </a:p>
        </p:txBody>
      </p:sp>
      <p:sp>
        <p:nvSpPr>
          <p:cNvPr id="28" name="Shape 26"/>
          <p:cNvSpPr/>
          <p:nvPr/>
        </p:nvSpPr>
        <p:spPr>
          <a:xfrm>
            <a:off x="566928" y="4882896"/>
            <a:ext cx="11045952" cy="1298448"/>
          </a:xfrm>
          <a:prstGeom prst="roundRect">
            <a:avLst>
              <a:gd name="adj" fmla="val 3521"/>
            </a:avLst>
          </a:prstGeom>
          <a:solidFill>
            <a:srgbClr val="13123A"/>
          </a:solidFill>
          <a:ln w="12700">
            <a:solidFill>
              <a:srgbClr val="13123A"/>
            </a:solidFill>
            <a:prstDash val="solid"/>
          </a:ln>
        </p:spPr>
      </p:sp>
      <p:sp>
        <p:nvSpPr>
          <p:cNvPr id="29" name="Text 27"/>
          <p:cNvSpPr txBox="1"/>
          <p:nvPr/>
        </p:nvSpPr>
        <p:spPr>
          <a:xfrm>
            <a:off x="822960" y="5084064"/>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NGUYÊN TẮC TÁCH LỚP</a:t>
            </a:r>
            <a:endParaRPr lang="en-US" sz="1100" dirty="0"/>
          </a:p>
        </p:txBody>
      </p:sp>
      <p:sp>
        <p:nvSpPr>
          <p:cNvPr id="30" name="Text 28"/>
          <p:cNvSpPr txBox="1"/>
          <p:nvPr/>
        </p:nvSpPr>
        <p:spPr>
          <a:xfrm>
            <a:off x="822960" y="5367528"/>
            <a:ext cx="10533888" cy="658368"/>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LLM và kho vector đều nằm sau một interface trừu tượng. Đổi Gemini sang mô hình khác, hay Chroma sang Qdrant, chỉ là thêm một file adapter — không đụng vào lõi bộ nhớ. Đây không phải cầu kỳ thừa: phần đánh giá bắt buộc phải chạy cùng một cơ chế trên nhiều LLM nền, vì khảo sát Anatomy of Agentic Memory (2026) chỉ ra kết quả mảng này có phương sai rất lớn theo mô hình nền.</a:t>
            </a:r>
            <a:endParaRPr lang="en-US" sz="1250" dirty="0"/>
          </a:p>
        </p:txBody>
      </p:sp>
      <p:sp>
        <p:nvSpPr>
          <p:cNvPr id="31" name="Text 29"/>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Cảnh báo về phương sai theo mô hình nền: Jiang et al., Anatomy of Agentic Memory, arXiv:2602.19320 (2026).</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3A36A0"/>
                </a:solidFill>
                <a:latin typeface="Calibri" pitchFamily="34" charset="0"/>
                <a:ea typeface="Calibri" pitchFamily="34" charset="-122"/>
                <a:cs typeface="Calibri" pitchFamily="34" charset="-120"/>
              </a:rPr>
              <a:t>THIẾT KẾ · 2/4</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Chốt công nghệ — toàn bộ hạ tầng miễn phí</a:t>
            </a:r>
            <a:endParaRPr lang="en-US" sz="3000" dirty="0"/>
          </a:p>
        </p:txBody>
      </p:sp>
      <p:sp>
        <p:nvSpPr>
          <p:cNvPr id="4" name="Text 2"/>
          <p:cNvSpPr txBox="1"/>
          <p:nvPr/>
        </p:nvSpPr>
        <p:spPr>
          <a:xfrm>
            <a:off x="749808" y="1673352"/>
            <a:ext cx="178308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THÀNH PHẦN</a:t>
            </a:r>
            <a:endParaRPr lang="en-US" sz="1100" dirty="0"/>
          </a:p>
        </p:txBody>
      </p:sp>
      <p:sp>
        <p:nvSpPr>
          <p:cNvPr id="5" name="Text 3"/>
          <p:cNvSpPr txBox="1"/>
          <p:nvPr/>
        </p:nvSpPr>
        <p:spPr>
          <a:xfrm>
            <a:off x="2651760" y="1673352"/>
            <a:ext cx="292608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LỰA CHỌN</a:t>
            </a:r>
            <a:endParaRPr lang="en-US" sz="1100" dirty="0"/>
          </a:p>
        </p:txBody>
      </p:sp>
      <p:sp>
        <p:nvSpPr>
          <p:cNvPr id="6" name="Text 4"/>
          <p:cNvSpPr txBox="1"/>
          <p:nvPr/>
        </p:nvSpPr>
        <p:spPr>
          <a:xfrm>
            <a:off x="5715000" y="1673352"/>
            <a:ext cx="571500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VÌ SAO CHỌN NÓ</a:t>
            </a:r>
            <a:endParaRPr lang="en-US" sz="1100" dirty="0"/>
          </a:p>
        </p:txBody>
      </p:sp>
      <p:sp>
        <p:nvSpPr>
          <p:cNvPr id="7" name="Shape 5"/>
          <p:cNvSpPr/>
          <p:nvPr/>
        </p:nvSpPr>
        <p:spPr>
          <a:xfrm>
            <a:off x="566928" y="2002536"/>
            <a:ext cx="11045952" cy="749808"/>
          </a:xfrm>
          <a:prstGeom prst="roundRect">
            <a:avLst>
              <a:gd name="adj" fmla="val 7317"/>
            </a:avLst>
          </a:prstGeom>
          <a:solidFill>
            <a:srgbClr val="ECEBF7"/>
          </a:solidFill>
          <a:ln w="12700">
            <a:solidFill>
              <a:srgbClr val="FFFFFF"/>
            </a:solidFill>
            <a:prstDash val="solid"/>
          </a:ln>
        </p:spPr>
      </p:sp>
      <p:sp>
        <p:nvSpPr>
          <p:cNvPr id="8" name="Text 6"/>
          <p:cNvSpPr txBox="1"/>
          <p:nvPr/>
        </p:nvSpPr>
        <p:spPr>
          <a:xfrm>
            <a:off x="749808" y="2084832"/>
            <a:ext cx="1783080" cy="603504"/>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LLM</a:t>
            </a:r>
            <a:endParaRPr lang="en-US" sz="1250" dirty="0"/>
          </a:p>
        </p:txBody>
      </p:sp>
      <p:sp>
        <p:nvSpPr>
          <p:cNvPr id="9" name="Text 7"/>
          <p:cNvSpPr txBox="1"/>
          <p:nvPr/>
        </p:nvSpPr>
        <p:spPr>
          <a:xfrm>
            <a:off x="2651760" y="2084832"/>
            <a:ext cx="292608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Gemini 2.5 Flash — gói miễn phí</a:t>
            </a:r>
            <a:endParaRPr lang="en-US" sz="1150" dirty="0"/>
          </a:p>
        </p:txBody>
      </p:sp>
      <p:sp>
        <p:nvSpPr>
          <p:cNvPr id="10" name="Text 8"/>
          <p:cNvSpPr txBox="1"/>
          <p:nvPr/>
        </p:nvSpPr>
        <p:spPr>
          <a:xfrm>
            <a:off x="5715000" y="2084832"/>
            <a:ext cx="571500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1.500 lượt/ngày, 15 lượt/phút, không cần thẻ tín dụng. Dư cho quy mô đồ án. Dự phòng: Groq free tier hoặc Ollama chạy local.</a:t>
            </a:r>
            <a:endParaRPr lang="en-US" sz="1150" dirty="0"/>
          </a:p>
        </p:txBody>
      </p:sp>
      <p:sp>
        <p:nvSpPr>
          <p:cNvPr id="11" name="Shape 9"/>
          <p:cNvSpPr/>
          <p:nvPr/>
        </p:nvSpPr>
        <p:spPr>
          <a:xfrm>
            <a:off x="566928" y="2825496"/>
            <a:ext cx="11045952" cy="749808"/>
          </a:xfrm>
          <a:prstGeom prst="roundRect">
            <a:avLst>
              <a:gd name="adj" fmla="val 7317"/>
            </a:avLst>
          </a:prstGeom>
          <a:solidFill>
            <a:srgbClr val="F7F7FB"/>
          </a:solidFill>
          <a:ln w="12700">
            <a:solidFill>
              <a:srgbClr val="FFFFFF"/>
            </a:solidFill>
            <a:prstDash val="solid"/>
          </a:ln>
        </p:spPr>
      </p:sp>
      <p:sp>
        <p:nvSpPr>
          <p:cNvPr id="12" name="Text 10"/>
          <p:cNvSpPr txBox="1"/>
          <p:nvPr/>
        </p:nvSpPr>
        <p:spPr>
          <a:xfrm>
            <a:off x="749808" y="2907792"/>
            <a:ext cx="1783080" cy="603504"/>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Embedding</a:t>
            </a:r>
            <a:endParaRPr lang="en-US" sz="1250" dirty="0"/>
          </a:p>
        </p:txBody>
      </p:sp>
      <p:sp>
        <p:nvSpPr>
          <p:cNvPr id="13" name="Text 11"/>
          <p:cNvSpPr txBox="1"/>
          <p:nvPr/>
        </p:nvSpPr>
        <p:spPr>
          <a:xfrm>
            <a:off x="2651760" y="2907792"/>
            <a:ext cx="292608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Mô hình tiếng Việt chạy local (sentence-transformers)</a:t>
            </a:r>
            <a:endParaRPr lang="en-US" sz="1150" dirty="0"/>
          </a:p>
        </p:txBody>
      </p:sp>
      <p:sp>
        <p:nvSpPr>
          <p:cNvPr id="14" name="Text 12"/>
          <p:cNvSpPr txBox="1"/>
          <p:nvPr/>
        </p:nvSpPr>
        <p:spPr>
          <a:xfrm>
            <a:off x="5715000" y="2907792"/>
            <a:ext cx="571500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Embedding bị gọi nhiều nhất: mỗi fact, mỗi truy vấn, mỗi lần quét ngưỡng. Gọi qua API sẽ đốt hết quota 1.500 lượt/ngày. Chạy local thì không giới hạn, chạy lại thí nghiệm bao nhiêu lần cũng được — và mô hình chuyên tiếng Việt cho kết quả tốt hơn trên dữ liệu của nhóm.</a:t>
            </a:r>
            <a:endParaRPr lang="en-US" sz="1150" dirty="0"/>
          </a:p>
        </p:txBody>
      </p:sp>
      <p:sp>
        <p:nvSpPr>
          <p:cNvPr id="15" name="Shape 13"/>
          <p:cNvSpPr/>
          <p:nvPr/>
        </p:nvSpPr>
        <p:spPr>
          <a:xfrm>
            <a:off x="566928" y="3648456"/>
            <a:ext cx="11045952" cy="749808"/>
          </a:xfrm>
          <a:prstGeom prst="roundRect">
            <a:avLst>
              <a:gd name="adj" fmla="val 7317"/>
            </a:avLst>
          </a:prstGeom>
          <a:solidFill>
            <a:srgbClr val="ECEBF7"/>
          </a:solidFill>
          <a:ln w="12700">
            <a:solidFill>
              <a:srgbClr val="FFFFFF"/>
            </a:solidFill>
            <a:prstDash val="solid"/>
          </a:ln>
        </p:spPr>
      </p:sp>
      <p:sp>
        <p:nvSpPr>
          <p:cNvPr id="16" name="Text 14"/>
          <p:cNvSpPr txBox="1"/>
          <p:nvPr/>
        </p:nvSpPr>
        <p:spPr>
          <a:xfrm>
            <a:off x="749808" y="3730752"/>
            <a:ext cx="1783080" cy="603504"/>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Kho vector</a:t>
            </a:r>
            <a:endParaRPr lang="en-US" sz="1250" dirty="0"/>
          </a:p>
        </p:txBody>
      </p:sp>
      <p:sp>
        <p:nvSpPr>
          <p:cNvPr id="17" name="Text 15"/>
          <p:cNvSpPr txBox="1"/>
          <p:nvPr/>
        </p:nvSpPr>
        <p:spPr>
          <a:xfrm>
            <a:off x="2651760" y="3730752"/>
            <a:ext cx="292608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ChromaDB</a:t>
            </a:r>
            <a:endParaRPr lang="en-US" sz="1150" dirty="0"/>
          </a:p>
        </p:txBody>
      </p:sp>
      <p:sp>
        <p:nvSpPr>
          <p:cNvPr id="18" name="Text 16"/>
          <p:cNvSpPr txBox="1"/>
          <p:nvPr/>
        </p:nvSpPr>
        <p:spPr>
          <a:xfrm>
            <a:off x="5715000" y="3730752"/>
            <a:ext cx="571500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pip install là chạy, không cần Docker như Qdrant. Có metadata filter — cần để lọc status = active ngay ở tầng truy vấn, thứ FAISS không làm tiện.</a:t>
            </a:r>
            <a:endParaRPr lang="en-US" sz="1150" dirty="0"/>
          </a:p>
        </p:txBody>
      </p:sp>
      <p:sp>
        <p:nvSpPr>
          <p:cNvPr id="19" name="Shape 17"/>
          <p:cNvSpPr/>
          <p:nvPr/>
        </p:nvSpPr>
        <p:spPr>
          <a:xfrm>
            <a:off x="566928" y="4471416"/>
            <a:ext cx="11045952" cy="749808"/>
          </a:xfrm>
          <a:prstGeom prst="roundRect">
            <a:avLst>
              <a:gd name="adj" fmla="val 7317"/>
            </a:avLst>
          </a:prstGeom>
          <a:solidFill>
            <a:srgbClr val="F7F7FB"/>
          </a:solidFill>
          <a:ln w="12700">
            <a:solidFill>
              <a:srgbClr val="FFFFFF"/>
            </a:solidFill>
            <a:prstDash val="solid"/>
          </a:ln>
        </p:spPr>
      </p:sp>
      <p:sp>
        <p:nvSpPr>
          <p:cNvPr id="20" name="Text 18"/>
          <p:cNvSpPr txBox="1"/>
          <p:nvPr/>
        </p:nvSpPr>
        <p:spPr>
          <a:xfrm>
            <a:off x="749808" y="4553712"/>
            <a:ext cx="1783080" cy="603504"/>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Kiểm thử</a:t>
            </a:r>
            <a:endParaRPr lang="en-US" sz="1250" dirty="0"/>
          </a:p>
        </p:txBody>
      </p:sp>
      <p:sp>
        <p:nvSpPr>
          <p:cNvPr id="21" name="Text 19"/>
          <p:cNvSpPr txBox="1"/>
          <p:nvPr/>
        </p:nvSpPr>
        <p:spPr>
          <a:xfrm>
            <a:off x="2651760" y="4553712"/>
            <a:ext cx="292608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pytest + LLM giả lập</a:t>
            </a:r>
            <a:endParaRPr lang="en-US" sz="1150" dirty="0"/>
          </a:p>
        </p:txBody>
      </p:sp>
      <p:sp>
        <p:nvSpPr>
          <p:cNvPr id="22" name="Text 20"/>
          <p:cNvSpPr txBox="1"/>
          <p:nvPr/>
        </p:nvSpPr>
        <p:spPr>
          <a:xfrm>
            <a:off x="5715000" y="4553712"/>
            <a:ext cx="5715000" cy="603504"/>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Chạy offline, không tốn quota, kết quả lặp lại được. Đồng thời đóng vai baseline không-LLM để tách bạch phần nào của kết quả đến từ mô hình.</a:t>
            </a:r>
            <a:endParaRPr lang="en-US" sz="1150" dirty="0"/>
          </a:p>
        </p:txBody>
      </p:sp>
      <p:sp>
        <p:nvSpPr>
          <p:cNvPr id="23" name="Shape 21"/>
          <p:cNvSpPr/>
          <p:nvPr/>
        </p:nvSpPr>
        <p:spPr>
          <a:xfrm>
            <a:off x="566928" y="5358384"/>
            <a:ext cx="11045952" cy="950976"/>
          </a:xfrm>
          <a:prstGeom prst="roundRect">
            <a:avLst>
              <a:gd name="adj" fmla="val 4808"/>
            </a:avLst>
          </a:prstGeom>
          <a:solidFill>
            <a:srgbClr val="13123A"/>
          </a:solidFill>
          <a:ln w="12700">
            <a:solidFill>
              <a:srgbClr val="13123A"/>
            </a:solidFill>
            <a:prstDash val="solid"/>
          </a:ln>
        </p:spPr>
      </p:sp>
      <p:sp>
        <p:nvSpPr>
          <p:cNvPr id="24" name="Text 22"/>
          <p:cNvSpPr txBox="1"/>
          <p:nvPr/>
        </p:nvSpPr>
        <p:spPr>
          <a:xfrm>
            <a:off x="822960" y="5559552"/>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HỆ QUẢ</a:t>
            </a:r>
            <a:endParaRPr lang="en-US" sz="1100" dirty="0"/>
          </a:p>
        </p:txBody>
      </p:sp>
      <p:sp>
        <p:nvSpPr>
          <p:cNvPr id="25" name="Text 23"/>
          <p:cNvSpPr txBox="1"/>
          <p:nvPr/>
        </p:nvSpPr>
        <p:spPr>
          <a:xfrm>
            <a:off x="822960" y="5843016"/>
            <a:ext cx="10533888" cy="310896"/>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Không có hạng mục nào phải trả tiền, nên số lần chạy lại thí nghiệm không bị giới hạn bởi ngân sách. Đánh đổi: gói miễn phí của Gemini có thể dùng dữ liệu để huấn luyện, nên nhóm chỉ dùng dữ liệu tự sinh và dữ liệu benchmark công khai, không dùng dữ liệu cá nhân thật.</a:t>
            </a:r>
            <a:endParaRPr lang="en-US" sz="1250" dirty="0"/>
          </a:p>
        </p:txBody>
      </p:sp>
      <p:sp>
        <p:nvSpPr>
          <p:cNvPr id="26" name="Text 24"/>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Hạn mức gói miễn phí theo tài liệu Google AI for Developers, tra cứu tháng 9/2026 — cần kiểm tra lại trước khi báo cáo cuối vì hạn mức có thể thay đổi.</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3A36A0"/>
                </a:solidFill>
                <a:latin typeface="Calibri" pitchFamily="34" charset="0"/>
                <a:ea typeface="Calibri" pitchFamily="34" charset="-122"/>
                <a:cs typeface="Calibri" pitchFamily="34" charset="-120"/>
              </a:rPr>
              <a:t>THIẾT KẾ · 3/4</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Lược đồ bộ nhớ: mỗi ký ức là một slot</a:t>
            </a:r>
            <a:endParaRPr lang="en-US" sz="3000" dirty="0"/>
          </a:p>
        </p:txBody>
      </p:sp>
      <p:sp>
        <p:nvSpPr>
          <p:cNvPr id="4" name="Shape 2"/>
          <p:cNvSpPr/>
          <p:nvPr/>
        </p:nvSpPr>
        <p:spPr>
          <a:xfrm>
            <a:off x="566928" y="1673352"/>
            <a:ext cx="11045952" cy="960120"/>
          </a:xfrm>
          <a:prstGeom prst="roundRect">
            <a:avLst>
              <a:gd name="adj" fmla="val 4762"/>
            </a:avLst>
          </a:prstGeom>
          <a:solidFill>
            <a:srgbClr val="ECEBF7"/>
          </a:solidFill>
          <a:ln w="12700">
            <a:solidFill>
              <a:srgbClr val="ECEBF7"/>
            </a:solidFill>
            <a:prstDash val="solid"/>
          </a:ln>
        </p:spPr>
      </p:sp>
      <p:sp>
        <p:nvSpPr>
          <p:cNvPr id="5" name="Text 3"/>
          <p:cNvSpPr txBox="1"/>
          <p:nvPr/>
        </p:nvSpPr>
        <p:spPr>
          <a:xfrm>
            <a:off x="566928" y="1810512"/>
            <a:ext cx="11045952" cy="310896"/>
          </a:xfrm>
          <a:prstGeom prst="rect">
            <a:avLst/>
          </a:prstGeom>
          <a:noFill/>
          <a:ln/>
        </p:spPr>
        <p:txBody>
          <a:bodyPr wrap="square" lIns="0" tIns="0" rIns="0" bIns="0" rtlCol="0" anchor="ctr"/>
          <a:lstStyle/>
          <a:p>
            <a:pPr algn="ctr" indent="0" marL="0">
              <a:buNone/>
            </a:pPr>
            <a:r>
              <a:rPr lang="en-US" sz="1700" b="1" dirty="0">
                <a:solidFill>
                  <a:srgbClr val="3A36A0"/>
                </a:solidFill>
                <a:latin typeface="Courier New" pitchFamily="34" charset="0"/>
                <a:ea typeface="Courier New" pitchFamily="34" charset="-122"/>
                <a:cs typeface="Courier New" pitchFamily="34" charset="-120"/>
              </a:rPr>
              <a:t>( subject , attribute )</a:t>
            </a:r>
            <a:pPr algn="ctr" indent="0" marL="0">
              <a:buNone/>
            </a:pPr>
            <a:r>
              <a:rPr lang="en-US" sz="1700" dirty="0">
                <a:solidFill>
                  <a:srgbClr val="4A4E63"/>
                </a:solidFill>
                <a:latin typeface="Courier New" pitchFamily="34" charset="0"/>
                <a:ea typeface="Courier New" pitchFamily="34" charset="-122"/>
                <a:cs typeface="Courier New" pitchFamily="34" charset="-120"/>
              </a:rPr>
              <a:t>  →  </a:t>
            </a:r>
            <a:pPr algn="ctr" indent="0" marL="0">
              <a:buNone/>
            </a:pPr>
            <a:r>
              <a:rPr lang="en-US" sz="1700" b="1" dirty="0">
                <a:solidFill>
                  <a:srgbClr val="13123A"/>
                </a:solidFill>
                <a:latin typeface="Courier New" pitchFamily="34" charset="0"/>
                <a:ea typeface="Courier New" pitchFamily="34" charset="-122"/>
                <a:cs typeface="Courier New" pitchFamily="34" charset="-120"/>
              </a:rPr>
              <a:t>value</a:t>
            </a:r>
            <a:pPr algn="ctr" indent="0" marL="0">
              <a:buNone/>
            </a:pPr>
            <a:r>
              <a:rPr lang="en-US" sz="1700" dirty="0">
                <a:solidFill>
                  <a:srgbClr val="4A4E63"/>
                </a:solidFill>
                <a:latin typeface="Courier New" pitchFamily="34" charset="0"/>
                <a:ea typeface="Courier New" pitchFamily="34" charset="-122"/>
                <a:cs typeface="Courier New" pitchFamily="34" charset="-120"/>
              </a:rPr>
              <a:t>   +   </a:t>
            </a:r>
            <a:pPr algn="ctr" indent="0" marL="0">
              <a:buNone/>
            </a:pPr>
            <a:r>
              <a:rPr lang="en-US" sz="1700" b="1" dirty="0">
                <a:solidFill>
                  <a:srgbClr val="E9970B"/>
                </a:solidFill>
                <a:latin typeface="Courier New" pitchFamily="34" charset="0"/>
                <a:ea typeface="Courier New" pitchFamily="34" charset="-122"/>
                <a:cs typeface="Courier New" pitchFamily="34" charset="-120"/>
              </a:rPr>
              <a:t>seq</a:t>
            </a:r>
            <a:endParaRPr lang="en-US" sz="1700" dirty="0"/>
          </a:p>
        </p:txBody>
      </p:sp>
      <p:sp>
        <p:nvSpPr>
          <p:cNvPr id="6" name="Text 4"/>
          <p:cNvSpPr txBox="1"/>
          <p:nvPr/>
        </p:nvSpPr>
        <p:spPr>
          <a:xfrm>
            <a:off x="566928" y="2212848"/>
            <a:ext cx="11045952" cy="310896"/>
          </a:xfrm>
          <a:prstGeom prst="rect">
            <a:avLst/>
          </a:prstGeom>
          <a:noFill/>
          <a:ln/>
        </p:spPr>
        <p:txBody>
          <a:bodyPr wrap="square" lIns="0" tIns="0" rIns="0" bIns="0" rtlCol="0" anchor="ctr"/>
          <a:lstStyle/>
          <a:p>
            <a:pPr algn="ctr" indent="0" marL="0">
              <a:buNone/>
            </a:pPr>
            <a:r>
              <a:rPr lang="en-US" sz="1400" dirty="0">
                <a:solidFill>
                  <a:srgbClr val="4A4E63"/>
                </a:solidFill>
                <a:latin typeface="Courier New" pitchFamily="34" charset="0"/>
                <a:ea typeface="Courier New" pitchFamily="34" charset="-122"/>
                <a:cs typeface="Courier New" pitchFamily="34" charset="-120"/>
              </a:rPr>
              <a:t>( "user" , "trinh_do_tieng_nhat" )</a:t>
            </a:r>
            <a:pPr algn="ctr" indent="0" marL="0">
              <a:buNone/>
            </a:pPr>
            <a:r>
              <a:rPr lang="en-US" sz="1400" dirty="0">
                <a:solidFill>
                  <a:srgbClr val="4A4E63"/>
                </a:solidFill>
                <a:latin typeface="Courier New" pitchFamily="34" charset="0"/>
                <a:ea typeface="Courier New" pitchFamily="34" charset="-122"/>
                <a:cs typeface="Courier New" pitchFamily="34" charset="-120"/>
              </a:rPr>
              <a:t>  →  </a:t>
            </a:r>
            <a:pPr algn="ctr" indent="0" marL="0">
              <a:buNone/>
            </a:pPr>
            <a:r>
              <a:rPr lang="en-US" sz="1400" b="1" dirty="0">
                <a:solidFill>
                  <a:srgbClr val="13123A"/>
                </a:solidFill>
                <a:latin typeface="Courier New" pitchFamily="34" charset="0"/>
                <a:ea typeface="Courier New" pitchFamily="34" charset="-122"/>
                <a:cs typeface="Courier New" pitchFamily="34" charset="-120"/>
              </a:rPr>
              <a:t>"N4"</a:t>
            </a:r>
            <a:pPr algn="ctr" indent="0" marL="0">
              <a:buNone/>
            </a:pPr>
            <a:r>
              <a:rPr lang="en-US" sz="1400" dirty="0">
                <a:solidFill>
                  <a:srgbClr val="4A4E63"/>
                </a:solidFill>
                <a:latin typeface="Courier New" pitchFamily="34" charset="0"/>
                <a:ea typeface="Courier New" pitchFamily="34" charset="-122"/>
                <a:cs typeface="Courier New" pitchFamily="34" charset="-120"/>
              </a:rPr>
              <a:t>   +   </a:t>
            </a:r>
            <a:pPr algn="ctr" indent="0" marL="0">
              <a:buNone/>
            </a:pPr>
            <a:r>
              <a:rPr lang="en-US" sz="1400" b="1" dirty="0">
                <a:solidFill>
                  <a:srgbClr val="E9970B"/>
                </a:solidFill>
                <a:latin typeface="Courier New" pitchFamily="34" charset="0"/>
                <a:ea typeface="Courier New" pitchFamily="34" charset="-122"/>
                <a:cs typeface="Courier New" pitchFamily="34" charset="-120"/>
              </a:rPr>
              <a:t>#4</a:t>
            </a:r>
            <a:endParaRPr lang="en-US" sz="1400" dirty="0"/>
          </a:p>
        </p:txBody>
      </p:sp>
      <p:sp>
        <p:nvSpPr>
          <p:cNvPr id="7" name="Shape 5"/>
          <p:cNvSpPr/>
          <p:nvPr/>
        </p:nvSpPr>
        <p:spPr>
          <a:xfrm>
            <a:off x="566928" y="2871216"/>
            <a:ext cx="5358384" cy="932688"/>
          </a:xfrm>
          <a:prstGeom prst="roundRect">
            <a:avLst>
              <a:gd name="adj" fmla="val 4902"/>
            </a:avLst>
          </a:prstGeom>
          <a:solidFill>
            <a:srgbClr val="F7F7FB"/>
          </a:solidFill>
          <a:ln w="12700">
            <a:solidFill>
              <a:srgbClr val="F7F7FB"/>
            </a:solidFill>
            <a:prstDash val="solid"/>
          </a:ln>
        </p:spPr>
      </p:sp>
      <p:sp>
        <p:nvSpPr>
          <p:cNvPr id="8" name="Text 6"/>
          <p:cNvSpPr txBox="1"/>
          <p:nvPr/>
        </p:nvSpPr>
        <p:spPr>
          <a:xfrm>
            <a:off x="804672" y="2999232"/>
            <a:ext cx="4882896" cy="256032"/>
          </a:xfrm>
          <a:prstGeom prst="rect">
            <a:avLst/>
          </a:prstGeom>
          <a:noFill/>
          <a:ln/>
        </p:spPr>
        <p:txBody>
          <a:bodyPr wrap="square" lIns="0" tIns="0" rIns="0" bIns="0" rtlCol="0" anchor="ctr"/>
          <a:lstStyle/>
          <a:p>
            <a:pPr indent="0" marL="0">
              <a:buNone/>
            </a:pPr>
            <a:r>
              <a:rPr lang="en-US" sz="1300" b="1" dirty="0">
                <a:solidFill>
                  <a:srgbClr val="3A36A0"/>
                </a:solidFill>
                <a:latin typeface="Courier New" pitchFamily="34" charset="0"/>
                <a:ea typeface="Courier New" pitchFamily="34" charset="-122"/>
                <a:cs typeface="Courier New" pitchFamily="34" charset="-120"/>
              </a:rPr>
              <a:t>seq</a:t>
            </a:r>
            <a:endParaRPr lang="en-US" sz="1300" dirty="0"/>
          </a:p>
        </p:txBody>
      </p:sp>
      <p:sp>
        <p:nvSpPr>
          <p:cNvPr id="9" name="Text 7"/>
          <p:cNvSpPr txBox="1"/>
          <p:nvPr/>
        </p:nvSpPr>
        <p:spPr>
          <a:xfrm>
            <a:off x="804672" y="3282696"/>
            <a:ext cx="4882896" cy="45720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Số thứ tự đơn điệu. Là căn cứ duy nhất để biết bản nào mới hơn — một phép max(), không phải một lời nhắc gửi cho mô hình.</a:t>
            </a:r>
            <a:endParaRPr lang="en-US" sz="1150" dirty="0"/>
          </a:p>
        </p:txBody>
      </p:sp>
      <p:sp>
        <p:nvSpPr>
          <p:cNvPr id="10" name="Shape 8"/>
          <p:cNvSpPr/>
          <p:nvPr/>
        </p:nvSpPr>
        <p:spPr>
          <a:xfrm>
            <a:off x="6254496" y="2871216"/>
            <a:ext cx="5358384" cy="932688"/>
          </a:xfrm>
          <a:prstGeom prst="roundRect">
            <a:avLst>
              <a:gd name="adj" fmla="val 4902"/>
            </a:avLst>
          </a:prstGeom>
          <a:solidFill>
            <a:srgbClr val="F7F7FB"/>
          </a:solidFill>
          <a:ln w="12700">
            <a:solidFill>
              <a:srgbClr val="F7F7FB"/>
            </a:solidFill>
            <a:prstDash val="solid"/>
          </a:ln>
        </p:spPr>
      </p:sp>
      <p:sp>
        <p:nvSpPr>
          <p:cNvPr id="11" name="Text 9"/>
          <p:cNvSpPr txBox="1"/>
          <p:nvPr/>
        </p:nvSpPr>
        <p:spPr>
          <a:xfrm>
            <a:off x="6492240" y="2999232"/>
            <a:ext cx="4882896" cy="256032"/>
          </a:xfrm>
          <a:prstGeom prst="rect">
            <a:avLst/>
          </a:prstGeom>
          <a:noFill/>
          <a:ln/>
        </p:spPr>
        <p:txBody>
          <a:bodyPr wrap="square" lIns="0" tIns="0" rIns="0" bIns="0" rtlCol="0" anchor="ctr"/>
          <a:lstStyle/>
          <a:p>
            <a:pPr indent="0" marL="0">
              <a:buNone/>
            </a:pPr>
            <a:r>
              <a:rPr lang="en-US" sz="1300" b="1" dirty="0">
                <a:solidFill>
                  <a:srgbClr val="3A36A0"/>
                </a:solidFill>
                <a:latin typeface="Courier New" pitchFamily="34" charset="0"/>
                <a:ea typeface="Courier New" pitchFamily="34" charset="-122"/>
                <a:cs typeface="Courier New" pitchFamily="34" charset="-120"/>
              </a:rPr>
              <a:t>status · superseded_by</a:t>
            </a:r>
            <a:endParaRPr lang="en-US" sz="1300" dirty="0"/>
          </a:p>
        </p:txBody>
      </p:sp>
      <p:sp>
        <p:nvSpPr>
          <p:cNvPr id="12" name="Text 10"/>
          <p:cNvSpPr txBox="1"/>
          <p:nvPr/>
        </p:nvSpPr>
        <p:spPr>
          <a:xfrm>
            <a:off x="6492240" y="3282696"/>
            <a:ext cx="4882896" cy="45720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active / superseded / deleted, kèm con trỏ tới bản đã thay thế nó. Dựng lại được toàn bộ dòng lịch sử của một thuộc tính.</a:t>
            </a:r>
            <a:endParaRPr lang="en-US" sz="1150" dirty="0"/>
          </a:p>
        </p:txBody>
      </p:sp>
      <p:sp>
        <p:nvSpPr>
          <p:cNvPr id="13" name="Shape 11"/>
          <p:cNvSpPr/>
          <p:nvPr/>
        </p:nvSpPr>
        <p:spPr>
          <a:xfrm>
            <a:off x="566928" y="3931920"/>
            <a:ext cx="5358384" cy="932688"/>
          </a:xfrm>
          <a:prstGeom prst="roundRect">
            <a:avLst>
              <a:gd name="adj" fmla="val 4902"/>
            </a:avLst>
          </a:prstGeom>
          <a:solidFill>
            <a:srgbClr val="F7F7FB"/>
          </a:solidFill>
          <a:ln w="12700">
            <a:solidFill>
              <a:srgbClr val="F7F7FB"/>
            </a:solidFill>
            <a:prstDash val="solid"/>
          </a:ln>
        </p:spPr>
      </p:sp>
      <p:sp>
        <p:nvSpPr>
          <p:cNvPr id="14" name="Text 12"/>
          <p:cNvSpPr txBox="1"/>
          <p:nvPr/>
        </p:nvSpPr>
        <p:spPr>
          <a:xfrm>
            <a:off x="804672" y="4059936"/>
            <a:ext cx="4882896" cy="256032"/>
          </a:xfrm>
          <a:prstGeom prst="rect">
            <a:avLst/>
          </a:prstGeom>
          <a:noFill/>
          <a:ln/>
        </p:spPr>
        <p:txBody>
          <a:bodyPr wrap="square" lIns="0" tIns="0" rIns="0" bIns="0" rtlCol="0" anchor="ctr"/>
          <a:lstStyle/>
          <a:p>
            <a:pPr indent="0" marL="0">
              <a:buNone/>
            </a:pPr>
            <a:r>
              <a:rPr lang="en-US" sz="1300" b="1" dirty="0">
                <a:solidFill>
                  <a:srgbClr val="3A36A0"/>
                </a:solidFill>
                <a:latin typeface="Courier New" pitchFamily="34" charset="0"/>
                <a:ea typeface="Courier New" pitchFamily="34" charset="-122"/>
                <a:cs typeface="Courier New" pitchFamily="34" charset="-120"/>
              </a:rPr>
              <a:t>valid_from · invalidated_at</a:t>
            </a:r>
            <a:endParaRPr lang="en-US" sz="1300" dirty="0"/>
          </a:p>
        </p:txBody>
      </p:sp>
      <p:sp>
        <p:nvSpPr>
          <p:cNvPr id="15" name="Text 13"/>
          <p:cNvSpPr txBox="1"/>
          <p:nvPr/>
        </p:nvSpPr>
        <p:spPr>
          <a:xfrm>
            <a:off x="804672" y="4343400"/>
            <a:ext cx="4882896" cy="45720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Khoảng thời gian bản ghi có hiệu lực. Nhờ nó trả lời được câu hỏi suy luận thời gian: hồi tháng 5 trình độ tôi là gì?</a:t>
            </a:r>
            <a:endParaRPr lang="en-US" sz="1150" dirty="0"/>
          </a:p>
        </p:txBody>
      </p:sp>
      <p:sp>
        <p:nvSpPr>
          <p:cNvPr id="16" name="Shape 14"/>
          <p:cNvSpPr/>
          <p:nvPr/>
        </p:nvSpPr>
        <p:spPr>
          <a:xfrm>
            <a:off x="6254496" y="3931920"/>
            <a:ext cx="5358384" cy="932688"/>
          </a:xfrm>
          <a:prstGeom prst="roundRect">
            <a:avLst>
              <a:gd name="adj" fmla="val 4902"/>
            </a:avLst>
          </a:prstGeom>
          <a:solidFill>
            <a:srgbClr val="F7F7FB"/>
          </a:solidFill>
          <a:ln w="12700">
            <a:solidFill>
              <a:srgbClr val="F7F7FB"/>
            </a:solidFill>
            <a:prstDash val="solid"/>
          </a:ln>
        </p:spPr>
      </p:sp>
      <p:sp>
        <p:nvSpPr>
          <p:cNvPr id="17" name="Text 15"/>
          <p:cNvSpPr txBox="1"/>
          <p:nvPr/>
        </p:nvSpPr>
        <p:spPr>
          <a:xfrm>
            <a:off x="6492240" y="4059936"/>
            <a:ext cx="4882896" cy="256032"/>
          </a:xfrm>
          <a:prstGeom prst="rect">
            <a:avLst/>
          </a:prstGeom>
          <a:noFill/>
          <a:ln/>
        </p:spPr>
        <p:txBody>
          <a:bodyPr wrap="square" lIns="0" tIns="0" rIns="0" bIns="0" rtlCol="0" anchor="ctr"/>
          <a:lstStyle/>
          <a:p>
            <a:pPr indent="0" marL="0">
              <a:buNone/>
            </a:pPr>
            <a:r>
              <a:rPr lang="en-US" sz="1300" b="1" dirty="0">
                <a:solidFill>
                  <a:srgbClr val="3A36A0"/>
                </a:solidFill>
                <a:latin typeface="Courier New" pitchFamily="34" charset="0"/>
                <a:ea typeface="Courier New" pitchFamily="34" charset="-122"/>
                <a:cs typeface="Courier New" pitchFamily="34" charset="-120"/>
              </a:rPr>
              <a:t>memory_type · pinned</a:t>
            </a:r>
            <a:endParaRPr lang="en-US" sz="1300" dirty="0"/>
          </a:p>
        </p:txBody>
      </p:sp>
      <p:sp>
        <p:nvSpPr>
          <p:cNvPr id="18" name="Text 16"/>
          <p:cNvSpPr txBox="1"/>
          <p:nvPr/>
        </p:nvSpPr>
        <p:spPr>
          <a:xfrm>
            <a:off x="6492240" y="4343400"/>
            <a:ext cx="4882896" cy="457200"/>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semantic / preference / episodic / procedural. Ký ức pinned luôn được nạp vào ngữ cảnh, không cần khớp ngữ nghĩa.</a:t>
            </a:r>
            <a:endParaRPr lang="en-US" sz="1150" dirty="0"/>
          </a:p>
        </p:txBody>
      </p:sp>
      <p:sp>
        <p:nvSpPr>
          <p:cNvPr id="19" name="Shape 17"/>
          <p:cNvSpPr/>
          <p:nvPr/>
        </p:nvSpPr>
        <p:spPr>
          <a:xfrm>
            <a:off x="566928" y="5056632"/>
            <a:ext cx="11045952" cy="1133856"/>
          </a:xfrm>
          <a:prstGeom prst="roundRect">
            <a:avLst>
              <a:gd name="adj" fmla="val 4032"/>
            </a:avLst>
          </a:prstGeom>
          <a:solidFill>
            <a:srgbClr val="13123A"/>
          </a:solidFill>
          <a:ln w="12700">
            <a:solidFill>
              <a:srgbClr val="13123A"/>
            </a:solidFill>
            <a:prstDash val="solid"/>
          </a:ln>
        </p:spPr>
      </p:sp>
      <p:sp>
        <p:nvSpPr>
          <p:cNvPr id="20" name="Text 18"/>
          <p:cNvSpPr txBox="1"/>
          <p:nvPr/>
        </p:nvSpPr>
        <p:spPr>
          <a:xfrm>
            <a:off x="822960" y="5257800"/>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VÌ SAO KHÔNG LƯU FACT DẠNG CÂU TỰ DO NHƯ MEM0</a:t>
            </a:r>
            <a:endParaRPr lang="en-US" sz="1100" dirty="0"/>
          </a:p>
        </p:txBody>
      </p:sp>
      <p:sp>
        <p:nvSpPr>
          <p:cNvPr id="21" name="Text 19"/>
          <p:cNvSpPr txBox="1"/>
          <p:nvPr/>
        </p:nvSpPr>
        <p:spPr>
          <a:xfrm>
            <a:off x="822960" y="5541264"/>
            <a:ext cx="10533888" cy="493776"/>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Lưu dạng câu thì để biết hai câu có nói về cùng một thứ hay không phải đưa cả hai vào lời nhắc cho mô hình so sánh. Khóa slot biến việc đó thành một phép tra khóa. Ký ức episodic vẫn lưu dạng câu tự do — slot chỉ áp cho fact có thuộc tính rõ ràng.</a:t>
            </a:r>
            <a:endParaRPr lang="en-US" sz="1250" dirty="0"/>
          </a:p>
        </p:txBody>
      </p:sp>
      <p:sp>
        <p:nvSpPr>
          <p:cNvPr id="22" name="Text 20"/>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Khung thao tác tham chiếu: Chhikara et al., Mem0, ECAI 2025 (arXiv:2504.19413). Cơ chế xác định độ mới: Reddy &amp; Challaram, arXiv:2606.01435 (2026).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3A36A0"/>
                </a:solidFill>
                <a:latin typeface="Calibri" pitchFamily="34" charset="0"/>
                <a:ea typeface="Calibri" pitchFamily="34" charset="-122"/>
                <a:cs typeface="Calibri" pitchFamily="34" charset="-120"/>
              </a:rPr>
              <a:t>THIẾT KẾ · 4/4</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Vòng lặp xử lý một lượt hội thoại</a:t>
            </a:r>
            <a:endParaRPr lang="en-US" sz="3000" dirty="0"/>
          </a:p>
        </p:txBody>
      </p:sp>
      <p:sp>
        <p:nvSpPr>
          <p:cNvPr id="4" name="Shape 2"/>
          <p:cNvSpPr/>
          <p:nvPr/>
        </p:nvSpPr>
        <p:spPr>
          <a:xfrm>
            <a:off x="566928" y="1737360"/>
            <a:ext cx="5358384" cy="1444752"/>
          </a:xfrm>
          <a:prstGeom prst="roundRect">
            <a:avLst>
              <a:gd name="adj" fmla="val 3165"/>
            </a:avLst>
          </a:prstGeom>
          <a:solidFill>
            <a:srgbClr val="ECEBF7"/>
          </a:solidFill>
          <a:ln w="12700">
            <a:solidFill>
              <a:srgbClr val="ECEBF7"/>
            </a:solidFill>
            <a:prstDash val="solid"/>
          </a:ln>
        </p:spPr>
      </p:sp>
      <p:sp>
        <p:nvSpPr>
          <p:cNvPr id="5" name="Shape 3"/>
          <p:cNvSpPr/>
          <p:nvPr/>
        </p:nvSpPr>
        <p:spPr>
          <a:xfrm>
            <a:off x="822960" y="1965960"/>
            <a:ext cx="429768" cy="429768"/>
          </a:xfrm>
          <a:prstGeom prst="ellipse">
            <a:avLst/>
          </a:prstGeom>
          <a:solidFill>
            <a:srgbClr val="3A36A0"/>
          </a:solidFill>
          <a:ln w="12700">
            <a:solidFill>
              <a:srgbClr val="3A36A0"/>
            </a:solidFill>
            <a:prstDash val="solid"/>
          </a:ln>
        </p:spPr>
      </p:sp>
      <p:sp>
        <p:nvSpPr>
          <p:cNvPr id="6" name="Text 4"/>
          <p:cNvSpPr txBox="1"/>
          <p:nvPr/>
        </p:nvSpPr>
        <p:spPr>
          <a:xfrm>
            <a:off x="822960" y="1965960"/>
            <a:ext cx="429768"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380744" y="2020824"/>
            <a:ext cx="4306824" cy="329184"/>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Trích xuất   ·   LLM</a:t>
            </a:r>
            <a:endParaRPr lang="en-US" sz="1500" dirty="0"/>
          </a:p>
        </p:txBody>
      </p:sp>
      <p:sp>
        <p:nvSpPr>
          <p:cNvPr id="8" name="Text 6"/>
          <p:cNvSpPr txBox="1"/>
          <p:nvPr/>
        </p:nvSpPr>
        <p:spPr>
          <a:xfrm>
            <a:off x="822960" y="2478024"/>
            <a:ext cx="4846320" cy="576072"/>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Lượt hội thoại → danh sách fact có cấu trúc, kèm phân loại loại ký ức. Mô hình được chỉ thị: chỉ rút thông tin bền vững, không suy diễn, tên khóa phải ổn định.</a:t>
            </a:r>
            <a:endParaRPr lang="en-US" sz="1200" dirty="0"/>
          </a:p>
        </p:txBody>
      </p:sp>
      <p:sp>
        <p:nvSpPr>
          <p:cNvPr id="9" name="Shape 7"/>
          <p:cNvSpPr/>
          <p:nvPr/>
        </p:nvSpPr>
        <p:spPr>
          <a:xfrm>
            <a:off x="6254496" y="1737360"/>
            <a:ext cx="5358384" cy="1444752"/>
          </a:xfrm>
          <a:prstGeom prst="roundRect">
            <a:avLst>
              <a:gd name="adj" fmla="val 3165"/>
            </a:avLst>
          </a:prstGeom>
          <a:solidFill>
            <a:srgbClr val="ECEBF7"/>
          </a:solidFill>
          <a:ln w="12700">
            <a:solidFill>
              <a:srgbClr val="ECEBF7"/>
            </a:solidFill>
            <a:prstDash val="solid"/>
          </a:ln>
        </p:spPr>
      </p:sp>
      <p:sp>
        <p:nvSpPr>
          <p:cNvPr id="10" name="Shape 8"/>
          <p:cNvSpPr/>
          <p:nvPr/>
        </p:nvSpPr>
        <p:spPr>
          <a:xfrm>
            <a:off x="6510528" y="1965960"/>
            <a:ext cx="429768" cy="429768"/>
          </a:xfrm>
          <a:prstGeom prst="ellipse">
            <a:avLst/>
          </a:prstGeom>
          <a:solidFill>
            <a:srgbClr val="3A36A0"/>
          </a:solidFill>
          <a:ln w="12700">
            <a:solidFill>
              <a:srgbClr val="3A36A0"/>
            </a:solidFill>
            <a:prstDash val="solid"/>
          </a:ln>
        </p:spPr>
      </p:sp>
      <p:sp>
        <p:nvSpPr>
          <p:cNvPr id="11" name="Text 9"/>
          <p:cNvSpPr txBox="1"/>
          <p:nvPr/>
        </p:nvSpPr>
        <p:spPr>
          <a:xfrm>
            <a:off x="6510528" y="1965960"/>
            <a:ext cx="429768"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7068312" y="2020824"/>
            <a:ext cx="4306824" cy="329184"/>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Cập nhật   ·   Python</a:t>
            </a:r>
            <a:endParaRPr lang="en-US" sz="1500" dirty="0"/>
          </a:p>
        </p:txBody>
      </p:sp>
      <p:sp>
        <p:nvSpPr>
          <p:cNvPr id="13" name="Text 11"/>
          <p:cNvSpPr txBox="1"/>
          <p:nvPr/>
        </p:nvSpPr>
        <p:spPr>
          <a:xfrm>
            <a:off x="6510528" y="2478024"/>
            <a:ext cx="4846320" cy="576072"/>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Ghép slot, so sánh giá trị, chọn ADD / UPDATE / DELETE / NOOP / CONFLICT. Bản cũ chuyển superseded chứ không xóa. Bước này không gọi mô hình.</a:t>
            </a:r>
            <a:endParaRPr lang="en-US" sz="1200" dirty="0"/>
          </a:p>
        </p:txBody>
      </p:sp>
      <p:sp>
        <p:nvSpPr>
          <p:cNvPr id="14" name="Shape 12"/>
          <p:cNvSpPr/>
          <p:nvPr/>
        </p:nvSpPr>
        <p:spPr>
          <a:xfrm>
            <a:off x="566928" y="3310128"/>
            <a:ext cx="5358384" cy="1444752"/>
          </a:xfrm>
          <a:prstGeom prst="roundRect">
            <a:avLst>
              <a:gd name="adj" fmla="val 3165"/>
            </a:avLst>
          </a:prstGeom>
          <a:solidFill>
            <a:srgbClr val="ECEBF7"/>
          </a:solidFill>
          <a:ln w="12700">
            <a:solidFill>
              <a:srgbClr val="ECEBF7"/>
            </a:solidFill>
            <a:prstDash val="solid"/>
          </a:ln>
        </p:spPr>
      </p:sp>
      <p:sp>
        <p:nvSpPr>
          <p:cNvPr id="15" name="Shape 13"/>
          <p:cNvSpPr/>
          <p:nvPr/>
        </p:nvSpPr>
        <p:spPr>
          <a:xfrm>
            <a:off x="822960" y="3538728"/>
            <a:ext cx="429768" cy="429768"/>
          </a:xfrm>
          <a:prstGeom prst="ellipse">
            <a:avLst/>
          </a:prstGeom>
          <a:solidFill>
            <a:srgbClr val="3A36A0"/>
          </a:solidFill>
          <a:ln w="12700">
            <a:solidFill>
              <a:srgbClr val="3A36A0"/>
            </a:solidFill>
            <a:prstDash val="solid"/>
          </a:ln>
        </p:spPr>
      </p:sp>
      <p:sp>
        <p:nvSpPr>
          <p:cNvPr id="16" name="Text 14"/>
          <p:cNvSpPr txBox="1"/>
          <p:nvPr/>
        </p:nvSpPr>
        <p:spPr>
          <a:xfrm>
            <a:off x="822960" y="3538728"/>
            <a:ext cx="429768"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380744" y="3593592"/>
            <a:ext cx="4306824" cy="329184"/>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Truy xuất   ·   Embedding + Python</a:t>
            </a:r>
            <a:endParaRPr lang="en-US" sz="1500" dirty="0"/>
          </a:p>
        </p:txBody>
      </p:sp>
      <p:sp>
        <p:nvSpPr>
          <p:cNvPr id="18" name="Text 16"/>
          <p:cNvSpPr txBox="1"/>
          <p:nvPr/>
        </p:nvSpPr>
        <p:spPr>
          <a:xfrm>
            <a:off x="822960" y="4050792"/>
            <a:ext cx="4846320" cy="576072"/>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Tách truy vấn con nếu câu hỏi cần nhiều mẩu thông tin; lọc bản cũ hai lớp; nạp thêm ký ức pinned; phát tín hiệu khi không đủ căn cứ để trả lời.</a:t>
            </a:r>
            <a:endParaRPr lang="en-US" sz="1200" dirty="0"/>
          </a:p>
        </p:txBody>
      </p:sp>
      <p:sp>
        <p:nvSpPr>
          <p:cNvPr id="19" name="Shape 17"/>
          <p:cNvSpPr/>
          <p:nvPr/>
        </p:nvSpPr>
        <p:spPr>
          <a:xfrm>
            <a:off x="6254496" y="3310128"/>
            <a:ext cx="5358384" cy="1444752"/>
          </a:xfrm>
          <a:prstGeom prst="roundRect">
            <a:avLst>
              <a:gd name="adj" fmla="val 3165"/>
            </a:avLst>
          </a:prstGeom>
          <a:solidFill>
            <a:srgbClr val="ECEBF7"/>
          </a:solidFill>
          <a:ln w="12700">
            <a:solidFill>
              <a:srgbClr val="ECEBF7"/>
            </a:solidFill>
            <a:prstDash val="solid"/>
          </a:ln>
        </p:spPr>
      </p:sp>
      <p:sp>
        <p:nvSpPr>
          <p:cNvPr id="20" name="Shape 18"/>
          <p:cNvSpPr/>
          <p:nvPr/>
        </p:nvSpPr>
        <p:spPr>
          <a:xfrm>
            <a:off x="6510528" y="3538728"/>
            <a:ext cx="429768" cy="429768"/>
          </a:xfrm>
          <a:prstGeom prst="ellipse">
            <a:avLst/>
          </a:prstGeom>
          <a:solidFill>
            <a:srgbClr val="3A36A0"/>
          </a:solidFill>
          <a:ln w="12700">
            <a:solidFill>
              <a:srgbClr val="3A36A0"/>
            </a:solidFill>
            <a:prstDash val="solid"/>
          </a:ln>
        </p:spPr>
      </p:sp>
      <p:sp>
        <p:nvSpPr>
          <p:cNvPr id="21" name="Text 19"/>
          <p:cNvSpPr txBox="1"/>
          <p:nvPr/>
        </p:nvSpPr>
        <p:spPr>
          <a:xfrm>
            <a:off x="6510528" y="3538728"/>
            <a:ext cx="429768"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7068312" y="3593592"/>
            <a:ext cx="4306824" cy="329184"/>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Sinh phản hồi   ·   LLM</a:t>
            </a:r>
            <a:endParaRPr lang="en-US" sz="1500" dirty="0"/>
          </a:p>
        </p:txBody>
      </p:sp>
      <p:sp>
        <p:nvSpPr>
          <p:cNvPr id="23" name="Text 21"/>
          <p:cNvSpPr txBox="1"/>
          <p:nvPr/>
        </p:nvSpPr>
        <p:spPr>
          <a:xfrm>
            <a:off x="6510528" y="4050792"/>
            <a:ext cx="4846320" cy="576072"/>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Ký ức chèn vào lời nhắc kèm số seq; ký ức quy trình chèn vào system prompt. Thiếu căn cứ thì nói thẳng là chưa biết, phục vụ trục biết từ chối.</a:t>
            </a:r>
            <a:endParaRPr lang="en-US" sz="1200" dirty="0"/>
          </a:p>
        </p:txBody>
      </p:sp>
      <p:sp>
        <p:nvSpPr>
          <p:cNvPr id="24" name="Shape 22"/>
          <p:cNvSpPr/>
          <p:nvPr/>
        </p:nvSpPr>
        <p:spPr>
          <a:xfrm>
            <a:off x="566928" y="4956048"/>
            <a:ext cx="11045952" cy="1225296"/>
          </a:xfrm>
          <a:prstGeom prst="roundRect">
            <a:avLst>
              <a:gd name="adj" fmla="val 3731"/>
            </a:avLst>
          </a:prstGeom>
          <a:solidFill>
            <a:srgbClr val="13123A"/>
          </a:solidFill>
          <a:ln w="12700">
            <a:solidFill>
              <a:srgbClr val="13123A"/>
            </a:solidFill>
            <a:prstDash val="solid"/>
          </a:ln>
        </p:spPr>
      </p:sp>
      <p:sp>
        <p:nvSpPr>
          <p:cNvPr id="25" name="Text 23"/>
          <p:cNvSpPr txBox="1"/>
          <p:nvPr/>
        </p:nvSpPr>
        <p:spPr>
          <a:xfrm>
            <a:off x="822960" y="5157216"/>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CHI TIẾT DỄ BỊ BỎ QUA</a:t>
            </a:r>
            <a:endParaRPr lang="en-US" sz="1100" dirty="0"/>
          </a:p>
        </p:txBody>
      </p:sp>
      <p:sp>
        <p:nvSpPr>
          <p:cNvPr id="26" name="Text 24"/>
          <p:cNvSpPr txBox="1"/>
          <p:nvPr/>
        </p:nvSpPr>
        <p:spPr>
          <a:xfrm>
            <a:off x="822960" y="5440680"/>
            <a:ext cx="10533888" cy="585216"/>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Pha 3 lọc bản cũ HAI lớp, không phải một. Lớp một lọc status ở tầng truy vấn; lớp hai gom theo slot chỉ giữ bản seq lớn nhất. Cần cả hai vì embedding của trình độ N5 và trình độ N4 gần như trùng nhau, nên top-k rất dễ trả về cả hai — và khi lời nhắc chứa hai fact mâu thuẫn thì mô hình đoán bừa.</a:t>
            </a:r>
            <a:endParaRPr lang="en-US" sz="1250" dirty="0"/>
          </a:p>
        </p:txBody>
      </p:sp>
      <p:sp>
        <p:nvSpPr>
          <p:cNvPr id="27" name="Text 25"/>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Cấu trúc vòng lặp tham chiếu: Chhikara et al., Mem0, ECAI 2025 · Zhang et al., survey cơ chế bộ nhớ, ACM TOIS 2025 (DOI 10.1145/3748302).</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E9970B"/>
                </a:solidFill>
                <a:latin typeface="Calibri" pitchFamily="34" charset="0"/>
                <a:ea typeface="Calibri" pitchFamily="34" charset="-122"/>
                <a:cs typeface="Calibri" pitchFamily="34" charset="-120"/>
              </a:rPr>
              <a:t>MỘT TRONG TÁM NĂNG LỰC</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Cập nhật kiến thức và giải quyết mâu thuẫn</a:t>
            </a:r>
            <a:endParaRPr lang="en-US" sz="3000" dirty="0"/>
          </a:p>
        </p:txBody>
      </p:sp>
      <p:sp>
        <p:nvSpPr>
          <p:cNvPr id="4" name="Shape 2"/>
          <p:cNvSpPr/>
          <p:nvPr/>
        </p:nvSpPr>
        <p:spPr>
          <a:xfrm>
            <a:off x="566928" y="1673352"/>
            <a:ext cx="5358384" cy="2148840"/>
          </a:xfrm>
          <a:prstGeom prst="roundRect">
            <a:avLst>
              <a:gd name="adj" fmla="val 2128"/>
            </a:avLst>
          </a:prstGeom>
          <a:solidFill>
            <a:srgbClr val="ECEBF7"/>
          </a:solidFill>
          <a:ln w="12700">
            <a:solidFill>
              <a:srgbClr val="ECEBF7"/>
            </a:solidFill>
            <a:prstDash val="solid"/>
          </a:ln>
        </p:spPr>
      </p:sp>
      <p:sp>
        <p:nvSpPr>
          <p:cNvPr id="5" name="Text 3"/>
          <p:cNvSpPr txBox="1"/>
          <p:nvPr/>
        </p:nvSpPr>
        <p:spPr>
          <a:xfrm>
            <a:off x="822960" y="1847088"/>
            <a:ext cx="484632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CẬP NHẬT KIẾN THỨC</a:t>
            </a:r>
            <a:endParaRPr lang="en-US" sz="1100" dirty="0"/>
          </a:p>
        </p:txBody>
      </p:sp>
      <p:sp>
        <p:nvSpPr>
          <p:cNvPr id="6" name="Text 4"/>
          <p:cNvSpPr txBox="1"/>
          <p:nvPr/>
        </p:nvSpPr>
        <p:spPr>
          <a:xfrm>
            <a:off x="822960" y="2130552"/>
            <a:ext cx="4846320" cy="274320"/>
          </a:xfrm>
          <a:prstGeom prst="rect">
            <a:avLst/>
          </a:prstGeom>
          <a:noFill/>
          <a:ln/>
        </p:spPr>
        <p:txBody>
          <a:bodyPr wrap="square" lIns="0" tIns="0" rIns="0" bIns="0" rtlCol="0" anchor="ctr"/>
          <a:lstStyle/>
          <a:p>
            <a:pPr indent="0" marL="0">
              <a:buNone/>
            </a:pPr>
            <a:r>
              <a:rPr lang="en-US" sz="1400" b="1" dirty="0">
                <a:solidFill>
                  <a:srgbClr val="13123A"/>
                </a:solidFill>
                <a:latin typeface="Cambria" pitchFamily="34" charset="0"/>
                <a:ea typeface="Cambria" pitchFamily="34" charset="-122"/>
                <a:cs typeface="Cambria" pitchFamily="34" charset="-120"/>
              </a:rPr>
              <a:t>Giá trị đổi theo thời gian — có thứ tự để phân xử</a:t>
            </a:r>
            <a:endParaRPr lang="en-US" sz="1400" dirty="0"/>
          </a:p>
        </p:txBody>
      </p:sp>
      <p:sp>
        <p:nvSpPr>
          <p:cNvPr id="7" name="Text 5"/>
          <p:cNvSpPr txBox="1"/>
          <p:nvPr/>
        </p:nvSpPr>
        <p:spPr>
          <a:xfrm>
            <a:off x="822960" y="2523744"/>
            <a:ext cx="4846320" cy="274320"/>
          </a:xfrm>
          <a:prstGeom prst="rect">
            <a:avLst/>
          </a:prstGeom>
          <a:noFill/>
          <a:ln/>
        </p:spPr>
        <p:txBody>
          <a:bodyPr wrap="square" lIns="0" tIns="0" rIns="0" bIns="0" rtlCol="0" anchor="ctr"/>
          <a:lstStyle/>
          <a:p>
            <a:pPr indent="0" marL="0">
              <a:buNone/>
            </a:pPr>
            <a:r>
              <a:rPr lang="en-US" sz="1300" b="1" dirty="0">
                <a:solidFill>
                  <a:srgbClr val="4A4E63"/>
                </a:solidFill>
                <a:latin typeface="Courier New" pitchFamily="34" charset="0"/>
                <a:ea typeface="Courier New" pitchFamily="34" charset="-122"/>
                <a:cs typeface="Courier New" pitchFamily="34" charset="-120"/>
              </a:rPr>
              <a:t>#1 N5</a:t>
            </a:r>
            <a:pPr indent="0" marL="0">
              <a:buNone/>
            </a:pPr>
            <a:r>
              <a:rPr lang="en-US" sz="1300" dirty="0">
                <a:solidFill>
                  <a:srgbClr val="6A6E85"/>
                </a:solidFill>
                <a:latin typeface="Courier New" pitchFamily="34" charset="0"/>
                <a:ea typeface="Courier New" pitchFamily="34" charset="-122"/>
                <a:cs typeface="Courier New" pitchFamily="34" charset="-120"/>
              </a:rPr>
              <a:t>  superseded   →   </a:t>
            </a:r>
            <a:pPr indent="0" marL="0">
              <a:buNone/>
            </a:pPr>
            <a:r>
              <a:rPr lang="en-US" sz="1300" b="1" dirty="0">
                <a:solidFill>
                  <a:srgbClr val="13123A"/>
                </a:solidFill>
                <a:latin typeface="Courier New" pitchFamily="34" charset="0"/>
                <a:ea typeface="Courier New" pitchFamily="34" charset="-122"/>
                <a:cs typeface="Courier New" pitchFamily="34" charset="-120"/>
              </a:rPr>
              <a:t>#4 N4</a:t>
            </a:r>
            <a:pPr indent="0" marL="0">
              <a:buNone/>
            </a:pPr>
            <a:r>
              <a:rPr lang="en-US" sz="1300" b="1" dirty="0">
                <a:solidFill>
                  <a:srgbClr val="1FA6A6"/>
                </a:solidFill>
                <a:latin typeface="Courier New" pitchFamily="34" charset="0"/>
                <a:ea typeface="Courier New" pitchFamily="34" charset="-122"/>
                <a:cs typeface="Courier New" pitchFamily="34" charset="-120"/>
              </a:rPr>
              <a:t>  active</a:t>
            </a:r>
            <a:endParaRPr lang="en-US" sz="1300" dirty="0"/>
          </a:p>
        </p:txBody>
      </p:sp>
      <p:sp>
        <p:nvSpPr>
          <p:cNvPr id="8" name="Text 6"/>
          <p:cNvSpPr txBox="1"/>
          <p:nvPr/>
        </p:nvSpPr>
        <p:spPr>
          <a:xfrm>
            <a:off x="822960" y="2889504"/>
            <a:ext cx="4846320" cy="786384"/>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Bản mới nhận seq lớn hơn, bản cũ chuyển superseded và giữ lại khoảng hiệu lực. Câu hỏi “giá trị hiện tại là gì” trở thành một phép max(seq) — thuần Python, tất định.</a:t>
            </a:r>
            <a:endParaRPr lang="en-US" sz="1200" dirty="0"/>
          </a:p>
        </p:txBody>
      </p:sp>
      <p:sp>
        <p:nvSpPr>
          <p:cNvPr id="9" name="Shape 7"/>
          <p:cNvSpPr/>
          <p:nvPr/>
        </p:nvSpPr>
        <p:spPr>
          <a:xfrm>
            <a:off x="6254496" y="1673352"/>
            <a:ext cx="5358384" cy="2148840"/>
          </a:xfrm>
          <a:prstGeom prst="roundRect">
            <a:avLst>
              <a:gd name="adj" fmla="val 2128"/>
            </a:avLst>
          </a:prstGeom>
          <a:solidFill>
            <a:srgbClr val="F7F7FB"/>
          </a:solidFill>
          <a:ln w="12700">
            <a:solidFill>
              <a:srgbClr val="F7F7FB"/>
            </a:solidFill>
            <a:prstDash val="solid"/>
          </a:ln>
        </p:spPr>
      </p:sp>
      <p:sp>
        <p:nvSpPr>
          <p:cNvPr id="10" name="Text 8"/>
          <p:cNvSpPr txBox="1"/>
          <p:nvPr/>
        </p:nvSpPr>
        <p:spPr>
          <a:xfrm>
            <a:off x="6510528" y="1847088"/>
            <a:ext cx="4846320" cy="256032"/>
          </a:xfrm>
          <a:prstGeom prst="rect">
            <a:avLst/>
          </a:prstGeom>
          <a:noFill/>
          <a:ln/>
        </p:spPr>
        <p:txBody>
          <a:bodyPr wrap="square" lIns="0" tIns="0" rIns="0" bIns="0" rtlCol="0" anchor="ctr"/>
          <a:lstStyle/>
          <a:p>
            <a:pPr indent="0" marL="0">
              <a:buNone/>
            </a:pPr>
            <a:r>
              <a:rPr lang="en-US" sz="1100" b="1" dirty="0">
                <a:solidFill>
                  <a:srgbClr val="E9970B"/>
                </a:solidFill>
                <a:latin typeface="Calibri" pitchFamily="34" charset="0"/>
                <a:ea typeface="Calibri" pitchFamily="34" charset="-122"/>
                <a:cs typeface="Calibri" pitchFamily="34" charset="-120"/>
              </a:rPr>
              <a:t>GIẢI QUYẾT MÂU THUẪN</a:t>
            </a:r>
            <a:endParaRPr lang="en-US" sz="1100" dirty="0"/>
          </a:p>
        </p:txBody>
      </p:sp>
      <p:sp>
        <p:nvSpPr>
          <p:cNvPr id="11" name="Text 9"/>
          <p:cNvSpPr txBox="1"/>
          <p:nvPr/>
        </p:nvSpPr>
        <p:spPr>
          <a:xfrm>
            <a:off x="6510528" y="2130552"/>
            <a:ext cx="4846320" cy="274320"/>
          </a:xfrm>
          <a:prstGeom prst="rect">
            <a:avLst/>
          </a:prstGeom>
          <a:noFill/>
          <a:ln/>
        </p:spPr>
        <p:txBody>
          <a:bodyPr wrap="square" lIns="0" tIns="0" rIns="0" bIns="0" rtlCol="0" anchor="ctr"/>
          <a:lstStyle/>
          <a:p>
            <a:pPr indent="0" marL="0">
              <a:buNone/>
            </a:pPr>
            <a:r>
              <a:rPr lang="en-US" sz="1400" b="1" dirty="0">
                <a:solidFill>
                  <a:srgbClr val="13123A"/>
                </a:solidFill>
                <a:latin typeface="Cambria" pitchFamily="34" charset="0"/>
                <a:ea typeface="Cambria" pitchFamily="34" charset="-122"/>
                <a:cs typeface="Cambria" pitchFamily="34" charset="-120"/>
              </a:rPr>
              <a:t>Hai giá trị trái nhau cùng lúc — không có thứ tự</a:t>
            </a:r>
            <a:endParaRPr lang="en-US" sz="1400" dirty="0"/>
          </a:p>
        </p:txBody>
      </p:sp>
      <p:sp>
        <p:nvSpPr>
          <p:cNvPr id="12" name="Text 10"/>
          <p:cNvSpPr txBox="1"/>
          <p:nvPr/>
        </p:nvSpPr>
        <p:spPr>
          <a:xfrm>
            <a:off x="6510528" y="2523744"/>
            <a:ext cx="4846320" cy="274320"/>
          </a:xfrm>
          <a:prstGeom prst="rect">
            <a:avLst/>
          </a:prstGeom>
          <a:noFill/>
          <a:ln/>
        </p:spPr>
        <p:txBody>
          <a:bodyPr wrap="square" lIns="0" tIns="0" rIns="0" bIns="0" rtlCol="0" anchor="ctr"/>
          <a:lstStyle/>
          <a:p>
            <a:pPr indent="0" marL="0">
              <a:buNone/>
            </a:pPr>
            <a:r>
              <a:rPr lang="en-US" sz="1300" b="1" dirty="0">
                <a:solidFill>
                  <a:srgbClr val="13123A"/>
                </a:solidFill>
                <a:latin typeface="Courier New" pitchFamily="34" charset="0"/>
                <a:ea typeface="Courier New" pitchFamily="34" charset="-122"/>
                <a:cs typeface="Courier New" pitchFamily="34" charset="-120"/>
              </a:rPr>
              <a:t>N4</a:t>
            </a:r>
            <a:pPr indent="0" marL="0">
              <a:buNone/>
            </a:pPr>
            <a:r>
              <a:rPr lang="en-US" sz="1300" dirty="0">
                <a:solidFill>
                  <a:srgbClr val="6A6E85"/>
                </a:solidFill>
                <a:latin typeface="Courier New" pitchFamily="34" charset="0"/>
                <a:ea typeface="Courier New" pitchFamily="34" charset="-122"/>
                <a:cs typeface="Courier New" pitchFamily="34" charset="-120"/>
              </a:rPr>
              <a:t>  vs  </a:t>
            </a:r>
            <a:pPr indent="0" marL="0">
              <a:buNone/>
            </a:pPr>
            <a:r>
              <a:rPr lang="en-US" sz="1300" b="1" dirty="0">
                <a:solidFill>
                  <a:srgbClr val="13123A"/>
                </a:solidFill>
                <a:latin typeface="Courier New" pitchFamily="34" charset="0"/>
                <a:ea typeface="Courier New" pitchFamily="34" charset="-122"/>
                <a:cs typeface="Courier New" pitchFamily="34" charset="-120"/>
              </a:rPr>
              <a:t>N3</a:t>
            </a:r>
            <a:pPr indent="0" marL="0">
              <a:buNone/>
            </a:pPr>
            <a:r>
              <a:rPr lang="en-US" sz="1300" dirty="0">
                <a:solidFill>
                  <a:srgbClr val="6A6E85"/>
                </a:solidFill>
                <a:latin typeface="Courier New" pitchFamily="34" charset="0"/>
                <a:ea typeface="Courier New" pitchFamily="34" charset="-122"/>
                <a:cs typeface="Courier New" pitchFamily="34" charset="-120"/>
              </a:rPr>
              <a:t>  →  </a:t>
            </a:r>
            <a:pPr indent="0" marL="0">
              <a:buNone/>
            </a:pPr>
            <a:r>
              <a:rPr lang="en-US" sz="1300" b="1" dirty="0">
                <a:solidFill>
                  <a:srgbClr val="E9970B"/>
                </a:solidFill>
                <a:latin typeface="Courier New" pitchFamily="34" charset="0"/>
                <a:ea typeface="Courier New" pitchFamily="34" charset="-122"/>
                <a:cs typeface="Courier New" pitchFamily="34" charset="-120"/>
              </a:rPr>
              <a:t>CONFLICT</a:t>
            </a:r>
            <a:endParaRPr lang="en-US" sz="1300" dirty="0"/>
          </a:p>
        </p:txBody>
      </p:sp>
      <p:sp>
        <p:nvSpPr>
          <p:cNvPr id="13" name="Text 11"/>
          <p:cNvSpPr txBox="1"/>
          <p:nvPr/>
        </p:nvSpPr>
        <p:spPr>
          <a:xfrm>
            <a:off x="6510528" y="2889504"/>
            <a:ext cx="4846320" cy="786384"/>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Khi hai giá trị trái nhau xuất hiện trong cùng một lượt, không có căn cứ thời gian để phân xử. Hệ giữ bản sau nhưng đánh dấu cần rà soát, thay vì âm thầm chọn bừa. BEAM chấm đây là một năng lực riêng.</a:t>
            </a:r>
            <a:endParaRPr lang="en-US" sz="1200" dirty="0"/>
          </a:p>
        </p:txBody>
      </p:sp>
      <p:sp>
        <p:nvSpPr>
          <p:cNvPr id="14" name="Shape 12"/>
          <p:cNvSpPr/>
          <p:nvPr/>
        </p:nvSpPr>
        <p:spPr>
          <a:xfrm>
            <a:off x="566928" y="4041648"/>
            <a:ext cx="3483864" cy="1170432"/>
          </a:xfrm>
          <a:prstGeom prst="roundRect">
            <a:avLst>
              <a:gd name="adj" fmla="val 3906"/>
            </a:avLst>
          </a:prstGeom>
          <a:solidFill>
            <a:srgbClr val="F7F7FB"/>
          </a:solidFill>
          <a:ln w="12700">
            <a:solidFill>
              <a:srgbClr val="F7F7FB"/>
            </a:solidFill>
            <a:prstDash val="solid"/>
          </a:ln>
        </p:spPr>
      </p:sp>
      <p:sp>
        <p:nvSpPr>
          <p:cNvPr id="15" name="Text 13"/>
          <p:cNvSpPr txBox="1"/>
          <p:nvPr/>
        </p:nvSpPr>
        <p:spPr>
          <a:xfrm>
            <a:off x="804672" y="4187952"/>
            <a:ext cx="3008376" cy="512064"/>
          </a:xfrm>
          <a:prstGeom prst="rect">
            <a:avLst/>
          </a:prstGeom>
          <a:noFill/>
          <a:ln/>
        </p:spPr>
        <p:txBody>
          <a:bodyPr wrap="square" lIns="0" tIns="0" rIns="0" bIns="0" rtlCol="0" anchor="ctr"/>
          <a:lstStyle/>
          <a:p>
            <a:pPr indent="0" marL="0">
              <a:buNone/>
            </a:pPr>
            <a:r>
              <a:rPr lang="en-US" sz="3000" b="1" dirty="0">
                <a:solidFill>
                  <a:srgbClr val="E9970B"/>
                </a:solidFill>
                <a:latin typeface="Cambria" pitchFamily="34" charset="0"/>
                <a:ea typeface="Cambria" pitchFamily="34" charset="-122"/>
                <a:cs typeface="Cambria" pitchFamily="34" charset="-120"/>
              </a:rPr>
              <a:t>~7%</a:t>
            </a:r>
            <a:endParaRPr lang="en-US" sz="3000" dirty="0"/>
          </a:p>
        </p:txBody>
      </p:sp>
      <p:sp>
        <p:nvSpPr>
          <p:cNvPr id="16" name="Text 14"/>
          <p:cNvSpPr txBox="1"/>
          <p:nvPr/>
        </p:nvSpPr>
        <p:spPr>
          <a:xfrm>
            <a:off x="804672" y="4736592"/>
            <a:ext cx="3008376" cy="256032"/>
          </a:xfrm>
          <a:prstGeom prst="rect">
            <a:avLst/>
          </a:prstGeom>
          <a:noFill/>
          <a:ln/>
        </p:spPr>
        <p:txBody>
          <a:bodyPr wrap="square" lIns="0" tIns="0" rIns="0" bIns="0" rtlCol="0" anchor="ctr"/>
          <a:lstStyle/>
          <a:p>
            <a:pPr indent="0" marL="0">
              <a:buNone/>
            </a:pPr>
            <a:r>
              <a:rPr lang="en-US" sz="1250" b="1" dirty="0">
                <a:solidFill>
                  <a:srgbClr val="13123A"/>
                </a:solidFill>
                <a:latin typeface="Calibri" pitchFamily="34" charset="0"/>
                <a:ea typeface="Calibri" pitchFamily="34" charset="-122"/>
                <a:cs typeface="Calibri" pitchFamily="34" charset="-120"/>
              </a:rPr>
              <a:t>Zep / Graphiti</a:t>
            </a:r>
            <a:endParaRPr lang="en-US" sz="1250" dirty="0"/>
          </a:p>
        </p:txBody>
      </p:sp>
      <p:sp>
        <p:nvSpPr>
          <p:cNvPr id="17" name="Text 15"/>
          <p:cNvSpPr txBox="1"/>
          <p:nvPr/>
        </p:nvSpPr>
        <p:spPr>
          <a:xfrm>
            <a:off x="804672" y="4956048"/>
            <a:ext cx="3008376" cy="219456"/>
          </a:xfrm>
          <a:prstGeom prst="rect">
            <a:avLst/>
          </a:prstGeom>
          <a:noFill/>
          <a:ln/>
        </p:spPr>
        <p:txBody>
          <a:bodyPr wrap="square" lIns="0" tIns="0" rIns="0" bIns="0" rtlCol="0" anchor="ctr"/>
          <a:lstStyle/>
          <a:p>
            <a:pPr indent="0" marL="0">
              <a:buNone/>
            </a:pPr>
            <a:r>
              <a:rPr lang="en-US" sz="1100" dirty="0">
                <a:solidFill>
                  <a:srgbClr val="6A6E85"/>
                </a:solidFill>
                <a:latin typeface="Calibri" pitchFamily="34" charset="0"/>
                <a:ea typeface="Calibri" pitchFamily="34" charset="-122"/>
                <a:cs typeface="Calibri" pitchFamily="34" charset="-120"/>
              </a:rPr>
              <a:t>điểm trên FactConsolidation</a:t>
            </a:r>
            <a:endParaRPr lang="en-US" sz="1100" dirty="0"/>
          </a:p>
        </p:txBody>
      </p:sp>
      <p:sp>
        <p:nvSpPr>
          <p:cNvPr id="18" name="Shape 16"/>
          <p:cNvSpPr/>
          <p:nvPr/>
        </p:nvSpPr>
        <p:spPr>
          <a:xfrm>
            <a:off x="4352544" y="4041648"/>
            <a:ext cx="3483864" cy="1170432"/>
          </a:xfrm>
          <a:prstGeom prst="roundRect">
            <a:avLst>
              <a:gd name="adj" fmla="val 3906"/>
            </a:avLst>
          </a:prstGeom>
          <a:solidFill>
            <a:srgbClr val="F7F7FB"/>
          </a:solidFill>
          <a:ln w="12700">
            <a:solidFill>
              <a:srgbClr val="F7F7FB"/>
            </a:solidFill>
            <a:prstDash val="solid"/>
          </a:ln>
        </p:spPr>
      </p:sp>
      <p:sp>
        <p:nvSpPr>
          <p:cNvPr id="19" name="Text 17"/>
          <p:cNvSpPr txBox="1"/>
          <p:nvPr/>
        </p:nvSpPr>
        <p:spPr>
          <a:xfrm>
            <a:off x="4590288" y="4187952"/>
            <a:ext cx="3008376" cy="512064"/>
          </a:xfrm>
          <a:prstGeom prst="rect">
            <a:avLst/>
          </a:prstGeom>
          <a:noFill/>
          <a:ln/>
        </p:spPr>
        <p:txBody>
          <a:bodyPr wrap="square" lIns="0" tIns="0" rIns="0" bIns="0" rtlCol="0" anchor="ctr"/>
          <a:lstStyle/>
          <a:p>
            <a:pPr indent="0" marL="0">
              <a:buNone/>
            </a:pPr>
            <a:r>
              <a:rPr lang="en-US" sz="3000" b="1" dirty="0">
                <a:solidFill>
                  <a:srgbClr val="E9970B"/>
                </a:solidFill>
                <a:latin typeface="Cambria" pitchFamily="34" charset="0"/>
                <a:ea typeface="Cambria" pitchFamily="34" charset="-122"/>
                <a:cs typeface="Cambria" pitchFamily="34" charset="-120"/>
              </a:rPr>
              <a:t>~54%</a:t>
            </a:r>
            <a:endParaRPr lang="en-US" sz="3000" dirty="0"/>
          </a:p>
        </p:txBody>
      </p:sp>
      <p:sp>
        <p:nvSpPr>
          <p:cNvPr id="20" name="Text 18"/>
          <p:cNvSpPr txBox="1"/>
          <p:nvPr/>
        </p:nvSpPr>
        <p:spPr>
          <a:xfrm>
            <a:off x="4590288" y="4736592"/>
            <a:ext cx="3008376" cy="256032"/>
          </a:xfrm>
          <a:prstGeom prst="rect">
            <a:avLst/>
          </a:prstGeom>
          <a:noFill/>
          <a:ln/>
        </p:spPr>
        <p:txBody>
          <a:bodyPr wrap="square" lIns="0" tIns="0" rIns="0" bIns="0" rtlCol="0" anchor="ctr"/>
          <a:lstStyle/>
          <a:p>
            <a:pPr indent="0" marL="0">
              <a:buNone/>
            </a:pPr>
            <a:r>
              <a:rPr lang="en-US" sz="1250" b="1" dirty="0">
                <a:solidFill>
                  <a:srgbClr val="13123A"/>
                </a:solidFill>
                <a:latin typeface="Calibri" pitchFamily="34" charset="0"/>
                <a:ea typeface="Calibri" pitchFamily="34" charset="-122"/>
                <a:cs typeface="Calibri" pitchFamily="34" charset="-120"/>
              </a:rPr>
              <a:t>HippoRAG-v2</a:t>
            </a:r>
            <a:endParaRPr lang="en-US" sz="1250" dirty="0"/>
          </a:p>
        </p:txBody>
      </p:sp>
      <p:sp>
        <p:nvSpPr>
          <p:cNvPr id="21" name="Text 19"/>
          <p:cNvSpPr txBox="1"/>
          <p:nvPr/>
        </p:nvSpPr>
        <p:spPr>
          <a:xfrm>
            <a:off x="4590288" y="4956048"/>
            <a:ext cx="3008376" cy="219456"/>
          </a:xfrm>
          <a:prstGeom prst="rect">
            <a:avLst/>
          </a:prstGeom>
          <a:noFill/>
          <a:ln/>
        </p:spPr>
        <p:txBody>
          <a:bodyPr wrap="square" lIns="0" tIns="0" rIns="0" bIns="0" rtlCol="0" anchor="ctr"/>
          <a:lstStyle/>
          <a:p>
            <a:pPr indent="0" marL="0">
              <a:buNone/>
            </a:pPr>
            <a:r>
              <a:rPr lang="en-US" sz="1100" dirty="0">
                <a:solidFill>
                  <a:srgbClr val="6A6E85"/>
                </a:solidFill>
                <a:latin typeface="Calibri" pitchFamily="34" charset="0"/>
                <a:ea typeface="Calibri" pitchFamily="34" charset="-122"/>
                <a:cs typeface="Calibri" pitchFamily="34" charset="-120"/>
              </a:rPr>
              <a:t>điểm trên FactConsolidation</a:t>
            </a:r>
            <a:endParaRPr lang="en-US" sz="1100" dirty="0"/>
          </a:p>
        </p:txBody>
      </p:sp>
      <p:sp>
        <p:nvSpPr>
          <p:cNvPr id="22" name="Shape 20"/>
          <p:cNvSpPr/>
          <p:nvPr/>
        </p:nvSpPr>
        <p:spPr>
          <a:xfrm>
            <a:off x="8138160" y="4041648"/>
            <a:ext cx="3483864" cy="1170432"/>
          </a:xfrm>
          <a:prstGeom prst="roundRect">
            <a:avLst>
              <a:gd name="adj" fmla="val 3906"/>
            </a:avLst>
          </a:prstGeom>
          <a:solidFill>
            <a:srgbClr val="F7F7FB"/>
          </a:solidFill>
          <a:ln w="12700">
            <a:solidFill>
              <a:srgbClr val="F7F7FB"/>
            </a:solidFill>
            <a:prstDash val="solid"/>
          </a:ln>
        </p:spPr>
      </p:sp>
      <p:sp>
        <p:nvSpPr>
          <p:cNvPr id="23" name="Text 21"/>
          <p:cNvSpPr txBox="1"/>
          <p:nvPr/>
        </p:nvSpPr>
        <p:spPr>
          <a:xfrm>
            <a:off x="8375904" y="4187952"/>
            <a:ext cx="3008376" cy="512064"/>
          </a:xfrm>
          <a:prstGeom prst="rect">
            <a:avLst/>
          </a:prstGeom>
          <a:noFill/>
          <a:ln/>
        </p:spPr>
        <p:txBody>
          <a:bodyPr wrap="square" lIns="0" tIns="0" rIns="0" bIns="0" rtlCol="0" anchor="ctr"/>
          <a:lstStyle/>
          <a:p>
            <a:pPr indent="0" marL="0">
              <a:buNone/>
            </a:pPr>
            <a:r>
              <a:rPr lang="en-US" sz="3000" b="1" dirty="0">
                <a:solidFill>
                  <a:srgbClr val="E9970B"/>
                </a:solidFill>
                <a:latin typeface="Cambria" pitchFamily="34" charset="0"/>
                <a:ea typeface="Cambria" pitchFamily="34" charset="-122"/>
                <a:cs typeface="Cambria" pitchFamily="34" charset="-120"/>
              </a:rPr>
              <a:t>~60%</a:t>
            </a:r>
            <a:endParaRPr lang="en-US" sz="3000" dirty="0"/>
          </a:p>
        </p:txBody>
      </p:sp>
      <p:sp>
        <p:nvSpPr>
          <p:cNvPr id="24" name="Text 22"/>
          <p:cNvSpPr txBox="1"/>
          <p:nvPr/>
        </p:nvSpPr>
        <p:spPr>
          <a:xfrm>
            <a:off x="8375904" y="4736592"/>
            <a:ext cx="3008376" cy="256032"/>
          </a:xfrm>
          <a:prstGeom prst="rect">
            <a:avLst/>
          </a:prstGeom>
          <a:noFill/>
          <a:ln/>
        </p:spPr>
        <p:txBody>
          <a:bodyPr wrap="square" lIns="0" tIns="0" rIns="0" bIns="0" rtlCol="0" anchor="ctr"/>
          <a:lstStyle/>
          <a:p>
            <a:pPr indent="0" marL="0">
              <a:buNone/>
            </a:pPr>
            <a:r>
              <a:rPr lang="en-US" sz="1250" b="1" dirty="0">
                <a:solidFill>
                  <a:srgbClr val="13123A"/>
                </a:solidFill>
                <a:latin typeface="Calibri" pitchFamily="34" charset="0"/>
                <a:ea typeface="Calibri" pitchFamily="34" charset="-122"/>
                <a:cs typeface="Calibri" pitchFamily="34" charset="-120"/>
              </a:rPr>
              <a:t>GPT-4o full-context</a:t>
            </a:r>
            <a:endParaRPr lang="en-US" sz="1250" dirty="0"/>
          </a:p>
        </p:txBody>
      </p:sp>
      <p:sp>
        <p:nvSpPr>
          <p:cNvPr id="25" name="Text 23"/>
          <p:cNvSpPr txBox="1"/>
          <p:nvPr/>
        </p:nvSpPr>
        <p:spPr>
          <a:xfrm>
            <a:off x="8375904" y="4956048"/>
            <a:ext cx="3008376" cy="219456"/>
          </a:xfrm>
          <a:prstGeom prst="rect">
            <a:avLst/>
          </a:prstGeom>
          <a:noFill/>
          <a:ln/>
        </p:spPr>
        <p:txBody>
          <a:bodyPr wrap="square" lIns="0" tIns="0" rIns="0" bIns="0" rtlCol="0" anchor="ctr"/>
          <a:lstStyle/>
          <a:p>
            <a:pPr indent="0" marL="0">
              <a:buNone/>
            </a:pPr>
            <a:r>
              <a:rPr lang="en-US" sz="1100" dirty="0">
                <a:solidFill>
                  <a:srgbClr val="6A6E85"/>
                </a:solidFill>
                <a:latin typeface="Calibri" pitchFamily="34" charset="0"/>
                <a:ea typeface="Calibri" pitchFamily="34" charset="-122"/>
                <a:cs typeface="Calibri" pitchFamily="34" charset="-120"/>
              </a:rPr>
              <a:t>điểm trên FactConsolidation</a:t>
            </a:r>
            <a:endParaRPr lang="en-US" sz="1100" dirty="0"/>
          </a:p>
        </p:txBody>
      </p:sp>
      <p:sp>
        <p:nvSpPr>
          <p:cNvPr id="26" name="Shape 24"/>
          <p:cNvSpPr/>
          <p:nvPr/>
        </p:nvSpPr>
        <p:spPr>
          <a:xfrm>
            <a:off x="566928" y="5321808"/>
            <a:ext cx="11045952" cy="1033272"/>
          </a:xfrm>
          <a:prstGeom prst="roundRect">
            <a:avLst>
              <a:gd name="adj" fmla="val 4425"/>
            </a:avLst>
          </a:prstGeom>
          <a:solidFill>
            <a:srgbClr val="13123A"/>
          </a:solidFill>
          <a:ln w="12700">
            <a:solidFill>
              <a:srgbClr val="13123A"/>
            </a:solidFill>
            <a:prstDash val="solid"/>
          </a:ln>
        </p:spPr>
      </p:sp>
      <p:sp>
        <p:nvSpPr>
          <p:cNvPr id="27" name="Text 25"/>
          <p:cNvSpPr txBox="1"/>
          <p:nvPr/>
        </p:nvSpPr>
        <p:spPr>
          <a:xfrm>
            <a:off x="822960" y="5522976"/>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VÌ SAO NĂNG LỰC NÀY ĐÁNG CHÚ Ý</a:t>
            </a:r>
            <a:endParaRPr lang="en-US" sz="1100" dirty="0"/>
          </a:p>
        </p:txBody>
      </p:sp>
      <p:sp>
        <p:nvSpPr>
          <p:cNvPr id="28" name="Text 26"/>
          <p:cNvSpPr txBox="1"/>
          <p:nvPr/>
        </p:nvSpPr>
        <p:spPr>
          <a:xfrm>
            <a:off x="822960" y="5806440"/>
            <a:ext cx="10533888" cy="393192"/>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Cả ba hệ trên đều được chỉ dẫn rõ trong lời nhắc rằng fact mới có số thứ tự lớn hơn — và vẫn sai. Vấn đề không ở truy xuất, cũng không ở độ dài ngữ cảnh, mà ở chỗ giao cho mô hình việc phán đoán độ mới. Đây là một trong tám năng lực, và là chỗ nhóm kỳ vọng có cải tiến rõ nhất.</a:t>
            </a:r>
            <a:endParaRPr lang="en-US" sz="1250" dirty="0"/>
          </a:p>
        </p:txBody>
      </p:sp>
      <p:sp>
        <p:nvSpPr>
          <p:cNvPr id="29" name="Text 27"/>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Số liệu trên FactConsolidation (MemoryAgentBench, ICLR 2026), báo cáo bởi Reddy &amp; Challaram, arXiv:2606.01435 (2026) — theo công bố của tác giả.</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1FA6A6"/>
                </a:solidFill>
                <a:latin typeface="Calibri" pitchFamily="34" charset="0"/>
                <a:ea typeface="Calibri" pitchFamily="34" charset="-122"/>
                <a:cs typeface="Calibri" pitchFamily="34" charset="-120"/>
              </a:rPr>
              <a:t>PHƯƠNG PHÁP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Ba trục đo cho toàn bộ tám năng lực</a:t>
            </a:r>
            <a:endParaRPr lang="en-US" sz="3000" dirty="0"/>
          </a:p>
        </p:txBody>
      </p:sp>
      <p:sp>
        <p:nvSpPr>
          <p:cNvPr id="4" name="Shape 2"/>
          <p:cNvSpPr/>
          <p:nvPr/>
        </p:nvSpPr>
        <p:spPr>
          <a:xfrm>
            <a:off x="566928" y="1673352"/>
            <a:ext cx="3483864" cy="2103120"/>
          </a:xfrm>
          <a:prstGeom prst="roundRect">
            <a:avLst>
              <a:gd name="adj" fmla="val 2174"/>
            </a:avLst>
          </a:prstGeom>
          <a:solidFill>
            <a:srgbClr val="ECEBF7"/>
          </a:solidFill>
          <a:ln w="12700">
            <a:solidFill>
              <a:srgbClr val="ECEBF7"/>
            </a:solidFill>
            <a:prstDash val="solid"/>
          </a:ln>
        </p:spPr>
      </p:sp>
      <p:sp>
        <p:nvSpPr>
          <p:cNvPr id="5" name="Shape 3"/>
          <p:cNvSpPr/>
          <p:nvPr/>
        </p:nvSpPr>
        <p:spPr>
          <a:xfrm>
            <a:off x="822960" y="1901952"/>
            <a:ext cx="429768" cy="429768"/>
          </a:xfrm>
          <a:prstGeom prst="ellipse">
            <a:avLst/>
          </a:prstGeom>
          <a:solidFill>
            <a:srgbClr val="3A36A0"/>
          </a:solidFill>
          <a:ln w="12700">
            <a:solidFill>
              <a:srgbClr val="3A36A0"/>
            </a:solidFill>
            <a:prstDash val="solid"/>
          </a:ln>
        </p:spPr>
      </p:sp>
      <p:sp>
        <p:nvSpPr>
          <p:cNvPr id="6" name="Text 4"/>
          <p:cNvSpPr txBox="1"/>
          <p:nvPr/>
        </p:nvSpPr>
        <p:spPr>
          <a:xfrm>
            <a:off x="822960" y="1901952"/>
            <a:ext cx="429768"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380744" y="1956816"/>
            <a:ext cx="2432304" cy="329184"/>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Độ chính xác</a:t>
            </a:r>
            <a:endParaRPr lang="en-US" sz="1500" dirty="0"/>
          </a:p>
        </p:txBody>
      </p:sp>
      <p:sp>
        <p:nvSpPr>
          <p:cNvPr id="8" name="Text 6"/>
          <p:cNvSpPr txBox="1"/>
          <p:nvPr/>
        </p:nvSpPr>
        <p:spPr>
          <a:xfrm>
            <a:off x="822960" y="2414016"/>
            <a:ext cx="2971800" cy="1234440"/>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Tỉ lệ trả lời đúng tách theo TỪNG loại câu hỏi của LongMemEval, không gộp một con số chung. Chấm bằng LLM-as-a-Judge với mô hình chấm và lời nhắc chấm được công bố kèm.</a:t>
            </a:r>
            <a:endParaRPr lang="en-US" sz="1200" dirty="0"/>
          </a:p>
        </p:txBody>
      </p:sp>
      <p:sp>
        <p:nvSpPr>
          <p:cNvPr id="9" name="Shape 7"/>
          <p:cNvSpPr/>
          <p:nvPr/>
        </p:nvSpPr>
        <p:spPr>
          <a:xfrm>
            <a:off x="4352544" y="1673352"/>
            <a:ext cx="3483864" cy="2103120"/>
          </a:xfrm>
          <a:prstGeom prst="roundRect">
            <a:avLst>
              <a:gd name="adj" fmla="val 2174"/>
            </a:avLst>
          </a:prstGeom>
          <a:solidFill>
            <a:srgbClr val="ECEBF7"/>
          </a:solidFill>
          <a:ln w="12700">
            <a:solidFill>
              <a:srgbClr val="ECEBF7"/>
            </a:solidFill>
            <a:prstDash val="solid"/>
          </a:ln>
        </p:spPr>
      </p:sp>
      <p:sp>
        <p:nvSpPr>
          <p:cNvPr id="10" name="Shape 8"/>
          <p:cNvSpPr/>
          <p:nvPr/>
        </p:nvSpPr>
        <p:spPr>
          <a:xfrm>
            <a:off x="4608576" y="1901952"/>
            <a:ext cx="429768" cy="429768"/>
          </a:xfrm>
          <a:prstGeom prst="ellipse">
            <a:avLst/>
          </a:prstGeom>
          <a:solidFill>
            <a:srgbClr val="3A36A0"/>
          </a:solidFill>
          <a:ln w="12700">
            <a:solidFill>
              <a:srgbClr val="3A36A0"/>
            </a:solidFill>
            <a:prstDash val="solid"/>
          </a:ln>
        </p:spPr>
      </p:sp>
      <p:sp>
        <p:nvSpPr>
          <p:cNvPr id="11" name="Text 9"/>
          <p:cNvSpPr txBox="1"/>
          <p:nvPr/>
        </p:nvSpPr>
        <p:spPr>
          <a:xfrm>
            <a:off x="4608576" y="1901952"/>
            <a:ext cx="429768"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166360" y="1956816"/>
            <a:ext cx="2432304" cy="329184"/>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Tính nhất quán</a:t>
            </a:r>
            <a:endParaRPr lang="en-US" sz="1500" dirty="0"/>
          </a:p>
        </p:txBody>
      </p:sp>
      <p:sp>
        <p:nvSpPr>
          <p:cNvPr id="13" name="Text 11"/>
          <p:cNvSpPr txBox="1"/>
          <p:nvPr/>
        </p:nvSpPr>
        <p:spPr>
          <a:xfrm>
            <a:off x="4608576" y="2414016"/>
            <a:ext cx="2971800" cy="1234440"/>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Tỉ lệ dùng đúng fact sau khi cập nhật, tỉ lệ tự mâu thuẫn giữa các lượt, tỉ lệ biết từ chối đúng lúc, tỉ lệ tôn trọng ràng buộc đã ghi nhớ.</a:t>
            </a:r>
            <a:endParaRPr lang="en-US" sz="1200" dirty="0"/>
          </a:p>
        </p:txBody>
      </p:sp>
      <p:sp>
        <p:nvSpPr>
          <p:cNvPr id="14" name="Shape 12"/>
          <p:cNvSpPr/>
          <p:nvPr/>
        </p:nvSpPr>
        <p:spPr>
          <a:xfrm>
            <a:off x="8138160" y="1673352"/>
            <a:ext cx="3483864" cy="2103120"/>
          </a:xfrm>
          <a:prstGeom prst="roundRect">
            <a:avLst>
              <a:gd name="adj" fmla="val 2174"/>
            </a:avLst>
          </a:prstGeom>
          <a:solidFill>
            <a:srgbClr val="ECEBF7"/>
          </a:solidFill>
          <a:ln w="12700">
            <a:solidFill>
              <a:srgbClr val="ECEBF7"/>
            </a:solidFill>
            <a:prstDash val="solid"/>
          </a:ln>
        </p:spPr>
      </p:sp>
      <p:sp>
        <p:nvSpPr>
          <p:cNvPr id="15" name="Shape 13"/>
          <p:cNvSpPr/>
          <p:nvPr/>
        </p:nvSpPr>
        <p:spPr>
          <a:xfrm>
            <a:off x="8394192" y="1901952"/>
            <a:ext cx="429768" cy="429768"/>
          </a:xfrm>
          <a:prstGeom prst="ellipse">
            <a:avLst/>
          </a:prstGeom>
          <a:solidFill>
            <a:srgbClr val="3A36A0"/>
          </a:solidFill>
          <a:ln w="12700">
            <a:solidFill>
              <a:srgbClr val="3A36A0"/>
            </a:solidFill>
            <a:prstDash val="solid"/>
          </a:ln>
        </p:spPr>
      </p:sp>
      <p:sp>
        <p:nvSpPr>
          <p:cNvPr id="16" name="Text 14"/>
          <p:cNvSpPr txBox="1"/>
          <p:nvPr/>
        </p:nvSpPr>
        <p:spPr>
          <a:xfrm>
            <a:off x="8394192" y="1901952"/>
            <a:ext cx="429768"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8951976" y="1956816"/>
            <a:ext cx="2432304" cy="329184"/>
          </a:xfrm>
          <a:prstGeom prst="rect">
            <a:avLst/>
          </a:prstGeom>
          <a:noFill/>
          <a:ln/>
        </p:spPr>
        <p:txBody>
          <a:bodyPr wrap="square" lIns="0" tIns="0" rIns="0" bIns="0" rtlCol="0" anchor="ctr"/>
          <a:lstStyle/>
          <a:p>
            <a:pPr indent="0" marL="0">
              <a:buNone/>
            </a:pPr>
            <a:r>
              <a:rPr lang="en-US" sz="1500" b="1" dirty="0">
                <a:solidFill>
                  <a:srgbClr val="13123A"/>
                </a:solidFill>
                <a:latin typeface="Cambria" pitchFamily="34" charset="0"/>
                <a:ea typeface="Cambria" pitchFamily="34" charset="-122"/>
                <a:cs typeface="Cambria" pitchFamily="34" charset="-120"/>
              </a:rPr>
              <a:t>Hiệu năng</a:t>
            </a:r>
            <a:endParaRPr lang="en-US" sz="1500" dirty="0"/>
          </a:p>
        </p:txBody>
      </p:sp>
      <p:sp>
        <p:nvSpPr>
          <p:cNvPr id="18" name="Text 16"/>
          <p:cNvSpPr txBox="1"/>
          <p:nvPr/>
        </p:nvSpPr>
        <p:spPr>
          <a:xfrm>
            <a:off x="8394192" y="2414016"/>
            <a:ext cx="2971800" cy="1234440"/>
          </a:xfrm>
          <a:prstGeom prst="rect">
            <a:avLst/>
          </a:prstGeom>
          <a:noFill/>
          <a:ln/>
        </p:spPr>
        <p:txBody>
          <a:bodyPr wrap="square" lIns="0" tIns="0" rIns="0" bIns="0" rtlCol="0" anchor="t"/>
          <a:lstStyle/>
          <a:p>
            <a:pPr indent="0" marL="0">
              <a:lnSpc>
                <a:spcPct val="95000"/>
              </a:lnSpc>
              <a:buNone/>
            </a:pPr>
            <a:r>
              <a:rPr lang="en-US" sz="1200" dirty="0">
                <a:solidFill>
                  <a:srgbClr val="4A4E63"/>
                </a:solidFill>
                <a:latin typeface="Calibri" pitchFamily="34" charset="0"/>
                <a:ea typeface="Calibri" pitchFamily="34" charset="-122"/>
                <a:cs typeface="Calibri" pitchFamily="34" charset="-120"/>
              </a:rPr>
              <a:t>Độ trễ p50 và p95 tách riêng pha truy xuất và tổng đầu–cuối, số token mỗi truy vấn, số bản ghi trong kho theo thời gian.</a:t>
            </a:r>
            <a:endParaRPr lang="en-US" sz="1200" dirty="0"/>
          </a:p>
        </p:txBody>
      </p:sp>
      <p:sp>
        <p:nvSpPr>
          <p:cNvPr id="19" name="Shape 17"/>
          <p:cNvSpPr/>
          <p:nvPr/>
        </p:nvSpPr>
        <p:spPr>
          <a:xfrm>
            <a:off x="566928" y="4023360"/>
            <a:ext cx="11045952" cy="1481328"/>
          </a:xfrm>
          <a:prstGeom prst="roundRect">
            <a:avLst>
              <a:gd name="adj" fmla="val 3086"/>
            </a:avLst>
          </a:prstGeom>
          <a:solidFill>
            <a:srgbClr val="13123A"/>
          </a:solidFill>
          <a:ln w="12700">
            <a:solidFill>
              <a:srgbClr val="13123A"/>
            </a:solidFill>
            <a:prstDash val="solid"/>
          </a:ln>
        </p:spPr>
      </p:sp>
      <p:sp>
        <p:nvSpPr>
          <p:cNvPr id="20" name="Text 18"/>
          <p:cNvSpPr txBox="1"/>
          <p:nvPr/>
        </p:nvSpPr>
        <p:spPr>
          <a:xfrm>
            <a:off x="822960" y="4224528"/>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ĐIỀU KIỆN THÍ NGHIỆM — BẮT BUỘC</a:t>
            </a:r>
            <a:endParaRPr lang="en-US" sz="1100" dirty="0"/>
          </a:p>
        </p:txBody>
      </p:sp>
      <p:sp>
        <p:nvSpPr>
          <p:cNvPr id="21" name="Text 19"/>
          <p:cNvSpPr txBox="1"/>
          <p:nvPr/>
        </p:nvSpPr>
        <p:spPr>
          <a:xfrm>
            <a:off x="822960" y="4507992"/>
            <a:ext cx="10533888" cy="841248"/>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Mọi so sánh phải cố định cùng mô hình nền, cùng k, cùng ngân sách token. Không cố định thì con số vô nghĩa: điểm có thể tăng chỉ vì truy xuất mạnh tay hơn, ngữ cảnh rộng hơn hoặc mô hình nền khỏe hơn, chứ không phải vì cơ chế bộ nhớ tốt hơn. Khảo sát Anatomy of Agentic Memory (2026) chỉ ra bốn lỗi hệ thống của mảng đánh giá này: benchmark bão hòa, thang đo lệch khỏi giá trị thực, kết quả nhạy với bộ chấm, và phương sai lớn theo mô hình nền.</a:t>
            </a:r>
            <a:endParaRPr lang="en-US" sz="1250" dirty="0"/>
          </a:p>
        </p:txBody>
      </p:sp>
      <p:sp>
        <p:nvSpPr>
          <p:cNvPr id="22" name="Text 20"/>
          <p:cNvSpPr txBox="1"/>
          <p:nvPr/>
        </p:nvSpPr>
        <p:spPr>
          <a:xfrm>
            <a:off x="566928" y="5715000"/>
            <a:ext cx="11045952" cy="502920"/>
          </a:xfrm>
          <a:prstGeom prst="rect">
            <a:avLst/>
          </a:prstGeom>
          <a:noFill/>
          <a:ln/>
        </p:spPr>
        <p:txBody>
          <a:bodyPr wrap="square" lIns="0" tIns="0" rIns="0" bIns="0" rtlCol="0" anchor="ctr"/>
          <a:lstStyle/>
          <a:p>
            <a:pPr indent="0" marL="0">
              <a:buNone/>
            </a:pPr>
            <a:r>
              <a:rPr lang="en-US" sz="1250" i="1" dirty="0">
                <a:solidFill>
                  <a:srgbClr val="4A4E63"/>
                </a:solidFill>
                <a:latin typeface="Calibri" pitchFamily="34" charset="0"/>
                <a:ea typeface="Calibri" pitchFamily="34" charset="-122"/>
                <a:cs typeface="Calibri" pitchFamily="34" charset="-120"/>
              </a:rPr>
              <a:t>Mỗi năng lực trong bảng ở slide 3 đều được chấm trên cả ba trục — không có năng lực nào chỉ báo cáo độ chính xác mà bỏ qua chi phí.</a:t>
            </a:r>
            <a:endParaRPr lang="en-US" sz="1250" dirty="0"/>
          </a:p>
        </p:txBody>
      </p:sp>
      <p:sp>
        <p:nvSpPr>
          <p:cNvPr id="23" name="Text 21"/>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Zheng et al., LLM-as-a-Judge, NeurIPS 2023 (arXiv:2306.05685) · Wu et al., ICLR 2025 · Jiang et al., arXiv:2602.19320 (2026).</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1FA6A6"/>
                </a:solidFill>
                <a:latin typeface="Calibri" pitchFamily="34" charset="0"/>
                <a:ea typeface="Calibri" pitchFamily="34" charset="-122"/>
                <a:cs typeface="Calibri" pitchFamily="34" charset="-120"/>
              </a:rPr>
              <a:t>PHƯƠNG PHÁP ĐÁNH GIÁ</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Bốn cấu hình đối chứng</a:t>
            </a:r>
            <a:endParaRPr lang="en-US" sz="3000" dirty="0"/>
          </a:p>
        </p:txBody>
      </p:sp>
      <p:sp>
        <p:nvSpPr>
          <p:cNvPr id="4" name="Text 2"/>
          <p:cNvSpPr txBox="1"/>
          <p:nvPr/>
        </p:nvSpPr>
        <p:spPr>
          <a:xfrm>
            <a:off x="749808" y="1673352"/>
            <a:ext cx="233172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CẤU HÌNH</a:t>
            </a:r>
            <a:endParaRPr lang="en-US" sz="1100" dirty="0"/>
          </a:p>
        </p:txBody>
      </p:sp>
      <p:sp>
        <p:nvSpPr>
          <p:cNvPr id="5" name="Text 3"/>
          <p:cNvSpPr txBox="1"/>
          <p:nvPr/>
        </p:nvSpPr>
        <p:spPr>
          <a:xfrm>
            <a:off x="3200400" y="1673352"/>
            <a:ext cx="384048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MÔ TẢ</a:t>
            </a:r>
            <a:endParaRPr lang="en-US" sz="1100" dirty="0"/>
          </a:p>
        </p:txBody>
      </p:sp>
      <p:sp>
        <p:nvSpPr>
          <p:cNvPr id="6" name="Text 4"/>
          <p:cNvSpPr txBox="1"/>
          <p:nvPr/>
        </p:nvSpPr>
        <p:spPr>
          <a:xfrm>
            <a:off x="7178040" y="1673352"/>
            <a:ext cx="425196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DÙNG ĐỂ CHỨNG MINH ĐIỀU GÌ</a:t>
            </a:r>
            <a:endParaRPr lang="en-US" sz="1100" dirty="0"/>
          </a:p>
        </p:txBody>
      </p:sp>
      <p:sp>
        <p:nvSpPr>
          <p:cNvPr id="7" name="Shape 5"/>
          <p:cNvSpPr/>
          <p:nvPr/>
        </p:nvSpPr>
        <p:spPr>
          <a:xfrm>
            <a:off x="566928" y="2002536"/>
            <a:ext cx="11045952" cy="676656"/>
          </a:xfrm>
          <a:prstGeom prst="roundRect">
            <a:avLst>
              <a:gd name="adj" fmla="val 8108"/>
            </a:avLst>
          </a:prstGeom>
          <a:solidFill>
            <a:srgbClr val="ECEBF7"/>
          </a:solidFill>
          <a:ln w="12700">
            <a:solidFill>
              <a:srgbClr val="FFFFFF"/>
            </a:solidFill>
            <a:prstDash val="solid"/>
          </a:ln>
        </p:spPr>
      </p:sp>
      <p:sp>
        <p:nvSpPr>
          <p:cNvPr id="8" name="Text 6"/>
          <p:cNvSpPr txBox="1"/>
          <p:nvPr/>
        </p:nvSpPr>
        <p:spPr>
          <a:xfrm>
            <a:off x="749808" y="2084832"/>
            <a:ext cx="233172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full-context</a:t>
            </a:r>
            <a:endParaRPr lang="en-US" sz="1250" dirty="0"/>
          </a:p>
        </p:txBody>
      </p:sp>
      <p:sp>
        <p:nvSpPr>
          <p:cNvPr id="9" name="Text 7"/>
          <p:cNvSpPr txBox="1"/>
          <p:nvPr/>
        </p:nvSpPr>
        <p:spPr>
          <a:xfrm>
            <a:off x="3200400" y="2084832"/>
            <a:ext cx="384048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Nhồi toàn bộ lịch sử hội thoại vào lời nhắc, không có lớp bộ nhớ nào</a:t>
            </a:r>
            <a:endParaRPr lang="en-US" sz="1150" dirty="0"/>
          </a:p>
        </p:txBody>
      </p:sp>
      <p:sp>
        <p:nvSpPr>
          <p:cNvPr id="10" name="Text 8"/>
          <p:cNvSpPr txBox="1"/>
          <p:nvPr/>
        </p:nvSpPr>
        <p:spPr>
          <a:xfrm>
            <a:off x="7178040" y="2084832"/>
            <a:ext cx="425196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Baseline trên. Cho thấy chi phí token và chỗ mô hình bắt đầu tụt khi lịch sử dài ra.</a:t>
            </a:r>
            <a:endParaRPr lang="en-US" sz="1150" dirty="0"/>
          </a:p>
        </p:txBody>
      </p:sp>
      <p:sp>
        <p:nvSpPr>
          <p:cNvPr id="11" name="Shape 9"/>
          <p:cNvSpPr/>
          <p:nvPr/>
        </p:nvSpPr>
        <p:spPr>
          <a:xfrm>
            <a:off x="566928" y="2752344"/>
            <a:ext cx="11045952" cy="676656"/>
          </a:xfrm>
          <a:prstGeom prst="roundRect">
            <a:avLst>
              <a:gd name="adj" fmla="val 8108"/>
            </a:avLst>
          </a:prstGeom>
          <a:solidFill>
            <a:srgbClr val="F7F7FB"/>
          </a:solidFill>
          <a:ln w="12700">
            <a:solidFill>
              <a:srgbClr val="FFFFFF"/>
            </a:solidFill>
            <a:prstDash val="solid"/>
          </a:ln>
        </p:spPr>
      </p:sp>
      <p:sp>
        <p:nvSpPr>
          <p:cNvPr id="12" name="Text 10"/>
          <p:cNvSpPr txBox="1"/>
          <p:nvPr/>
        </p:nvSpPr>
        <p:spPr>
          <a:xfrm>
            <a:off x="749808" y="2834640"/>
            <a:ext cx="233172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rag-only</a:t>
            </a:r>
            <a:endParaRPr lang="en-US" sz="1250" dirty="0"/>
          </a:p>
        </p:txBody>
      </p:sp>
      <p:sp>
        <p:nvSpPr>
          <p:cNvPr id="13" name="Text 11"/>
          <p:cNvSpPr txBox="1"/>
          <p:nvPr/>
        </p:nvSpPr>
        <p:spPr>
          <a:xfrm>
            <a:off x="3200400" y="2834640"/>
            <a:ext cx="384048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Truy xuất theo embedding, không có ADD / UPDATE / DELETE</a:t>
            </a:r>
            <a:endParaRPr lang="en-US" sz="1150" dirty="0"/>
          </a:p>
        </p:txBody>
      </p:sp>
      <p:sp>
        <p:nvSpPr>
          <p:cNvPr id="14" name="Text 12"/>
          <p:cNvSpPr txBox="1"/>
          <p:nvPr/>
        </p:nvSpPr>
        <p:spPr>
          <a:xfrm>
            <a:off x="7178040" y="2834640"/>
            <a:ext cx="425196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Truy xuất đơn thuần giải được năng lực nào và không giải được năng lực nào.</a:t>
            </a:r>
            <a:endParaRPr lang="en-US" sz="1150" dirty="0"/>
          </a:p>
        </p:txBody>
      </p:sp>
      <p:sp>
        <p:nvSpPr>
          <p:cNvPr id="15" name="Shape 13"/>
          <p:cNvSpPr/>
          <p:nvPr/>
        </p:nvSpPr>
        <p:spPr>
          <a:xfrm>
            <a:off x="566928" y="3502152"/>
            <a:ext cx="11045952" cy="676656"/>
          </a:xfrm>
          <a:prstGeom prst="roundRect">
            <a:avLst>
              <a:gd name="adj" fmla="val 8108"/>
            </a:avLst>
          </a:prstGeom>
          <a:solidFill>
            <a:srgbClr val="ECEBF7"/>
          </a:solidFill>
          <a:ln w="12700">
            <a:solidFill>
              <a:srgbClr val="FFFFFF"/>
            </a:solidFill>
            <a:prstDash val="solid"/>
          </a:ln>
        </p:spPr>
      </p:sp>
      <p:sp>
        <p:nvSpPr>
          <p:cNvPr id="16" name="Text 14"/>
          <p:cNvSpPr txBox="1"/>
          <p:nvPr/>
        </p:nvSpPr>
        <p:spPr>
          <a:xfrm>
            <a:off x="749808" y="3584448"/>
            <a:ext cx="233172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llm-judge</a:t>
            </a:r>
            <a:endParaRPr lang="en-US" sz="1250" dirty="0"/>
          </a:p>
        </p:txBody>
      </p:sp>
      <p:sp>
        <p:nvSpPr>
          <p:cNvPr id="17" name="Text 15"/>
          <p:cNvSpPr txBox="1"/>
          <p:nvPr/>
        </p:nvSpPr>
        <p:spPr>
          <a:xfrm>
            <a:off x="3200400" y="3584448"/>
            <a:ext cx="384048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Có slot, nhưng để mô hình tự chọn bản mới thay vì dùng seq</a:t>
            </a:r>
            <a:endParaRPr lang="en-US" sz="1150" dirty="0"/>
          </a:p>
        </p:txBody>
      </p:sp>
      <p:sp>
        <p:nvSpPr>
          <p:cNvPr id="18" name="Text 16"/>
          <p:cNvSpPr txBox="1"/>
          <p:nvPr/>
        </p:nvSpPr>
        <p:spPr>
          <a:xfrm>
            <a:off x="7178040" y="3584448"/>
            <a:ext cx="425196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Đối chứng trực tiếp cho cơ chế cập nhật tất định.</a:t>
            </a:r>
            <a:endParaRPr lang="en-US" sz="1150" dirty="0"/>
          </a:p>
        </p:txBody>
      </p:sp>
      <p:sp>
        <p:nvSpPr>
          <p:cNvPr id="19" name="Shape 17"/>
          <p:cNvSpPr/>
          <p:nvPr/>
        </p:nvSpPr>
        <p:spPr>
          <a:xfrm>
            <a:off x="566928" y="4251960"/>
            <a:ext cx="11045952" cy="676656"/>
          </a:xfrm>
          <a:prstGeom prst="roundRect">
            <a:avLst>
              <a:gd name="adj" fmla="val 8108"/>
            </a:avLst>
          </a:prstGeom>
          <a:solidFill>
            <a:srgbClr val="F7F7FB"/>
          </a:solidFill>
          <a:ln w="12700">
            <a:solidFill>
              <a:srgbClr val="FFFFFF"/>
            </a:solidFill>
            <a:prstDash val="solid"/>
          </a:ln>
        </p:spPr>
      </p:sp>
      <p:sp>
        <p:nvSpPr>
          <p:cNvPr id="20" name="Text 18"/>
          <p:cNvSpPr txBox="1"/>
          <p:nvPr/>
        </p:nvSpPr>
        <p:spPr>
          <a:xfrm>
            <a:off x="749808" y="4334256"/>
            <a:ext cx="2331720" cy="530352"/>
          </a:xfrm>
          <a:prstGeom prst="rect">
            <a:avLst/>
          </a:prstGeom>
          <a:noFill/>
          <a:ln/>
        </p:spPr>
        <p:txBody>
          <a:bodyPr wrap="square" lIns="0" tIns="0" rIns="0" bIns="0" rtlCol="0" anchor="t"/>
          <a:lstStyle/>
          <a:p>
            <a:pPr indent="0" marL="0">
              <a:lnSpc>
                <a:spcPct val="95000"/>
              </a:lnSpc>
              <a:buNone/>
            </a:pPr>
            <a:r>
              <a:rPr lang="en-US" sz="1250" b="1" dirty="0">
                <a:solidFill>
                  <a:srgbClr val="13123A"/>
                </a:solidFill>
                <a:latin typeface="Cambria" pitchFamily="34" charset="0"/>
                <a:ea typeface="Cambria" pitchFamily="34" charset="-122"/>
                <a:cs typeface="Cambria" pitchFamily="34" charset="-120"/>
              </a:rPr>
              <a:t>ours</a:t>
            </a:r>
            <a:endParaRPr lang="en-US" sz="1250" dirty="0"/>
          </a:p>
        </p:txBody>
      </p:sp>
      <p:sp>
        <p:nvSpPr>
          <p:cNvPr id="21" name="Text 19"/>
          <p:cNvSpPr txBox="1"/>
          <p:nvPr/>
        </p:nvSpPr>
        <p:spPr>
          <a:xfrm>
            <a:off x="3200400" y="4334256"/>
            <a:ext cx="384048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Hệ đầy đủ: slot + seq, ký ức pinned, tách truy vấn con, tóm tắt phiên</a:t>
            </a:r>
            <a:endParaRPr lang="en-US" sz="1150" dirty="0"/>
          </a:p>
        </p:txBody>
      </p:sp>
      <p:sp>
        <p:nvSpPr>
          <p:cNvPr id="22" name="Text 20"/>
          <p:cNvSpPr txBox="1"/>
          <p:nvPr/>
        </p:nvSpPr>
        <p:spPr>
          <a:xfrm>
            <a:off x="7178040" y="4334256"/>
            <a:ext cx="4251960" cy="530352"/>
          </a:xfrm>
          <a:prstGeom prst="rect">
            <a:avLst/>
          </a:prstGeom>
          <a:noFill/>
          <a:ln/>
        </p:spPr>
        <p:txBody>
          <a:bodyPr wrap="square" lIns="0" tIns="0" rIns="0" bIns="0" rtlCol="0" anchor="t"/>
          <a:lstStyle/>
          <a:p>
            <a:pPr indent="0" marL="0">
              <a:lnSpc>
                <a:spcPct val="95000"/>
              </a:lnSpc>
              <a:buNone/>
            </a:pPr>
            <a:r>
              <a:rPr lang="en-US" sz="1150" dirty="0">
                <a:solidFill>
                  <a:srgbClr val="4A4E63"/>
                </a:solidFill>
                <a:latin typeface="Calibri" pitchFamily="34" charset="0"/>
                <a:ea typeface="Calibri" pitchFamily="34" charset="-122"/>
                <a:cs typeface="Calibri" pitchFamily="34" charset="-120"/>
              </a:rPr>
              <a:t>Cấu hình đề xuất. So trên cả tám năng lực, không chỉ trục cập nhật.</a:t>
            </a:r>
            <a:endParaRPr lang="en-US" sz="1150" dirty="0"/>
          </a:p>
        </p:txBody>
      </p:sp>
      <p:sp>
        <p:nvSpPr>
          <p:cNvPr id="23" name="Shape 21"/>
          <p:cNvSpPr/>
          <p:nvPr/>
        </p:nvSpPr>
        <p:spPr>
          <a:xfrm>
            <a:off x="566928" y="5074920"/>
            <a:ext cx="11045952" cy="1097280"/>
          </a:xfrm>
          <a:prstGeom prst="roundRect">
            <a:avLst>
              <a:gd name="adj" fmla="val 4167"/>
            </a:avLst>
          </a:prstGeom>
          <a:solidFill>
            <a:srgbClr val="13123A"/>
          </a:solidFill>
          <a:ln w="12700">
            <a:solidFill>
              <a:srgbClr val="13123A"/>
            </a:solidFill>
            <a:prstDash val="solid"/>
          </a:ln>
        </p:spPr>
      </p:sp>
      <p:sp>
        <p:nvSpPr>
          <p:cNvPr id="24" name="Text 22"/>
          <p:cNvSpPr txBox="1"/>
          <p:nvPr/>
        </p:nvSpPr>
        <p:spPr>
          <a:xfrm>
            <a:off x="822960" y="5276088"/>
            <a:ext cx="3657600" cy="256032"/>
          </a:xfrm>
          <a:prstGeom prst="rect">
            <a:avLst/>
          </a:prstGeom>
          <a:noFill/>
          <a:ln/>
        </p:spPr>
        <p:txBody>
          <a:bodyPr wrap="square" lIns="0" tIns="0" rIns="0" bIns="0" rtlCol="0" anchor="ctr"/>
          <a:lstStyle/>
          <a:p>
            <a:pPr indent="0" marL="0">
              <a:buNone/>
            </a:pPr>
            <a:r>
              <a:rPr lang="en-US" sz="1100" b="1" dirty="0">
                <a:solidFill>
                  <a:srgbClr val="1FA6A6"/>
                </a:solidFill>
                <a:latin typeface="Calibri" pitchFamily="34" charset="0"/>
                <a:ea typeface="Calibri" pitchFamily="34" charset="-122"/>
                <a:cs typeface="Calibri" pitchFamily="34" charset="-120"/>
              </a:rPr>
              <a:t>CÁCH ĐỌC BẢNG NÀY</a:t>
            </a:r>
            <a:endParaRPr lang="en-US" sz="1100" dirty="0"/>
          </a:p>
        </p:txBody>
      </p:sp>
      <p:sp>
        <p:nvSpPr>
          <p:cNvPr id="25" name="Text 23"/>
          <p:cNvSpPr txBox="1"/>
          <p:nvPr/>
        </p:nvSpPr>
        <p:spPr>
          <a:xfrm>
            <a:off x="822960" y="5559552"/>
            <a:ext cx="10533888" cy="457200"/>
          </a:xfrm>
          <a:prstGeom prst="rect">
            <a:avLst/>
          </a:prstGeom>
          <a:noFill/>
          <a:ln/>
        </p:spPr>
        <p:txBody>
          <a:bodyPr wrap="square" lIns="0" tIns="0" rIns="0" bIns="0" rtlCol="0" anchor="t"/>
          <a:lstStyle/>
          <a:p>
            <a:pPr indent="0" marL="0">
              <a:lnSpc>
                <a:spcPct val="98000"/>
              </a:lnSpc>
              <a:buNone/>
            </a:pPr>
            <a:r>
              <a:rPr lang="en-US" sz="1250" dirty="0">
                <a:solidFill>
                  <a:srgbClr val="EFEFFA"/>
                </a:solidFill>
                <a:latin typeface="Calibri" pitchFamily="34" charset="0"/>
                <a:ea typeface="Calibri" pitchFamily="34" charset="-122"/>
                <a:cs typeface="Calibri" pitchFamily="34" charset="-120"/>
              </a:rPr>
              <a:t>Ba cấu hình đầu là baseline, mỗi cái cắt bỏ một phần của hệ đầy đủ để đo xem phần đó đóng góp bao nhiêu — nghiên cứu cắt bỏ thành phần. Nếu ours chỉ hơn rag-only ở đúng trục cập nhật thì đó là kết quả trung thực và nhóm sẽ báo cáo đúng như vậy, chứ không chọn số đẹp để trình bày.</a:t>
            </a:r>
            <a:endParaRPr lang="en-US" sz="1250" dirty="0"/>
          </a:p>
        </p:txBody>
      </p:sp>
      <p:sp>
        <p:nvSpPr>
          <p:cNvPr id="26" name="Text 24"/>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Thiết kế đối chứng theo khuyến nghị của Jiang et al., Anatomy of Agentic Memory, arXiv:2602.19320 (2026).</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3A36A0"/>
                </a:solidFill>
                <a:latin typeface="Calibri" pitchFamily="34" charset="0"/>
                <a:ea typeface="Calibri" pitchFamily="34" charset="-122"/>
                <a:cs typeface="Calibri" pitchFamily="34" charset="-120"/>
              </a:rPr>
              <a:t>KẾ HOẠCH THỰC HIỆN</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Lộ trình 8 tuần — cập nhật sau tuần 2</a:t>
            </a:r>
            <a:endParaRPr lang="en-US" sz="3000" dirty="0"/>
          </a:p>
        </p:txBody>
      </p:sp>
      <p:sp>
        <p:nvSpPr>
          <p:cNvPr id="4" name="Shape 2"/>
          <p:cNvSpPr/>
          <p:nvPr/>
        </p:nvSpPr>
        <p:spPr>
          <a:xfrm>
            <a:off x="566928" y="1783080"/>
            <a:ext cx="5340096" cy="932688"/>
          </a:xfrm>
          <a:prstGeom prst="roundRect">
            <a:avLst>
              <a:gd name="adj" fmla="val 4902"/>
            </a:avLst>
          </a:prstGeom>
          <a:solidFill>
            <a:srgbClr val="F1F2FB"/>
          </a:solidFill>
          <a:ln w="12700">
            <a:solidFill>
              <a:srgbClr val="F1F2FB"/>
            </a:solidFill>
            <a:prstDash val="solid"/>
          </a:ln>
        </p:spPr>
      </p:sp>
      <p:sp>
        <p:nvSpPr>
          <p:cNvPr id="5" name="Shape 3"/>
          <p:cNvSpPr/>
          <p:nvPr/>
        </p:nvSpPr>
        <p:spPr>
          <a:xfrm>
            <a:off x="749808" y="1965960"/>
            <a:ext cx="960120" cy="566928"/>
          </a:xfrm>
          <a:prstGeom prst="roundRect">
            <a:avLst>
              <a:gd name="adj" fmla="val 12903"/>
            </a:avLst>
          </a:prstGeom>
          <a:solidFill>
            <a:srgbClr val="3A36A0"/>
          </a:solidFill>
          <a:ln w="12700">
            <a:solidFill>
              <a:srgbClr val="3A36A0"/>
            </a:solidFill>
            <a:prstDash val="solid"/>
          </a:ln>
        </p:spPr>
      </p:sp>
      <p:sp>
        <p:nvSpPr>
          <p:cNvPr id="6" name="Text 4"/>
          <p:cNvSpPr txBox="1"/>
          <p:nvPr/>
        </p:nvSpPr>
        <p:spPr>
          <a:xfrm>
            <a:off x="749808" y="1965960"/>
            <a:ext cx="9601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Tuần 1</a:t>
            </a:r>
            <a:endParaRPr lang="en-US" sz="1400" dirty="0"/>
          </a:p>
        </p:txBody>
      </p:sp>
      <p:sp>
        <p:nvSpPr>
          <p:cNvPr id="7" name="Text 5"/>
          <p:cNvSpPr txBox="1"/>
          <p:nvPr/>
        </p:nvSpPr>
        <p:spPr>
          <a:xfrm>
            <a:off x="1865376" y="1901952"/>
            <a:ext cx="3886200" cy="731520"/>
          </a:xfrm>
          <a:prstGeom prst="rect">
            <a:avLst/>
          </a:prstGeom>
          <a:noFill/>
          <a:ln/>
        </p:spPr>
        <p:txBody>
          <a:bodyPr wrap="square" lIns="0" tIns="0" rIns="0" bIns="0" rtlCol="0" anchor="ctr"/>
          <a:lstStyle/>
          <a:p>
            <a:pPr indent="0" marL="0">
              <a:lnSpc>
                <a:spcPct val="95000"/>
              </a:lnSpc>
              <a:buNone/>
            </a:pPr>
            <a:r>
              <a:rPr lang="en-US" sz="1180" dirty="0">
                <a:solidFill>
                  <a:srgbClr val="20223A"/>
                </a:solidFill>
                <a:latin typeface="Calibri" pitchFamily="34" charset="0"/>
                <a:ea typeface="Calibri" pitchFamily="34" charset="-122"/>
                <a:cs typeface="Calibri" pitchFamily="34" charset="-120"/>
              </a:rPr>
              <a:t>Nghiên cứu nền tảng &amp; khảo sát liên quan; đặt vấn đề, phạm vi.</a:t>
            </a:r>
            <a:endParaRPr lang="en-US" sz="1180" dirty="0"/>
          </a:p>
        </p:txBody>
      </p:sp>
      <p:sp>
        <p:nvSpPr>
          <p:cNvPr id="8" name="Shape 6"/>
          <p:cNvSpPr/>
          <p:nvPr/>
        </p:nvSpPr>
        <p:spPr>
          <a:xfrm>
            <a:off x="566928" y="2807208"/>
            <a:ext cx="5340096" cy="932688"/>
          </a:xfrm>
          <a:prstGeom prst="roundRect">
            <a:avLst>
              <a:gd name="adj" fmla="val 4902"/>
            </a:avLst>
          </a:prstGeom>
          <a:solidFill>
            <a:srgbClr val="13123A"/>
          </a:solidFill>
          <a:ln w="12700">
            <a:solidFill>
              <a:srgbClr val="13123A"/>
            </a:solidFill>
            <a:prstDash val="solid"/>
          </a:ln>
        </p:spPr>
      </p:sp>
      <p:sp>
        <p:nvSpPr>
          <p:cNvPr id="9" name="Shape 7"/>
          <p:cNvSpPr/>
          <p:nvPr/>
        </p:nvSpPr>
        <p:spPr>
          <a:xfrm>
            <a:off x="749808" y="2990088"/>
            <a:ext cx="960120" cy="566928"/>
          </a:xfrm>
          <a:prstGeom prst="roundRect">
            <a:avLst>
              <a:gd name="adj" fmla="val 12903"/>
            </a:avLst>
          </a:prstGeom>
          <a:solidFill>
            <a:srgbClr val="E9970B"/>
          </a:solidFill>
          <a:ln w="12700">
            <a:solidFill>
              <a:srgbClr val="E9970B"/>
            </a:solidFill>
            <a:prstDash val="solid"/>
          </a:ln>
        </p:spPr>
      </p:sp>
      <p:sp>
        <p:nvSpPr>
          <p:cNvPr id="10" name="Text 8"/>
          <p:cNvSpPr txBox="1"/>
          <p:nvPr/>
        </p:nvSpPr>
        <p:spPr>
          <a:xfrm>
            <a:off x="749808" y="2990088"/>
            <a:ext cx="960120" cy="566928"/>
          </a:xfrm>
          <a:prstGeom prst="rect">
            <a:avLst/>
          </a:prstGeom>
          <a:noFill/>
          <a:ln/>
        </p:spPr>
        <p:txBody>
          <a:bodyPr wrap="square" lIns="0" tIns="0" rIns="0" bIns="0" rtlCol="0" anchor="ctr"/>
          <a:lstStyle/>
          <a:p>
            <a:pPr algn="ctr" indent="0" marL="0">
              <a:buNone/>
            </a:pPr>
            <a:r>
              <a:rPr lang="en-US" sz="1400" b="1" dirty="0">
                <a:solidFill>
                  <a:srgbClr val="13123A"/>
                </a:solidFill>
                <a:latin typeface="Calibri" pitchFamily="34" charset="0"/>
                <a:ea typeface="Calibri" pitchFamily="34" charset="-122"/>
                <a:cs typeface="Calibri" pitchFamily="34" charset="-120"/>
              </a:rPr>
              <a:t>Tuần 2</a:t>
            </a:r>
            <a:endParaRPr lang="en-US" sz="1400" dirty="0"/>
          </a:p>
        </p:txBody>
      </p:sp>
      <p:sp>
        <p:nvSpPr>
          <p:cNvPr id="11" name="Text 9"/>
          <p:cNvSpPr txBox="1"/>
          <p:nvPr/>
        </p:nvSpPr>
        <p:spPr>
          <a:xfrm>
            <a:off x="1865376" y="2926080"/>
            <a:ext cx="2788920" cy="731520"/>
          </a:xfrm>
          <a:prstGeom prst="rect">
            <a:avLst/>
          </a:prstGeom>
          <a:noFill/>
          <a:ln/>
        </p:spPr>
        <p:txBody>
          <a:bodyPr wrap="square" lIns="0" tIns="0" rIns="0" bIns="0" rtlCol="0" anchor="ctr"/>
          <a:lstStyle/>
          <a:p>
            <a:pPr indent="0" marL="0">
              <a:lnSpc>
                <a:spcPct val="95000"/>
              </a:lnSpc>
              <a:buNone/>
            </a:pPr>
            <a:r>
              <a:rPr lang="en-US" sz="1180" dirty="0">
                <a:solidFill>
                  <a:srgbClr val="E7E8FB"/>
                </a:solidFill>
                <a:latin typeface="Calibri" pitchFamily="34" charset="0"/>
                <a:ea typeface="Calibri" pitchFamily="34" charset="-122"/>
                <a:cs typeface="Calibri" pitchFamily="34" charset="-120"/>
              </a:rPr>
              <a:t>Rà soát benchmark; khung 8 năng lực; kiến trúc chi tiết; chốt công nghệ.</a:t>
            </a:r>
            <a:endParaRPr lang="en-US" sz="1180" dirty="0"/>
          </a:p>
        </p:txBody>
      </p:sp>
      <p:sp>
        <p:nvSpPr>
          <p:cNvPr id="12" name="Text 10"/>
          <p:cNvSpPr txBox="1"/>
          <p:nvPr/>
        </p:nvSpPr>
        <p:spPr>
          <a:xfrm>
            <a:off x="4727448" y="3136392"/>
            <a:ext cx="1078992" cy="274320"/>
          </a:xfrm>
          <a:prstGeom prst="rect">
            <a:avLst/>
          </a:prstGeom>
          <a:noFill/>
          <a:ln/>
        </p:spPr>
        <p:txBody>
          <a:bodyPr wrap="square" lIns="0" tIns="0" rIns="0" bIns="0" rtlCol="0" anchor="ctr"/>
          <a:lstStyle/>
          <a:p>
            <a:pPr indent="0" marL="0">
              <a:buNone/>
            </a:pPr>
            <a:r>
              <a:rPr lang="en-US" sz="950" b="1" dirty="0">
                <a:solidFill>
                  <a:srgbClr val="E9970B"/>
                </a:solidFill>
                <a:latin typeface="Calibri" pitchFamily="34" charset="0"/>
                <a:ea typeface="Calibri" pitchFamily="34" charset="-122"/>
                <a:cs typeface="Calibri" pitchFamily="34" charset="-120"/>
              </a:rPr>
              <a:t>◀ đang ở đây</a:t>
            </a:r>
            <a:endParaRPr lang="en-US" sz="950" dirty="0"/>
          </a:p>
        </p:txBody>
      </p:sp>
      <p:sp>
        <p:nvSpPr>
          <p:cNvPr id="13" name="Shape 11"/>
          <p:cNvSpPr/>
          <p:nvPr/>
        </p:nvSpPr>
        <p:spPr>
          <a:xfrm>
            <a:off x="566928" y="3831336"/>
            <a:ext cx="5340096" cy="932688"/>
          </a:xfrm>
          <a:prstGeom prst="roundRect">
            <a:avLst>
              <a:gd name="adj" fmla="val 4902"/>
            </a:avLst>
          </a:prstGeom>
          <a:solidFill>
            <a:srgbClr val="F1F2FB"/>
          </a:solidFill>
          <a:ln w="12700">
            <a:solidFill>
              <a:srgbClr val="F1F2FB"/>
            </a:solidFill>
            <a:prstDash val="solid"/>
          </a:ln>
        </p:spPr>
      </p:sp>
      <p:sp>
        <p:nvSpPr>
          <p:cNvPr id="14" name="Shape 12"/>
          <p:cNvSpPr/>
          <p:nvPr/>
        </p:nvSpPr>
        <p:spPr>
          <a:xfrm>
            <a:off x="749808" y="4014216"/>
            <a:ext cx="960120" cy="566928"/>
          </a:xfrm>
          <a:prstGeom prst="roundRect">
            <a:avLst>
              <a:gd name="adj" fmla="val 12903"/>
            </a:avLst>
          </a:prstGeom>
          <a:solidFill>
            <a:srgbClr val="3A36A0"/>
          </a:solidFill>
          <a:ln w="12700">
            <a:solidFill>
              <a:srgbClr val="3A36A0"/>
            </a:solidFill>
            <a:prstDash val="solid"/>
          </a:ln>
        </p:spPr>
      </p:sp>
      <p:sp>
        <p:nvSpPr>
          <p:cNvPr id="15" name="Text 13"/>
          <p:cNvSpPr txBox="1"/>
          <p:nvPr/>
        </p:nvSpPr>
        <p:spPr>
          <a:xfrm>
            <a:off x="749808" y="4014216"/>
            <a:ext cx="9601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Tuần 3</a:t>
            </a:r>
            <a:endParaRPr lang="en-US" sz="1400" dirty="0"/>
          </a:p>
        </p:txBody>
      </p:sp>
      <p:sp>
        <p:nvSpPr>
          <p:cNvPr id="16" name="Text 14"/>
          <p:cNvSpPr txBox="1"/>
          <p:nvPr/>
        </p:nvSpPr>
        <p:spPr>
          <a:xfrm>
            <a:off x="1865376" y="3950208"/>
            <a:ext cx="3886200" cy="731520"/>
          </a:xfrm>
          <a:prstGeom prst="rect">
            <a:avLst/>
          </a:prstGeom>
          <a:noFill/>
          <a:ln/>
        </p:spPr>
        <p:txBody>
          <a:bodyPr wrap="square" lIns="0" tIns="0" rIns="0" bIns="0" rtlCol="0" anchor="ctr"/>
          <a:lstStyle/>
          <a:p>
            <a:pPr indent="0" marL="0">
              <a:lnSpc>
                <a:spcPct val="95000"/>
              </a:lnSpc>
              <a:buNone/>
            </a:pPr>
            <a:r>
              <a:rPr lang="en-US" sz="1180" dirty="0">
                <a:solidFill>
                  <a:srgbClr val="20223A"/>
                </a:solidFill>
                <a:latin typeface="Calibri" pitchFamily="34" charset="0"/>
                <a:ea typeface="Calibri" pitchFamily="34" charset="-122"/>
                <a:cs typeface="Calibri" pitchFamily="34" charset="-120"/>
              </a:rPr>
              <a:t>Pipeline lưu trữ &amp; truy xuất; năng lực trích xuất và nhớ chính xác.</a:t>
            </a:r>
            <a:endParaRPr lang="en-US" sz="1180" dirty="0"/>
          </a:p>
        </p:txBody>
      </p:sp>
      <p:sp>
        <p:nvSpPr>
          <p:cNvPr id="17" name="Shape 15"/>
          <p:cNvSpPr/>
          <p:nvPr/>
        </p:nvSpPr>
        <p:spPr>
          <a:xfrm>
            <a:off x="566928" y="4855464"/>
            <a:ext cx="5340096" cy="932688"/>
          </a:xfrm>
          <a:prstGeom prst="roundRect">
            <a:avLst>
              <a:gd name="adj" fmla="val 4902"/>
            </a:avLst>
          </a:prstGeom>
          <a:solidFill>
            <a:srgbClr val="F1F2FB"/>
          </a:solidFill>
          <a:ln w="12700">
            <a:solidFill>
              <a:srgbClr val="F1F2FB"/>
            </a:solidFill>
            <a:prstDash val="solid"/>
          </a:ln>
        </p:spPr>
      </p:sp>
      <p:sp>
        <p:nvSpPr>
          <p:cNvPr id="18" name="Shape 16"/>
          <p:cNvSpPr/>
          <p:nvPr/>
        </p:nvSpPr>
        <p:spPr>
          <a:xfrm>
            <a:off x="749808" y="5038344"/>
            <a:ext cx="960120" cy="566928"/>
          </a:xfrm>
          <a:prstGeom prst="roundRect">
            <a:avLst>
              <a:gd name="adj" fmla="val 12903"/>
            </a:avLst>
          </a:prstGeom>
          <a:solidFill>
            <a:srgbClr val="3A36A0"/>
          </a:solidFill>
          <a:ln w="12700">
            <a:solidFill>
              <a:srgbClr val="3A36A0"/>
            </a:solidFill>
            <a:prstDash val="solid"/>
          </a:ln>
        </p:spPr>
      </p:sp>
      <p:sp>
        <p:nvSpPr>
          <p:cNvPr id="19" name="Text 17"/>
          <p:cNvSpPr txBox="1"/>
          <p:nvPr/>
        </p:nvSpPr>
        <p:spPr>
          <a:xfrm>
            <a:off x="749808" y="5038344"/>
            <a:ext cx="9601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Tuần 4</a:t>
            </a:r>
            <a:endParaRPr lang="en-US" sz="1400" dirty="0"/>
          </a:p>
        </p:txBody>
      </p:sp>
      <p:sp>
        <p:nvSpPr>
          <p:cNvPr id="20" name="Text 18"/>
          <p:cNvSpPr txBox="1"/>
          <p:nvPr/>
        </p:nvSpPr>
        <p:spPr>
          <a:xfrm>
            <a:off x="1865376" y="4974336"/>
            <a:ext cx="3886200" cy="731520"/>
          </a:xfrm>
          <a:prstGeom prst="rect">
            <a:avLst/>
          </a:prstGeom>
          <a:noFill/>
          <a:ln/>
        </p:spPr>
        <p:txBody>
          <a:bodyPr wrap="square" lIns="0" tIns="0" rIns="0" bIns="0" rtlCol="0" anchor="ctr"/>
          <a:lstStyle/>
          <a:p>
            <a:pPr indent="0" marL="0">
              <a:lnSpc>
                <a:spcPct val="95000"/>
              </a:lnSpc>
              <a:buNone/>
            </a:pPr>
            <a:r>
              <a:rPr lang="en-US" sz="1180" dirty="0">
                <a:solidFill>
                  <a:srgbClr val="20223A"/>
                </a:solidFill>
                <a:latin typeface="Calibri" pitchFamily="34" charset="0"/>
                <a:ea typeface="Calibri" pitchFamily="34" charset="-122"/>
                <a:cs typeface="Calibri" pitchFamily="34" charset="-120"/>
              </a:rPr>
              <a:t>Cập nhật kiến thức và giải quyết mâu thuẫn; ADD/UPDATE/DELETE/NOOP/CONFLICT.</a:t>
            </a:r>
            <a:endParaRPr lang="en-US" sz="1180" dirty="0"/>
          </a:p>
        </p:txBody>
      </p:sp>
      <p:sp>
        <p:nvSpPr>
          <p:cNvPr id="21" name="Shape 19"/>
          <p:cNvSpPr/>
          <p:nvPr/>
        </p:nvSpPr>
        <p:spPr>
          <a:xfrm>
            <a:off x="6281928" y="1783080"/>
            <a:ext cx="5340096" cy="932688"/>
          </a:xfrm>
          <a:prstGeom prst="roundRect">
            <a:avLst>
              <a:gd name="adj" fmla="val 4902"/>
            </a:avLst>
          </a:prstGeom>
          <a:solidFill>
            <a:srgbClr val="F1F2FB"/>
          </a:solidFill>
          <a:ln w="12700">
            <a:solidFill>
              <a:srgbClr val="F1F2FB"/>
            </a:solidFill>
            <a:prstDash val="solid"/>
          </a:ln>
        </p:spPr>
      </p:sp>
      <p:sp>
        <p:nvSpPr>
          <p:cNvPr id="22" name="Shape 20"/>
          <p:cNvSpPr/>
          <p:nvPr/>
        </p:nvSpPr>
        <p:spPr>
          <a:xfrm>
            <a:off x="6464808" y="1965960"/>
            <a:ext cx="960120" cy="566928"/>
          </a:xfrm>
          <a:prstGeom prst="roundRect">
            <a:avLst>
              <a:gd name="adj" fmla="val 12903"/>
            </a:avLst>
          </a:prstGeom>
          <a:solidFill>
            <a:srgbClr val="3A36A0"/>
          </a:solidFill>
          <a:ln w="12700">
            <a:solidFill>
              <a:srgbClr val="3A36A0"/>
            </a:solidFill>
            <a:prstDash val="solid"/>
          </a:ln>
        </p:spPr>
      </p:sp>
      <p:sp>
        <p:nvSpPr>
          <p:cNvPr id="23" name="Text 21"/>
          <p:cNvSpPr txBox="1"/>
          <p:nvPr/>
        </p:nvSpPr>
        <p:spPr>
          <a:xfrm>
            <a:off x="6464808" y="1965960"/>
            <a:ext cx="9601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Tuần 5</a:t>
            </a:r>
            <a:endParaRPr lang="en-US" sz="1400" dirty="0"/>
          </a:p>
        </p:txBody>
      </p:sp>
      <p:sp>
        <p:nvSpPr>
          <p:cNvPr id="24" name="Text 22"/>
          <p:cNvSpPr txBox="1"/>
          <p:nvPr/>
        </p:nvSpPr>
        <p:spPr>
          <a:xfrm>
            <a:off x="7580376" y="1901952"/>
            <a:ext cx="3886200" cy="731520"/>
          </a:xfrm>
          <a:prstGeom prst="rect">
            <a:avLst/>
          </a:prstGeom>
          <a:noFill/>
          <a:ln/>
        </p:spPr>
        <p:txBody>
          <a:bodyPr wrap="square" lIns="0" tIns="0" rIns="0" bIns="0" rtlCol="0" anchor="ctr"/>
          <a:lstStyle/>
          <a:p>
            <a:pPr indent="0" marL="0">
              <a:lnSpc>
                <a:spcPct val="95000"/>
              </a:lnSpc>
              <a:buNone/>
            </a:pPr>
            <a:r>
              <a:rPr lang="en-US" sz="1180" dirty="0">
                <a:solidFill>
                  <a:srgbClr val="20223A"/>
                </a:solidFill>
                <a:latin typeface="Calibri" pitchFamily="34" charset="0"/>
                <a:ea typeface="Calibri" pitchFamily="34" charset="-122"/>
                <a:cs typeface="Calibri" pitchFamily="34" charset="-120"/>
              </a:rPr>
              <a:t>Suy luận đa phiên, suy luận thời gian, tuân theo sở thích; tích hợp agent.</a:t>
            </a:r>
            <a:endParaRPr lang="en-US" sz="1180" dirty="0"/>
          </a:p>
        </p:txBody>
      </p:sp>
      <p:sp>
        <p:nvSpPr>
          <p:cNvPr id="25" name="Shape 23"/>
          <p:cNvSpPr/>
          <p:nvPr/>
        </p:nvSpPr>
        <p:spPr>
          <a:xfrm>
            <a:off x="6281928" y="2807208"/>
            <a:ext cx="5340096" cy="932688"/>
          </a:xfrm>
          <a:prstGeom prst="roundRect">
            <a:avLst>
              <a:gd name="adj" fmla="val 4902"/>
            </a:avLst>
          </a:prstGeom>
          <a:solidFill>
            <a:srgbClr val="F1F2FB"/>
          </a:solidFill>
          <a:ln w="12700">
            <a:solidFill>
              <a:srgbClr val="F1F2FB"/>
            </a:solidFill>
            <a:prstDash val="solid"/>
          </a:ln>
        </p:spPr>
      </p:sp>
      <p:sp>
        <p:nvSpPr>
          <p:cNvPr id="26" name="Shape 24"/>
          <p:cNvSpPr/>
          <p:nvPr/>
        </p:nvSpPr>
        <p:spPr>
          <a:xfrm>
            <a:off x="6464808" y="2990088"/>
            <a:ext cx="960120" cy="566928"/>
          </a:xfrm>
          <a:prstGeom prst="roundRect">
            <a:avLst>
              <a:gd name="adj" fmla="val 12903"/>
            </a:avLst>
          </a:prstGeom>
          <a:solidFill>
            <a:srgbClr val="3A36A0"/>
          </a:solidFill>
          <a:ln w="12700">
            <a:solidFill>
              <a:srgbClr val="3A36A0"/>
            </a:solidFill>
            <a:prstDash val="solid"/>
          </a:ln>
        </p:spPr>
      </p:sp>
      <p:sp>
        <p:nvSpPr>
          <p:cNvPr id="27" name="Text 25"/>
          <p:cNvSpPr txBox="1"/>
          <p:nvPr/>
        </p:nvSpPr>
        <p:spPr>
          <a:xfrm>
            <a:off x="6464808" y="2990088"/>
            <a:ext cx="9601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Tuần 6</a:t>
            </a:r>
            <a:endParaRPr lang="en-US" sz="1400" dirty="0"/>
          </a:p>
        </p:txBody>
      </p:sp>
      <p:sp>
        <p:nvSpPr>
          <p:cNvPr id="28" name="Text 26"/>
          <p:cNvSpPr txBox="1"/>
          <p:nvPr/>
        </p:nvSpPr>
        <p:spPr>
          <a:xfrm>
            <a:off x="7580376" y="2926080"/>
            <a:ext cx="3886200" cy="731520"/>
          </a:xfrm>
          <a:prstGeom prst="rect">
            <a:avLst/>
          </a:prstGeom>
          <a:noFill/>
          <a:ln/>
        </p:spPr>
        <p:txBody>
          <a:bodyPr wrap="square" lIns="0" tIns="0" rIns="0" bIns="0" rtlCol="0" anchor="ctr"/>
          <a:lstStyle/>
          <a:p>
            <a:pPr indent="0" marL="0">
              <a:lnSpc>
                <a:spcPct val="95000"/>
              </a:lnSpc>
              <a:buNone/>
            </a:pPr>
            <a:r>
              <a:rPr lang="en-US" sz="1180" dirty="0">
                <a:solidFill>
                  <a:srgbClr val="20223A"/>
                </a:solidFill>
                <a:latin typeface="Calibri" pitchFamily="34" charset="0"/>
                <a:ea typeface="Calibri" pitchFamily="34" charset="-122"/>
                <a:cs typeface="Calibri" pitchFamily="34" charset="-120"/>
              </a:rPr>
              <a:t>Biết từ chối và tóm tắt phiên; hiệu chỉnh ngưỡng; bộ test tiếng Việt.</a:t>
            </a:r>
            <a:endParaRPr lang="en-US" sz="1180" dirty="0"/>
          </a:p>
        </p:txBody>
      </p:sp>
      <p:sp>
        <p:nvSpPr>
          <p:cNvPr id="29" name="Shape 27"/>
          <p:cNvSpPr/>
          <p:nvPr/>
        </p:nvSpPr>
        <p:spPr>
          <a:xfrm>
            <a:off x="6281928" y="3831336"/>
            <a:ext cx="5340096" cy="932688"/>
          </a:xfrm>
          <a:prstGeom prst="roundRect">
            <a:avLst>
              <a:gd name="adj" fmla="val 4902"/>
            </a:avLst>
          </a:prstGeom>
          <a:solidFill>
            <a:srgbClr val="F1F2FB"/>
          </a:solidFill>
          <a:ln w="12700">
            <a:solidFill>
              <a:srgbClr val="F1F2FB"/>
            </a:solidFill>
            <a:prstDash val="solid"/>
          </a:ln>
        </p:spPr>
      </p:sp>
      <p:sp>
        <p:nvSpPr>
          <p:cNvPr id="30" name="Shape 28"/>
          <p:cNvSpPr/>
          <p:nvPr/>
        </p:nvSpPr>
        <p:spPr>
          <a:xfrm>
            <a:off x="6464808" y="4014216"/>
            <a:ext cx="960120" cy="566928"/>
          </a:xfrm>
          <a:prstGeom prst="roundRect">
            <a:avLst>
              <a:gd name="adj" fmla="val 12903"/>
            </a:avLst>
          </a:prstGeom>
          <a:solidFill>
            <a:srgbClr val="3A36A0"/>
          </a:solidFill>
          <a:ln w="12700">
            <a:solidFill>
              <a:srgbClr val="3A36A0"/>
            </a:solidFill>
            <a:prstDash val="solid"/>
          </a:ln>
        </p:spPr>
      </p:sp>
      <p:sp>
        <p:nvSpPr>
          <p:cNvPr id="31" name="Text 29"/>
          <p:cNvSpPr txBox="1"/>
          <p:nvPr/>
        </p:nvSpPr>
        <p:spPr>
          <a:xfrm>
            <a:off x="6464808" y="4014216"/>
            <a:ext cx="9601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Tuần 7</a:t>
            </a:r>
            <a:endParaRPr lang="en-US" sz="1400" dirty="0"/>
          </a:p>
        </p:txBody>
      </p:sp>
      <p:sp>
        <p:nvSpPr>
          <p:cNvPr id="32" name="Text 30"/>
          <p:cNvSpPr txBox="1"/>
          <p:nvPr/>
        </p:nvSpPr>
        <p:spPr>
          <a:xfrm>
            <a:off x="7580376" y="3950208"/>
            <a:ext cx="3886200" cy="731520"/>
          </a:xfrm>
          <a:prstGeom prst="rect">
            <a:avLst/>
          </a:prstGeom>
          <a:noFill/>
          <a:ln/>
        </p:spPr>
        <p:txBody>
          <a:bodyPr wrap="square" lIns="0" tIns="0" rIns="0" bIns="0" rtlCol="0" anchor="ctr"/>
          <a:lstStyle/>
          <a:p>
            <a:pPr indent="0" marL="0">
              <a:lnSpc>
                <a:spcPct val="95000"/>
              </a:lnSpc>
              <a:buNone/>
            </a:pPr>
            <a:r>
              <a:rPr lang="en-US" sz="1180" dirty="0">
                <a:solidFill>
                  <a:srgbClr val="20223A"/>
                </a:solidFill>
                <a:latin typeface="Calibri" pitchFamily="34" charset="0"/>
                <a:ea typeface="Calibri" pitchFamily="34" charset="-122"/>
                <a:cs typeface="Calibri" pitchFamily="34" charset="-120"/>
              </a:rPr>
              <a:t>Chạy đủ 4 cấu hình trên 3 trục đo; tối ưu hiệu năng; hoàn thiện demo.</a:t>
            </a:r>
            <a:endParaRPr lang="en-US" sz="1180" dirty="0"/>
          </a:p>
        </p:txBody>
      </p:sp>
      <p:sp>
        <p:nvSpPr>
          <p:cNvPr id="33" name="Shape 31"/>
          <p:cNvSpPr/>
          <p:nvPr/>
        </p:nvSpPr>
        <p:spPr>
          <a:xfrm>
            <a:off x="6281928" y="4855464"/>
            <a:ext cx="5340096" cy="932688"/>
          </a:xfrm>
          <a:prstGeom prst="roundRect">
            <a:avLst>
              <a:gd name="adj" fmla="val 4902"/>
            </a:avLst>
          </a:prstGeom>
          <a:solidFill>
            <a:srgbClr val="F1F2FB"/>
          </a:solidFill>
          <a:ln w="12700">
            <a:solidFill>
              <a:srgbClr val="F1F2FB"/>
            </a:solidFill>
            <a:prstDash val="solid"/>
          </a:ln>
        </p:spPr>
      </p:sp>
      <p:sp>
        <p:nvSpPr>
          <p:cNvPr id="34" name="Shape 32"/>
          <p:cNvSpPr/>
          <p:nvPr/>
        </p:nvSpPr>
        <p:spPr>
          <a:xfrm>
            <a:off x="6464808" y="5038344"/>
            <a:ext cx="960120" cy="566928"/>
          </a:xfrm>
          <a:prstGeom prst="roundRect">
            <a:avLst>
              <a:gd name="adj" fmla="val 12903"/>
            </a:avLst>
          </a:prstGeom>
          <a:solidFill>
            <a:srgbClr val="3A36A0"/>
          </a:solidFill>
          <a:ln w="12700">
            <a:solidFill>
              <a:srgbClr val="3A36A0"/>
            </a:solidFill>
            <a:prstDash val="solid"/>
          </a:ln>
        </p:spPr>
      </p:sp>
      <p:sp>
        <p:nvSpPr>
          <p:cNvPr id="35" name="Text 33"/>
          <p:cNvSpPr txBox="1"/>
          <p:nvPr/>
        </p:nvSpPr>
        <p:spPr>
          <a:xfrm>
            <a:off x="6464808" y="5038344"/>
            <a:ext cx="9601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Tuần 8</a:t>
            </a:r>
            <a:endParaRPr lang="en-US" sz="1400" dirty="0"/>
          </a:p>
        </p:txBody>
      </p:sp>
      <p:sp>
        <p:nvSpPr>
          <p:cNvPr id="36" name="Text 34"/>
          <p:cNvSpPr txBox="1"/>
          <p:nvPr/>
        </p:nvSpPr>
        <p:spPr>
          <a:xfrm>
            <a:off x="7580376" y="4974336"/>
            <a:ext cx="3886200" cy="731520"/>
          </a:xfrm>
          <a:prstGeom prst="rect">
            <a:avLst/>
          </a:prstGeom>
          <a:noFill/>
          <a:ln/>
        </p:spPr>
        <p:txBody>
          <a:bodyPr wrap="square" lIns="0" tIns="0" rIns="0" bIns="0" rtlCol="0" anchor="ctr"/>
          <a:lstStyle/>
          <a:p>
            <a:pPr indent="0" marL="0">
              <a:lnSpc>
                <a:spcPct val="95000"/>
              </a:lnSpc>
              <a:buNone/>
            </a:pPr>
            <a:r>
              <a:rPr lang="en-US" sz="1180" dirty="0">
                <a:solidFill>
                  <a:srgbClr val="20223A"/>
                </a:solidFill>
                <a:latin typeface="Calibri" pitchFamily="34" charset="0"/>
                <a:ea typeface="Calibri" pitchFamily="34" charset="-122"/>
                <a:cs typeface="Calibri" pitchFamily="34" charset="-120"/>
              </a:rPr>
              <a:t>Viết báo cáo &amp; tài liệu; đóng gói mã nguồn; chuẩn bị trình bày cuối.</a:t>
            </a:r>
            <a:endParaRPr lang="en-US" sz="1180" dirty="0"/>
          </a:p>
        </p:txBody>
      </p:sp>
      <p:sp>
        <p:nvSpPr>
          <p:cNvPr id="37" name="Text 35"/>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Lộ trình do nhóm tự lập, đã điều chỉnh sau phản hồi tuần 1 để mỗi năng lực có một tuần chịu trách nhiệm.</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502920"/>
            <a:ext cx="6345936" cy="283464"/>
          </a:xfrm>
          <a:prstGeom prst="rect">
            <a:avLst/>
          </a:prstGeom>
          <a:noFill/>
          <a:ln/>
        </p:spPr>
        <p:txBody>
          <a:bodyPr wrap="square" lIns="0" tIns="0" rIns="0" bIns="0" rtlCol="0" anchor="ctr"/>
          <a:lstStyle/>
          <a:p>
            <a:pPr algn="l" indent="0" marL="0">
              <a:buNone/>
            </a:pPr>
            <a:r>
              <a:rPr lang="en-US" sz="1200" b="1" dirty="0">
                <a:solidFill>
                  <a:srgbClr val="3A36A0"/>
                </a:solidFill>
                <a:latin typeface="Calibri" pitchFamily="34" charset="0"/>
                <a:ea typeface="Calibri" pitchFamily="34" charset="-122"/>
                <a:cs typeface="Calibri" pitchFamily="34" charset="-120"/>
              </a:rPr>
              <a:t>TIẾN ĐỘ</a:t>
            </a:r>
            <a:endParaRPr lang="en-US" sz="1200" dirty="0"/>
          </a:p>
        </p:txBody>
      </p:sp>
      <p:sp>
        <p:nvSpPr>
          <p:cNvPr id="3" name="Text 1"/>
          <p:cNvSpPr txBox="1"/>
          <p:nvPr/>
        </p:nvSpPr>
        <p:spPr>
          <a:xfrm>
            <a:off x="566928" y="822960"/>
            <a:ext cx="11045952" cy="640080"/>
          </a:xfrm>
          <a:prstGeom prst="rect">
            <a:avLst/>
          </a:prstGeom>
          <a:noFill/>
          <a:ln/>
        </p:spPr>
        <p:txBody>
          <a:bodyPr wrap="square" lIns="0" tIns="0" rIns="0" bIns="0" rtlCol="0" anchor="ctr"/>
          <a:lstStyle/>
          <a:p>
            <a:pPr algn="l" indent="0" marL="0">
              <a:buNone/>
            </a:pPr>
            <a:r>
              <a:rPr lang="en-US" sz="3000" b="1" dirty="0">
                <a:solidFill>
                  <a:srgbClr val="13123A"/>
                </a:solidFill>
                <a:latin typeface="Cambria" pitchFamily="34" charset="0"/>
                <a:ea typeface="Cambria" pitchFamily="34" charset="-122"/>
                <a:cs typeface="Cambria" pitchFamily="34" charset="-120"/>
              </a:rPr>
              <a:t>Đã xong tuần 2 · Việc tuần 3</a:t>
            </a:r>
            <a:endParaRPr lang="en-US" sz="3000" dirty="0"/>
          </a:p>
        </p:txBody>
      </p:sp>
      <p:sp>
        <p:nvSpPr>
          <p:cNvPr id="4" name="Shape 2"/>
          <p:cNvSpPr/>
          <p:nvPr/>
        </p:nvSpPr>
        <p:spPr>
          <a:xfrm>
            <a:off x="566928" y="1673352"/>
            <a:ext cx="5358384" cy="3931920"/>
          </a:xfrm>
          <a:prstGeom prst="roundRect">
            <a:avLst>
              <a:gd name="adj" fmla="val 1163"/>
            </a:avLst>
          </a:prstGeom>
          <a:solidFill>
            <a:srgbClr val="ECEBF7"/>
          </a:solidFill>
          <a:ln w="12700">
            <a:solidFill>
              <a:srgbClr val="ECEBF7"/>
            </a:solidFill>
            <a:prstDash val="solid"/>
          </a:ln>
        </p:spPr>
      </p:sp>
      <p:sp>
        <p:nvSpPr>
          <p:cNvPr id="5" name="Text 3"/>
          <p:cNvSpPr txBox="1"/>
          <p:nvPr/>
        </p:nvSpPr>
        <p:spPr>
          <a:xfrm>
            <a:off x="822960" y="1874520"/>
            <a:ext cx="4846320" cy="256032"/>
          </a:xfrm>
          <a:prstGeom prst="rect">
            <a:avLst/>
          </a:prstGeom>
          <a:noFill/>
          <a:ln/>
        </p:spPr>
        <p:txBody>
          <a:bodyPr wrap="square" lIns="0" tIns="0" rIns="0" bIns="0" rtlCol="0" anchor="ctr"/>
          <a:lstStyle/>
          <a:p>
            <a:pPr indent="0" marL="0">
              <a:buNone/>
            </a:pPr>
            <a:r>
              <a:rPr lang="en-US" sz="1100" b="1" dirty="0">
                <a:solidFill>
                  <a:srgbClr val="3A36A0"/>
                </a:solidFill>
                <a:latin typeface="Calibri" pitchFamily="34" charset="0"/>
                <a:ea typeface="Calibri" pitchFamily="34" charset="-122"/>
                <a:cs typeface="Calibri" pitchFamily="34" charset="-120"/>
              </a:rPr>
              <a:t>ĐÃ XONG — TUẦN 2</a:t>
            </a:r>
            <a:endParaRPr lang="en-US" sz="1100" dirty="0"/>
          </a:p>
        </p:txBody>
      </p:sp>
      <p:sp>
        <p:nvSpPr>
          <p:cNvPr id="6" name="Text 4"/>
          <p:cNvSpPr txBox="1"/>
          <p:nvPr/>
        </p:nvSpPr>
        <p:spPr>
          <a:xfrm>
            <a:off x="822960" y="2194560"/>
            <a:ext cx="4846320" cy="3246120"/>
          </a:xfrm>
          <a:prstGeom prst="rect">
            <a:avLst/>
          </a:prstGeom>
          <a:noFill/>
          <a:ln/>
        </p:spPr>
        <p:txBody>
          <a:bodyPr wrap="square" lIns="0" tIns="0" rIns="0" bIns="0" rtlCol="0" anchor="t"/>
          <a:lstStyle/>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Rà soát lại cả bốn benchmark theo phản hồi của thầy/cô</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Dựng khung tám năng lực, mỗi năng lực gắn một thành phần và một tuần</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Kiến trúc module với interface tách rời mô hình và kho vector</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Lược đồ bộ nhớ dạng slot kèm khoảng hiệu lực và phân loại ký ức</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Chốt công nghệ: Gemini gói miễn phí, embedding tiếng Việt chạy local, ChromaDB</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Thiết kế bốn cấu hình đối chứng cho phần đánh giá</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Điều chỉnh lộ trình 8 tuần theo năng lực</a:t>
            </a:r>
            <a:endParaRPr lang="en-US" sz="1250" dirty="0"/>
          </a:p>
        </p:txBody>
      </p:sp>
      <p:sp>
        <p:nvSpPr>
          <p:cNvPr id="7" name="Shape 5"/>
          <p:cNvSpPr/>
          <p:nvPr/>
        </p:nvSpPr>
        <p:spPr>
          <a:xfrm>
            <a:off x="6254496" y="1673352"/>
            <a:ext cx="5358384" cy="3931920"/>
          </a:xfrm>
          <a:prstGeom prst="roundRect">
            <a:avLst>
              <a:gd name="adj" fmla="val 1163"/>
            </a:avLst>
          </a:prstGeom>
          <a:solidFill>
            <a:srgbClr val="F7F7FB"/>
          </a:solidFill>
          <a:ln w="12700">
            <a:solidFill>
              <a:srgbClr val="F7F7FB"/>
            </a:solidFill>
            <a:prstDash val="solid"/>
          </a:ln>
        </p:spPr>
      </p:sp>
      <p:sp>
        <p:nvSpPr>
          <p:cNvPr id="8" name="Text 6"/>
          <p:cNvSpPr txBox="1"/>
          <p:nvPr/>
        </p:nvSpPr>
        <p:spPr>
          <a:xfrm>
            <a:off x="6510528" y="1874520"/>
            <a:ext cx="4846320" cy="256032"/>
          </a:xfrm>
          <a:prstGeom prst="rect">
            <a:avLst/>
          </a:prstGeom>
          <a:noFill/>
          <a:ln/>
        </p:spPr>
        <p:txBody>
          <a:bodyPr wrap="square" lIns="0" tIns="0" rIns="0" bIns="0" rtlCol="0" anchor="ctr"/>
          <a:lstStyle/>
          <a:p>
            <a:pPr indent="0" marL="0">
              <a:buNone/>
            </a:pPr>
            <a:r>
              <a:rPr lang="en-US" sz="1100" b="1" dirty="0">
                <a:solidFill>
                  <a:srgbClr val="E9970B"/>
                </a:solidFill>
                <a:latin typeface="Calibri" pitchFamily="34" charset="0"/>
                <a:ea typeface="Calibri" pitchFamily="34" charset="-122"/>
                <a:cs typeface="Calibri" pitchFamily="34" charset="-120"/>
              </a:rPr>
              <a:t>VIỆC TUẦN 3</a:t>
            </a:r>
            <a:endParaRPr lang="en-US" sz="1100" dirty="0"/>
          </a:p>
        </p:txBody>
      </p:sp>
      <p:sp>
        <p:nvSpPr>
          <p:cNvPr id="9" name="Text 7"/>
          <p:cNvSpPr txBox="1"/>
          <p:nvPr/>
        </p:nvSpPr>
        <p:spPr>
          <a:xfrm>
            <a:off x="6510528" y="2194560"/>
            <a:ext cx="4846320" cy="3246120"/>
          </a:xfrm>
          <a:prstGeom prst="rect">
            <a:avLst/>
          </a:prstGeom>
          <a:noFill/>
          <a:ln/>
        </p:spPr>
        <p:txBody>
          <a:bodyPr wrap="square" lIns="0" tIns="0" rIns="0" bIns="0" rtlCol="0" anchor="t"/>
          <a:lstStyle/>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Dựng pipeline lưu trữ và truy xuất cơ bản, chạy đầu–cuối</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Nối Gemini gói miễn phí và mô hình embedding tiếng Việt chạy local</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Đo p50 / p95 và số token mỗi truy vấn trên hội thoại thật</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Chạy thử LongMemEval-S, lấy số riêng cho từng loại câu hỏi</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Lưu embedding ra đĩa để chạy lại thí nghiệm không tốn quota</a:t>
            </a:r>
            <a:endParaRPr lang="en-US" sz="1250" dirty="0"/>
          </a:p>
          <a:p>
            <a:pPr marL="342900" indent="-342900">
              <a:lnSpc>
                <a:spcPct val="95000"/>
              </a:lnSpc>
              <a:spcAft>
                <a:spcPts val="700"/>
              </a:spcAft>
              <a:buSzPct val="100000"/>
              <a:buChar char="•"/>
            </a:pPr>
            <a:r>
              <a:rPr lang="en-US" sz="1250" dirty="0">
                <a:solidFill>
                  <a:srgbClr val="4A4E63"/>
                </a:solidFill>
                <a:latin typeface="Calibri" pitchFamily="34" charset="0"/>
                <a:ea typeface="Calibri" pitchFamily="34" charset="-122"/>
                <a:cs typeface="Calibri" pitchFamily="34" charset="-120"/>
              </a:rPr>
              <a:t>Dựng cấu hình đối chứng full-context và rag-only</a:t>
            </a:r>
            <a:endParaRPr lang="en-US" sz="1250" dirty="0"/>
          </a:p>
        </p:txBody>
      </p:sp>
      <p:sp>
        <p:nvSpPr>
          <p:cNvPr id="10" name="Text 8"/>
          <p:cNvSpPr txBox="1"/>
          <p:nvPr/>
        </p:nvSpPr>
        <p:spPr>
          <a:xfrm>
            <a:off x="566928" y="5806440"/>
            <a:ext cx="11045952" cy="502920"/>
          </a:xfrm>
          <a:prstGeom prst="rect">
            <a:avLst/>
          </a:prstGeom>
          <a:noFill/>
          <a:ln/>
        </p:spPr>
        <p:txBody>
          <a:bodyPr wrap="square" lIns="0" tIns="0" rIns="0" bIns="0" rtlCol="0" anchor="ctr"/>
          <a:lstStyle/>
          <a:p>
            <a:pPr indent="0" marL="0">
              <a:lnSpc>
                <a:spcPct val="95000"/>
              </a:lnSpc>
              <a:buNone/>
            </a:pPr>
            <a:r>
              <a:rPr lang="en-US" sz="1250" b="1" dirty="0">
                <a:solidFill>
                  <a:srgbClr val="13123A"/>
                </a:solidFill>
                <a:latin typeface="Calibri" pitchFamily="34" charset="0"/>
                <a:ea typeface="Calibri" pitchFamily="34" charset="-122"/>
                <a:cs typeface="Calibri" pitchFamily="34" charset="-120"/>
              </a:rPr>
              <a:t>Xin ý kiến thầy/cô: (1) khung tám năng lực đã đủ chưa, có năng lực nào nên bỏ để làm sâu hơn phần còn lại; (2) bộ test tiếng Việt nên khoảng bao nhiêu câu là hợp lý.</a:t>
            </a:r>
            <a:endParaRPr lang="en-US" sz="1250" dirty="0"/>
          </a:p>
        </p:txBody>
      </p:sp>
      <p:sp>
        <p:nvSpPr>
          <p:cNvPr id="11" name="Text 9"/>
          <p:cNvSpPr txBox="1"/>
          <p:nvPr/>
        </p:nvSpPr>
        <p:spPr>
          <a:xfrm>
            <a:off x="566928" y="6464808"/>
            <a:ext cx="11045952" cy="329184"/>
          </a:xfrm>
          <a:prstGeom prst="rect">
            <a:avLst/>
          </a:prstGeom>
          <a:noFill/>
          <a:ln/>
        </p:spPr>
        <p:txBody>
          <a:bodyPr wrap="square" lIns="0" tIns="0" rIns="0" bIns="0" rtlCol="0" anchor="ctr"/>
          <a:lstStyle/>
          <a:p>
            <a:pPr algn="l" indent="0" marL="0">
              <a:buNone/>
            </a:pPr>
            <a:r>
              <a:rPr lang="en-US" sz="1050" dirty="0">
                <a:solidFill>
                  <a:srgbClr val="6B6F82"/>
                </a:solidFill>
                <a:latin typeface="Calibri" pitchFamily="34" charset="0"/>
                <a:ea typeface="Calibri" pitchFamily="34" charset="-122"/>
                <a:cs typeface="Calibri" pitchFamily="34" charset="-120"/>
              </a:rPr>
              <a:t>Toàn bộ tài liệu thiết kế và mã nguồn khung dự án đã được đưa lên kho chung của nhóm.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tuần 2 — Bộ nhớ dài hạn cho LLM Agent</dc:title>
  <dc:subject>PptxGenJS Presentation</dc:subject>
  <dc:creator>Nhóm đồ án</dc:creator>
  <cp:lastModifiedBy>Nhóm đồ án</cp:lastModifiedBy>
  <cp:revision>1</cp:revision>
  <dcterms:created xsi:type="dcterms:W3CDTF">2026-09-15T03:36:20Z</dcterms:created>
  <dcterms:modified xsi:type="dcterms:W3CDTF">2026-09-15T03:36:20Z</dcterms:modified>
</cp:coreProperties>
</file>