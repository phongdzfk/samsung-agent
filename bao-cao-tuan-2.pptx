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Ba phần: trả lời phản hồi về benchmark, trình bày khung chín năng lực và kiến trúc phân lớp, chốt công nghệ. Điểm mới lớn nhất so với tuần 1: hệ thống làm song ngữ Việt–Anh, và toàn bộ hạ tầng miễn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trả lời trực tiếp câu hỏi tuần trước. Nói rõ đã tra lại từng benchmark. Điểm nối sang phần sau: cả ba benchmark đều tiếng Anh, nên làm song ngữ không phải để cho oai mà để chạy được benchmark chuẩn.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định vị quan trọng nhất. Đề tài nhắm tới hệ HOÀN CHỈNH: mỗi năng lực có một thành phần và một tuần cụ thể. Cập nhật kiến thức chỉ là một dòng trong chín dòng. Năng lực 9 là phần riêng của nhóm — không benchmark công khai nào chấm việc lưu bằng tiếng Việt rồi hỏi bằng tiếng Anh. Nếu bị hỏi có kịp không: mỗi năng lực chỉ cần chạy được và có test, không cần đạt SOTA; tài liệu thiết kế có bảng cốt lõi / nên có / mở rộng định sẵn thứ tự cắt.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lớp. Điểm cần nhấn: L4 tách SQLite làm sổ cái, Chroma chỉ là chỉ mục. Đây là thay đổi so với bản tuần trước và có ba lý do cụ thể trong khối tối. Hàng XUYÊN SUỐT là các mối quan tâm cắt ngang mọi lớp — đặc biệt là ngôn ngữ, sẽ nói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là phần mới hoàn toàn. Thông điệp: ngôn ngữ là mối quan tâm xuyên suốt, không phải một tính năng gắn thêm. Ba chỗ ở tầng ghi, hai chỉ mục ở tầng đọc. Điểm nguy hiểm nhất cần nêu: khóa slot lẫn hai ngôn ngữ là lỗi IM LẶNG — hệ vẫn chạy, chỉ là không bao giờ phát hiện được cập nhật. Vì vậy có ba lớp bảo vệ và một test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Lược đồ có thêm ba nhóm trường so với tuần trước: văn bản song ngữ, trạng thái pending, và nhóm nguồn gốc. Khối tối là điểm đáng nói nhất — đây là một luật kiến trúc ngăn hệ tự đầu độc theo thời gian, không phải tiểu tiết kỹ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được thiết kế lại nhiều nhất. Nếu thầy/cô hỏi vì sao phức tạp hơn RAG thường: vì cosine của hai câu bất kỳ đã nằm quanh 0,7–0,8 nên không đặt ngưỡng từ chối lên nó được — cần điểm của cross-encoder. Chi phí rerank chỉ trên 30 ứng viên, vài chục ms trên CPU, và có cấu hình no-rerank để đo đóng góp.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pha. Hai điểm mới so với tuần trước: pha 1 trích từ cả hai phía hội thoại, và pha 3 có thêm rerank. Pha 2 vẫn hoàn toàn không gọi mô hình — đó là nguyên tắc số một của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ngay: đây là MỘT trong chín năng lực, không phải toàn bộ đề tài. Phân biệt cập nhật (có thứ tự thời gian) với mâu thuẫn (không có). BEAM chấm chúng như hai năng lực riêng nên nhóm cũng tách.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đổi so với dự kiến tuần 1: bỏ OpenAI, chuyển sang Gemini gói miễn phí; thêm SQLite làm sổ cái; thêm reranker và BM25. Điểm đáng nói nhất vẫn là quyết định để embedding và reranker chạy local — không phải để tiết kiệm mà vì cấu trúc lời gọi.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trục áp cho cả chín năng lực. Hai điểm dễ bị bỏ qua: phải tách số liệu theo ngôn ngữ vì token tiếng Việt tốn gấp đôi; và phải có nhật ký vết từ tuần 3, nếu để tới tuần 7 mới thêm thì không còn dữ liệu để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cấu hình, mỗi cái cắt đúng một thành phần. Ba cấu hình mới so với tuần trước là dense-only, no-rerank và native-index-only — tương ứng với ba thành phần mới thêm vào kiến trúc. Câu in nghiêng cuối slide nên đọc thành lời: nó thể hiện thái độ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đã sửa: mỗi tuần gắn với một nhóm năng lực cụ thể trong bảng slide 3, nên theo dõi tiến độ theo năng lực chứ không theo cảm tính. Nếu thầy/cô lo chín năng lực là quá rộng, chỉ ra bảng phạm vi trong tài liệu: cốt lõi phải xong, nên có là mục tiêu chính, mở rộng cắt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buổi. Nhấn: tuần 2 đóng được phần thiết kế, và quan trọng hơn là đã khoanh phạm vi theo chín năng lực thay vì làm chung chung. Hai câu hỏi cuối là hỏi thật, đó là hai điểm nhóm chưa chắc.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23A"/>
        </a:solidFill>
      </p:bgPr>
    </p:bg>
    <p:spTree>
      <p:nvGrpSpPr>
        <p:cNvPr id="1" name=""/>
        <p:cNvGrpSpPr/>
        <p:nvPr/>
      </p:nvGrpSpPr>
      <p:grpSpPr>
        <a:xfrm>
          <a:off x="0" y="0"/>
          <a:ext cx="0" cy="0"/>
          <a:chOff x="0" y="0"/>
          <a:chExt cx="0" cy="0"/>
        </a:xfrm>
      </p:grpSpPr>
      <p:sp>
        <p:nvSpPr>
          <p:cNvPr id="2" name="Shape 0"/>
          <p:cNvSpPr/>
          <p:nvPr/>
        </p:nvSpPr>
        <p:spPr>
          <a:xfrm>
            <a:off x="10195560" y="-914400"/>
            <a:ext cx="3108960" cy="3108960"/>
          </a:xfrm>
          <a:prstGeom prst="ellipse">
            <a:avLst/>
          </a:prstGeom>
          <a:solidFill>
            <a:srgbClr val="1E1C55"/>
          </a:solidFill>
          <a:ln w="12700">
            <a:solidFill>
              <a:srgbClr val="1E1C55"/>
            </a:solidFill>
            <a:prstDash val="solid"/>
          </a:ln>
        </p:spPr>
      </p:sp>
      <p:sp>
        <p:nvSpPr>
          <p:cNvPr id="3" name="Shape 1"/>
          <p:cNvSpPr/>
          <p:nvPr/>
        </p:nvSpPr>
        <p:spPr>
          <a:xfrm>
            <a:off x="11155680" y="5120640"/>
            <a:ext cx="2377440" cy="2377440"/>
          </a:xfrm>
          <a:prstGeom prst="ellipse">
            <a:avLst/>
          </a:prstGeom>
          <a:solidFill>
            <a:srgbClr val="1E1C55"/>
          </a:solidFill>
          <a:ln w="12700">
            <a:solidFill>
              <a:srgbClr val="1E1C55"/>
            </a:solidFill>
            <a:prstDash val="solid"/>
          </a:ln>
        </p:spPr>
      </p:sp>
      <p:sp>
        <p:nvSpPr>
          <p:cNvPr id="4" name="Shape 2"/>
          <p:cNvSpPr/>
          <p:nvPr/>
        </p:nvSpPr>
        <p:spPr>
          <a:xfrm>
            <a:off x="566928" y="1417320"/>
            <a:ext cx="1828800" cy="384048"/>
          </a:xfrm>
          <a:prstGeom prst="rect">
            <a:avLst/>
          </a:prstGeom>
          <a:solidFill>
            <a:srgbClr val="E9970B"/>
          </a:solidFill>
          <a:ln w="12700">
            <a:solidFill>
              <a:srgbClr val="E9970B"/>
            </a:solidFill>
            <a:prstDash val="solid"/>
          </a:ln>
        </p:spPr>
      </p:sp>
      <p:sp>
        <p:nvSpPr>
          <p:cNvPr id="5" name="Text 3"/>
          <p:cNvSpPr txBox="1"/>
          <p:nvPr/>
        </p:nvSpPr>
        <p:spPr>
          <a:xfrm>
            <a:off x="566928" y="1417320"/>
            <a:ext cx="1828800" cy="384048"/>
          </a:xfrm>
          <a:prstGeom prst="rect">
            <a:avLst/>
          </a:prstGeom>
          <a:noFill/>
          <a:ln/>
        </p:spPr>
        <p:txBody>
          <a:bodyPr wrap="square" lIns="0" tIns="0" rIns="0" bIns="0" rtlCol="0" anchor="ctr"/>
          <a:lstStyle/>
          <a:p>
            <a:pPr algn="ctr" indent="0" marL="0">
              <a:buNone/>
            </a:pPr>
            <a:r>
              <a:rPr lang="en-US" sz="1150" b="1" dirty="0">
                <a:solidFill>
                  <a:srgbClr val="13123A"/>
                </a:solidFill>
                <a:latin typeface="Calibri" pitchFamily="34" charset="0"/>
                <a:ea typeface="Calibri" pitchFamily="34" charset="-122"/>
                <a:cs typeface="Calibri" pitchFamily="34" charset="-120"/>
              </a:rPr>
              <a:t>BÁO CÁO TUẦN 2</a:t>
            </a:r>
            <a:endParaRPr lang="en-US" sz="1150" dirty="0"/>
          </a:p>
        </p:txBody>
      </p:sp>
      <p:sp>
        <p:nvSpPr>
          <p:cNvPr id="6" name="Text 4"/>
          <p:cNvSpPr txBox="1"/>
          <p:nvPr/>
        </p:nvSpPr>
        <p:spPr>
          <a:xfrm>
            <a:off x="566928" y="1965960"/>
            <a:ext cx="9692640" cy="1828800"/>
          </a:xfrm>
          <a:prstGeom prst="rect">
            <a:avLst/>
          </a:prstGeom>
          <a:noFill/>
          <a:ln/>
        </p:spPr>
        <p:txBody>
          <a:bodyPr wrap="square" lIns="0" tIns="0" rIns="0" bIns="0" rtlCol="0" anchor="ctr"/>
          <a:lstStyle/>
          <a:p>
            <a:pPr indent="0" marL="0">
              <a:lnSpc>
                <a:spcPct val="95000"/>
              </a:lnSpc>
              <a:buNone/>
            </a:pPr>
            <a:r>
              <a:rPr lang="en-US" sz="4600" b="1" dirty="0">
                <a:solidFill>
                  <a:srgbClr val="FFFFFF"/>
                </a:solidFill>
                <a:latin typeface="Cambria" pitchFamily="34" charset="0"/>
                <a:ea typeface="Cambria" pitchFamily="34" charset="-122"/>
                <a:cs typeface="Cambria" pitchFamily="34" charset="-120"/>
              </a:rPr>
              <a:t>Thiết kế kiến trúc</a:t>
            </a:r>
            <a:endParaRPr lang="en-US" sz="4600" dirty="0"/>
          </a:p>
          <a:p>
            <a:pPr indent="0" marL="0">
              <a:lnSpc>
                <a:spcPct val="95000"/>
              </a:lnSpc>
              <a:buNone/>
            </a:pPr>
            <a:r>
              <a:rPr lang="en-US" sz="4600" b="1" dirty="0">
                <a:solidFill>
                  <a:srgbClr val="FFFFFF"/>
                </a:solidFill>
                <a:latin typeface="Cambria" pitchFamily="34" charset="0"/>
                <a:ea typeface="Cambria" pitchFamily="34" charset="-122"/>
                <a:cs typeface="Cambria" pitchFamily="34" charset="-120"/>
              </a:rPr>
              <a:t>hệ bộ nhớ song ngữ</a:t>
            </a:r>
            <a:endParaRPr lang="en-US" sz="4600" dirty="0"/>
          </a:p>
        </p:txBody>
      </p:sp>
      <p:sp>
        <p:nvSpPr>
          <p:cNvPr id="7" name="Text 5"/>
          <p:cNvSpPr txBox="1"/>
          <p:nvPr/>
        </p:nvSpPr>
        <p:spPr>
          <a:xfrm>
            <a:off x="566928" y="3886200"/>
            <a:ext cx="9692640" cy="548640"/>
          </a:xfrm>
          <a:prstGeom prst="rect">
            <a:avLst/>
          </a:prstGeom>
          <a:noFill/>
          <a:ln/>
        </p:spPr>
        <p:txBody>
          <a:bodyPr wrap="square" lIns="0" tIns="0" rIns="0" bIns="0" rtlCol="0" anchor="ctr"/>
          <a:lstStyle/>
          <a:p>
            <a:pPr indent="0" marL="0">
              <a:buNone/>
            </a:pPr>
            <a:r>
              <a:rPr lang="en-US" sz="1800" dirty="0">
                <a:solidFill>
                  <a:srgbClr val="C7C9E6"/>
                </a:solidFill>
                <a:latin typeface="Calibri" pitchFamily="34" charset="0"/>
                <a:ea typeface="Calibri" pitchFamily="34" charset="-122"/>
                <a:cs typeface="Calibri" pitchFamily="34" charset="-120"/>
              </a:rPr>
              <a:t>Chín năng lực · kiến trúc phân lớp · công nghệ miễn phí đã chốt</a:t>
            </a:r>
            <a:endParaRPr lang="en-US" sz="1800" dirty="0"/>
          </a:p>
        </p:txBody>
      </p:sp>
      <p:sp>
        <p:nvSpPr>
          <p:cNvPr id="8" name="Shape 6"/>
          <p:cNvSpPr/>
          <p:nvPr/>
        </p:nvSpPr>
        <p:spPr>
          <a:xfrm>
            <a:off x="566928" y="4892040"/>
            <a:ext cx="3840480" cy="0"/>
          </a:xfrm>
          <a:prstGeom prst="line">
            <a:avLst/>
          </a:prstGeom>
          <a:noFill/>
          <a:ln w="25400">
            <a:solidFill>
              <a:srgbClr val="1FA6A6"/>
            </a:solidFill>
            <a:prstDash val="solid"/>
          </a:ln>
        </p:spPr>
      </p:sp>
      <p:sp>
        <p:nvSpPr>
          <p:cNvPr id="9" name="Text 7"/>
          <p:cNvSpPr txBox="1"/>
          <p:nvPr/>
        </p:nvSpPr>
        <p:spPr>
          <a:xfrm>
            <a:off x="566928" y="5074920"/>
            <a:ext cx="105156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Đồ án nhóm 2 thành viên</a:t>
            </a:r>
            <a:pPr indent="0" marL="0">
              <a:buNone/>
            </a:pPr>
            <a:r>
              <a:rPr lang="en-US" sz="1350" dirty="0">
                <a:solidFill>
                  <a:srgbClr val="9FA2C8"/>
                </a:solidFill>
                <a:latin typeface="Calibri" pitchFamily="34" charset="0"/>
                <a:ea typeface="Calibri" pitchFamily="34" charset="-122"/>
                <a:cs typeface="Calibri" pitchFamily="34" charset="-120"/>
              </a:rPr>
              <a:t>   ·   Tuần 2 / 8   ·   Hệ thống hỗ trợ đồng thời tiếng Việt và tiếng Anh</a:t>
            </a:r>
            <a:endParaRPr lang="en-US" sz="1350" dirty="0"/>
          </a:p>
        </p:txBody>
      </p:sp>
      <p:sp>
        <p:nvSpPr>
          <p:cNvPr id="10" name="Text 8"/>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Nguồn tham chiếu: các công trình bình duyệt ACL 2024 · SIGIR 2009 · NeurIPS 2023 · ICLR 2025 · ECAI 2025 · ICLR 2026 — liệt kê ở từng slide.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1FA6A6"/>
                </a:solidFill>
                <a:latin typeface="Calibri" pitchFamily="34" charset="0"/>
                <a:ea typeface="Calibri" pitchFamily="34" charset="-122"/>
                <a:cs typeface="Calibri" pitchFamily="34" charset="-120"/>
              </a:rPr>
              <a:t>PHẢN HỒI TUẦN 1</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Benchmark nào thật sự đo việc cập nhật kiến thức?</a:t>
            </a:r>
            <a:endParaRPr lang="en-US" sz="3000" dirty="0"/>
          </a:p>
        </p:txBody>
      </p:sp>
      <p:sp>
        <p:nvSpPr>
          <p:cNvPr id="4" name="Text 2"/>
          <p:cNvSpPr txBox="1"/>
          <p:nvPr/>
        </p:nvSpPr>
        <p:spPr>
          <a:xfrm>
            <a:off x="749808" y="1673352"/>
            <a:ext cx="196596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BENCHMARK</a:t>
            </a:r>
            <a:endParaRPr lang="en-US" sz="1100" dirty="0"/>
          </a:p>
        </p:txBody>
      </p:sp>
      <p:sp>
        <p:nvSpPr>
          <p:cNvPr id="5" name="Text 3"/>
          <p:cNvSpPr txBox="1"/>
          <p:nvPr/>
        </p:nvSpPr>
        <p:spPr>
          <a:xfrm>
            <a:off x="2834640" y="1673352"/>
            <a:ext cx="123444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HỘI NGHỊ</a:t>
            </a:r>
            <a:endParaRPr lang="en-US" sz="1100" dirty="0"/>
          </a:p>
        </p:txBody>
      </p:sp>
      <p:sp>
        <p:nvSpPr>
          <p:cNvPr id="6" name="Text 4"/>
          <p:cNvSpPr txBox="1"/>
          <p:nvPr/>
        </p:nvSpPr>
        <p:spPr>
          <a:xfrm>
            <a:off x="4187952" y="1673352"/>
            <a:ext cx="169164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ĐO CẬP NHẬT?</a:t>
            </a:r>
            <a:endParaRPr lang="en-US" sz="1100" dirty="0"/>
          </a:p>
        </p:txBody>
      </p:sp>
      <p:sp>
        <p:nvSpPr>
          <p:cNvPr id="7" name="Text 5"/>
          <p:cNvSpPr txBox="1"/>
          <p:nvPr/>
        </p:nvSpPr>
        <p:spPr>
          <a:xfrm>
            <a:off x="5998464" y="1673352"/>
            <a:ext cx="5431536"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CÁCH ĐO</a:t>
            </a:r>
            <a:endParaRPr lang="en-US" sz="1100" dirty="0"/>
          </a:p>
        </p:txBody>
      </p:sp>
      <p:sp>
        <p:nvSpPr>
          <p:cNvPr id="8" name="Shape 6"/>
          <p:cNvSpPr/>
          <p:nvPr/>
        </p:nvSpPr>
        <p:spPr>
          <a:xfrm>
            <a:off x="566928" y="2002536"/>
            <a:ext cx="11045952" cy="676656"/>
          </a:xfrm>
          <a:prstGeom prst="roundRect">
            <a:avLst>
              <a:gd name="adj" fmla="val 8108"/>
            </a:avLst>
          </a:prstGeom>
          <a:solidFill>
            <a:srgbClr val="ECEBF7"/>
          </a:solidFill>
          <a:ln w="12700">
            <a:solidFill>
              <a:srgbClr val="FFFFFF"/>
            </a:solidFill>
            <a:prstDash val="solid"/>
          </a:ln>
        </p:spPr>
      </p:sp>
      <p:sp>
        <p:nvSpPr>
          <p:cNvPr id="9" name="Text 7"/>
          <p:cNvSpPr txBox="1"/>
          <p:nvPr/>
        </p:nvSpPr>
        <p:spPr>
          <a:xfrm>
            <a:off x="749808" y="2075688"/>
            <a:ext cx="1965960" cy="548640"/>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LoCoMo</a:t>
            </a:r>
            <a:endParaRPr lang="en-US" sz="1250" dirty="0"/>
          </a:p>
        </p:txBody>
      </p:sp>
      <p:sp>
        <p:nvSpPr>
          <p:cNvPr id="10" name="Text 8"/>
          <p:cNvSpPr txBox="1"/>
          <p:nvPr/>
        </p:nvSpPr>
        <p:spPr>
          <a:xfrm>
            <a:off x="2834640" y="2075688"/>
            <a:ext cx="12344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ACL 2024</a:t>
            </a:r>
            <a:endParaRPr lang="en-US" sz="1150" dirty="0"/>
          </a:p>
        </p:txBody>
      </p:sp>
      <p:sp>
        <p:nvSpPr>
          <p:cNvPr id="11" name="Text 9"/>
          <p:cNvSpPr txBox="1"/>
          <p:nvPr/>
        </p:nvSpPr>
        <p:spPr>
          <a:xfrm>
            <a:off x="4187952" y="2075688"/>
            <a:ext cx="16916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Không</a:t>
            </a:r>
            <a:endParaRPr lang="en-US" sz="1150" dirty="0"/>
          </a:p>
        </p:txBody>
      </p:sp>
      <p:sp>
        <p:nvSpPr>
          <p:cNvPr id="12" name="Text 10"/>
          <p:cNvSpPr txBox="1"/>
          <p:nvPr/>
        </p:nvSpPr>
        <p:spPr>
          <a:xfrm>
            <a:off x="5998464" y="2075688"/>
            <a:ext cx="5431536"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5 loại câu hỏi: single-hop, multi-hop, temporal, open-domain, adversarial. Không loại nào chấm việc ghi đè thông tin cũ.</a:t>
            </a:r>
            <a:endParaRPr lang="en-US" sz="1150" dirty="0"/>
          </a:p>
        </p:txBody>
      </p:sp>
      <p:sp>
        <p:nvSpPr>
          <p:cNvPr id="13" name="Shape 11"/>
          <p:cNvSpPr/>
          <p:nvPr/>
        </p:nvSpPr>
        <p:spPr>
          <a:xfrm>
            <a:off x="566928" y="2752344"/>
            <a:ext cx="11045952" cy="676656"/>
          </a:xfrm>
          <a:prstGeom prst="roundRect">
            <a:avLst>
              <a:gd name="adj" fmla="val 8108"/>
            </a:avLst>
          </a:prstGeom>
          <a:solidFill>
            <a:srgbClr val="F7F7FB"/>
          </a:solidFill>
          <a:ln w="12700">
            <a:solidFill>
              <a:srgbClr val="FFFFFF"/>
            </a:solidFill>
            <a:prstDash val="solid"/>
          </a:ln>
        </p:spPr>
      </p:sp>
      <p:sp>
        <p:nvSpPr>
          <p:cNvPr id="14" name="Text 12"/>
          <p:cNvSpPr txBox="1"/>
          <p:nvPr/>
        </p:nvSpPr>
        <p:spPr>
          <a:xfrm>
            <a:off x="749808" y="2825496"/>
            <a:ext cx="1965960" cy="548640"/>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LongMemEval</a:t>
            </a:r>
            <a:endParaRPr lang="en-US" sz="1250" dirty="0"/>
          </a:p>
        </p:txBody>
      </p:sp>
      <p:sp>
        <p:nvSpPr>
          <p:cNvPr id="15" name="Text 13"/>
          <p:cNvSpPr txBox="1"/>
          <p:nvPr/>
        </p:nvSpPr>
        <p:spPr>
          <a:xfrm>
            <a:off x="2834640" y="2825496"/>
            <a:ext cx="12344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ICLR 2025</a:t>
            </a:r>
            <a:endParaRPr lang="en-US" sz="1150" dirty="0"/>
          </a:p>
        </p:txBody>
      </p:sp>
      <p:sp>
        <p:nvSpPr>
          <p:cNvPr id="16" name="Text 14"/>
          <p:cNvSpPr txBox="1"/>
          <p:nvPr/>
        </p:nvSpPr>
        <p:spPr>
          <a:xfrm>
            <a:off x="4187952" y="2825496"/>
            <a:ext cx="16916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Có</a:t>
            </a:r>
            <a:endParaRPr lang="en-US" sz="1150" dirty="0"/>
          </a:p>
        </p:txBody>
      </p:sp>
      <p:sp>
        <p:nvSpPr>
          <p:cNvPr id="17" name="Text 15"/>
          <p:cNvSpPr txBox="1"/>
          <p:nvPr/>
        </p:nvSpPr>
        <p:spPr>
          <a:xfrm>
            <a:off x="5998464" y="2825496"/>
            <a:ext cx="5431536"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Nhóm knowledge-update là 1 trong 5 năng lực cốt lõi — đúng tình huống N5 → N4.</a:t>
            </a:r>
            <a:endParaRPr lang="en-US" sz="1150" dirty="0"/>
          </a:p>
        </p:txBody>
      </p:sp>
      <p:sp>
        <p:nvSpPr>
          <p:cNvPr id="18" name="Shape 16"/>
          <p:cNvSpPr/>
          <p:nvPr/>
        </p:nvSpPr>
        <p:spPr>
          <a:xfrm>
            <a:off x="566928" y="3502152"/>
            <a:ext cx="11045952" cy="676656"/>
          </a:xfrm>
          <a:prstGeom prst="roundRect">
            <a:avLst>
              <a:gd name="adj" fmla="val 8108"/>
            </a:avLst>
          </a:prstGeom>
          <a:solidFill>
            <a:srgbClr val="ECEBF7"/>
          </a:solidFill>
          <a:ln w="12700">
            <a:solidFill>
              <a:srgbClr val="FFFFFF"/>
            </a:solidFill>
            <a:prstDash val="solid"/>
          </a:ln>
        </p:spPr>
      </p:sp>
      <p:sp>
        <p:nvSpPr>
          <p:cNvPr id="19" name="Text 17"/>
          <p:cNvSpPr txBox="1"/>
          <p:nvPr/>
        </p:nvSpPr>
        <p:spPr>
          <a:xfrm>
            <a:off x="749808" y="3575304"/>
            <a:ext cx="1965960" cy="548640"/>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MemoryAgentBench</a:t>
            </a:r>
            <a:endParaRPr lang="en-US" sz="1250" dirty="0"/>
          </a:p>
        </p:txBody>
      </p:sp>
      <p:sp>
        <p:nvSpPr>
          <p:cNvPr id="20" name="Text 18"/>
          <p:cNvSpPr txBox="1"/>
          <p:nvPr/>
        </p:nvSpPr>
        <p:spPr>
          <a:xfrm>
            <a:off x="2834640" y="3575304"/>
            <a:ext cx="12344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ICLR 2026</a:t>
            </a:r>
            <a:endParaRPr lang="en-US" sz="1150" dirty="0"/>
          </a:p>
        </p:txBody>
      </p:sp>
      <p:sp>
        <p:nvSpPr>
          <p:cNvPr id="21" name="Text 19"/>
          <p:cNvSpPr txBox="1"/>
          <p:nvPr/>
        </p:nvSpPr>
        <p:spPr>
          <a:xfrm>
            <a:off x="4187952" y="3575304"/>
            <a:ext cx="16916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Có — chuyên biệt</a:t>
            </a:r>
            <a:endParaRPr lang="en-US" sz="1150" dirty="0"/>
          </a:p>
        </p:txBody>
      </p:sp>
      <p:sp>
        <p:nvSpPr>
          <p:cNvPr id="22" name="Text 20"/>
          <p:cNvSpPr txBox="1"/>
          <p:nvPr/>
        </p:nvSpPr>
        <p:spPr>
          <a:xfrm>
            <a:off x="5998464" y="3575304"/>
            <a:ext cx="5431536"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Năng lực Conflict Resolution, bộ FactConsolidation: một fact có nhiều phiên bản đánh số, hệ phải trả về bản mới nhất.</a:t>
            </a:r>
            <a:endParaRPr lang="en-US" sz="1150" dirty="0"/>
          </a:p>
        </p:txBody>
      </p:sp>
      <p:sp>
        <p:nvSpPr>
          <p:cNvPr id="23" name="Shape 21"/>
          <p:cNvSpPr/>
          <p:nvPr/>
        </p:nvSpPr>
        <p:spPr>
          <a:xfrm>
            <a:off x="566928" y="4251960"/>
            <a:ext cx="11045952" cy="676656"/>
          </a:xfrm>
          <a:prstGeom prst="roundRect">
            <a:avLst>
              <a:gd name="adj" fmla="val 8108"/>
            </a:avLst>
          </a:prstGeom>
          <a:solidFill>
            <a:srgbClr val="F7F7FB"/>
          </a:solidFill>
          <a:ln w="12700">
            <a:solidFill>
              <a:srgbClr val="FFFFFF"/>
            </a:solidFill>
            <a:prstDash val="solid"/>
          </a:ln>
        </p:spPr>
      </p:sp>
      <p:sp>
        <p:nvSpPr>
          <p:cNvPr id="24" name="Text 22"/>
          <p:cNvSpPr txBox="1"/>
          <p:nvPr/>
        </p:nvSpPr>
        <p:spPr>
          <a:xfrm>
            <a:off x="749808" y="4325112"/>
            <a:ext cx="1965960" cy="548640"/>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BEAM</a:t>
            </a:r>
            <a:endParaRPr lang="en-US" sz="1250" dirty="0"/>
          </a:p>
        </p:txBody>
      </p:sp>
      <p:sp>
        <p:nvSpPr>
          <p:cNvPr id="25" name="Text 23"/>
          <p:cNvSpPr txBox="1"/>
          <p:nvPr/>
        </p:nvSpPr>
        <p:spPr>
          <a:xfrm>
            <a:off x="2834640" y="4325112"/>
            <a:ext cx="12344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ICLR 2026</a:t>
            </a:r>
            <a:endParaRPr lang="en-US" sz="1150" dirty="0"/>
          </a:p>
        </p:txBody>
      </p:sp>
      <p:sp>
        <p:nvSpPr>
          <p:cNvPr id="26" name="Text 24"/>
          <p:cNvSpPr txBox="1"/>
          <p:nvPr/>
        </p:nvSpPr>
        <p:spPr>
          <a:xfrm>
            <a:off x="4187952" y="4325112"/>
            <a:ext cx="1691640"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Có — 2 trục riêng</a:t>
            </a:r>
            <a:endParaRPr lang="en-US" sz="1150" dirty="0"/>
          </a:p>
        </p:txBody>
      </p:sp>
      <p:sp>
        <p:nvSpPr>
          <p:cNvPr id="27" name="Text 25"/>
          <p:cNvSpPr txBox="1"/>
          <p:nvPr/>
        </p:nvSpPr>
        <p:spPr>
          <a:xfrm>
            <a:off x="5998464" y="4325112"/>
            <a:ext cx="5431536" cy="548640"/>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Knowledge Update và Contradiction Resolution tách riêng trong 10 năng lực. 100 hội thoại tới 10M token.</a:t>
            </a:r>
            <a:endParaRPr lang="en-US" sz="1150" dirty="0"/>
          </a:p>
        </p:txBody>
      </p:sp>
      <p:sp>
        <p:nvSpPr>
          <p:cNvPr id="28" name="Shape 26"/>
          <p:cNvSpPr/>
          <p:nvPr/>
        </p:nvSpPr>
        <p:spPr>
          <a:xfrm>
            <a:off x="566928" y="5074920"/>
            <a:ext cx="11045952" cy="1225296"/>
          </a:xfrm>
          <a:prstGeom prst="roundRect">
            <a:avLst>
              <a:gd name="adj" fmla="val 3731"/>
            </a:avLst>
          </a:prstGeom>
          <a:solidFill>
            <a:srgbClr val="13123A"/>
          </a:solidFill>
          <a:ln w="12700">
            <a:solidFill>
              <a:srgbClr val="13123A"/>
            </a:solidFill>
            <a:prstDash val="solid"/>
          </a:ln>
        </p:spPr>
      </p:sp>
      <p:sp>
        <p:nvSpPr>
          <p:cNvPr id="29" name="Text 27"/>
          <p:cNvSpPr txBox="1"/>
          <p:nvPr/>
        </p:nvSpPr>
        <p:spPr>
          <a:xfrm>
            <a:off x="822960" y="5257800"/>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KẾT LUẬN SAU KHI TRA LẠI</a:t>
            </a:r>
            <a:endParaRPr lang="en-US" sz="1100" dirty="0"/>
          </a:p>
        </p:txBody>
      </p:sp>
      <p:sp>
        <p:nvSpPr>
          <p:cNvPr id="30" name="Text 28"/>
          <p:cNvSpPr txBox="1"/>
          <p:nvPr/>
        </p:nvSpPr>
        <p:spPr>
          <a:xfrm>
            <a:off x="822960" y="5532120"/>
            <a:ext cx="10533888" cy="621792"/>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Thầy/cô đúng với LoCoMo. Nhưng LongMemEval CÓ nhóm câu hỏi cập nhật, và nhóm đã bổ sung hai benchmark ICLR 2026 mới hơn. Cả ba benchmark này đều là tiếng Anh — đây chính là lý do nhóm quyết định làm hệ song ngữ: chạy thẳng được benchmark chuẩn, số liệu so sánh trực tiếp với các paper thay vì phải tự dịch.</a:t>
            </a:r>
            <a:endParaRPr lang="en-US" sz="1250" dirty="0"/>
          </a:p>
        </p:txBody>
      </p:sp>
      <p:sp>
        <p:nvSpPr>
          <p:cNvPr id="31" name="Text 29"/>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Maharana et al., ACL 2024 (arXiv:2402.17753) · Wu et al., ICLR 2025 (arXiv:2410.10813) · Hu et al., ICLR 2026 (arXiv:2507.05257) · Tavakoli et al., ICLR 2026 (arXiv:2510.27246).</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E9970B"/>
                </a:solidFill>
                <a:latin typeface="Calibri" pitchFamily="34" charset="0"/>
                <a:ea typeface="Calibri" pitchFamily="34" charset="-122"/>
                <a:cs typeface="Calibri" pitchFamily="34" charset="-120"/>
              </a:rPr>
              <a:t>PHẠM VI ĐỀ TÀI</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Chín năng lực bộ nhớ và thành phần đảm nhiệm</a:t>
            </a:r>
            <a:endParaRPr lang="en-US" sz="3000" dirty="0"/>
          </a:p>
        </p:txBody>
      </p:sp>
      <p:sp>
        <p:nvSpPr>
          <p:cNvPr id="4" name="Text 2"/>
          <p:cNvSpPr txBox="1"/>
          <p:nvPr/>
        </p:nvSpPr>
        <p:spPr>
          <a:xfrm>
            <a:off x="749808" y="1536192"/>
            <a:ext cx="210312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NĂNG LỰC</a:t>
            </a:r>
            <a:endParaRPr lang="en-US" sz="1100" dirty="0"/>
          </a:p>
        </p:txBody>
      </p:sp>
      <p:sp>
        <p:nvSpPr>
          <p:cNvPr id="5" name="Text 3"/>
          <p:cNvSpPr txBox="1"/>
          <p:nvPr/>
        </p:nvSpPr>
        <p:spPr>
          <a:xfrm>
            <a:off x="2971800" y="1536192"/>
            <a:ext cx="224028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BENCHMARK CHẤM NÓ</a:t>
            </a:r>
            <a:endParaRPr lang="en-US" sz="1100" dirty="0"/>
          </a:p>
        </p:txBody>
      </p:sp>
      <p:sp>
        <p:nvSpPr>
          <p:cNvPr id="6" name="Text 4"/>
          <p:cNvSpPr txBox="1"/>
          <p:nvPr/>
        </p:nvSpPr>
        <p:spPr>
          <a:xfrm>
            <a:off x="5349240" y="1536192"/>
            <a:ext cx="480060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THÀNH PHẦN TRONG HỆ THỐNG</a:t>
            </a:r>
            <a:endParaRPr lang="en-US" sz="1100" dirty="0"/>
          </a:p>
        </p:txBody>
      </p:sp>
      <p:sp>
        <p:nvSpPr>
          <p:cNvPr id="7" name="Text 5"/>
          <p:cNvSpPr txBox="1"/>
          <p:nvPr/>
        </p:nvSpPr>
        <p:spPr>
          <a:xfrm>
            <a:off x="10314432" y="1536192"/>
            <a:ext cx="1115568"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TUẦN</a:t>
            </a:r>
            <a:endParaRPr lang="en-US" sz="1100" dirty="0"/>
          </a:p>
        </p:txBody>
      </p:sp>
      <p:sp>
        <p:nvSpPr>
          <p:cNvPr id="8" name="Shape 6"/>
          <p:cNvSpPr/>
          <p:nvPr/>
        </p:nvSpPr>
        <p:spPr>
          <a:xfrm>
            <a:off x="566928" y="1810512"/>
            <a:ext cx="11045952" cy="438912"/>
          </a:xfrm>
          <a:prstGeom prst="roundRect">
            <a:avLst>
              <a:gd name="adj" fmla="val 12500"/>
            </a:avLst>
          </a:prstGeom>
          <a:solidFill>
            <a:srgbClr val="ECEBF7"/>
          </a:solidFill>
          <a:ln w="12700">
            <a:solidFill>
              <a:srgbClr val="FFFFFF"/>
            </a:solidFill>
            <a:prstDash val="solid"/>
          </a:ln>
        </p:spPr>
      </p:sp>
      <p:sp>
        <p:nvSpPr>
          <p:cNvPr id="9" name="Text 7"/>
          <p:cNvSpPr txBox="1"/>
          <p:nvPr/>
        </p:nvSpPr>
        <p:spPr>
          <a:xfrm>
            <a:off x="749808" y="1883664"/>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Trích xuất &amp; nhớ chính xác</a:t>
            </a:r>
            <a:endParaRPr lang="en-US" sz="1250" dirty="0"/>
          </a:p>
        </p:txBody>
      </p:sp>
      <p:sp>
        <p:nvSpPr>
          <p:cNvPr id="10" name="Text 8"/>
          <p:cNvSpPr txBox="1"/>
          <p:nvPr/>
        </p:nvSpPr>
        <p:spPr>
          <a:xfrm>
            <a:off x="2971800" y="1883664"/>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LongMemEval IE · BEAM</a:t>
            </a:r>
            <a:endParaRPr lang="en-US" sz="1150" dirty="0"/>
          </a:p>
        </p:txBody>
      </p:sp>
      <p:sp>
        <p:nvSpPr>
          <p:cNvPr id="11" name="Text 9"/>
          <p:cNvSpPr txBox="1"/>
          <p:nvPr/>
        </p:nvSpPr>
        <p:spPr>
          <a:xfrm>
            <a:off x="5349240" y="1883664"/>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FactExtractor + truy xuất lai (dense + BM25)</a:t>
            </a:r>
            <a:endParaRPr lang="en-US" sz="1150" dirty="0"/>
          </a:p>
        </p:txBody>
      </p:sp>
      <p:sp>
        <p:nvSpPr>
          <p:cNvPr id="12" name="Text 10"/>
          <p:cNvSpPr txBox="1"/>
          <p:nvPr/>
        </p:nvSpPr>
        <p:spPr>
          <a:xfrm>
            <a:off x="10314432" y="1883664"/>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3</a:t>
            </a:r>
            <a:endParaRPr lang="en-US" sz="1150" dirty="0"/>
          </a:p>
        </p:txBody>
      </p:sp>
      <p:sp>
        <p:nvSpPr>
          <p:cNvPr id="13" name="Shape 11"/>
          <p:cNvSpPr/>
          <p:nvPr/>
        </p:nvSpPr>
        <p:spPr>
          <a:xfrm>
            <a:off x="566928" y="2304288"/>
            <a:ext cx="11045952" cy="438912"/>
          </a:xfrm>
          <a:prstGeom prst="roundRect">
            <a:avLst>
              <a:gd name="adj" fmla="val 12500"/>
            </a:avLst>
          </a:prstGeom>
          <a:solidFill>
            <a:srgbClr val="F7F7FB"/>
          </a:solidFill>
          <a:ln w="12700">
            <a:solidFill>
              <a:srgbClr val="FFFFFF"/>
            </a:solidFill>
            <a:prstDash val="solid"/>
          </a:ln>
        </p:spPr>
      </p:sp>
      <p:sp>
        <p:nvSpPr>
          <p:cNvPr id="14" name="Text 12"/>
          <p:cNvSpPr txBox="1"/>
          <p:nvPr/>
        </p:nvSpPr>
        <p:spPr>
          <a:xfrm>
            <a:off x="749808" y="2377440"/>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Suy luận đa phiên</a:t>
            </a:r>
            <a:endParaRPr lang="en-US" sz="1250" dirty="0"/>
          </a:p>
        </p:txBody>
      </p:sp>
      <p:sp>
        <p:nvSpPr>
          <p:cNvPr id="15" name="Text 13"/>
          <p:cNvSpPr txBox="1"/>
          <p:nvPr/>
        </p:nvSpPr>
        <p:spPr>
          <a:xfrm>
            <a:off x="2971800" y="2377440"/>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LongMemEval MR · BEAM</a:t>
            </a:r>
            <a:endParaRPr lang="en-US" sz="1150" dirty="0"/>
          </a:p>
        </p:txBody>
      </p:sp>
      <p:sp>
        <p:nvSpPr>
          <p:cNvPr id="16" name="Text 14"/>
          <p:cNvSpPr txBox="1"/>
          <p:nvPr/>
        </p:nvSpPr>
        <p:spPr>
          <a:xfrm>
            <a:off x="5349240" y="2377440"/>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QueryPlanner tách câu hỏi thành truy vấn con</a:t>
            </a:r>
            <a:endParaRPr lang="en-US" sz="1150" dirty="0"/>
          </a:p>
        </p:txBody>
      </p:sp>
      <p:sp>
        <p:nvSpPr>
          <p:cNvPr id="17" name="Text 15"/>
          <p:cNvSpPr txBox="1"/>
          <p:nvPr/>
        </p:nvSpPr>
        <p:spPr>
          <a:xfrm>
            <a:off x="10314432" y="2377440"/>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18" name="Shape 16"/>
          <p:cNvSpPr/>
          <p:nvPr/>
        </p:nvSpPr>
        <p:spPr>
          <a:xfrm>
            <a:off x="566928" y="2798064"/>
            <a:ext cx="11045952" cy="438912"/>
          </a:xfrm>
          <a:prstGeom prst="roundRect">
            <a:avLst>
              <a:gd name="adj" fmla="val 12500"/>
            </a:avLst>
          </a:prstGeom>
          <a:solidFill>
            <a:srgbClr val="ECEBF7"/>
          </a:solidFill>
          <a:ln w="12700">
            <a:solidFill>
              <a:srgbClr val="FFFFFF"/>
            </a:solidFill>
            <a:prstDash val="solid"/>
          </a:ln>
        </p:spPr>
      </p:sp>
      <p:sp>
        <p:nvSpPr>
          <p:cNvPr id="19" name="Text 17"/>
          <p:cNvSpPr txBox="1"/>
          <p:nvPr/>
        </p:nvSpPr>
        <p:spPr>
          <a:xfrm>
            <a:off x="749808" y="2871216"/>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Suy luận thời gian</a:t>
            </a:r>
            <a:endParaRPr lang="en-US" sz="1250" dirty="0"/>
          </a:p>
        </p:txBody>
      </p:sp>
      <p:sp>
        <p:nvSpPr>
          <p:cNvPr id="20" name="Text 18"/>
          <p:cNvSpPr txBox="1"/>
          <p:nvPr/>
        </p:nvSpPr>
        <p:spPr>
          <a:xfrm>
            <a:off x="2971800" y="2871216"/>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LongMemEval TR · BEAM</a:t>
            </a:r>
            <a:endParaRPr lang="en-US" sz="1150" dirty="0"/>
          </a:p>
        </p:txBody>
      </p:sp>
      <p:sp>
        <p:nvSpPr>
          <p:cNvPr id="21" name="Text 19"/>
          <p:cNvSpPr txBox="1"/>
          <p:nvPr/>
        </p:nvSpPr>
        <p:spPr>
          <a:xfrm>
            <a:off x="5349240" y="2871216"/>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Khoảng hiệu lực valid_from / invalidated_at</a:t>
            </a:r>
            <a:endParaRPr lang="en-US" sz="1150" dirty="0"/>
          </a:p>
        </p:txBody>
      </p:sp>
      <p:sp>
        <p:nvSpPr>
          <p:cNvPr id="22" name="Text 20"/>
          <p:cNvSpPr txBox="1"/>
          <p:nvPr/>
        </p:nvSpPr>
        <p:spPr>
          <a:xfrm>
            <a:off x="10314432" y="2871216"/>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23" name="Shape 21"/>
          <p:cNvSpPr/>
          <p:nvPr/>
        </p:nvSpPr>
        <p:spPr>
          <a:xfrm>
            <a:off x="566928" y="3291840"/>
            <a:ext cx="11045952" cy="438912"/>
          </a:xfrm>
          <a:prstGeom prst="roundRect">
            <a:avLst>
              <a:gd name="adj" fmla="val 12500"/>
            </a:avLst>
          </a:prstGeom>
          <a:solidFill>
            <a:srgbClr val="F7F7FB"/>
          </a:solidFill>
          <a:ln w="12700">
            <a:solidFill>
              <a:srgbClr val="FFFFFF"/>
            </a:solidFill>
            <a:prstDash val="solid"/>
          </a:ln>
        </p:spPr>
      </p:sp>
      <p:sp>
        <p:nvSpPr>
          <p:cNvPr id="24" name="Text 22"/>
          <p:cNvSpPr txBox="1"/>
          <p:nvPr/>
        </p:nvSpPr>
        <p:spPr>
          <a:xfrm>
            <a:off x="749808" y="3364992"/>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Cập nhật kiến thức</a:t>
            </a:r>
            <a:endParaRPr lang="en-US" sz="1250" dirty="0"/>
          </a:p>
        </p:txBody>
      </p:sp>
      <p:sp>
        <p:nvSpPr>
          <p:cNvPr id="25" name="Text 23"/>
          <p:cNvSpPr txBox="1"/>
          <p:nvPr/>
        </p:nvSpPr>
        <p:spPr>
          <a:xfrm>
            <a:off x="2971800" y="3364992"/>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LongMemEval KU · FactConsolidation</a:t>
            </a:r>
            <a:endParaRPr lang="en-US" sz="1150" dirty="0"/>
          </a:p>
        </p:txBody>
      </p:sp>
      <p:sp>
        <p:nvSpPr>
          <p:cNvPr id="26" name="Text 24"/>
          <p:cNvSpPr txBox="1"/>
          <p:nvPr/>
        </p:nvSpPr>
        <p:spPr>
          <a:xfrm>
            <a:off x="5349240" y="3364992"/>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Slot + seq; ADD / UPDATE / DELETE / NOOP</a:t>
            </a:r>
            <a:endParaRPr lang="en-US" sz="1150" dirty="0"/>
          </a:p>
        </p:txBody>
      </p:sp>
      <p:sp>
        <p:nvSpPr>
          <p:cNvPr id="27" name="Text 25"/>
          <p:cNvSpPr txBox="1"/>
          <p:nvPr/>
        </p:nvSpPr>
        <p:spPr>
          <a:xfrm>
            <a:off x="10314432" y="3364992"/>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4</a:t>
            </a:r>
            <a:endParaRPr lang="en-US" sz="1150" dirty="0"/>
          </a:p>
        </p:txBody>
      </p:sp>
      <p:sp>
        <p:nvSpPr>
          <p:cNvPr id="28" name="Shape 26"/>
          <p:cNvSpPr/>
          <p:nvPr/>
        </p:nvSpPr>
        <p:spPr>
          <a:xfrm>
            <a:off x="566928" y="3785616"/>
            <a:ext cx="11045952" cy="438912"/>
          </a:xfrm>
          <a:prstGeom prst="roundRect">
            <a:avLst>
              <a:gd name="adj" fmla="val 12500"/>
            </a:avLst>
          </a:prstGeom>
          <a:solidFill>
            <a:srgbClr val="ECEBF7"/>
          </a:solidFill>
          <a:ln w="12700">
            <a:solidFill>
              <a:srgbClr val="FFFFFF"/>
            </a:solidFill>
            <a:prstDash val="solid"/>
          </a:ln>
        </p:spPr>
      </p:sp>
      <p:sp>
        <p:nvSpPr>
          <p:cNvPr id="29" name="Text 27"/>
          <p:cNvSpPr txBox="1"/>
          <p:nvPr/>
        </p:nvSpPr>
        <p:spPr>
          <a:xfrm>
            <a:off x="749808" y="3858768"/>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Giải quyết mâu thuẫn</a:t>
            </a:r>
            <a:endParaRPr lang="en-US" sz="1250" dirty="0"/>
          </a:p>
        </p:txBody>
      </p:sp>
      <p:sp>
        <p:nvSpPr>
          <p:cNvPr id="30" name="Text 28"/>
          <p:cNvSpPr txBox="1"/>
          <p:nvPr/>
        </p:nvSpPr>
        <p:spPr>
          <a:xfrm>
            <a:off x="2971800" y="3858768"/>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BEAM contradiction</a:t>
            </a:r>
            <a:endParaRPr lang="en-US" sz="1150" dirty="0"/>
          </a:p>
        </p:txBody>
      </p:sp>
      <p:sp>
        <p:nvSpPr>
          <p:cNvPr id="31" name="Text 29"/>
          <p:cNvSpPr txBox="1"/>
          <p:nvPr/>
        </p:nvSpPr>
        <p:spPr>
          <a:xfrm>
            <a:off x="5349240" y="3858768"/>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Thao tác CONFLICT + hàng chờ rà soát</a:t>
            </a:r>
            <a:endParaRPr lang="en-US" sz="1150" dirty="0"/>
          </a:p>
        </p:txBody>
      </p:sp>
      <p:sp>
        <p:nvSpPr>
          <p:cNvPr id="32" name="Text 30"/>
          <p:cNvSpPr txBox="1"/>
          <p:nvPr/>
        </p:nvSpPr>
        <p:spPr>
          <a:xfrm>
            <a:off x="10314432" y="3858768"/>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4</a:t>
            </a:r>
            <a:endParaRPr lang="en-US" sz="1150" dirty="0"/>
          </a:p>
        </p:txBody>
      </p:sp>
      <p:sp>
        <p:nvSpPr>
          <p:cNvPr id="33" name="Shape 31"/>
          <p:cNvSpPr/>
          <p:nvPr/>
        </p:nvSpPr>
        <p:spPr>
          <a:xfrm>
            <a:off x="566928" y="4279392"/>
            <a:ext cx="11045952" cy="438912"/>
          </a:xfrm>
          <a:prstGeom prst="roundRect">
            <a:avLst>
              <a:gd name="adj" fmla="val 12500"/>
            </a:avLst>
          </a:prstGeom>
          <a:solidFill>
            <a:srgbClr val="F7F7FB"/>
          </a:solidFill>
          <a:ln w="12700">
            <a:solidFill>
              <a:srgbClr val="FFFFFF"/>
            </a:solidFill>
            <a:prstDash val="solid"/>
          </a:ln>
        </p:spPr>
      </p:sp>
      <p:sp>
        <p:nvSpPr>
          <p:cNvPr id="34" name="Text 32"/>
          <p:cNvSpPr txBox="1"/>
          <p:nvPr/>
        </p:nvSpPr>
        <p:spPr>
          <a:xfrm>
            <a:off x="749808" y="4352544"/>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Biết từ chối</a:t>
            </a:r>
            <a:endParaRPr lang="en-US" sz="1250" dirty="0"/>
          </a:p>
        </p:txBody>
      </p:sp>
      <p:sp>
        <p:nvSpPr>
          <p:cNvPr id="35" name="Text 33"/>
          <p:cNvSpPr txBox="1"/>
          <p:nvPr/>
        </p:nvSpPr>
        <p:spPr>
          <a:xfrm>
            <a:off x="2971800" y="4352544"/>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LongMemEval ABS · BEAM</a:t>
            </a:r>
            <a:endParaRPr lang="en-US" sz="1150" dirty="0"/>
          </a:p>
        </p:txBody>
      </p:sp>
      <p:sp>
        <p:nvSpPr>
          <p:cNvPr id="36" name="Text 34"/>
          <p:cNvSpPr txBox="1"/>
          <p:nvPr/>
        </p:nvSpPr>
        <p:spPr>
          <a:xfrm>
            <a:off x="5349240" y="4352544"/>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Ngưỡng đặt trên điểm reranker, hiệu chỉnh thực nghiệm</a:t>
            </a:r>
            <a:endParaRPr lang="en-US" sz="1150" dirty="0"/>
          </a:p>
        </p:txBody>
      </p:sp>
      <p:sp>
        <p:nvSpPr>
          <p:cNvPr id="37" name="Text 35"/>
          <p:cNvSpPr txBox="1"/>
          <p:nvPr/>
        </p:nvSpPr>
        <p:spPr>
          <a:xfrm>
            <a:off x="10314432" y="4352544"/>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6</a:t>
            </a:r>
            <a:endParaRPr lang="en-US" sz="1150" dirty="0"/>
          </a:p>
        </p:txBody>
      </p:sp>
      <p:sp>
        <p:nvSpPr>
          <p:cNvPr id="38" name="Shape 36"/>
          <p:cNvSpPr/>
          <p:nvPr/>
        </p:nvSpPr>
        <p:spPr>
          <a:xfrm>
            <a:off x="566928" y="4773168"/>
            <a:ext cx="11045952" cy="438912"/>
          </a:xfrm>
          <a:prstGeom prst="roundRect">
            <a:avLst>
              <a:gd name="adj" fmla="val 12500"/>
            </a:avLst>
          </a:prstGeom>
          <a:solidFill>
            <a:srgbClr val="ECEBF7"/>
          </a:solidFill>
          <a:ln w="12700">
            <a:solidFill>
              <a:srgbClr val="FFFFFF"/>
            </a:solidFill>
            <a:prstDash val="solid"/>
          </a:ln>
        </p:spPr>
      </p:sp>
      <p:sp>
        <p:nvSpPr>
          <p:cNvPr id="39" name="Text 37"/>
          <p:cNvSpPr txBox="1"/>
          <p:nvPr/>
        </p:nvSpPr>
        <p:spPr>
          <a:xfrm>
            <a:off x="749808" y="4846320"/>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Tuân theo sở thích</a:t>
            </a:r>
            <a:endParaRPr lang="en-US" sz="1250" dirty="0"/>
          </a:p>
        </p:txBody>
      </p:sp>
      <p:sp>
        <p:nvSpPr>
          <p:cNvPr id="40" name="Text 38"/>
          <p:cNvSpPr txBox="1"/>
          <p:nvPr/>
        </p:nvSpPr>
        <p:spPr>
          <a:xfrm>
            <a:off x="2971800" y="4846320"/>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BEAM preference</a:t>
            </a:r>
            <a:endParaRPr lang="en-US" sz="1150" dirty="0"/>
          </a:p>
        </p:txBody>
      </p:sp>
      <p:sp>
        <p:nvSpPr>
          <p:cNvPr id="41" name="Text 39"/>
          <p:cNvSpPr txBox="1"/>
          <p:nvPr/>
        </p:nvSpPr>
        <p:spPr>
          <a:xfrm>
            <a:off x="5349240" y="4846320"/>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Ký ức pinned, có hạn ngạch riêng trong ngữ cảnh</a:t>
            </a:r>
            <a:endParaRPr lang="en-US" sz="1150" dirty="0"/>
          </a:p>
        </p:txBody>
      </p:sp>
      <p:sp>
        <p:nvSpPr>
          <p:cNvPr id="42" name="Text 40"/>
          <p:cNvSpPr txBox="1"/>
          <p:nvPr/>
        </p:nvSpPr>
        <p:spPr>
          <a:xfrm>
            <a:off x="10314432" y="4846320"/>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43" name="Shape 41"/>
          <p:cNvSpPr/>
          <p:nvPr/>
        </p:nvSpPr>
        <p:spPr>
          <a:xfrm>
            <a:off x="566928" y="5266944"/>
            <a:ext cx="11045952" cy="438912"/>
          </a:xfrm>
          <a:prstGeom prst="roundRect">
            <a:avLst>
              <a:gd name="adj" fmla="val 12500"/>
            </a:avLst>
          </a:prstGeom>
          <a:solidFill>
            <a:srgbClr val="F7F7FB"/>
          </a:solidFill>
          <a:ln w="12700">
            <a:solidFill>
              <a:srgbClr val="FFFFFF"/>
            </a:solidFill>
            <a:prstDash val="solid"/>
          </a:ln>
        </p:spPr>
      </p:sp>
      <p:sp>
        <p:nvSpPr>
          <p:cNvPr id="44" name="Text 42"/>
          <p:cNvSpPr txBox="1"/>
          <p:nvPr/>
        </p:nvSpPr>
        <p:spPr>
          <a:xfrm>
            <a:off x="749808" y="5340096"/>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Hiểu dài hạn / tóm tắt</a:t>
            </a:r>
            <a:endParaRPr lang="en-US" sz="1250" dirty="0"/>
          </a:p>
        </p:txBody>
      </p:sp>
      <p:sp>
        <p:nvSpPr>
          <p:cNvPr id="45" name="Text 43"/>
          <p:cNvSpPr txBox="1"/>
          <p:nvPr/>
        </p:nvSpPr>
        <p:spPr>
          <a:xfrm>
            <a:off x="2971800" y="5340096"/>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BEAM summarization</a:t>
            </a:r>
            <a:endParaRPr lang="en-US" sz="1150" dirty="0"/>
          </a:p>
        </p:txBody>
      </p:sp>
      <p:sp>
        <p:nvSpPr>
          <p:cNvPr id="46" name="Text 44"/>
          <p:cNvSpPr txBox="1"/>
          <p:nvPr/>
        </p:nvSpPr>
        <p:spPr>
          <a:xfrm>
            <a:off x="5349240" y="5340096"/>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SessionSummarizer cô đọng phiên thành ký ức episodic</a:t>
            </a:r>
            <a:endParaRPr lang="en-US" sz="1150" dirty="0"/>
          </a:p>
        </p:txBody>
      </p:sp>
      <p:sp>
        <p:nvSpPr>
          <p:cNvPr id="47" name="Text 45"/>
          <p:cNvSpPr txBox="1"/>
          <p:nvPr/>
        </p:nvSpPr>
        <p:spPr>
          <a:xfrm>
            <a:off x="10314432" y="5340096"/>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6</a:t>
            </a:r>
            <a:endParaRPr lang="en-US" sz="1150" dirty="0"/>
          </a:p>
        </p:txBody>
      </p:sp>
      <p:sp>
        <p:nvSpPr>
          <p:cNvPr id="48" name="Shape 46"/>
          <p:cNvSpPr/>
          <p:nvPr/>
        </p:nvSpPr>
        <p:spPr>
          <a:xfrm>
            <a:off x="566928" y="5760720"/>
            <a:ext cx="11045952" cy="438912"/>
          </a:xfrm>
          <a:prstGeom prst="roundRect">
            <a:avLst>
              <a:gd name="adj" fmla="val 12500"/>
            </a:avLst>
          </a:prstGeom>
          <a:solidFill>
            <a:srgbClr val="ECEBF7"/>
          </a:solidFill>
          <a:ln w="12700">
            <a:solidFill>
              <a:srgbClr val="FFFFFF"/>
            </a:solidFill>
            <a:prstDash val="solid"/>
          </a:ln>
        </p:spPr>
      </p:sp>
      <p:sp>
        <p:nvSpPr>
          <p:cNvPr id="49" name="Text 47"/>
          <p:cNvSpPr txBox="1"/>
          <p:nvPr/>
        </p:nvSpPr>
        <p:spPr>
          <a:xfrm>
            <a:off x="749808" y="5833872"/>
            <a:ext cx="2103120" cy="310896"/>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Nhất quán xuyên ngữ</a:t>
            </a:r>
            <a:endParaRPr lang="en-US" sz="1250" dirty="0"/>
          </a:p>
        </p:txBody>
      </p:sp>
      <p:sp>
        <p:nvSpPr>
          <p:cNvPr id="50" name="Text 48"/>
          <p:cNvSpPr txBox="1"/>
          <p:nvPr/>
        </p:nvSpPr>
        <p:spPr>
          <a:xfrm>
            <a:off x="2971800" y="5833872"/>
            <a:ext cx="224028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chưa có — nhóm tự xây</a:t>
            </a:r>
            <a:endParaRPr lang="en-US" sz="1150" dirty="0"/>
          </a:p>
        </p:txBody>
      </p:sp>
      <p:sp>
        <p:nvSpPr>
          <p:cNvPr id="51" name="Text 49"/>
          <p:cNvSpPr txBox="1"/>
          <p:nvPr/>
        </p:nvSpPr>
        <p:spPr>
          <a:xfrm>
            <a:off x="5349240" y="5833872"/>
            <a:ext cx="4800600"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Lớp chuẩn hóa ngôn ngữ + chỉ mục vector kép</a:t>
            </a:r>
            <a:endParaRPr lang="en-US" sz="1150" dirty="0"/>
          </a:p>
        </p:txBody>
      </p:sp>
      <p:sp>
        <p:nvSpPr>
          <p:cNvPr id="52" name="Text 50"/>
          <p:cNvSpPr txBox="1"/>
          <p:nvPr/>
        </p:nvSpPr>
        <p:spPr>
          <a:xfrm>
            <a:off x="10314432" y="5833872"/>
            <a:ext cx="1115568" cy="31089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Tuần 5</a:t>
            </a:r>
            <a:endParaRPr lang="en-US" sz="1150" dirty="0"/>
          </a:p>
        </p:txBody>
      </p:sp>
      <p:sp>
        <p:nvSpPr>
          <p:cNvPr id="53" name="Text 51"/>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Khung năng lực tổng hợp từ: Wu et al., LongMemEval, ICLR 2025 · Tavakoli et al., BEAM, ICLR 2026 · Hu et al., MemoryAgentBench, ICLR 2026.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THIẾT KẾ · 1/5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Kiến trúc phân lớp</a:t>
            </a:r>
            <a:endParaRPr lang="en-US" sz="3000" dirty="0"/>
          </a:p>
        </p:txBody>
      </p:sp>
      <p:sp>
        <p:nvSpPr>
          <p:cNvPr id="4" name="Text 2"/>
          <p:cNvSpPr txBox="1"/>
          <p:nvPr/>
        </p:nvSpPr>
        <p:spPr>
          <a:xfrm>
            <a:off x="566928" y="1773936"/>
            <a:ext cx="1078992" cy="292608"/>
          </a:xfrm>
          <a:prstGeom prst="rect">
            <a:avLst/>
          </a:prstGeom>
          <a:noFill/>
          <a:ln/>
        </p:spPr>
        <p:txBody>
          <a:bodyPr wrap="square" lIns="0" tIns="0" rIns="0" bIns="0" rtlCol="0" anchor="ctr"/>
          <a:lstStyle/>
          <a:p>
            <a:pPr indent="0" marL="0">
              <a:buNone/>
            </a:pPr>
            <a:r>
              <a:rPr lang="en-US" sz="1050" b="1" dirty="0">
                <a:solidFill>
                  <a:srgbClr val="6A6E85"/>
                </a:solidFill>
                <a:latin typeface="Calibri" pitchFamily="34" charset="0"/>
                <a:ea typeface="Calibri" pitchFamily="34" charset="-122"/>
                <a:cs typeface="Calibri" pitchFamily="34" charset="-120"/>
              </a:rPr>
              <a:t>L0 · L1</a:t>
            </a:r>
            <a:endParaRPr lang="en-US" sz="1050" dirty="0"/>
          </a:p>
        </p:txBody>
      </p:sp>
      <p:sp>
        <p:nvSpPr>
          <p:cNvPr id="5" name="Shape 3"/>
          <p:cNvSpPr/>
          <p:nvPr/>
        </p:nvSpPr>
        <p:spPr>
          <a:xfrm>
            <a:off x="1755648" y="1664208"/>
            <a:ext cx="4864608" cy="512064"/>
          </a:xfrm>
          <a:prstGeom prst="roundRect">
            <a:avLst>
              <a:gd name="adj" fmla="val 8929"/>
            </a:avLst>
          </a:prstGeom>
          <a:solidFill>
            <a:srgbClr val="ECEBF7"/>
          </a:solidFill>
          <a:ln w="12700">
            <a:solidFill>
              <a:srgbClr val="ECEBF7"/>
            </a:solidFill>
            <a:prstDash val="solid"/>
          </a:ln>
        </p:spPr>
      </p:sp>
      <p:sp>
        <p:nvSpPr>
          <p:cNvPr id="6" name="Text 4"/>
          <p:cNvSpPr txBox="1"/>
          <p:nvPr/>
        </p:nvSpPr>
        <p:spPr>
          <a:xfrm>
            <a:off x="1883664" y="1801368"/>
            <a:ext cx="4608576"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Giao diện — CLI</a:t>
            </a:r>
            <a:endParaRPr lang="en-US" sz="1200" dirty="0"/>
          </a:p>
        </p:txBody>
      </p:sp>
      <p:sp>
        <p:nvSpPr>
          <p:cNvPr id="7" name="Shape 5"/>
          <p:cNvSpPr/>
          <p:nvPr/>
        </p:nvSpPr>
        <p:spPr>
          <a:xfrm>
            <a:off x="6748272" y="1664208"/>
            <a:ext cx="4864608" cy="512064"/>
          </a:xfrm>
          <a:prstGeom prst="roundRect">
            <a:avLst>
              <a:gd name="adj" fmla="val 8929"/>
            </a:avLst>
          </a:prstGeom>
          <a:solidFill>
            <a:srgbClr val="ECEBF7"/>
          </a:solidFill>
          <a:ln w="12700">
            <a:solidFill>
              <a:srgbClr val="ECEBF7"/>
            </a:solidFill>
            <a:prstDash val="solid"/>
          </a:ln>
        </p:spPr>
      </p:sp>
      <p:sp>
        <p:nvSpPr>
          <p:cNvPr id="8" name="Text 6"/>
          <p:cNvSpPr txBox="1"/>
          <p:nvPr/>
        </p:nvSpPr>
        <p:spPr>
          <a:xfrm>
            <a:off x="6876288" y="1801368"/>
            <a:ext cx="4608576"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LLM Agent — điều phối một lượt</a:t>
            </a:r>
            <a:endParaRPr lang="en-US" sz="1200" dirty="0"/>
          </a:p>
        </p:txBody>
      </p:sp>
      <p:sp>
        <p:nvSpPr>
          <p:cNvPr id="9" name="Text 7"/>
          <p:cNvSpPr txBox="1"/>
          <p:nvPr/>
        </p:nvSpPr>
        <p:spPr>
          <a:xfrm>
            <a:off x="566928" y="2478024"/>
            <a:ext cx="1078992" cy="292608"/>
          </a:xfrm>
          <a:prstGeom prst="rect">
            <a:avLst/>
          </a:prstGeom>
          <a:noFill/>
          <a:ln/>
        </p:spPr>
        <p:txBody>
          <a:bodyPr wrap="square" lIns="0" tIns="0" rIns="0" bIns="0" rtlCol="0" anchor="ctr"/>
          <a:lstStyle/>
          <a:p>
            <a:pPr indent="0" marL="0">
              <a:buNone/>
            </a:pPr>
            <a:r>
              <a:rPr lang="en-US" sz="1050" b="1" dirty="0">
                <a:solidFill>
                  <a:srgbClr val="6A6E85"/>
                </a:solidFill>
                <a:latin typeface="Calibri" pitchFamily="34" charset="0"/>
                <a:ea typeface="Calibri" pitchFamily="34" charset="-122"/>
                <a:cs typeface="Calibri" pitchFamily="34" charset="-120"/>
              </a:rPr>
              <a:t>L2 · DỊCH VỤ</a:t>
            </a:r>
            <a:endParaRPr lang="en-US" sz="1050" dirty="0"/>
          </a:p>
        </p:txBody>
      </p:sp>
      <p:sp>
        <p:nvSpPr>
          <p:cNvPr id="10" name="Shape 8"/>
          <p:cNvSpPr/>
          <p:nvPr/>
        </p:nvSpPr>
        <p:spPr>
          <a:xfrm>
            <a:off x="1755648" y="2267712"/>
            <a:ext cx="1536192" cy="713232"/>
          </a:xfrm>
          <a:prstGeom prst="roundRect">
            <a:avLst>
              <a:gd name="adj" fmla="val 6410"/>
            </a:avLst>
          </a:prstGeom>
          <a:solidFill>
            <a:srgbClr val="ECEBF7"/>
          </a:solidFill>
          <a:ln w="12700">
            <a:solidFill>
              <a:srgbClr val="ECEBF7"/>
            </a:solidFill>
            <a:prstDash val="solid"/>
          </a:ln>
        </p:spPr>
      </p:sp>
      <p:sp>
        <p:nvSpPr>
          <p:cNvPr id="11" name="Text 9"/>
          <p:cNvSpPr txBox="1"/>
          <p:nvPr/>
        </p:nvSpPr>
        <p:spPr>
          <a:xfrm>
            <a:off x="1883664" y="2368296"/>
            <a:ext cx="1280160"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Trích xuất</a:t>
            </a:r>
            <a:endParaRPr lang="en-US" sz="1200" dirty="0"/>
          </a:p>
        </p:txBody>
      </p:sp>
      <p:sp>
        <p:nvSpPr>
          <p:cNvPr id="12" name="Text 10"/>
          <p:cNvSpPr txBox="1"/>
          <p:nvPr/>
        </p:nvSpPr>
        <p:spPr>
          <a:xfrm>
            <a:off x="1883664" y="2633472"/>
            <a:ext cx="1280160" cy="256032"/>
          </a:xfrm>
          <a:prstGeom prst="rect">
            <a:avLst/>
          </a:prstGeom>
          <a:noFill/>
          <a:ln/>
        </p:spPr>
        <p:txBody>
          <a:bodyPr wrap="square" lIns="0" tIns="0" rIns="0" bIns="0" rtlCol="0" anchor="t"/>
          <a:lstStyle/>
          <a:p>
            <a:pPr indent="0" marL="0">
              <a:lnSpc>
                <a:spcPct val="92000"/>
              </a:lnSpc>
              <a:buNone/>
            </a:pPr>
            <a:r>
              <a:rPr lang="en-US" sz="1000" dirty="0">
                <a:solidFill>
                  <a:srgbClr val="4A4E63"/>
                </a:solidFill>
                <a:latin typeface="Calibri" pitchFamily="34" charset="0"/>
                <a:ea typeface="Calibri" pitchFamily="34" charset="-122"/>
                <a:cs typeface="Calibri" pitchFamily="34" charset="-120"/>
              </a:rPr>
              <a:t>song ngữ</a:t>
            </a:r>
            <a:endParaRPr lang="en-US" sz="1000" dirty="0"/>
          </a:p>
        </p:txBody>
      </p:sp>
      <p:sp>
        <p:nvSpPr>
          <p:cNvPr id="13" name="Shape 11"/>
          <p:cNvSpPr/>
          <p:nvPr/>
        </p:nvSpPr>
        <p:spPr>
          <a:xfrm>
            <a:off x="3419856" y="2267712"/>
            <a:ext cx="1536192" cy="713232"/>
          </a:xfrm>
          <a:prstGeom prst="roundRect">
            <a:avLst>
              <a:gd name="adj" fmla="val 6410"/>
            </a:avLst>
          </a:prstGeom>
          <a:solidFill>
            <a:srgbClr val="ECEBF7"/>
          </a:solidFill>
          <a:ln w="12700">
            <a:solidFill>
              <a:srgbClr val="ECEBF7"/>
            </a:solidFill>
            <a:prstDash val="solid"/>
          </a:ln>
        </p:spPr>
      </p:sp>
      <p:sp>
        <p:nvSpPr>
          <p:cNvPr id="14" name="Text 12"/>
          <p:cNvSpPr txBox="1"/>
          <p:nvPr/>
        </p:nvSpPr>
        <p:spPr>
          <a:xfrm>
            <a:off x="3547872" y="2368296"/>
            <a:ext cx="1280160"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Chuẩn hóa</a:t>
            </a:r>
            <a:endParaRPr lang="en-US" sz="1200" dirty="0"/>
          </a:p>
        </p:txBody>
      </p:sp>
      <p:sp>
        <p:nvSpPr>
          <p:cNvPr id="15" name="Text 13"/>
          <p:cNvSpPr txBox="1"/>
          <p:nvPr/>
        </p:nvSpPr>
        <p:spPr>
          <a:xfrm>
            <a:off x="3547872" y="2633472"/>
            <a:ext cx="1280160" cy="256032"/>
          </a:xfrm>
          <a:prstGeom prst="rect">
            <a:avLst/>
          </a:prstGeom>
          <a:noFill/>
          <a:ln/>
        </p:spPr>
        <p:txBody>
          <a:bodyPr wrap="square" lIns="0" tIns="0" rIns="0" bIns="0" rtlCol="0" anchor="t"/>
          <a:lstStyle/>
          <a:p>
            <a:pPr indent="0" marL="0">
              <a:lnSpc>
                <a:spcPct val="92000"/>
              </a:lnSpc>
              <a:buNone/>
            </a:pPr>
            <a:r>
              <a:rPr lang="en-US" sz="1000" dirty="0">
                <a:solidFill>
                  <a:srgbClr val="4A4E63"/>
                </a:solidFill>
                <a:latin typeface="Calibri" pitchFamily="34" charset="0"/>
                <a:ea typeface="Calibri" pitchFamily="34" charset="-122"/>
                <a:cs typeface="Calibri" pitchFamily="34" charset="-120"/>
              </a:rPr>
              <a:t>khóa · giá trị</a:t>
            </a:r>
            <a:endParaRPr lang="en-US" sz="1000" dirty="0"/>
          </a:p>
        </p:txBody>
      </p:sp>
      <p:sp>
        <p:nvSpPr>
          <p:cNvPr id="16" name="Shape 14"/>
          <p:cNvSpPr/>
          <p:nvPr/>
        </p:nvSpPr>
        <p:spPr>
          <a:xfrm>
            <a:off x="5084064" y="2267712"/>
            <a:ext cx="1536192" cy="713232"/>
          </a:xfrm>
          <a:prstGeom prst="roundRect">
            <a:avLst>
              <a:gd name="adj" fmla="val 6410"/>
            </a:avLst>
          </a:prstGeom>
          <a:solidFill>
            <a:srgbClr val="ECEBF7"/>
          </a:solidFill>
          <a:ln w="12700">
            <a:solidFill>
              <a:srgbClr val="ECEBF7"/>
            </a:solidFill>
            <a:prstDash val="solid"/>
          </a:ln>
        </p:spPr>
      </p:sp>
      <p:sp>
        <p:nvSpPr>
          <p:cNvPr id="17" name="Text 15"/>
          <p:cNvSpPr txBox="1"/>
          <p:nvPr/>
        </p:nvSpPr>
        <p:spPr>
          <a:xfrm>
            <a:off x="5212080" y="2368296"/>
            <a:ext cx="1280160"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Cập nhật</a:t>
            </a:r>
            <a:endParaRPr lang="en-US" sz="1200" dirty="0"/>
          </a:p>
        </p:txBody>
      </p:sp>
      <p:sp>
        <p:nvSpPr>
          <p:cNvPr id="18" name="Text 16"/>
          <p:cNvSpPr txBox="1"/>
          <p:nvPr/>
        </p:nvSpPr>
        <p:spPr>
          <a:xfrm>
            <a:off x="5212080" y="2633472"/>
            <a:ext cx="1280160" cy="256032"/>
          </a:xfrm>
          <a:prstGeom prst="rect">
            <a:avLst/>
          </a:prstGeom>
          <a:noFill/>
          <a:ln/>
        </p:spPr>
        <p:txBody>
          <a:bodyPr wrap="square" lIns="0" tIns="0" rIns="0" bIns="0" rtlCol="0" anchor="t"/>
          <a:lstStyle/>
          <a:p>
            <a:pPr indent="0" marL="0">
              <a:lnSpc>
                <a:spcPct val="92000"/>
              </a:lnSpc>
              <a:buNone/>
            </a:pPr>
            <a:r>
              <a:rPr lang="en-US" sz="1000" dirty="0">
                <a:solidFill>
                  <a:srgbClr val="4A4E63"/>
                </a:solidFill>
                <a:latin typeface="Calibri" pitchFamily="34" charset="0"/>
                <a:ea typeface="Calibri" pitchFamily="34" charset="-122"/>
                <a:cs typeface="Calibri" pitchFamily="34" charset="-120"/>
              </a:rPr>
              <a:t>seq · xung đột</a:t>
            </a:r>
            <a:endParaRPr lang="en-US" sz="1000" dirty="0"/>
          </a:p>
        </p:txBody>
      </p:sp>
      <p:sp>
        <p:nvSpPr>
          <p:cNvPr id="19" name="Shape 17"/>
          <p:cNvSpPr/>
          <p:nvPr/>
        </p:nvSpPr>
        <p:spPr>
          <a:xfrm>
            <a:off x="6748272" y="2267712"/>
            <a:ext cx="1536192" cy="713232"/>
          </a:xfrm>
          <a:prstGeom prst="roundRect">
            <a:avLst>
              <a:gd name="adj" fmla="val 6410"/>
            </a:avLst>
          </a:prstGeom>
          <a:solidFill>
            <a:srgbClr val="ECEBF7"/>
          </a:solidFill>
          <a:ln w="12700">
            <a:solidFill>
              <a:srgbClr val="ECEBF7"/>
            </a:solidFill>
            <a:prstDash val="solid"/>
          </a:ln>
        </p:spPr>
      </p:sp>
      <p:sp>
        <p:nvSpPr>
          <p:cNvPr id="20" name="Text 18"/>
          <p:cNvSpPr txBox="1"/>
          <p:nvPr/>
        </p:nvSpPr>
        <p:spPr>
          <a:xfrm>
            <a:off x="6876288" y="2368296"/>
            <a:ext cx="1280160"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Truy xuất</a:t>
            </a:r>
            <a:endParaRPr lang="en-US" sz="1200" dirty="0"/>
          </a:p>
        </p:txBody>
      </p:sp>
      <p:sp>
        <p:nvSpPr>
          <p:cNvPr id="21" name="Text 19"/>
          <p:cNvSpPr txBox="1"/>
          <p:nvPr/>
        </p:nvSpPr>
        <p:spPr>
          <a:xfrm>
            <a:off x="6876288" y="2633472"/>
            <a:ext cx="1280160" cy="256032"/>
          </a:xfrm>
          <a:prstGeom prst="rect">
            <a:avLst/>
          </a:prstGeom>
          <a:noFill/>
          <a:ln/>
        </p:spPr>
        <p:txBody>
          <a:bodyPr wrap="square" lIns="0" tIns="0" rIns="0" bIns="0" rtlCol="0" anchor="t"/>
          <a:lstStyle/>
          <a:p>
            <a:pPr indent="0" marL="0">
              <a:lnSpc>
                <a:spcPct val="92000"/>
              </a:lnSpc>
              <a:buNone/>
            </a:pPr>
            <a:r>
              <a:rPr lang="en-US" sz="1000" dirty="0">
                <a:solidFill>
                  <a:srgbClr val="4A4E63"/>
                </a:solidFill>
                <a:latin typeface="Calibri" pitchFamily="34" charset="0"/>
                <a:ea typeface="Calibri" pitchFamily="34" charset="-122"/>
                <a:cs typeface="Calibri" pitchFamily="34" charset="-120"/>
              </a:rPr>
              <a:t>lai · rerank</a:t>
            </a:r>
            <a:endParaRPr lang="en-US" sz="1000" dirty="0"/>
          </a:p>
        </p:txBody>
      </p:sp>
      <p:sp>
        <p:nvSpPr>
          <p:cNvPr id="22" name="Shape 20"/>
          <p:cNvSpPr/>
          <p:nvPr/>
        </p:nvSpPr>
        <p:spPr>
          <a:xfrm>
            <a:off x="8412480" y="2267712"/>
            <a:ext cx="1536192" cy="713232"/>
          </a:xfrm>
          <a:prstGeom prst="roundRect">
            <a:avLst>
              <a:gd name="adj" fmla="val 6410"/>
            </a:avLst>
          </a:prstGeom>
          <a:solidFill>
            <a:srgbClr val="ECEBF7"/>
          </a:solidFill>
          <a:ln w="12700">
            <a:solidFill>
              <a:srgbClr val="ECEBF7"/>
            </a:solidFill>
            <a:prstDash val="solid"/>
          </a:ln>
        </p:spPr>
      </p:sp>
      <p:sp>
        <p:nvSpPr>
          <p:cNvPr id="23" name="Text 21"/>
          <p:cNvSpPr txBox="1"/>
          <p:nvPr/>
        </p:nvSpPr>
        <p:spPr>
          <a:xfrm>
            <a:off x="8540496" y="2368296"/>
            <a:ext cx="1280160"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Lắp ngữ cảnh</a:t>
            </a:r>
            <a:endParaRPr lang="en-US" sz="1200" dirty="0"/>
          </a:p>
        </p:txBody>
      </p:sp>
      <p:sp>
        <p:nvSpPr>
          <p:cNvPr id="24" name="Text 22"/>
          <p:cNvSpPr txBox="1"/>
          <p:nvPr/>
        </p:nvSpPr>
        <p:spPr>
          <a:xfrm>
            <a:off x="8540496" y="2633472"/>
            <a:ext cx="1280160" cy="256032"/>
          </a:xfrm>
          <a:prstGeom prst="rect">
            <a:avLst/>
          </a:prstGeom>
          <a:noFill/>
          <a:ln/>
        </p:spPr>
        <p:txBody>
          <a:bodyPr wrap="square" lIns="0" tIns="0" rIns="0" bIns="0" rtlCol="0" anchor="t"/>
          <a:lstStyle/>
          <a:p>
            <a:pPr indent="0" marL="0">
              <a:lnSpc>
                <a:spcPct val="92000"/>
              </a:lnSpc>
              <a:buNone/>
            </a:pPr>
            <a:r>
              <a:rPr lang="en-US" sz="1000" dirty="0">
                <a:solidFill>
                  <a:srgbClr val="4A4E63"/>
                </a:solidFill>
                <a:latin typeface="Calibri" pitchFamily="34" charset="0"/>
                <a:ea typeface="Calibri" pitchFamily="34" charset="-122"/>
                <a:cs typeface="Calibri" pitchFamily="34" charset="-120"/>
              </a:rPr>
              <a:t>hạn ngạch token</a:t>
            </a:r>
            <a:endParaRPr lang="en-US" sz="1000" dirty="0"/>
          </a:p>
        </p:txBody>
      </p:sp>
      <p:sp>
        <p:nvSpPr>
          <p:cNvPr id="25" name="Shape 23"/>
          <p:cNvSpPr/>
          <p:nvPr/>
        </p:nvSpPr>
        <p:spPr>
          <a:xfrm>
            <a:off x="10076688" y="2267712"/>
            <a:ext cx="1536192" cy="713232"/>
          </a:xfrm>
          <a:prstGeom prst="roundRect">
            <a:avLst>
              <a:gd name="adj" fmla="val 6410"/>
            </a:avLst>
          </a:prstGeom>
          <a:solidFill>
            <a:srgbClr val="ECEBF7"/>
          </a:solidFill>
          <a:ln w="12700">
            <a:solidFill>
              <a:srgbClr val="ECEBF7"/>
            </a:solidFill>
            <a:prstDash val="solid"/>
          </a:ln>
        </p:spPr>
      </p:sp>
      <p:sp>
        <p:nvSpPr>
          <p:cNvPr id="26" name="Text 24"/>
          <p:cNvSpPr txBox="1"/>
          <p:nvPr/>
        </p:nvSpPr>
        <p:spPr>
          <a:xfrm>
            <a:off x="10204704" y="2368296"/>
            <a:ext cx="1280160"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Tóm tắt</a:t>
            </a:r>
            <a:endParaRPr lang="en-US" sz="1200" dirty="0"/>
          </a:p>
        </p:txBody>
      </p:sp>
      <p:sp>
        <p:nvSpPr>
          <p:cNvPr id="27" name="Text 25"/>
          <p:cNvSpPr txBox="1"/>
          <p:nvPr/>
        </p:nvSpPr>
        <p:spPr>
          <a:xfrm>
            <a:off x="10204704" y="2633472"/>
            <a:ext cx="1280160" cy="256032"/>
          </a:xfrm>
          <a:prstGeom prst="rect">
            <a:avLst/>
          </a:prstGeom>
          <a:noFill/>
          <a:ln/>
        </p:spPr>
        <p:txBody>
          <a:bodyPr wrap="square" lIns="0" tIns="0" rIns="0" bIns="0" rtlCol="0" anchor="t"/>
          <a:lstStyle/>
          <a:p>
            <a:pPr indent="0" marL="0">
              <a:lnSpc>
                <a:spcPct val="92000"/>
              </a:lnSpc>
              <a:buNone/>
            </a:pPr>
            <a:r>
              <a:rPr lang="en-US" sz="1000" dirty="0">
                <a:solidFill>
                  <a:srgbClr val="4A4E63"/>
                </a:solidFill>
                <a:latin typeface="Calibri" pitchFamily="34" charset="0"/>
                <a:ea typeface="Calibri" pitchFamily="34" charset="-122"/>
                <a:cs typeface="Calibri" pitchFamily="34" charset="-120"/>
              </a:rPr>
              <a:t>theo phiên</a:t>
            </a:r>
            <a:endParaRPr lang="en-US" sz="1000" dirty="0"/>
          </a:p>
        </p:txBody>
      </p:sp>
      <p:sp>
        <p:nvSpPr>
          <p:cNvPr id="28" name="Text 26"/>
          <p:cNvSpPr txBox="1"/>
          <p:nvPr/>
        </p:nvSpPr>
        <p:spPr>
          <a:xfrm>
            <a:off x="566928" y="3236976"/>
            <a:ext cx="1078992" cy="292608"/>
          </a:xfrm>
          <a:prstGeom prst="rect">
            <a:avLst/>
          </a:prstGeom>
          <a:noFill/>
          <a:ln/>
        </p:spPr>
        <p:txBody>
          <a:bodyPr wrap="square" lIns="0" tIns="0" rIns="0" bIns="0" rtlCol="0" anchor="ctr"/>
          <a:lstStyle/>
          <a:p>
            <a:pPr indent="0" marL="0">
              <a:buNone/>
            </a:pPr>
            <a:r>
              <a:rPr lang="en-US" sz="1050" b="1" dirty="0">
                <a:solidFill>
                  <a:srgbClr val="6A6E85"/>
                </a:solidFill>
                <a:latin typeface="Calibri" pitchFamily="34" charset="0"/>
                <a:ea typeface="Calibri" pitchFamily="34" charset="-122"/>
                <a:cs typeface="Calibri" pitchFamily="34" charset="-120"/>
              </a:rPr>
              <a:t>L3 · CHỈ MỤC</a:t>
            </a:r>
            <a:endParaRPr lang="en-US" sz="1050" dirty="0"/>
          </a:p>
        </p:txBody>
      </p:sp>
      <p:sp>
        <p:nvSpPr>
          <p:cNvPr id="29" name="Shape 27"/>
          <p:cNvSpPr/>
          <p:nvPr/>
        </p:nvSpPr>
        <p:spPr>
          <a:xfrm>
            <a:off x="1755648" y="3072384"/>
            <a:ext cx="2368296" cy="621792"/>
          </a:xfrm>
          <a:prstGeom prst="roundRect">
            <a:avLst>
              <a:gd name="adj" fmla="val 7353"/>
            </a:avLst>
          </a:prstGeom>
          <a:solidFill>
            <a:srgbClr val="ECEBF7"/>
          </a:solidFill>
          <a:ln w="12700">
            <a:solidFill>
              <a:srgbClr val="ECEBF7"/>
            </a:solidFill>
            <a:prstDash val="solid"/>
          </a:ln>
        </p:spPr>
      </p:sp>
      <p:sp>
        <p:nvSpPr>
          <p:cNvPr id="30" name="Text 28"/>
          <p:cNvSpPr txBox="1"/>
          <p:nvPr/>
        </p:nvSpPr>
        <p:spPr>
          <a:xfrm>
            <a:off x="1883664" y="3264408"/>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Vector gốc-ngữ</a:t>
            </a:r>
            <a:endParaRPr lang="en-US" sz="1200" dirty="0"/>
          </a:p>
        </p:txBody>
      </p:sp>
      <p:sp>
        <p:nvSpPr>
          <p:cNvPr id="31" name="Shape 29"/>
          <p:cNvSpPr/>
          <p:nvPr/>
        </p:nvSpPr>
        <p:spPr>
          <a:xfrm>
            <a:off x="4251960" y="3072384"/>
            <a:ext cx="2368296" cy="621792"/>
          </a:xfrm>
          <a:prstGeom prst="roundRect">
            <a:avLst>
              <a:gd name="adj" fmla="val 7353"/>
            </a:avLst>
          </a:prstGeom>
          <a:solidFill>
            <a:srgbClr val="ECEBF7"/>
          </a:solidFill>
          <a:ln w="12700">
            <a:solidFill>
              <a:srgbClr val="ECEBF7"/>
            </a:solidFill>
            <a:prstDash val="solid"/>
          </a:ln>
        </p:spPr>
      </p:sp>
      <p:sp>
        <p:nvSpPr>
          <p:cNvPr id="32" name="Text 30"/>
          <p:cNvSpPr txBox="1"/>
          <p:nvPr/>
        </p:nvSpPr>
        <p:spPr>
          <a:xfrm>
            <a:off x="4379976" y="3264408"/>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Vector chuẩn-hóa</a:t>
            </a:r>
            <a:endParaRPr lang="en-US" sz="1200" dirty="0"/>
          </a:p>
        </p:txBody>
      </p:sp>
      <p:sp>
        <p:nvSpPr>
          <p:cNvPr id="33" name="Shape 31"/>
          <p:cNvSpPr/>
          <p:nvPr/>
        </p:nvSpPr>
        <p:spPr>
          <a:xfrm>
            <a:off x="6748272" y="3072384"/>
            <a:ext cx="2368296" cy="621792"/>
          </a:xfrm>
          <a:prstGeom prst="roundRect">
            <a:avLst>
              <a:gd name="adj" fmla="val 7353"/>
            </a:avLst>
          </a:prstGeom>
          <a:solidFill>
            <a:srgbClr val="ECEBF7"/>
          </a:solidFill>
          <a:ln w="12700">
            <a:solidFill>
              <a:srgbClr val="ECEBF7"/>
            </a:solidFill>
            <a:prstDash val="solid"/>
          </a:ln>
        </p:spPr>
      </p:sp>
      <p:sp>
        <p:nvSpPr>
          <p:cNvPr id="34" name="Text 32"/>
          <p:cNvSpPr txBox="1"/>
          <p:nvPr/>
        </p:nvSpPr>
        <p:spPr>
          <a:xfrm>
            <a:off x="6876288" y="3264408"/>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BM25 từ khóa</a:t>
            </a:r>
            <a:endParaRPr lang="en-US" sz="1200" dirty="0"/>
          </a:p>
        </p:txBody>
      </p:sp>
      <p:sp>
        <p:nvSpPr>
          <p:cNvPr id="35" name="Shape 33"/>
          <p:cNvSpPr/>
          <p:nvPr/>
        </p:nvSpPr>
        <p:spPr>
          <a:xfrm>
            <a:off x="9244584" y="3072384"/>
            <a:ext cx="2368296" cy="621792"/>
          </a:xfrm>
          <a:prstGeom prst="roundRect">
            <a:avLst>
              <a:gd name="adj" fmla="val 7353"/>
            </a:avLst>
          </a:prstGeom>
          <a:solidFill>
            <a:srgbClr val="ECEBF7"/>
          </a:solidFill>
          <a:ln w="12700">
            <a:solidFill>
              <a:srgbClr val="ECEBF7"/>
            </a:solidFill>
            <a:prstDash val="solid"/>
          </a:ln>
        </p:spPr>
      </p:sp>
      <p:sp>
        <p:nvSpPr>
          <p:cNvPr id="36" name="Text 34"/>
          <p:cNvSpPr txBox="1"/>
          <p:nvPr/>
        </p:nvSpPr>
        <p:spPr>
          <a:xfrm>
            <a:off x="9372600" y="3264408"/>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Sổ slot</a:t>
            </a:r>
            <a:endParaRPr lang="en-US" sz="1200" dirty="0"/>
          </a:p>
        </p:txBody>
      </p:sp>
      <p:sp>
        <p:nvSpPr>
          <p:cNvPr id="37" name="Text 35"/>
          <p:cNvSpPr txBox="1"/>
          <p:nvPr/>
        </p:nvSpPr>
        <p:spPr>
          <a:xfrm>
            <a:off x="566928" y="3931920"/>
            <a:ext cx="1078992" cy="292608"/>
          </a:xfrm>
          <a:prstGeom prst="rect">
            <a:avLst/>
          </a:prstGeom>
          <a:noFill/>
          <a:ln/>
        </p:spPr>
        <p:txBody>
          <a:bodyPr wrap="square" lIns="0" tIns="0" rIns="0" bIns="0" rtlCol="0" anchor="ctr"/>
          <a:lstStyle/>
          <a:p>
            <a:pPr indent="0" marL="0">
              <a:buNone/>
            </a:pPr>
            <a:r>
              <a:rPr lang="en-US" sz="1050" b="1" dirty="0">
                <a:solidFill>
                  <a:srgbClr val="6A6E85"/>
                </a:solidFill>
                <a:latin typeface="Calibri" pitchFamily="34" charset="0"/>
                <a:ea typeface="Calibri" pitchFamily="34" charset="-122"/>
                <a:cs typeface="Calibri" pitchFamily="34" charset="-120"/>
              </a:rPr>
              <a:t>L4 · LƯU TRỮ</a:t>
            </a:r>
            <a:endParaRPr lang="en-US" sz="1050" dirty="0"/>
          </a:p>
        </p:txBody>
      </p:sp>
      <p:sp>
        <p:nvSpPr>
          <p:cNvPr id="38" name="Shape 36"/>
          <p:cNvSpPr/>
          <p:nvPr/>
        </p:nvSpPr>
        <p:spPr>
          <a:xfrm>
            <a:off x="1755648" y="3785616"/>
            <a:ext cx="4864608" cy="585216"/>
          </a:xfrm>
          <a:prstGeom prst="roundRect">
            <a:avLst>
              <a:gd name="adj" fmla="val 7813"/>
            </a:avLst>
          </a:prstGeom>
          <a:solidFill>
            <a:srgbClr val="13123A"/>
          </a:solidFill>
          <a:ln w="12700">
            <a:solidFill>
              <a:srgbClr val="13123A"/>
            </a:solidFill>
            <a:prstDash val="solid"/>
          </a:ln>
        </p:spPr>
      </p:sp>
      <p:sp>
        <p:nvSpPr>
          <p:cNvPr id="39" name="Text 37"/>
          <p:cNvSpPr txBox="1"/>
          <p:nvPr/>
        </p:nvSpPr>
        <p:spPr>
          <a:xfrm>
            <a:off x="1883664" y="3959352"/>
            <a:ext cx="4608576" cy="237744"/>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SQLite — sổ cái, nguồn sự thật</a:t>
            </a:r>
            <a:endParaRPr lang="en-US" sz="1200" dirty="0"/>
          </a:p>
        </p:txBody>
      </p:sp>
      <p:sp>
        <p:nvSpPr>
          <p:cNvPr id="40" name="Shape 38"/>
          <p:cNvSpPr/>
          <p:nvPr/>
        </p:nvSpPr>
        <p:spPr>
          <a:xfrm>
            <a:off x="6748272" y="3785616"/>
            <a:ext cx="4864608" cy="585216"/>
          </a:xfrm>
          <a:prstGeom prst="roundRect">
            <a:avLst>
              <a:gd name="adj" fmla="val 7813"/>
            </a:avLst>
          </a:prstGeom>
          <a:solidFill>
            <a:srgbClr val="13123A"/>
          </a:solidFill>
          <a:ln w="12700">
            <a:solidFill>
              <a:srgbClr val="13123A"/>
            </a:solidFill>
            <a:prstDash val="solid"/>
          </a:ln>
        </p:spPr>
      </p:sp>
      <p:sp>
        <p:nvSpPr>
          <p:cNvPr id="41" name="Text 39"/>
          <p:cNvSpPr txBox="1"/>
          <p:nvPr/>
        </p:nvSpPr>
        <p:spPr>
          <a:xfrm>
            <a:off x="6876288" y="3959352"/>
            <a:ext cx="4608576" cy="237744"/>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ChromaDB — chỉ mục vector</a:t>
            </a:r>
            <a:endParaRPr lang="en-US" sz="1200" dirty="0"/>
          </a:p>
        </p:txBody>
      </p:sp>
      <p:sp>
        <p:nvSpPr>
          <p:cNvPr id="42" name="Text 40"/>
          <p:cNvSpPr txBox="1"/>
          <p:nvPr/>
        </p:nvSpPr>
        <p:spPr>
          <a:xfrm>
            <a:off x="566928" y="4581144"/>
            <a:ext cx="1078992" cy="292608"/>
          </a:xfrm>
          <a:prstGeom prst="rect">
            <a:avLst/>
          </a:prstGeom>
          <a:noFill/>
          <a:ln/>
        </p:spPr>
        <p:txBody>
          <a:bodyPr wrap="square" lIns="0" tIns="0" rIns="0" bIns="0" rtlCol="0" anchor="ctr"/>
          <a:lstStyle/>
          <a:p>
            <a:pPr indent="0" marL="0">
              <a:buNone/>
            </a:pPr>
            <a:r>
              <a:rPr lang="en-US" sz="1050" b="1" dirty="0">
                <a:solidFill>
                  <a:srgbClr val="6A6E85"/>
                </a:solidFill>
                <a:latin typeface="Calibri" pitchFamily="34" charset="0"/>
                <a:ea typeface="Calibri" pitchFamily="34" charset="-122"/>
                <a:cs typeface="Calibri" pitchFamily="34" charset="-120"/>
              </a:rPr>
              <a:t>XUYÊN SUỐT</a:t>
            </a:r>
            <a:endParaRPr lang="en-US" sz="1050" dirty="0"/>
          </a:p>
        </p:txBody>
      </p:sp>
      <p:sp>
        <p:nvSpPr>
          <p:cNvPr id="43" name="Shape 41"/>
          <p:cNvSpPr/>
          <p:nvPr/>
        </p:nvSpPr>
        <p:spPr>
          <a:xfrm>
            <a:off x="1755648" y="4462272"/>
            <a:ext cx="2368296" cy="530352"/>
          </a:xfrm>
          <a:prstGeom prst="roundRect">
            <a:avLst>
              <a:gd name="adj" fmla="val 8621"/>
            </a:avLst>
          </a:prstGeom>
          <a:solidFill>
            <a:srgbClr val="ECEBF7"/>
          </a:solidFill>
          <a:ln w="12700">
            <a:solidFill>
              <a:srgbClr val="ECEBF7"/>
            </a:solidFill>
            <a:prstDash val="solid"/>
          </a:ln>
        </p:spPr>
      </p:sp>
      <p:sp>
        <p:nvSpPr>
          <p:cNvPr id="44" name="Text 42"/>
          <p:cNvSpPr txBox="1"/>
          <p:nvPr/>
        </p:nvSpPr>
        <p:spPr>
          <a:xfrm>
            <a:off x="1883664" y="4608576"/>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Ngôn ngữ</a:t>
            </a:r>
            <a:endParaRPr lang="en-US" sz="1200" dirty="0"/>
          </a:p>
        </p:txBody>
      </p:sp>
      <p:sp>
        <p:nvSpPr>
          <p:cNvPr id="45" name="Shape 43"/>
          <p:cNvSpPr/>
          <p:nvPr/>
        </p:nvSpPr>
        <p:spPr>
          <a:xfrm>
            <a:off x="4251960" y="4462272"/>
            <a:ext cx="2368296" cy="530352"/>
          </a:xfrm>
          <a:prstGeom prst="roundRect">
            <a:avLst>
              <a:gd name="adj" fmla="val 8621"/>
            </a:avLst>
          </a:prstGeom>
          <a:solidFill>
            <a:srgbClr val="ECEBF7"/>
          </a:solidFill>
          <a:ln w="12700">
            <a:solidFill>
              <a:srgbClr val="ECEBF7"/>
            </a:solidFill>
            <a:prstDash val="solid"/>
          </a:ln>
        </p:spPr>
      </p:sp>
      <p:sp>
        <p:nvSpPr>
          <p:cNvPr id="46" name="Text 44"/>
          <p:cNvSpPr txBox="1"/>
          <p:nvPr/>
        </p:nvSpPr>
        <p:spPr>
          <a:xfrm>
            <a:off x="4379976" y="4608576"/>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Nguồn gốc</a:t>
            </a:r>
            <a:endParaRPr lang="en-US" sz="1200" dirty="0"/>
          </a:p>
        </p:txBody>
      </p:sp>
      <p:sp>
        <p:nvSpPr>
          <p:cNvPr id="47" name="Shape 45"/>
          <p:cNvSpPr/>
          <p:nvPr/>
        </p:nvSpPr>
        <p:spPr>
          <a:xfrm>
            <a:off x="6748272" y="4462272"/>
            <a:ext cx="2368296" cy="530352"/>
          </a:xfrm>
          <a:prstGeom prst="roundRect">
            <a:avLst>
              <a:gd name="adj" fmla="val 8621"/>
            </a:avLst>
          </a:prstGeom>
          <a:solidFill>
            <a:srgbClr val="ECEBF7"/>
          </a:solidFill>
          <a:ln w="12700">
            <a:solidFill>
              <a:srgbClr val="ECEBF7"/>
            </a:solidFill>
            <a:prstDash val="solid"/>
          </a:ln>
        </p:spPr>
      </p:sp>
      <p:sp>
        <p:nvSpPr>
          <p:cNvPr id="48" name="Text 46"/>
          <p:cNvSpPr txBox="1"/>
          <p:nvPr/>
        </p:nvSpPr>
        <p:spPr>
          <a:xfrm>
            <a:off x="6876288" y="4608576"/>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Cache</a:t>
            </a:r>
            <a:endParaRPr lang="en-US" sz="1200" dirty="0"/>
          </a:p>
        </p:txBody>
      </p:sp>
      <p:sp>
        <p:nvSpPr>
          <p:cNvPr id="49" name="Shape 47"/>
          <p:cNvSpPr/>
          <p:nvPr/>
        </p:nvSpPr>
        <p:spPr>
          <a:xfrm>
            <a:off x="9244584" y="4462272"/>
            <a:ext cx="2368296" cy="530352"/>
          </a:xfrm>
          <a:prstGeom prst="roundRect">
            <a:avLst>
              <a:gd name="adj" fmla="val 8621"/>
            </a:avLst>
          </a:prstGeom>
          <a:solidFill>
            <a:srgbClr val="ECEBF7"/>
          </a:solidFill>
          <a:ln w="12700">
            <a:solidFill>
              <a:srgbClr val="ECEBF7"/>
            </a:solidFill>
            <a:prstDash val="solid"/>
          </a:ln>
        </p:spPr>
      </p:sp>
      <p:sp>
        <p:nvSpPr>
          <p:cNvPr id="50" name="Text 48"/>
          <p:cNvSpPr txBox="1"/>
          <p:nvPr/>
        </p:nvSpPr>
        <p:spPr>
          <a:xfrm>
            <a:off x="9372600" y="4608576"/>
            <a:ext cx="2112264" cy="237744"/>
          </a:xfrm>
          <a:prstGeom prst="rect">
            <a:avLst/>
          </a:prstGeom>
          <a:noFill/>
          <a:ln/>
        </p:spPr>
        <p:txBody>
          <a:bodyPr wrap="square" lIns="0" tIns="0" rIns="0" bIns="0" rtlCol="0" anchor="ctr"/>
          <a:lstStyle/>
          <a:p>
            <a:pPr indent="0" marL="0">
              <a:buNone/>
            </a:pPr>
            <a:r>
              <a:rPr lang="en-US" sz="1200" b="1" dirty="0">
                <a:solidFill>
                  <a:srgbClr val="13123A"/>
                </a:solidFill>
                <a:latin typeface="Cambria" pitchFamily="34" charset="0"/>
                <a:ea typeface="Cambria" pitchFamily="34" charset="-122"/>
                <a:cs typeface="Cambria" pitchFamily="34" charset="-120"/>
              </a:rPr>
              <a:t>Nhật ký vết</a:t>
            </a:r>
            <a:endParaRPr lang="en-US" sz="1200" dirty="0"/>
          </a:p>
        </p:txBody>
      </p:sp>
      <p:sp>
        <p:nvSpPr>
          <p:cNvPr id="51" name="Shape 49"/>
          <p:cNvSpPr/>
          <p:nvPr/>
        </p:nvSpPr>
        <p:spPr>
          <a:xfrm>
            <a:off x="566928" y="5138928"/>
            <a:ext cx="11045952" cy="1133856"/>
          </a:xfrm>
          <a:prstGeom prst="roundRect">
            <a:avLst>
              <a:gd name="adj" fmla="val 4032"/>
            </a:avLst>
          </a:prstGeom>
          <a:solidFill>
            <a:srgbClr val="13123A"/>
          </a:solidFill>
          <a:ln w="12700">
            <a:solidFill>
              <a:srgbClr val="13123A"/>
            </a:solidFill>
            <a:prstDash val="solid"/>
          </a:ln>
        </p:spPr>
      </p:sp>
      <p:sp>
        <p:nvSpPr>
          <p:cNvPr id="52" name="Text 50"/>
          <p:cNvSpPr txBox="1"/>
          <p:nvPr/>
        </p:nvSpPr>
        <p:spPr>
          <a:xfrm>
            <a:off x="822960" y="5321808"/>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VÌ SAO TÁCH SỔ CÁI KHỎI CHỈ MỤC</a:t>
            </a:r>
            <a:endParaRPr lang="en-US" sz="1100" dirty="0"/>
          </a:p>
        </p:txBody>
      </p:sp>
      <p:sp>
        <p:nvSpPr>
          <p:cNvPr id="53" name="Text 51"/>
          <p:cNvSpPr txBox="1"/>
          <p:nvPr/>
        </p:nvSpPr>
        <p:spPr>
          <a:xfrm>
            <a:off x="822960" y="5596128"/>
            <a:ext cx="10533888" cy="530352"/>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Tuần trước Chroma vừa là kho vừa là chỉ mục. Ba vấn đề: max(seq) phải quét toàn bộ bản ghi thay vì một câu SQL; không có ràng buộc toàn vẹn nên lỗi logic lọt âm thầm; và đổi mô hình embedding là phải nhúng lại tất cả. Sau khi tách, Chroma và BM25 chỉ là chỉ mục dẫn xuất — dựng lại được từ SQLite bằng một lệnh, nên quét tham số ở tuần 6 không sợ hỏng dữ liệu.</a:t>
            </a:r>
            <a:endParaRPr lang="en-US" sz="1250" dirty="0"/>
          </a:p>
        </p:txBody>
      </p:sp>
      <p:sp>
        <p:nvSpPr>
          <p:cNvPr id="54" name="Text 52"/>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Nguyên tắc tách nguồn sự thật khỏi chỉ mục là thực hành chuẩn trong hệ truy xuất; cảnh báo về phương sai theo mô hình nền: Jiang et al., arXiv:2602.19320 (2026).</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E9970B"/>
                </a:solidFill>
                <a:latin typeface="Calibri" pitchFamily="34" charset="0"/>
                <a:ea typeface="Calibri" pitchFamily="34" charset="-122"/>
                <a:cs typeface="Calibri" pitchFamily="34" charset="-120"/>
              </a:rPr>
              <a:t>THIẾT KẾ · 2/5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Xử lý song ngữ Việt – Anh</a:t>
            </a:r>
            <a:endParaRPr lang="en-US" sz="3000" dirty="0"/>
          </a:p>
        </p:txBody>
      </p:sp>
      <p:sp>
        <p:nvSpPr>
          <p:cNvPr id="4" name="Shape 2"/>
          <p:cNvSpPr/>
          <p:nvPr/>
        </p:nvSpPr>
        <p:spPr>
          <a:xfrm>
            <a:off x="566928" y="1673352"/>
            <a:ext cx="3483864" cy="1737360"/>
          </a:xfrm>
          <a:prstGeom prst="roundRect">
            <a:avLst>
              <a:gd name="adj" fmla="val 2632"/>
            </a:avLst>
          </a:prstGeom>
          <a:solidFill>
            <a:srgbClr val="ECEBF7"/>
          </a:solidFill>
          <a:ln w="12700">
            <a:solidFill>
              <a:srgbClr val="ECEBF7"/>
            </a:solidFill>
            <a:prstDash val="solid"/>
          </a:ln>
        </p:spPr>
      </p:sp>
      <p:sp>
        <p:nvSpPr>
          <p:cNvPr id="5" name="Text 3"/>
          <p:cNvSpPr txBox="1"/>
          <p:nvPr/>
        </p:nvSpPr>
        <p:spPr>
          <a:xfrm>
            <a:off x="804672" y="1847088"/>
            <a:ext cx="3008376" cy="219456"/>
          </a:xfrm>
          <a:prstGeom prst="rect">
            <a:avLst/>
          </a:prstGeom>
          <a:noFill/>
          <a:ln/>
        </p:spPr>
        <p:txBody>
          <a:bodyPr wrap="square" lIns="0" tIns="0" rIns="0" bIns="0" rtlCol="0" anchor="ctr"/>
          <a:lstStyle/>
          <a:p>
            <a:pPr indent="0" marL="0">
              <a:buNone/>
            </a:pPr>
            <a:r>
              <a:rPr lang="en-US" sz="1050" b="1" dirty="0">
                <a:solidFill>
                  <a:srgbClr val="3A36A0"/>
                </a:solidFill>
                <a:latin typeface="Calibri" pitchFamily="34" charset="0"/>
                <a:ea typeface="Calibri" pitchFamily="34" charset="-122"/>
                <a:cs typeface="Calibri" pitchFamily="34" charset="-120"/>
              </a:rPr>
              <a:t>TẦNG GHI</a:t>
            </a:r>
            <a:endParaRPr lang="en-US" sz="1050" dirty="0"/>
          </a:p>
        </p:txBody>
      </p:sp>
      <p:sp>
        <p:nvSpPr>
          <p:cNvPr id="6" name="Text 4"/>
          <p:cNvSpPr txBox="1"/>
          <p:nvPr/>
        </p:nvSpPr>
        <p:spPr>
          <a:xfrm>
            <a:off x="804672" y="2121408"/>
            <a:ext cx="300837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Lưu hai dạng văn bản</a:t>
            </a:r>
            <a:endParaRPr lang="en-US" sz="1400" dirty="0"/>
          </a:p>
        </p:txBody>
      </p:sp>
      <p:sp>
        <p:nvSpPr>
          <p:cNvPr id="7" name="Text 5"/>
          <p:cNvSpPr txBox="1"/>
          <p:nvPr/>
        </p:nvSpPr>
        <p:spPr>
          <a:xfrm>
            <a:off x="804672" y="2468880"/>
            <a:ext cx="3008376" cy="81381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text giữ nguyên câu người dùng nói; text_canon là bản tiếng Anh chuẩn hóa. Bộ trích xuất vốn đã đọc lượt đó nên xuất thêm một trường — không tốn lời gọi LLM nào.</a:t>
            </a:r>
            <a:endParaRPr lang="en-US" sz="1150" dirty="0"/>
          </a:p>
        </p:txBody>
      </p:sp>
      <p:sp>
        <p:nvSpPr>
          <p:cNvPr id="8" name="Shape 6"/>
          <p:cNvSpPr/>
          <p:nvPr/>
        </p:nvSpPr>
        <p:spPr>
          <a:xfrm>
            <a:off x="4352544" y="1673352"/>
            <a:ext cx="3483864" cy="1737360"/>
          </a:xfrm>
          <a:prstGeom prst="roundRect">
            <a:avLst>
              <a:gd name="adj" fmla="val 2632"/>
            </a:avLst>
          </a:prstGeom>
          <a:solidFill>
            <a:srgbClr val="F7F7FB"/>
          </a:solidFill>
          <a:ln w="12700">
            <a:solidFill>
              <a:srgbClr val="F7F7FB"/>
            </a:solidFill>
            <a:prstDash val="solid"/>
          </a:ln>
        </p:spPr>
      </p:sp>
      <p:sp>
        <p:nvSpPr>
          <p:cNvPr id="9" name="Text 7"/>
          <p:cNvSpPr txBox="1"/>
          <p:nvPr/>
        </p:nvSpPr>
        <p:spPr>
          <a:xfrm>
            <a:off x="4590288" y="1847088"/>
            <a:ext cx="3008376" cy="219456"/>
          </a:xfrm>
          <a:prstGeom prst="rect">
            <a:avLst/>
          </a:prstGeom>
          <a:noFill/>
          <a:ln/>
        </p:spPr>
        <p:txBody>
          <a:bodyPr wrap="square" lIns="0" tIns="0" rIns="0" bIns="0" rtlCol="0" anchor="ctr"/>
          <a:lstStyle/>
          <a:p>
            <a:pPr indent="0" marL="0">
              <a:buNone/>
            </a:pPr>
            <a:r>
              <a:rPr lang="en-US" sz="1050" b="1" dirty="0">
                <a:solidFill>
                  <a:srgbClr val="3A36A0"/>
                </a:solidFill>
                <a:latin typeface="Calibri" pitchFamily="34" charset="0"/>
                <a:ea typeface="Calibri" pitchFamily="34" charset="-122"/>
                <a:cs typeface="Calibri" pitchFamily="34" charset="-120"/>
              </a:rPr>
              <a:t>KHÓA SLOT</a:t>
            </a:r>
            <a:endParaRPr lang="en-US" sz="1050" dirty="0"/>
          </a:p>
        </p:txBody>
      </p:sp>
      <p:sp>
        <p:nvSpPr>
          <p:cNvPr id="10" name="Text 8"/>
          <p:cNvSpPr txBox="1"/>
          <p:nvPr/>
        </p:nvSpPr>
        <p:spPr>
          <a:xfrm>
            <a:off x="4590288" y="2121408"/>
            <a:ext cx="300837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Luôn bằng tiếng Anh</a:t>
            </a:r>
            <a:endParaRPr lang="en-US" sz="1400" dirty="0"/>
          </a:p>
        </p:txBody>
      </p:sp>
      <p:sp>
        <p:nvSpPr>
          <p:cNvPr id="11" name="Text 9"/>
          <p:cNvSpPr txBox="1"/>
          <p:nvPr/>
        </p:nvSpPr>
        <p:spPr>
          <a:xfrm>
            <a:off x="4590288" y="2468880"/>
            <a:ext cx="3008376" cy="81381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Nếu “trình độ tiếng Nhật” sinh khóa tiếng Việt còn “Japanese level” sinh khóa tiếng Anh, hệ coi là hai thuộc tính khác nhau và mất khả năng phát hiện cập nhật — mà không báo lỗi.</a:t>
            </a:r>
            <a:endParaRPr lang="en-US" sz="1150" dirty="0"/>
          </a:p>
        </p:txBody>
      </p:sp>
      <p:sp>
        <p:nvSpPr>
          <p:cNvPr id="12" name="Shape 10"/>
          <p:cNvSpPr/>
          <p:nvPr/>
        </p:nvSpPr>
        <p:spPr>
          <a:xfrm>
            <a:off x="8138160" y="1673352"/>
            <a:ext cx="3483864" cy="1737360"/>
          </a:xfrm>
          <a:prstGeom prst="roundRect">
            <a:avLst>
              <a:gd name="adj" fmla="val 2632"/>
            </a:avLst>
          </a:prstGeom>
          <a:solidFill>
            <a:srgbClr val="ECEBF7"/>
          </a:solidFill>
          <a:ln w="12700">
            <a:solidFill>
              <a:srgbClr val="ECEBF7"/>
            </a:solidFill>
            <a:prstDash val="solid"/>
          </a:ln>
        </p:spPr>
      </p:sp>
      <p:sp>
        <p:nvSpPr>
          <p:cNvPr id="13" name="Text 11"/>
          <p:cNvSpPr txBox="1"/>
          <p:nvPr/>
        </p:nvSpPr>
        <p:spPr>
          <a:xfrm>
            <a:off x="8375904" y="1847088"/>
            <a:ext cx="3008376" cy="219456"/>
          </a:xfrm>
          <a:prstGeom prst="rect">
            <a:avLst/>
          </a:prstGeom>
          <a:noFill/>
          <a:ln/>
        </p:spPr>
        <p:txBody>
          <a:bodyPr wrap="square" lIns="0" tIns="0" rIns="0" bIns="0" rtlCol="0" anchor="ctr"/>
          <a:lstStyle/>
          <a:p>
            <a:pPr indent="0" marL="0">
              <a:buNone/>
            </a:pPr>
            <a:r>
              <a:rPr lang="en-US" sz="1050" b="1" dirty="0">
                <a:solidFill>
                  <a:srgbClr val="3A36A0"/>
                </a:solidFill>
                <a:latin typeface="Calibri" pitchFamily="34" charset="0"/>
                <a:ea typeface="Calibri" pitchFamily="34" charset="-122"/>
                <a:cs typeface="Calibri" pitchFamily="34" charset="-120"/>
              </a:rPr>
              <a:t>GIÁ TRỊ</a:t>
            </a:r>
            <a:endParaRPr lang="en-US" sz="1050" dirty="0"/>
          </a:p>
        </p:txBody>
      </p:sp>
      <p:sp>
        <p:nvSpPr>
          <p:cNvPr id="14" name="Text 12"/>
          <p:cNvSpPr txBox="1"/>
          <p:nvPr/>
        </p:nvSpPr>
        <p:spPr>
          <a:xfrm>
            <a:off x="8375904" y="2121408"/>
            <a:ext cx="300837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Chuẩn hóa trước khi so</a:t>
            </a:r>
            <a:endParaRPr lang="en-US" sz="1400" dirty="0"/>
          </a:p>
        </p:txBody>
      </p:sp>
      <p:sp>
        <p:nvSpPr>
          <p:cNvPr id="15" name="Text 13"/>
          <p:cNvSpPr txBox="1"/>
          <p:nvPr/>
        </p:nvSpPr>
        <p:spPr>
          <a:xfrm>
            <a:off x="8375904" y="2468880"/>
            <a:ext cx="3008376" cy="81381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Hà Nội · Hanoi · HN phải so được với nhau. Ngày về ISO, cấp độ viết hoa, tên riêng giữ bản dài nhất. Không chuẩn hóa thì hệ báo UPDATE trong khi không có gì đổi.</a:t>
            </a:r>
            <a:endParaRPr lang="en-US" sz="1150" dirty="0"/>
          </a:p>
        </p:txBody>
      </p:sp>
      <p:sp>
        <p:nvSpPr>
          <p:cNvPr id="16" name="Shape 14"/>
          <p:cNvSpPr/>
          <p:nvPr/>
        </p:nvSpPr>
        <p:spPr>
          <a:xfrm>
            <a:off x="566928" y="3584448"/>
            <a:ext cx="5358384" cy="1188720"/>
          </a:xfrm>
          <a:prstGeom prst="roundRect">
            <a:avLst>
              <a:gd name="adj" fmla="val 3846"/>
            </a:avLst>
          </a:prstGeom>
          <a:solidFill>
            <a:srgbClr val="F7F7FB"/>
          </a:solidFill>
          <a:ln w="12700">
            <a:solidFill>
              <a:srgbClr val="F7F7FB"/>
            </a:solidFill>
            <a:prstDash val="solid"/>
          </a:ln>
        </p:spPr>
      </p:sp>
      <p:sp>
        <p:nvSpPr>
          <p:cNvPr id="17" name="Text 15"/>
          <p:cNvSpPr txBox="1"/>
          <p:nvPr/>
        </p:nvSpPr>
        <p:spPr>
          <a:xfrm>
            <a:off x="804672" y="3758184"/>
            <a:ext cx="4882896" cy="219456"/>
          </a:xfrm>
          <a:prstGeom prst="rect">
            <a:avLst/>
          </a:prstGeom>
          <a:noFill/>
          <a:ln/>
        </p:spPr>
        <p:txBody>
          <a:bodyPr wrap="square" lIns="0" tIns="0" rIns="0" bIns="0" rtlCol="0" anchor="ctr"/>
          <a:lstStyle/>
          <a:p>
            <a:pPr indent="0" marL="0">
              <a:buNone/>
            </a:pPr>
            <a:r>
              <a:rPr lang="en-US" sz="1050" b="1" dirty="0">
                <a:solidFill>
                  <a:srgbClr val="1FA6A6"/>
                </a:solidFill>
                <a:latin typeface="Calibri" pitchFamily="34" charset="0"/>
                <a:ea typeface="Calibri" pitchFamily="34" charset="-122"/>
                <a:cs typeface="Calibri" pitchFamily="34" charset="-120"/>
              </a:rPr>
              <a:t>TẦNG ĐỌC · CHỈ MỤC 1</a:t>
            </a:r>
            <a:endParaRPr lang="en-US" sz="1050" dirty="0"/>
          </a:p>
        </p:txBody>
      </p:sp>
      <p:sp>
        <p:nvSpPr>
          <p:cNvPr id="18" name="Text 16"/>
          <p:cNvSpPr txBox="1"/>
          <p:nvPr/>
        </p:nvSpPr>
        <p:spPr>
          <a:xfrm>
            <a:off x="804672" y="4032504"/>
            <a:ext cx="488289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Vector gốc-ngữ</a:t>
            </a:r>
            <a:endParaRPr lang="en-US" sz="1400" dirty="0"/>
          </a:p>
        </p:txBody>
      </p:sp>
      <p:sp>
        <p:nvSpPr>
          <p:cNvPr id="19" name="Text 17"/>
          <p:cNvSpPr txBox="1"/>
          <p:nvPr/>
        </p:nvSpPr>
        <p:spPr>
          <a:xfrm>
            <a:off x="804672" y="4379976"/>
            <a:ext cx="4882896" cy="26517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Nhúng text. Mạnh khi câu hỏi cùng ngôn ngữ với lúc ghi.</a:t>
            </a:r>
            <a:endParaRPr lang="en-US" sz="1150" dirty="0"/>
          </a:p>
        </p:txBody>
      </p:sp>
      <p:sp>
        <p:nvSpPr>
          <p:cNvPr id="20" name="Shape 18"/>
          <p:cNvSpPr/>
          <p:nvPr/>
        </p:nvSpPr>
        <p:spPr>
          <a:xfrm>
            <a:off x="6254496" y="3584448"/>
            <a:ext cx="5358384" cy="1188720"/>
          </a:xfrm>
          <a:prstGeom prst="roundRect">
            <a:avLst>
              <a:gd name="adj" fmla="val 3846"/>
            </a:avLst>
          </a:prstGeom>
          <a:solidFill>
            <a:srgbClr val="F7F7FB"/>
          </a:solidFill>
          <a:ln w="12700">
            <a:solidFill>
              <a:srgbClr val="F7F7FB"/>
            </a:solidFill>
            <a:prstDash val="solid"/>
          </a:ln>
        </p:spPr>
      </p:sp>
      <p:sp>
        <p:nvSpPr>
          <p:cNvPr id="21" name="Text 19"/>
          <p:cNvSpPr txBox="1"/>
          <p:nvPr/>
        </p:nvSpPr>
        <p:spPr>
          <a:xfrm>
            <a:off x="6492240" y="3758184"/>
            <a:ext cx="4882896" cy="219456"/>
          </a:xfrm>
          <a:prstGeom prst="rect">
            <a:avLst/>
          </a:prstGeom>
          <a:noFill/>
          <a:ln/>
        </p:spPr>
        <p:txBody>
          <a:bodyPr wrap="square" lIns="0" tIns="0" rIns="0" bIns="0" rtlCol="0" anchor="ctr"/>
          <a:lstStyle/>
          <a:p>
            <a:pPr indent="0" marL="0">
              <a:buNone/>
            </a:pPr>
            <a:r>
              <a:rPr lang="en-US" sz="1050" b="1" dirty="0">
                <a:solidFill>
                  <a:srgbClr val="1FA6A6"/>
                </a:solidFill>
                <a:latin typeface="Calibri" pitchFamily="34" charset="0"/>
                <a:ea typeface="Calibri" pitchFamily="34" charset="-122"/>
                <a:cs typeface="Calibri" pitchFamily="34" charset="-120"/>
              </a:rPr>
              <a:t>TẦNG ĐỌC · CHỈ MỤC 2</a:t>
            </a:r>
            <a:endParaRPr lang="en-US" sz="1050" dirty="0"/>
          </a:p>
        </p:txBody>
      </p:sp>
      <p:sp>
        <p:nvSpPr>
          <p:cNvPr id="22" name="Text 20"/>
          <p:cNvSpPr txBox="1"/>
          <p:nvPr/>
        </p:nvSpPr>
        <p:spPr>
          <a:xfrm>
            <a:off x="6492240" y="4032504"/>
            <a:ext cx="488289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Vector chuẩn-hóa</a:t>
            </a:r>
            <a:endParaRPr lang="en-US" sz="1400" dirty="0"/>
          </a:p>
        </p:txBody>
      </p:sp>
      <p:sp>
        <p:nvSpPr>
          <p:cNvPr id="23" name="Text 21"/>
          <p:cNvSpPr txBox="1"/>
          <p:nvPr/>
        </p:nvSpPr>
        <p:spPr>
          <a:xfrm>
            <a:off x="6492240" y="4379976"/>
            <a:ext cx="4882896" cy="26517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Nhúng text_canon. Mạnh khi câu hỏi khác ngôn ngữ: cả hai phía đều đã về tiếng Anh nên không phải dựa vào khả năng bắc cầu của mô hình.</a:t>
            </a:r>
            <a:endParaRPr lang="en-US" sz="1150" dirty="0"/>
          </a:p>
        </p:txBody>
      </p:sp>
      <p:sp>
        <p:nvSpPr>
          <p:cNvPr id="24" name="Shape 22"/>
          <p:cNvSpPr/>
          <p:nvPr/>
        </p:nvSpPr>
        <p:spPr>
          <a:xfrm>
            <a:off x="566928" y="4956048"/>
            <a:ext cx="11045952" cy="1298448"/>
          </a:xfrm>
          <a:prstGeom prst="roundRect">
            <a:avLst>
              <a:gd name="adj" fmla="val 3521"/>
            </a:avLst>
          </a:prstGeom>
          <a:solidFill>
            <a:srgbClr val="13123A"/>
          </a:solidFill>
          <a:ln w="12700">
            <a:solidFill>
              <a:srgbClr val="13123A"/>
            </a:solidFill>
            <a:prstDash val="solid"/>
          </a:ln>
        </p:spPr>
      </p:sp>
      <p:sp>
        <p:nvSpPr>
          <p:cNvPr id="25" name="Text 23"/>
          <p:cNvSpPr txBox="1"/>
          <p:nvPr/>
        </p:nvSpPr>
        <p:spPr>
          <a:xfrm>
            <a:off x="822960" y="5138928"/>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NĂNG LỰC THỨ CHÍN — PHẦN RIÊNG CỦA ĐỒ ÁN</a:t>
            </a:r>
            <a:endParaRPr lang="en-US" sz="1100" dirty="0"/>
          </a:p>
        </p:txBody>
      </p:sp>
      <p:sp>
        <p:nvSpPr>
          <p:cNvPr id="26" name="Text 24"/>
          <p:cNvSpPr txBox="1"/>
          <p:nvPr/>
        </p:nvSpPr>
        <p:spPr>
          <a:xfrm>
            <a:off x="822960" y="5413248"/>
            <a:ext cx="10533888" cy="694944"/>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Hai chỉ mục hợp nhất bằng RRF, và đây cũng là một thí nghiệm cắt bỏ thành phần sạch: chỉ gốc-ngữ, chỉ chuẩn-hóa, hay cả hai. Kèm theo là một bộ test khoảng 60 câu do nhóm tự xây: ghi bằng tiếng Việt rồi hỏi bằng tiếng Anh và ngược lại. Không benchmark công khai nào chấm việc này.</a:t>
            </a:r>
            <a:endParaRPr lang="en-US" sz="1250" dirty="0"/>
          </a:p>
        </p:txBody>
      </p:sp>
      <p:sp>
        <p:nvSpPr>
          <p:cNvPr id="27" name="Text 25"/>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Reciprocal Rank Fusion: Cormack et al., SIGIR 2009. Mô hình embedding xuyên ngữ dự kiến: BGE-M3, chạy local.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THIẾT KẾ · 3/5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Lược đồ bộ nhớ và nguồn gốc thông tin</a:t>
            </a:r>
            <a:endParaRPr lang="en-US" sz="3000" dirty="0"/>
          </a:p>
        </p:txBody>
      </p:sp>
      <p:sp>
        <p:nvSpPr>
          <p:cNvPr id="4" name="Shape 2"/>
          <p:cNvSpPr/>
          <p:nvPr/>
        </p:nvSpPr>
        <p:spPr>
          <a:xfrm>
            <a:off x="566928" y="1673352"/>
            <a:ext cx="11045952" cy="841248"/>
          </a:xfrm>
          <a:prstGeom prst="roundRect">
            <a:avLst>
              <a:gd name="adj" fmla="val 5435"/>
            </a:avLst>
          </a:prstGeom>
          <a:solidFill>
            <a:srgbClr val="ECEBF7"/>
          </a:solidFill>
          <a:ln w="12700">
            <a:solidFill>
              <a:srgbClr val="ECEBF7"/>
            </a:solidFill>
            <a:prstDash val="solid"/>
          </a:ln>
        </p:spPr>
      </p:sp>
      <p:sp>
        <p:nvSpPr>
          <p:cNvPr id="5" name="Text 3"/>
          <p:cNvSpPr txBox="1"/>
          <p:nvPr/>
        </p:nvSpPr>
        <p:spPr>
          <a:xfrm>
            <a:off x="566928" y="1810512"/>
            <a:ext cx="11045952" cy="274320"/>
          </a:xfrm>
          <a:prstGeom prst="rect">
            <a:avLst/>
          </a:prstGeom>
          <a:noFill/>
          <a:ln/>
        </p:spPr>
        <p:txBody>
          <a:bodyPr wrap="square" lIns="0" tIns="0" rIns="0" bIns="0" rtlCol="0" anchor="ctr"/>
          <a:lstStyle/>
          <a:p>
            <a:pPr algn="ctr" indent="0" marL="0">
              <a:buNone/>
            </a:pPr>
            <a:r>
              <a:rPr lang="en-US" sz="1600" b="1" dirty="0">
                <a:solidFill>
                  <a:srgbClr val="3A36A0"/>
                </a:solidFill>
                <a:latin typeface="Courier New" pitchFamily="34" charset="0"/>
                <a:ea typeface="Courier New" pitchFamily="34" charset="-122"/>
                <a:cs typeface="Courier New" pitchFamily="34" charset="-120"/>
              </a:rPr>
              <a:t>( subject , attribute )</a:t>
            </a:r>
            <a:pPr algn="ctr" indent="0" marL="0">
              <a:buNone/>
            </a:pPr>
            <a:r>
              <a:rPr lang="en-US" sz="1600" dirty="0">
                <a:solidFill>
                  <a:srgbClr val="4A4E63"/>
                </a:solidFill>
                <a:latin typeface="Courier New" pitchFamily="34" charset="0"/>
                <a:ea typeface="Courier New" pitchFamily="34" charset="-122"/>
                <a:cs typeface="Courier New" pitchFamily="34" charset="-120"/>
              </a:rPr>
              <a:t>  →  </a:t>
            </a:r>
            <a:pPr algn="ctr" indent="0" marL="0">
              <a:buNone/>
            </a:pPr>
            <a:r>
              <a:rPr lang="en-US" sz="1600" b="1" dirty="0">
                <a:solidFill>
                  <a:srgbClr val="13123A"/>
                </a:solidFill>
                <a:latin typeface="Courier New" pitchFamily="34" charset="0"/>
                <a:ea typeface="Courier New" pitchFamily="34" charset="-122"/>
                <a:cs typeface="Courier New" pitchFamily="34" charset="-120"/>
              </a:rPr>
              <a:t>value</a:t>
            </a:r>
            <a:pPr algn="ctr" indent="0" marL="0">
              <a:buNone/>
            </a:pPr>
            <a:r>
              <a:rPr lang="en-US" sz="1600" dirty="0">
                <a:solidFill>
                  <a:srgbClr val="4A4E63"/>
                </a:solidFill>
                <a:latin typeface="Courier New" pitchFamily="34" charset="0"/>
                <a:ea typeface="Courier New" pitchFamily="34" charset="-122"/>
                <a:cs typeface="Courier New" pitchFamily="34" charset="-120"/>
              </a:rPr>
              <a:t>   +   </a:t>
            </a:r>
            <a:pPr algn="ctr" indent="0" marL="0">
              <a:buNone/>
            </a:pPr>
            <a:r>
              <a:rPr lang="en-US" sz="1600" b="1" dirty="0">
                <a:solidFill>
                  <a:srgbClr val="E9970B"/>
                </a:solidFill>
                <a:latin typeface="Courier New" pitchFamily="34" charset="0"/>
                <a:ea typeface="Courier New" pitchFamily="34" charset="-122"/>
                <a:cs typeface="Courier New" pitchFamily="34" charset="-120"/>
              </a:rPr>
              <a:t>seq</a:t>
            </a:r>
            <a:pPr algn="ctr" indent="0" marL="0">
              <a:buNone/>
            </a:pPr>
            <a:r>
              <a:rPr lang="en-US" sz="1600" dirty="0">
                <a:solidFill>
                  <a:srgbClr val="4A4E63"/>
                </a:solidFill>
                <a:latin typeface="Courier New" pitchFamily="34" charset="0"/>
                <a:ea typeface="Courier New" pitchFamily="34" charset="-122"/>
                <a:cs typeface="Courier New" pitchFamily="34" charset="-120"/>
              </a:rPr>
              <a:t>   +   </a:t>
            </a:r>
            <a:pPr algn="ctr" indent="0" marL="0">
              <a:buNone/>
            </a:pPr>
            <a:r>
              <a:rPr lang="en-US" sz="1600" b="1" dirty="0">
                <a:solidFill>
                  <a:srgbClr val="1FA6A6"/>
                </a:solidFill>
                <a:latin typeface="Courier New" pitchFamily="34" charset="0"/>
                <a:ea typeface="Courier New" pitchFamily="34" charset="-122"/>
                <a:cs typeface="Courier New" pitchFamily="34" charset="-120"/>
              </a:rPr>
              <a:t>lang</a:t>
            </a:r>
            <a:endParaRPr lang="en-US" sz="1600" dirty="0"/>
          </a:p>
        </p:txBody>
      </p:sp>
      <p:sp>
        <p:nvSpPr>
          <p:cNvPr id="6" name="Text 4"/>
          <p:cNvSpPr txBox="1"/>
          <p:nvPr/>
        </p:nvSpPr>
        <p:spPr>
          <a:xfrm>
            <a:off x="566928" y="2157984"/>
            <a:ext cx="11045952" cy="274320"/>
          </a:xfrm>
          <a:prstGeom prst="rect">
            <a:avLst/>
          </a:prstGeom>
          <a:noFill/>
          <a:ln/>
        </p:spPr>
        <p:txBody>
          <a:bodyPr wrap="square" lIns="0" tIns="0" rIns="0" bIns="0" rtlCol="0" anchor="ctr"/>
          <a:lstStyle/>
          <a:p>
            <a:pPr algn="ctr" indent="0" marL="0">
              <a:buNone/>
            </a:pPr>
            <a:r>
              <a:rPr lang="en-US" sz="1300" dirty="0">
                <a:solidFill>
                  <a:srgbClr val="4A4E63"/>
                </a:solidFill>
                <a:latin typeface="Courier New" pitchFamily="34" charset="0"/>
                <a:ea typeface="Courier New" pitchFamily="34" charset="-122"/>
                <a:cs typeface="Courier New" pitchFamily="34" charset="-120"/>
              </a:rPr>
              <a:t>( "user" , "japanese_level" )  →  "N4"   +   #4   +   vi</a:t>
            </a:r>
            <a:endParaRPr lang="en-US" sz="1300" dirty="0"/>
          </a:p>
        </p:txBody>
      </p:sp>
      <p:sp>
        <p:nvSpPr>
          <p:cNvPr id="7" name="Shape 5"/>
          <p:cNvSpPr/>
          <p:nvPr/>
        </p:nvSpPr>
        <p:spPr>
          <a:xfrm>
            <a:off x="566928" y="2688336"/>
            <a:ext cx="5358384" cy="859536"/>
          </a:xfrm>
          <a:prstGeom prst="roundRect">
            <a:avLst>
              <a:gd name="adj" fmla="val 5319"/>
            </a:avLst>
          </a:prstGeom>
          <a:solidFill>
            <a:srgbClr val="F7F7FB"/>
          </a:solidFill>
          <a:ln w="12700">
            <a:solidFill>
              <a:srgbClr val="F7F7FB"/>
            </a:solidFill>
            <a:prstDash val="solid"/>
          </a:ln>
        </p:spPr>
      </p:sp>
      <p:sp>
        <p:nvSpPr>
          <p:cNvPr id="8" name="Text 6"/>
          <p:cNvSpPr txBox="1"/>
          <p:nvPr/>
        </p:nvSpPr>
        <p:spPr>
          <a:xfrm>
            <a:off x="804672" y="2807208"/>
            <a:ext cx="4882896" cy="237744"/>
          </a:xfrm>
          <a:prstGeom prst="rect">
            <a:avLst/>
          </a:prstGeom>
          <a:noFill/>
          <a:ln/>
        </p:spPr>
        <p:txBody>
          <a:bodyPr wrap="square" lIns="0" tIns="0" rIns="0" bIns="0" rtlCol="0" anchor="ctr"/>
          <a:lstStyle/>
          <a:p>
            <a:pPr indent="0" marL="0">
              <a:buNone/>
            </a:pPr>
            <a:r>
              <a:rPr lang="en-US" sz="1300" b="1" dirty="0">
                <a:solidFill>
                  <a:srgbClr val="3A36A0"/>
                </a:solidFill>
                <a:latin typeface="Cambria" pitchFamily="34" charset="0"/>
                <a:ea typeface="Cambria" pitchFamily="34" charset="-122"/>
                <a:cs typeface="Cambria" pitchFamily="34" charset="-120"/>
              </a:rPr>
              <a:t>Nhận dạng &amp; văn bản</a:t>
            </a:r>
            <a:endParaRPr lang="en-US" sz="1300" dirty="0"/>
          </a:p>
        </p:txBody>
      </p:sp>
      <p:sp>
        <p:nvSpPr>
          <p:cNvPr id="9" name="Text 7"/>
          <p:cNvSpPr txBox="1"/>
          <p:nvPr/>
        </p:nvSpPr>
        <p:spPr>
          <a:xfrm>
            <a:off x="804672" y="3072384"/>
            <a:ext cx="4882896" cy="402336"/>
          </a:xfrm>
          <a:prstGeom prst="rect">
            <a:avLst/>
          </a:prstGeom>
          <a:noFill/>
          <a:ln/>
        </p:spPr>
        <p:txBody>
          <a:bodyPr wrap="square" lIns="0" tIns="0" rIns="0" bIns="0" rtlCol="0" anchor="t"/>
          <a:lstStyle/>
          <a:p>
            <a:pPr indent="0" marL="0">
              <a:lnSpc>
                <a:spcPct val="95000"/>
              </a:lnSpc>
              <a:buNone/>
            </a:pPr>
            <a:r>
              <a:rPr lang="en-US" sz="1100" dirty="0">
                <a:solidFill>
                  <a:srgbClr val="4A4E63"/>
                </a:solidFill>
                <a:latin typeface="Courier New" pitchFamily="34" charset="0"/>
                <a:ea typeface="Courier New" pitchFamily="34" charset="-122"/>
                <a:cs typeface="Courier New" pitchFamily="34" charset="-120"/>
              </a:rPr>
              <a:t>subject · attribute (luôn tiếng Anh) · value · value_canon · text · text_canon · lang</a:t>
            </a:r>
            <a:endParaRPr lang="en-US" sz="1100" dirty="0"/>
          </a:p>
        </p:txBody>
      </p:sp>
      <p:sp>
        <p:nvSpPr>
          <p:cNvPr id="10" name="Shape 8"/>
          <p:cNvSpPr/>
          <p:nvPr/>
        </p:nvSpPr>
        <p:spPr>
          <a:xfrm>
            <a:off x="6254496" y="2688336"/>
            <a:ext cx="5358384" cy="859536"/>
          </a:xfrm>
          <a:prstGeom prst="roundRect">
            <a:avLst>
              <a:gd name="adj" fmla="val 5319"/>
            </a:avLst>
          </a:prstGeom>
          <a:solidFill>
            <a:srgbClr val="F7F7FB"/>
          </a:solidFill>
          <a:ln w="12700">
            <a:solidFill>
              <a:srgbClr val="F7F7FB"/>
            </a:solidFill>
            <a:prstDash val="solid"/>
          </a:ln>
        </p:spPr>
      </p:sp>
      <p:sp>
        <p:nvSpPr>
          <p:cNvPr id="11" name="Text 9"/>
          <p:cNvSpPr txBox="1"/>
          <p:nvPr/>
        </p:nvSpPr>
        <p:spPr>
          <a:xfrm>
            <a:off x="6492240" y="2807208"/>
            <a:ext cx="4882896" cy="237744"/>
          </a:xfrm>
          <a:prstGeom prst="rect">
            <a:avLst/>
          </a:prstGeom>
          <a:noFill/>
          <a:ln/>
        </p:spPr>
        <p:txBody>
          <a:bodyPr wrap="square" lIns="0" tIns="0" rIns="0" bIns="0" rtlCol="0" anchor="ctr"/>
          <a:lstStyle/>
          <a:p>
            <a:pPr indent="0" marL="0">
              <a:buNone/>
            </a:pPr>
            <a:r>
              <a:rPr lang="en-US" sz="1300" b="1" dirty="0">
                <a:solidFill>
                  <a:srgbClr val="3A36A0"/>
                </a:solidFill>
                <a:latin typeface="Cambria" pitchFamily="34" charset="0"/>
                <a:ea typeface="Cambria" pitchFamily="34" charset="-122"/>
                <a:cs typeface="Cambria" pitchFamily="34" charset="-120"/>
              </a:rPr>
              <a:t>Độ mới</a:t>
            </a:r>
            <a:endParaRPr lang="en-US" sz="1300" dirty="0"/>
          </a:p>
        </p:txBody>
      </p:sp>
      <p:sp>
        <p:nvSpPr>
          <p:cNvPr id="12" name="Text 10"/>
          <p:cNvSpPr txBox="1"/>
          <p:nvPr/>
        </p:nvSpPr>
        <p:spPr>
          <a:xfrm>
            <a:off x="6492240" y="3072384"/>
            <a:ext cx="4882896" cy="402336"/>
          </a:xfrm>
          <a:prstGeom prst="rect">
            <a:avLst/>
          </a:prstGeom>
          <a:noFill/>
          <a:ln/>
        </p:spPr>
        <p:txBody>
          <a:bodyPr wrap="square" lIns="0" tIns="0" rIns="0" bIns="0" rtlCol="0" anchor="t"/>
          <a:lstStyle/>
          <a:p>
            <a:pPr indent="0" marL="0">
              <a:lnSpc>
                <a:spcPct val="95000"/>
              </a:lnSpc>
              <a:buNone/>
            </a:pPr>
            <a:r>
              <a:rPr lang="en-US" sz="1100" dirty="0">
                <a:solidFill>
                  <a:srgbClr val="4A4E63"/>
                </a:solidFill>
                <a:latin typeface="Courier New" pitchFamily="34" charset="0"/>
                <a:ea typeface="Courier New" pitchFamily="34" charset="-122"/>
                <a:cs typeface="Courier New" pitchFamily="34" charset="-120"/>
              </a:rPr>
              <a:t>seq · status (active / pending / superseded / deleted) · superseded_by</a:t>
            </a:r>
            <a:endParaRPr lang="en-US" sz="1100" dirty="0"/>
          </a:p>
        </p:txBody>
      </p:sp>
      <p:sp>
        <p:nvSpPr>
          <p:cNvPr id="13" name="Shape 11"/>
          <p:cNvSpPr/>
          <p:nvPr/>
        </p:nvSpPr>
        <p:spPr>
          <a:xfrm>
            <a:off x="566928" y="3675888"/>
            <a:ext cx="5358384" cy="859536"/>
          </a:xfrm>
          <a:prstGeom prst="roundRect">
            <a:avLst>
              <a:gd name="adj" fmla="val 5319"/>
            </a:avLst>
          </a:prstGeom>
          <a:solidFill>
            <a:srgbClr val="F7F7FB"/>
          </a:solidFill>
          <a:ln w="12700">
            <a:solidFill>
              <a:srgbClr val="F7F7FB"/>
            </a:solidFill>
            <a:prstDash val="solid"/>
          </a:ln>
        </p:spPr>
      </p:sp>
      <p:sp>
        <p:nvSpPr>
          <p:cNvPr id="14" name="Text 12"/>
          <p:cNvSpPr txBox="1"/>
          <p:nvPr/>
        </p:nvSpPr>
        <p:spPr>
          <a:xfrm>
            <a:off x="804672" y="3794760"/>
            <a:ext cx="4882896" cy="237744"/>
          </a:xfrm>
          <a:prstGeom prst="rect">
            <a:avLst/>
          </a:prstGeom>
          <a:noFill/>
          <a:ln/>
        </p:spPr>
        <p:txBody>
          <a:bodyPr wrap="square" lIns="0" tIns="0" rIns="0" bIns="0" rtlCol="0" anchor="ctr"/>
          <a:lstStyle/>
          <a:p>
            <a:pPr indent="0" marL="0">
              <a:buNone/>
            </a:pPr>
            <a:r>
              <a:rPr lang="en-US" sz="1300" b="1" dirty="0">
                <a:solidFill>
                  <a:srgbClr val="3A36A0"/>
                </a:solidFill>
                <a:latin typeface="Cambria" pitchFamily="34" charset="0"/>
                <a:ea typeface="Cambria" pitchFamily="34" charset="-122"/>
                <a:cs typeface="Cambria" pitchFamily="34" charset="-120"/>
              </a:rPr>
              <a:t>Thời gian &amp; phân loại</a:t>
            </a:r>
            <a:endParaRPr lang="en-US" sz="1300" dirty="0"/>
          </a:p>
        </p:txBody>
      </p:sp>
      <p:sp>
        <p:nvSpPr>
          <p:cNvPr id="15" name="Text 13"/>
          <p:cNvSpPr txBox="1"/>
          <p:nvPr/>
        </p:nvSpPr>
        <p:spPr>
          <a:xfrm>
            <a:off x="804672" y="4059936"/>
            <a:ext cx="4882896" cy="402336"/>
          </a:xfrm>
          <a:prstGeom prst="rect">
            <a:avLst/>
          </a:prstGeom>
          <a:noFill/>
          <a:ln/>
        </p:spPr>
        <p:txBody>
          <a:bodyPr wrap="square" lIns="0" tIns="0" rIns="0" bIns="0" rtlCol="0" anchor="t"/>
          <a:lstStyle/>
          <a:p>
            <a:pPr indent="0" marL="0">
              <a:lnSpc>
                <a:spcPct val="95000"/>
              </a:lnSpc>
              <a:buNone/>
            </a:pPr>
            <a:r>
              <a:rPr lang="en-US" sz="1100" dirty="0">
                <a:solidFill>
                  <a:srgbClr val="4A4E63"/>
                </a:solidFill>
                <a:latin typeface="Courier New" pitchFamily="34" charset="0"/>
                <a:ea typeface="Courier New" pitchFamily="34" charset="-122"/>
                <a:cs typeface="Courier New" pitchFamily="34" charset="-120"/>
              </a:rPr>
              <a:t>valid_from · invalidated_at · event_time · memory_type · pinned</a:t>
            </a:r>
            <a:endParaRPr lang="en-US" sz="1100" dirty="0"/>
          </a:p>
        </p:txBody>
      </p:sp>
      <p:sp>
        <p:nvSpPr>
          <p:cNvPr id="16" name="Shape 14"/>
          <p:cNvSpPr/>
          <p:nvPr/>
        </p:nvSpPr>
        <p:spPr>
          <a:xfrm>
            <a:off x="6254496" y="3675888"/>
            <a:ext cx="5358384" cy="859536"/>
          </a:xfrm>
          <a:prstGeom prst="roundRect">
            <a:avLst>
              <a:gd name="adj" fmla="val 5319"/>
            </a:avLst>
          </a:prstGeom>
          <a:solidFill>
            <a:srgbClr val="F7F7FB"/>
          </a:solidFill>
          <a:ln w="12700">
            <a:solidFill>
              <a:srgbClr val="F7F7FB"/>
            </a:solidFill>
            <a:prstDash val="solid"/>
          </a:ln>
        </p:spPr>
      </p:sp>
      <p:sp>
        <p:nvSpPr>
          <p:cNvPr id="17" name="Text 15"/>
          <p:cNvSpPr txBox="1"/>
          <p:nvPr/>
        </p:nvSpPr>
        <p:spPr>
          <a:xfrm>
            <a:off x="6492240" y="3794760"/>
            <a:ext cx="4882896" cy="237744"/>
          </a:xfrm>
          <a:prstGeom prst="rect">
            <a:avLst/>
          </a:prstGeom>
          <a:noFill/>
          <a:ln/>
        </p:spPr>
        <p:txBody>
          <a:bodyPr wrap="square" lIns="0" tIns="0" rIns="0" bIns="0" rtlCol="0" anchor="ctr"/>
          <a:lstStyle/>
          <a:p>
            <a:pPr indent="0" marL="0">
              <a:buNone/>
            </a:pPr>
            <a:r>
              <a:rPr lang="en-US" sz="1300" b="1" dirty="0">
                <a:solidFill>
                  <a:srgbClr val="3A36A0"/>
                </a:solidFill>
                <a:latin typeface="Cambria" pitchFamily="34" charset="0"/>
                <a:ea typeface="Cambria" pitchFamily="34" charset="-122"/>
                <a:cs typeface="Cambria" pitchFamily="34" charset="-120"/>
              </a:rPr>
              <a:t>Nguồn gốc</a:t>
            </a:r>
            <a:endParaRPr lang="en-US" sz="1300" dirty="0"/>
          </a:p>
        </p:txBody>
      </p:sp>
      <p:sp>
        <p:nvSpPr>
          <p:cNvPr id="18" name="Text 16"/>
          <p:cNvSpPr txBox="1"/>
          <p:nvPr/>
        </p:nvSpPr>
        <p:spPr>
          <a:xfrm>
            <a:off x="6492240" y="4059936"/>
            <a:ext cx="4882896" cy="402336"/>
          </a:xfrm>
          <a:prstGeom prst="rect">
            <a:avLst/>
          </a:prstGeom>
          <a:noFill/>
          <a:ln/>
        </p:spPr>
        <p:txBody>
          <a:bodyPr wrap="square" lIns="0" tIns="0" rIns="0" bIns="0" rtlCol="0" anchor="t"/>
          <a:lstStyle/>
          <a:p>
            <a:pPr indent="0" marL="0">
              <a:lnSpc>
                <a:spcPct val="95000"/>
              </a:lnSpc>
              <a:buNone/>
            </a:pPr>
            <a:r>
              <a:rPr lang="en-US" sz="1100" dirty="0">
                <a:solidFill>
                  <a:srgbClr val="4A4E63"/>
                </a:solidFill>
                <a:latin typeface="Courier New" pitchFamily="34" charset="0"/>
                <a:ea typeface="Courier New" pitchFamily="34" charset="-122"/>
                <a:cs typeface="Courier New" pitchFamily="34" charset="-120"/>
              </a:rPr>
              <a:t>speaker (user / assistant) · confirmed · needs_review · source_text (không nhúng)</a:t>
            </a:r>
            <a:endParaRPr lang="en-US" sz="1100" dirty="0"/>
          </a:p>
        </p:txBody>
      </p:sp>
      <p:sp>
        <p:nvSpPr>
          <p:cNvPr id="19" name="Shape 17"/>
          <p:cNvSpPr/>
          <p:nvPr/>
        </p:nvSpPr>
        <p:spPr>
          <a:xfrm>
            <a:off x="566928" y="4736592"/>
            <a:ext cx="11045952" cy="1389888"/>
          </a:xfrm>
          <a:prstGeom prst="roundRect">
            <a:avLst>
              <a:gd name="adj" fmla="val 3289"/>
            </a:avLst>
          </a:prstGeom>
          <a:solidFill>
            <a:srgbClr val="13123A"/>
          </a:solidFill>
          <a:ln w="12700">
            <a:solidFill>
              <a:srgbClr val="13123A"/>
            </a:solidFill>
            <a:prstDash val="solid"/>
          </a:ln>
        </p:spPr>
      </p:sp>
      <p:sp>
        <p:nvSpPr>
          <p:cNvPr id="20" name="Text 18"/>
          <p:cNvSpPr txBox="1"/>
          <p:nvPr/>
        </p:nvSpPr>
        <p:spPr>
          <a:xfrm>
            <a:off x="822960" y="4919472"/>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TRẠNG THÁI PENDING — CHỐNG ẢO GIÁC TỰ CỦNG CỐ</a:t>
            </a:r>
            <a:endParaRPr lang="en-US" sz="1100" dirty="0"/>
          </a:p>
        </p:txBody>
      </p:sp>
      <p:sp>
        <p:nvSpPr>
          <p:cNvPr id="21" name="Text 19"/>
          <p:cNvSpPr txBox="1"/>
          <p:nvPr/>
        </p:nvSpPr>
        <p:spPr>
          <a:xfrm>
            <a:off x="822960" y="5193792"/>
            <a:ext cx="10533888" cy="786384"/>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LongMemEval có loại câu hỏi single-session-assistant: thông tin do TRỢ LÝ nói ra mà người dùng cần nhớ. Bỏ phía trợ lý là mất trọn một nhóm điểm. Nhưng nếu lưu vô điều kiện, hệ sẽ ghi lại chính thứ mô hình vừa bịa ra, rồi lượt sau truy xuất chúng như sự thật đã xác lập. Giải pháp: fact từ phía trợ lý vào trạng thái pending, không được truy xuất, cho tới khi người dùng xác nhận. Quá ba lượt không ai nhắc lại thì bỏ.</a:t>
            </a:r>
            <a:endParaRPr lang="en-US" sz="1250" dirty="0"/>
          </a:p>
        </p:txBody>
      </p:sp>
      <p:sp>
        <p:nvSpPr>
          <p:cNvPr id="22" name="Text 20"/>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Loại câu hỏi single-session-assistant: Wu et al., LongMemEval, ICLR 2025 (arXiv:2410.10813).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THIẾT KẾ · 4/5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Đường truy xuất: lai, hợp nhất, xếp lại</a:t>
            </a:r>
            <a:endParaRPr lang="en-US" sz="3000" dirty="0"/>
          </a:p>
        </p:txBody>
      </p:sp>
      <p:sp>
        <p:nvSpPr>
          <p:cNvPr id="4" name="Shape 2"/>
          <p:cNvSpPr/>
          <p:nvPr/>
        </p:nvSpPr>
        <p:spPr>
          <a:xfrm>
            <a:off x="566928" y="1719072"/>
            <a:ext cx="2011680" cy="1316736"/>
          </a:xfrm>
          <a:prstGeom prst="roundRect">
            <a:avLst>
              <a:gd name="adj" fmla="val 3472"/>
            </a:avLst>
          </a:prstGeom>
          <a:solidFill>
            <a:srgbClr val="ECEBF7"/>
          </a:solidFill>
          <a:ln w="12700">
            <a:solidFill>
              <a:srgbClr val="ECEBF7"/>
            </a:solidFill>
            <a:prstDash val="solid"/>
          </a:ln>
        </p:spPr>
      </p:sp>
      <p:sp>
        <p:nvSpPr>
          <p:cNvPr id="5" name="Text 3"/>
          <p:cNvSpPr txBox="1"/>
          <p:nvPr/>
        </p:nvSpPr>
        <p:spPr>
          <a:xfrm>
            <a:off x="749808" y="1865376"/>
            <a:ext cx="457200" cy="219456"/>
          </a:xfrm>
          <a:prstGeom prst="rect">
            <a:avLst/>
          </a:prstGeom>
          <a:noFill/>
          <a:ln/>
        </p:spPr>
        <p:txBody>
          <a:bodyPr wrap="square" lIns="0" tIns="0" rIns="0" bIns="0" rtlCol="0" anchor="ctr"/>
          <a:lstStyle/>
          <a:p>
            <a:pPr indent="0" marL="0">
              <a:buNone/>
            </a:pPr>
            <a:r>
              <a:rPr lang="en-US" sz="1050" b="1" dirty="0">
                <a:solidFill>
                  <a:srgbClr val="3A36A0"/>
                </a:solidFill>
                <a:latin typeface="Courier New" pitchFamily="34" charset="0"/>
                <a:ea typeface="Courier New" pitchFamily="34" charset="-122"/>
                <a:cs typeface="Courier New" pitchFamily="34" charset="-120"/>
              </a:rPr>
              <a:t>1</a:t>
            </a:r>
            <a:endParaRPr lang="en-US" sz="1050" dirty="0"/>
          </a:p>
        </p:txBody>
      </p:sp>
      <p:sp>
        <p:nvSpPr>
          <p:cNvPr id="6" name="Text 4"/>
          <p:cNvSpPr txBox="1"/>
          <p:nvPr/>
        </p:nvSpPr>
        <p:spPr>
          <a:xfrm>
            <a:off x="749808" y="2121408"/>
            <a:ext cx="1645920" cy="274320"/>
          </a:xfrm>
          <a:prstGeom prst="rect">
            <a:avLst/>
          </a:prstGeom>
          <a:noFill/>
          <a:ln/>
        </p:spPr>
        <p:txBody>
          <a:bodyPr wrap="square" lIns="0" tIns="0" rIns="0" bIns="0" rtlCol="0" anchor="ctr"/>
          <a:lstStyle/>
          <a:p>
            <a:pPr indent="0" marL="0">
              <a:buNone/>
            </a:pPr>
            <a:r>
              <a:rPr lang="en-US" sz="1300" b="1" dirty="0">
                <a:solidFill>
                  <a:srgbClr val="13123A"/>
                </a:solidFill>
                <a:latin typeface="Cambria" pitchFamily="34" charset="0"/>
                <a:ea typeface="Cambria" pitchFamily="34" charset="-122"/>
                <a:cs typeface="Cambria" pitchFamily="34" charset="-120"/>
              </a:rPr>
              <a:t>Tách truy vấn</a:t>
            </a:r>
            <a:endParaRPr lang="en-US" sz="1300" dirty="0"/>
          </a:p>
        </p:txBody>
      </p:sp>
      <p:sp>
        <p:nvSpPr>
          <p:cNvPr id="7" name="Text 5"/>
          <p:cNvSpPr txBox="1"/>
          <p:nvPr/>
        </p:nvSpPr>
        <p:spPr>
          <a:xfrm>
            <a:off x="749808" y="2432304"/>
            <a:ext cx="1645920" cy="512064"/>
          </a:xfrm>
          <a:prstGeom prst="rect">
            <a:avLst/>
          </a:prstGeom>
          <a:noFill/>
          <a:ln/>
        </p:spPr>
        <p:txBody>
          <a:bodyPr wrap="square" lIns="0" tIns="0" rIns="0" bIns="0" rtlCol="0" anchor="t"/>
          <a:lstStyle/>
          <a:p>
            <a:pPr indent="0" marL="0">
              <a:lnSpc>
                <a:spcPct val="92000"/>
              </a:lnSpc>
              <a:buNone/>
            </a:pPr>
            <a:r>
              <a:rPr lang="en-US" sz="1050" dirty="0">
                <a:solidFill>
                  <a:srgbClr val="4A4E63"/>
                </a:solidFill>
                <a:latin typeface="Calibri" pitchFamily="34" charset="0"/>
                <a:ea typeface="Calibri" pitchFamily="34" charset="-122"/>
                <a:cs typeface="Calibri" pitchFamily="34" charset="-120"/>
              </a:rPr>
              <a:t>Câu hỏi phức → 2–3 truy vấn con</a:t>
            </a:r>
            <a:endParaRPr lang="en-US" sz="1050" dirty="0"/>
          </a:p>
        </p:txBody>
      </p:sp>
      <p:sp>
        <p:nvSpPr>
          <p:cNvPr id="8" name="Text 6"/>
          <p:cNvSpPr txBox="1"/>
          <p:nvPr/>
        </p:nvSpPr>
        <p:spPr>
          <a:xfrm>
            <a:off x="2578608" y="2212848"/>
            <a:ext cx="246888" cy="274320"/>
          </a:xfrm>
          <a:prstGeom prst="rect">
            <a:avLst/>
          </a:prstGeom>
          <a:noFill/>
          <a:ln/>
        </p:spPr>
        <p:txBody>
          <a:bodyPr wrap="square" lIns="0" tIns="0" rIns="0" bIns="0" rtlCol="0" anchor="ctr"/>
          <a:lstStyle/>
          <a:p>
            <a:pPr algn="ctr" indent="0" marL="0">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2825496" y="1719072"/>
            <a:ext cx="2011680" cy="1316736"/>
          </a:xfrm>
          <a:prstGeom prst="roundRect">
            <a:avLst>
              <a:gd name="adj" fmla="val 3472"/>
            </a:avLst>
          </a:prstGeom>
          <a:solidFill>
            <a:srgbClr val="ECEBF7"/>
          </a:solidFill>
          <a:ln w="12700">
            <a:solidFill>
              <a:srgbClr val="ECEBF7"/>
            </a:solidFill>
            <a:prstDash val="solid"/>
          </a:ln>
        </p:spPr>
      </p:sp>
      <p:sp>
        <p:nvSpPr>
          <p:cNvPr id="10" name="Text 8"/>
          <p:cNvSpPr txBox="1"/>
          <p:nvPr/>
        </p:nvSpPr>
        <p:spPr>
          <a:xfrm>
            <a:off x="3008376" y="1865376"/>
            <a:ext cx="457200" cy="219456"/>
          </a:xfrm>
          <a:prstGeom prst="rect">
            <a:avLst/>
          </a:prstGeom>
          <a:noFill/>
          <a:ln/>
        </p:spPr>
        <p:txBody>
          <a:bodyPr wrap="square" lIns="0" tIns="0" rIns="0" bIns="0" rtlCol="0" anchor="ctr"/>
          <a:lstStyle/>
          <a:p>
            <a:pPr indent="0" marL="0">
              <a:buNone/>
            </a:pPr>
            <a:r>
              <a:rPr lang="en-US" sz="1050" b="1" dirty="0">
                <a:solidFill>
                  <a:srgbClr val="3A36A0"/>
                </a:solidFill>
                <a:latin typeface="Courier New" pitchFamily="34" charset="0"/>
                <a:ea typeface="Courier New" pitchFamily="34" charset="-122"/>
                <a:cs typeface="Courier New" pitchFamily="34" charset="-120"/>
              </a:rPr>
              <a:t>2</a:t>
            </a:r>
            <a:endParaRPr lang="en-US" sz="1050" dirty="0"/>
          </a:p>
        </p:txBody>
      </p:sp>
      <p:sp>
        <p:nvSpPr>
          <p:cNvPr id="11" name="Text 9"/>
          <p:cNvSpPr txBox="1"/>
          <p:nvPr/>
        </p:nvSpPr>
        <p:spPr>
          <a:xfrm>
            <a:off x="3008376" y="2121408"/>
            <a:ext cx="1645920" cy="274320"/>
          </a:xfrm>
          <a:prstGeom prst="rect">
            <a:avLst/>
          </a:prstGeom>
          <a:noFill/>
          <a:ln/>
        </p:spPr>
        <p:txBody>
          <a:bodyPr wrap="square" lIns="0" tIns="0" rIns="0" bIns="0" rtlCol="0" anchor="ctr"/>
          <a:lstStyle/>
          <a:p>
            <a:pPr indent="0" marL="0">
              <a:buNone/>
            </a:pPr>
            <a:r>
              <a:rPr lang="en-US" sz="1300" b="1" dirty="0">
                <a:solidFill>
                  <a:srgbClr val="13123A"/>
                </a:solidFill>
                <a:latin typeface="Cambria" pitchFamily="34" charset="0"/>
                <a:ea typeface="Cambria" pitchFamily="34" charset="-122"/>
                <a:cs typeface="Cambria" pitchFamily="34" charset="-120"/>
              </a:rPr>
              <a:t>Ba chỉ mục song song</a:t>
            </a:r>
            <a:endParaRPr lang="en-US" sz="1300" dirty="0"/>
          </a:p>
        </p:txBody>
      </p:sp>
      <p:sp>
        <p:nvSpPr>
          <p:cNvPr id="12" name="Text 10"/>
          <p:cNvSpPr txBox="1"/>
          <p:nvPr/>
        </p:nvSpPr>
        <p:spPr>
          <a:xfrm>
            <a:off x="3008376" y="2432304"/>
            <a:ext cx="1645920" cy="512064"/>
          </a:xfrm>
          <a:prstGeom prst="rect">
            <a:avLst/>
          </a:prstGeom>
          <a:noFill/>
          <a:ln/>
        </p:spPr>
        <p:txBody>
          <a:bodyPr wrap="square" lIns="0" tIns="0" rIns="0" bIns="0" rtlCol="0" anchor="t"/>
          <a:lstStyle/>
          <a:p>
            <a:pPr indent="0" marL="0">
              <a:lnSpc>
                <a:spcPct val="92000"/>
              </a:lnSpc>
              <a:buNone/>
            </a:pPr>
            <a:r>
              <a:rPr lang="en-US" sz="1050" dirty="0">
                <a:solidFill>
                  <a:srgbClr val="4A4E63"/>
                </a:solidFill>
                <a:latin typeface="Calibri" pitchFamily="34" charset="0"/>
                <a:ea typeface="Calibri" pitchFamily="34" charset="-122"/>
                <a:cs typeface="Calibri" pitchFamily="34" charset="-120"/>
              </a:rPr>
              <a:t>Dense gốc-ngữ · Dense chuẩn-hóa · BM25</a:t>
            </a:r>
            <a:endParaRPr lang="en-US" sz="1050" dirty="0"/>
          </a:p>
        </p:txBody>
      </p:sp>
      <p:sp>
        <p:nvSpPr>
          <p:cNvPr id="13" name="Text 11"/>
          <p:cNvSpPr txBox="1"/>
          <p:nvPr/>
        </p:nvSpPr>
        <p:spPr>
          <a:xfrm>
            <a:off x="4837176" y="2212848"/>
            <a:ext cx="246888" cy="274320"/>
          </a:xfrm>
          <a:prstGeom prst="rect">
            <a:avLst/>
          </a:prstGeom>
          <a:noFill/>
          <a:ln/>
        </p:spPr>
        <p:txBody>
          <a:bodyPr wrap="square" lIns="0" tIns="0" rIns="0" bIns="0" rtlCol="0" anchor="ctr"/>
          <a:lstStyle/>
          <a:p>
            <a:pPr algn="ctr" indent="0" marL="0">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5084064" y="1719072"/>
            <a:ext cx="2011680" cy="1316736"/>
          </a:xfrm>
          <a:prstGeom prst="roundRect">
            <a:avLst>
              <a:gd name="adj" fmla="val 3472"/>
            </a:avLst>
          </a:prstGeom>
          <a:solidFill>
            <a:srgbClr val="ECEBF7"/>
          </a:solidFill>
          <a:ln w="12700">
            <a:solidFill>
              <a:srgbClr val="ECEBF7"/>
            </a:solidFill>
            <a:prstDash val="solid"/>
          </a:ln>
        </p:spPr>
      </p:sp>
      <p:sp>
        <p:nvSpPr>
          <p:cNvPr id="15" name="Text 13"/>
          <p:cNvSpPr txBox="1"/>
          <p:nvPr/>
        </p:nvSpPr>
        <p:spPr>
          <a:xfrm>
            <a:off x="5266944" y="1865376"/>
            <a:ext cx="457200" cy="219456"/>
          </a:xfrm>
          <a:prstGeom prst="rect">
            <a:avLst/>
          </a:prstGeom>
          <a:noFill/>
          <a:ln/>
        </p:spPr>
        <p:txBody>
          <a:bodyPr wrap="square" lIns="0" tIns="0" rIns="0" bIns="0" rtlCol="0" anchor="ctr"/>
          <a:lstStyle/>
          <a:p>
            <a:pPr indent="0" marL="0">
              <a:buNone/>
            </a:pPr>
            <a:r>
              <a:rPr lang="en-US" sz="1050" b="1" dirty="0">
                <a:solidFill>
                  <a:srgbClr val="3A36A0"/>
                </a:solidFill>
                <a:latin typeface="Courier New" pitchFamily="34" charset="0"/>
                <a:ea typeface="Courier New" pitchFamily="34" charset="-122"/>
                <a:cs typeface="Courier New" pitchFamily="34" charset="-120"/>
              </a:rPr>
              <a:t>3</a:t>
            </a:r>
            <a:endParaRPr lang="en-US" sz="1050" dirty="0"/>
          </a:p>
        </p:txBody>
      </p:sp>
      <p:sp>
        <p:nvSpPr>
          <p:cNvPr id="16" name="Text 14"/>
          <p:cNvSpPr txBox="1"/>
          <p:nvPr/>
        </p:nvSpPr>
        <p:spPr>
          <a:xfrm>
            <a:off x="5266944" y="2121408"/>
            <a:ext cx="1645920" cy="274320"/>
          </a:xfrm>
          <a:prstGeom prst="rect">
            <a:avLst/>
          </a:prstGeom>
          <a:noFill/>
          <a:ln/>
        </p:spPr>
        <p:txBody>
          <a:bodyPr wrap="square" lIns="0" tIns="0" rIns="0" bIns="0" rtlCol="0" anchor="ctr"/>
          <a:lstStyle/>
          <a:p>
            <a:pPr indent="0" marL="0">
              <a:buNone/>
            </a:pPr>
            <a:r>
              <a:rPr lang="en-US" sz="1300" b="1" dirty="0">
                <a:solidFill>
                  <a:srgbClr val="13123A"/>
                </a:solidFill>
                <a:latin typeface="Cambria" pitchFamily="34" charset="0"/>
                <a:ea typeface="Cambria" pitchFamily="34" charset="-122"/>
                <a:cs typeface="Cambria" pitchFamily="34" charset="-120"/>
              </a:rPr>
              <a:t>Hợp nhất RRF</a:t>
            </a:r>
            <a:endParaRPr lang="en-US" sz="1300" dirty="0"/>
          </a:p>
        </p:txBody>
      </p:sp>
      <p:sp>
        <p:nvSpPr>
          <p:cNvPr id="17" name="Text 15"/>
          <p:cNvSpPr txBox="1"/>
          <p:nvPr/>
        </p:nvSpPr>
        <p:spPr>
          <a:xfrm>
            <a:off x="5266944" y="2432304"/>
            <a:ext cx="1645920" cy="512064"/>
          </a:xfrm>
          <a:prstGeom prst="rect">
            <a:avLst/>
          </a:prstGeom>
          <a:noFill/>
          <a:ln/>
        </p:spPr>
        <p:txBody>
          <a:bodyPr wrap="square" lIns="0" tIns="0" rIns="0" bIns="0" rtlCol="0" anchor="t"/>
          <a:lstStyle/>
          <a:p>
            <a:pPr indent="0" marL="0">
              <a:lnSpc>
                <a:spcPct val="92000"/>
              </a:lnSpc>
              <a:buNone/>
            </a:pPr>
            <a:r>
              <a:rPr lang="en-US" sz="1050" dirty="0">
                <a:solidFill>
                  <a:srgbClr val="4A4E63"/>
                </a:solidFill>
                <a:latin typeface="Calibri" pitchFamily="34" charset="0"/>
                <a:ea typeface="Calibri" pitchFamily="34" charset="-122"/>
                <a:cs typeface="Calibri" pitchFamily="34" charset="-120"/>
              </a:rPr>
              <a:t>~30 ứng viên, không cần chỉnh trọng số</a:t>
            </a:r>
            <a:endParaRPr lang="en-US" sz="1050" dirty="0"/>
          </a:p>
        </p:txBody>
      </p:sp>
      <p:sp>
        <p:nvSpPr>
          <p:cNvPr id="18" name="Text 16"/>
          <p:cNvSpPr txBox="1"/>
          <p:nvPr/>
        </p:nvSpPr>
        <p:spPr>
          <a:xfrm>
            <a:off x="7095744" y="2212848"/>
            <a:ext cx="246888" cy="274320"/>
          </a:xfrm>
          <a:prstGeom prst="rect">
            <a:avLst/>
          </a:prstGeom>
          <a:noFill/>
          <a:ln/>
        </p:spPr>
        <p:txBody>
          <a:bodyPr wrap="square" lIns="0" tIns="0" rIns="0" bIns="0" rtlCol="0" anchor="ctr"/>
          <a:lstStyle/>
          <a:p>
            <a:pPr algn="ctr" indent="0" marL="0">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7342632" y="1719072"/>
            <a:ext cx="2011680" cy="1316736"/>
          </a:xfrm>
          <a:prstGeom prst="roundRect">
            <a:avLst>
              <a:gd name="adj" fmla="val 3472"/>
            </a:avLst>
          </a:prstGeom>
          <a:solidFill>
            <a:srgbClr val="13123A"/>
          </a:solidFill>
          <a:ln w="12700">
            <a:solidFill>
              <a:srgbClr val="13123A"/>
            </a:solidFill>
            <a:prstDash val="solid"/>
          </a:ln>
        </p:spPr>
      </p:sp>
      <p:sp>
        <p:nvSpPr>
          <p:cNvPr id="20" name="Text 18"/>
          <p:cNvSpPr txBox="1"/>
          <p:nvPr/>
        </p:nvSpPr>
        <p:spPr>
          <a:xfrm>
            <a:off x="7525512" y="1865376"/>
            <a:ext cx="457200" cy="219456"/>
          </a:xfrm>
          <a:prstGeom prst="rect">
            <a:avLst/>
          </a:prstGeom>
          <a:noFill/>
          <a:ln/>
        </p:spPr>
        <p:txBody>
          <a:bodyPr wrap="square" lIns="0" tIns="0" rIns="0" bIns="0" rtlCol="0" anchor="ctr"/>
          <a:lstStyle/>
          <a:p>
            <a:pPr indent="0" marL="0">
              <a:buNone/>
            </a:pPr>
            <a:r>
              <a:rPr lang="en-US" sz="1050" b="1" dirty="0">
                <a:solidFill>
                  <a:srgbClr val="1FA6A6"/>
                </a:solidFill>
                <a:latin typeface="Courier New" pitchFamily="34" charset="0"/>
                <a:ea typeface="Courier New" pitchFamily="34" charset="-122"/>
                <a:cs typeface="Courier New" pitchFamily="34" charset="-120"/>
              </a:rPr>
              <a:t>4</a:t>
            </a:r>
            <a:endParaRPr lang="en-US" sz="1050" dirty="0"/>
          </a:p>
        </p:txBody>
      </p:sp>
      <p:sp>
        <p:nvSpPr>
          <p:cNvPr id="21" name="Text 19"/>
          <p:cNvSpPr txBox="1"/>
          <p:nvPr/>
        </p:nvSpPr>
        <p:spPr>
          <a:xfrm>
            <a:off x="7525512" y="2121408"/>
            <a:ext cx="16459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Reranker</a:t>
            </a:r>
            <a:endParaRPr lang="en-US" sz="1300" dirty="0"/>
          </a:p>
        </p:txBody>
      </p:sp>
      <p:sp>
        <p:nvSpPr>
          <p:cNvPr id="22" name="Text 20"/>
          <p:cNvSpPr txBox="1"/>
          <p:nvPr/>
        </p:nvSpPr>
        <p:spPr>
          <a:xfrm>
            <a:off x="7525512" y="2432304"/>
            <a:ext cx="1645920" cy="512064"/>
          </a:xfrm>
          <a:prstGeom prst="rect">
            <a:avLst/>
          </a:prstGeom>
          <a:noFill/>
          <a:ln/>
        </p:spPr>
        <p:txBody>
          <a:bodyPr wrap="square" lIns="0" tIns="0" rIns="0" bIns="0" rtlCol="0" anchor="t"/>
          <a:lstStyle/>
          <a:p>
            <a:pPr indent="0" marL="0">
              <a:lnSpc>
                <a:spcPct val="92000"/>
              </a:lnSpc>
              <a:buNone/>
            </a:pPr>
            <a:r>
              <a:rPr lang="en-US" sz="1050" dirty="0">
                <a:solidFill>
                  <a:srgbClr val="C7C9E6"/>
                </a:solidFill>
                <a:latin typeface="Calibri" pitchFamily="34" charset="0"/>
                <a:ea typeface="Calibri" pitchFamily="34" charset="-122"/>
                <a:cs typeface="Calibri" pitchFamily="34" charset="-120"/>
              </a:rPr>
              <a:t>Cross-encoder đọc cặp câu hỏi – ký ức</a:t>
            </a:r>
            <a:endParaRPr lang="en-US" sz="1050" dirty="0"/>
          </a:p>
        </p:txBody>
      </p:sp>
      <p:sp>
        <p:nvSpPr>
          <p:cNvPr id="23" name="Text 21"/>
          <p:cNvSpPr txBox="1"/>
          <p:nvPr/>
        </p:nvSpPr>
        <p:spPr>
          <a:xfrm>
            <a:off x="9354312" y="2212848"/>
            <a:ext cx="246888" cy="274320"/>
          </a:xfrm>
          <a:prstGeom prst="rect">
            <a:avLst/>
          </a:prstGeom>
          <a:noFill/>
          <a:ln/>
        </p:spPr>
        <p:txBody>
          <a:bodyPr wrap="square" lIns="0" tIns="0" rIns="0" bIns="0" rtlCol="0" anchor="ctr"/>
          <a:lstStyle/>
          <a:p>
            <a:pPr algn="ctr" indent="0" marL="0">
              <a:buNone/>
            </a:pPr>
            <a:r>
              <a:rPr lang="en-US" sz="1400" b="1" dirty="0">
                <a:solidFill>
                  <a:srgbClr val="3A36A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9601200" y="1719072"/>
            <a:ext cx="2011680" cy="1316736"/>
          </a:xfrm>
          <a:prstGeom prst="roundRect">
            <a:avLst>
              <a:gd name="adj" fmla="val 3472"/>
            </a:avLst>
          </a:prstGeom>
          <a:solidFill>
            <a:srgbClr val="ECEBF7"/>
          </a:solidFill>
          <a:ln w="12700">
            <a:solidFill>
              <a:srgbClr val="ECEBF7"/>
            </a:solidFill>
            <a:prstDash val="solid"/>
          </a:ln>
        </p:spPr>
      </p:sp>
      <p:sp>
        <p:nvSpPr>
          <p:cNvPr id="25" name="Text 23"/>
          <p:cNvSpPr txBox="1"/>
          <p:nvPr/>
        </p:nvSpPr>
        <p:spPr>
          <a:xfrm>
            <a:off x="9784080" y="1865376"/>
            <a:ext cx="457200" cy="219456"/>
          </a:xfrm>
          <a:prstGeom prst="rect">
            <a:avLst/>
          </a:prstGeom>
          <a:noFill/>
          <a:ln/>
        </p:spPr>
        <p:txBody>
          <a:bodyPr wrap="square" lIns="0" tIns="0" rIns="0" bIns="0" rtlCol="0" anchor="ctr"/>
          <a:lstStyle/>
          <a:p>
            <a:pPr indent="0" marL="0">
              <a:buNone/>
            </a:pPr>
            <a:r>
              <a:rPr lang="en-US" sz="1050" b="1" dirty="0">
                <a:solidFill>
                  <a:srgbClr val="3A36A0"/>
                </a:solidFill>
                <a:latin typeface="Courier New" pitchFamily="34" charset="0"/>
                <a:ea typeface="Courier New" pitchFamily="34" charset="-122"/>
                <a:cs typeface="Courier New" pitchFamily="34" charset="-120"/>
              </a:rPr>
              <a:t>5</a:t>
            </a:r>
            <a:endParaRPr lang="en-US" sz="1050" dirty="0"/>
          </a:p>
        </p:txBody>
      </p:sp>
      <p:sp>
        <p:nvSpPr>
          <p:cNvPr id="26" name="Text 24"/>
          <p:cNvSpPr txBox="1"/>
          <p:nvPr/>
        </p:nvSpPr>
        <p:spPr>
          <a:xfrm>
            <a:off x="9784080" y="2121408"/>
            <a:ext cx="1645920" cy="274320"/>
          </a:xfrm>
          <a:prstGeom prst="rect">
            <a:avLst/>
          </a:prstGeom>
          <a:noFill/>
          <a:ln/>
        </p:spPr>
        <p:txBody>
          <a:bodyPr wrap="square" lIns="0" tIns="0" rIns="0" bIns="0" rtlCol="0" anchor="ctr"/>
          <a:lstStyle/>
          <a:p>
            <a:pPr indent="0" marL="0">
              <a:buNone/>
            </a:pPr>
            <a:r>
              <a:rPr lang="en-US" sz="1300" b="1" dirty="0">
                <a:solidFill>
                  <a:srgbClr val="13123A"/>
                </a:solidFill>
                <a:latin typeface="Cambria" pitchFamily="34" charset="0"/>
                <a:ea typeface="Cambria" pitchFamily="34" charset="-122"/>
                <a:cs typeface="Cambria" pitchFamily="34" charset="-120"/>
              </a:rPr>
              <a:t>Lắp ngữ cảnh</a:t>
            </a:r>
            <a:endParaRPr lang="en-US" sz="1300" dirty="0"/>
          </a:p>
        </p:txBody>
      </p:sp>
      <p:sp>
        <p:nvSpPr>
          <p:cNvPr id="27" name="Text 25"/>
          <p:cNvSpPr txBox="1"/>
          <p:nvPr/>
        </p:nvSpPr>
        <p:spPr>
          <a:xfrm>
            <a:off x="9784080" y="2432304"/>
            <a:ext cx="1645920" cy="512064"/>
          </a:xfrm>
          <a:prstGeom prst="rect">
            <a:avLst/>
          </a:prstGeom>
          <a:noFill/>
          <a:ln/>
        </p:spPr>
        <p:txBody>
          <a:bodyPr wrap="square" lIns="0" tIns="0" rIns="0" bIns="0" rtlCol="0" anchor="t"/>
          <a:lstStyle/>
          <a:p>
            <a:pPr indent="0" marL="0">
              <a:lnSpc>
                <a:spcPct val="92000"/>
              </a:lnSpc>
              <a:buNone/>
            </a:pPr>
            <a:r>
              <a:rPr lang="en-US" sz="1050" dirty="0">
                <a:solidFill>
                  <a:srgbClr val="4A4E63"/>
                </a:solidFill>
                <a:latin typeface="Calibri" pitchFamily="34" charset="0"/>
                <a:ea typeface="Calibri" pitchFamily="34" charset="-122"/>
                <a:cs typeface="Calibri" pitchFamily="34" charset="-120"/>
              </a:rPr>
              <a:t>Lọc bản cũ, chia hạn ngạch token</a:t>
            </a:r>
            <a:endParaRPr lang="en-US" sz="1050" dirty="0"/>
          </a:p>
        </p:txBody>
      </p:sp>
      <p:sp>
        <p:nvSpPr>
          <p:cNvPr id="28" name="Shape 26"/>
          <p:cNvSpPr/>
          <p:nvPr/>
        </p:nvSpPr>
        <p:spPr>
          <a:xfrm>
            <a:off x="566928" y="3218688"/>
            <a:ext cx="5358384" cy="1572768"/>
          </a:xfrm>
          <a:prstGeom prst="roundRect">
            <a:avLst>
              <a:gd name="adj" fmla="val 2907"/>
            </a:avLst>
          </a:prstGeom>
          <a:solidFill>
            <a:srgbClr val="F7F7FB"/>
          </a:solidFill>
          <a:ln w="12700">
            <a:solidFill>
              <a:srgbClr val="F7F7FB"/>
            </a:solidFill>
            <a:prstDash val="solid"/>
          </a:ln>
        </p:spPr>
      </p:sp>
      <p:sp>
        <p:nvSpPr>
          <p:cNvPr id="29" name="Text 27"/>
          <p:cNvSpPr txBox="1"/>
          <p:nvPr/>
        </p:nvSpPr>
        <p:spPr>
          <a:xfrm>
            <a:off x="804672" y="3392424"/>
            <a:ext cx="4882896" cy="219456"/>
          </a:xfrm>
          <a:prstGeom prst="rect">
            <a:avLst/>
          </a:prstGeom>
          <a:noFill/>
          <a:ln/>
        </p:spPr>
        <p:txBody>
          <a:bodyPr wrap="square" lIns="0" tIns="0" rIns="0" bIns="0" rtlCol="0" anchor="ctr"/>
          <a:lstStyle/>
          <a:p>
            <a:pPr indent="0" marL="0">
              <a:buNone/>
            </a:pPr>
            <a:r>
              <a:rPr lang="en-US" sz="1050" b="1" dirty="0">
                <a:solidFill>
                  <a:srgbClr val="E9970B"/>
                </a:solidFill>
                <a:latin typeface="Calibri" pitchFamily="34" charset="0"/>
                <a:ea typeface="Calibri" pitchFamily="34" charset="-122"/>
                <a:cs typeface="Calibri" pitchFamily="34" charset="-120"/>
              </a:rPr>
              <a:t>VÌ SAO THÊM BM25</a:t>
            </a:r>
            <a:endParaRPr lang="en-US" sz="1050" dirty="0"/>
          </a:p>
        </p:txBody>
      </p:sp>
      <p:sp>
        <p:nvSpPr>
          <p:cNvPr id="30" name="Text 28"/>
          <p:cNvSpPr txBox="1"/>
          <p:nvPr/>
        </p:nvSpPr>
        <p:spPr>
          <a:xfrm>
            <a:off x="804672" y="3666744"/>
            <a:ext cx="488289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Vector trượt chuỗi chính xác</a:t>
            </a:r>
            <a:endParaRPr lang="en-US" sz="1400" dirty="0"/>
          </a:p>
        </p:txBody>
      </p:sp>
      <p:sp>
        <p:nvSpPr>
          <p:cNvPr id="31" name="Text 29"/>
          <p:cNvSpPr txBox="1"/>
          <p:nvPr/>
        </p:nvSpPr>
        <p:spPr>
          <a:xfrm>
            <a:off x="804672" y="4014216"/>
            <a:ext cx="4882896" cy="649224"/>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Embedding tìm theo nghĩa nhưng hay trượt “N4”, mã lớp, tên riêng — đúng loại thông tin mà bộ nhớ cá nhân hay lưu. BM25 bắt chính xác chuỗi. Với tiếng Việt lợi ích còn lớn hơn vì chất lượng embedding yếu hơn tiếng Anh.</a:t>
            </a:r>
            <a:endParaRPr lang="en-US" sz="1150" dirty="0"/>
          </a:p>
        </p:txBody>
      </p:sp>
      <p:sp>
        <p:nvSpPr>
          <p:cNvPr id="32" name="Shape 30"/>
          <p:cNvSpPr/>
          <p:nvPr/>
        </p:nvSpPr>
        <p:spPr>
          <a:xfrm>
            <a:off x="6254496" y="3218688"/>
            <a:ext cx="5358384" cy="1572768"/>
          </a:xfrm>
          <a:prstGeom prst="roundRect">
            <a:avLst>
              <a:gd name="adj" fmla="val 2907"/>
            </a:avLst>
          </a:prstGeom>
          <a:solidFill>
            <a:srgbClr val="F7F7FB"/>
          </a:solidFill>
          <a:ln w="12700">
            <a:solidFill>
              <a:srgbClr val="F7F7FB"/>
            </a:solidFill>
            <a:prstDash val="solid"/>
          </a:ln>
        </p:spPr>
      </p:sp>
      <p:sp>
        <p:nvSpPr>
          <p:cNvPr id="33" name="Text 31"/>
          <p:cNvSpPr txBox="1"/>
          <p:nvPr/>
        </p:nvSpPr>
        <p:spPr>
          <a:xfrm>
            <a:off x="6492240" y="3392424"/>
            <a:ext cx="4882896" cy="219456"/>
          </a:xfrm>
          <a:prstGeom prst="rect">
            <a:avLst/>
          </a:prstGeom>
          <a:noFill/>
          <a:ln/>
        </p:spPr>
        <p:txBody>
          <a:bodyPr wrap="square" lIns="0" tIns="0" rIns="0" bIns="0" rtlCol="0" anchor="ctr"/>
          <a:lstStyle/>
          <a:p>
            <a:pPr indent="0" marL="0">
              <a:buNone/>
            </a:pPr>
            <a:r>
              <a:rPr lang="en-US" sz="1050" b="1" dirty="0">
                <a:solidFill>
                  <a:srgbClr val="E9970B"/>
                </a:solidFill>
                <a:latin typeface="Calibri" pitchFamily="34" charset="0"/>
                <a:ea typeface="Calibri" pitchFamily="34" charset="-122"/>
                <a:cs typeface="Calibri" pitchFamily="34" charset="-120"/>
              </a:rPr>
              <a:t>VÌ SAO THÊM RERANKER</a:t>
            </a:r>
            <a:endParaRPr lang="en-US" sz="1050" dirty="0"/>
          </a:p>
        </p:txBody>
      </p:sp>
      <p:sp>
        <p:nvSpPr>
          <p:cNvPr id="34" name="Text 32"/>
          <p:cNvSpPr txBox="1"/>
          <p:nvPr/>
        </p:nvSpPr>
        <p:spPr>
          <a:xfrm>
            <a:off x="6492240" y="3666744"/>
            <a:ext cx="488289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Điểm hiệu chỉnh tốt hơn nhiều</a:t>
            </a:r>
            <a:endParaRPr lang="en-US" sz="1400" dirty="0"/>
          </a:p>
        </p:txBody>
      </p:sp>
      <p:sp>
        <p:nvSpPr>
          <p:cNvPr id="35" name="Text 33"/>
          <p:cNvSpPr txBox="1"/>
          <p:nvPr/>
        </p:nvSpPr>
        <p:spPr>
          <a:xfrm>
            <a:off x="6492240" y="4014216"/>
            <a:ext cx="4882896" cy="649224"/>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Bi-encoder nhúng câu hỏi và ký ức độc lập nên chỉ đo độ giống chung chung. Cross-encoder đọc cả cặp nên phân biệt được “liên quan” với “cùng chủ đề”. Quan trọng hơn: năng lực biết từ chối là đặt một ngưỡng lên điểm này.</a:t>
            </a:r>
            <a:endParaRPr lang="en-US" sz="1150" dirty="0"/>
          </a:p>
        </p:txBody>
      </p:sp>
      <p:sp>
        <p:nvSpPr>
          <p:cNvPr id="36" name="Shape 34"/>
          <p:cNvSpPr/>
          <p:nvPr/>
        </p:nvSpPr>
        <p:spPr>
          <a:xfrm>
            <a:off x="566928" y="4974336"/>
            <a:ext cx="11045952" cy="1280160"/>
          </a:xfrm>
          <a:prstGeom prst="roundRect">
            <a:avLst>
              <a:gd name="adj" fmla="val 3571"/>
            </a:avLst>
          </a:prstGeom>
          <a:solidFill>
            <a:srgbClr val="13123A"/>
          </a:solidFill>
          <a:ln w="12700">
            <a:solidFill>
              <a:srgbClr val="13123A"/>
            </a:solidFill>
            <a:prstDash val="solid"/>
          </a:ln>
        </p:spPr>
      </p:sp>
      <p:sp>
        <p:nvSpPr>
          <p:cNvPr id="37" name="Text 35"/>
          <p:cNvSpPr txBox="1"/>
          <p:nvPr/>
        </p:nvSpPr>
        <p:spPr>
          <a:xfrm>
            <a:off x="822960" y="5157216"/>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HẠN NGẠCH TOKEN — TRỤC CHI PHÍ PHẢI ĐIỀU KHIỂN ĐƯỢC</a:t>
            </a:r>
            <a:endParaRPr lang="en-US" sz="1100" dirty="0"/>
          </a:p>
        </p:txBody>
      </p:sp>
      <p:sp>
        <p:nvSpPr>
          <p:cNvPr id="38" name="Text 36"/>
          <p:cNvSpPr txBox="1"/>
          <p:nvPr/>
        </p:nvSpPr>
        <p:spPr>
          <a:xfrm>
            <a:off x="822960" y="5431536"/>
            <a:ext cx="10533888" cy="676656"/>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Không nạp top-k một cách mù quáng. Ký ức pinned giữ ~25% ngân sách (luôn có mặt), ký ức đã rerank ~55%, tóm tắt phiên ~20% và chỉ khi câu hỏi mang tính hồi tưởng. Nhờ có hạn ngạch, chi phí token thành tham số điều khiển được chứ không phải hệ quả ngẫu nhiên — và so sánh giữa các cấu hình mới hợp lệ.</a:t>
            </a:r>
            <a:endParaRPr lang="en-US" sz="1250" dirty="0"/>
          </a:p>
        </p:txBody>
      </p:sp>
      <p:sp>
        <p:nvSpPr>
          <p:cNvPr id="39" name="Text 37"/>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Reciprocal Rank Fusion: Cormack et al., SIGIR 2009. Reranker dự kiến: bge-reranker-v2-m3, chạy local, miễn phí.</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THIẾT KẾ · 5/5</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Vòng lặp xử lý một lượt hội thoại</a:t>
            </a:r>
            <a:endParaRPr lang="en-US" sz="3000" dirty="0"/>
          </a:p>
        </p:txBody>
      </p:sp>
      <p:sp>
        <p:nvSpPr>
          <p:cNvPr id="4" name="Shape 2"/>
          <p:cNvSpPr/>
          <p:nvPr/>
        </p:nvSpPr>
        <p:spPr>
          <a:xfrm>
            <a:off x="566928" y="1737360"/>
            <a:ext cx="5358384" cy="1444752"/>
          </a:xfrm>
          <a:prstGeom prst="roundRect">
            <a:avLst>
              <a:gd name="adj" fmla="val 3165"/>
            </a:avLst>
          </a:prstGeom>
          <a:solidFill>
            <a:srgbClr val="ECEBF7"/>
          </a:solidFill>
          <a:ln w="12700">
            <a:solidFill>
              <a:srgbClr val="ECEBF7"/>
            </a:solidFill>
            <a:prstDash val="solid"/>
          </a:ln>
        </p:spPr>
      </p:sp>
      <p:sp>
        <p:nvSpPr>
          <p:cNvPr id="5" name="Shape 3"/>
          <p:cNvSpPr/>
          <p:nvPr/>
        </p:nvSpPr>
        <p:spPr>
          <a:xfrm>
            <a:off x="822960" y="1965960"/>
            <a:ext cx="429768" cy="429768"/>
          </a:xfrm>
          <a:prstGeom prst="ellipse">
            <a:avLst/>
          </a:prstGeom>
          <a:solidFill>
            <a:srgbClr val="3A36A0"/>
          </a:solidFill>
          <a:ln w="12700">
            <a:solidFill>
              <a:srgbClr val="3A36A0"/>
            </a:solidFill>
            <a:prstDash val="solid"/>
          </a:ln>
        </p:spPr>
      </p:sp>
      <p:sp>
        <p:nvSpPr>
          <p:cNvPr id="6" name="Text 4"/>
          <p:cNvSpPr txBox="1"/>
          <p:nvPr/>
        </p:nvSpPr>
        <p:spPr>
          <a:xfrm>
            <a:off x="822960" y="1965960"/>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80744" y="2020824"/>
            <a:ext cx="430682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Trích xuất   ·   LLM</a:t>
            </a:r>
            <a:endParaRPr lang="en-US" sz="1500" dirty="0"/>
          </a:p>
        </p:txBody>
      </p:sp>
      <p:sp>
        <p:nvSpPr>
          <p:cNvPr id="8" name="Text 6"/>
          <p:cNvSpPr txBox="1"/>
          <p:nvPr/>
        </p:nvSpPr>
        <p:spPr>
          <a:xfrm>
            <a:off x="822960" y="2478024"/>
            <a:ext cx="4846320" cy="576072"/>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Lượt hội thoại → fact có cấu trúc, kèm bản tiếng Anh chuẩn hóa và phân loại ký ức. Trích từ CẢ HAI phía; phía trợ lý vào trạng thái pending.</a:t>
            </a:r>
            <a:endParaRPr lang="en-US" sz="1200" dirty="0"/>
          </a:p>
        </p:txBody>
      </p:sp>
      <p:sp>
        <p:nvSpPr>
          <p:cNvPr id="9" name="Shape 7"/>
          <p:cNvSpPr/>
          <p:nvPr/>
        </p:nvSpPr>
        <p:spPr>
          <a:xfrm>
            <a:off x="6254496" y="1737360"/>
            <a:ext cx="5358384" cy="1444752"/>
          </a:xfrm>
          <a:prstGeom prst="roundRect">
            <a:avLst>
              <a:gd name="adj" fmla="val 3165"/>
            </a:avLst>
          </a:prstGeom>
          <a:solidFill>
            <a:srgbClr val="ECEBF7"/>
          </a:solidFill>
          <a:ln w="12700">
            <a:solidFill>
              <a:srgbClr val="ECEBF7"/>
            </a:solidFill>
            <a:prstDash val="solid"/>
          </a:ln>
        </p:spPr>
      </p:sp>
      <p:sp>
        <p:nvSpPr>
          <p:cNvPr id="10" name="Shape 8"/>
          <p:cNvSpPr/>
          <p:nvPr/>
        </p:nvSpPr>
        <p:spPr>
          <a:xfrm>
            <a:off x="6510528" y="1965960"/>
            <a:ext cx="429768" cy="429768"/>
          </a:xfrm>
          <a:prstGeom prst="ellipse">
            <a:avLst/>
          </a:prstGeom>
          <a:solidFill>
            <a:srgbClr val="3A36A0"/>
          </a:solidFill>
          <a:ln w="12700">
            <a:solidFill>
              <a:srgbClr val="3A36A0"/>
            </a:solidFill>
            <a:prstDash val="solid"/>
          </a:ln>
        </p:spPr>
      </p:sp>
      <p:sp>
        <p:nvSpPr>
          <p:cNvPr id="11" name="Text 9"/>
          <p:cNvSpPr txBox="1"/>
          <p:nvPr/>
        </p:nvSpPr>
        <p:spPr>
          <a:xfrm>
            <a:off x="6510528" y="1965960"/>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7068312" y="2020824"/>
            <a:ext cx="430682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Cập nhật   ·   Python</a:t>
            </a:r>
            <a:endParaRPr lang="en-US" sz="1500" dirty="0"/>
          </a:p>
        </p:txBody>
      </p:sp>
      <p:sp>
        <p:nvSpPr>
          <p:cNvPr id="13" name="Text 11"/>
          <p:cNvSpPr txBox="1"/>
          <p:nvPr/>
        </p:nvSpPr>
        <p:spPr>
          <a:xfrm>
            <a:off x="6510528" y="2478024"/>
            <a:ext cx="4846320" cy="576072"/>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Chuẩn hóa giá trị, ghép slot, chọn ADD / UPDATE / DELETE / NOOP / CONFLICT. Bản cũ chuyển superseded chứ không xóa. Không gọi mô hình.</a:t>
            </a:r>
            <a:endParaRPr lang="en-US" sz="1200" dirty="0"/>
          </a:p>
        </p:txBody>
      </p:sp>
      <p:sp>
        <p:nvSpPr>
          <p:cNvPr id="14" name="Shape 12"/>
          <p:cNvSpPr/>
          <p:nvPr/>
        </p:nvSpPr>
        <p:spPr>
          <a:xfrm>
            <a:off x="566928" y="3310128"/>
            <a:ext cx="5358384" cy="1444752"/>
          </a:xfrm>
          <a:prstGeom prst="roundRect">
            <a:avLst>
              <a:gd name="adj" fmla="val 3165"/>
            </a:avLst>
          </a:prstGeom>
          <a:solidFill>
            <a:srgbClr val="ECEBF7"/>
          </a:solidFill>
          <a:ln w="12700">
            <a:solidFill>
              <a:srgbClr val="ECEBF7"/>
            </a:solidFill>
            <a:prstDash val="solid"/>
          </a:ln>
        </p:spPr>
      </p:sp>
      <p:sp>
        <p:nvSpPr>
          <p:cNvPr id="15" name="Shape 13"/>
          <p:cNvSpPr/>
          <p:nvPr/>
        </p:nvSpPr>
        <p:spPr>
          <a:xfrm>
            <a:off x="822960" y="3538728"/>
            <a:ext cx="429768" cy="429768"/>
          </a:xfrm>
          <a:prstGeom prst="ellipse">
            <a:avLst/>
          </a:prstGeom>
          <a:solidFill>
            <a:srgbClr val="3A36A0"/>
          </a:solidFill>
          <a:ln w="12700">
            <a:solidFill>
              <a:srgbClr val="3A36A0"/>
            </a:solidFill>
            <a:prstDash val="solid"/>
          </a:ln>
        </p:spPr>
      </p:sp>
      <p:sp>
        <p:nvSpPr>
          <p:cNvPr id="16" name="Text 14"/>
          <p:cNvSpPr txBox="1"/>
          <p:nvPr/>
        </p:nvSpPr>
        <p:spPr>
          <a:xfrm>
            <a:off x="822960" y="3538728"/>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380744" y="3593592"/>
            <a:ext cx="430682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Truy xuất   ·   Chỉ mục + Reranker</a:t>
            </a:r>
            <a:endParaRPr lang="en-US" sz="1500" dirty="0"/>
          </a:p>
        </p:txBody>
      </p:sp>
      <p:sp>
        <p:nvSpPr>
          <p:cNvPr id="18" name="Text 16"/>
          <p:cNvSpPr txBox="1"/>
          <p:nvPr/>
        </p:nvSpPr>
        <p:spPr>
          <a:xfrm>
            <a:off x="822960" y="4050792"/>
            <a:ext cx="4846320" cy="576072"/>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Tách truy vấn con → ba chỉ mục → RRF → rerank → lọc bản cũ hai lớp → lắp ngữ cảnh theo hạn ngạch → phát tín hiệu từ chối.</a:t>
            </a:r>
            <a:endParaRPr lang="en-US" sz="1200" dirty="0"/>
          </a:p>
        </p:txBody>
      </p:sp>
      <p:sp>
        <p:nvSpPr>
          <p:cNvPr id="19" name="Shape 17"/>
          <p:cNvSpPr/>
          <p:nvPr/>
        </p:nvSpPr>
        <p:spPr>
          <a:xfrm>
            <a:off x="6254496" y="3310128"/>
            <a:ext cx="5358384" cy="1444752"/>
          </a:xfrm>
          <a:prstGeom prst="roundRect">
            <a:avLst>
              <a:gd name="adj" fmla="val 3165"/>
            </a:avLst>
          </a:prstGeom>
          <a:solidFill>
            <a:srgbClr val="ECEBF7"/>
          </a:solidFill>
          <a:ln w="12700">
            <a:solidFill>
              <a:srgbClr val="ECEBF7"/>
            </a:solidFill>
            <a:prstDash val="solid"/>
          </a:ln>
        </p:spPr>
      </p:sp>
      <p:sp>
        <p:nvSpPr>
          <p:cNvPr id="20" name="Shape 18"/>
          <p:cNvSpPr/>
          <p:nvPr/>
        </p:nvSpPr>
        <p:spPr>
          <a:xfrm>
            <a:off x="6510528" y="3538728"/>
            <a:ext cx="429768" cy="429768"/>
          </a:xfrm>
          <a:prstGeom prst="ellipse">
            <a:avLst/>
          </a:prstGeom>
          <a:solidFill>
            <a:srgbClr val="3A36A0"/>
          </a:solidFill>
          <a:ln w="12700">
            <a:solidFill>
              <a:srgbClr val="3A36A0"/>
            </a:solidFill>
            <a:prstDash val="solid"/>
          </a:ln>
        </p:spPr>
      </p:sp>
      <p:sp>
        <p:nvSpPr>
          <p:cNvPr id="21" name="Text 19"/>
          <p:cNvSpPr txBox="1"/>
          <p:nvPr/>
        </p:nvSpPr>
        <p:spPr>
          <a:xfrm>
            <a:off x="6510528" y="3538728"/>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068312" y="3593592"/>
            <a:ext cx="430682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Sinh phản hồi   ·   LLM</a:t>
            </a:r>
            <a:endParaRPr lang="en-US" sz="1500" dirty="0"/>
          </a:p>
        </p:txBody>
      </p:sp>
      <p:sp>
        <p:nvSpPr>
          <p:cNvPr id="23" name="Text 21"/>
          <p:cNvSpPr txBox="1"/>
          <p:nvPr/>
        </p:nvSpPr>
        <p:spPr>
          <a:xfrm>
            <a:off x="6510528" y="4050792"/>
            <a:ext cx="4846320" cy="576072"/>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Ký ức vào lời nhắc kèm seq; ký ức procedural vào system prompt. Ngôn ngữ trả lời theo lượt hiện tại, trừ khi người dùng đã đặt khác.</a:t>
            </a:r>
            <a:endParaRPr lang="en-US" sz="1200" dirty="0"/>
          </a:p>
        </p:txBody>
      </p:sp>
      <p:sp>
        <p:nvSpPr>
          <p:cNvPr id="24" name="Shape 22"/>
          <p:cNvSpPr/>
          <p:nvPr/>
        </p:nvSpPr>
        <p:spPr>
          <a:xfrm>
            <a:off x="566928" y="4956048"/>
            <a:ext cx="11045952" cy="1225296"/>
          </a:xfrm>
          <a:prstGeom prst="roundRect">
            <a:avLst>
              <a:gd name="adj" fmla="val 3731"/>
            </a:avLst>
          </a:prstGeom>
          <a:solidFill>
            <a:srgbClr val="13123A"/>
          </a:solidFill>
          <a:ln w="12700">
            <a:solidFill>
              <a:srgbClr val="13123A"/>
            </a:solidFill>
            <a:prstDash val="solid"/>
          </a:ln>
        </p:spPr>
      </p:sp>
      <p:sp>
        <p:nvSpPr>
          <p:cNvPr id="25" name="Text 23"/>
          <p:cNvSpPr txBox="1"/>
          <p:nvPr/>
        </p:nvSpPr>
        <p:spPr>
          <a:xfrm>
            <a:off x="822960" y="5138928"/>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CHI TIẾT DỄ BỊ BỎ QUA</a:t>
            </a:r>
            <a:endParaRPr lang="en-US" sz="1100" dirty="0"/>
          </a:p>
        </p:txBody>
      </p:sp>
      <p:sp>
        <p:nvSpPr>
          <p:cNvPr id="26" name="Text 24"/>
          <p:cNvSpPr txBox="1"/>
          <p:nvPr/>
        </p:nvSpPr>
        <p:spPr>
          <a:xfrm>
            <a:off x="822960" y="5413248"/>
            <a:ext cx="10533888" cy="621792"/>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Pha 3 lọc bản cũ HAI lớp, không phải một. Lớp một lọc status ở tầng truy vấn; lớp hai gom theo slot chỉ giữ bản seq lớn nhất. Cần cả hai vì embedding của “trình độ N5” và “trình độ N4” gần như trùng nhau, nên top-k rất dễ trả về cả hai — và khi lời nhắc chứa hai fact mâu thuẫn thì mô hình đoán bừa.</a:t>
            </a:r>
            <a:endParaRPr lang="en-US" sz="1250" dirty="0"/>
          </a:p>
        </p:txBody>
      </p:sp>
      <p:sp>
        <p:nvSpPr>
          <p:cNvPr id="27" name="Text 25"/>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Cấu trúc vòng lặp tham chiếu: Chhikara et al., Mem0, ECAI 2025 · Zhang et al., survey cơ chế bộ nhớ, ACM TOIS 2025 (DOI 10.1145/3748302).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E9970B"/>
                </a:solidFill>
                <a:latin typeface="Calibri" pitchFamily="34" charset="0"/>
                <a:ea typeface="Calibri" pitchFamily="34" charset="-122"/>
                <a:cs typeface="Calibri" pitchFamily="34" charset="-120"/>
              </a:rPr>
              <a:t>MỘT TRONG CHÍN NĂNG LỰC</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Cập nhật kiến thức và giải quyết mâu thuẫn</a:t>
            </a:r>
            <a:endParaRPr lang="en-US" sz="3000" dirty="0"/>
          </a:p>
        </p:txBody>
      </p:sp>
      <p:sp>
        <p:nvSpPr>
          <p:cNvPr id="4" name="Shape 2"/>
          <p:cNvSpPr/>
          <p:nvPr/>
        </p:nvSpPr>
        <p:spPr>
          <a:xfrm>
            <a:off x="566928" y="1673352"/>
            <a:ext cx="5358384" cy="2011680"/>
          </a:xfrm>
          <a:prstGeom prst="roundRect">
            <a:avLst>
              <a:gd name="adj" fmla="val 2273"/>
            </a:avLst>
          </a:prstGeom>
          <a:solidFill>
            <a:srgbClr val="ECEBF7"/>
          </a:solidFill>
          <a:ln w="12700">
            <a:solidFill>
              <a:srgbClr val="ECEBF7"/>
            </a:solidFill>
            <a:prstDash val="solid"/>
          </a:ln>
        </p:spPr>
      </p:sp>
      <p:sp>
        <p:nvSpPr>
          <p:cNvPr id="5" name="Text 3"/>
          <p:cNvSpPr txBox="1"/>
          <p:nvPr/>
        </p:nvSpPr>
        <p:spPr>
          <a:xfrm>
            <a:off x="804672" y="1847088"/>
            <a:ext cx="4882896" cy="219456"/>
          </a:xfrm>
          <a:prstGeom prst="rect">
            <a:avLst/>
          </a:prstGeom>
          <a:noFill/>
          <a:ln/>
        </p:spPr>
        <p:txBody>
          <a:bodyPr wrap="square" lIns="0" tIns="0" rIns="0" bIns="0" rtlCol="0" anchor="ctr"/>
          <a:lstStyle/>
          <a:p>
            <a:pPr indent="0" marL="0">
              <a:buNone/>
            </a:pPr>
            <a:r>
              <a:rPr lang="en-US" sz="1050" b="1" dirty="0">
                <a:solidFill>
                  <a:srgbClr val="3A36A0"/>
                </a:solidFill>
                <a:latin typeface="Calibri" pitchFamily="34" charset="0"/>
                <a:ea typeface="Calibri" pitchFamily="34" charset="-122"/>
                <a:cs typeface="Calibri" pitchFamily="34" charset="-120"/>
              </a:rPr>
              <a:t>CẬP NHẬT KIẾN THỨC</a:t>
            </a:r>
            <a:endParaRPr lang="en-US" sz="1050" dirty="0"/>
          </a:p>
        </p:txBody>
      </p:sp>
      <p:sp>
        <p:nvSpPr>
          <p:cNvPr id="6" name="Text 4"/>
          <p:cNvSpPr txBox="1"/>
          <p:nvPr/>
        </p:nvSpPr>
        <p:spPr>
          <a:xfrm>
            <a:off x="804672" y="2121408"/>
            <a:ext cx="488289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Giá trị đổi theo thời gian — có thứ tự</a:t>
            </a:r>
            <a:endParaRPr lang="en-US" sz="1400" dirty="0"/>
          </a:p>
        </p:txBody>
      </p:sp>
      <p:sp>
        <p:nvSpPr>
          <p:cNvPr id="7" name="Text 5"/>
          <p:cNvSpPr txBox="1"/>
          <p:nvPr/>
        </p:nvSpPr>
        <p:spPr>
          <a:xfrm>
            <a:off x="804672" y="2468880"/>
            <a:ext cx="4882896" cy="108813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Bản mới nhận seq lớn hơn, bản cũ chuyển superseded và giữ lại khoảng hiệu lực. Câu hỏi “giá trị hiện tại là gì” trở thành một phép max(seq) — thuần Python, tất định, không phụ thuộc mô hình.</a:t>
            </a:r>
            <a:endParaRPr lang="en-US" sz="1150" dirty="0"/>
          </a:p>
        </p:txBody>
      </p:sp>
      <p:sp>
        <p:nvSpPr>
          <p:cNvPr id="8" name="Text 6"/>
          <p:cNvSpPr txBox="1"/>
          <p:nvPr/>
        </p:nvSpPr>
        <p:spPr>
          <a:xfrm>
            <a:off x="804672" y="3310128"/>
            <a:ext cx="4882896" cy="256032"/>
          </a:xfrm>
          <a:prstGeom prst="rect">
            <a:avLst/>
          </a:prstGeom>
          <a:noFill/>
          <a:ln/>
        </p:spPr>
        <p:txBody>
          <a:bodyPr wrap="square" lIns="0" tIns="0" rIns="0" bIns="0" rtlCol="0" anchor="ctr"/>
          <a:lstStyle/>
          <a:p>
            <a:pPr indent="0" marL="0">
              <a:buNone/>
            </a:pPr>
            <a:r>
              <a:rPr lang="en-US" sz="1250" b="1" dirty="0">
                <a:solidFill>
                  <a:srgbClr val="4A4E63"/>
                </a:solidFill>
                <a:latin typeface="Courier New" pitchFamily="34" charset="0"/>
                <a:ea typeface="Courier New" pitchFamily="34" charset="-122"/>
                <a:cs typeface="Courier New" pitchFamily="34" charset="-120"/>
              </a:rPr>
              <a:t>#1 N5</a:t>
            </a:r>
            <a:pPr indent="0" marL="0">
              <a:buNone/>
            </a:pPr>
            <a:r>
              <a:rPr lang="en-US" sz="1250" dirty="0">
                <a:solidFill>
                  <a:srgbClr val="6A6E85"/>
                </a:solidFill>
                <a:latin typeface="Courier New" pitchFamily="34" charset="0"/>
                <a:ea typeface="Courier New" pitchFamily="34" charset="-122"/>
                <a:cs typeface="Courier New" pitchFamily="34" charset="-120"/>
              </a:rPr>
              <a:t>  superseded   →   </a:t>
            </a:r>
            <a:pPr indent="0" marL="0">
              <a:buNone/>
            </a:pPr>
            <a:r>
              <a:rPr lang="en-US" sz="1250" b="1" dirty="0">
                <a:solidFill>
                  <a:srgbClr val="13123A"/>
                </a:solidFill>
                <a:latin typeface="Courier New" pitchFamily="34" charset="0"/>
                <a:ea typeface="Courier New" pitchFamily="34" charset="-122"/>
                <a:cs typeface="Courier New" pitchFamily="34" charset="-120"/>
              </a:rPr>
              <a:t>#4 N4</a:t>
            </a:r>
            <a:pPr indent="0" marL="0">
              <a:buNone/>
            </a:pPr>
            <a:r>
              <a:rPr lang="en-US" sz="1250" b="1" dirty="0">
                <a:solidFill>
                  <a:srgbClr val="1FA6A6"/>
                </a:solidFill>
                <a:latin typeface="Courier New" pitchFamily="34" charset="0"/>
                <a:ea typeface="Courier New" pitchFamily="34" charset="-122"/>
                <a:cs typeface="Courier New" pitchFamily="34" charset="-120"/>
              </a:rPr>
              <a:t>  active</a:t>
            </a:r>
            <a:endParaRPr lang="en-US" sz="1250" dirty="0"/>
          </a:p>
        </p:txBody>
      </p:sp>
      <p:sp>
        <p:nvSpPr>
          <p:cNvPr id="9" name="Shape 7"/>
          <p:cNvSpPr/>
          <p:nvPr/>
        </p:nvSpPr>
        <p:spPr>
          <a:xfrm>
            <a:off x="6254496" y="1673352"/>
            <a:ext cx="5358384" cy="2011680"/>
          </a:xfrm>
          <a:prstGeom prst="roundRect">
            <a:avLst>
              <a:gd name="adj" fmla="val 2273"/>
            </a:avLst>
          </a:prstGeom>
          <a:solidFill>
            <a:srgbClr val="F7F7FB"/>
          </a:solidFill>
          <a:ln w="12700">
            <a:solidFill>
              <a:srgbClr val="F7F7FB"/>
            </a:solidFill>
            <a:prstDash val="solid"/>
          </a:ln>
        </p:spPr>
      </p:sp>
      <p:sp>
        <p:nvSpPr>
          <p:cNvPr id="10" name="Text 8"/>
          <p:cNvSpPr txBox="1"/>
          <p:nvPr/>
        </p:nvSpPr>
        <p:spPr>
          <a:xfrm>
            <a:off x="6492240" y="1847088"/>
            <a:ext cx="4882896" cy="219456"/>
          </a:xfrm>
          <a:prstGeom prst="rect">
            <a:avLst/>
          </a:prstGeom>
          <a:noFill/>
          <a:ln/>
        </p:spPr>
        <p:txBody>
          <a:bodyPr wrap="square" lIns="0" tIns="0" rIns="0" bIns="0" rtlCol="0" anchor="ctr"/>
          <a:lstStyle/>
          <a:p>
            <a:pPr indent="0" marL="0">
              <a:buNone/>
            </a:pPr>
            <a:r>
              <a:rPr lang="en-US" sz="1050" b="1" dirty="0">
                <a:solidFill>
                  <a:srgbClr val="E9970B"/>
                </a:solidFill>
                <a:latin typeface="Calibri" pitchFamily="34" charset="0"/>
                <a:ea typeface="Calibri" pitchFamily="34" charset="-122"/>
                <a:cs typeface="Calibri" pitchFamily="34" charset="-120"/>
              </a:rPr>
              <a:t>GIẢI QUYẾT MÂU THUẪN</a:t>
            </a:r>
            <a:endParaRPr lang="en-US" sz="1050" dirty="0"/>
          </a:p>
        </p:txBody>
      </p:sp>
      <p:sp>
        <p:nvSpPr>
          <p:cNvPr id="11" name="Text 9"/>
          <p:cNvSpPr txBox="1"/>
          <p:nvPr/>
        </p:nvSpPr>
        <p:spPr>
          <a:xfrm>
            <a:off x="6492240" y="2121408"/>
            <a:ext cx="4882896" cy="292608"/>
          </a:xfrm>
          <a:prstGeom prst="rect">
            <a:avLst/>
          </a:prstGeom>
          <a:noFill/>
          <a:ln/>
        </p:spPr>
        <p:txBody>
          <a:bodyPr wrap="square" lIns="0" tIns="0" rIns="0" bIns="0" rtlCol="0" anchor="ctr"/>
          <a:lstStyle/>
          <a:p>
            <a:pPr indent="0" marL="0">
              <a:buNone/>
            </a:pPr>
            <a:r>
              <a:rPr lang="en-US" sz="1400" b="1" dirty="0">
                <a:solidFill>
                  <a:srgbClr val="13123A"/>
                </a:solidFill>
                <a:latin typeface="Cambria" pitchFamily="34" charset="0"/>
                <a:ea typeface="Cambria" pitchFamily="34" charset="-122"/>
                <a:cs typeface="Cambria" pitchFamily="34" charset="-120"/>
              </a:rPr>
              <a:t>Hai giá trị trái nhau cùng lúc — không thứ tự</a:t>
            </a:r>
            <a:endParaRPr lang="en-US" sz="1400" dirty="0"/>
          </a:p>
        </p:txBody>
      </p:sp>
      <p:sp>
        <p:nvSpPr>
          <p:cNvPr id="12" name="Text 10"/>
          <p:cNvSpPr txBox="1"/>
          <p:nvPr/>
        </p:nvSpPr>
        <p:spPr>
          <a:xfrm>
            <a:off x="6492240" y="2468880"/>
            <a:ext cx="4882896" cy="1088136"/>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Khi hai giá trị trái nhau xuất hiện trong cùng một lượt, không có căn cứ thời gian để phân xử. Hệ giữ bản sau nhưng đánh dấu cần rà soát, thay vì âm thầm chọn bừa. BEAM chấm đây là một năng lực riêng.</a:t>
            </a:r>
            <a:endParaRPr lang="en-US" sz="1150" dirty="0"/>
          </a:p>
        </p:txBody>
      </p:sp>
      <p:sp>
        <p:nvSpPr>
          <p:cNvPr id="13" name="Text 11"/>
          <p:cNvSpPr txBox="1"/>
          <p:nvPr/>
        </p:nvSpPr>
        <p:spPr>
          <a:xfrm>
            <a:off x="6492240" y="3310128"/>
            <a:ext cx="4882896" cy="256032"/>
          </a:xfrm>
          <a:prstGeom prst="rect">
            <a:avLst/>
          </a:prstGeom>
          <a:noFill/>
          <a:ln/>
        </p:spPr>
        <p:txBody>
          <a:bodyPr wrap="square" lIns="0" tIns="0" rIns="0" bIns="0" rtlCol="0" anchor="ctr"/>
          <a:lstStyle/>
          <a:p>
            <a:pPr indent="0" marL="0">
              <a:buNone/>
            </a:pPr>
            <a:r>
              <a:rPr lang="en-US" sz="1250" b="1" dirty="0">
                <a:solidFill>
                  <a:srgbClr val="13123A"/>
                </a:solidFill>
                <a:latin typeface="Courier New" pitchFamily="34" charset="0"/>
                <a:ea typeface="Courier New" pitchFamily="34" charset="-122"/>
                <a:cs typeface="Courier New" pitchFamily="34" charset="-120"/>
              </a:rPr>
              <a:t>N4</a:t>
            </a:r>
            <a:pPr indent="0" marL="0">
              <a:buNone/>
            </a:pPr>
            <a:r>
              <a:rPr lang="en-US" sz="1250" dirty="0">
                <a:solidFill>
                  <a:srgbClr val="6A6E85"/>
                </a:solidFill>
                <a:latin typeface="Courier New" pitchFamily="34" charset="0"/>
                <a:ea typeface="Courier New" pitchFamily="34" charset="-122"/>
                <a:cs typeface="Courier New" pitchFamily="34" charset="-120"/>
              </a:rPr>
              <a:t>  vs  </a:t>
            </a:r>
            <a:pPr indent="0" marL="0">
              <a:buNone/>
            </a:pPr>
            <a:r>
              <a:rPr lang="en-US" sz="1250" b="1" dirty="0">
                <a:solidFill>
                  <a:srgbClr val="13123A"/>
                </a:solidFill>
                <a:latin typeface="Courier New" pitchFamily="34" charset="0"/>
                <a:ea typeface="Courier New" pitchFamily="34" charset="-122"/>
                <a:cs typeface="Courier New" pitchFamily="34" charset="-120"/>
              </a:rPr>
              <a:t>N3</a:t>
            </a:r>
            <a:pPr indent="0" marL="0">
              <a:buNone/>
            </a:pPr>
            <a:r>
              <a:rPr lang="en-US" sz="1250" dirty="0">
                <a:solidFill>
                  <a:srgbClr val="6A6E85"/>
                </a:solidFill>
                <a:latin typeface="Courier New" pitchFamily="34" charset="0"/>
                <a:ea typeface="Courier New" pitchFamily="34" charset="-122"/>
                <a:cs typeface="Courier New" pitchFamily="34" charset="-120"/>
              </a:rPr>
              <a:t>  →  </a:t>
            </a:r>
            <a:pPr indent="0" marL="0">
              <a:buNone/>
            </a:pPr>
            <a:r>
              <a:rPr lang="en-US" sz="1250" b="1" dirty="0">
                <a:solidFill>
                  <a:srgbClr val="E9970B"/>
                </a:solidFill>
                <a:latin typeface="Courier New" pitchFamily="34" charset="0"/>
                <a:ea typeface="Courier New" pitchFamily="34" charset="-122"/>
                <a:cs typeface="Courier New" pitchFamily="34" charset="-120"/>
              </a:rPr>
              <a:t>CONFLICT</a:t>
            </a:r>
            <a:endParaRPr lang="en-US" sz="1250" dirty="0"/>
          </a:p>
        </p:txBody>
      </p:sp>
      <p:sp>
        <p:nvSpPr>
          <p:cNvPr id="14" name="Shape 12"/>
          <p:cNvSpPr/>
          <p:nvPr/>
        </p:nvSpPr>
        <p:spPr>
          <a:xfrm>
            <a:off x="566928" y="3858768"/>
            <a:ext cx="3483864" cy="1115568"/>
          </a:xfrm>
          <a:prstGeom prst="roundRect">
            <a:avLst>
              <a:gd name="adj" fmla="val 4098"/>
            </a:avLst>
          </a:prstGeom>
          <a:solidFill>
            <a:srgbClr val="F7F7FB"/>
          </a:solidFill>
          <a:ln w="12700">
            <a:solidFill>
              <a:srgbClr val="F7F7FB"/>
            </a:solidFill>
            <a:prstDash val="solid"/>
          </a:ln>
        </p:spPr>
      </p:sp>
      <p:sp>
        <p:nvSpPr>
          <p:cNvPr id="15" name="Text 13"/>
          <p:cNvSpPr txBox="1"/>
          <p:nvPr/>
        </p:nvSpPr>
        <p:spPr>
          <a:xfrm>
            <a:off x="804672" y="3986784"/>
            <a:ext cx="3008376" cy="475488"/>
          </a:xfrm>
          <a:prstGeom prst="rect">
            <a:avLst/>
          </a:prstGeom>
          <a:noFill/>
          <a:ln/>
        </p:spPr>
        <p:txBody>
          <a:bodyPr wrap="square" lIns="0" tIns="0" rIns="0" bIns="0" rtlCol="0" anchor="ctr"/>
          <a:lstStyle/>
          <a:p>
            <a:pPr indent="0" marL="0">
              <a:buNone/>
            </a:pPr>
            <a:r>
              <a:rPr lang="en-US" sz="2800" b="1" dirty="0">
                <a:solidFill>
                  <a:srgbClr val="E9970B"/>
                </a:solidFill>
                <a:latin typeface="Cambria" pitchFamily="34" charset="0"/>
                <a:ea typeface="Cambria" pitchFamily="34" charset="-122"/>
                <a:cs typeface="Cambria" pitchFamily="34" charset="-120"/>
              </a:rPr>
              <a:t>~7%</a:t>
            </a:r>
            <a:endParaRPr lang="en-US" sz="2800" dirty="0"/>
          </a:p>
        </p:txBody>
      </p:sp>
      <p:sp>
        <p:nvSpPr>
          <p:cNvPr id="16" name="Text 14"/>
          <p:cNvSpPr txBox="1"/>
          <p:nvPr/>
        </p:nvSpPr>
        <p:spPr>
          <a:xfrm>
            <a:off x="804672" y="4498848"/>
            <a:ext cx="3008376" cy="237744"/>
          </a:xfrm>
          <a:prstGeom prst="rect">
            <a:avLst/>
          </a:prstGeom>
          <a:noFill/>
          <a:ln/>
        </p:spPr>
        <p:txBody>
          <a:bodyPr wrap="square" lIns="0" tIns="0" rIns="0" bIns="0" rtlCol="0" anchor="ctr"/>
          <a:lstStyle/>
          <a:p>
            <a:pPr indent="0" marL="0">
              <a:buNone/>
            </a:pPr>
            <a:r>
              <a:rPr lang="en-US" sz="1250" b="1" dirty="0">
                <a:solidFill>
                  <a:srgbClr val="13123A"/>
                </a:solidFill>
                <a:latin typeface="Calibri" pitchFamily="34" charset="0"/>
                <a:ea typeface="Calibri" pitchFamily="34" charset="-122"/>
                <a:cs typeface="Calibri" pitchFamily="34" charset="-120"/>
              </a:rPr>
              <a:t>Zep / Graphiti</a:t>
            </a:r>
            <a:endParaRPr lang="en-US" sz="1250" dirty="0"/>
          </a:p>
        </p:txBody>
      </p:sp>
      <p:sp>
        <p:nvSpPr>
          <p:cNvPr id="17" name="Text 15"/>
          <p:cNvSpPr txBox="1"/>
          <p:nvPr/>
        </p:nvSpPr>
        <p:spPr>
          <a:xfrm>
            <a:off x="804672" y="4709160"/>
            <a:ext cx="3008376" cy="219456"/>
          </a:xfrm>
          <a:prstGeom prst="rect">
            <a:avLst/>
          </a:prstGeom>
          <a:noFill/>
          <a:ln/>
        </p:spPr>
        <p:txBody>
          <a:bodyPr wrap="square" lIns="0" tIns="0" rIns="0" bIns="0" rtlCol="0" anchor="ctr"/>
          <a:lstStyle/>
          <a:p>
            <a:pPr indent="0" marL="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18" name="Shape 16"/>
          <p:cNvSpPr/>
          <p:nvPr/>
        </p:nvSpPr>
        <p:spPr>
          <a:xfrm>
            <a:off x="4352544" y="3858768"/>
            <a:ext cx="3483864" cy="1115568"/>
          </a:xfrm>
          <a:prstGeom prst="roundRect">
            <a:avLst>
              <a:gd name="adj" fmla="val 4098"/>
            </a:avLst>
          </a:prstGeom>
          <a:solidFill>
            <a:srgbClr val="F7F7FB"/>
          </a:solidFill>
          <a:ln w="12700">
            <a:solidFill>
              <a:srgbClr val="F7F7FB"/>
            </a:solidFill>
            <a:prstDash val="solid"/>
          </a:ln>
        </p:spPr>
      </p:sp>
      <p:sp>
        <p:nvSpPr>
          <p:cNvPr id="19" name="Text 17"/>
          <p:cNvSpPr txBox="1"/>
          <p:nvPr/>
        </p:nvSpPr>
        <p:spPr>
          <a:xfrm>
            <a:off x="4590288" y="3986784"/>
            <a:ext cx="3008376" cy="475488"/>
          </a:xfrm>
          <a:prstGeom prst="rect">
            <a:avLst/>
          </a:prstGeom>
          <a:noFill/>
          <a:ln/>
        </p:spPr>
        <p:txBody>
          <a:bodyPr wrap="square" lIns="0" tIns="0" rIns="0" bIns="0" rtlCol="0" anchor="ctr"/>
          <a:lstStyle/>
          <a:p>
            <a:pPr indent="0" marL="0">
              <a:buNone/>
            </a:pPr>
            <a:r>
              <a:rPr lang="en-US" sz="2800" b="1" dirty="0">
                <a:solidFill>
                  <a:srgbClr val="E9970B"/>
                </a:solidFill>
                <a:latin typeface="Cambria" pitchFamily="34" charset="0"/>
                <a:ea typeface="Cambria" pitchFamily="34" charset="-122"/>
                <a:cs typeface="Cambria" pitchFamily="34" charset="-120"/>
              </a:rPr>
              <a:t>~54%</a:t>
            </a:r>
            <a:endParaRPr lang="en-US" sz="2800" dirty="0"/>
          </a:p>
        </p:txBody>
      </p:sp>
      <p:sp>
        <p:nvSpPr>
          <p:cNvPr id="20" name="Text 18"/>
          <p:cNvSpPr txBox="1"/>
          <p:nvPr/>
        </p:nvSpPr>
        <p:spPr>
          <a:xfrm>
            <a:off x="4590288" y="4498848"/>
            <a:ext cx="3008376" cy="237744"/>
          </a:xfrm>
          <a:prstGeom prst="rect">
            <a:avLst/>
          </a:prstGeom>
          <a:noFill/>
          <a:ln/>
        </p:spPr>
        <p:txBody>
          <a:bodyPr wrap="square" lIns="0" tIns="0" rIns="0" bIns="0" rtlCol="0" anchor="ctr"/>
          <a:lstStyle/>
          <a:p>
            <a:pPr indent="0" marL="0">
              <a:buNone/>
            </a:pPr>
            <a:r>
              <a:rPr lang="en-US" sz="1250" b="1" dirty="0">
                <a:solidFill>
                  <a:srgbClr val="13123A"/>
                </a:solidFill>
                <a:latin typeface="Calibri" pitchFamily="34" charset="0"/>
                <a:ea typeface="Calibri" pitchFamily="34" charset="-122"/>
                <a:cs typeface="Calibri" pitchFamily="34" charset="-120"/>
              </a:rPr>
              <a:t>HippoRAG-v2</a:t>
            </a:r>
            <a:endParaRPr lang="en-US" sz="1250" dirty="0"/>
          </a:p>
        </p:txBody>
      </p:sp>
      <p:sp>
        <p:nvSpPr>
          <p:cNvPr id="21" name="Text 19"/>
          <p:cNvSpPr txBox="1"/>
          <p:nvPr/>
        </p:nvSpPr>
        <p:spPr>
          <a:xfrm>
            <a:off x="4590288" y="4709160"/>
            <a:ext cx="3008376" cy="219456"/>
          </a:xfrm>
          <a:prstGeom prst="rect">
            <a:avLst/>
          </a:prstGeom>
          <a:noFill/>
          <a:ln/>
        </p:spPr>
        <p:txBody>
          <a:bodyPr wrap="square" lIns="0" tIns="0" rIns="0" bIns="0" rtlCol="0" anchor="ctr"/>
          <a:lstStyle/>
          <a:p>
            <a:pPr indent="0" marL="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22" name="Shape 20"/>
          <p:cNvSpPr/>
          <p:nvPr/>
        </p:nvSpPr>
        <p:spPr>
          <a:xfrm>
            <a:off x="8138160" y="3858768"/>
            <a:ext cx="3483864" cy="1115568"/>
          </a:xfrm>
          <a:prstGeom prst="roundRect">
            <a:avLst>
              <a:gd name="adj" fmla="val 4098"/>
            </a:avLst>
          </a:prstGeom>
          <a:solidFill>
            <a:srgbClr val="F7F7FB"/>
          </a:solidFill>
          <a:ln w="12700">
            <a:solidFill>
              <a:srgbClr val="F7F7FB"/>
            </a:solidFill>
            <a:prstDash val="solid"/>
          </a:ln>
        </p:spPr>
      </p:sp>
      <p:sp>
        <p:nvSpPr>
          <p:cNvPr id="23" name="Text 21"/>
          <p:cNvSpPr txBox="1"/>
          <p:nvPr/>
        </p:nvSpPr>
        <p:spPr>
          <a:xfrm>
            <a:off x="8375904" y="3986784"/>
            <a:ext cx="3008376" cy="475488"/>
          </a:xfrm>
          <a:prstGeom prst="rect">
            <a:avLst/>
          </a:prstGeom>
          <a:noFill/>
          <a:ln/>
        </p:spPr>
        <p:txBody>
          <a:bodyPr wrap="square" lIns="0" tIns="0" rIns="0" bIns="0" rtlCol="0" anchor="ctr"/>
          <a:lstStyle/>
          <a:p>
            <a:pPr indent="0" marL="0">
              <a:buNone/>
            </a:pPr>
            <a:r>
              <a:rPr lang="en-US" sz="2800" b="1" dirty="0">
                <a:solidFill>
                  <a:srgbClr val="E9970B"/>
                </a:solidFill>
                <a:latin typeface="Cambria" pitchFamily="34" charset="0"/>
                <a:ea typeface="Cambria" pitchFamily="34" charset="-122"/>
                <a:cs typeface="Cambria" pitchFamily="34" charset="-120"/>
              </a:rPr>
              <a:t>~60%</a:t>
            </a:r>
            <a:endParaRPr lang="en-US" sz="2800" dirty="0"/>
          </a:p>
        </p:txBody>
      </p:sp>
      <p:sp>
        <p:nvSpPr>
          <p:cNvPr id="24" name="Text 22"/>
          <p:cNvSpPr txBox="1"/>
          <p:nvPr/>
        </p:nvSpPr>
        <p:spPr>
          <a:xfrm>
            <a:off x="8375904" y="4498848"/>
            <a:ext cx="3008376" cy="237744"/>
          </a:xfrm>
          <a:prstGeom prst="rect">
            <a:avLst/>
          </a:prstGeom>
          <a:noFill/>
          <a:ln/>
        </p:spPr>
        <p:txBody>
          <a:bodyPr wrap="square" lIns="0" tIns="0" rIns="0" bIns="0" rtlCol="0" anchor="ctr"/>
          <a:lstStyle/>
          <a:p>
            <a:pPr indent="0" marL="0">
              <a:buNone/>
            </a:pPr>
            <a:r>
              <a:rPr lang="en-US" sz="1250" b="1" dirty="0">
                <a:solidFill>
                  <a:srgbClr val="13123A"/>
                </a:solidFill>
                <a:latin typeface="Calibri" pitchFamily="34" charset="0"/>
                <a:ea typeface="Calibri" pitchFamily="34" charset="-122"/>
                <a:cs typeface="Calibri" pitchFamily="34" charset="-120"/>
              </a:rPr>
              <a:t>GPT-4o full-context</a:t>
            </a:r>
            <a:endParaRPr lang="en-US" sz="1250" dirty="0"/>
          </a:p>
        </p:txBody>
      </p:sp>
      <p:sp>
        <p:nvSpPr>
          <p:cNvPr id="25" name="Text 23"/>
          <p:cNvSpPr txBox="1"/>
          <p:nvPr/>
        </p:nvSpPr>
        <p:spPr>
          <a:xfrm>
            <a:off x="8375904" y="4709160"/>
            <a:ext cx="3008376" cy="219456"/>
          </a:xfrm>
          <a:prstGeom prst="rect">
            <a:avLst/>
          </a:prstGeom>
          <a:noFill/>
          <a:ln/>
        </p:spPr>
        <p:txBody>
          <a:bodyPr wrap="square" lIns="0" tIns="0" rIns="0" bIns="0" rtlCol="0" anchor="ctr"/>
          <a:lstStyle/>
          <a:p>
            <a:pPr indent="0" marL="0">
              <a:buNone/>
            </a:pPr>
            <a:r>
              <a:rPr lang="en-US" sz="1100" dirty="0">
                <a:solidFill>
                  <a:srgbClr val="6A6E85"/>
                </a:solidFill>
                <a:latin typeface="Calibri" pitchFamily="34" charset="0"/>
                <a:ea typeface="Calibri" pitchFamily="34" charset="-122"/>
                <a:cs typeface="Calibri" pitchFamily="34" charset="-120"/>
              </a:rPr>
              <a:t>điểm trên FactConsolidation</a:t>
            </a:r>
            <a:endParaRPr lang="en-US" sz="1100" dirty="0"/>
          </a:p>
        </p:txBody>
      </p:sp>
      <p:sp>
        <p:nvSpPr>
          <p:cNvPr id="26" name="Shape 24"/>
          <p:cNvSpPr/>
          <p:nvPr/>
        </p:nvSpPr>
        <p:spPr>
          <a:xfrm>
            <a:off x="566928" y="5120640"/>
            <a:ext cx="11045952" cy="1207008"/>
          </a:xfrm>
          <a:prstGeom prst="roundRect">
            <a:avLst>
              <a:gd name="adj" fmla="val 3788"/>
            </a:avLst>
          </a:prstGeom>
          <a:solidFill>
            <a:srgbClr val="13123A"/>
          </a:solidFill>
          <a:ln w="12700">
            <a:solidFill>
              <a:srgbClr val="13123A"/>
            </a:solidFill>
            <a:prstDash val="solid"/>
          </a:ln>
        </p:spPr>
      </p:sp>
      <p:sp>
        <p:nvSpPr>
          <p:cNvPr id="27" name="Text 25"/>
          <p:cNvSpPr txBox="1"/>
          <p:nvPr/>
        </p:nvSpPr>
        <p:spPr>
          <a:xfrm>
            <a:off x="822960" y="5303520"/>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VÌ SAO NĂNG LỰC NÀY ĐÁNG CHÚ Ý</a:t>
            </a:r>
            <a:endParaRPr lang="en-US" sz="1100" dirty="0"/>
          </a:p>
        </p:txBody>
      </p:sp>
      <p:sp>
        <p:nvSpPr>
          <p:cNvPr id="28" name="Text 26"/>
          <p:cNvSpPr txBox="1"/>
          <p:nvPr/>
        </p:nvSpPr>
        <p:spPr>
          <a:xfrm>
            <a:off x="822960" y="5577840"/>
            <a:ext cx="10533888" cy="603504"/>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Cả ba hệ trên đều được chỉ dẫn rõ trong lời nhắc rằng fact mới có số thứ tự lớn hơn — và vẫn sai. Vấn đề không ở truy xuất, cũng không ở độ dài ngữ cảnh, mà ở chỗ giao cho mô hình việc phán đoán độ mới. Đây là một trong chín năng lực, và là chỗ nhóm kỳ vọng có cải tiến rõ nhất.</a:t>
            </a:r>
            <a:endParaRPr lang="en-US" sz="1250" dirty="0"/>
          </a:p>
        </p:txBody>
      </p:sp>
      <p:sp>
        <p:nvSpPr>
          <p:cNvPr id="29" name="Text 27"/>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Số liệu trên FactConsolidation (MemoryAgentBench, ICLR 2026), báo cáo bởi Reddy &amp; Challaram, arXiv:2606.01435 (2026) — theo công bố của tác giả.</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CÔNG NGHỆ</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Chốt công nghệ — toàn bộ hạ tầng miễn phí</a:t>
            </a:r>
            <a:endParaRPr lang="en-US" sz="3000" dirty="0"/>
          </a:p>
        </p:txBody>
      </p:sp>
      <p:sp>
        <p:nvSpPr>
          <p:cNvPr id="4" name="Text 2"/>
          <p:cNvSpPr txBox="1"/>
          <p:nvPr/>
        </p:nvSpPr>
        <p:spPr>
          <a:xfrm>
            <a:off x="749808" y="1673352"/>
            <a:ext cx="178308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TẦNG</a:t>
            </a:r>
            <a:endParaRPr lang="en-US" sz="1100" dirty="0"/>
          </a:p>
        </p:txBody>
      </p:sp>
      <p:sp>
        <p:nvSpPr>
          <p:cNvPr id="5" name="Text 3"/>
          <p:cNvSpPr txBox="1"/>
          <p:nvPr/>
        </p:nvSpPr>
        <p:spPr>
          <a:xfrm>
            <a:off x="2651760" y="1673352"/>
            <a:ext cx="292608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LỰA CHỌN</a:t>
            </a:r>
            <a:endParaRPr lang="en-US" sz="1100" dirty="0"/>
          </a:p>
        </p:txBody>
      </p:sp>
      <p:sp>
        <p:nvSpPr>
          <p:cNvPr id="6" name="Text 4"/>
          <p:cNvSpPr txBox="1"/>
          <p:nvPr/>
        </p:nvSpPr>
        <p:spPr>
          <a:xfrm>
            <a:off x="5715000" y="1673352"/>
            <a:ext cx="571500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VÌ SAO CHỌN NÓ</a:t>
            </a:r>
            <a:endParaRPr lang="en-US" sz="1100" dirty="0"/>
          </a:p>
        </p:txBody>
      </p:sp>
      <p:sp>
        <p:nvSpPr>
          <p:cNvPr id="7" name="Shape 5"/>
          <p:cNvSpPr/>
          <p:nvPr/>
        </p:nvSpPr>
        <p:spPr>
          <a:xfrm>
            <a:off x="566928" y="2002536"/>
            <a:ext cx="11045952" cy="786384"/>
          </a:xfrm>
          <a:prstGeom prst="roundRect">
            <a:avLst>
              <a:gd name="adj" fmla="val 6977"/>
            </a:avLst>
          </a:prstGeom>
          <a:solidFill>
            <a:srgbClr val="ECEBF7"/>
          </a:solidFill>
          <a:ln w="12700">
            <a:solidFill>
              <a:srgbClr val="FFFFFF"/>
            </a:solidFill>
            <a:prstDash val="solid"/>
          </a:ln>
        </p:spPr>
      </p:sp>
      <p:sp>
        <p:nvSpPr>
          <p:cNvPr id="8" name="Text 6"/>
          <p:cNvSpPr txBox="1"/>
          <p:nvPr/>
        </p:nvSpPr>
        <p:spPr>
          <a:xfrm>
            <a:off x="749808" y="2075688"/>
            <a:ext cx="1783080" cy="658368"/>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Mô hình ngôn ngữ</a:t>
            </a:r>
            <a:endParaRPr lang="en-US" sz="1250" dirty="0"/>
          </a:p>
        </p:txBody>
      </p:sp>
      <p:sp>
        <p:nvSpPr>
          <p:cNvPr id="9" name="Text 7"/>
          <p:cNvSpPr txBox="1"/>
          <p:nvPr/>
        </p:nvSpPr>
        <p:spPr>
          <a:xfrm>
            <a:off x="2651760" y="2075688"/>
            <a:ext cx="292608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Gemini 2.5 Flash — gói miễn phí. Dự phòng: Groq free tier, Ollama local</a:t>
            </a:r>
            <a:endParaRPr lang="en-US" sz="1150" dirty="0"/>
          </a:p>
        </p:txBody>
      </p:sp>
      <p:sp>
        <p:nvSpPr>
          <p:cNvPr id="10" name="Text 8"/>
          <p:cNvSpPr txBox="1"/>
          <p:nvPr/>
        </p:nvSpPr>
        <p:spPr>
          <a:xfrm>
            <a:off x="5715000" y="2075688"/>
            <a:ext cx="571500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~1.500 lượt/ngày, ~15 lượt/phút, không cần thẻ tín dụng. Dư cho quy mô đồ án. Có dự phòng vì phần đánh giá cần đổi mô hình nền để đo phương sai.</a:t>
            </a:r>
            <a:endParaRPr lang="en-US" sz="1150" dirty="0"/>
          </a:p>
        </p:txBody>
      </p:sp>
      <p:sp>
        <p:nvSpPr>
          <p:cNvPr id="11" name="Shape 9"/>
          <p:cNvSpPr/>
          <p:nvPr/>
        </p:nvSpPr>
        <p:spPr>
          <a:xfrm>
            <a:off x="566928" y="2862072"/>
            <a:ext cx="11045952" cy="786384"/>
          </a:xfrm>
          <a:prstGeom prst="roundRect">
            <a:avLst>
              <a:gd name="adj" fmla="val 6977"/>
            </a:avLst>
          </a:prstGeom>
          <a:solidFill>
            <a:srgbClr val="F7F7FB"/>
          </a:solidFill>
          <a:ln w="12700">
            <a:solidFill>
              <a:srgbClr val="FFFFFF"/>
            </a:solidFill>
            <a:prstDash val="solid"/>
          </a:ln>
        </p:spPr>
      </p:sp>
      <p:sp>
        <p:nvSpPr>
          <p:cNvPr id="12" name="Text 10"/>
          <p:cNvSpPr txBox="1"/>
          <p:nvPr/>
        </p:nvSpPr>
        <p:spPr>
          <a:xfrm>
            <a:off x="749808" y="2935224"/>
            <a:ext cx="1783080" cy="658368"/>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Embedding &amp; Reranker</a:t>
            </a:r>
            <a:endParaRPr lang="en-US" sz="1250" dirty="0"/>
          </a:p>
        </p:txBody>
      </p:sp>
      <p:sp>
        <p:nvSpPr>
          <p:cNvPr id="13" name="Text 11"/>
          <p:cNvSpPr txBox="1"/>
          <p:nvPr/>
        </p:nvSpPr>
        <p:spPr>
          <a:xfrm>
            <a:off x="2651760" y="2935224"/>
            <a:ext cx="292608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BGE-M3 và bge-reranker-v2-m3 — chạy local, miễn phí</a:t>
            </a:r>
            <a:endParaRPr lang="en-US" sz="1150" dirty="0"/>
          </a:p>
        </p:txBody>
      </p:sp>
      <p:sp>
        <p:nvSpPr>
          <p:cNvPr id="14" name="Text 12"/>
          <p:cNvSpPr txBox="1"/>
          <p:nvPr/>
        </p:nvSpPr>
        <p:spPr>
          <a:xfrm>
            <a:off x="5715000" y="2935224"/>
            <a:ext cx="571500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Cả hai đều xuyên ngữ, phục vụ trực tiếp năng lực song ngữ. Chạy local vì embedding bị gọi nhiều nhất: mỗi fact, mỗi truy vấn con, mỗi lần quét tham số — đặt lên API là đốt sạch hạn mức trong một buổi.</a:t>
            </a:r>
            <a:endParaRPr lang="en-US" sz="1150" dirty="0"/>
          </a:p>
        </p:txBody>
      </p:sp>
      <p:sp>
        <p:nvSpPr>
          <p:cNvPr id="15" name="Shape 13"/>
          <p:cNvSpPr/>
          <p:nvPr/>
        </p:nvSpPr>
        <p:spPr>
          <a:xfrm>
            <a:off x="566928" y="3721608"/>
            <a:ext cx="11045952" cy="786384"/>
          </a:xfrm>
          <a:prstGeom prst="roundRect">
            <a:avLst>
              <a:gd name="adj" fmla="val 6977"/>
            </a:avLst>
          </a:prstGeom>
          <a:solidFill>
            <a:srgbClr val="ECEBF7"/>
          </a:solidFill>
          <a:ln w="12700">
            <a:solidFill>
              <a:srgbClr val="FFFFFF"/>
            </a:solidFill>
            <a:prstDash val="solid"/>
          </a:ln>
        </p:spPr>
      </p:sp>
      <p:sp>
        <p:nvSpPr>
          <p:cNvPr id="16" name="Text 14"/>
          <p:cNvSpPr txBox="1"/>
          <p:nvPr/>
        </p:nvSpPr>
        <p:spPr>
          <a:xfrm>
            <a:off x="749808" y="3794760"/>
            <a:ext cx="1783080" cy="658368"/>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Lưu trữ &amp; chỉ mục</a:t>
            </a:r>
            <a:endParaRPr lang="en-US" sz="1250" dirty="0"/>
          </a:p>
        </p:txBody>
      </p:sp>
      <p:sp>
        <p:nvSpPr>
          <p:cNvPr id="17" name="Text 15"/>
          <p:cNvSpPr txBox="1"/>
          <p:nvPr/>
        </p:nvSpPr>
        <p:spPr>
          <a:xfrm>
            <a:off x="2651760" y="3794760"/>
            <a:ext cx="292608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SQLite (sổ cái) · ChromaDB (vector) · rank_bm25 (từ khóa)</a:t>
            </a:r>
            <a:endParaRPr lang="en-US" sz="1150" dirty="0"/>
          </a:p>
        </p:txBody>
      </p:sp>
      <p:sp>
        <p:nvSpPr>
          <p:cNvPr id="18" name="Text 16"/>
          <p:cNvSpPr txBox="1"/>
          <p:nvPr/>
        </p:nvSpPr>
        <p:spPr>
          <a:xfrm>
            <a:off x="5715000" y="3794760"/>
            <a:ext cx="571500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SQLite giữ bản ghi và ràng buộc toàn vẹn; hai chỉ mục còn lại là dẫn xuất, dựng lại được bất cứ lúc nào. Chroma có metadata filter, cần để lọc status ngay ở tầng truy vấn.</a:t>
            </a:r>
            <a:endParaRPr lang="en-US" sz="1150" dirty="0"/>
          </a:p>
        </p:txBody>
      </p:sp>
      <p:sp>
        <p:nvSpPr>
          <p:cNvPr id="19" name="Shape 17"/>
          <p:cNvSpPr/>
          <p:nvPr/>
        </p:nvSpPr>
        <p:spPr>
          <a:xfrm>
            <a:off x="566928" y="4581144"/>
            <a:ext cx="11045952" cy="786384"/>
          </a:xfrm>
          <a:prstGeom prst="roundRect">
            <a:avLst>
              <a:gd name="adj" fmla="val 6977"/>
            </a:avLst>
          </a:prstGeom>
          <a:solidFill>
            <a:srgbClr val="F7F7FB"/>
          </a:solidFill>
          <a:ln w="12700">
            <a:solidFill>
              <a:srgbClr val="FFFFFF"/>
            </a:solidFill>
            <a:prstDash val="solid"/>
          </a:ln>
        </p:spPr>
      </p:sp>
      <p:sp>
        <p:nvSpPr>
          <p:cNvPr id="20" name="Text 18"/>
          <p:cNvSpPr txBox="1"/>
          <p:nvPr/>
        </p:nvSpPr>
        <p:spPr>
          <a:xfrm>
            <a:off x="749808" y="4654296"/>
            <a:ext cx="1783080" cy="658368"/>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Ngôn ngữ &amp; kiểm thử</a:t>
            </a:r>
            <a:endParaRPr lang="en-US" sz="1250" dirty="0"/>
          </a:p>
        </p:txBody>
      </p:sp>
      <p:sp>
        <p:nvSpPr>
          <p:cNvPr id="21" name="Text 19"/>
          <p:cNvSpPr txBox="1"/>
          <p:nvPr/>
        </p:nvSpPr>
        <p:spPr>
          <a:xfrm>
            <a:off x="2651760" y="4654296"/>
            <a:ext cx="292608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Python 3.11 · pytest + LLM giả lập</a:t>
            </a:r>
            <a:endParaRPr lang="en-US" sz="1150" dirty="0"/>
          </a:p>
        </p:txBody>
      </p:sp>
      <p:sp>
        <p:nvSpPr>
          <p:cNvPr id="22" name="Text 20"/>
          <p:cNvSpPr txBox="1"/>
          <p:nvPr/>
        </p:nvSpPr>
        <p:spPr>
          <a:xfrm>
            <a:off x="5715000" y="4654296"/>
            <a:ext cx="5715000" cy="658368"/>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Test chạy offline, không tốn hạn mức, kết quả lặp lại được. LLM giả lập đồng thời là baseline không-LLM để tách bạch phần nào của kết quả đến từ mô hình.</a:t>
            </a:r>
            <a:endParaRPr lang="en-US" sz="1150" dirty="0"/>
          </a:p>
        </p:txBody>
      </p:sp>
      <p:sp>
        <p:nvSpPr>
          <p:cNvPr id="23" name="Shape 21"/>
          <p:cNvSpPr/>
          <p:nvPr/>
        </p:nvSpPr>
        <p:spPr>
          <a:xfrm>
            <a:off x="566928" y="5486400"/>
            <a:ext cx="11045952" cy="841248"/>
          </a:xfrm>
          <a:prstGeom prst="roundRect">
            <a:avLst>
              <a:gd name="adj" fmla="val 5435"/>
            </a:avLst>
          </a:prstGeom>
          <a:solidFill>
            <a:srgbClr val="13123A"/>
          </a:solidFill>
          <a:ln w="12700">
            <a:solidFill>
              <a:srgbClr val="13123A"/>
            </a:solidFill>
            <a:prstDash val="solid"/>
          </a:ln>
        </p:spPr>
      </p:sp>
      <p:sp>
        <p:nvSpPr>
          <p:cNvPr id="24" name="Text 22"/>
          <p:cNvSpPr txBox="1"/>
          <p:nvPr/>
        </p:nvSpPr>
        <p:spPr>
          <a:xfrm>
            <a:off x="822960" y="5669280"/>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HỆ QUẢ VÀ ĐÁNH ĐỔI</a:t>
            </a:r>
            <a:endParaRPr lang="en-US" sz="1100" dirty="0"/>
          </a:p>
        </p:txBody>
      </p:sp>
      <p:sp>
        <p:nvSpPr>
          <p:cNvPr id="25" name="Text 23"/>
          <p:cNvSpPr txBox="1"/>
          <p:nvPr/>
        </p:nvSpPr>
        <p:spPr>
          <a:xfrm>
            <a:off x="822960" y="5943600"/>
            <a:ext cx="10533888" cy="237744"/>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Không hạng mục nào phải trả tiền, nên số lần chạy lại thí nghiệm không bị giới hạn bởi ngân sách. Đánh đổi: gói miễn phí của Gemini có thể dùng dữ liệu để huấn luyện, nên nhóm chỉ dùng dữ liệu tự sinh và benchmark công khai, không dùng dữ liệu cá nhân thật.</a:t>
            </a:r>
            <a:endParaRPr lang="en-US" sz="1250" dirty="0"/>
          </a:p>
        </p:txBody>
      </p:sp>
      <p:sp>
        <p:nvSpPr>
          <p:cNvPr id="26" name="Text 24"/>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Hạn mức gói miễn phí theo tài liệu Google AI for Developers, tra cứu tháng 9/2026 — cần kiểm tra lại trước khi báo cáo cuối vì hạn mức có thể thay đổi.</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Ba trục đo cho toàn bộ chín năng lực</a:t>
            </a:r>
            <a:endParaRPr lang="en-US" sz="3000" dirty="0"/>
          </a:p>
        </p:txBody>
      </p:sp>
      <p:sp>
        <p:nvSpPr>
          <p:cNvPr id="4" name="Shape 2"/>
          <p:cNvSpPr/>
          <p:nvPr/>
        </p:nvSpPr>
        <p:spPr>
          <a:xfrm>
            <a:off x="566928" y="1673352"/>
            <a:ext cx="3483864" cy="2103120"/>
          </a:xfrm>
          <a:prstGeom prst="roundRect">
            <a:avLst>
              <a:gd name="adj" fmla="val 2174"/>
            </a:avLst>
          </a:prstGeom>
          <a:solidFill>
            <a:srgbClr val="ECEBF7"/>
          </a:solidFill>
          <a:ln w="12700">
            <a:solidFill>
              <a:srgbClr val="ECEBF7"/>
            </a:solidFill>
            <a:prstDash val="solid"/>
          </a:ln>
        </p:spPr>
      </p:sp>
      <p:sp>
        <p:nvSpPr>
          <p:cNvPr id="5" name="Shape 3"/>
          <p:cNvSpPr/>
          <p:nvPr/>
        </p:nvSpPr>
        <p:spPr>
          <a:xfrm>
            <a:off x="822960" y="1901952"/>
            <a:ext cx="429768" cy="429768"/>
          </a:xfrm>
          <a:prstGeom prst="ellipse">
            <a:avLst/>
          </a:prstGeom>
          <a:solidFill>
            <a:srgbClr val="3A36A0"/>
          </a:solidFill>
          <a:ln w="12700">
            <a:solidFill>
              <a:srgbClr val="3A36A0"/>
            </a:solidFill>
            <a:prstDash val="solid"/>
          </a:ln>
        </p:spPr>
      </p:sp>
      <p:sp>
        <p:nvSpPr>
          <p:cNvPr id="6" name="Text 4"/>
          <p:cNvSpPr txBox="1"/>
          <p:nvPr/>
        </p:nvSpPr>
        <p:spPr>
          <a:xfrm>
            <a:off x="822960" y="1901952"/>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380744" y="1956816"/>
            <a:ext cx="243230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Độ chính xác</a:t>
            </a:r>
            <a:endParaRPr lang="en-US" sz="1500" dirty="0"/>
          </a:p>
        </p:txBody>
      </p:sp>
      <p:sp>
        <p:nvSpPr>
          <p:cNvPr id="8" name="Text 6"/>
          <p:cNvSpPr txBox="1"/>
          <p:nvPr/>
        </p:nvSpPr>
        <p:spPr>
          <a:xfrm>
            <a:off x="822960" y="2414016"/>
            <a:ext cx="2971800" cy="1234440"/>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Tỉ lệ trả lời đúng tách theo TỪNG loại câu hỏi và theo NGÔN NGỮ, không gộp một con số chung. Chấm bằng LLM-as-a-Judge, công bố kèm mô hình chấm và lời nhắc chấm.</a:t>
            </a:r>
            <a:endParaRPr lang="en-US" sz="1200" dirty="0"/>
          </a:p>
        </p:txBody>
      </p:sp>
      <p:sp>
        <p:nvSpPr>
          <p:cNvPr id="9" name="Shape 7"/>
          <p:cNvSpPr/>
          <p:nvPr/>
        </p:nvSpPr>
        <p:spPr>
          <a:xfrm>
            <a:off x="4352544" y="1673352"/>
            <a:ext cx="3483864" cy="2103120"/>
          </a:xfrm>
          <a:prstGeom prst="roundRect">
            <a:avLst>
              <a:gd name="adj" fmla="val 2174"/>
            </a:avLst>
          </a:prstGeom>
          <a:solidFill>
            <a:srgbClr val="ECEBF7"/>
          </a:solidFill>
          <a:ln w="12700">
            <a:solidFill>
              <a:srgbClr val="ECEBF7"/>
            </a:solidFill>
            <a:prstDash val="solid"/>
          </a:ln>
        </p:spPr>
      </p:sp>
      <p:sp>
        <p:nvSpPr>
          <p:cNvPr id="10" name="Shape 8"/>
          <p:cNvSpPr/>
          <p:nvPr/>
        </p:nvSpPr>
        <p:spPr>
          <a:xfrm>
            <a:off x="4608576" y="1901952"/>
            <a:ext cx="429768" cy="429768"/>
          </a:xfrm>
          <a:prstGeom prst="ellipse">
            <a:avLst/>
          </a:prstGeom>
          <a:solidFill>
            <a:srgbClr val="3A36A0"/>
          </a:solidFill>
          <a:ln w="12700">
            <a:solidFill>
              <a:srgbClr val="3A36A0"/>
            </a:solidFill>
            <a:prstDash val="solid"/>
          </a:ln>
        </p:spPr>
      </p:sp>
      <p:sp>
        <p:nvSpPr>
          <p:cNvPr id="11" name="Text 9"/>
          <p:cNvSpPr txBox="1"/>
          <p:nvPr/>
        </p:nvSpPr>
        <p:spPr>
          <a:xfrm>
            <a:off x="4608576" y="1901952"/>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5166360" y="1956816"/>
            <a:ext cx="243230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Tính nhất quán</a:t>
            </a:r>
            <a:endParaRPr lang="en-US" sz="1500" dirty="0"/>
          </a:p>
        </p:txBody>
      </p:sp>
      <p:sp>
        <p:nvSpPr>
          <p:cNvPr id="13" name="Text 11"/>
          <p:cNvSpPr txBox="1"/>
          <p:nvPr/>
        </p:nvSpPr>
        <p:spPr>
          <a:xfrm>
            <a:off x="4608576" y="2414016"/>
            <a:ext cx="2971800" cy="1234440"/>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Tỉ lệ dùng đúng fact sau cập nhật · tỉ lệ tự mâu thuẫn · tỉ lệ từ chối đúng lúc · tỉ lệ tôn trọng ràng buộc đã ghi nhớ · tỉ lệ nhất quán xuyên ngữ.</a:t>
            </a:r>
            <a:endParaRPr lang="en-US" sz="1200" dirty="0"/>
          </a:p>
        </p:txBody>
      </p:sp>
      <p:sp>
        <p:nvSpPr>
          <p:cNvPr id="14" name="Shape 12"/>
          <p:cNvSpPr/>
          <p:nvPr/>
        </p:nvSpPr>
        <p:spPr>
          <a:xfrm>
            <a:off x="8138160" y="1673352"/>
            <a:ext cx="3483864" cy="2103120"/>
          </a:xfrm>
          <a:prstGeom prst="roundRect">
            <a:avLst>
              <a:gd name="adj" fmla="val 2174"/>
            </a:avLst>
          </a:prstGeom>
          <a:solidFill>
            <a:srgbClr val="ECEBF7"/>
          </a:solidFill>
          <a:ln w="12700">
            <a:solidFill>
              <a:srgbClr val="ECEBF7"/>
            </a:solidFill>
            <a:prstDash val="solid"/>
          </a:ln>
        </p:spPr>
      </p:sp>
      <p:sp>
        <p:nvSpPr>
          <p:cNvPr id="15" name="Shape 13"/>
          <p:cNvSpPr/>
          <p:nvPr/>
        </p:nvSpPr>
        <p:spPr>
          <a:xfrm>
            <a:off x="8394192" y="1901952"/>
            <a:ext cx="429768" cy="429768"/>
          </a:xfrm>
          <a:prstGeom prst="ellipse">
            <a:avLst/>
          </a:prstGeom>
          <a:solidFill>
            <a:srgbClr val="3A36A0"/>
          </a:solidFill>
          <a:ln w="12700">
            <a:solidFill>
              <a:srgbClr val="3A36A0"/>
            </a:solidFill>
            <a:prstDash val="solid"/>
          </a:ln>
        </p:spPr>
      </p:sp>
      <p:sp>
        <p:nvSpPr>
          <p:cNvPr id="16" name="Text 14"/>
          <p:cNvSpPr txBox="1"/>
          <p:nvPr/>
        </p:nvSpPr>
        <p:spPr>
          <a:xfrm>
            <a:off x="8394192" y="1901952"/>
            <a:ext cx="429768" cy="4297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8951976" y="1956816"/>
            <a:ext cx="2432304" cy="329184"/>
          </a:xfrm>
          <a:prstGeom prst="rect">
            <a:avLst/>
          </a:prstGeom>
          <a:noFill/>
          <a:ln/>
        </p:spPr>
        <p:txBody>
          <a:bodyPr wrap="square" lIns="0" tIns="0" rIns="0" bIns="0" rtlCol="0" anchor="ctr"/>
          <a:lstStyle/>
          <a:p>
            <a:pPr indent="0" marL="0">
              <a:buNone/>
            </a:pPr>
            <a:r>
              <a:rPr lang="en-US" sz="1500" b="1" dirty="0">
                <a:solidFill>
                  <a:srgbClr val="13123A"/>
                </a:solidFill>
                <a:latin typeface="Cambria" pitchFamily="34" charset="0"/>
                <a:ea typeface="Cambria" pitchFamily="34" charset="-122"/>
                <a:cs typeface="Cambria" pitchFamily="34" charset="-120"/>
              </a:rPr>
              <a:t>Hiệu năng</a:t>
            </a:r>
            <a:endParaRPr lang="en-US" sz="1500" dirty="0"/>
          </a:p>
        </p:txBody>
      </p:sp>
      <p:sp>
        <p:nvSpPr>
          <p:cNvPr id="18" name="Text 16"/>
          <p:cNvSpPr txBox="1"/>
          <p:nvPr/>
        </p:nvSpPr>
        <p:spPr>
          <a:xfrm>
            <a:off x="8394192" y="2414016"/>
            <a:ext cx="2971800" cy="1234440"/>
          </a:xfrm>
          <a:prstGeom prst="rect">
            <a:avLst/>
          </a:prstGeom>
          <a:noFill/>
          <a:ln/>
        </p:spPr>
        <p:txBody>
          <a:bodyPr wrap="square" lIns="0" tIns="0" rIns="0" bIns="0" rtlCol="0" anchor="t"/>
          <a:lstStyle/>
          <a:p>
            <a:pPr indent="0" marL="0">
              <a:lnSpc>
                <a:spcPct val="95000"/>
              </a:lnSpc>
              <a:buNone/>
            </a:pPr>
            <a:r>
              <a:rPr lang="en-US" sz="1200" dirty="0">
                <a:solidFill>
                  <a:srgbClr val="4A4E63"/>
                </a:solidFill>
                <a:latin typeface="Calibri" pitchFamily="34" charset="0"/>
                <a:ea typeface="Calibri" pitchFamily="34" charset="-122"/>
                <a:cs typeface="Calibri" pitchFamily="34" charset="-120"/>
              </a:rPr>
              <a:t>Độ trễ p50/p95 tách theo từng pha: dense, BM25, rerank, sinh phản hồi. Token mỗi truy vấn tách theo ngôn ngữ. Số bản ghi trong kho theo thời gian.</a:t>
            </a:r>
            <a:endParaRPr lang="en-US" sz="1200" dirty="0"/>
          </a:p>
        </p:txBody>
      </p:sp>
      <p:sp>
        <p:nvSpPr>
          <p:cNvPr id="19" name="Shape 17"/>
          <p:cNvSpPr/>
          <p:nvPr/>
        </p:nvSpPr>
        <p:spPr>
          <a:xfrm>
            <a:off x="566928" y="4023360"/>
            <a:ext cx="11045952" cy="1481328"/>
          </a:xfrm>
          <a:prstGeom prst="roundRect">
            <a:avLst>
              <a:gd name="adj" fmla="val 3086"/>
            </a:avLst>
          </a:prstGeom>
          <a:solidFill>
            <a:srgbClr val="13123A"/>
          </a:solidFill>
          <a:ln w="12700">
            <a:solidFill>
              <a:srgbClr val="13123A"/>
            </a:solidFill>
            <a:prstDash val="solid"/>
          </a:ln>
        </p:spPr>
      </p:sp>
      <p:sp>
        <p:nvSpPr>
          <p:cNvPr id="20" name="Text 18"/>
          <p:cNvSpPr txBox="1"/>
          <p:nvPr/>
        </p:nvSpPr>
        <p:spPr>
          <a:xfrm>
            <a:off x="822960" y="4206240"/>
            <a:ext cx="5486400" cy="237744"/>
          </a:xfrm>
          <a:prstGeom prst="rect">
            <a:avLst/>
          </a:prstGeom>
          <a:noFill/>
          <a:ln/>
        </p:spPr>
        <p:txBody>
          <a:bodyPr wrap="square" lIns="0" tIns="0" rIns="0" bIns="0" rtlCol="0" anchor="ctr"/>
          <a:lstStyle/>
          <a:p>
            <a:pPr indent="0" marL="0">
              <a:buNone/>
            </a:pPr>
            <a:r>
              <a:rPr lang="en-US" sz="1100" b="1" dirty="0">
                <a:solidFill>
                  <a:srgbClr val="1FA6A6"/>
                </a:solidFill>
                <a:latin typeface="Calibri" pitchFamily="34" charset="0"/>
                <a:ea typeface="Calibri" pitchFamily="34" charset="-122"/>
                <a:cs typeface="Calibri" pitchFamily="34" charset="-120"/>
              </a:rPr>
              <a:t>HAI ĐIỀU KIỆN BẮT BUỘC</a:t>
            </a:r>
            <a:endParaRPr lang="en-US" sz="1100" dirty="0"/>
          </a:p>
        </p:txBody>
      </p:sp>
      <p:sp>
        <p:nvSpPr>
          <p:cNvPr id="21" name="Text 19"/>
          <p:cNvSpPr txBox="1"/>
          <p:nvPr/>
        </p:nvSpPr>
        <p:spPr>
          <a:xfrm>
            <a:off x="822960" y="4480560"/>
            <a:ext cx="10533888" cy="877824"/>
          </a:xfrm>
          <a:prstGeom prst="rect">
            <a:avLst/>
          </a:prstGeom>
          <a:noFill/>
          <a:ln/>
        </p:spPr>
        <p:txBody>
          <a:bodyPr wrap="square" lIns="0" tIns="0" rIns="0" bIns="0" rtlCol="0" anchor="t"/>
          <a:lstStyle/>
          <a:p>
            <a:pPr indent="0" marL="0">
              <a:lnSpc>
                <a:spcPct val="98000"/>
              </a:lnSpc>
              <a:buNone/>
            </a:pPr>
            <a:r>
              <a:rPr lang="en-US" sz="1250" dirty="0">
                <a:solidFill>
                  <a:srgbClr val="EFEFFA"/>
                </a:solidFill>
                <a:latin typeface="Calibri" pitchFamily="34" charset="0"/>
                <a:ea typeface="Calibri" pitchFamily="34" charset="-122"/>
                <a:cs typeface="Calibri" pitchFamily="34" charset="-120"/>
              </a:rPr>
              <a:t>Một: mọi so sánh cố định cùng mô hình nền, cùng k, cùng ngân sách token — không cố định thì điểm có thể tăng chỉ vì truy xuất mạnh tay hơn hoặc mô hình nền khỏe hơn. Hai: token của tiếng Việt tốn khoảng gấp đôi tiếng Anh cho cùng nội dung, vì dấu thanh không nằm trong từ vựng gốc của tokenizer — nên KHÔNG được so token/truy vấn giữa bộ test tiếng Việt và benchmark tiếng Anh. Phải báo cáo tách theo ngôn ngữ.</a:t>
            </a:r>
            <a:endParaRPr lang="en-US" sz="1250" dirty="0"/>
          </a:p>
        </p:txBody>
      </p:sp>
      <p:sp>
        <p:nvSpPr>
          <p:cNvPr id="22" name="Text 20"/>
          <p:cNvSpPr txBox="1"/>
          <p:nvPr/>
        </p:nvSpPr>
        <p:spPr>
          <a:xfrm>
            <a:off x="566928" y="5669280"/>
            <a:ext cx="11045952" cy="566928"/>
          </a:xfrm>
          <a:prstGeom prst="rect">
            <a:avLst/>
          </a:prstGeom>
          <a:noFill/>
          <a:ln/>
        </p:spPr>
        <p:txBody>
          <a:bodyPr wrap="square" lIns="0" tIns="0" rIns="0" bIns="0" rtlCol="0" anchor="ctr"/>
          <a:lstStyle/>
          <a:p>
            <a:pPr indent="0" marL="0">
              <a:lnSpc>
                <a:spcPct val="95000"/>
              </a:lnSpc>
              <a:buNone/>
            </a:pPr>
            <a:r>
              <a:rPr lang="en-US" sz="1250" i="1" dirty="0">
                <a:solidFill>
                  <a:srgbClr val="4A4E63"/>
                </a:solidFill>
                <a:latin typeface="Calibri" pitchFamily="34" charset="0"/>
                <a:ea typeface="Calibri" pitchFamily="34" charset="-122"/>
                <a:cs typeface="Calibri" pitchFamily="34" charset="-120"/>
              </a:rPr>
              <a:t>Mỗi lượt ghi một dòng nhật ký vết: truy vấn con, ứng viên từng chỉ mục, điểm trước và sau rerank, ký ức được nạp, thao tác bộ nhớ, token, độ trễ từng pha. Không có nhật ký vết thì tuần 7 không phân tích được vì sao một câu sai.</a:t>
            </a:r>
            <a:endParaRPr lang="en-US" sz="1250" dirty="0"/>
          </a:p>
        </p:txBody>
      </p:sp>
      <p:sp>
        <p:nvSpPr>
          <p:cNvPr id="23" name="Text 21"/>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Zheng et al., LLM-as-a-Judge, NeurIPS 2023 (arXiv:2306.05685) · Wu et al., ICLR 2025 · Jiang et al., arXiv:2602.19320 (2026).</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1FA6A6"/>
                </a:solidFill>
                <a:latin typeface="Calibri" pitchFamily="34" charset="0"/>
                <a:ea typeface="Calibri" pitchFamily="34" charset="-122"/>
                <a:cs typeface="Calibri" pitchFamily="34" charset="-120"/>
              </a:rPr>
              <a:t>PHƯƠNG PHÁP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Sáu cấu hình đối chứng</a:t>
            </a:r>
            <a:endParaRPr lang="en-US" sz="3000" dirty="0"/>
          </a:p>
        </p:txBody>
      </p:sp>
      <p:sp>
        <p:nvSpPr>
          <p:cNvPr id="4" name="Text 2"/>
          <p:cNvSpPr txBox="1"/>
          <p:nvPr/>
        </p:nvSpPr>
        <p:spPr>
          <a:xfrm>
            <a:off x="749808" y="1673352"/>
            <a:ext cx="210312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CẤU HÌNH</a:t>
            </a:r>
            <a:endParaRPr lang="en-US" sz="1100" dirty="0"/>
          </a:p>
        </p:txBody>
      </p:sp>
      <p:sp>
        <p:nvSpPr>
          <p:cNvPr id="5" name="Text 3"/>
          <p:cNvSpPr txBox="1"/>
          <p:nvPr/>
        </p:nvSpPr>
        <p:spPr>
          <a:xfrm>
            <a:off x="2971800" y="1673352"/>
            <a:ext cx="324612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CẮT BỎ GÌ</a:t>
            </a:r>
            <a:endParaRPr lang="en-US" sz="1100" dirty="0"/>
          </a:p>
        </p:txBody>
      </p:sp>
      <p:sp>
        <p:nvSpPr>
          <p:cNvPr id="6" name="Text 4"/>
          <p:cNvSpPr txBox="1"/>
          <p:nvPr/>
        </p:nvSpPr>
        <p:spPr>
          <a:xfrm>
            <a:off x="6355080" y="1673352"/>
            <a:ext cx="507492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DÙNG ĐỂ CHỨNG MINH ĐIỀU GÌ</a:t>
            </a:r>
            <a:endParaRPr lang="en-US" sz="1100" dirty="0"/>
          </a:p>
        </p:txBody>
      </p:sp>
      <p:sp>
        <p:nvSpPr>
          <p:cNvPr id="7" name="Shape 5"/>
          <p:cNvSpPr/>
          <p:nvPr/>
        </p:nvSpPr>
        <p:spPr>
          <a:xfrm>
            <a:off x="566928" y="2002536"/>
            <a:ext cx="11045952" cy="566928"/>
          </a:xfrm>
          <a:prstGeom prst="roundRect">
            <a:avLst>
              <a:gd name="adj" fmla="val 9677"/>
            </a:avLst>
          </a:prstGeom>
          <a:solidFill>
            <a:srgbClr val="ECEBF7"/>
          </a:solidFill>
          <a:ln w="12700">
            <a:solidFill>
              <a:srgbClr val="FFFFFF"/>
            </a:solidFill>
            <a:prstDash val="solid"/>
          </a:ln>
        </p:spPr>
      </p:sp>
      <p:sp>
        <p:nvSpPr>
          <p:cNvPr id="8" name="Text 6"/>
          <p:cNvSpPr txBox="1"/>
          <p:nvPr/>
        </p:nvSpPr>
        <p:spPr>
          <a:xfrm>
            <a:off x="749808" y="2075688"/>
            <a:ext cx="2103120" cy="438912"/>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full-context</a:t>
            </a:r>
            <a:endParaRPr lang="en-US" sz="1250" dirty="0"/>
          </a:p>
        </p:txBody>
      </p:sp>
      <p:sp>
        <p:nvSpPr>
          <p:cNvPr id="9" name="Text 7"/>
          <p:cNvSpPr txBox="1"/>
          <p:nvPr/>
        </p:nvSpPr>
        <p:spPr>
          <a:xfrm>
            <a:off x="2971800" y="2075688"/>
            <a:ext cx="32461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toàn bộ lớp bộ nhớ</a:t>
            </a:r>
            <a:endParaRPr lang="en-US" sz="1150" dirty="0"/>
          </a:p>
        </p:txBody>
      </p:sp>
      <p:sp>
        <p:nvSpPr>
          <p:cNvPr id="10" name="Text 8"/>
          <p:cNvSpPr txBox="1"/>
          <p:nvPr/>
        </p:nvSpPr>
        <p:spPr>
          <a:xfrm>
            <a:off x="6355080" y="2075688"/>
            <a:ext cx="50749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Baseline trên — chi phí token và chỗ mô hình bắt đầu tụt khi lịch sử dài ra</a:t>
            </a:r>
            <a:endParaRPr lang="en-US" sz="1150" dirty="0"/>
          </a:p>
        </p:txBody>
      </p:sp>
      <p:sp>
        <p:nvSpPr>
          <p:cNvPr id="11" name="Shape 9"/>
          <p:cNvSpPr/>
          <p:nvPr/>
        </p:nvSpPr>
        <p:spPr>
          <a:xfrm>
            <a:off x="566928" y="2642616"/>
            <a:ext cx="11045952" cy="566928"/>
          </a:xfrm>
          <a:prstGeom prst="roundRect">
            <a:avLst>
              <a:gd name="adj" fmla="val 9677"/>
            </a:avLst>
          </a:prstGeom>
          <a:solidFill>
            <a:srgbClr val="F7F7FB"/>
          </a:solidFill>
          <a:ln w="12700">
            <a:solidFill>
              <a:srgbClr val="FFFFFF"/>
            </a:solidFill>
            <a:prstDash val="solid"/>
          </a:ln>
        </p:spPr>
      </p:sp>
      <p:sp>
        <p:nvSpPr>
          <p:cNvPr id="12" name="Text 10"/>
          <p:cNvSpPr txBox="1"/>
          <p:nvPr/>
        </p:nvSpPr>
        <p:spPr>
          <a:xfrm>
            <a:off x="749808" y="2715768"/>
            <a:ext cx="2103120" cy="438912"/>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dense-only</a:t>
            </a:r>
            <a:endParaRPr lang="en-US" sz="1250" dirty="0"/>
          </a:p>
        </p:txBody>
      </p:sp>
      <p:sp>
        <p:nvSpPr>
          <p:cNvPr id="13" name="Text 11"/>
          <p:cNvSpPr txBox="1"/>
          <p:nvPr/>
        </p:nvSpPr>
        <p:spPr>
          <a:xfrm>
            <a:off x="2971800" y="2715768"/>
            <a:ext cx="32461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BM25 và reranker</a:t>
            </a:r>
            <a:endParaRPr lang="en-US" sz="1150" dirty="0"/>
          </a:p>
        </p:txBody>
      </p:sp>
      <p:sp>
        <p:nvSpPr>
          <p:cNvPr id="14" name="Text 12"/>
          <p:cNvSpPr txBox="1"/>
          <p:nvPr/>
        </p:nvSpPr>
        <p:spPr>
          <a:xfrm>
            <a:off x="6355080" y="2715768"/>
            <a:ext cx="50749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Đóng góp của truy xuất lai</a:t>
            </a:r>
            <a:endParaRPr lang="en-US" sz="1150" dirty="0"/>
          </a:p>
        </p:txBody>
      </p:sp>
      <p:sp>
        <p:nvSpPr>
          <p:cNvPr id="15" name="Shape 13"/>
          <p:cNvSpPr/>
          <p:nvPr/>
        </p:nvSpPr>
        <p:spPr>
          <a:xfrm>
            <a:off x="566928" y="3282696"/>
            <a:ext cx="11045952" cy="566928"/>
          </a:xfrm>
          <a:prstGeom prst="roundRect">
            <a:avLst>
              <a:gd name="adj" fmla="val 9677"/>
            </a:avLst>
          </a:prstGeom>
          <a:solidFill>
            <a:srgbClr val="ECEBF7"/>
          </a:solidFill>
          <a:ln w="12700">
            <a:solidFill>
              <a:srgbClr val="FFFFFF"/>
            </a:solidFill>
            <a:prstDash val="solid"/>
          </a:ln>
        </p:spPr>
      </p:sp>
      <p:sp>
        <p:nvSpPr>
          <p:cNvPr id="16" name="Text 14"/>
          <p:cNvSpPr txBox="1"/>
          <p:nvPr/>
        </p:nvSpPr>
        <p:spPr>
          <a:xfrm>
            <a:off x="749808" y="3355848"/>
            <a:ext cx="2103120" cy="438912"/>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no-rerank</a:t>
            </a:r>
            <a:endParaRPr lang="en-US" sz="1250" dirty="0"/>
          </a:p>
        </p:txBody>
      </p:sp>
      <p:sp>
        <p:nvSpPr>
          <p:cNvPr id="17" name="Text 15"/>
          <p:cNvSpPr txBox="1"/>
          <p:nvPr/>
        </p:nvSpPr>
        <p:spPr>
          <a:xfrm>
            <a:off x="2971800" y="3355848"/>
            <a:ext cx="32461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reranker</a:t>
            </a:r>
            <a:endParaRPr lang="en-US" sz="1150" dirty="0"/>
          </a:p>
        </p:txBody>
      </p:sp>
      <p:sp>
        <p:nvSpPr>
          <p:cNvPr id="18" name="Text 16"/>
          <p:cNvSpPr txBox="1"/>
          <p:nvPr/>
        </p:nvSpPr>
        <p:spPr>
          <a:xfrm>
            <a:off x="6355080" y="3355848"/>
            <a:ext cx="50749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Đóng góp của cross-encoder, nhất là với năng lực biết từ chối</a:t>
            </a:r>
            <a:endParaRPr lang="en-US" sz="1150" dirty="0"/>
          </a:p>
        </p:txBody>
      </p:sp>
      <p:sp>
        <p:nvSpPr>
          <p:cNvPr id="19" name="Shape 17"/>
          <p:cNvSpPr/>
          <p:nvPr/>
        </p:nvSpPr>
        <p:spPr>
          <a:xfrm>
            <a:off x="566928" y="3922776"/>
            <a:ext cx="11045952" cy="566928"/>
          </a:xfrm>
          <a:prstGeom prst="roundRect">
            <a:avLst>
              <a:gd name="adj" fmla="val 9677"/>
            </a:avLst>
          </a:prstGeom>
          <a:solidFill>
            <a:srgbClr val="F7F7FB"/>
          </a:solidFill>
          <a:ln w="12700">
            <a:solidFill>
              <a:srgbClr val="FFFFFF"/>
            </a:solidFill>
            <a:prstDash val="solid"/>
          </a:ln>
        </p:spPr>
      </p:sp>
      <p:sp>
        <p:nvSpPr>
          <p:cNvPr id="20" name="Text 18"/>
          <p:cNvSpPr txBox="1"/>
          <p:nvPr/>
        </p:nvSpPr>
        <p:spPr>
          <a:xfrm>
            <a:off x="749808" y="3995928"/>
            <a:ext cx="2103120" cy="438912"/>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native-index-only</a:t>
            </a:r>
            <a:endParaRPr lang="en-US" sz="1250" dirty="0"/>
          </a:p>
        </p:txBody>
      </p:sp>
      <p:sp>
        <p:nvSpPr>
          <p:cNvPr id="21" name="Text 19"/>
          <p:cNvSpPr txBox="1"/>
          <p:nvPr/>
        </p:nvSpPr>
        <p:spPr>
          <a:xfrm>
            <a:off x="2971800" y="3995928"/>
            <a:ext cx="32461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chỉ mục chuẩn-hóa</a:t>
            </a:r>
            <a:endParaRPr lang="en-US" sz="1150" dirty="0"/>
          </a:p>
        </p:txBody>
      </p:sp>
      <p:sp>
        <p:nvSpPr>
          <p:cNvPr id="22" name="Text 20"/>
          <p:cNvSpPr txBox="1"/>
          <p:nvPr/>
        </p:nvSpPr>
        <p:spPr>
          <a:xfrm>
            <a:off x="6355080" y="3995928"/>
            <a:ext cx="50749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Đóng góp của lớp song ngữ — năng lực thứ chín</a:t>
            </a:r>
            <a:endParaRPr lang="en-US" sz="1150" dirty="0"/>
          </a:p>
        </p:txBody>
      </p:sp>
      <p:sp>
        <p:nvSpPr>
          <p:cNvPr id="23" name="Shape 21"/>
          <p:cNvSpPr/>
          <p:nvPr/>
        </p:nvSpPr>
        <p:spPr>
          <a:xfrm>
            <a:off x="566928" y="4562856"/>
            <a:ext cx="11045952" cy="566928"/>
          </a:xfrm>
          <a:prstGeom prst="roundRect">
            <a:avLst>
              <a:gd name="adj" fmla="val 9677"/>
            </a:avLst>
          </a:prstGeom>
          <a:solidFill>
            <a:srgbClr val="ECEBF7"/>
          </a:solidFill>
          <a:ln w="12700">
            <a:solidFill>
              <a:srgbClr val="FFFFFF"/>
            </a:solidFill>
            <a:prstDash val="solid"/>
          </a:ln>
        </p:spPr>
      </p:sp>
      <p:sp>
        <p:nvSpPr>
          <p:cNvPr id="24" name="Text 22"/>
          <p:cNvSpPr txBox="1"/>
          <p:nvPr/>
        </p:nvSpPr>
        <p:spPr>
          <a:xfrm>
            <a:off x="749808" y="4636008"/>
            <a:ext cx="2103120" cy="438912"/>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llm-judge</a:t>
            </a:r>
            <a:endParaRPr lang="en-US" sz="1250" dirty="0"/>
          </a:p>
        </p:txBody>
      </p:sp>
      <p:sp>
        <p:nvSpPr>
          <p:cNvPr id="25" name="Text 23"/>
          <p:cNvSpPr txBox="1"/>
          <p:nvPr/>
        </p:nvSpPr>
        <p:spPr>
          <a:xfrm>
            <a:off x="2971800" y="4636008"/>
            <a:ext cx="32461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max(seq), để mô hình tự chọn bản mới</a:t>
            </a:r>
            <a:endParaRPr lang="en-US" sz="1150" dirty="0"/>
          </a:p>
        </p:txBody>
      </p:sp>
      <p:sp>
        <p:nvSpPr>
          <p:cNvPr id="26" name="Text 24"/>
          <p:cNvSpPr txBox="1"/>
          <p:nvPr/>
        </p:nvSpPr>
        <p:spPr>
          <a:xfrm>
            <a:off x="6355080" y="4636008"/>
            <a:ext cx="50749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Đóng góp của cơ chế cập nhật tất định</a:t>
            </a:r>
            <a:endParaRPr lang="en-US" sz="1150" dirty="0"/>
          </a:p>
        </p:txBody>
      </p:sp>
      <p:sp>
        <p:nvSpPr>
          <p:cNvPr id="27" name="Shape 25"/>
          <p:cNvSpPr/>
          <p:nvPr/>
        </p:nvSpPr>
        <p:spPr>
          <a:xfrm>
            <a:off x="566928" y="5202936"/>
            <a:ext cx="11045952" cy="566928"/>
          </a:xfrm>
          <a:prstGeom prst="roundRect">
            <a:avLst>
              <a:gd name="adj" fmla="val 9677"/>
            </a:avLst>
          </a:prstGeom>
          <a:solidFill>
            <a:srgbClr val="F7F7FB"/>
          </a:solidFill>
          <a:ln w="12700">
            <a:solidFill>
              <a:srgbClr val="FFFFFF"/>
            </a:solidFill>
            <a:prstDash val="solid"/>
          </a:ln>
        </p:spPr>
      </p:sp>
      <p:sp>
        <p:nvSpPr>
          <p:cNvPr id="28" name="Text 26"/>
          <p:cNvSpPr txBox="1"/>
          <p:nvPr/>
        </p:nvSpPr>
        <p:spPr>
          <a:xfrm>
            <a:off x="749808" y="5276088"/>
            <a:ext cx="2103120" cy="438912"/>
          </a:xfrm>
          <a:prstGeom prst="rect">
            <a:avLst/>
          </a:prstGeom>
          <a:noFill/>
          <a:ln/>
        </p:spPr>
        <p:txBody>
          <a:bodyPr wrap="square" lIns="0" tIns="0" rIns="0" bIns="0" rtlCol="0" anchor="t"/>
          <a:lstStyle/>
          <a:p>
            <a:pPr indent="0" marL="0">
              <a:lnSpc>
                <a:spcPct val="95000"/>
              </a:lnSpc>
              <a:buNone/>
            </a:pPr>
            <a:r>
              <a:rPr lang="en-US" sz="1250" b="1" dirty="0">
                <a:solidFill>
                  <a:srgbClr val="13123A"/>
                </a:solidFill>
                <a:latin typeface="Cambria" pitchFamily="34" charset="0"/>
                <a:ea typeface="Cambria" pitchFamily="34" charset="-122"/>
                <a:cs typeface="Cambria" pitchFamily="34" charset="-120"/>
              </a:rPr>
              <a:t>ours</a:t>
            </a:r>
            <a:endParaRPr lang="en-US" sz="1250" dirty="0"/>
          </a:p>
        </p:txBody>
      </p:sp>
      <p:sp>
        <p:nvSpPr>
          <p:cNvPr id="29" name="Text 27"/>
          <p:cNvSpPr txBox="1"/>
          <p:nvPr/>
        </p:nvSpPr>
        <p:spPr>
          <a:xfrm>
            <a:off x="2971800" y="5276088"/>
            <a:ext cx="32461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 hệ đầy đủ</a:t>
            </a:r>
            <a:endParaRPr lang="en-US" sz="1150" dirty="0"/>
          </a:p>
        </p:txBody>
      </p:sp>
      <p:sp>
        <p:nvSpPr>
          <p:cNvPr id="30" name="Text 28"/>
          <p:cNvSpPr txBox="1"/>
          <p:nvPr/>
        </p:nvSpPr>
        <p:spPr>
          <a:xfrm>
            <a:off x="6355080" y="5276088"/>
            <a:ext cx="5074920" cy="438912"/>
          </a:xfrm>
          <a:prstGeom prst="rect">
            <a:avLst/>
          </a:prstGeom>
          <a:noFill/>
          <a:ln/>
        </p:spPr>
        <p:txBody>
          <a:bodyPr wrap="square" lIns="0" tIns="0" rIns="0" bIns="0" rtlCol="0" anchor="t"/>
          <a:lstStyle/>
          <a:p>
            <a:pPr indent="0" marL="0">
              <a:lnSpc>
                <a:spcPct val="95000"/>
              </a:lnSpc>
              <a:buNone/>
            </a:pPr>
            <a:r>
              <a:rPr lang="en-US" sz="1150" dirty="0">
                <a:solidFill>
                  <a:srgbClr val="4A4E63"/>
                </a:solidFill>
                <a:latin typeface="Calibri" pitchFamily="34" charset="0"/>
                <a:ea typeface="Calibri" pitchFamily="34" charset="-122"/>
                <a:cs typeface="Calibri" pitchFamily="34" charset="-120"/>
              </a:rPr>
              <a:t>Cấu hình đề xuất, so trên cả chín năng lực</a:t>
            </a:r>
            <a:endParaRPr lang="en-US" sz="1150" dirty="0"/>
          </a:p>
        </p:txBody>
      </p:sp>
      <p:sp>
        <p:nvSpPr>
          <p:cNvPr id="31" name="Text 29"/>
          <p:cNvSpPr txBox="1"/>
          <p:nvPr/>
        </p:nvSpPr>
        <p:spPr>
          <a:xfrm>
            <a:off x="566928" y="5806440"/>
            <a:ext cx="11045952" cy="530352"/>
          </a:xfrm>
          <a:prstGeom prst="rect">
            <a:avLst/>
          </a:prstGeom>
          <a:noFill/>
          <a:ln/>
        </p:spPr>
        <p:txBody>
          <a:bodyPr wrap="square" lIns="0" tIns="0" rIns="0" bIns="0" rtlCol="0" anchor="ctr"/>
          <a:lstStyle/>
          <a:p>
            <a:pPr indent="0" marL="0">
              <a:lnSpc>
                <a:spcPct val="95000"/>
              </a:lnSpc>
              <a:buNone/>
            </a:pPr>
            <a:r>
              <a:rPr lang="en-US" sz="1250" i="1" dirty="0">
                <a:solidFill>
                  <a:srgbClr val="13123A"/>
                </a:solidFill>
                <a:latin typeface="Calibri" pitchFamily="34" charset="0"/>
                <a:ea typeface="Calibri" pitchFamily="34" charset="-122"/>
                <a:cs typeface="Calibri" pitchFamily="34" charset="-120"/>
              </a:rPr>
              <a:t>Đây là một nghiên cứu cắt bỏ thành phần: mỗi cấu hình bỏ đi đúng một phần để đo phần đó đóng góp bao nhiêu. Nếu ours chỉ hơn dense-only ở một trục thì đó là kết quả trung thực và nhóm sẽ báo cáo đúng như vậy, chứ không chọn số đẹp để trình bày.</a:t>
            </a:r>
            <a:endParaRPr lang="en-US" sz="1250" dirty="0"/>
          </a:p>
        </p:txBody>
      </p:sp>
      <p:sp>
        <p:nvSpPr>
          <p:cNvPr id="32" name="Text 30"/>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Thiết kế đối chứng theo khuyến nghị của Jiang et al., Anatomy of Agentic Memory, arXiv:2602.19320 (2026).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KẾ HOẠCH THỰC HIỆN</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Lộ trình 8 tuần — mỗi tuần gắn một nhóm năng lực</a:t>
            </a:r>
            <a:endParaRPr lang="en-US" sz="3000" dirty="0"/>
          </a:p>
        </p:txBody>
      </p:sp>
      <p:sp>
        <p:nvSpPr>
          <p:cNvPr id="4" name="Shape 2"/>
          <p:cNvSpPr/>
          <p:nvPr/>
        </p:nvSpPr>
        <p:spPr>
          <a:xfrm>
            <a:off x="566928" y="1783080"/>
            <a:ext cx="5340096" cy="932688"/>
          </a:xfrm>
          <a:prstGeom prst="roundRect">
            <a:avLst>
              <a:gd name="adj" fmla="val 4902"/>
            </a:avLst>
          </a:prstGeom>
          <a:solidFill>
            <a:srgbClr val="F1F2FB"/>
          </a:solidFill>
          <a:ln w="12700">
            <a:solidFill>
              <a:srgbClr val="F1F2FB"/>
            </a:solidFill>
            <a:prstDash val="solid"/>
          </a:ln>
        </p:spPr>
      </p:sp>
      <p:sp>
        <p:nvSpPr>
          <p:cNvPr id="5" name="Shape 3"/>
          <p:cNvSpPr/>
          <p:nvPr/>
        </p:nvSpPr>
        <p:spPr>
          <a:xfrm>
            <a:off x="749808" y="1965960"/>
            <a:ext cx="960120" cy="566928"/>
          </a:xfrm>
          <a:prstGeom prst="roundRect">
            <a:avLst>
              <a:gd name="adj" fmla="val 12903"/>
            </a:avLst>
          </a:prstGeom>
          <a:solidFill>
            <a:srgbClr val="3A36A0"/>
          </a:solidFill>
          <a:ln w="12700">
            <a:solidFill>
              <a:srgbClr val="3A36A0"/>
            </a:solidFill>
            <a:prstDash val="solid"/>
          </a:ln>
        </p:spPr>
      </p:sp>
      <p:sp>
        <p:nvSpPr>
          <p:cNvPr id="6" name="Text 4"/>
          <p:cNvSpPr txBox="1"/>
          <p:nvPr/>
        </p:nvSpPr>
        <p:spPr>
          <a:xfrm>
            <a:off x="749808" y="1965960"/>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1</a:t>
            </a:r>
            <a:endParaRPr lang="en-US" sz="1400" dirty="0"/>
          </a:p>
        </p:txBody>
      </p:sp>
      <p:sp>
        <p:nvSpPr>
          <p:cNvPr id="7" name="Text 5"/>
          <p:cNvSpPr txBox="1"/>
          <p:nvPr/>
        </p:nvSpPr>
        <p:spPr>
          <a:xfrm>
            <a:off x="1865376" y="1901952"/>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Nghiên cứu nền tảng &amp; khảo sát liên quan; đặt vấn đề, phạm vi.</a:t>
            </a:r>
            <a:endParaRPr lang="en-US" sz="1180" dirty="0"/>
          </a:p>
        </p:txBody>
      </p:sp>
      <p:sp>
        <p:nvSpPr>
          <p:cNvPr id="8" name="Shape 6"/>
          <p:cNvSpPr/>
          <p:nvPr/>
        </p:nvSpPr>
        <p:spPr>
          <a:xfrm>
            <a:off x="566928" y="2807208"/>
            <a:ext cx="5340096" cy="932688"/>
          </a:xfrm>
          <a:prstGeom prst="roundRect">
            <a:avLst>
              <a:gd name="adj" fmla="val 4902"/>
            </a:avLst>
          </a:prstGeom>
          <a:solidFill>
            <a:srgbClr val="13123A"/>
          </a:solidFill>
          <a:ln w="12700">
            <a:solidFill>
              <a:srgbClr val="13123A"/>
            </a:solidFill>
            <a:prstDash val="solid"/>
          </a:ln>
        </p:spPr>
      </p:sp>
      <p:sp>
        <p:nvSpPr>
          <p:cNvPr id="9" name="Shape 7"/>
          <p:cNvSpPr/>
          <p:nvPr/>
        </p:nvSpPr>
        <p:spPr>
          <a:xfrm>
            <a:off x="749808" y="2990088"/>
            <a:ext cx="960120" cy="566928"/>
          </a:xfrm>
          <a:prstGeom prst="roundRect">
            <a:avLst>
              <a:gd name="adj" fmla="val 12903"/>
            </a:avLst>
          </a:prstGeom>
          <a:solidFill>
            <a:srgbClr val="E9970B"/>
          </a:solidFill>
          <a:ln w="12700">
            <a:solidFill>
              <a:srgbClr val="E9970B"/>
            </a:solidFill>
            <a:prstDash val="solid"/>
          </a:ln>
        </p:spPr>
      </p:sp>
      <p:sp>
        <p:nvSpPr>
          <p:cNvPr id="10" name="Text 8"/>
          <p:cNvSpPr txBox="1"/>
          <p:nvPr/>
        </p:nvSpPr>
        <p:spPr>
          <a:xfrm>
            <a:off x="749808" y="2990088"/>
            <a:ext cx="960120" cy="566928"/>
          </a:xfrm>
          <a:prstGeom prst="rect">
            <a:avLst/>
          </a:prstGeom>
          <a:noFill/>
          <a:ln/>
        </p:spPr>
        <p:txBody>
          <a:bodyPr wrap="square" lIns="0" tIns="0" rIns="0" bIns="0" rtlCol="0" anchor="ctr"/>
          <a:lstStyle/>
          <a:p>
            <a:pPr algn="ctr" indent="0" marL="0">
              <a:buNone/>
            </a:pPr>
            <a:r>
              <a:rPr lang="en-US" sz="1400" b="1" dirty="0">
                <a:solidFill>
                  <a:srgbClr val="13123A"/>
                </a:solidFill>
                <a:latin typeface="Calibri" pitchFamily="34" charset="0"/>
                <a:ea typeface="Calibri" pitchFamily="34" charset="-122"/>
                <a:cs typeface="Calibri" pitchFamily="34" charset="-120"/>
              </a:rPr>
              <a:t>Tuần 2</a:t>
            </a:r>
            <a:endParaRPr lang="en-US" sz="1400" dirty="0"/>
          </a:p>
        </p:txBody>
      </p:sp>
      <p:sp>
        <p:nvSpPr>
          <p:cNvPr id="11" name="Text 9"/>
          <p:cNvSpPr txBox="1"/>
          <p:nvPr/>
        </p:nvSpPr>
        <p:spPr>
          <a:xfrm>
            <a:off x="1865376" y="2926080"/>
            <a:ext cx="2788920" cy="731520"/>
          </a:xfrm>
          <a:prstGeom prst="rect">
            <a:avLst/>
          </a:prstGeom>
          <a:noFill/>
          <a:ln/>
        </p:spPr>
        <p:txBody>
          <a:bodyPr wrap="square" lIns="0" tIns="0" rIns="0" bIns="0" rtlCol="0" anchor="ctr"/>
          <a:lstStyle/>
          <a:p>
            <a:pPr indent="0" marL="0">
              <a:lnSpc>
                <a:spcPct val="95000"/>
              </a:lnSpc>
              <a:buNone/>
            </a:pPr>
            <a:r>
              <a:rPr lang="en-US" sz="1180" dirty="0">
                <a:solidFill>
                  <a:srgbClr val="E7E8FB"/>
                </a:solidFill>
                <a:latin typeface="Calibri" pitchFamily="34" charset="0"/>
                <a:ea typeface="Calibri" pitchFamily="34" charset="-122"/>
                <a:cs typeface="Calibri" pitchFamily="34" charset="-120"/>
              </a:rPr>
              <a:t>Rà soát benchmark; khung 9 năng lực; kiến trúc phân lớp; chốt công nghệ.</a:t>
            </a:r>
            <a:endParaRPr lang="en-US" sz="1180" dirty="0"/>
          </a:p>
        </p:txBody>
      </p:sp>
      <p:sp>
        <p:nvSpPr>
          <p:cNvPr id="12" name="Text 10"/>
          <p:cNvSpPr txBox="1"/>
          <p:nvPr/>
        </p:nvSpPr>
        <p:spPr>
          <a:xfrm>
            <a:off x="4727448" y="3136392"/>
            <a:ext cx="1078992" cy="274320"/>
          </a:xfrm>
          <a:prstGeom prst="rect">
            <a:avLst/>
          </a:prstGeom>
          <a:noFill/>
          <a:ln/>
        </p:spPr>
        <p:txBody>
          <a:bodyPr wrap="square" lIns="0" tIns="0" rIns="0" bIns="0" rtlCol="0" anchor="ctr"/>
          <a:lstStyle/>
          <a:p>
            <a:pPr indent="0" marL="0">
              <a:buNone/>
            </a:pPr>
            <a:r>
              <a:rPr lang="en-US" sz="950" b="1" dirty="0">
                <a:solidFill>
                  <a:srgbClr val="E9970B"/>
                </a:solidFill>
                <a:latin typeface="Calibri" pitchFamily="34" charset="0"/>
                <a:ea typeface="Calibri" pitchFamily="34" charset="-122"/>
                <a:cs typeface="Calibri" pitchFamily="34" charset="-120"/>
              </a:rPr>
              <a:t>◀ đang ở đây</a:t>
            </a:r>
            <a:endParaRPr lang="en-US" sz="950" dirty="0"/>
          </a:p>
        </p:txBody>
      </p:sp>
      <p:sp>
        <p:nvSpPr>
          <p:cNvPr id="13" name="Shape 11"/>
          <p:cNvSpPr/>
          <p:nvPr/>
        </p:nvSpPr>
        <p:spPr>
          <a:xfrm>
            <a:off x="566928" y="3831336"/>
            <a:ext cx="5340096" cy="932688"/>
          </a:xfrm>
          <a:prstGeom prst="roundRect">
            <a:avLst>
              <a:gd name="adj" fmla="val 4902"/>
            </a:avLst>
          </a:prstGeom>
          <a:solidFill>
            <a:srgbClr val="F1F2FB"/>
          </a:solidFill>
          <a:ln w="12700">
            <a:solidFill>
              <a:srgbClr val="F1F2FB"/>
            </a:solidFill>
            <a:prstDash val="solid"/>
          </a:ln>
        </p:spPr>
      </p:sp>
      <p:sp>
        <p:nvSpPr>
          <p:cNvPr id="14" name="Shape 12"/>
          <p:cNvSpPr/>
          <p:nvPr/>
        </p:nvSpPr>
        <p:spPr>
          <a:xfrm>
            <a:off x="749808" y="4014216"/>
            <a:ext cx="960120" cy="566928"/>
          </a:xfrm>
          <a:prstGeom prst="roundRect">
            <a:avLst>
              <a:gd name="adj" fmla="val 12903"/>
            </a:avLst>
          </a:prstGeom>
          <a:solidFill>
            <a:srgbClr val="3A36A0"/>
          </a:solidFill>
          <a:ln w="12700">
            <a:solidFill>
              <a:srgbClr val="3A36A0"/>
            </a:solidFill>
            <a:prstDash val="solid"/>
          </a:ln>
        </p:spPr>
      </p:sp>
      <p:sp>
        <p:nvSpPr>
          <p:cNvPr id="15" name="Text 13"/>
          <p:cNvSpPr txBox="1"/>
          <p:nvPr/>
        </p:nvSpPr>
        <p:spPr>
          <a:xfrm>
            <a:off x="749808" y="4014216"/>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3</a:t>
            </a:r>
            <a:endParaRPr lang="en-US" sz="1400" dirty="0"/>
          </a:p>
        </p:txBody>
      </p:sp>
      <p:sp>
        <p:nvSpPr>
          <p:cNvPr id="16" name="Text 14"/>
          <p:cNvSpPr txBox="1"/>
          <p:nvPr/>
        </p:nvSpPr>
        <p:spPr>
          <a:xfrm>
            <a:off x="1865376" y="3950208"/>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Sổ cái SQLite + chỉ mục dense; chạy đầu–cuối; dựng nhật ký vết.</a:t>
            </a:r>
            <a:endParaRPr lang="en-US" sz="1180" dirty="0"/>
          </a:p>
        </p:txBody>
      </p:sp>
      <p:sp>
        <p:nvSpPr>
          <p:cNvPr id="17" name="Shape 15"/>
          <p:cNvSpPr/>
          <p:nvPr/>
        </p:nvSpPr>
        <p:spPr>
          <a:xfrm>
            <a:off x="566928" y="4855464"/>
            <a:ext cx="5340096" cy="932688"/>
          </a:xfrm>
          <a:prstGeom prst="roundRect">
            <a:avLst>
              <a:gd name="adj" fmla="val 4902"/>
            </a:avLst>
          </a:prstGeom>
          <a:solidFill>
            <a:srgbClr val="F1F2FB"/>
          </a:solidFill>
          <a:ln w="12700">
            <a:solidFill>
              <a:srgbClr val="F1F2FB"/>
            </a:solidFill>
            <a:prstDash val="solid"/>
          </a:ln>
        </p:spPr>
      </p:sp>
      <p:sp>
        <p:nvSpPr>
          <p:cNvPr id="18" name="Shape 16"/>
          <p:cNvSpPr/>
          <p:nvPr/>
        </p:nvSpPr>
        <p:spPr>
          <a:xfrm>
            <a:off x="749808" y="5038344"/>
            <a:ext cx="960120" cy="566928"/>
          </a:xfrm>
          <a:prstGeom prst="roundRect">
            <a:avLst>
              <a:gd name="adj" fmla="val 12903"/>
            </a:avLst>
          </a:prstGeom>
          <a:solidFill>
            <a:srgbClr val="3A36A0"/>
          </a:solidFill>
          <a:ln w="12700">
            <a:solidFill>
              <a:srgbClr val="3A36A0"/>
            </a:solidFill>
            <a:prstDash val="solid"/>
          </a:ln>
        </p:spPr>
      </p:sp>
      <p:sp>
        <p:nvSpPr>
          <p:cNvPr id="19" name="Text 17"/>
          <p:cNvSpPr txBox="1"/>
          <p:nvPr/>
        </p:nvSpPr>
        <p:spPr>
          <a:xfrm>
            <a:off x="749808" y="5038344"/>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4</a:t>
            </a:r>
            <a:endParaRPr lang="en-US" sz="1400" dirty="0"/>
          </a:p>
        </p:txBody>
      </p:sp>
      <p:sp>
        <p:nvSpPr>
          <p:cNvPr id="20" name="Text 18"/>
          <p:cNvSpPr txBox="1"/>
          <p:nvPr/>
        </p:nvSpPr>
        <p:spPr>
          <a:xfrm>
            <a:off x="1865376" y="4974336"/>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Slot + seq; ADD/UPDATE/DELETE/NOOP/CONFLICT; cổng nguồn gốc pending.</a:t>
            </a:r>
            <a:endParaRPr lang="en-US" sz="1180" dirty="0"/>
          </a:p>
        </p:txBody>
      </p:sp>
      <p:sp>
        <p:nvSpPr>
          <p:cNvPr id="21" name="Shape 19"/>
          <p:cNvSpPr/>
          <p:nvPr/>
        </p:nvSpPr>
        <p:spPr>
          <a:xfrm>
            <a:off x="6281928" y="1783080"/>
            <a:ext cx="5340096" cy="932688"/>
          </a:xfrm>
          <a:prstGeom prst="roundRect">
            <a:avLst>
              <a:gd name="adj" fmla="val 4902"/>
            </a:avLst>
          </a:prstGeom>
          <a:solidFill>
            <a:srgbClr val="F1F2FB"/>
          </a:solidFill>
          <a:ln w="12700">
            <a:solidFill>
              <a:srgbClr val="F1F2FB"/>
            </a:solidFill>
            <a:prstDash val="solid"/>
          </a:ln>
        </p:spPr>
      </p:sp>
      <p:sp>
        <p:nvSpPr>
          <p:cNvPr id="22" name="Shape 20"/>
          <p:cNvSpPr/>
          <p:nvPr/>
        </p:nvSpPr>
        <p:spPr>
          <a:xfrm>
            <a:off x="6464808" y="1965960"/>
            <a:ext cx="960120" cy="566928"/>
          </a:xfrm>
          <a:prstGeom prst="roundRect">
            <a:avLst>
              <a:gd name="adj" fmla="val 12903"/>
            </a:avLst>
          </a:prstGeom>
          <a:solidFill>
            <a:srgbClr val="3A36A0"/>
          </a:solidFill>
          <a:ln w="12700">
            <a:solidFill>
              <a:srgbClr val="3A36A0"/>
            </a:solidFill>
            <a:prstDash val="solid"/>
          </a:ln>
        </p:spPr>
      </p:sp>
      <p:sp>
        <p:nvSpPr>
          <p:cNvPr id="23" name="Text 21"/>
          <p:cNvSpPr txBox="1"/>
          <p:nvPr/>
        </p:nvSpPr>
        <p:spPr>
          <a:xfrm>
            <a:off x="6464808" y="1965960"/>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5</a:t>
            </a:r>
            <a:endParaRPr lang="en-US" sz="1400" dirty="0"/>
          </a:p>
        </p:txBody>
      </p:sp>
      <p:sp>
        <p:nvSpPr>
          <p:cNvPr id="24" name="Text 22"/>
          <p:cNvSpPr txBox="1"/>
          <p:nvPr/>
        </p:nvSpPr>
        <p:spPr>
          <a:xfrm>
            <a:off x="7580376" y="1901952"/>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Chỉ mục kép + BM25 + RRF; tách truy vấn con; khoảng hiệu lực; ký ức pinned.</a:t>
            </a:r>
            <a:endParaRPr lang="en-US" sz="1180" dirty="0"/>
          </a:p>
        </p:txBody>
      </p:sp>
      <p:sp>
        <p:nvSpPr>
          <p:cNvPr id="25" name="Shape 23"/>
          <p:cNvSpPr/>
          <p:nvPr/>
        </p:nvSpPr>
        <p:spPr>
          <a:xfrm>
            <a:off x="6281928" y="2807208"/>
            <a:ext cx="5340096" cy="932688"/>
          </a:xfrm>
          <a:prstGeom prst="roundRect">
            <a:avLst>
              <a:gd name="adj" fmla="val 4902"/>
            </a:avLst>
          </a:prstGeom>
          <a:solidFill>
            <a:srgbClr val="F1F2FB"/>
          </a:solidFill>
          <a:ln w="12700">
            <a:solidFill>
              <a:srgbClr val="F1F2FB"/>
            </a:solidFill>
            <a:prstDash val="solid"/>
          </a:ln>
        </p:spPr>
      </p:sp>
      <p:sp>
        <p:nvSpPr>
          <p:cNvPr id="26" name="Shape 24"/>
          <p:cNvSpPr/>
          <p:nvPr/>
        </p:nvSpPr>
        <p:spPr>
          <a:xfrm>
            <a:off x="6464808" y="2990088"/>
            <a:ext cx="960120" cy="566928"/>
          </a:xfrm>
          <a:prstGeom prst="roundRect">
            <a:avLst>
              <a:gd name="adj" fmla="val 12903"/>
            </a:avLst>
          </a:prstGeom>
          <a:solidFill>
            <a:srgbClr val="3A36A0"/>
          </a:solidFill>
          <a:ln w="12700">
            <a:solidFill>
              <a:srgbClr val="3A36A0"/>
            </a:solidFill>
            <a:prstDash val="solid"/>
          </a:ln>
        </p:spPr>
      </p:sp>
      <p:sp>
        <p:nvSpPr>
          <p:cNvPr id="27" name="Text 25"/>
          <p:cNvSpPr txBox="1"/>
          <p:nvPr/>
        </p:nvSpPr>
        <p:spPr>
          <a:xfrm>
            <a:off x="6464808" y="2990088"/>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6</a:t>
            </a:r>
            <a:endParaRPr lang="en-US" sz="1400" dirty="0"/>
          </a:p>
        </p:txBody>
      </p:sp>
      <p:sp>
        <p:nvSpPr>
          <p:cNvPr id="28" name="Text 26"/>
          <p:cNvSpPr txBox="1"/>
          <p:nvPr/>
        </p:nvSpPr>
        <p:spPr>
          <a:xfrm>
            <a:off x="7580376" y="2926080"/>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Reranker; hiệu chỉnh ngưỡng từ chối; tóm tắt phiên; bộ test Việt &amp; xuyên ngữ.</a:t>
            </a:r>
            <a:endParaRPr lang="en-US" sz="1180" dirty="0"/>
          </a:p>
        </p:txBody>
      </p:sp>
      <p:sp>
        <p:nvSpPr>
          <p:cNvPr id="29" name="Shape 27"/>
          <p:cNvSpPr/>
          <p:nvPr/>
        </p:nvSpPr>
        <p:spPr>
          <a:xfrm>
            <a:off x="6281928" y="3831336"/>
            <a:ext cx="5340096" cy="932688"/>
          </a:xfrm>
          <a:prstGeom prst="roundRect">
            <a:avLst>
              <a:gd name="adj" fmla="val 4902"/>
            </a:avLst>
          </a:prstGeom>
          <a:solidFill>
            <a:srgbClr val="F1F2FB"/>
          </a:solidFill>
          <a:ln w="12700">
            <a:solidFill>
              <a:srgbClr val="F1F2FB"/>
            </a:solidFill>
            <a:prstDash val="solid"/>
          </a:ln>
        </p:spPr>
      </p:sp>
      <p:sp>
        <p:nvSpPr>
          <p:cNvPr id="30" name="Shape 28"/>
          <p:cNvSpPr/>
          <p:nvPr/>
        </p:nvSpPr>
        <p:spPr>
          <a:xfrm>
            <a:off x="6464808" y="4014216"/>
            <a:ext cx="960120" cy="566928"/>
          </a:xfrm>
          <a:prstGeom prst="roundRect">
            <a:avLst>
              <a:gd name="adj" fmla="val 12903"/>
            </a:avLst>
          </a:prstGeom>
          <a:solidFill>
            <a:srgbClr val="3A36A0"/>
          </a:solidFill>
          <a:ln w="12700">
            <a:solidFill>
              <a:srgbClr val="3A36A0"/>
            </a:solidFill>
            <a:prstDash val="solid"/>
          </a:ln>
        </p:spPr>
      </p:sp>
      <p:sp>
        <p:nvSpPr>
          <p:cNvPr id="31" name="Text 29"/>
          <p:cNvSpPr txBox="1"/>
          <p:nvPr/>
        </p:nvSpPr>
        <p:spPr>
          <a:xfrm>
            <a:off x="6464808" y="4014216"/>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7</a:t>
            </a:r>
            <a:endParaRPr lang="en-US" sz="1400" dirty="0"/>
          </a:p>
        </p:txBody>
      </p:sp>
      <p:sp>
        <p:nvSpPr>
          <p:cNvPr id="32" name="Text 30"/>
          <p:cNvSpPr txBox="1"/>
          <p:nvPr/>
        </p:nvSpPr>
        <p:spPr>
          <a:xfrm>
            <a:off x="7580376" y="3950208"/>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Chạy 6 cấu hình × 3 trục; phân tích lỗi từ nhật ký vết; tối ưu; demo.</a:t>
            </a:r>
            <a:endParaRPr lang="en-US" sz="1180" dirty="0"/>
          </a:p>
        </p:txBody>
      </p:sp>
      <p:sp>
        <p:nvSpPr>
          <p:cNvPr id="33" name="Shape 31"/>
          <p:cNvSpPr/>
          <p:nvPr/>
        </p:nvSpPr>
        <p:spPr>
          <a:xfrm>
            <a:off x="6281928" y="4855464"/>
            <a:ext cx="5340096" cy="932688"/>
          </a:xfrm>
          <a:prstGeom prst="roundRect">
            <a:avLst>
              <a:gd name="adj" fmla="val 4902"/>
            </a:avLst>
          </a:prstGeom>
          <a:solidFill>
            <a:srgbClr val="F1F2FB"/>
          </a:solidFill>
          <a:ln w="12700">
            <a:solidFill>
              <a:srgbClr val="F1F2FB"/>
            </a:solidFill>
            <a:prstDash val="solid"/>
          </a:ln>
        </p:spPr>
      </p:sp>
      <p:sp>
        <p:nvSpPr>
          <p:cNvPr id="34" name="Shape 32"/>
          <p:cNvSpPr/>
          <p:nvPr/>
        </p:nvSpPr>
        <p:spPr>
          <a:xfrm>
            <a:off x="6464808" y="5038344"/>
            <a:ext cx="960120" cy="566928"/>
          </a:xfrm>
          <a:prstGeom prst="roundRect">
            <a:avLst>
              <a:gd name="adj" fmla="val 12903"/>
            </a:avLst>
          </a:prstGeom>
          <a:solidFill>
            <a:srgbClr val="3A36A0"/>
          </a:solidFill>
          <a:ln w="12700">
            <a:solidFill>
              <a:srgbClr val="3A36A0"/>
            </a:solidFill>
            <a:prstDash val="solid"/>
          </a:ln>
        </p:spPr>
      </p:sp>
      <p:sp>
        <p:nvSpPr>
          <p:cNvPr id="35" name="Text 33"/>
          <p:cNvSpPr txBox="1"/>
          <p:nvPr/>
        </p:nvSpPr>
        <p:spPr>
          <a:xfrm>
            <a:off x="6464808" y="5038344"/>
            <a:ext cx="9601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Tuần 8</a:t>
            </a:r>
            <a:endParaRPr lang="en-US" sz="1400" dirty="0"/>
          </a:p>
        </p:txBody>
      </p:sp>
      <p:sp>
        <p:nvSpPr>
          <p:cNvPr id="36" name="Text 34"/>
          <p:cNvSpPr txBox="1"/>
          <p:nvPr/>
        </p:nvSpPr>
        <p:spPr>
          <a:xfrm>
            <a:off x="7580376" y="4974336"/>
            <a:ext cx="3886200" cy="731520"/>
          </a:xfrm>
          <a:prstGeom prst="rect">
            <a:avLst/>
          </a:prstGeom>
          <a:noFill/>
          <a:ln/>
        </p:spPr>
        <p:txBody>
          <a:bodyPr wrap="square" lIns="0" tIns="0" rIns="0" bIns="0" rtlCol="0" anchor="ctr"/>
          <a:lstStyle/>
          <a:p>
            <a:pPr indent="0" marL="0">
              <a:lnSpc>
                <a:spcPct val="95000"/>
              </a:lnSpc>
              <a:buNone/>
            </a:pPr>
            <a:r>
              <a:rPr lang="en-US" sz="1180" dirty="0">
                <a:solidFill>
                  <a:srgbClr val="20223A"/>
                </a:solidFill>
                <a:latin typeface="Calibri" pitchFamily="34" charset="0"/>
                <a:ea typeface="Calibri" pitchFamily="34" charset="-122"/>
                <a:cs typeface="Calibri" pitchFamily="34" charset="-120"/>
              </a:rPr>
              <a:t>Viết báo cáo &amp; tài liệu; đóng gói mã nguồn; chuẩn bị trình bày cuối.</a:t>
            </a:r>
            <a:endParaRPr lang="en-US" sz="1180" dirty="0"/>
          </a:p>
        </p:txBody>
      </p:sp>
      <p:sp>
        <p:nvSpPr>
          <p:cNvPr id="37" name="Text 35"/>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Lộ trình do nhóm tự lập, đã điều chỉnh sau phản hồi tuần 1 để mỗi năng lực có một tuần chịu trách nhiệm. Tài liệu thiết kế có bảng cốt lõi / nên có / mở rộng định sẵn thứ tự cắt nếu thiếu thời gian.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502920"/>
            <a:ext cx="6345936" cy="283464"/>
          </a:xfrm>
          <a:prstGeom prst="rect">
            <a:avLst/>
          </a:prstGeom>
          <a:noFill/>
          <a:ln/>
        </p:spPr>
        <p:txBody>
          <a:bodyPr wrap="square" lIns="0" tIns="0" rIns="0" bIns="0" rtlCol="0" anchor="ctr"/>
          <a:lstStyle/>
          <a:p>
            <a:pPr indent="0" marL="0">
              <a:buNone/>
            </a:pPr>
            <a:r>
              <a:rPr lang="en-US" sz="1200" b="1" dirty="0">
                <a:solidFill>
                  <a:srgbClr val="3A36A0"/>
                </a:solidFill>
                <a:latin typeface="Calibri" pitchFamily="34" charset="0"/>
                <a:ea typeface="Calibri" pitchFamily="34" charset="-122"/>
                <a:cs typeface="Calibri" pitchFamily="34" charset="-120"/>
              </a:rPr>
              <a:t>TIẾN ĐỘ</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ctr"/>
          <a:lstStyle/>
          <a:p>
            <a:pPr indent="0" marL="0">
              <a:buNone/>
            </a:pPr>
            <a:r>
              <a:rPr lang="en-US" sz="3000" b="1" dirty="0">
                <a:solidFill>
                  <a:srgbClr val="13123A"/>
                </a:solidFill>
                <a:latin typeface="Cambria" pitchFamily="34" charset="0"/>
                <a:ea typeface="Cambria" pitchFamily="34" charset="-122"/>
                <a:cs typeface="Cambria" pitchFamily="34" charset="-120"/>
              </a:rPr>
              <a:t>Đã xong tuần 2 · Việc tuần 3</a:t>
            </a:r>
            <a:endParaRPr lang="en-US" sz="3000" dirty="0"/>
          </a:p>
        </p:txBody>
      </p:sp>
      <p:sp>
        <p:nvSpPr>
          <p:cNvPr id="4" name="Shape 2"/>
          <p:cNvSpPr/>
          <p:nvPr/>
        </p:nvSpPr>
        <p:spPr>
          <a:xfrm>
            <a:off x="566928" y="1673352"/>
            <a:ext cx="5358384" cy="3931920"/>
          </a:xfrm>
          <a:prstGeom prst="roundRect">
            <a:avLst>
              <a:gd name="adj" fmla="val 1163"/>
            </a:avLst>
          </a:prstGeom>
          <a:solidFill>
            <a:srgbClr val="ECEBF7"/>
          </a:solidFill>
          <a:ln w="12700">
            <a:solidFill>
              <a:srgbClr val="ECEBF7"/>
            </a:solidFill>
            <a:prstDash val="solid"/>
          </a:ln>
        </p:spPr>
      </p:sp>
      <p:sp>
        <p:nvSpPr>
          <p:cNvPr id="5" name="Text 3"/>
          <p:cNvSpPr txBox="1"/>
          <p:nvPr/>
        </p:nvSpPr>
        <p:spPr>
          <a:xfrm>
            <a:off x="822960" y="1874520"/>
            <a:ext cx="484632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ĐÃ XONG — TUẦN 2</a:t>
            </a:r>
            <a:endParaRPr lang="en-US" sz="1100" dirty="0"/>
          </a:p>
        </p:txBody>
      </p:sp>
      <p:sp>
        <p:nvSpPr>
          <p:cNvPr id="6" name="Text 4"/>
          <p:cNvSpPr txBox="1"/>
          <p:nvPr/>
        </p:nvSpPr>
        <p:spPr>
          <a:xfrm>
            <a:off x="822960" y="2176272"/>
            <a:ext cx="4846320" cy="3291840"/>
          </a:xfrm>
          <a:prstGeom prst="rect">
            <a:avLst/>
          </a:prstGeom>
          <a:noFill/>
          <a:ln/>
        </p:spPr>
        <p:txBody>
          <a:bodyPr wrap="square" lIns="0" tIns="0" rIns="0" bIns="0" rtlCol="0" anchor="t"/>
          <a:lstStyle/>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Rà soát lại cả bốn benchmark theo phản hồi của thầy/cô</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Khung chín năng lực, mỗi năng lực gắn một thành phần và một tuần</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Kiến trúc phân lớp; tách sổ cái SQLite khỏi chỉ mục vector</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Thiết kế lớp song ngữ: hai dạng văn bản, khóa tiếng Anh, chỉ mục kép</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Đường truy xuất lai: ba chỉ mục, hợp nhất RRF, xếp lại bằng cross-encoder</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Cổng nguồn gốc pending để chống ảo giác tự củng cố</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Chốt công nghệ miễn phí và sáu cấu hình đối chứng</a:t>
            </a:r>
            <a:endParaRPr lang="en-US" sz="1250" dirty="0"/>
          </a:p>
        </p:txBody>
      </p:sp>
      <p:sp>
        <p:nvSpPr>
          <p:cNvPr id="7" name="Shape 5"/>
          <p:cNvSpPr/>
          <p:nvPr/>
        </p:nvSpPr>
        <p:spPr>
          <a:xfrm>
            <a:off x="6254496" y="1673352"/>
            <a:ext cx="5358384" cy="3931920"/>
          </a:xfrm>
          <a:prstGeom prst="roundRect">
            <a:avLst>
              <a:gd name="adj" fmla="val 1163"/>
            </a:avLst>
          </a:prstGeom>
          <a:solidFill>
            <a:srgbClr val="F7F7FB"/>
          </a:solidFill>
          <a:ln w="12700">
            <a:solidFill>
              <a:srgbClr val="F7F7FB"/>
            </a:solidFill>
            <a:prstDash val="solid"/>
          </a:ln>
        </p:spPr>
      </p:sp>
      <p:sp>
        <p:nvSpPr>
          <p:cNvPr id="8" name="Text 6"/>
          <p:cNvSpPr txBox="1"/>
          <p:nvPr/>
        </p:nvSpPr>
        <p:spPr>
          <a:xfrm>
            <a:off x="6510528" y="1874520"/>
            <a:ext cx="4846320" cy="237744"/>
          </a:xfrm>
          <a:prstGeom prst="rect">
            <a:avLst/>
          </a:prstGeom>
          <a:noFill/>
          <a:ln/>
        </p:spPr>
        <p:txBody>
          <a:bodyPr wrap="square" lIns="0" tIns="0" rIns="0" bIns="0" rtlCol="0" anchor="ctr"/>
          <a:lstStyle/>
          <a:p>
            <a:pPr indent="0" marL="0">
              <a:buNone/>
            </a:pPr>
            <a:r>
              <a:rPr lang="en-US" sz="1100" b="1" dirty="0">
                <a:solidFill>
                  <a:srgbClr val="E9970B"/>
                </a:solidFill>
                <a:latin typeface="Calibri" pitchFamily="34" charset="0"/>
                <a:ea typeface="Calibri" pitchFamily="34" charset="-122"/>
                <a:cs typeface="Calibri" pitchFamily="34" charset="-120"/>
              </a:rPr>
              <a:t>VIỆC TUẦN 3</a:t>
            </a:r>
            <a:endParaRPr lang="en-US" sz="1100" dirty="0"/>
          </a:p>
        </p:txBody>
      </p:sp>
      <p:sp>
        <p:nvSpPr>
          <p:cNvPr id="9" name="Text 7"/>
          <p:cNvSpPr txBox="1"/>
          <p:nvPr/>
        </p:nvSpPr>
        <p:spPr>
          <a:xfrm>
            <a:off x="6510528" y="2176272"/>
            <a:ext cx="4846320" cy="3291840"/>
          </a:xfrm>
          <a:prstGeom prst="rect">
            <a:avLst/>
          </a:prstGeom>
          <a:noFill/>
          <a:ln/>
        </p:spPr>
        <p:txBody>
          <a:bodyPr wrap="square" lIns="0" tIns="0" rIns="0" bIns="0" rtlCol="0" anchor="t"/>
          <a:lstStyle/>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Dựng sổ cái SQLite và chỉ mục dense; pipeline chạy đầu–cuối</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Nối Gemini gói miễn phí và BGE-M3 chạy local</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Dựng nhật ký vết ngay từ đầu, không để tới tuần 7</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Đo tỉ lệ token Việt / Anh bằng tokenizer thật, đưa số vào báo cáo</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Chạy thử LongMemEval-S, lấy số riêng từng loại câu hỏi</a:t>
            </a:r>
            <a:endParaRPr lang="en-US" sz="1250" dirty="0"/>
          </a:p>
          <a:p>
            <a:pPr marL="342900" indent="-342900">
              <a:lnSpc>
                <a:spcPct val="95000"/>
              </a:lnSpc>
              <a:spcAft>
                <a:spcPts val="700"/>
              </a:spcAft>
              <a:buSzPct val="100000"/>
              <a:buChar char="•"/>
            </a:pPr>
            <a:r>
              <a:rPr lang="en-US" sz="1250" dirty="0">
                <a:solidFill>
                  <a:srgbClr val="4A4E63"/>
                </a:solidFill>
                <a:latin typeface="Calibri" pitchFamily="34" charset="0"/>
                <a:ea typeface="Calibri" pitchFamily="34" charset="-122"/>
                <a:cs typeface="Calibri" pitchFamily="34" charset="-120"/>
              </a:rPr>
              <a:t>Cache embedding ra đĩa để chạy lại thí nghiệm không tốn hạn mức</a:t>
            </a:r>
            <a:endParaRPr lang="en-US" sz="1250" dirty="0"/>
          </a:p>
        </p:txBody>
      </p:sp>
      <p:sp>
        <p:nvSpPr>
          <p:cNvPr id="10" name="Text 8"/>
          <p:cNvSpPr txBox="1"/>
          <p:nvPr/>
        </p:nvSpPr>
        <p:spPr>
          <a:xfrm>
            <a:off x="566928" y="5779008"/>
            <a:ext cx="11045952" cy="530352"/>
          </a:xfrm>
          <a:prstGeom prst="rect">
            <a:avLst/>
          </a:prstGeom>
          <a:noFill/>
          <a:ln/>
        </p:spPr>
        <p:txBody>
          <a:bodyPr wrap="square" lIns="0" tIns="0" rIns="0" bIns="0" rtlCol="0" anchor="ctr"/>
          <a:lstStyle/>
          <a:p>
            <a:pPr indent="0" marL="0">
              <a:lnSpc>
                <a:spcPct val="95000"/>
              </a:lnSpc>
              <a:buNone/>
            </a:pPr>
            <a:r>
              <a:rPr lang="en-US" sz="1250" b="1" dirty="0">
                <a:solidFill>
                  <a:srgbClr val="13123A"/>
                </a:solidFill>
                <a:latin typeface="Calibri" pitchFamily="34" charset="0"/>
                <a:ea typeface="Calibri" pitchFamily="34" charset="-122"/>
                <a:cs typeface="Calibri" pitchFamily="34" charset="-120"/>
              </a:rPr>
              <a:t>Xin ý kiến thầy/cô: (1) chín năng lực đã hợp lý chưa, có năng lực nào nên bỏ để làm sâu phần còn lại; (2) bộ test tiếng Việt và xuyên ngữ nên bao nhiêu câu là đủ để kết luận.</a:t>
            </a:r>
            <a:endParaRPr lang="en-US" sz="1250" dirty="0"/>
          </a:p>
        </p:txBody>
      </p:sp>
      <p:sp>
        <p:nvSpPr>
          <p:cNvPr id="11" name="Text 9"/>
          <p:cNvSpPr txBox="1"/>
          <p:nvPr/>
        </p:nvSpPr>
        <p:spPr>
          <a:xfrm>
            <a:off x="566928" y="6464808"/>
            <a:ext cx="11045952" cy="329184"/>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Toàn bộ tài liệu thiết kế đã được đưa lên kho chung của nhóm.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tuần 2 — Bộ nhớ dài hạn cho LLM Agent</dc:title>
  <dc:subject>PptxGenJS Presentation</dc:subject>
  <dc:creator>Nhóm đồ án</dc:creator>
  <cp:lastModifiedBy>Nhóm đồ án</cp:lastModifiedBy>
  <cp:revision>1</cp:revision>
  <dcterms:created xsi:type="dcterms:W3CDTF">2026-09-15T03:56:13Z</dcterms:created>
  <dcterms:modified xsi:type="dcterms:W3CDTF">2026-09-15T03:56:13Z</dcterms:modified>
</cp:coreProperties>
</file>