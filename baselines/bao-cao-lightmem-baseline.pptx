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APEX-MEM</c:v>
                </c:pt>
              </c:strCache>
            </c:strRef>
          </c:tx>
          <c:spPr>
            <a:solidFill>
              <a:srgbClr val="1F6F8B"/>
            </a:solidFill>
            <a:effectLst/>
          </c:spPr>
          <c:invertIfNegative val="0"/>
          <c:dLbls>
            <c:numFmt formatCode="0&quot;%&quot;" sourceLinked="0"/>
            <c:txPr>
              <a:bodyPr/>
              <a:lstStyle/>
              <a:p>
                <a:pPr>
                  <a:defRPr b="0" i="0" strike="noStrike" sz="900" u="none">
                    <a:solidFill>
                      <a:srgbClr val="10243E"/>
                    </a:solidFill>
                    <a:latin typeface="Arial"/>
                  </a:defRPr>
                </a:pPr>
              </a:p>
            </c:txPr>
            <c:showLegendKey val="0"/>
            <c:showVal val="1"/>
            <c:showCatName val="0"/>
            <c:showSerName val="0"/>
            <c:showPercent val="0"/>
            <c:showBubbleSize val="0"/>
            <c:showLeaderLines val="0"/>
          </c:dLbls>
          <c:cat>
            <c:multiLvlStrRef>
              <c:f>Sheet1!$A$2:$A$7</c:f>
              <c:multiLvlStrCache>
                <c:ptCount val="6"/>
                <c:lvl>
                  <c:pt idx="0">
                    <c:v>Đơn phiên · người dùng (n=21)</c:v>
                  </c:pt>
                  <c:pt idx="1">
                    <c:v>Đơn phiên · trợ lý (n=17)</c:v>
                  </c:pt>
                  <c:pt idx="2">
                    <c:v>Đơn phiên · sở thích (n=9)</c:v>
                  </c:pt>
                  <c:pt idx="3">
                    <c:v>Đa phiên (n=40)</c:v>
                  </c:pt>
                  <c:pt idx="4">
                    <c:v>Suy luận thời gian (n=40)</c:v>
                  </c:pt>
                  <c:pt idx="5">
                    <c:v>Cập nhật kiến thức (n=23)</c:v>
                  </c:pt>
                </c:lvl>
              </c:multiLvlStrCache>
            </c:multiLvlStrRef>
          </c:cat>
          <c:val>
            <c:numRef>
              <c:f>Sheet1!$B$2:$B$7</c:f>
              <c:numCache>
                <c:formatCode>General</c:formatCode>
                <c:ptCount val="6"/>
                <c:pt idx="0">
                  <c:v>95.2</c:v>
                </c:pt>
                <c:pt idx="1">
                  <c:v>82.4</c:v>
                </c:pt>
                <c:pt idx="2">
                  <c:v>77.8</c:v>
                </c:pt>
                <c:pt idx="3">
                  <c:v>80</c:v>
                </c:pt>
                <c:pt idx="4">
                  <c:v>85</c:v>
                </c:pt>
                <c:pt idx="5">
                  <c:v>87</c:v>
                </c:pt>
              </c:numCache>
            </c:numRef>
          </c:val>
        </c:ser>
        <c:ser>
          <c:idx val="1"/>
          <c:order val="1"/>
          <c:tx>
            <c:strRef>
              <c:f>Sheet1!$C$1</c:f>
              <c:strCache>
                <c:ptCount val="1"/>
                <c:pt idx="0">
                  <c:v>LightMem</c:v>
                </c:pt>
              </c:strCache>
            </c:strRef>
          </c:tx>
          <c:spPr>
            <a:solidFill>
              <a:srgbClr val="F2A541"/>
            </a:solidFill>
            <a:effectLst/>
          </c:spPr>
          <c:invertIfNegative val="0"/>
          <c:dLbls>
            <c:numFmt formatCode="0&quot;%&quot;" sourceLinked="0"/>
            <c:txPr>
              <a:bodyPr/>
              <a:lstStyle/>
              <a:p>
                <a:pPr>
                  <a:defRPr b="0" i="0" strike="noStrike" sz="900" u="none">
                    <a:solidFill>
                      <a:srgbClr val="10243E"/>
                    </a:solidFill>
                    <a:latin typeface="Arial"/>
                  </a:defRPr>
                </a:pPr>
              </a:p>
            </c:txPr>
            <c:showLegendKey val="0"/>
            <c:showVal val="1"/>
            <c:showCatName val="0"/>
            <c:showSerName val="0"/>
            <c:showPercent val="0"/>
            <c:showBubbleSize val="0"/>
            <c:showLeaderLines val="0"/>
          </c:dLbls>
          <c:cat>
            <c:multiLvlStrRef>
              <c:f>Sheet1!$A$2:$A$7</c:f>
              <c:multiLvlStrCache>
                <c:ptCount val="6"/>
                <c:lvl>
                  <c:pt idx="0">
                    <c:v>Đơn phiên · người dùng (n=21)</c:v>
                  </c:pt>
                  <c:pt idx="1">
                    <c:v>Đơn phiên · trợ lý (n=17)</c:v>
                  </c:pt>
                  <c:pt idx="2">
                    <c:v>Đơn phiên · sở thích (n=9)</c:v>
                  </c:pt>
                  <c:pt idx="3">
                    <c:v>Đa phiên (n=40)</c:v>
                  </c:pt>
                  <c:pt idx="4">
                    <c:v>Suy luận thời gian (n=40)</c:v>
                  </c:pt>
                  <c:pt idx="5">
                    <c:v>Cập nhật kiến thức (n=23)</c:v>
                  </c:pt>
                </c:lvl>
              </c:multiLvlStrCache>
            </c:multiLvlStrRef>
          </c:cat>
          <c:val>
            <c:numRef>
              <c:f>Sheet1!$C$2:$C$7</c:f>
              <c:numCache>
                <c:formatCode>General</c:formatCode>
                <c:ptCount val="6"/>
                <c:pt idx="0">
                  <c:v>100</c:v>
                </c:pt>
                <c:pt idx="1">
                  <c:v>41.2</c:v>
                </c:pt>
                <c:pt idx="2">
                  <c:v>77.8</c:v>
                </c:pt>
                <c:pt idx="3">
                  <c:v>82.5</c:v>
                </c:pt>
                <c:pt idx="4">
                  <c:v>85</c:v>
                </c:pt>
                <c:pt idx="5">
                  <c:v>87</c:v>
                </c:pt>
              </c:numCache>
            </c:numRef>
          </c:val>
        </c:ser>
        <c:dLbls>
          <c:numFmt formatCode="0&quot;%&quot;" sourceLinked="0"/>
          <c:txPr>
            <a:bodyPr/>
            <a:lstStyle/>
            <a:p>
              <a:pPr>
                <a:defRPr b="0" i="0" strike="noStrike" sz="900" u="none">
                  <a:solidFill>
                    <a:srgbClr val="1024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1B2B3A"/>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B6B7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c:v>
                </c:pt>
              </c:strCache>
            </c:strRef>
          </c:tx>
          <c:spPr>
            <a:solidFill>
              <a:srgbClr val="1F6F8B"/>
            </a:solidFill>
            <a:effectLst/>
          </c:spPr>
          <c:invertIfNegative val="0"/>
          <c:dLbls>
            <c:numFmt formatCode="0.0&quot;%&quot;" sourceLinked="0"/>
            <c:txPr>
              <a:bodyPr/>
              <a:lstStyle/>
              <a:p>
                <a:pPr>
                  <a:defRPr b="0" i="0" strike="noStrike" sz="1100" u="none">
                    <a:solidFill>
                      <a:srgbClr val="10243E"/>
                    </a:solidFill>
                    <a:latin typeface="Arial"/>
                  </a:defRPr>
                </a:pPr>
              </a:p>
            </c:txPr>
            <c:showLegendKey val="0"/>
            <c:showVal val="1"/>
            <c:showCatName val="0"/>
            <c:showSerName val="0"/>
            <c:showPercent val="0"/>
            <c:showBubbleSize val="0"/>
            <c:showLeaderLines val="0"/>
          </c:dLbls>
          <c:cat>
            <c:multiLvlStrRef>
              <c:f>Sheet1!$A$2:$A$7</c:f>
              <c:multiLvlStrCache>
                <c:ptCount val="6"/>
                <c:lvl>
                  <c:pt idx="0">
                    <c:v>Đơn phiên · người dùng (n=21)</c:v>
                  </c:pt>
                  <c:pt idx="1">
                    <c:v>Đơn phiên · trợ lý (n=17)</c:v>
                  </c:pt>
                  <c:pt idx="2">
                    <c:v>Đơn phiên · sở thích (n=9)</c:v>
                  </c:pt>
                  <c:pt idx="3">
                    <c:v>Đa phiên (n=40)</c:v>
                  </c:pt>
                  <c:pt idx="4">
                    <c:v>Suy luận thời gian (n=40)</c:v>
                  </c:pt>
                  <c:pt idx="5">
                    <c:v>Cập nhật kiến thức (n=23)</c:v>
                  </c:pt>
                </c:lvl>
              </c:multiLvlStrCache>
            </c:multiLvlStrRef>
          </c:cat>
          <c:val>
            <c:numRef>
              <c:f>Sheet1!$B$2:$B$7</c:f>
              <c:numCache>
                <c:formatCode>General</c:formatCode>
                <c:ptCount val="6"/>
                <c:pt idx="0">
                  <c:v>100</c:v>
                </c:pt>
                <c:pt idx="1">
                  <c:v>41.2</c:v>
                </c:pt>
                <c:pt idx="2">
                  <c:v>77.8</c:v>
                </c:pt>
                <c:pt idx="3">
                  <c:v>82.5</c:v>
                </c:pt>
                <c:pt idx="4">
                  <c:v>85</c:v>
                </c:pt>
                <c:pt idx="5">
                  <c:v>87</c:v>
                </c:pt>
              </c:numCache>
            </c:numRef>
          </c:val>
        </c:ser>
        <c:dLbls>
          <c:numFmt formatCode="0.0&quot;%&quot;" sourceLinked="0"/>
          <c:txPr>
            <a:bodyPr/>
            <a:lstStyle/>
            <a:p>
              <a:pPr>
                <a:defRPr b="0" i="0" strike="noStrike" sz="1100" u="none">
                  <a:solidFill>
                    <a:srgbClr val="1024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B3A"/>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tổng hợp baseline LightMem và so sánh với APEX-MEM. Số liệu sinh tự động từ thư mục kết quả; chạy lại gen_stats.py, compare_apex.py và build_deck.js khi có thêm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LightMem (ICLR 2026) nén hội thoại trước khi đưa vào LLM để tiết kiệm token. Cấu hình dùng: messages_use=user_only, top-k=20.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khác biệt lớn nhất là lượt được lưu và việc biết câu hỏi lúc dựng bộ nhớ. APEX-MEM lưu cả lượt trợ lý và lọc phiên theo câu hỏi, giống bài báo gốc; LightMem dựng từ toàn bộ haystack và chỉ lưu lượt người dùng. Cả hai đều là khác biệt về giao thức chứ không phải về đồ thị.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kế hoạch ghi GPT-5.5, nhưng tài khoản ChatGPT nối qua 9router không có quyền model này (lỗi 404). Dùng gpt-5.6-luna. Hệ APEX-MEM của nhóm phải chạy cùng model để so công bằng.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Cùng 150 câu dev, cùng model trả lời (luna), cùng model chấm (terra). Gộp chung APEX-MEM 127/150, LightMem 122/150. Hai khoảng tin cậy 95% chồng lên nhau gần hết.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định McNemar trên cặp câu hỏi: APEX-MEM đúng riêng 20 câu, LightMem đúng riêng 15 câu, p = 0,50. Tách theo loại: loại lượt trợ lý APEX-MEM hơn 7 câu, năm loại còn lại LightMem hơn 2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23/23 câu sai đã có ít nhất một fact từ đúng lượt chứa đáp án. Nhãn tự động reasoning chỉ kiểm tra có ít nhất một fact từ phiên bằng chứng nên có thể gồm cả lỗi trích xuất thiếu fact then chốt; chính báo cáo tuần 4 của nhóm đã nêu hạn chế này. Câu sai dùng trung bình 4,2 lần gọi công cụ, câu đúng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 81,3% trên 150 câu, macro 78,9% trên 6 loại. Điểm đáng chú ý nhất: loại đơn phiên · trợ lý thấp hẳn, và nguyên nhân nằm ở cấu hình user_only của LightMem chứ không phải ngẫu nhiên.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Kiểu 1: câu đếm qua nhiều phiên, hệ đếm thiếu hoặc thừa. Kiểu 2: câu hỏi về lời trợ lý, hệ không có dữ liệu vì cấu hình user_only. Kiểu 2 là lỗi cấu hình, sửa được; kiểu 1 là hạn chế thật của cách lưu ký 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Truy xuất trúng phiên chứa bằng chứng ở 149/150 câu. Trong 28 câu sai, 27 câu đã có bằng chứng trong 20 ký ức lấy về mà vẫn trả lời sai. Lưu ý: "trúng phiên" chưa chắc là "giữ được chi tiết cần thiết", vì LightMem nén và tóm tắt trước khi lưu.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Soi tay 20 câu được chấm đúng và toàn bộ 28 câu bị chấm sai. Không có câu nào được chấm đúng oan; có 2 câu nhóm cho rằng đáng lẽ nên tính đúng, nên accuracy thật có thể cao hơn khoảng 1,3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LightMem: thời gian dựng trung vị 33 phút, trả lời 3 giây. APEX-MEM: 88% token nằm ở bước dựng. Thời gian đo trong điều kiện chạy song song khác nhau nên không dùng để kết luận hệ nào nhanh hơn. Chưa có số token của LightMem.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lỗi này đều nằm ở môi trường chạy, không phải ở thiết kế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tổng kết tự cập nhật theo stats.json. Khi chạy xong 150 câu, chạy lại gen_stats.py và build_deck.js.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E"/>
        </a:solidFill>
      </p:bgPr>
    </p:bg>
    <p:spTree>
      <p:nvGrpSpPr>
        <p:cNvPr id="1" name=""/>
        <p:cNvGrpSpPr/>
        <p:nvPr/>
      </p:nvGrpSpPr>
      <p:grpSpPr>
        <a:xfrm>
          <a:off x="0" y="0"/>
          <a:ext cx="0" cy="0"/>
          <a:chOff x="0" y="0"/>
          <a:chExt cx="0" cy="0"/>
        </a:xfrm>
      </p:grpSpPr>
      <p:sp>
        <p:nvSpPr>
          <p:cNvPr id="2" name="Text 0"/>
          <p:cNvSpPr txBox="1"/>
          <p:nvPr/>
        </p:nvSpPr>
        <p:spPr>
          <a:xfrm>
            <a:off x="640080" y="1097280"/>
            <a:ext cx="7863840" cy="365760"/>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BASELINE LIGHTMEM · SO SÁNH VỚI APEX-MEM</a:t>
            </a:r>
            <a:endParaRPr lang="en-US" sz="1400" dirty="0"/>
          </a:p>
        </p:txBody>
      </p:sp>
      <p:sp>
        <p:nvSpPr>
          <p:cNvPr id="3" name="Text 1"/>
          <p:cNvSpPr txBox="1"/>
          <p:nvPr/>
        </p:nvSpPr>
        <p:spPr>
          <a:xfrm>
            <a:off x="640080" y="1508760"/>
            <a:ext cx="786384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LightMem và APEX-MEM trên LongMemEval-S</a:t>
            </a:r>
            <a:endParaRPr lang="en-US" sz="3400" dirty="0"/>
          </a:p>
        </p:txBody>
      </p:sp>
      <p:sp>
        <p:nvSpPr>
          <p:cNvPr id="4" name="Text 2"/>
          <p:cNvSpPr txBox="1"/>
          <p:nvPr/>
        </p:nvSpPr>
        <p:spPr>
          <a:xfrm>
            <a:off x="640080" y="2606040"/>
            <a:ext cx="786384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Đường cơ sở LightMem và phép so sánh đầu tiên với hệ của nhóm, trên 150 câu dev</a:t>
            </a:r>
            <a:endParaRPr lang="en-US" sz="1800" dirty="0"/>
          </a:p>
        </p:txBody>
      </p:sp>
      <p:sp>
        <p:nvSpPr>
          <p:cNvPr id="5" name="Text 3"/>
          <p:cNvSpPr txBox="1"/>
          <p:nvPr/>
        </p:nvSpPr>
        <p:spPr>
          <a:xfrm>
            <a:off x="640080" y="4206240"/>
            <a:ext cx="7863840" cy="320040"/>
          </a:xfrm>
          <a:prstGeom prst="rect">
            <a:avLst/>
          </a:prstGeom>
          <a:noFill/>
          <a:ln/>
        </p:spPr>
        <p:txBody>
          <a:bodyPr wrap="square" lIns="0" tIns="0" rIns="0" bIns="0" rtlCol="0" anchor="ctr"/>
          <a:lstStyle/>
          <a:p>
            <a:pPr indent="0" marL="0">
              <a:buNone/>
            </a:pPr>
            <a:r>
              <a:rPr lang="en-US" sz="1300" dirty="0">
                <a:solidFill>
                  <a:srgbClr val="8FA7C4"/>
                </a:solidFill>
                <a:latin typeface="Calibri" pitchFamily="34" charset="0"/>
                <a:ea typeface="Calibri" pitchFamily="34" charset="-122"/>
                <a:cs typeface="Calibri" pitchFamily="34" charset="-120"/>
              </a:rPr>
              <a:t>Đủ 150 câu dev · nhóm 2 thành viên · 10/2026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CÁCH HOẠT ĐỘNG</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LightMem lưu và truy xuất ký ức thế nào</a:t>
            </a:r>
            <a:endParaRPr lang="en-US" sz="2600" dirty="0"/>
          </a:p>
        </p:txBody>
      </p:sp>
      <p:sp>
        <p:nvSpPr>
          <p:cNvPr id="5" name="Shape 2"/>
          <p:cNvSpPr/>
          <p:nvPr/>
        </p:nvSpPr>
        <p:spPr>
          <a:xfrm>
            <a:off x="457200" y="1417320"/>
            <a:ext cx="1517904" cy="1600200"/>
          </a:xfrm>
          <a:prstGeom prst="rect">
            <a:avLst/>
          </a:prstGeom>
          <a:solidFill>
            <a:srgbClr val="FFFFFF"/>
          </a:solidFill>
          <a:ln w="9525">
            <a:solidFill>
              <a:srgbClr val="DCE3EA"/>
            </a:solidFill>
            <a:prstDash val="solid"/>
          </a:ln>
        </p:spPr>
      </p:sp>
      <p:sp>
        <p:nvSpPr>
          <p:cNvPr id="6" name="Shape 3"/>
          <p:cNvSpPr/>
          <p:nvPr/>
        </p:nvSpPr>
        <p:spPr>
          <a:xfrm>
            <a:off x="594360" y="1554480"/>
            <a:ext cx="384048" cy="384048"/>
          </a:xfrm>
          <a:prstGeom prst="ellipse">
            <a:avLst/>
          </a:prstGeom>
          <a:solidFill>
            <a:srgbClr val="1F6F8B"/>
          </a:solidFill>
          <a:ln w="12700">
            <a:solidFill>
              <a:srgbClr val="1F6F8B"/>
            </a:solidFill>
            <a:prstDash val="solid"/>
          </a:ln>
        </p:spPr>
      </p:sp>
      <p:sp>
        <p:nvSpPr>
          <p:cNvPr id="7" name="Text 4"/>
          <p:cNvSpPr txBox="1"/>
          <p:nvPr/>
        </p:nvSpPr>
        <p:spPr>
          <a:xfrm>
            <a:off x="59436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594360" y="2011680"/>
            <a:ext cx="1243584" cy="32004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Nén trước</a:t>
            </a:r>
            <a:endParaRPr lang="en-US" sz="1500" dirty="0"/>
          </a:p>
        </p:txBody>
      </p:sp>
      <p:sp>
        <p:nvSpPr>
          <p:cNvPr id="9" name="Text 6"/>
          <p:cNvSpPr txBox="1"/>
          <p:nvPr/>
        </p:nvSpPr>
        <p:spPr>
          <a:xfrm>
            <a:off x="594360" y="2359152"/>
            <a:ext cx="1243584" cy="594360"/>
          </a:xfrm>
          <a:prstGeom prst="rect">
            <a:avLst/>
          </a:prstGeom>
          <a:noFill/>
          <a:ln/>
        </p:spPr>
        <p:txBody>
          <a:bodyPr wrap="square" lIns="0" tIns="0" rIns="0" bIns="0" rtlCol="0" anchor="t"/>
          <a:lstStyle/>
          <a:p>
            <a:pPr indent="0" marL="0">
              <a:buNone/>
            </a:pPr>
            <a:r>
              <a:rPr lang="en-US" sz="1150" dirty="0">
                <a:solidFill>
                  <a:srgbClr val="5B6B7A"/>
                </a:solidFill>
                <a:latin typeface="Calibri" pitchFamily="34" charset="0"/>
                <a:ea typeface="Calibri" pitchFamily="34" charset="-122"/>
                <a:cs typeface="Calibri" pitchFamily="34" charset="-120"/>
              </a:rPr>
              <a:t>LLMLingua-2 bỏ token ít thông tin</a:t>
            </a:r>
            <a:endParaRPr lang="en-US" sz="1150" dirty="0"/>
          </a:p>
        </p:txBody>
      </p:sp>
      <p:sp>
        <p:nvSpPr>
          <p:cNvPr id="10" name="Shape 7"/>
          <p:cNvSpPr/>
          <p:nvPr/>
        </p:nvSpPr>
        <p:spPr>
          <a:xfrm>
            <a:off x="2135124" y="1417320"/>
            <a:ext cx="1517904" cy="1600200"/>
          </a:xfrm>
          <a:prstGeom prst="rect">
            <a:avLst/>
          </a:prstGeom>
          <a:solidFill>
            <a:srgbClr val="FFFFFF"/>
          </a:solidFill>
          <a:ln w="9525">
            <a:solidFill>
              <a:srgbClr val="DCE3EA"/>
            </a:solidFill>
            <a:prstDash val="solid"/>
          </a:ln>
        </p:spPr>
      </p:sp>
      <p:sp>
        <p:nvSpPr>
          <p:cNvPr id="11" name="Shape 8"/>
          <p:cNvSpPr/>
          <p:nvPr/>
        </p:nvSpPr>
        <p:spPr>
          <a:xfrm>
            <a:off x="2272284" y="1554480"/>
            <a:ext cx="384048" cy="384048"/>
          </a:xfrm>
          <a:prstGeom prst="ellipse">
            <a:avLst/>
          </a:prstGeom>
          <a:solidFill>
            <a:srgbClr val="1F6F8B"/>
          </a:solidFill>
          <a:ln w="12700">
            <a:solidFill>
              <a:srgbClr val="1F6F8B"/>
            </a:solidFill>
            <a:prstDash val="solid"/>
          </a:ln>
        </p:spPr>
      </p:sp>
      <p:sp>
        <p:nvSpPr>
          <p:cNvPr id="12" name="Text 9"/>
          <p:cNvSpPr txBox="1"/>
          <p:nvPr/>
        </p:nvSpPr>
        <p:spPr>
          <a:xfrm>
            <a:off x="2272284"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2272284" y="2011680"/>
            <a:ext cx="1243584" cy="32004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Chia chủ đề</a:t>
            </a:r>
            <a:endParaRPr lang="en-US" sz="1500" dirty="0"/>
          </a:p>
        </p:txBody>
      </p:sp>
      <p:sp>
        <p:nvSpPr>
          <p:cNvPr id="14" name="Text 11"/>
          <p:cNvSpPr txBox="1"/>
          <p:nvPr/>
        </p:nvSpPr>
        <p:spPr>
          <a:xfrm>
            <a:off x="2272284" y="2359152"/>
            <a:ext cx="1243584" cy="594360"/>
          </a:xfrm>
          <a:prstGeom prst="rect">
            <a:avLst/>
          </a:prstGeom>
          <a:noFill/>
          <a:ln/>
        </p:spPr>
        <p:txBody>
          <a:bodyPr wrap="square" lIns="0" tIns="0" rIns="0" bIns="0" rtlCol="0" anchor="t"/>
          <a:lstStyle/>
          <a:p>
            <a:pPr indent="0" marL="0">
              <a:buNone/>
            </a:pPr>
            <a:r>
              <a:rPr lang="en-US" sz="1150" dirty="0">
                <a:solidFill>
                  <a:srgbClr val="5B6B7A"/>
                </a:solidFill>
                <a:latin typeface="Calibri" pitchFamily="34" charset="0"/>
                <a:ea typeface="Calibri" pitchFamily="34" charset="-122"/>
                <a:cs typeface="Calibri" pitchFamily="34" charset="-120"/>
              </a:rPr>
              <a:t>Cắt hội thoại thành các topic</a:t>
            </a:r>
            <a:endParaRPr lang="en-US" sz="1150" dirty="0"/>
          </a:p>
        </p:txBody>
      </p:sp>
      <p:sp>
        <p:nvSpPr>
          <p:cNvPr id="15" name="Shape 12"/>
          <p:cNvSpPr/>
          <p:nvPr/>
        </p:nvSpPr>
        <p:spPr>
          <a:xfrm>
            <a:off x="3813048" y="1417320"/>
            <a:ext cx="1517904" cy="1600200"/>
          </a:xfrm>
          <a:prstGeom prst="rect">
            <a:avLst/>
          </a:prstGeom>
          <a:solidFill>
            <a:srgbClr val="FFFFFF"/>
          </a:solidFill>
          <a:ln w="9525">
            <a:solidFill>
              <a:srgbClr val="DCE3EA"/>
            </a:solidFill>
            <a:prstDash val="solid"/>
          </a:ln>
        </p:spPr>
      </p:sp>
      <p:sp>
        <p:nvSpPr>
          <p:cNvPr id="16" name="Shape 13"/>
          <p:cNvSpPr/>
          <p:nvPr/>
        </p:nvSpPr>
        <p:spPr>
          <a:xfrm>
            <a:off x="3950208" y="1554480"/>
            <a:ext cx="384048" cy="384048"/>
          </a:xfrm>
          <a:prstGeom prst="ellipse">
            <a:avLst/>
          </a:prstGeom>
          <a:solidFill>
            <a:srgbClr val="F2A541"/>
          </a:solidFill>
          <a:ln w="12700">
            <a:solidFill>
              <a:srgbClr val="F2A541"/>
            </a:solidFill>
            <a:prstDash val="solid"/>
          </a:ln>
        </p:spPr>
      </p:sp>
      <p:sp>
        <p:nvSpPr>
          <p:cNvPr id="17" name="Text 14"/>
          <p:cNvSpPr txBox="1"/>
          <p:nvPr/>
        </p:nvSpPr>
        <p:spPr>
          <a:xfrm>
            <a:off x="3950208"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3950208" y="2011680"/>
            <a:ext cx="1243584" cy="32004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Trích fact</a:t>
            </a:r>
            <a:endParaRPr lang="en-US" sz="1500" dirty="0"/>
          </a:p>
        </p:txBody>
      </p:sp>
      <p:sp>
        <p:nvSpPr>
          <p:cNvPr id="19" name="Text 16"/>
          <p:cNvSpPr txBox="1"/>
          <p:nvPr/>
        </p:nvSpPr>
        <p:spPr>
          <a:xfrm>
            <a:off x="3950208" y="2359152"/>
            <a:ext cx="1243584" cy="594360"/>
          </a:xfrm>
          <a:prstGeom prst="rect">
            <a:avLst/>
          </a:prstGeom>
          <a:noFill/>
          <a:ln/>
        </p:spPr>
        <p:txBody>
          <a:bodyPr wrap="square" lIns="0" tIns="0" rIns="0" bIns="0" rtlCol="0" anchor="t"/>
          <a:lstStyle/>
          <a:p>
            <a:pPr indent="0" marL="0">
              <a:buNone/>
            </a:pPr>
            <a:r>
              <a:rPr lang="en-US" sz="1150" dirty="0">
                <a:solidFill>
                  <a:srgbClr val="5B6B7A"/>
                </a:solidFill>
                <a:latin typeface="Calibri" pitchFamily="34" charset="0"/>
                <a:ea typeface="Calibri" pitchFamily="34" charset="-122"/>
                <a:cs typeface="Calibri" pitchFamily="34" charset="-120"/>
              </a:rPr>
              <a:t>LLM tóm fact + metadata cho mỗi topic</a:t>
            </a:r>
            <a:endParaRPr lang="en-US" sz="1150" dirty="0"/>
          </a:p>
        </p:txBody>
      </p:sp>
      <p:sp>
        <p:nvSpPr>
          <p:cNvPr id="20" name="Shape 17"/>
          <p:cNvSpPr/>
          <p:nvPr/>
        </p:nvSpPr>
        <p:spPr>
          <a:xfrm>
            <a:off x="5490972" y="1417320"/>
            <a:ext cx="1517904" cy="1600200"/>
          </a:xfrm>
          <a:prstGeom prst="rect">
            <a:avLst/>
          </a:prstGeom>
          <a:solidFill>
            <a:srgbClr val="FFFFFF"/>
          </a:solidFill>
          <a:ln w="9525">
            <a:solidFill>
              <a:srgbClr val="DCE3EA"/>
            </a:solidFill>
            <a:prstDash val="solid"/>
          </a:ln>
        </p:spPr>
      </p:sp>
      <p:sp>
        <p:nvSpPr>
          <p:cNvPr id="21" name="Shape 18"/>
          <p:cNvSpPr/>
          <p:nvPr/>
        </p:nvSpPr>
        <p:spPr>
          <a:xfrm>
            <a:off x="5628132" y="1554480"/>
            <a:ext cx="384048" cy="384048"/>
          </a:xfrm>
          <a:prstGeom prst="ellipse">
            <a:avLst/>
          </a:prstGeom>
          <a:solidFill>
            <a:srgbClr val="1F6F8B"/>
          </a:solidFill>
          <a:ln w="12700">
            <a:solidFill>
              <a:srgbClr val="1F6F8B"/>
            </a:solidFill>
            <a:prstDash val="solid"/>
          </a:ln>
        </p:spPr>
      </p:sp>
      <p:sp>
        <p:nvSpPr>
          <p:cNvPr id="22" name="Text 19"/>
          <p:cNvSpPr txBox="1"/>
          <p:nvPr/>
        </p:nvSpPr>
        <p:spPr>
          <a:xfrm>
            <a:off x="5628132"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0"/>
          <p:cNvSpPr txBox="1"/>
          <p:nvPr/>
        </p:nvSpPr>
        <p:spPr>
          <a:xfrm>
            <a:off x="5628132" y="2011680"/>
            <a:ext cx="1243584" cy="32004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Lập chỉ mục</a:t>
            </a:r>
            <a:endParaRPr lang="en-US" sz="1500" dirty="0"/>
          </a:p>
        </p:txBody>
      </p:sp>
      <p:sp>
        <p:nvSpPr>
          <p:cNvPr id="24" name="Text 21"/>
          <p:cNvSpPr txBox="1"/>
          <p:nvPr/>
        </p:nvSpPr>
        <p:spPr>
          <a:xfrm>
            <a:off x="5628132" y="2359152"/>
            <a:ext cx="1243584" cy="594360"/>
          </a:xfrm>
          <a:prstGeom prst="rect">
            <a:avLst/>
          </a:prstGeom>
          <a:noFill/>
          <a:ln/>
        </p:spPr>
        <p:txBody>
          <a:bodyPr wrap="square" lIns="0" tIns="0" rIns="0" bIns="0" rtlCol="0" anchor="t"/>
          <a:lstStyle/>
          <a:p>
            <a:pPr indent="0" marL="0">
              <a:buNone/>
            </a:pPr>
            <a:r>
              <a:rPr lang="en-US" sz="1150" dirty="0">
                <a:solidFill>
                  <a:srgbClr val="5B6B7A"/>
                </a:solidFill>
                <a:latin typeface="Calibri" pitchFamily="34" charset="0"/>
                <a:ea typeface="Calibri" pitchFamily="34" charset="-122"/>
                <a:cs typeface="Calibri" pitchFamily="34" charset="-120"/>
              </a:rPr>
              <a:t>Nhúng MiniLM, lưu Qdrant</a:t>
            </a:r>
            <a:endParaRPr lang="en-US" sz="1150" dirty="0"/>
          </a:p>
        </p:txBody>
      </p:sp>
      <p:sp>
        <p:nvSpPr>
          <p:cNvPr id="25" name="Shape 22"/>
          <p:cNvSpPr/>
          <p:nvPr/>
        </p:nvSpPr>
        <p:spPr>
          <a:xfrm>
            <a:off x="7168896" y="1417320"/>
            <a:ext cx="1517904" cy="1600200"/>
          </a:xfrm>
          <a:prstGeom prst="rect">
            <a:avLst/>
          </a:prstGeom>
          <a:solidFill>
            <a:srgbClr val="FFFFFF"/>
          </a:solidFill>
          <a:ln w="9525">
            <a:solidFill>
              <a:srgbClr val="DCE3EA"/>
            </a:solidFill>
            <a:prstDash val="solid"/>
          </a:ln>
        </p:spPr>
      </p:sp>
      <p:sp>
        <p:nvSpPr>
          <p:cNvPr id="26" name="Shape 23"/>
          <p:cNvSpPr/>
          <p:nvPr/>
        </p:nvSpPr>
        <p:spPr>
          <a:xfrm>
            <a:off x="7306056" y="1554480"/>
            <a:ext cx="384048" cy="384048"/>
          </a:xfrm>
          <a:prstGeom prst="ellipse">
            <a:avLst/>
          </a:prstGeom>
          <a:solidFill>
            <a:srgbClr val="1F6F8B"/>
          </a:solidFill>
          <a:ln w="12700">
            <a:solidFill>
              <a:srgbClr val="1F6F8B"/>
            </a:solidFill>
            <a:prstDash val="solid"/>
          </a:ln>
        </p:spPr>
      </p:sp>
      <p:sp>
        <p:nvSpPr>
          <p:cNvPr id="27" name="Text 24"/>
          <p:cNvSpPr txBox="1"/>
          <p:nvPr/>
        </p:nvSpPr>
        <p:spPr>
          <a:xfrm>
            <a:off x="7306056"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8" name="Text 25"/>
          <p:cNvSpPr txBox="1"/>
          <p:nvPr/>
        </p:nvSpPr>
        <p:spPr>
          <a:xfrm>
            <a:off x="7306056" y="2011680"/>
            <a:ext cx="1243584" cy="32004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Truy xuất</a:t>
            </a:r>
            <a:endParaRPr lang="en-US" sz="1500" dirty="0"/>
          </a:p>
        </p:txBody>
      </p:sp>
      <p:sp>
        <p:nvSpPr>
          <p:cNvPr id="29" name="Text 26"/>
          <p:cNvSpPr txBox="1"/>
          <p:nvPr/>
        </p:nvSpPr>
        <p:spPr>
          <a:xfrm>
            <a:off x="7306056" y="2359152"/>
            <a:ext cx="1243584" cy="594360"/>
          </a:xfrm>
          <a:prstGeom prst="rect">
            <a:avLst/>
          </a:prstGeom>
          <a:noFill/>
          <a:ln/>
        </p:spPr>
        <p:txBody>
          <a:bodyPr wrap="square" lIns="0" tIns="0" rIns="0" bIns="0" rtlCol="0" anchor="t"/>
          <a:lstStyle/>
          <a:p>
            <a:pPr indent="0" marL="0">
              <a:buNone/>
            </a:pPr>
            <a:r>
              <a:rPr lang="en-US" sz="1150" dirty="0">
                <a:solidFill>
                  <a:srgbClr val="5B6B7A"/>
                </a:solidFill>
                <a:latin typeface="Calibri" pitchFamily="34" charset="0"/>
                <a:ea typeface="Calibri" pitchFamily="34" charset="-122"/>
                <a:cs typeface="Calibri" pitchFamily="34" charset="-120"/>
              </a:rPr>
              <a:t>Top-20 ký ức → LLM trả lời</a:t>
            </a:r>
            <a:endParaRPr lang="en-US" sz="1150" dirty="0"/>
          </a:p>
        </p:txBody>
      </p:sp>
      <p:sp>
        <p:nvSpPr>
          <p:cNvPr id="30" name="Shape 27"/>
          <p:cNvSpPr/>
          <p:nvPr/>
        </p:nvSpPr>
        <p:spPr>
          <a:xfrm>
            <a:off x="457200" y="3291840"/>
            <a:ext cx="4023360" cy="1280160"/>
          </a:xfrm>
          <a:prstGeom prst="rect">
            <a:avLst/>
          </a:prstGeom>
          <a:solidFill>
            <a:srgbClr val="E7F0F4"/>
          </a:solidFill>
          <a:ln w="9525">
            <a:solidFill>
              <a:srgbClr val="DCE3EA"/>
            </a:solidFill>
            <a:prstDash val="solid"/>
          </a:ln>
        </p:spPr>
      </p:sp>
      <p:sp>
        <p:nvSpPr>
          <p:cNvPr id="31" name="Text 28"/>
          <p:cNvSpPr txBox="1"/>
          <p:nvPr/>
        </p:nvSpPr>
        <p:spPr>
          <a:xfrm>
            <a:off x="640080" y="3383280"/>
            <a:ext cx="3657600" cy="1097280"/>
          </a:xfrm>
          <a:prstGeom prst="rect">
            <a:avLst/>
          </a:prstGeom>
          <a:noFill/>
          <a:ln/>
        </p:spPr>
        <p:txBody>
          <a:bodyPr wrap="square" lIns="0" tIns="0" rIns="0" bIns="0" rtlCol="0" anchor="t"/>
          <a:lstStyle/>
          <a:p>
            <a:pPr indent="0" marL="0">
              <a:buNone/>
            </a:pPr>
            <a:r>
              <a:rPr lang="en-US" sz="1250" b="1" dirty="0">
                <a:solidFill>
                  <a:srgbClr val="10243E"/>
                </a:solidFill>
                <a:latin typeface="Calibri" pitchFamily="34" charset="0"/>
                <a:ea typeface="Calibri" pitchFamily="34" charset="-122"/>
                <a:cs typeface="Calibri" pitchFamily="34" charset="-120"/>
              </a:rPr>
              <a:t>Giới hạn quan trọng</a:t>
            </a:r>
            <a:endParaRPr lang="en-US" sz="1250" dirty="0"/>
          </a:p>
          <a:p>
            <a:pPr indent="0" marL="0">
              <a:buNone/>
            </a:pPr>
            <a:r>
              <a:rPr lang="en-US" sz="1250" dirty="0">
                <a:solidFill>
                  <a:srgbClr val="1B2B3A"/>
                </a:solidFill>
                <a:latin typeface="Calibri" pitchFamily="34" charset="0"/>
                <a:ea typeface="Calibri" pitchFamily="34" charset="-122"/>
                <a:cs typeface="Calibri" pitchFamily="34" charset="-120"/>
              </a:rPr>
              <a:t>Chỉ lưu lượt của người dùng (user_only). Nội dung do trợ lý nói không vào bộ nhớ.</a:t>
            </a:r>
            <a:endParaRPr lang="en-US" sz="1250" dirty="0"/>
          </a:p>
        </p:txBody>
      </p:sp>
      <p:sp>
        <p:nvSpPr>
          <p:cNvPr id="32" name="Shape 29"/>
          <p:cNvSpPr/>
          <p:nvPr/>
        </p:nvSpPr>
        <p:spPr>
          <a:xfrm>
            <a:off x="4663440" y="3291840"/>
            <a:ext cx="4023360" cy="1280160"/>
          </a:xfrm>
          <a:prstGeom prst="rect">
            <a:avLst/>
          </a:prstGeom>
          <a:solidFill>
            <a:srgbClr val="E7F0F4"/>
          </a:solidFill>
          <a:ln w="9525">
            <a:solidFill>
              <a:srgbClr val="DCE3EA"/>
            </a:solidFill>
            <a:prstDash val="solid"/>
          </a:ln>
        </p:spPr>
      </p:sp>
      <p:sp>
        <p:nvSpPr>
          <p:cNvPr id="33" name="Text 30"/>
          <p:cNvSpPr txBox="1"/>
          <p:nvPr/>
        </p:nvSpPr>
        <p:spPr>
          <a:xfrm>
            <a:off x="4846320" y="3383280"/>
            <a:ext cx="3657600" cy="1097280"/>
          </a:xfrm>
          <a:prstGeom prst="rect">
            <a:avLst/>
          </a:prstGeom>
          <a:noFill/>
          <a:ln/>
        </p:spPr>
        <p:txBody>
          <a:bodyPr wrap="square" lIns="0" tIns="0" rIns="0" bIns="0" rtlCol="0" anchor="t"/>
          <a:lstStyle/>
          <a:p>
            <a:pPr indent="0" marL="0">
              <a:buNone/>
            </a:pPr>
            <a:r>
              <a:rPr lang="en-US" sz="1250" b="1" dirty="0">
                <a:solidFill>
                  <a:srgbClr val="10243E"/>
                </a:solidFill>
                <a:latin typeface="Calibri" pitchFamily="34" charset="0"/>
                <a:ea typeface="Calibri" pitchFamily="34" charset="-122"/>
                <a:cs typeface="Calibri" pitchFamily="34" charset="-120"/>
              </a:rPr>
              <a:t>Vì sao chọn làm baseline</a:t>
            </a:r>
            <a:endParaRPr lang="en-US" sz="1250" dirty="0"/>
          </a:p>
          <a:p>
            <a:pPr indent="0" marL="0">
              <a:buNone/>
            </a:pPr>
            <a:r>
              <a:rPr lang="en-US" sz="1250" dirty="0">
                <a:solidFill>
                  <a:srgbClr val="1B2B3A"/>
                </a:solidFill>
                <a:latin typeface="Calibri" pitchFamily="34" charset="0"/>
                <a:ea typeface="Calibri" pitchFamily="34" charset="-122"/>
                <a:cs typeface="Calibri" pitchFamily="34" charset="-120"/>
              </a:rPr>
              <a:t>Đã bình duyệt, có mã nguồn mở, chạy được trên LongMemEval. Đối chứng tốt cho hệ dựa trên đồ thị của nhóm.</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SO SÁNH KIẾN TRÚC</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Hai hệ khác nhau ở những điểm nào</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43000"/>
          <a:ext cx="8321040" cy="914400"/>
        </p:xfrm>
        <a:graphic>
          <a:graphicData uri="http://schemas.openxmlformats.org/drawingml/2006/table">
            <a:tbl>
              <a:tblPr/>
              <a:tblGrid>
                <a:gridCol w="1920240"/>
                <a:gridCol w="2926080"/>
                <a:gridCol w="347472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LightMem</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APEX-MEM</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420624">
                <a:tc>
                  <a:txBody>
                    <a:bodyPr/>
                    <a:lstStyle/>
                    <a:p>
                      <a:pPr indent="0" marL="0">
                        <a:buNone/>
                      </a:pPr>
                      <a:r>
                        <a:rPr lang="en-US" sz="1050" b="1" dirty="0">
                          <a:solidFill>
                            <a:srgbClr val="10243E"/>
                          </a:solidFill>
                          <a:latin typeface="Calibri" pitchFamily="34" charset="0"/>
                          <a:ea typeface="Calibri" pitchFamily="34" charset="-122"/>
                          <a:cs typeface="Calibri" pitchFamily="34" charset="-120"/>
                        </a:rPr>
                        <a:t>Dạng ký ức</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Đoạn tóm tắt ngắn: fact kèm metadata, đã nén trước khi lưu</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Đồ thị thuộc tính: thực thể, sự kiện, fact có mốc thời gian và bằng chứng (7 bảng SQLite)</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420624">
                <a:tc>
                  <a:txBody>
                    <a:bodyPr/>
                    <a:lstStyle/>
                    <a:p>
                      <a:pPr indent="0" marL="0">
                        <a:buNone/>
                      </a:pPr>
                      <a:r>
                        <a:rPr lang="en-US" sz="1050" b="1" dirty="0">
                          <a:solidFill>
                            <a:srgbClr val="10243E"/>
                          </a:solidFill>
                          <a:latin typeface="Calibri" pitchFamily="34" charset="0"/>
                          <a:ea typeface="Calibri" pitchFamily="34" charset="-122"/>
                          <a:cs typeface="Calibri" pitchFamily="34" charset="-120"/>
                        </a:rPr>
                        <a:t>Lượt được lưu</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b="1" dirty="0">
                          <a:solidFill>
                            <a:srgbClr val="C8553D"/>
                          </a:solidFill>
                          <a:latin typeface="Calibri" pitchFamily="34" charset="0"/>
                          <a:ea typeface="Calibri" pitchFamily="34" charset="-122"/>
                          <a:cs typeface="Calibri" pitchFamily="34" charset="-120"/>
                        </a:rPr>
                        <a:t>Chỉ lượt người dùng</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b="1" dirty="0">
                          <a:solidFill>
                            <a:srgbClr val="1F6F8B"/>
                          </a:solidFill>
                          <a:latin typeface="Calibri" pitchFamily="34" charset="0"/>
                          <a:ea typeface="Calibri" pitchFamily="34" charset="-122"/>
                          <a:cs typeface="Calibri" pitchFamily="34" charset="-120"/>
                        </a:rPr>
                        <a:t>Cả lượt người dùng và lượt trợ lý</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420624">
                <a:tc>
                  <a:txBody>
                    <a:bodyPr/>
                    <a:lstStyle/>
                    <a:p>
                      <a:pPr indent="0" marL="0">
                        <a:buNone/>
                      </a:pPr>
                      <a:r>
                        <a:rPr lang="en-US" sz="1050" b="1" dirty="0">
                          <a:solidFill>
                            <a:srgbClr val="10243E"/>
                          </a:solidFill>
                          <a:latin typeface="Calibri" pitchFamily="34" charset="0"/>
                          <a:ea typeface="Calibri" pitchFamily="34" charset="-122"/>
                          <a:cs typeface="Calibri" pitchFamily="34" charset="-120"/>
                        </a:rPr>
                        <a:t>Biết câu hỏi lúc dựng</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b="1" dirty="0">
                          <a:solidFill>
                            <a:srgbClr val="C8553D"/>
                          </a:solidFill>
                          <a:latin typeface="Calibri" pitchFamily="34" charset="0"/>
                          <a:ea typeface="Calibri" pitchFamily="34" charset="-122"/>
                          <a:cs typeface="Calibri" pitchFamily="34" charset="-120"/>
                        </a:rPr>
                        <a:t>Không: dựng từ toàn bộ haystack</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b="1" dirty="0">
                          <a:solidFill>
                            <a:srgbClr val="1F6F8B"/>
                          </a:solidFill>
                          <a:latin typeface="Calibri" pitchFamily="34" charset="0"/>
                          <a:ea typeface="Calibri" pitchFamily="34" charset="-122"/>
                          <a:cs typeface="Calibri" pitchFamily="34" charset="-120"/>
                        </a:rPr>
                        <a:t>Có: lọc còn khoảng 8 trên 47 phiên theo độ liên quan với câu hỏi</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420624">
                <a:tc>
                  <a:txBody>
                    <a:bodyPr/>
                    <a:lstStyle/>
                    <a:p>
                      <a:pPr indent="0" marL="0">
                        <a:buNone/>
                      </a:pPr>
                      <a:r>
                        <a:rPr lang="en-US" sz="1050" b="1" dirty="0">
                          <a:solidFill>
                            <a:srgbClr val="10243E"/>
                          </a:solidFill>
                          <a:latin typeface="Calibri" pitchFamily="34" charset="0"/>
                          <a:ea typeface="Calibri" pitchFamily="34" charset="-122"/>
                          <a:cs typeface="Calibri" pitchFamily="34" charset="-120"/>
                        </a:rPr>
                        <a:t>Khi thông tin đổi</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Mỗi fact lưu riêng; bước gộp ký ức offline là script riêng, không chạy trong lần đo này</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Chỉ ghi thêm, giữ mọi phiên bản; agent chọn bản hợp lệ lúc đọc</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420624">
                <a:tc>
                  <a:txBody>
                    <a:bodyPr/>
                    <a:lstStyle/>
                    <a:p>
                      <a:pPr indent="0" marL="0">
                        <a:buNone/>
                      </a:pPr>
                      <a:r>
                        <a:rPr lang="en-US" sz="1050" b="1" dirty="0">
                          <a:solidFill>
                            <a:srgbClr val="10243E"/>
                          </a:solidFill>
                          <a:latin typeface="Calibri" pitchFamily="34" charset="0"/>
                          <a:ea typeface="Calibri" pitchFamily="34" charset="-122"/>
                          <a:cs typeface="Calibri" pitchFamily="34" charset="-120"/>
                        </a:rPr>
                        <a:t>Cách truy xuất</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Một lần tìm vector, lấy 20 ký ức gần nhất</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Agent ReAct tối đa 20 bước, 5 công cụ: xem lược đồ, tra thực thể, SQL, tìm lai, tìm thuộc tính</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420624">
                <a:tc>
                  <a:txBody>
                    <a:bodyPr/>
                    <a:lstStyle/>
                    <a:p>
                      <a:pPr indent="0" marL="0">
                        <a:buNone/>
                      </a:pPr>
                      <a:r>
                        <a:rPr lang="en-US" sz="1050" b="1" dirty="0">
                          <a:solidFill>
                            <a:srgbClr val="10243E"/>
                          </a:solidFill>
                          <a:latin typeface="Calibri" pitchFamily="34" charset="0"/>
                          <a:ea typeface="Calibri" pitchFamily="34" charset="-122"/>
                          <a:cs typeface="Calibri" pitchFamily="34" charset="-120"/>
                        </a:rPr>
                        <a:t>Lời gọi LLM khi dựng, mỗi câu</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5B6B7A"/>
                          </a:solidFill>
                          <a:latin typeface="Calibri" pitchFamily="34" charset="0"/>
                          <a:ea typeface="Calibri" pitchFamily="34" charset="-122"/>
                          <a:cs typeface="Calibri" pitchFamily="34" charset="-120"/>
                        </a:rPr>
                        <a:t>chưa ghi</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050" dirty="0">
                          <a:solidFill>
                            <a:srgbClr val="1B2B3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
        <p:nvSpPr>
          <p:cNvPr id="6" name="Shape 2"/>
          <p:cNvSpPr/>
          <p:nvPr/>
        </p:nvSpPr>
        <p:spPr>
          <a:xfrm>
            <a:off x="365760" y="4297680"/>
            <a:ext cx="8321040" cy="594360"/>
          </a:xfrm>
          <a:prstGeom prst="rect">
            <a:avLst/>
          </a:prstGeom>
          <a:solidFill>
            <a:srgbClr val="FDF3E1"/>
          </a:solidFill>
          <a:ln w="9525">
            <a:solidFill>
              <a:srgbClr val="DCE3EA"/>
            </a:solidFill>
            <a:prstDash val="solid"/>
          </a:ln>
        </p:spPr>
      </p:sp>
      <p:sp>
        <p:nvSpPr>
          <p:cNvPr id="7" name="Text 3"/>
          <p:cNvSpPr txBox="1"/>
          <p:nvPr/>
        </p:nvSpPr>
        <p:spPr>
          <a:xfrm>
            <a:off x="548640" y="4325112"/>
            <a:ext cx="7955280" cy="548640"/>
          </a:xfrm>
          <a:prstGeom prst="rect">
            <a:avLst/>
          </a:prstGeom>
          <a:noFill/>
          <a:ln/>
        </p:spPr>
        <p:txBody>
          <a:bodyPr wrap="square" lIns="0" tIns="0" rIns="0" bIns="0" rtlCol="0" anchor="ctr"/>
          <a:lstStyle/>
          <a:p>
            <a:pPr indent="0" marL="0">
              <a:buNone/>
            </a:pPr>
            <a:r>
              <a:rPr lang="en-US" sz="1050" b="1" dirty="0">
                <a:solidFill>
                  <a:srgbClr val="C8553D"/>
                </a:solidFill>
                <a:latin typeface="Calibri" pitchFamily="34" charset="0"/>
                <a:ea typeface="Calibri" pitchFamily="34" charset="-122"/>
                <a:cs typeface="Calibri" pitchFamily="34" charset="-120"/>
              </a:rPr>
              <a:t>Hai khác biệt lớn nhất: </a:t>
            </a:r>
            <a:pPr indent="0" marL="0">
              <a:buNone/>
            </a:pPr>
            <a:r>
              <a:rPr lang="en-US" sz="1050" dirty="0">
                <a:solidFill>
                  <a:srgbClr val="1B2B3A"/>
                </a:solidFill>
                <a:latin typeface="Calibri" pitchFamily="34" charset="0"/>
                <a:ea typeface="Calibri" pitchFamily="34" charset="-122"/>
                <a:cs typeface="Calibri" pitchFamily="34" charset="-120"/>
              </a:rPr>
              <a:t>lượt được lưu và việc biết câu hỏi lúc dựng. Cả hai là khác biệt về giao thức chứ không phải về đồ thị, đều có thể ảnh hưởng kết quả, và phép so sánh hiện tại chưa tách được từng yếu tố.</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CÁCH CHẠY</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Thiết lập thực nghiệm</a:t>
            </a:r>
            <a:endParaRPr lang="en-US" sz="2600" dirty="0"/>
          </a:p>
        </p:txBody>
      </p:sp>
      <p:sp>
        <p:nvSpPr>
          <p:cNvPr id="5" name="Text 2"/>
          <p:cNvSpPr txBox="1"/>
          <p:nvPr/>
        </p:nvSpPr>
        <p:spPr>
          <a:xfrm>
            <a:off x="457200" y="1188720"/>
            <a:ext cx="2103120" cy="457200"/>
          </a:xfrm>
          <a:prstGeom prst="rect">
            <a:avLst/>
          </a:prstGeom>
          <a:noFill/>
          <a:ln/>
        </p:spPr>
        <p:txBody>
          <a:bodyPr wrap="square" lIns="0" tIns="0" rIns="0" bIns="0" rtlCol="0" anchor="ctr"/>
          <a:lstStyle/>
          <a:p>
            <a:pPr indent="0" marL="0">
              <a:buNone/>
            </a:pPr>
            <a:r>
              <a:rPr lang="en-US" sz="1200" b="1" dirty="0">
                <a:solidFill>
                  <a:srgbClr val="1F6F8B"/>
                </a:solidFill>
                <a:latin typeface="Calibri" pitchFamily="34" charset="0"/>
                <a:ea typeface="Calibri" pitchFamily="34" charset="-122"/>
                <a:cs typeface="Calibri" pitchFamily="34" charset="-120"/>
              </a:rPr>
              <a:t>Dữ liệu</a:t>
            </a:r>
            <a:endParaRPr lang="en-US" sz="1200" dirty="0"/>
          </a:p>
        </p:txBody>
      </p:sp>
      <p:sp>
        <p:nvSpPr>
          <p:cNvPr id="6" name="Text 3"/>
          <p:cNvSpPr txBox="1"/>
          <p:nvPr/>
        </p:nvSpPr>
        <p:spPr>
          <a:xfrm>
            <a:off x="2560320" y="118872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LongMemEval-S, 500 câu, mỗi câu một haystack ~115K token</a:t>
            </a:r>
            <a:endParaRPr lang="en-US" sz="1150" dirty="0"/>
          </a:p>
        </p:txBody>
      </p:sp>
      <p:sp>
        <p:nvSpPr>
          <p:cNvPr id="7" name="Text 4"/>
          <p:cNvSpPr txBox="1"/>
          <p:nvPr/>
        </p:nvSpPr>
        <p:spPr>
          <a:xfrm>
            <a:off x="457200" y="1691640"/>
            <a:ext cx="2103120" cy="457200"/>
          </a:xfrm>
          <a:prstGeom prst="rect">
            <a:avLst/>
          </a:prstGeom>
          <a:noFill/>
          <a:ln/>
        </p:spPr>
        <p:txBody>
          <a:bodyPr wrap="square" lIns="0" tIns="0" rIns="0" bIns="0" rtlCol="0" anchor="ctr"/>
          <a:lstStyle/>
          <a:p>
            <a:pPr indent="0" marL="0">
              <a:buNone/>
            </a:pPr>
            <a:r>
              <a:rPr lang="en-US" sz="1200" b="1" dirty="0">
                <a:solidFill>
                  <a:srgbClr val="1F6F8B"/>
                </a:solidFill>
                <a:latin typeface="Calibri" pitchFamily="34" charset="0"/>
                <a:ea typeface="Calibri" pitchFamily="34" charset="-122"/>
                <a:cs typeface="Calibri" pitchFamily="34" charset="-120"/>
              </a:rPr>
              <a:t>Chia tập</a:t>
            </a:r>
            <a:endParaRPr lang="en-US" sz="1200" dirty="0"/>
          </a:p>
        </p:txBody>
      </p:sp>
      <p:sp>
        <p:nvSpPr>
          <p:cNvPr id="8" name="Text 5"/>
          <p:cNvSpPr txBox="1"/>
          <p:nvPr/>
        </p:nvSpPr>
        <p:spPr>
          <a:xfrm>
            <a:off x="2560320" y="169164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Dev 150 / test 350, phân tầng theo loại, seed 42 (khớp split.json của nhóm)</a:t>
            </a:r>
            <a:endParaRPr lang="en-US" sz="1150" dirty="0"/>
          </a:p>
        </p:txBody>
      </p:sp>
      <p:sp>
        <p:nvSpPr>
          <p:cNvPr id="9" name="Text 6"/>
          <p:cNvSpPr txBox="1"/>
          <p:nvPr/>
        </p:nvSpPr>
        <p:spPr>
          <a:xfrm>
            <a:off x="457200" y="2194560"/>
            <a:ext cx="2103120" cy="457200"/>
          </a:xfrm>
          <a:prstGeom prst="rect">
            <a:avLst/>
          </a:prstGeom>
          <a:noFill/>
          <a:ln/>
        </p:spPr>
        <p:txBody>
          <a:bodyPr wrap="square" lIns="0" tIns="0" rIns="0" bIns="0" rtlCol="0" anchor="ctr"/>
          <a:lstStyle/>
          <a:p>
            <a:pPr indent="0" marL="0">
              <a:buNone/>
            </a:pPr>
            <a:r>
              <a:rPr lang="en-US" sz="1200" b="1" dirty="0">
                <a:solidFill>
                  <a:srgbClr val="1F6F8B"/>
                </a:solidFill>
                <a:latin typeface="Calibri" pitchFamily="34" charset="0"/>
                <a:ea typeface="Calibri" pitchFamily="34" charset="-122"/>
                <a:cs typeface="Calibri" pitchFamily="34" charset="-120"/>
              </a:rPr>
              <a:t>Model trả lời (cả hai hệ)</a:t>
            </a:r>
            <a:endParaRPr lang="en-US" sz="1200" dirty="0"/>
          </a:p>
        </p:txBody>
      </p:sp>
      <p:sp>
        <p:nvSpPr>
          <p:cNvPr id="10" name="Text 7"/>
          <p:cNvSpPr txBox="1"/>
          <p:nvPr/>
        </p:nvSpPr>
        <p:spPr>
          <a:xfrm>
            <a:off x="2560320" y="219456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cx/gpt-5.6-luna</a:t>
            </a:r>
            <a:endParaRPr lang="en-US" sz="1150" dirty="0"/>
          </a:p>
        </p:txBody>
      </p:sp>
      <p:sp>
        <p:nvSpPr>
          <p:cNvPr id="11" name="Text 8"/>
          <p:cNvSpPr txBox="1"/>
          <p:nvPr/>
        </p:nvSpPr>
        <p:spPr>
          <a:xfrm>
            <a:off x="457200" y="2697480"/>
            <a:ext cx="2103120" cy="457200"/>
          </a:xfrm>
          <a:prstGeom prst="rect">
            <a:avLst/>
          </a:prstGeom>
          <a:noFill/>
          <a:ln/>
        </p:spPr>
        <p:txBody>
          <a:bodyPr wrap="square" lIns="0" tIns="0" rIns="0" bIns="0" rtlCol="0" anchor="ctr"/>
          <a:lstStyle/>
          <a:p>
            <a:pPr indent="0" marL="0">
              <a:buNone/>
            </a:pPr>
            <a:r>
              <a:rPr lang="en-US" sz="1200" b="1" dirty="0">
                <a:solidFill>
                  <a:srgbClr val="1F6F8B"/>
                </a:solidFill>
                <a:latin typeface="Calibri" pitchFamily="34" charset="0"/>
                <a:ea typeface="Calibri" pitchFamily="34" charset="-122"/>
                <a:cs typeface="Calibri" pitchFamily="34" charset="-120"/>
              </a:rPr>
              <a:t>Model chấm (cả hai hệ)</a:t>
            </a:r>
            <a:endParaRPr lang="en-US" sz="1200" dirty="0"/>
          </a:p>
        </p:txBody>
      </p:sp>
      <p:sp>
        <p:nvSpPr>
          <p:cNvPr id="12" name="Text 9"/>
          <p:cNvSpPr txBox="1"/>
          <p:nvPr/>
        </p:nvSpPr>
        <p:spPr>
          <a:xfrm>
            <a:off x="2560320" y="269748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cx/gpt-5.6-terra — khác model trả lời</a:t>
            </a:r>
            <a:endParaRPr lang="en-US" sz="1150" dirty="0"/>
          </a:p>
        </p:txBody>
      </p:sp>
      <p:sp>
        <p:nvSpPr>
          <p:cNvPr id="13" name="Text 10"/>
          <p:cNvSpPr txBox="1"/>
          <p:nvPr/>
        </p:nvSpPr>
        <p:spPr>
          <a:xfrm>
            <a:off x="457200" y="3200400"/>
            <a:ext cx="2103120" cy="457200"/>
          </a:xfrm>
          <a:prstGeom prst="rect">
            <a:avLst/>
          </a:prstGeom>
          <a:noFill/>
          <a:ln/>
        </p:spPr>
        <p:txBody>
          <a:bodyPr wrap="square" lIns="0" tIns="0" rIns="0" bIns="0" rtlCol="0" anchor="ctr"/>
          <a:lstStyle/>
          <a:p>
            <a:pPr indent="0" marL="0">
              <a:buNone/>
            </a:pPr>
            <a:r>
              <a:rPr lang="en-US" sz="1200" b="1" dirty="0">
                <a:solidFill>
                  <a:srgbClr val="1F6F8B"/>
                </a:solidFill>
                <a:latin typeface="Calibri" pitchFamily="34" charset="0"/>
                <a:ea typeface="Calibri" pitchFamily="34" charset="-122"/>
                <a:cs typeface="Calibri" pitchFamily="34" charset="-120"/>
              </a:rPr>
              <a:t>Prompt chấm</a:t>
            </a:r>
            <a:endParaRPr lang="en-US" sz="1200" dirty="0"/>
          </a:p>
        </p:txBody>
      </p:sp>
      <p:sp>
        <p:nvSpPr>
          <p:cNvPr id="14" name="Text 11"/>
          <p:cNvSpPr txBox="1"/>
          <p:nvPr/>
        </p:nvSpPr>
        <p:spPr>
          <a:xfrm>
            <a:off x="2560320" y="320040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Prompt chính thức của LongMemEval, theo từng loại câu hỏi</a:t>
            </a:r>
            <a:endParaRPr lang="en-US" sz="1150" dirty="0"/>
          </a:p>
        </p:txBody>
      </p:sp>
      <p:sp>
        <p:nvSpPr>
          <p:cNvPr id="15" name="Text 12"/>
          <p:cNvSpPr txBox="1"/>
          <p:nvPr/>
        </p:nvSpPr>
        <p:spPr>
          <a:xfrm>
            <a:off x="457200" y="3703320"/>
            <a:ext cx="2103120" cy="457200"/>
          </a:xfrm>
          <a:prstGeom prst="rect">
            <a:avLst/>
          </a:prstGeom>
          <a:noFill/>
          <a:ln/>
        </p:spPr>
        <p:txBody>
          <a:bodyPr wrap="square" lIns="0" tIns="0" rIns="0" bIns="0" rtlCol="0" anchor="ctr"/>
          <a:lstStyle/>
          <a:p>
            <a:pPr indent="0" marL="0">
              <a:buNone/>
            </a:pPr>
            <a:r>
              <a:rPr lang="en-US" sz="1200" b="1" dirty="0">
                <a:solidFill>
                  <a:srgbClr val="F2A541"/>
                </a:solidFill>
                <a:latin typeface="Calibri" pitchFamily="34" charset="0"/>
                <a:ea typeface="Calibri" pitchFamily="34" charset="-122"/>
                <a:cs typeface="Calibri" pitchFamily="34" charset="-120"/>
              </a:rPr>
              <a:t>LightMem</a:t>
            </a:r>
            <a:endParaRPr lang="en-US" sz="1200" dirty="0"/>
          </a:p>
        </p:txBody>
      </p:sp>
      <p:sp>
        <p:nvSpPr>
          <p:cNvPr id="16" name="Text 13"/>
          <p:cNvSpPr txBox="1"/>
          <p:nvPr/>
        </p:nvSpPr>
        <p:spPr>
          <a:xfrm>
            <a:off x="2560320" y="370332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Top-20 ký ức, MiniLM. Chỉ lưu lượt của người dùng</a:t>
            </a:r>
            <a:endParaRPr lang="en-US" sz="1150" dirty="0"/>
          </a:p>
        </p:txBody>
      </p:sp>
      <p:sp>
        <p:nvSpPr>
          <p:cNvPr id="17" name="Text 14"/>
          <p:cNvSpPr txBox="1"/>
          <p:nvPr/>
        </p:nvSpPr>
        <p:spPr>
          <a:xfrm>
            <a:off x="457200" y="4206240"/>
            <a:ext cx="2103120" cy="457200"/>
          </a:xfrm>
          <a:prstGeom prst="rect">
            <a:avLst/>
          </a:prstGeom>
          <a:noFill/>
          <a:ln/>
        </p:spPr>
        <p:txBody>
          <a:bodyPr wrap="square" lIns="0" tIns="0" rIns="0" bIns="0" rtlCol="0" anchor="ctr"/>
          <a:lstStyle/>
          <a:p>
            <a:pPr indent="0" marL="0">
              <a:buNone/>
            </a:pPr>
            <a:r>
              <a:rPr lang="en-US" sz="1200" b="1" dirty="0">
                <a:solidFill>
                  <a:srgbClr val="F2A541"/>
                </a:solidFill>
                <a:latin typeface="Calibri" pitchFamily="34" charset="0"/>
                <a:ea typeface="Calibri" pitchFamily="34" charset="-122"/>
                <a:cs typeface="Calibri" pitchFamily="34" charset="-120"/>
              </a:rPr>
              <a:t>APEX-MEM</a:t>
            </a:r>
            <a:endParaRPr lang="en-US" sz="1200" dirty="0"/>
          </a:p>
        </p:txBody>
      </p:sp>
      <p:sp>
        <p:nvSpPr>
          <p:cNvPr id="18" name="Text 15"/>
          <p:cNvSpPr txBox="1"/>
          <p:nvPr/>
        </p:nvSpPr>
        <p:spPr>
          <a:xfrm>
            <a:off x="2560320" y="4206240"/>
            <a:ext cx="3749040" cy="457200"/>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Đồ thị SQLite, agent ReAct ≤ 20 bước, BGE-M3. Lưu cả lượt trợ lý</a:t>
            </a:r>
            <a:endParaRPr lang="en-US" sz="1150" dirty="0"/>
          </a:p>
        </p:txBody>
      </p:sp>
      <p:sp>
        <p:nvSpPr>
          <p:cNvPr id="19" name="Shape 16"/>
          <p:cNvSpPr/>
          <p:nvPr/>
        </p:nvSpPr>
        <p:spPr>
          <a:xfrm>
            <a:off x="6492240" y="1280160"/>
            <a:ext cx="2194560" cy="3200400"/>
          </a:xfrm>
          <a:prstGeom prst="rect">
            <a:avLst/>
          </a:prstGeom>
          <a:solidFill>
            <a:srgbClr val="FFFFFF"/>
          </a:solidFill>
          <a:ln w="9525">
            <a:solidFill>
              <a:srgbClr val="DCE3EA"/>
            </a:solidFill>
            <a:prstDash val="solid"/>
          </a:ln>
        </p:spPr>
      </p:sp>
      <p:sp>
        <p:nvSpPr>
          <p:cNvPr id="20" name="Text 17"/>
          <p:cNvSpPr txBox="1"/>
          <p:nvPr/>
        </p:nvSpPr>
        <p:spPr>
          <a:xfrm>
            <a:off x="6492240" y="1463040"/>
            <a:ext cx="2194560" cy="822960"/>
          </a:xfrm>
          <a:prstGeom prst="rect">
            <a:avLst/>
          </a:prstGeom>
          <a:noFill/>
          <a:ln/>
        </p:spPr>
        <p:txBody>
          <a:bodyPr wrap="square" lIns="0" tIns="0" rIns="0" bIns="0" rtlCol="0" anchor="ctr"/>
          <a:lstStyle/>
          <a:p>
            <a:pPr algn="ctr" indent="0" marL="0">
              <a:buNone/>
            </a:pPr>
            <a:r>
              <a:rPr lang="en-US" sz="5400" b="1" dirty="0">
                <a:solidFill>
                  <a:srgbClr val="1F6F8B"/>
                </a:solidFill>
                <a:latin typeface="Cambria" pitchFamily="34" charset="0"/>
                <a:ea typeface="Cambria" pitchFamily="34" charset="-122"/>
                <a:cs typeface="Cambria" pitchFamily="34" charset="-120"/>
              </a:rPr>
              <a:t>150</a:t>
            </a:r>
            <a:endParaRPr lang="en-US" sz="5400" dirty="0"/>
          </a:p>
        </p:txBody>
      </p:sp>
      <p:sp>
        <p:nvSpPr>
          <p:cNvPr id="21" name="Text 18"/>
          <p:cNvSpPr txBox="1"/>
          <p:nvPr/>
        </p:nvSpPr>
        <p:spPr>
          <a:xfrm>
            <a:off x="6492240" y="2286000"/>
            <a:ext cx="2194560" cy="36576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câu dev để chạy và chỉnh</a:t>
            </a:r>
            <a:endParaRPr lang="en-US" sz="1200" dirty="0"/>
          </a:p>
        </p:txBody>
      </p:sp>
      <p:sp>
        <p:nvSpPr>
          <p:cNvPr id="22" name="Text 19"/>
          <p:cNvSpPr txBox="1"/>
          <p:nvPr/>
        </p:nvSpPr>
        <p:spPr>
          <a:xfrm>
            <a:off x="6492240" y="2926080"/>
            <a:ext cx="2194560" cy="822960"/>
          </a:xfrm>
          <a:prstGeom prst="rect">
            <a:avLst/>
          </a:prstGeom>
          <a:noFill/>
          <a:ln/>
        </p:spPr>
        <p:txBody>
          <a:bodyPr wrap="square" lIns="0" tIns="0" rIns="0" bIns="0" rtlCol="0" anchor="ctr"/>
          <a:lstStyle/>
          <a:p>
            <a:pPr algn="ctr" indent="0" marL="0">
              <a:buNone/>
            </a:pPr>
            <a:r>
              <a:rPr lang="en-US" sz="5400" b="1" dirty="0">
                <a:solidFill>
                  <a:srgbClr val="5B6B7A"/>
                </a:solidFill>
                <a:latin typeface="Cambria" pitchFamily="34" charset="0"/>
                <a:ea typeface="Cambria" pitchFamily="34" charset="-122"/>
                <a:cs typeface="Cambria" pitchFamily="34" charset="-120"/>
              </a:rPr>
              <a:t>350</a:t>
            </a:r>
            <a:endParaRPr lang="en-US" sz="5400" dirty="0"/>
          </a:p>
        </p:txBody>
      </p:sp>
      <p:sp>
        <p:nvSpPr>
          <p:cNvPr id="23" name="Text 20"/>
          <p:cNvSpPr txBox="1"/>
          <p:nvPr/>
        </p:nvSpPr>
        <p:spPr>
          <a:xfrm>
            <a:off x="6492240" y="3749040"/>
            <a:ext cx="2194560" cy="36576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câu test, khóa đến tuần 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SO SÁNH TRỰC TIẾP</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APEX-MEM 84,7%, LightMem 81,3%: chưa khác biệt</a:t>
            </a:r>
            <a:endParaRPr lang="en-US" sz="2600" dirty="0"/>
          </a:p>
        </p:txBody>
      </p:sp>
      <p:graphicFrame>
        <p:nvGraphicFramePr>
          <p:cNvPr id="5" name="Chart 0" descr=""/>
          <p:cNvGraphicFramePr/>
          <p:nvPr/>
        </p:nvGraphicFramePr>
        <p:xfrm>
          <a:off x="365760" y="1097280"/>
          <a:ext cx="5760720" cy="315468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309360" y="1188720"/>
            <a:ext cx="2377440" cy="1417320"/>
          </a:xfrm>
          <a:prstGeom prst="rect">
            <a:avLst/>
          </a:prstGeom>
          <a:solidFill>
            <a:srgbClr val="FFFFFF"/>
          </a:solidFill>
          <a:ln w="9525">
            <a:solidFill>
              <a:srgbClr val="DCE3EA"/>
            </a:solidFill>
            <a:prstDash val="solid"/>
          </a:ln>
        </p:spPr>
      </p:sp>
      <p:sp>
        <p:nvSpPr>
          <p:cNvPr id="7" name="Text 3"/>
          <p:cNvSpPr txBox="1"/>
          <p:nvPr/>
        </p:nvSpPr>
        <p:spPr>
          <a:xfrm>
            <a:off x="6309360" y="1261872"/>
            <a:ext cx="2377440" cy="274320"/>
          </a:xfrm>
          <a:prstGeom prst="rect">
            <a:avLst/>
          </a:prstGeom>
          <a:noFill/>
          <a:ln/>
        </p:spPr>
        <p:txBody>
          <a:bodyPr wrap="square" lIns="0" tIns="0" rIns="0" bIns="0" rtlCol="0" anchor="ctr"/>
          <a:lstStyle/>
          <a:p>
            <a:pPr algn="ctr" indent="0" marL="0">
              <a:buNone/>
            </a:pPr>
            <a:r>
              <a:rPr lang="en-US" sz="1200" b="1" dirty="0">
                <a:solidFill>
                  <a:srgbClr val="1F6F8B"/>
                </a:solidFill>
                <a:latin typeface="Calibri" pitchFamily="34" charset="0"/>
                <a:ea typeface="Calibri" pitchFamily="34" charset="-122"/>
                <a:cs typeface="Calibri" pitchFamily="34" charset="-120"/>
              </a:rPr>
              <a:t>APEX-MEM</a:t>
            </a:r>
            <a:endParaRPr lang="en-US" sz="1200" dirty="0"/>
          </a:p>
        </p:txBody>
      </p:sp>
      <p:sp>
        <p:nvSpPr>
          <p:cNvPr id="8" name="Text 4"/>
          <p:cNvSpPr txBox="1"/>
          <p:nvPr/>
        </p:nvSpPr>
        <p:spPr>
          <a:xfrm>
            <a:off x="6309360" y="1536192"/>
            <a:ext cx="2377440" cy="594360"/>
          </a:xfrm>
          <a:prstGeom prst="rect">
            <a:avLst/>
          </a:prstGeom>
          <a:noFill/>
          <a:ln/>
        </p:spPr>
        <p:txBody>
          <a:bodyPr wrap="square" lIns="0" tIns="0" rIns="0" bIns="0" rtlCol="0" anchor="ctr"/>
          <a:lstStyle/>
          <a:p>
            <a:pPr algn="ctr" indent="0" marL="0">
              <a:buNone/>
            </a:pPr>
            <a:r>
              <a:rPr lang="en-US" sz="3200" b="1" dirty="0">
                <a:solidFill>
                  <a:srgbClr val="10243E"/>
                </a:solidFill>
                <a:latin typeface="Cambria" pitchFamily="34" charset="0"/>
                <a:ea typeface="Cambria" pitchFamily="34" charset="-122"/>
                <a:cs typeface="Cambria" pitchFamily="34" charset="-120"/>
              </a:rPr>
              <a:t>84,7%</a:t>
            </a:r>
            <a:endParaRPr lang="en-US" sz="3200" dirty="0"/>
          </a:p>
        </p:txBody>
      </p:sp>
      <p:sp>
        <p:nvSpPr>
          <p:cNvPr id="9" name="Text 5"/>
          <p:cNvSpPr txBox="1"/>
          <p:nvPr/>
        </p:nvSpPr>
        <p:spPr>
          <a:xfrm>
            <a:off x="6309360" y="2103120"/>
            <a:ext cx="2377440" cy="228600"/>
          </a:xfrm>
          <a:prstGeom prst="rect">
            <a:avLst/>
          </a:prstGeom>
          <a:noFill/>
          <a:ln/>
        </p:spPr>
        <p:txBody>
          <a:bodyPr wrap="square" lIns="0" tIns="0" rIns="0" bIns="0" rtlCol="0" anchor="ctr"/>
          <a:lstStyle/>
          <a:p>
            <a:pPr algn="ctr" indent="0" marL="0">
              <a:buNone/>
            </a:pPr>
            <a:r>
              <a:rPr lang="en-US" sz="950" dirty="0">
                <a:solidFill>
                  <a:srgbClr val="5B6B7A"/>
                </a:solidFill>
                <a:latin typeface="Calibri" pitchFamily="34" charset="0"/>
                <a:ea typeface="Calibri" pitchFamily="34" charset="-122"/>
                <a:cs typeface="Calibri" pitchFamily="34" charset="-120"/>
              </a:rPr>
              <a:t>gộp chung 127/150 · KTC 95% 78–90%</a:t>
            </a:r>
            <a:endParaRPr lang="en-US" sz="950" dirty="0"/>
          </a:p>
        </p:txBody>
      </p:sp>
      <p:sp>
        <p:nvSpPr>
          <p:cNvPr id="10" name="Text 6"/>
          <p:cNvSpPr txBox="1"/>
          <p:nvPr/>
        </p:nvSpPr>
        <p:spPr>
          <a:xfrm>
            <a:off x="6309360" y="2322576"/>
            <a:ext cx="2377440" cy="228600"/>
          </a:xfrm>
          <a:prstGeom prst="rect">
            <a:avLst/>
          </a:prstGeom>
          <a:noFill/>
          <a:ln/>
        </p:spPr>
        <p:txBody>
          <a:bodyPr wrap="square" lIns="0" tIns="0" rIns="0" bIns="0" rtlCol="0" anchor="ctr"/>
          <a:lstStyle/>
          <a:p>
            <a:pPr algn="ctr" indent="0" marL="0">
              <a:buNone/>
            </a:pPr>
            <a:r>
              <a:rPr lang="en-US" sz="950" dirty="0">
                <a:solidFill>
                  <a:srgbClr val="5B6B7A"/>
                </a:solidFill>
                <a:latin typeface="Calibri" pitchFamily="34" charset="0"/>
                <a:ea typeface="Calibri" pitchFamily="34" charset="-122"/>
                <a:cs typeface="Calibri" pitchFamily="34" charset="-120"/>
              </a:rPr>
              <a:t>theo loại (macro) 84,6%</a:t>
            </a:r>
            <a:endParaRPr lang="en-US" sz="950" dirty="0"/>
          </a:p>
        </p:txBody>
      </p:sp>
      <p:sp>
        <p:nvSpPr>
          <p:cNvPr id="11" name="Shape 7"/>
          <p:cNvSpPr/>
          <p:nvPr/>
        </p:nvSpPr>
        <p:spPr>
          <a:xfrm>
            <a:off x="6309360" y="2743200"/>
            <a:ext cx="2377440" cy="1417320"/>
          </a:xfrm>
          <a:prstGeom prst="rect">
            <a:avLst/>
          </a:prstGeom>
          <a:solidFill>
            <a:srgbClr val="FFFFFF"/>
          </a:solidFill>
          <a:ln w="9525">
            <a:solidFill>
              <a:srgbClr val="DCE3EA"/>
            </a:solidFill>
            <a:prstDash val="solid"/>
          </a:ln>
        </p:spPr>
      </p:sp>
      <p:sp>
        <p:nvSpPr>
          <p:cNvPr id="12" name="Text 8"/>
          <p:cNvSpPr txBox="1"/>
          <p:nvPr/>
        </p:nvSpPr>
        <p:spPr>
          <a:xfrm>
            <a:off x="6309360" y="2816352"/>
            <a:ext cx="2377440" cy="274320"/>
          </a:xfrm>
          <a:prstGeom prst="rect">
            <a:avLst/>
          </a:prstGeom>
          <a:noFill/>
          <a:ln/>
        </p:spPr>
        <p:txBody>
          <a:bodyPr wrap="square" lIns="0" tIns="0" rIns="0" bIns="0" rtlCol="0" anchor="ctr"/>
          <a:lstStyle/>
          <a:p>
            <a:pPr algn="ctr" indent="0" marL="0">
              <a:buNone/>
            </a:pPr>
            <a:r>
              <a:rPr lang="en-US" sz="1200" b="1" dirty="0">
                <a:solidFill>
                  <a:srgbClr val="F2A541"/>
                </a:solidFill>
                <a:latin typeface="Calibri" pitchFamily="34" charset="0"/>
                <a:ea typeface="Calibri" pitchFamily="34" charset="-122"/>
                <a:cs typeface="Calibri" pitchFamily="34" charset="-120"/>
              </a:rPr>
              <a:t>LightMem</a:t>
            </a:r>
            <a:endParaRPr lang="en-US" sz="1200" dirty="0"/>
          </a:p>
        </p:txBody>
      </p:sp>
      <p:sp>
        <p:nvSpPr>
          <p:cNvPr id="13" name="Text 9"/>
          <p:cNvSpPr txBox="1"/>
          <p:nvPr/>
        </p:nvSpPr>
        <p:spPr>
          <a:xfrm>
            <a:off x="6309360" y="3090672"/>
            <a:ext cx="2377440" cy="594360"/>
          </a:xfrm>
          <a:prstGeom prst="rect">
            <a:avLst/>
          </a:prstGeom>
          <a:noFill/>
          <a:ln/>
        </p:spPr>
        <p:txBody>
          <a:bodyPr wrap="square" lIns="0" tIns="0" rIns="0" bIns="0" rtlCol="0" anchor="ctr"/>
          <a:lstStyle/>
          <a:p>
            <a:pPr algn="ctr" indent="0" marL="0">
              <a:buNone/>
            </a:pPr>
            <a:r>
              <a:rPr lang="en-US" sz="3200" b="1" dirty="0">
                <a:solidFill>
                  <a:srgbClr val="10243E"/>
                </a:solidFill>
                <a:latin typeface="Cambria" pitchFamily="34" charset="0"/>
                <a:ea typeface="Cambria" pitchFamily="34" charset="-122"/>
                <a:cs typeface="Cambria" pitchFamily="34" charset="-120"/>
              </a:rPr>
              <a:t>81,3%</a:t>
            </a:r>
            <a:endParaRPr lang="en-US" sz="3200" dirty="0"/>
          </a:p>
        </p:txBody>
      </p:sp>
      <p:sp>
        <p:nvSpPr>
          <p:cNvPr id="14" name="Text 10"/>
          <p:cNvSpPr txBox="1"/>
          <p:nvPr/>
        </p:nvSpPr>
        <p:spPr>
          <a:xfrm>
            <a:off x="6309360" y="3657600"/>
            <a:ext cx="2377440" cy="228600"/>
          </a:xfrm>
          <a:prstGeom prst="rect">
            <a:avLst/>
          </a:prstGeom>
          <a:noFill/>
          <a:ln/>
        </p:spPr>
        <p:txBody>
          <a:bodyPr wrap="square" lIns="0" tIns="0" rIns="0" bIns="0" rtlCol="0" anchor="ctr"/>
          <a:lstStyle/>
          <a:p>
            <a:pPr algn="ctr" indent="0" marL="0">
              <a:buNone/>
            </a:pPr>
            <a:r>
              <a:rPr lang="en-US" sz="950" dirty="0">
                <a:solidFill>
                  <a:srgbClr val="5B6B7A"/>
                </a:solidFill>
                <a:latin typeface="Calibri" pitchFamily="34" charset="0"/>
                <a:ea typeface="Calibri" pitchFamily="34" charset="-122"/>
                <a:cs typeface="Calibri" pitchFamily="34" charset="-120"/>
              </a:rPr>
              <a:t>gộp chung 122/150 · KTC 95% 74–87%</a:t>
            </a:r>
            <a:endParaRPr lang="en-US" sz="950" dirty="0"/>
          </a:p>
        </p:txBody>
      </p:sp>
      <p:sp>
        <p:nvSpPr>
          <p:cNvPr id="15" name="Text 11"/>
          <p:cNvSpPr txBox="1"/>
          <p:nvPr/>
        </p:nvSpPr>
        <p:spPr>
          <a:xfrm>
            <a:off x="6309360" y="3877056"/>
            <a:ext cx="2377440" cy="228600"/>
          </a:xfrm>
          <a:prstGeom prst="rect">
            <a:avLst/>
          </a:prstGeom>
          <a:noFill/>
          <a:ln/>
        </p:spPr>
        <p:txBody>
          <a:bodyPr wrap="square" lIns="0" tIns="0" rIns="0" bIns="0" rtlCol="0" anchor="ctr"/>
          <a:lstStyle/>
          <a:p>
            <a:pPr algn="ctr" indent="0" marL="0">
              <a:buNone/>
            </a:pPr>
            <a:r>
              <a:rPr lang="en-US" sz="950" dirty="0">
                <a:solidFill>
                  <a:srgbClr val="5B6B7A"/>
                </a:solidFill>
                <a:latin typeface="Calibri" pitchFamily="34" charset="0"/>
                <a:ea typeface="Calibri" pitchFamily="34" charset="-122"/>
                <a:cs typeface="Calibri" pitchFamily="34" charset="-120"/>
              </a:rPr>
              <a:t>theo loại (macro) 78,9%</a:t>
            </a:r>
            <a:endParaRPr lang="en-US" sz="950" dirty="0"/>
          </a:p>
        </p:txBody>
      </p:sp>
      <p:sp>
        <p:nvSpPr>
          <p:cNvPr id="16" name="Shape 12"/>
          <p:cNvSpPr/>
          <p:nvPr/>
        </p:nvSpPr>
        <p:spPr>
          <a:xfrm>
            <a:off x="365760" y="4389120"/>
            <a:ext cx="8321040" cy="502920"/>
          </a:xfrm>
          <a:prstGeom prst="rect">
            <a:avLst/>
          </a:prstGeom>
          <a:solidFill>
            <a:srgbClr val="FDF3E1"/>
          </a:solidFill>
          <a:ln w="9525">
            <a:solidFill>
              <a:srgbClr val="DCE3EA"/>
            </a:solidFill>
            <a:prstDash val="solid"/>
          </a:ln>
        </p:spPr>
      </p:sp>
      <p:sp>
        <p:nvSpPr>
          <p:cNvPr id="17" name="Text 13"/>
          <p:cNvSpPr txBox="1"/>
          <p:nvPr/>
        </p:nvSpPr>
        <p:spPr>
          <a:xfrm>
            <a:off x="548640" y="4416552"/>
            <a:ext cx="7955280" cy="457200"/>
          </a:xfrm>
          <a:prstGeom prst="rect">
            <a:avLst/>
          </a:prstGeom>
          <a:noFill/>
          <a:ln/>
        </p:spPr>
        <p:txBody>
          <a:bodyPr wrap="square" lIns="0" tIns="0" rIns="0" bIns="0" rtlCol="0" anchor="ctr"/>
          <a:lstStyle/>
          <a:p>
            <a:pPr indent="0" marL="0">
              <a:buNone/>
            </a:pPr>
            <a:r>
              <a:rPr lang="en-US" sz="1050" b="1" dirty="0">
                <a:solidFill>
                  <a:srgbClr val="C8553D"/>
                </a:solidFill>
                <a:latin typeface="Calibri" pitchFamily="34" charset="0"/>
                <a:ea typeface="Calibri" pitchFamily="34" charset="-122"/>
                <a:cs typeface="Calibri" pitchFamily="34" charset="-120"/>
              </a:rPr>
              <a:t>Đọc đúng mức: </a:t>
            </a:r>
            <a:pPr indent="0" marL="0">
              <a:buNone/>
            </a:pPr>
            <a:r>
              <a:rPr lang="en-US" sz="1050" dirty="0">
                <a:solidFill>
                  <a:srgbClr val="1B2B3A"/>
                </a:solidFill>
                <a:latin typeface="Calibri" pitchFamily="34" charset="0"/>
                <a:ea typeface="Calibri" pitchFamily="34" charset="-122"/>
                <a:cs typeface="Calibri" pitchFamily="34" charset="-120"/>
              </a:rPr>
              <a:t>chênh 5 câu trên 150 câu; nhóm câu từ chối (_abs) chỉ có 4 câu (APEX-MEM 3, LightMem 2). Cả hai hệ cùng model nên khác biệt đến từ cách lưu và truy xuất ký ức.</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CHÊNH LỆCH ĐẾN TỪ ĐÂU</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Toàn bộ chênh lệch nằm ở loại lượt trợ lý</a:t>
            </a:r>
            <a:endParaRPr lang="en-US" sz="2600" dirty="0"/>
          </a:p>
        </p:txBody>
      </p:sp>
      <p:sp>
        <p:nvSpPr>
          <p:cNvPr id="5" name="Shape 2"/>
          <p:cNvSpPr/>
          <p:nvPr/>
        </p:nvSpPr>
        <p:spPr>
          <a:xfrm>
            <a:off x="365760" y="1188720"/>
            <a:ext cx="2057400" cy="1280160"/>
          </a:xfrm>
          <a:prstGeom prst="rect">
            <a:avLst/>
          </a:prstGeom>
          <a:solidFill>
            <a:srgbClr val="FFFFFF"/>
          </a:solidFill>
          <a:ln w="9525">
            <a:solidFill>
              <a:srgbClr val="DCE3EA"/>
            </a:solidFill>
            <a:prstDash val="solid"/>
          </a:ln>
        </p:spPr>
      </p:sp>
      <p:sp>
        <p:nvSpPr>
          <p:cNvPr id="6" name="Text 3"/>
          <p:cNvSpPr txBox="1"/>
          <p:nvPr/>
        </p:nvSpPr>
        <p:spPr>
          <a:xfrm>
            <a:off x="365760" y="1298448"/>
            <a:ext cx="2057400" cy="685800"/>
          </a:xfrm>
          <a:prstGeom prst="rect">
            <a:avLst/>
          </a:prstGeom>
          <a:noFill/>
          <a:ln/>
        </p:spPr>
        <p:txBody>
          <a:bodyPr wrap="square" lIns="0" tIns="0" rIns="0" bIns="0" rtlCol="0" anchor="ctr"/>
          <a:lstStyle/>
          <a:p>
            <a:pPr algn="ctr" indent="0" marL="0">
              <a:buNone/>
            </a:pPr>
            <a:r>
              <a:rPr lang="en-US" sz="3800" b="1" dirty="0">
                <a:solidFill>
                  <a:srgbClr val="1F6F8B"/>
                </a:solidFill>
                <a:latin typeface="Cambria" pitchFamily="34" charset="0"/>
                <a:ea typeface="Cambria" pitchFamily="34" charset="-122"/>
                <a:cs typeface="Cambria" pitchFamily="34" charset="-120"/>
              </a:rPr>
              <a:t>107</a:t>
            </a:r>
            <a:endParaRPr lang="en-US" sz="3800" dirty="0"/>
          </a:p>
        </p:txBody>
      </p:sp>
      <p:sp>
        <p:nvSpPr>
          <p:cNvPr id="7" name="Text 4"/>
          <p:cNvSpPr txBox="1"/>
          <p:nvPr/>
        </p:nvSpPr>
        <p:spPr>
          <a:xfrm>
            <a:off x="365760" y="2011680"/>
            <a:ext cx="2057400" cy="274320"/>
          </a:xfrm>
          <a:prstGeom prst="rect">
            <a:avLst/>
          </a:prstGeom>
          <a:noFill/>
          <a:ln/>
        </p:spPr>
        <p:txBody>
          <a:bodyPr wrap="square" lIns="0" tIns="0" rIns="0" bIns="0" rtlCol="0" anchor="ctr"/>
          <a:lstStyle/>
          <a:p>
            <a:pPr algn="ctr" indent="0" marL="0">
              <a:buNone/>
            </a:pPr>
            <a:r>
              <a:rPr lang="en-US" sz="1150" dirty="0">
                <a:solidFill>
                  <a:srgbClr val="1B2B3A"/>
                </a:solidFill>
                <a:latin typeface="Calibri" pitchFamily="34" charset="0"/>
                <a:ea typeface="Calibri" pitchFamily="34" charset="-122"/>
                <a:cs typeface="Calibri" pitchFamily="34" charset="-120"/>
              </a:rPr>
              <a:t>cả hai đúng</a:t>
            </a:r>
            <a:endParaRPr lang="en-US" sz="1150" dirty="0"/>
          </a:p>
        </p:txBody>
      </p:sp>
      <p:sp>
        <p:nvSpPr>
          <p:cNvPr id="8" name="Shape 5"/>
          <p:cNvSpPr/>
          <p:nvPr/>
        </p:nvSpPr>
        <p:spPr>
          <a:xfrm>
            <a:off x="2514600" y="1188720"/>
            <a:ext cx="2057400" cy="1280160"/>
          </a:xfrm>
          <a:prstGeom prst="rect">
            <a:avLst/>
          </a:prstGeom>
          <a:solidFill>
            <a:srgbClr val="E4F1F5"/>
          </a:solidFill>
          <a:ln w="9525">
            <a:solidFill>
              <a:srgbClr val="DCE3EA"/>
            </a:solidFill>
            <a:prstDash val="solid"/>
          </a:ln>
        </p:spPr>
      </p:sp>
      <p:sp>
        <p:nvSpPr>
          <p:cNvPr id="9" name="Text 6"/>
          <p:cNvSpPr txBox="1"/>
          <p:nvPr/>
        </p:nvSpPr>
        <p:spPr>
          <a:xfrm>
            <a:off x="2514600" y="1298448"/>
            <a:ext cx="2057400" cy="685800"/>
          </a:xfrm>
          <a:prstGeom prst="rect">
            <a:avLst/>
          </a:prstGeom>
          <a:noFill/>
          <a:ln/>
        </p:spPr>
        <p:txBody>
          <a:bodyPr wrap="square" lIns="0" tIns="0" rIns="0" bIns="0" rtlCol="0" anchor="ctr"/>
          <a:lstStyle/>
          <a:p>
            <a:pPr algn="ctr" indent="0" marL="0">
              <a:buNone/>
            </a:pPr>
            <a:r>
              <a:rPr lang="en-US" sz="3800" b="1" dirty="0">
                <a:solidFill>
                  <a:srgbClr val="1F6F8B"/>
                </a:solidFill>
                <a:latin typeface="Cambria" pitchFamily="34" charset="0"/>
                <a:ea typeface="Cambria" pitchFamily="34" charset="-122"/>
                <a:cs typeface="Cambria" pitchFamily="34" charset="-120"/>
              </a:rPr>
              <a:t>20</a:t>
            </a:r>
            <a:endParaRPr lang="en-US" sz="3800" dirty="0"/>
          </a:p>
        </p:txBody>
      </p:sp>
      <p:sp>
        <p:nvSpPr>
          <p:cNvPr id="10" name="Text 7"/>
          <p:cNvSpPr txBox="1"/>
          <p:nvPr/>
        </p:nvSpPr>
        <p:spPr>
          <a:xfrm>
            <a:off x="2514600" y="2011680"/>
            <a:ext cx="2057400" cy="274320"/>
          </a:xfrm>
          <a:prstGeom prst="rect">
            <a:avLst/>
          </a:prstGeom>
          <a:noFill/>
          <a:ln/>
        </p:spPr>
        <p:txBody>
          <a:bodyPr wrap="square" lIns="0" tIns="0" rIns="0" bIns="0" rtlCol="0" anchor="ctr"/>
          <a:lstStyle/>
          <a:p>
            <a:pPr algn="ctr" indent="0" marL="0">
              <a:buNone/>
            </a:pPr>
            <a:r>
              <a:rPr lang="en-US" sz="1150" dirty="0">
                <a:solidFill>
                  <a:srgbClr val="1B2B3A"/>
                </a:solidFill>
                <a:latin typeface="Calibri" pitchFamily="34" charset="0"/>
                <a:ea typeface="Calibri" pitchFamily="34" charset="-122"/>
                <a:cs typeface="Calibri" pitchFamily="34" charset="-120"/>
              </a:rPr>
              <a:t>chỉ APEX-MEM đúng</a:t>
            </a:r>
            <a:endParaRPr lang="en-US" sz="1150" dirty="0"/>
          </a:p>
        </p:txBody>
      </p:sp>
      <p:sp>
        <p:nvSpPr>
          <p:cNvPr id="11" name="Shape 8"/>
          <p:cNvSpPr/>
          <p:nvPr/>
        </p:nvSpPr>
        <p:spPr>
          <a:xfrm>
            <a:off x="365760" y="2560320"/>
            <a:ext cx="2057400" cy="1280160"/>
          </a:xfrm>
          <a:prstGeom prst="rect">
            <a:avLst/>
          </a:prstGeom>
          <a:solidFill>
            <a:srgbClr val="FDF3E1"/>
          </a:solidFill>
          <a:ln w="9525">
            <a:solidFill>
              <a:srgbClr val="DCE3EA"/>
            </a:solidFill>
            <a:prstDash val="solid"/>
          </a:ln>
        </p:spPr>
      </p:sp>
      <p:sp>
        <p:nvSpPr>
          <p:cNvPr id="12" name="Text 9"/>
          <p:cNvSpPr txBox="1"/>
          <p:nvPr/>
        </p:nvSpPr>
        <p:spPr>
          <a:xfrm>
            <a:off x="365760" y="2670048"/>
            <a:ext cx="2057400" cy="685800"/>
          </a:xfrm>
          <a:prstGeom prst="rect">
            <a:avLst/>
          </a:prstGeom>
          <a:noFill/>
          <a:ln/>
        </p:spPr>
        <p:txBody>
          <a:bodyPr wrap="square" lIns="0" tIns="0" rIns="0" bIns="0" rtlCol="0" anchor="ctr"/>
          <a:lstStyle/>
          <a:p>
            <a:pPr algn="ctr" indent="0" marL="0">
              <a:buNone/>
            </a:pPr>
            <a:r>
              <a:rPr lang="en-US" sz="3800" b="1" dirty="0">
                <a:solidFill>
                  <a:srgbClr val="F2A541"/>
                </a:solidFill>
                <a:latin typeface="Cambria" pitchFamily="34" charset="0"/>
                <a:ea typeface="Cambria" pitchFamily="34" charset="-122"/>
                <a:cs typeface="Cambria" pitchFamily="34" charset="-120"/>
              </a:rPr>
              <a:t>15</a:t>
            </a:r>
            <a:endParaRPr lang="en-US" sz="3800" dirty="0"/>
          </a:p>
        </p:txBody>
      </p:sp>
      <p:sp>
        <p:nvSpPr>
          <p:cNvPr id="13" name="Text 10"/>
          <p:cNvSpPr txBox="1"/>
          <p:nvPr/>
        </p:nvSpPr>
        <p:spPr>
          <a:xfrm>
            <a:off x="365760" y="3383280"/>
            <a:ext cx="2057400" cy="274320"/>
          </a:xfrm>
          <a:prstGeom prst="rect">
            <a:avLst/>
          </a:prstGeom>
          <a:noFill/>
          <a:ln/>
        </p:spPr>
        <p:txBody>
          <a:bodyPr wrap="square" lIns="0" tIns="0" rIns="0" bIns="0" rtlCol="0" anchor="ctr"/>
          <a:lstStyle/>
          <a:p>
            <a:pPr algn="ctr" indent="0" marL="0">
              <a:buNone/>
            </a:pPr>
            <a:r>
              <a:rPr lang="en-US" sz="1150" dirty="0">
                <a:solidFill>
                  <a:srgbClr val="1B2B3A"/>
                </a:solidFill>
                <a:latin typeface="Calibri" pitchFamily="34" charset="0"/>
                <a:ea typeface="Calibri" pitchFamily="34" charset="-122"/>
                <a:cs typeface="Calibri" pitchFamily="34" charset="-120"/>
              </a:rPr>
              <a:t>chỉ LightMem đúng</a:t>
            </a:r>
            <a:endParaRPr lang="en-US" sz="1150" dirty="0"/>
          </a:p>
        </p:txBody>
      </p:sp>
      <p:sp>
        <p:nvSpPr>
          <p:cNvPr id="14" name="Shape 11"/>
          <p:cNvSpPr/>
          <p:nvPr/>
        </p:nvSpPr>
        <p:spPr>
          <a:xfrm>
            <a:off x="2514600" y="2560320"/>
            <a:ext cx="2057400" cy="1280160"/>
          </a:xfrm>
          <a:prstGeom prst="rect">
            <a:avLst/>
          </a:prstGeom>
          <a:solidFill>
            <a:srgbClr val="FFFFFF"/>
          </a:solidFill>
          <a:ln w="9525">
            <a:solidFill>
              <a:srgbClr val="DCE3EA"/>
            </a:solidFill>
            <a:prstDash val="solid"/>
          </a:ln>
        </p:spPr>
      </p:sp>
      <p:sp>
        <p:nvSpPr>
          <p:cNvPr id="15" name="Text 12"/>
          <p:cNvSpPr txBox="1"/>
          <p:nvPr/>
        </p:nvSpPr>
        <p:spPr>
          <a:xfrm>
            <a:off x="2514600" y="2670048"/>
            <a:ext cx="2057400" cy="685800"/>
          </a:xfrm>
          <a:prstGeom prst="rect">
            <a:avLst/>
          </a:prstGeom>
          <a:noFill/>
          <a:ln/>
        </p:spPr>
        <p:txBody>
          <a:bodyPr wrap="square" lIns="0" tIns="0" rIns="0" bIns="0" rtlCol="0" anchor="ctr"/>
          <a:lstStyle/>
          <a:p>
            <a:pPr algn="ctr" indent="0" marL="0">
              <a:buNone/>
            </a:pPr>
            <a:r>
              <a:rPr lang="en-US" sz="3800" b="1" dirty="0">
                <a:solidFill>
                  <a:srgbClr val="5B6B7A"/>
                </a:solidFill>
                <a:latin typeface="Cambria" pitchFamily="34" charset="0"/>
                <a:ea typeface="Cambria" pitchFamily="34" charset="-122"/>
                <a:cs typeface="Cambria" pitchFamily="34" charset="-120"/>
              </a:rPr>
              <a:t>8</a:t>
            </a:r>
            <a:endParaRPr lang="en-US" sz="3800" dirty="0"/>
          </a:p>
        </p:txBody>
      </p:sp>
      <p:sp>
        <p:nvSpPr>
          <p:cNvPr id="16" name="Text 13"/>
          <p:cNvSpPr txBox="1"/>
          <p:nvPr/>
        </p:nvSpPr>
        <p:spPr>
          <a:xfrm>
            <a:off x="2514600" y="3383280"/>
            <a:ext cx="2057400" cy="274320"/>
          </a:xfrm>
          <a:prstGeom prst="rect">
            <a:avLst/>
          </a:prstGeom>
          <a:noFill/>
          <a:ln/>
        </p:spPr>
        <p:txBody>
          <a:bodyPr wrap="square" lIns="0" tIns="0" rIns="0" bIns="0" rtlCol="0" anchor="ctr"/>
          <a:lstStyle/>
          <a:p>
            <a:pPr algn="ctr" indent="0" marL="0">
              <a:buNone/>
            </a:pPr>
            <a:r>
              <a:rPr lang="en-US" sz="1150" dirty="0">
                <a:solidFill>
                  <a:srgbClr val="1B2B3A"/>
                </a:solidFill>
                <a:latin typeface="Calibri" pitchFamily="34" charset="0"/>
                <a:ea typeface="Calibri" pitchFamily="34" charset="-122"/>
                <a:cs typeface="Calibri" pitchFamily="34" charset="-120"/>
              </a:rPr>
              <a:t>cả hai sai</a:t>
            </a:r>
            <a:endParaRPr lang="en-US" sz="1150" dirty="0"/>
          </a:p>
        </p:txBody>
      </p:sp>
      <p:sp>
        <p:nvSpPr>
          <p:cNvPr id="17" name="Text 14"/>
          <p:cNvSpPr txBox="1"/>
          <p:nvPr/>
        </p:nvSpPr>
        <p:spPr>
          <a:xfrm>
            <a:off x="365760" y="3950208"/>
            <a:ext cx="4206240" cy="274320"/>
          </a:xfrm>
          <a:prstGeom prst="rect">
            <a:avLst/>
          </a:prstGeom>
          <a:noFill/>
          <a:ln/>
        </p:spPr>
        <p:txBody>
          <a:bodyPr wrap="square" lIns="0" tIns="0" rIns="0" bIns="0" rtlCol="0" anchor="ctr"/>
          <a:lstStyle/>
          <a:p>
            <a:pPr indent="0" marL="0">
              <a:buNone/>
            </a:pPr>
            <a:r>
              <a:rPr lang="en-US" sz="1100" b="1" dirty="0">
                <a:solidFill>
                  <a:srgbClr val="10243E"/>
                </a:solidFill>
                <a:latin typeface="Calibri" pitchFamily="34" charset="0"/>
                <a:ea typeface="Calibri" pitchFamily="34" charset="-122"/>
                <a:cs typeface="Calibri" pitchFamily="34" charset="-120"/>
              </a:rPr>
              <a:t>McNemar chính xác: p = 0,50 (chưa khác biệt)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325880"/>
                <a:gridCol w="1051560"/>
                <a:gridCol w="914400"/>
                <a:gridCol w="640080"/>
              </a:tblGrid>
              <a:tr h="457200">
                <a:tc>
                  <a:txBody>
                    <a:bodyPr/>
                    <a:lstStyle/>
                    <a:p>
                      <a:pP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APEX-MEM</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LightMem</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Chênh</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457200">
                <a:tc>
                  <a:txBody>
                    <a:bodyPr/>
                    <a:lstStyle/>
                    <a:p>
                      <a:pPr indent="0" marL="0">
                        <a:buNone/>
                      </a:pPr>
                      <a:r>
                        <a:rPr lang="en-US" sz="1100" b="1" dirty="0">
                          <a:solidFill>
                            <a:srgbClr val="1B2B3A"/>
                          </a:solidFill>
                          <a:latin typeface="Calibri" pitchFamily="34" charset="0"/>
                          <a:ea typeface="Calibri" pitchFamily="34" charset="-122"/>
                          <a:cs typeface="Calibri" pitchFamily="34" charset="-120"/>
                        </a:rPr>
                        <a:t>Loại lượt trợ lý</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B2B3A"/>
                          </a:solidFill>
                          <a:latin typeface="Calibri" pitchFamily="34" charset="0"/>
                          <a:ea typeface="Calibri" pitchFamily="34" charset="-122"/>
                          <a:cs typeface="Calibri" pitchFamily="34" charset="-120"/>
                        </a:rPr>
                        <a:t>14/17</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B2B3A"/>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100" b="1" dirty="0">
                          <a:solidFill>
                            <a:srgbClr val="1F6F8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457200">
                <a:tc>
                  <a:txBody>
                    <a:bodyPr/>
                    <a:lstStyle/>
                    <a:p>
                      <a:pPr indent="0" marL="0">
                        <a:buNone/>
                      </a:pPr>
                      <a:r>
                        <a:rPr lang="en-US" sz="1100" b="1" dirty="0">
                          <a:solidFill>
                            <a:srgbClr val="1B2B3A"/>
                          </a:solidFill>
                          <a:latin typeface="Calibri" pitchFamily="34" charset="0"/>
                          <a:ea typeface="Calibri" pitchFamily="34" charset="-122"/>
                          <a:cs typeface="Calibri" pitchFamily="34" charset="-120"/>
                        </a:rPr>
                        <a:t>Năm loại còn lại</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B2B3A"/>
                          </a:solidFill>
                          <a:latin typeface="Calibri" pitchFamily="34" charset="0"/>
                          <a:ea typeface="Calibri" pitchFamily="34" charset="-122"/>
                          <a:cs typeface="Calibri" pitchFamily="34" charset="-120"/>
                        </a:rPr>
                        <a:t>113/133</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B2B3A"/>
                          </a:solidFill>
                          <a:latin typeface="Calibri" pitchFamily="34" charset="0"/>
                          <a:ea typeface="Calibri" pitchFamily="34" charset="-122"/>
                          <a:cs typeface="Calibri" pitchFamily="34" charset="-120"/>
                        </a:rPr>
                        <a:t>115/133</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100" b="1" dirty="0">
                          <a:solidFill>
                            <a:srgbClr val="C8553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
        <p:nvSpPr>
          <p:cNvPr id="19" name="Text 15"/>
          <p:cNvSpPr txBox="1"/>
          <p:nvPr/>
        </p:nvSpPr>
        <p:spPr>
          <a:xfrm>
            <a:off x="4754880" y="2697480"/>
            <a:ext cx="3931920" cy="457200"/>
          </a:xfrm>
          <a:prstGeom prst="rect">
            <a:avLst/>
          </a:prstGeom>
          <a:noFill/>
          <a:ln/>
        </p:spPr>
        <p:txBody>
          <a:bodyPr wrap="square" lIns="0" tIns="0" rIns="0" bIns="0" rtlCol="0" anchor="t"/>
          <a:lstStyle/>
          <a:p>
            <a:pPr indent="0" marL="0">
              <a:buNone/>
            </a:pPr>
            <a:r>
              <a:rPr lang="en-US" sz="1100" dirty="0">
                <a:solidFill>
                  <a:srgbClr val="1B2B3A"/>
                </a:solidFill>
                <a:latin typeface="Calibri" pitchFamily="34" charset="0"/>
                <a:ea typeface="Calibri" pitchFamily="34" charset="-122"/>
                <a:cs typeface="Calibri" pitchFamily="34" charset="-120"/>
              </a:rPr>
              <a:t>Năm loại còn lại: APEX-MEM 85,0%, LightMem 86,5%.</a:t>
            </a:r>
            <a:endParaRPr lang="en-US" sz="1100" dirty="0"/>
          </a:p>
        </p:txBody>
      </p:sp>
      <p:sp>
        <p:nvSpPr>
          <p:cNvPr id="20" name="Shape 16"/>
          <p:cNvSpPr/>
          <p:nvPr/>
        </p:nvSpPr>
        <p:spPr>
          <a:xfrm>
            <a:off x="4754880" y="3200400"/>
            <a:ext cx="3931920" cy="1024128"/>
          </a:xfrm>
          <a:prstGeom prst="rect">
            <a:avLst/>
          </a:prstGeom>
          <a:solidFill>
            <a:srgbClr val="FBEAE5"/>
          </a:solidFill>
          <a:ln w="9525">
            <a:solidFill>
              <a:srgbClr val="DCE3EA"/>
            </a:solidFill>
            <a:prstDash val="solid"/>
          </a:ln>
        </p:spPr>
      </p:sp>
      <p:sp>
        <p:nvSpPr>
          <p:cNvPr id="21" name="Text 17"/>
          <p:cNvSpPr txBox="1"/>
          <p:nvPr/>
        </p:nvSpPr>
        <p:spPr>
          <a:xfrm>
            <a:off x="4892040" y="3246120"/>
            <a:ext cx="3657600" cy="932688"/>
          </a:xfrm>
          <a:prstGeom prst="rect">
            <a:avLst/>
          </a:prstGeom>
          <a:noFill/>
          <a:ln/>
        </p:spPr>
        <p:txBody>
          <a:bodyPr wrap="square" lIns="0" tIns="0" rIns="0" bIns="0" rtlCol="0" anchor="ctr"/>
          <a:lstStyle/>
          <a:p>
            <a:pPr indent="0" marL="0">
              <a:buNone/>
            </a:pPr>
            <a:r>
              <a:rPr lang="en-US" sz="1050" b="1" dirty="0">
                <a:solidFill>
                  <a:srgbClr val="C8553D"/>
                </a:solidFill>
                <a:latin typeface="Calibri" pitchFamily="34" charset="0"/>
                <a:ea typeface="Calibri" pitchFamily="34" charset="-122"/>
                <a:cs typeface="Calibri" pitchFamily="34" charset="-120"/>
              </a:rPr>
              <a:t>Khác biệt cấu hình: </a:t>
            </a:r>
            <a:pPr indent="0" marL="0">
              <a:buNone/>
            </a:pPr>
            <a:r>
              <a:rPr lang="en-US" sz="1050" dirty="0">
                <a:solidFill>
                  <a:srgbClr val="1B2B3A"/>
                </a:solidFill>
                <a:latin typeface="Calibri" pitchFamily="34" charset="0"/>
                <a:ea typeface="Calibri" pitchFamily="34" charset="-122"/>
                <a:cs typeface="Calibri" pitchFamily="34" charset="-120"/>
              </a:rPr>
              <a:t>APEX-MEM lưu cả lượt trợ lý, LightMem mặc định chỉ lưu lượt người dùng. Loại câu hỏi này hỏi đúng về lời trợ lý.</a:t>
            </a:r>
            <a:endParaRPr lang="en-US" sz="1050" dirty="0"/>
          </a:p>
        </p:txBody>
      </p:sp>
      <p:sp>
        <p:nvSpPr>
          <p:cNvPr id="22" name="Shape 18"/>
          <p:cNvSpPr/>
          <p:nvPr/>
        </p:nvSpPr>
        <p:spPr>
          <a:xfrm>
            <a:off x="365760" y="4370832"/>
            <a:ext cx="8321040" cy="530352"/>
          </a:xfrm>
          <a:prstGeom prst="rect">
            <a:avLst/>
          </a:prstGeom>
          <a:solidFill>
            <a:srgbClr val="E7F0F4"/>
          </a:solidFill>
          <a:ln w="9525">
            <a:solidFill>
              <a:srgbClr val="DCE3EA"/>
            </a:solidFill>
            <a:prstDash val="solid"/>
          </a:ln>
        </p:spPr>
      </p:sp>
      <p:sp>
        <p:nvSpPr>
          <p:cNvPr id="23" name="Text 19"/>
          <p:cNvSpPr txBox="1"/>
          <p:nvPr/>
        </p:nvSpPr>
        <p:spPr>
          <a:xfrm>
            <a:off x="548640" y="4398264"/>
            <a:ext cx="7955280" cy="475488"/>
          </a:xfrm>
          <a:prstGeom prst="rect">
            <a:avLst/>
          </a:prstGeom>
          <a:noFill/>
          <a:ln/>
        </p:spPr>
        <p:txBody>
          <a:bodyPr wrap="square" lIns="0" tIns="0" rIns="0" bIns="0" rtlCol="0" anchor="ctr"/>
          <a:lstStyle/>
          <a:p>
            <a:pPr indent="0" marL="0">
              <a:buNone/>
            </a:pPr>
            <a:r>
              <a:rPr lang="en-US" sz="1050" b="1" dirty="0">
                <a:solidFill>
                  <a:srgbClr val="10243E"/>
                </a:solidFill>
                <a:latin typeface="Calibri" pitchFamily="34" charset="0"/>
                <a:ea typeface="Calibri" pitchFamily="34" charset="-122"/>
                <a:cs typeface="Calibri" pitchFamily="34" charset="-120"/>
              </a:rPr>
              <a:t>Chưa kết luận được: </a:t>
            </a:r>
            <a:pPr indent="0" marL="0">
              <a:buNone/>
            </a:pPr>
            <a:r>
              <a:rPr lang="en-US" sz="1050" dirty="0">
                <a:solidFill>
                  <a:srgbClr val="1B2B3A"/>
                </a:solidFill>
                <a:latin typeface="Calibri" pitchFamily="34" charset="0"/>
                <a:ea typeface="Calibri" pitchFamily="34" charset="-122"/>
                <a:cs typeface="Calibri" pitchFamily="34" charset="-120"/>
              </a:rPr>
              <a:t>giả thuyết là khác biệt cấu hình, không phải đồ thị, tạo ra chênh lệch. Muốn kiểm chứng phải chạy lại LightMem loại này với messages_use = user_assistant.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PHÂN TÍCH LỖI APEX-MEM</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APEX-MEM sai 23 câu, gần như không do tìm kiếm</a:t>
            </a:r>
            <a:endParaRPr lang="en-US" sz="2600" dirty="0"/>
          </a:p>
        </p:txBody>
      </p:sp>
      <p:sp>
        <p:nvSpPr>
          <p:cNvPr id="5" name="Shape 2"/>
          <p:cNvSpPr/>
          <p:nvPr/>
        </p:nvSpPr>
        <p:spPr>
          <a:xfrm>
            <a:off x="365760" y="1188720"/>
            <a:ext cx="2560320" cy="3246120"/>
          </a:xfrm>
          <a:prstGeom prst="rect">
            <a:avLst/>
          </a:prstGeom>
          <a:solidFill>
            <a:srgbClr val="FFFFFF"/>
          </a:solidFill>
          <a:ln w="9525">
            <a:solidFill>
              <a:srgbClr val="DCE3EA"/>
            </a:solidFill>
            <a:prstDash val="solid"/>
          </a:ln>
        </p:spPr>
      </p:sp>
      <p:sp>
        <p:nvSpPr>
          <p:cNvPr id="6" name="Text 3"/>
          <p:cNvSpPr txBox="1"/>
          <p:nvPr/>
        </p:nvSpPr>
        <p:spPr>
          <a:xfrm>
            <a:off x="365760" y="1280160"/>
            <a:ext cx="2560320" cy="731520"/>
          </a:xfrm>
          <a:prstGeom prst="rect">
            <a:avLst/>
          </a:prstGeom>
          <a:noFill/>
          <a:ln/>
        </p:spPr>
        <p:txBody>
          <a:bodyPr wrap="square" lIns="0" tIns="0" rIns="0" bIns="0" rtlCol="0" anchor="ctr"/>
          <a:lstStyle/>
          <a:p>
            <a:pPr algn="ctr" indent="0" marL="0">
              <a:buNone/>
            </a:pPr>
            <a:r>
              <a:rPr lang="en-US" sz="4400" b="1" dirty="0">
                <a:solidFill>
                  <a:srgbClr val="C8553D"/>
                </a:solidFill>
                <a:latin typeface="Cambria" pitchFamily="34" charset="0"/>
                <a:ea typeface="Cambria" pitchFamily="34" charset="-122"/>
                <a:cs typeface="Cambria" pitchFamily="34" charset="-120"/>
              </a:rPr>
              <a:t>23</a:t>
            </a:r>
            <a:endParaRPr lang="en-US" sz="4400" dirty="0"/>
          </a:p>
        </p:txBody>
      </p:sp>
      <p:sp>
        <p:nvSpPr>
          <p:cNvPr id="7" name="Text 4"/>
          <p:cNvSpPr txBox="1"/>
          <p:nvPr/>
        </p:nvSpPr>
        <p:spPr>
          <a:xfrm>
            <a:off x="365760" y="2011680"/>
            <a:ext cx="2560320" cy="274320"/>
          </a:xfrm>
          <a:prstGeom prst="rect">
            <a:avLst/>
          </a:prstGeom>
          <a:noFill/>
          <a:ln/>
        </p:spPr>
        <p:txBody>
          <a:bodyPr wrap="square" lIns="0" tIns="0" rIns="0" bIns="0" rtlCol="0" anchor="ctr"/>
          <a:lstStyle/>
          <a:p>
            <a:pPr algn="ctr" indent="0" marL="0">
              <a:buNone/>
            </a:pPr>
            <a:r>
              <a:rPr lang="en-US" sz="1150" dirty="0">
                <a:solidFill>
                  <a:srgbClr val="5B6B7A"/>
                </a:solidFill>
                <a:latin typeface="Calibri" pitchFamily="34" charset="0"/>
                <a:ea typeface="Calibri" pitchFamily="34" charset="-122"/>
                <a:cs typeface="Calibri" pitchFamily="34" charset="-120"/>
              </a:rPr>
              <a:t>câu sai trong 150 câu</a:t>
            </a:r>
            <a:endParaRPr lang="en-US" sz="1150" dirty="0"/>
          </a:p>
        </p:txBody>
      </p:sp>
      <p:sp>
        <p:nvSpPr>
          <p:cNvPr id="8" name="Text 5"/>
          <p:cNvSpPr txBox="1"/>
          <p:nvPr/>
        </p:nvSpPr>
        <p:spPr>
          <a:xfrm>
            <a:off x="548640" y="2377440"/>
            <a:ext cx="1828800" cy="292608"/>
          </a:xfrm>
          <a:prstGeom prst="rect">
            <a:avLst/>
          </a:prstGeom>
          <a:noFill/>
          <a:ln/>
        </p:spPr>
        <p:txBody>
          <a:bodyPr wrap="square" lIns="0" tIns="0" rIns="0" bIns="0" rtlCol="0" anchor="ctr"/>
          <a:lstStyle/>
          <a:p>
            <a:pPr indent="0" marL="0">
              <a:buNone/>
            </a:pPr>
            <a:r>
              <a:rPr lang="en-US" sz="1100" dirty="0">
                <a:solidFill>
                  <a:srgbClr val="1B2B3A"/>
                </a:solidFill>
                <a:latin typeface="Calibri" pitchFamily="34" charset="0"/>
                <a:ea typeface="Calibri" pitchFamily="34" charset="-122"/>
                <a:cs typeface="Calibri" pitchFamily="34" charset="-120"/>
              </a:rPr>
              <a:t>Đa phiên</a:t>
            </a:r>
            <a:endParaRPr lang="en-US" sz="1100" dirty="0"/>
          </a:p>
        </p:txBody>
      </p:sp>
      <p:sp>
        <p:nvSpPr>
          <p:cNvPr id="9" name="Text 6"/>
          <p:cNvSpPr txBox="1"/>
          <p:nvPr/>
        </p:nvSpPr>
        <p:spPr>
          <a:xfrm>
            <a:off x="2377440" y="2377440"/>
            <a:ext cx="411480" cy="292608"/>
          </a:xfrm>
          <a:prstGeom prst="rect">
            <a:avLst/>
          </a:prstGeom>
          <a:noFill/>
          <a:ln/>
        </p:spPr>
        <p:txBody>
          <a:bodyPr wrap="square" lIns="0" tIns="0" rIns="0" bIns="0" rtlCol="0" anchor="ctr"/>
          <a:lstStyle/>
          <a:p>
            <a:pPr algn="r" indent="0" marL="0">
              <a:buNone/>
            </a:pPr>
            <a:r>
              <a:rPr lang="en-US" sz="1100" b="1" dirty="0">
                <a:solidFill>
                  <a:srgbClr val="C8553D"/>
                </a:solidFill>
                <a:latin typeface="Calibri" pitchFamily="34" charset="0"/>
                <a:ea typeface="Calibri" pitchFamily="34" charset="-122"/>
                <a:cs typeface="Calibri" pitchFamily="34" charset="-120"/>
              </a:rPr>
              <a:t>8</a:t>
            </a:r>
            <a:endParaRPr lang="en-US" sz="1100" dirty="0"/>
          </a:p>
        </p:txBody>
      </p:sp>
      <p:sp>
        <p:nvSpPr>
          <p:cNvPr id="10" name="Text 7"/>
          <p:cNvSpPr txBox="1"/>
          <p:nvPr/>
        </p:nvSpPr>
        <p:spPr>
          <a:xfrm>
            <a:off x="548640" y="2715768"/>
            <a:ext cx="1828800" cy="292608"/>
          </a:xfrm>
          <a:prstGeom prst="rect">
            <a:avLst/>
          </a:prstGeom>
          <a:noFill/>
          <a:ln/>
        </p:spPr>
        <p:txBody>
          <a:bodyPr wrap="square" lIns="0" tIns="0" rIns="0" bIns="0" rtlCol="0" anchor="ctr"/>
          <a:lstStyle/>
          <a:p>
            <a:pPr indent="0" marL="0">
              <a:buNone/>
            </a:pPr>
            <a:r>
              <a:rPr lang="en-US" sz="1100" dirty="0">
                <a:solidFill>
                  <a:srgbClr val="1B2B3A"/>
                </a:solidFill>
                <a:latin typeface="Calibri" pitchFamily="34" charset="0"/>
                <a:ea typeface="Calibri" pitchFamily="34" charset="-122"/>
                <a:cs typeface="Calibri" pitchFamily="34" charset="-120"/>
              </a:rPr>
              <a:t>Suy luận thời gian</a:t>
            </a:r>
            <a:endParaRPr lang="en-US" sz="1100" dirty="0"/>
          </a:p>
        </p:txBody>
      </p:sp>
      <p:sp>
        <p:nvSpPr>
          <p:cNvPr id="11" name="Text 8"/>
          <p:cNvSpPr txBox="1"/>
          <p:nvPr/>
        </p:nvSpPr>
        <p:spPr>
          <a:xfrm>
            <a:off x="2377440" y="2715768"/>
            <a:ext cx="411480" cy="292608"/>
          </a:xfrm>
          <a:prstGeom prst="rect">
            <a:avLst/>
          </a:prstGeom>
          <a:noFill/>
          <a:ln/>
        </p:spPr>
        <p:txBody>
          <a:bodyPr wrap="square" lIns="0" tIns="0" rIns="0" bIns="0" rtlCol="0" anchor="ctr"/>
          <a:lstStyle/>
          <a:p>
            <a:pPr algn="r" indent="0" marL="0">
              <a:buNone/>
            </a:pPr>
            <a:r>
              <a:rPr lang="en-US" sz="1100" b="1" dirty="0">
                <a:solidFill>
                  <a:srgbClr val="C8553D"/>
                </a:solidFill>
                <a:latin typeface="Calibri" pitchFamily="34" charset="0"/>
                <a:ea typeface="Calibri" pitchFamily="34" charset="-122"/>
                <a:cs typeface="Calibri" pitchFamily="34" charset="-120"/>
              </a:rPr>
              <a:t>6</a:t>
            </a:r>
            <a:endParaRPr lang="en-US" sz="1100" dirty="0"/>
          </a:p>
        </p:txBody>
      </p:sp>
      <p:sp>
        <p:nvSpPr>
          <p:cNvPr id="12" name="Text 9"/>
          <p:cNvSpPr txBox="1"/>
          <p:nvPr/>
        </p:nvSpPr>
        <p:spPr>
          <a:xfrm>
            <a:off x="548640" y="3054096"/>
            <a:ext cx="1828800" cy="292608"/>
          </a:xfrm>
          <a:prstGeom prst="rect">
            <a:avLst/>
          </a:prstGeom>
          <a:noFill/>
          <a:ln/>
        </p:spPr>
        <p:txBody>
          <a:bodyPr wrap="square" lIns="0" tIns="0" rIns="0" bIns="0" rtlCol="0" anchor="ctr"/>
          <a:lstStyle/>
          <a:p>
            <a:pPr indent="0" marL="0">
              <a:buNone/>
            </a:pPr>
            <a:r>
              <a:rPr lang="en-US" sz="1100" dirty="0">
                <a:solidFill>
                  <a:srgbClr val="1B2B3A"/>
                </a:solidFill>
                <a:latin typeface="Calibri" pitchFamily="34" charset="0"/>
                <a:ea typeface="Calibri" pitchFamily="34" charset="-122"/>
                <a:cs typeface="Calibri" pitchFamily="34" charset="-120"/>
              </a:rPr>
              <a:t>Cập nhật kiến thức</a:t>
            </a:r>
            <a:endParaRPr lang="en-US" sz="1100" dirty="0"/>
          </a:p>
        </p:txBody>
      </p:sp>
      <p:sp>
        <p:nvSpPr>
          <p:cNvPr id="13" name="Text 10"/>
          <p:cNvSpPr txBox="1"/>
          <p:nvPr/>
        </p:nvSpPr>
        <p:spPr>
          <a:xfrm>
            <a:off x="2377440" y="3054096"/>
            <a:ext cx="411480" cy="292608"/>
          </a:xfrm>
          <a:prstGeom prst="rect">
            <a:avLst/>
          </a:prstGeom>
          <a:noFill/>
          <a:ln/>
        </p:spPr>
        <p:txBody>
          <a:bodyPr wrap="square" lIns="0" tIns="0" rIns="0" bIns="0" rtlCol="0" anchor="ctr"/>
          <a:lstStyle/>
          <a:p>
            <a:pPr algn="r" indent="0" marL="0">
              <a:buNone/>
            </a:pPr>
            <a:r>
              <a:rPr lang="en-US" sz="1100" b="1" dirty="0">
                <a:solidFill>
                  <a:srgbClr val="5B6B7A"/>
                </a:solidFill>
                <a:latin typeface="Calibri" pitchFamily="34" charset="0"/>
                <a:ea typeface="Calibri" pitchFamily="34" charset="-122"/>
                <a:cs typeface="Calibri" pitchFamily="34" charset="-120"/>
              </a:rPr>
              <a:t>3</a:t>
            </a:r>
            <a:endParaRPr lang="en-US" sz="1100" dirty="0"/>
          </a:p>
        </p:txBody>
      </p:sp>
      <p:sp>
        <p:nvSpPr>
          <p:cNvPr id="14" name="Text 11"/>
          <p:cNvSpPr txBox="1"/>
          <p:nvPr/>
        </p:nvSpPr>
        <p:spPr>
          <a:xfrm>
            <a:off x="548640" y="3392424"/>
            <a:ext cx="1828800" cy="292608"/>
          </a:xfrm>
          <a:prstGeom prst="rect">
            <a:avLst/>
          </a:prstGeom>
          <a:noFill/>
          <a:ln/>
        </p:spPr>
        <p:txBody>
          <a:bodyPr wrap="square" lIns="0" tIns="0" rIns="0" bIns="0" rtlCol="0" anchor="ctr"/>
          <a:lstStyle/>
          <a:p>
            <a:pPr indent="0" marL="0">
              <a:buNone/>
            </a:pPr>
            <a:r>
              <a:rPr lang="en-US" sz="1100" dirty="0">
                <a:solidFill>
                  <a:srgbClr val="1B2B3A"/>
                </a:solidFill>
                <a:latin typeface="Calibri" pitchFamily="34" charset="0"/>
                <a:ea typeface="Calibri" pitchFamily="34" charset="-122"/>
                <a:cs typeface="Calibri" pitchFamily="34" charset="-120"/>
              </a:rPr>
              <a:t>Đơn phiên · trợ lý</a:t>
            </a:r>
            <a:endParaRPr lang="en-US" sz="1100" dirty="0"/>
          </a:p>
        </p:txBody>
      </p:sp>
      <p:sp>
        <p:nvSpPr>
          <p:cNvPr id="15" name="Text 12"/>
          <p:cNvSpPr txBox="1"/>
          <p:nvPr/>
        </p:nvSpPr>
        <p:spPr>
          <a:xfrm>
            <a:off x="2377440" y="3392424"/>
            <a:ext cx="411480" cy="292608"/>
          </a:xfrm>
          <a:prstGeom prst="rect">
            <a:avLst/>
          </a:prstGeom>
          <a:noFill/>
          <a:ln/>
        </p:spPr>
        <p:txBody>
          <a:bodyPr wrap="square" lIns="0" tIns="0" rIns="0" bIns="0" rtlCol="0" anchor="ctr"/>
          <a:lstStyle/>
          <a:p>
            <a:pPr algn="r" indent="0" marL="0">
              <a:buNone/>
            </a:pPr>
            <a:r>
              <a:rPr lang="en-US" sz="1100" b="1" dirty="0">
                <a:solidFill>
                  <a:srgbClr val="5B6B7A"/>
                </a:solidFill>
                <a:latin typeface="Calibri" pitchFamily="34" charset="0"/>
                <a:ea typeface="Calibri" pitchFamily="34" charset="-122"/>
                <a:cs typeface="Calibri" pitchFamily="34" charset="-120"/>
              </a:rPr>
              <a:t>3</a:t>
            </a:r>
            <a:endParaRPr lang="en-US" sz="1100" dirty="0"/>
          </a:p>
        </p:txBody>
      </p:sp>
      <p:sp>
        <p:nvSpPr>
          <p:cNvPr id="16" name="Text 13"/>
          <p:cNvSpPr txBox="1"/>
          <p:nvPr/>
        </p:nvSpPr>
        <p:spPr>
          <a:xfrm>
            <a:off x="548640" y="3730752"/>
            <a:ext cx="1828800" cy="292608"/>
          </a:xfrm>
          <a:prstGeom prst="rect">
            <a:avLst/>
          </a:prstGeom>
          <a:noFill/>
          <a:ln/>
        </p:spPr>
        <p:txBody>
          <a:bodyPr wrap="square" lIns="0" tIns="0" rIns="0" bIns="0" rtlCol="0" anchor="ctr"/>
          <a:lstStyle/>
          <a:p>
            <a:pPr indent="0" marL="0">
              <a:buNone/>
            </a:pPr>
            <a:r>
              <a:rPr lang="en-US" sz="1100" dirty="0">
                <a:solidFill>
                  <a:srgbClr val="1B2B3A"/>
                </a:solidFill>
                <a:latin typeface="Calibri" pitchFamily="34" charset="0"/>
                <a:ea typeface="Calibri" pitchFamily="34" charset="-122"/>
                <a:cs typeface="Calibri" pitchFamily="34" charset="-120"/>
              </a:rPr>
              <a:t>Đơn phiên · sở thích</a:t>
            </a:r>
            <a:endParaRPr lang="en-US" sz="1100" dirty="0"/>
          </a:p>
        </p:txBody>
      </p:sp>
      <p:sp>
        <p:nvSpPr>
          <p:cNvPr id="17" name="Text 14"/>
          <p:cNvSpPr txBox="1"/>
          <p:nvPr/>
        </p:nvSpPr>
        <p:spPr>
          <a:xfrm>
            <a:off x="2377440" y="3730752"/>
            <a:ext cx="411480" cy="292608"/>
          </a:xfrm>
          <a:prstGeom prst="rect">
            <a:avLst/>
          </a:prstGeom>
          <a:noFill/>
          <a:ln/>
        </p:spPr>
        <p:txBody>
          <a:bodyPr wrap="square" lIns="0" tIns="0" rIns="0" bIns="0" rtlCol="0" anchor="ctr"/>
          <a:lstStyle/>
          <a:p>
            <a:pPr algn="r" indent="0" marL="0">
              <a:buNone/>
            </a:pPr>
            <a:r>
              <a:rPr lang="en-US" sz="1100" b="1" dirty="0">
                <a:solidFill>
                  <a:srgbClr val="5B6B7A"/>
                </a:solidFill>
                <a:latin typeface="Calibri" pitchFamily="34" charset="0"/>
                <a:ea typeface="Calibri" pitchFamily="34" charset="-122"/>
                <a:cs typeface="Calibri" pitchFamily="34" charset="-120"/>
              </a:rPr>
              <a:t>2</a:t>
            </a:r>
            <a:endParaRPr lang="en-US" sz="1100" dirty="0"/>
          </a:p>
        </p:txBody>
      </p:sp>
      <p:sp>
        <p:nvSpPr>
          <p:cNvPr id="18" name="Text 15"/>
          <p:cNvSpPr txBox="1"/>
          <p:nvPr/>
        </p:nvSpPr>
        <p:spPr>
          <a:xfrm>
            <a:off x="548640" y="4069080"/>
            <a:ext cx="1828800" cy="292608"/>
          </a:xfrm>
          <a:prstGeom prst="rect">
            <a:avLst/>
          </a:prstGeom>
          <a:noFill/>
          <a:ln/>
        </p:spPr>
        <p:txBody>
          <a:bodyPr wrap="square" lIns="0" tIns="0" rIns="0" bIns="0" rtlCol="0" anchor="ctr"/>
          <a:lstStyle/>
          <a:p>
            <a:pPr indent="0" marL="0">
              <a:buNone/>
            </a:pPr>
            <a:r>
              <a:rPr lang="en-US" sz="1100" dirty="0">
                <a:solidFill>
                  <a:srgbClr val="1B2B3A"/>
                </a:solidFill>
                <a:latin typeface="Calibri" pitchFamily="34" charset="0"/>
                <a:ea typeface="Calibri" pitchFamily="34" charset="-122"/>
                <a:cs typeface="Calibri" pitchFamily="34" charset="-120"/>
              </a:rPr>
              <a:t>Đơn phiên · người dùng</a:t>
            </a:r>
            <a:endParaRPr lang="en-US" sz="1100" dirty="0"/>
          </a:p>
        </p:txBody>
      </p:sp>
      <p:sp>
        <p:nvSpPr>
          <p:cNvPr id="19" name="Text 16"/>
          <p:cNvSpPr txBox="1"/>
          <p:nvPr/>
        </p:nvSpPr>
        <p:spPr>
          <a:xfrm>
            <a:off x="2377440" y="4069080"/>
            <a:ext cx="411480" cy="292608"/>
          </a:xfrm>
          <a:prstGeom prst="rect">
            <a:avLst/>
          </a:prstGeom>
          <a:noFill/>
          <a:ln/>
        </p:spPr>
        <p:txBody>
          <a:bodyPr wrap="square" lIns="0" tIns="0" rIns="0" bIns="0" rtlCol="0" anchor="ctr"/>
          <a:lstStyle/>
          <a:p>
            <a:pPr algn="r" indent="0" marL="0">
              <a:buNone/>
            </a:pPr>
            <a:r>
              <a:rPr lang="en-US" sz="1100" b="1" dirty="0">
                <a:solidFill>
                  <a:srgbClr val="5B6B7A"/>
                </a:solidFill>
                <a:latin typeface="Calibri" pitchFamily="34" charset="0"/>
                <a:ea typeface="Calibri" pitchFamily="34" charset="-122"/>
                <a:cs typeface="Calibri" pitchFamily="34" charset="-120"/>
              </a:rPr>
              <a:t>1</a:t>
            </a:r>
            <a:endParaRPr lang="en-US" sz="1100" dirty="0"/>
          </a:p>
        </p:txBody>
      </p:sp>
      <p:sp>
        <p:nvSpPr>
          <p:cNvPr id="20" name="Shape 17"/>
          <p:cNvSpPr/>
          <p:nvPr/>
        </p:nvSpPr>
        <p:spPr>
          <a:xfrm>
            <a:off x="3108960" y="1188720"/>
            <a:ext cx="1783080" cy="868680"/>
          </a:xfrm>
          <a:prstGeom prst="rect">
            <a:avLst/>
          </a:prstGeom>
          <a:solidFill>
            <a:srgbClr val="FFFFFF"/>
          </a:solidFill>
          <a:ln w="9525">
            <a:solidFill>
              <a:srgbClr val="DCE3EA"/>
            </a:solidFill>
            <a:prstDash val="solid"/>
          </a:ln>
        </p:spPr>
      </p:sp>
      <p:sp>
        <p:nvSpPr>
          <p:cNvPr id="21" name="Text 18"/>
          <p:cNvSpPr txBox="1"/>
          <p:nvPr/>
        </p:nvSpPr>
        <p:spPr>
          <a:xfrm>
            <a:off x="3108960" y="1216152"/>
            <a:ext cx="1783080" cy="502920"/>
          </a:xfrm>
          <a:prstGeom prst="rect">
            <a:avLst/>
          </a:prstGeom>
          <a:noFill/>
          <a:ln/>
        </p:spPr>
        <p:txBody>
          <a:bodyPr wrap="square" lIns="0" tIns="0" rIns="0" bIns="0" rtlCol="0" anchor="ctr"/>
          <a:lstStyle/>
          <a:p>
            <a:pPr algn="ctr" indent="0" marL="0">
              <a:buNone/>
            </a:pPr>
            <a:r>
              <a:rPr lang="en-US" sz="2800" b="1" dirty="0">
                <a:solidFill>
                  <a:srgbClr val="C8553D"/>
                </a:solidFill>
                <a:latin typeface="Cambria" pitchFamily="34" charset="0"/>
                <a:ea typeface="Cambria" pitchFamily="34" charset="-122"/>
                <a:cs typeface="Cambria" pitchFamily="34" charset="-120"/>
              </a:rPr>
              <a:t>21</a:t>
            </a:r>
            <a:endParaRPr lang="en-US" sz="2800" dirty="0"/>
          </a:p>
        </p:txBody>
      </p:sp>
      <p:sp>
        <p:nvSpPr>
          <p:cNvPr id="22" name="Text 19"/>
          <p:cNvSpPr txBox="1"/>
          <p:nvPr/>
        </p:nvSpPr>
        <p:spPr>
          <a:xfrm>
            <a:off x="3108960" y="1719072"/>
            <a:ext cx="1783080" cy="274320"/>
          </a:xfrm>
          <a:prstGeom prst="rect">
            <a:avLst/>
          </a:prstGeom>
          <a:noFill/>
          <a:ln/>
        </p:spPr>
        <p:txBody>
          <a:bodyPr wrap="square" lIns="0" tIns="0" rIns="0" bIns="0" rtlCol="0" anchor="ctr"/>
          <a:lstStyle/>
          <a:p>
            <a:pPr algn="ctr" indent="0" marL="0">
              <a:buNone/>
            </a:pPr>
            <a:r>
              <a:rPr lang="en-US" sz="1050" dirty="0">
                <a:solidFill>
                  <a:srgbClr val="1B2B3A"/>
                </a:solidFill>
                <a:latin typeface="Calibri" pitchFamily="34" charset="0"/>
                <a:ea typeface="Calibri" pitchFamily="34" charset="-122"/>
                <a:cs typeface="Calibri" pitchFamily="34" charset="-120"/>
              </a:rPr>
              <a:t>reasoning</a:t>
            </a:r>
            <a:endParaRPr lang="en-US" sz="1050" dirty="0"/>
          </a:p>
        </p:txBody>
      </p:sp>
      <p:sp>
        <p:nvSpPr>
          <p:cNvPr id="23" name="Shape 20"/>
          <p:cNvSpPr/>
          <p:nvPr/>
        </p:nvSpPr>
        <p:spPr>
          <a:xfrm>
            <a:off x="4983480" y="1188720"/>
            <a:ext cx="1783080" cy="868680"/>
          </a:xfrm>
          <a:prstGeom prst="rect">
            <a:avLst/>
          </a:prstGeom>
          <a:solidFill>
            <a:srgbClr val="FFFFFF"/>
          </a:solidFill>
          <a:ln w="9525">
            <a:solidFill>
              <a:srgbClr val="DCE3EA"/>
            </a:solidFill>
            <a:prstDash val="solid"/>
          </a:ln>
        </p:spPr>
      </p:sp>
      <p:sp>
        <p:nvSpPr>
          <p:cNvPr id="24" name="Text 21"/>
          <p:cNvSpPr txBox="1"/>
          <p:nvPr/>
        </p:nvSpPr>
        <p:spPr>
          <a:xfrm>
            <a:off x="4983480" y="1216152"/>
            <a:ext cx="1783080" cy="502920"/>
          </a:xfrm>
          <a:prstGeom prst="rect">
            <a:avLst/>
          </a:prstGeom>
          <a:noFill/>
          <a:ln/>
        </p:spPr>
        <p:txBody>
          <a:bodyPr wrap="square" lIns="0" tIns="0" rIns="0" bIns="0" rtlCol="0" anchor="ctr"/>
          <a:lstStyle/>
          <a:p>
            <a:pPr algn="ctr" indent="0" marL="0">
              <a:buNone/>
            </a:pPr>
            <a:r>
              <a:rPr lang="en-US" sz="2800" b="1" dirty="0">
                <a:solidFill>
                  <a:srgbClr val="5B6B7A"/>
                </a:solidFill>
                <a:latin typeface="Cambria" pitchFamily="34" charset="0"/>
                <a:ea typeface="Cambria" pitchFamily="34" charset="-122"/>
                <a:cs typeface="Cambria" pitchFamily="34" charset="-120"/>
              </a:rPr>
              <a:t>1</a:t>
            </a:r>
            <a:endParaRPr lang="en-US" sz="2800" dirty="0"/>
          </a:p>
        </p:txBody>
      </p:sp>
      <p:sp>
        <p:nvSpPr>
          <p:cNvPr id="25" name="Text 22"/>
          <p:cNvSpPr txBox="1"/>
          <p:nvPr/>
        </p:nvSpPr>
        <p:spPr>
          <a:xfrm>
            <a:off x="4983480" y="1719072"/>
            <a:ext cx="1783080" cy="274320"/>
          </a:xfrm>
          <a:prstGeom prst="rect">
            <a:avLst/>
          </a:prstGeom>
          <a:noFill/>
          <a:ln/>
        </p:spPr>
        <p:txBody>
          <a:bodyPr wrap="square" lIns="0" tIns="0" rIns="0" bIns="0" rtlCol="0" anchor="ctr"/>
          <a:lstStyle/>
          <a:p>
            <a:pPr algn="ctr" indent="0" marL="0">
              <a:buNone/>
            </a:pPr>
            <a:r>
              <a:rPr lang="en-US" sz="1050" dirty="0">
                <a:solidFill>
                  <a:srgbClr val="1B2B3A"/>
                </a:solidFill>
                <a:latin typeface="Calibri" pitchFamily="34" charset="0"/>
                <a:ea typeface="Calibri" pitchFamily="34" charset="-122"/>
                <a:cs typeface="Calibri" pitchFamily="34" charset="-120"/>
              </a:rPr>
              <a:t>không biết từ chối</a:t>
            </a:r>
            <a:endParaRPr lang="en-US" sz="1050" dirty="0"/>
          </a:p>
        </p:txBody>
      </p:sp>
      <p:sp>
        <p:nvSpPr>
          <p:cNvPr id="26" name="Shape 23"/>
          <p:cNvSpPr/>
          <p:nvPr/>
        </p:nvSpPr>
        <p:spPr>
          <a:xfrm>
            <a:off x="6858000" y="1188720"/>
            <a:ext cx="1783080" cy="868680"/>
          </a:xfrm>
          <a:prstGeom prst="rect">
            <a:avLst/>
          </a:prstGeom>
          <a:solidFill>
            <a:srgbClr val="FFFFFF"/>
          </a:solidFill>
          <a:ln w="9525">
            <a:solidFill>
              <a:srgbClr val="DCE3EA"/>
            </a:solidFill>
            <a:prstDash val="solid"/>
          </a:ln>
        </p:spPr>
      </p:sp>
      <p:sp>
        <p:nvSpPr>
          <p:cNvPr id="27" name="Text 24"/>
          <p:cNvSpPr txBox="1"/>
          <p:nvPr/>
        </p:nvSpPr>
        <p:spPr>
          <a:xfrm>
            <a:off x="6858000" y="1216152"/>
            <a:ext cx="1783080" cy="502920"/>
          </a:xfrm>
          <a:prstGeom prst="rect">
            <a:avLst/>
          </a:prstGeom>
          <a:noFill/>
          <a:ln/>
        </p:spPr>
        <p:txBody>
          <a:bodyPr wrap="square" lIns="0" tIns="0" rIns="0" bIns="0" rtlCol="0" anchor="ctr"/>
          <a:lstStyle/>
          <a:p>
            <a:pPr algn="ctr" indent="0" marL="0">
              <a:buNone/>
            </a:pPr>
            <a:r>
              <a:rPr lang="en-US" sz="2800" b="1" dirty="0">
                <a:solidFill>
                  <a:srgbClr val="5B6B7A"/>
                </a:solidFill>
                <a:latin typeface="Cambria" pitchFamily="34" charset="0"/>
                <a:ea typeface="Cambria" pitchFamily="34" charset="-122"/>
                <a:cs typeface="Cambria" pitchFamily="34" charset="-120"/>
              </a:rPr>
              <a:t>1</a:t>
            </a:r>
            <a:endParaRPr lang="en-US" sz="2800" dirty="0"/>
          </a:p>
        </p:txBody>
      </p:sp>
      <p:sp>
        <p:nvSpPr>
          <p:cNvPr id="28" name="Text 25"/>
          <p:cNvSpPr txBox="1"/>
          <p:nvPr/>
        </p:nvSpPr>
        <p:spPr>
          <a:xfrm>
            <a:off x="6858000" y="1719072"/>
            <a:ext cx="1783080" cy="274320"/>
          </a:xfrm>
          <a:prstGeom prst="rect">
            <a:avLst/>
          </a:prstGeom>
          <a:noFill/>
          <a:ln/>
        </p:spPr>
        <p:txBody>
          <a:bodyPr wrap="square" lIns="0" tIns="0" rIns="0" bIns="0" rtlCol="0" anchor="ctr"/>
          <a:lstStyle/>
          <a:p>
            <a:pPr algn="ctr" indent="0" marL="0">
              <a:buNone/>
            </a:pPr>
            <a:r>
              <a:rPr lang="en-US" sz="1050" dirty="0">
                <a:solidFill>
                  <a:srgbClr val="1B2B3A"/>
                </a:solidFill>
                <a:latin typeface="Calibri" pitchFamily="34" charset="0"/>
                <a:ea typeface="Calibri" pitchFamily="34" charset="-122"/>
                <a:cs typeface="Calibri" pitchFamily="34" charset="-120"/>
              </a:rPr>
              <a:t>bộ lọc loại mất phiên</a:t>
            </a:r>
            <a:endParaRPr lang="en-US" sz="1050" dirty="0"/>
          </a:p>
        </p:txBody>
      </p:sp>
      <p:sp>
        <p:nvSpPr>
          <p:cNvPr id="29" name="Text 26"/>
          <p:cNvSpPr txBox="1"/>
          <p:nvPr/>
        </p:nvSpPr>
        <p:spPr>
          <a:xfrm>
            <a:off x="3108960" y="2176272"/>
            <a:ext cx="5577840" cy="274320"/>
          </a:xfrm>
          <a:prstGeom prst="rect">
            <a:avLst/>
          </a:prstGeom>
          <a:noFill/>
          <a:ln/>
        </p:spPr>
        <p:txBody>
          <a:bodyPr wrap="square" lIns="0" tIns="0" rIns="0" bIns="0" rtlCol="0" anchor="ctr"/>
          <a:lstStyle/>
          <a:p>
            <a:pPr indent="0" marL="0">
              <a:buNone/>
            </a:pPr>
            <a:r>
              <a:rPr lang="en-US" sz="1250" b="1" dirty="0">
                <a:solidFill>
                  <a:srgbClr val="10243E"/>
                </a:solidFill>
                <a:latin typeface="Cambria" pitchFamily="34" charset="0"/>
                <a:ea typeface="Cambria" pitchFamily="34" charset="-122"/>
                <a:cs typeface="Cambria" pitchFamily="34" charset="-120"/>
              </a:rPr>
              <a:t>Trong 8 câu cả hai hệ cùng sai, ví dụ:</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108960" y="2487168"/>
          <a:ext cx="5577840" cy="914400"/>
        </p:xfrm>
        <a:graphic>
          <a:graphicData uri="http://schemas.openxmlformats.org/drawingml/2006/table">
            <a:tbl>
              <a:tblPr/>
              <a:tblGrid>
                <a:gridCol w="1097280"/>
                <a:gridCol w="2011680"/>
                <a:gridCol w="731520"/>
                <a:gridCol w="1737360"/>
              </a:tblGrid>
              <a:tr h="36576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Loại</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Câu hỏi</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Đáp án</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APEX-MEM trả lời</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365760">
                <a:tc>
                  <a:txBody>
                    <a:bodyPr/>
                    <a:lstStyle/>
                    <a:p>
                      <a:pPr indent="0" marL="0">
                        <a:buNone/>
                      </a:pPr>
                      <a:r>
                        <a:rPr lang="en-US" sz="850" b="1" dirty="0">
                          <a:solidFill>
                            <a:srgbClr val="1F6F8B"/>
                          </a:solidFill>
                          <a:latin typeface="Calibri" pitchFamily="34" charset="0"/>
                          <a:ea typeface="Calibri" pitchFamily="34" charset="-122"/>
                          <a:cs typeface="Calibri" pitchFamily="34" charset="-120"/>
                        </a:rPr>
                        <a:t>Suy luận thời gian</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I mentioned visiting a museum two months ago. Did I visit with a frie…</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No, you did not visit…</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Yes. Two months ago, you visited the Science Museum with…</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65760">
                <a:tc>
                  <a:txBody>
                    <a:bodyPr/>
                    <a:lstStyle/>
                    <a:p>
                      <a:pPr indent="0" marL="0">
                        <a:buNone/>
                      </a:pPr>
                      <a:r>
                        <a:rPr lang="en-US" sz="850" b="1" dirty="0">
                          <a:solidFill>
                            <a:srgbClr val="1F6F8B"/>
                          </a:solidFill>
                          <a:latin typeface="Calibri" pitchFamily="34" charset="0"/>
                          <a:ea typeface="Calibri" pitchFamily="34" charset="-122"/>
                          <a:cs typeface="Calibri" pitchFamily="34" charset="-120"/>
                        </a:rPr>
                        <a:t>Đa phiên</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What was the page count of the two novels I finished in January and M…</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856</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I don’t have enough information to identify novels finish…</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65760">
                <a:tc>
                  <a:txBody>
                    <a:bodyPr/>
                    <a:lstStyle/>
                    <a:p>
                      <a:pPr indent="0" marL="0">
                        <a:buNone/>
                      </a:pPr>
                      <a:r>
                        <a:rPr lang="en-US" sz="850" b="1" dirty="0">
                          <a:solidFill>
                            <a:srgbClr val="1F6F8B"/>
                          </a:solidFill>
                          <a:latin typeface="Calibri" pitchFamily="34" charset="0"/>
                          <a:ea typeface="Calibri" pitchFamily="34" charset="-122"/>
                          <a:cs typeface="Calibri" pitchFamily="34" charset="-120"/>
                        </a:rPr>
                        <a:t>Cập nhật kiến thức</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How many pre-1920 American coins do I have in my collection?</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850" dirty="0">
                          <a:solidFill>
                            <a:srgbClr val="1B2B3A"/>
                          </a:solidFill>
                          <a:latin typeface="Calibri" pitchFamily="34" charset="0"/>
                          <a:ea typeface="Calibri" pitchFamily="34" charset="-122"/>
                          <a:cs typeface="Calibri" pitchFamily="34" charset="-120"/>
                        </a:rPr>
                        <a:t>You have 37 pre-1920 American coins in your collection.</a:t>
                      </a:r>
                      <a:endParaRPr lang="en-US" sz="85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
        <p:nvSpPr>
          <p:cNvPr id="31" name="Shape 27"/>
          <p:cNvSpPr/>
          <p:nvPr/>
        </p:nvSpPr>
        <p:spPr>
          <a:xfrm>
            <a:off x="365760" y="4526280"/>
            <a:ext cx="8321040" cy="384048"/>
          </a:xfrm>
          <a:prstGeom prst="rect">
            <a:avLst/>
          </a:prstGeom>
          <a:solidFill>
            <a:srgbClr val="E7F0F4"/>
          </a:solidFill>
          <a:ln w="9525">
            <a:solidFill>
              <a:srgbClr val="DCE3EA"/>
            </a:solidFill>
            <a:prstDash val="solid"/>
          </a:ln>
        </p:spPr>
      </p:sp>
      <p:sp>
        <p:nvSpPr>
          <p:cNvPr id="32" name="Text 28"/>
          <p:cNvSpPr txBox="1"/>
          <p:nvPr/>
        </p:nvSpPr>
        <p:spPr>
          <a:xfrm>
            <a:off x="548640" y="4535424"/>
            <a:ext cx="7955280" cy="365760"/>
          </a:xfrm>
          <a:prstGeom prst="rect">
            <a:avLst/>
          </a:prstGeom>
          <a:noFill/>
          <a:ln/>
        </p:spPr>
        <p:txBody>
          <a:bodyPr wrap="square" lIns="0" tIns="0" rIns="0" bIns="0" rtlCol="0" anchor="ctr"/>
          <a:lstStyle/>
          <a:p>
            <a:pPr indent="0" marL="0">
              <a:buNone/>
            </a:pPr>
            <a:r>
              <a:rPr lang="en-US" sz="1000" b="1" dirty="0">
                <a:solidFill>
                  <a:srgbClr val="10243E"/>
                </a:solidFill>
                <a:latin typeface="Calibri" pitchFamily="34" charset="0"/>
                <a:ea typeface="Calibri" pitchFamily="34" charset="-122"/>
                <a:cs typeface="Calibri" pitchFamily="34" charset="-120"/>
              </a:rPr>
              <a:t>Lưu ý: </a:t>
            </a:r>
            <a:pPr indent="0" marL="0">
              <a:buNone/>
            </a:pPr>
            <a:r>
              <a:rPr lang="en-US" sz="1000" dirty="0">
                <a:solidFill>
                  <a:srgbClr val="1B2B3A"/>
                </a:solidFill>
                <a:latin typeface="Calibri" pitchFamily="34" charset="0"/>
                <a:ea typeface="Calibri" pitchFamily="34" charset="-122"/>
                <a:cs typeface="Calibri" pitchFamily="34" charset="-120"/>
              </a:rPr>
              <a:t>23/23 câu sai đã có fact từ đúng lượt chứa đáp án; nhãn reasoning còn gồm cả trích xuất thiếu fact then chốt.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KẾT QUẢ LIGHTMEM</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Năm loại đạt 78–100%, riêng lượt trợ lý 41%</a:t>
            </a:r>
            <a:endParaRPr lang="en-US" sz="2600" dirty="0"/>
          </a:p>
        </p:txBody>
      </p:sp>
      <p:graphicFrame>
        <p:nvGraphicFramePr>
          <p:cNvPr id="5" name="Chart 0" descr=""/>
          <p:cNvGraphicFramePr/>
          <p:nvPr/>
        </p:nvGraphicFramePr>
        <p:xfrm>
          <a:off x="365760" y="1143000"/>
          <a:ext cx="5212080" cy="292608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760720" y="1143000"/>
            <a:ext cx="2926080" cy="914400"/>
          </a:xfrm>
          <a:prstGeom prst="rect">
            <a:avLst/>
          </a:prstGeom>
          <a:solidFill>
            <a:srgbClr val="FFFFFF"/>
          </a:solidFill>
          <a:ln w="9525">
            <a:solidFill>
              <a:srgbClr val="DCE3EA"/>
            </a:solidFill>
            <a:prstDash val="solid"/>
          </a:ln>
        </p:spPr>
      </p:sp>
      <p:sp>
        <p:nvSpPr>
          <p:cNvPr id="7" name="Text 3"/>
          <p:cNvSpPr txBox="1"/>
          <p:nvPr/>
        </p:nvSpPr>
        <p:spPr>
          <a:xfrm>
            <a:off x="5760720" y="1188720"/>
            <a:ext cx="2926080" cy="566928"/>
          </a:xfrm>
          <a:prstGeom prst="rect">
            <a:avLst/>
          </a:prstGeom>
          <a:noFill/>
          <a:ln/>
        </p:spPr>
        <p:txBody>
          <a:bodyPr wrap="square" lIns="0" tIns="0" rIns="0" bIns="0" rtlCol="0" anchor="ctr"/>
          <a:lstStyle/>
          <a:p>
            <a:pPr algn="ctr" indent="0" marL="0">
              <a:buNone/>
            </a:pPr>
            <a:r>
              <a:rPr lang="en-US" sz="3200" b="1" dirty="0">
                <a:solidFill>
                  <a:srgbClr val="1F6F8B"/>
                </a:solidFill>
                <a:latin typeface="Cambria" pitchFamily="34" charset="0"/>
                <a:ea typeface="Cambria" pitchFamily="34" charset="-122"/>
                <a:cs typeface="Cambria" pitchFamily="34" charset="-120"/>
              </a:rPr>
              <a:t>78,9%</a:t>
            </a:r>
            <a:endParaRPr lang="en-US" sz="3200" dirty="0"/>
          </a:p>
        </p:txBody>
      </p:sp>
      <p:sp>
        <p:nvSpPr>
          <p:cNvPr id="8" name="Text 4"/>
          <p:cNvSpPr txBox="1"/>
          <p:nvPr/>
        </p:nvSpPr>
        <p:spPr>
          <a:xfrm>
            <a:off x="5760720" y="1737360"/>
            <a:ext cx="2926080" cy="274320"/>
          </a:xfrm>
          <a:prstGeom prst="rect">
            <a:avLst/>
          </a:prstGeom>
          <a:noFill/>
          <a:ln/>
        </p:spPr>
        <p:txBody>
          <a:bodyPr wrap="square" lIns="0" tIns="0" rIns="0" bIns="0" rtlCol="0" anchor="ctr"/>
          <a:lstStyle/>
          <a:p>
            <a:pPr algn="ctr" indent="0" marL="0">
              <a:buNone/>
            </a:pPr>
            <a:r>
              <a:rPr lang="en-US" sz="1050" dirty="0">
                <a:solidFill>
                  <a:srgbClr val="5B6B7A"/>
                </a:solidFill>
                <a:latin typeface="Calibri" pitchFamily="34" charset="0"/>
                <a:ea typeface="Calibri" pitchFamily="34" charset="-122"/>
                <a:cs typeface="Calibri" pitchFamily="34" charset="-120"/>
              </a:rPr>
              <a:t>macro-average, 6/6 loại · micro 81,3%</a:t>
            </a:r>
            <a:endParaRPr lang="en-US" sz="1050" dirty="0"/>
          </a:p>
        </p:txBody>
      </p:sp>
      <p:sp>
        <p:nvSpPr>
          <p:cNvPr id="9" name="Shape 5"/>
          <p:cNvSpPr/>
          <p:nvPr/>
        </p:nvSpPr>
        <p:spPr>
          <a:xfrm>
            <a:off x="5760720" y="2240280"/>
            <a:ext cx="2926080" cy="1828800"/>
          </a:xfrm>
          <a:prstGeom prst="rect">
            <a:avLst/>
          </a:prstGeom>
          <a:solidFill>
            <a:srgbClr val="FBEAE5"/>
          </a:solidFill>
          <a:ln w="9525">
            <a:solidFill>
              <a:srgbClr val="DCE3EA"/>
            </a:solidFill>
            <a:prstDash val="solid"/>
          </a:ln>
        </p:spPr>
      </p:sp>
      <p:sp>
        <p:nvSpPr>
          <p:cNvPr id="10" name="Text 6"/>
          <p:cNvSpPr txBox="1"/>
          <p:nvPr/>
        </p:nvSpPr>
        <p:spPr>
          <a:xfrm>
            <a:off x="5760720" y="2331720"/>
            <a:ext cx="2926080" cy="548640"/>
          </a:xfrm>
          <a:prstGeom prst="rect">
            <a:avLst/>
          </a:prstGeom>
          <a:noFill/>
          <a:ln/>
        </p:spPr>
        <p:txBody>
          <a:bodyPr wrap="square" lIns="0" tIns="0" rIns="0" bIns="0" rtlCol="0" anchor="ctr"/>
          <a:lstStyle/>
          <a:p>
            <a:pPr algn="ctr" indent="0" marL="0">
              <a:buNone/>
            </a:pPr>
            <a:r>
              <a:rPr lang="en-US" sz="3200" b="1" dirty="0">
                <a:solidFill>
                  <a:srgbClr val="C8553D"/>
                </a:solidFill>
                <a:latin typeface="Cambria" pitchFamily="34" charset="0"/>
                <a:ea typeface="Cambria" pitchFamily="34" charset="-122"/>
                <a:cs typeface="Cambria" pitchFamily="34" charset="-120"/>
              </a:rPr>
              <a:t>41,2%</a:t>
            </a:r>
            <a:endParaRPr lang="en-US" sz="3200" dirty="0"/>
          </a:p>
        </p:txBody>
      </p:sp>
      <p:sp>
        <p:nvSpPr>
          <p:cNvPr id="11" name="Text 7"/>
          <p:cNvSpPr txBox="1"/>
          <p:nvPr/>
        </p:nvSpPr>
        <p:spPr>
          <a:xfrm>
            <a:off x="5760720" y="2880360"/>
            <a:ext cx="2926080" cy="274320"/>
          </a:xfrm>
          <a:prstGeom prst="rect">
            <a:avLst/>
          </a:prstGeom>
          <a:noFill/>
          <a:ln/>
        </p:spPr>
        <p:txBody>
          <a:bodyPr wrap="square" lIns="0" tIns="0" rIns="0" bIns="0" rtlCol="0" anchor="ctr"/>
          <a:lstStyle/>
          <a:p>
            <a:pPr algn="ctr" indent="0" marL="0">
              <a:buNone/>
            </a:pPr>
            <a:r>
              <a:rPr lang="en-US" sz="1100" b="1" dirty="0">
                <a:solidFill>
                  <a:srgbClr val="10243E"/>
                </a:solidFill>
                <a:latin typeface="Calibri" pitchFamily="34" charset="0"/>
                <a:ea typeface="Calibri" pitchFamily="34" charset="-122"/>
                <a:cs typeface="Calibri" pitchFamily="34" charset="-120"/>
              </a:rPr>
              <a:t>Đơn phiên · trợ lý (7/17)</a:t>
            </a:r>
            <a:endParaRPr lang="en-US" sz="1100" dirty="0"/>
          </a:p>
        </p:txBody>
      </p:sp>
      <p:sp>
        <p:nvSpPr>
          <p:cNvPr id="12" name="Text 8"/>
          <p:cNvSpPr txBox="1"/>
          <p:nvPr/>
        </p:nvSpPr>
        <p:spPr>
          <a:xfrm>
            <a:off x="5943600" y="3200400"/>
            <a:ext cx="2560320" cy="777240"/>
          </a:xfrm>
          <a:prstGeom prst="rect">
            <a:avLst/>
          </a:prstGeom>
          <a:noFill/>
          <a:ln/>
        </p:spPr>
        <p:txBody>
          <a:bodyPr wrap="square" lIns="0" tIns="0" rIns="0" bIns="0" rtlCol="0" anchor="t"/>
          <a:lstStyle/>
          <a:p>
            <a:pPr indent="0" marL="0">
              <a:buNone/>
            </a:pPr>
            <a:r>
              <a:rPr lang="en-US" sz="1100" dirty="0">
                <a:solidFill>
                  <a:srgbClr val="1B2B3A"/>
                </a:solidFill>
                <a:latin typeface="Calibri" pitchFamily="34" charset="0"/>
                <a:ea typeface="Calibri" pitchFamily="34" charset="-122"/>
                <a:cs typeface="Calibri" pitchFamily="34" charset="-120"/>
              </a:rPr>
              <a:t>LightMem chỉ lưu lượt người dùng (user_only), nên câu hỏi “trước đây bạn gợi ý gì” không có bằng chứng nào trong bộ nhớ.</a:t>
            </a:r>
            <a:endParaRPr lang="en-US" sz="1100" dirty="0"/>
          </a:p>
        </p:txBody>
      </p:sp>
      <p:sp>
        <p:nvSpPr>
          <p:cNvPr id="13" name="Shape 9"/>
          <p:cNvSpPr/>
          <p:nvPr/>
        </p:nvSpPr>
        <p:spPr>
          <a:xfrm>
            <a:off x="365760" y="4251960"/>
            <a:ext cx="8321040" cy="594360"/>
          </a:xfrm>
          <a:prstGeom prst="rect">
            <a:avLst/>
          </a:prstGeom>
          <a:solidFill>
            <a:srgbClr val="FDF3E1"/>
          </a:solidFill>
          <a:ln w="9525">
            <a:solidFill>
              <a:srgbClr val="DCE3EA"/>
            </a:solidFill>
            <a:prstDash val="solid"/>
          </a:ln>
        </p:spPr>
      </p:sp>
      <p:sp>
        <p:nvSpPr>
          <p:cNvPr id="14" name="Text 10"/>
          <p:cNvSpPr txBox="1"/>
          <p:nvPr/>
        </p:nvSpPr>
        <p:spPr>
          <a:xfrm>
            <a:off x="548640" y="4297680"/>
            <a:ext cx="7955280" cy="502920"/>
          </a:xfrm>
          <a:prstGeom prst="rect">
            <a:avLst/>
          </a:prstGeom>
          <a:noFill/>
          <a:ln/>
        </p:spPr>
        <p:txBody>
          <a:bodyPr wrap="square" lIns="0" tIns="0" rIns="0" bIns="0" rtlCol="0" anchor="ctr"/>
          <a:lstStyle/>
          <a:p>
            <a:pPr indent="0" marL="0">
              <a:buNone/>
            </a:pPr>
            <a:r>
              <a:rPr lang="en-US" sz="1150" b="1" dirty="0">
                <a:solidFill>
                  <a:srgbClr val="C8553D"/>
                </a:solidFill>
                <a:latin typeface="Calibri" pitchFamily="34" charset="0"/>
                <a:ea typeface="Calibri" pitchFamily="34" charset="-122"/>
                <a:cs typeface="Calibri" pitchFamily="34" charset="-120"/>
              </a:rPr>
              <a:t>Đủ 150 câu dev. </a:t>
            </a:r>
            <a:pPr indent="0" marL="0">
              <a:buNone/>
            </a:pPr>
            <a:r>
              <a:rPr lang="en-US" sz="1150" dirty="0">
                <a:solidFill>
                  <a:srgbClr val="1B2B3A"/>
                </a:solidFill>
                <a:latin typeface="Calibri" pitchFamily="34" charset="0"/>
                <a:ea typeface="Calibri" pitchFamily="34" charset="-122"/>
                <a:cs typeface="Calibri" pitchFamily="34" charset="-120"/>
              </a:rPr>
              <a:t>Nhóm câu từ chối (_abs) chỉ có 4 câu, quá ít để nói về năng lực biết từ chối.</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PHÂN TÍCH LỖI</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Hai kiểu lỗi chính trong 28 câu sai</a:t>
            </a:r>
            <a:endParaRPr lang="en-US" sz="2600" dirty="0"/>
          </a:p>
        </p:txBody>
      </p:sp>
      <p:sp>
        <p:nvSpPr>
          <p:cNvPr id="5" name="Shape 2"/>
          <p:cNvSpPr/>
          <p:nvPr/>
        </p:nvSpPr>
        <p:spPr>
          <a:xfrm>
            <a:off x="365760" y="1188720"/>
            <a:ext cx="2651760" cy="3291840"/>
          </a:xfrm>
          <a:prstGeom prst="rect">
            <a:avLst/>
          </a:prstGeom>
          <a:solidFill>
            <a:srgbClr val="FFFFFF"/>
          </a:solidFill>
          <a:ln w="9525">
            <a:solidFill>
              <a:srgbClr val="DCE3EA"/>
            </a:solidFill>
            <a:prstDash val="solid"/>
          </a:ln>
        </p:spPr>
      </p:sp>
      <p:sp>
        <p:nvSpPr>
          <p:cNvPr id="6" name="Text 3"/>
          <p:cNvSpPr txBox="1"/>
          <p:nvPr/>
        </p:nvSpPr>
        <p:spPr>
          <a:xfrm>
            <a:off x="365760" y="1325880"/>
            <a:ext cx="2651760" cy="777240"/>
          </a:xfrm>
          <a:prstGeom prst="rect">
            <a:avLst/>
          </a:prstGeom>
          <a:noFill/>
          <a:ln/>
        </p:spPr>
        <p:txBody>
          <a:bodyPr wrap="square" lIns="0" tIns="0" rIns="0" bIns="0" rtlCol="0" anchor="ctr"/>
          <a:lstStyle/>
          <a:p>
            <a:pPr algn="ctr" indent="0" marL="0">
              <a:buNone/>
            </a:pPr>
            <a:r>
              <a:rPr lang="en-US" sz="4600" b="1" dirty="0">
                <a:solidFill>
                  <a:srgbClr val="C8553D"/>
                </a:solidFill>
                <a:latin typeface="Cambria" pitchFamily="34" charset="0"/>
                <a:ea typeface="Cambria" pitchFamily="34" charset="-122"/>
                <a:cs typeface="Cambria" pitchFamily="34" charset="-120"/>
              </a:rPr>
              <a:t>28</a:t>
            </a:r>
            <a:endParaRPr lang="en-US" sz="4600" dirty="0"/>
          </a:p>
        </p:txBody>
      </p:sp>
      <p:sp>
        <p:nvSpPr>
          <p:cNvPr id="7" name="Text 4"/>
          <p:cNvSpPr txBox="1"/>
          <p:nvPr/>
        </p:nvSpPr>
        <p:spPr>
          <a:xfrm>
            <a:off x="457200" y="2103120"/>
            <a:ext cx="2468880" cy="274320"/>
          </a:xfrm>
          <a:prstGeom prst="rect">
            <a:avLst/>
          </a:prstGeom>
          <a:noFill/>
          <a:ln/>
        </p:spPr>
        <p:txBody>
          <a:bodyPr wrap="square" lIns="0" tIns="0" rIns="0" bIns="0" rtlCol="0" anchor="ctr"/>
          <a:lstStyle/>
          <a:p>
            <a:pPr algn="ctr" indent="0" marL="0">
              <a:buNone/>
            </a:pPr>
            <a:r>
              <a:rPr lang="en-US" sz="1150" dirty="0">
                <a:solidFill>
                  <a:srgbClr val="5B6B7A"/>
                </a:solidFill>
                <a:latin typeface="Calibri" pitchFamily="34" charset="0"/>
                <a:ea typeface="Calibri" pitchFamily="34" charset="-122"/>
                <a:cs typeface="Calibri" pitchFamily="34" charset="-120"/>
              </a:rPr>
              <a:t>câu sai trong 150 câu đã chạy</a:t>
            </a:r>
            <a:endParaRPr lang="en-US" sz="1150" dirty="0"/>
          </a:p>
        </p:txBody>
      </p:sp>
      <p:sp>
        <p:nvSpPr>
          <p:cNvPr id="8" name="Text 5"/>
          <p:cNvSpPr txBox="1"/>
          <p:nvPr/>
        </p:nvSpPr>
        <p:spPr>
          <a:xfrm>
            <a:off x="594360" y="2560320"/>
            <a:ext cx="1828800" cy="310896"/>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Đơn phiên · trợ lý</a:t>
            </a:r>
            <a:endParaRPr lang="en-US" sz="1150" dirty="0"/>
          </a:p>
        </p:txBody>
      </p:sp>
      <p:sp>
        <p:nvSpPr>
          <p:cNvPr id="9" name="Text 6"/>
          <p:cNvSpPr txBox="1"/>
          <p:nvPr/>
        </p:nvSpPr>
        <p:spPr>
          <a:xfrm>
            <a:off x="2423160" y="2560320"/>
            <a:ext cx="411480" cy="310896"/>
          </a:xfrm>
          <a:prstGeom prst="rect">
            <a:avLst/>
          </a:prstGeom>
          <a:noFill/>
          <a:ln/>
        </p:spPr>
        <p:txBody>
          <a:bodyPr wrap="square" lIns="0" tIns="0" rIns="0" bIns="0" rtlCol="0" anchor="ctr"/>
          <a:lstStyle/>
          <a:p>
            <a:pPr algn="r" indent="0" marL="0">
              <a:buNone/>
            </a:pPr>
            <a:r>
              <a:rPr lang="en-US" sz="1150" b="1" dirty="0">
                <a:solidFill>
                  <a:srgbClr val="C8553D"/>
                </a:solidFill>
                <a:latin typeface="Calibri" pitchFamily="34" charset="0"/>
                <a:ea typeface="Calibri" pitchFamily="34" charset="-122"/>
                <a:cs typeface="Calibri" pitchFamily="34" charset="-120"/>
              </a:rPr>
              <a:t>10</a:t>
            </a:r>
            <a:endParaRPr lang="en-US" sz="1150" dirty="0"/>
          </a:p>
        </p:txBody>
      </p:sp>
      <p:sp>
        <p:nvSpPr>
          <p:cNvPr id="10" name="Text 7"/>
          <p:cNvSpPr txBox="1"/>
          <p:nvPr/>
        </p:nvSpPr>
        <p:spPr>
          <a:xfrm>
            <a:off x="594360" y="2926080"/>
            <a:ext cx="1828800" cy="310896"/>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Đa phiên</a:t>
            </a:r>
            <a:endParaRPr lang="en-US" sz="1150" dirty="0"/>
          </a:p>
        </p:txBody>
      </p:sp>
      <p:sp>
        <p:nvSpPr>
          <p:cNvPr id="11" name="Text 8"/>
          <p:cNvSpPr txBox="1"/>
          <p:nvPr/>
        </p:nvSpPr>
        <p:spPr>
          <a:xfrm>
            <a:off x="2423160" y="2926080"/>
            <a:ext cx="411480" cy="310896"/>
          </a:xfrm>
          <a:prstGeom prst="rect">
            <a:avLst/>
          </a:prstGeom>
          <a:noFill/>
          <a:ln/>
        </p:spPr>
        <p:txBody>
          <a:bodyPr wrap="square" lIns="0" tIns="0" rIns="0" bIns="0" rtlCol="0" anchor="ctr"/>
          <a:lstStyle/>
          <a:p>
            <a:pPr algn="r" indent="0" marL="0">
              <a:buNone/>
            </a:pPr>
            <a:r>
              <a:rPr lang="en-US" sz="1150" b="1" dirty="0">
                <a:solidFill>
                  <a:srgbClr val="C8553D"/>
                </a:solidFill>
                <a:latin typeface="Calibri" pitchFamily="34" charset="0"/>
                <a:ea typeface="Calibri" pitchFamily="34" charset="-122"/>
                <a:cs typeface="Calibri" pitchFamily="34" charset="-120"/>
              </a:rPr>
              <a:t>7</a:t>
            </a:r>
            <a:endParaRPr lang="en-US" sz="1150" dirty="0"/>
          </a:p>
        </p:txBody>
      </p:sp>
      <p:sp>
        <p:nvSpPr>
          <p:cNvPr id="12" name="Text 9"/>
          <p:cNvSpPr txBox="1"/>
          <p:nvPr/>
        </p:nvSpPr>
        <p:spPr>
          <a:xfrm>
            <a:off x="594360" y="3291840"/>
            <a:ext cx="1828800" cy="310896"/>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Suy luận thời gian</a:t>
            </a:r>
            <a:endParaRPr lang="en-US" sz="1150" dirty="0"/>
          </a:p>
        </p:txBody>
      </p:sp>
      <p:sp>
        <p:nvSpPr>
          <p:cNvPr id="13" name="Text 10"/>
          <p:cNvSpPr txBox="1"/>
          <p:nvPr/>
        </p:nvSpPr>
        <p:spPr>
          <a:xfrm>
            <a:off x="2423160" y="3291840"/>
            <a:ext cx="411480" cy="310896"/>
          </a:xfrm>
          <a:prstGeom prst="rect">
            <a:avLst/>
          </a:prstGeom>
          <a:noFill/>
          <a:ln/>
        </p:spPr>
        <p:txBody>
          <a:bodyPr wrap="square" lIns="0" tIns="0" rIns="0" bIns="0" rtlCol="0" anchor="ctr"/>
          <a:lstStyle/>
          <a:p>
            <a:pPr algn="r" indent="0" marL="0">
              <a:buNone/>
            </a:pPr>
            <a:r>
              <a:rPr lang="en-US" sz="1150" b="1" dirty="0">
                <a:solidFill>
                  <a:srgbClr val="5B6B7A"/>
                </a:solidFill>
                <a:latin typeface="Calibri" pitchFamily="34" charset="0"/>
                <a:ea typeface="Calibri" pitchFamily="34" charset="-122"/>
                <a:cs typeface="Calibri" pitchFamily="34" charset="-120"/>
              </a:rPr>
              <a:t>6</a:t>
            </a:r>
            <a:endParaRPr lang="en-US" sz="1150" dirty="0"/>
          </a:p>
        </p:txBody>
      </p:sp>
      <p:sp>
        <p:nvSpPr>
          <p:cNvPr id="14" name="Text 11"/>
          <p:cNvSpPr txBox="1"/>
          <p:nvPr/>
        </p:nvSpPr>
        <p:spPr>
          <a:xfrm>
            <a:off x="594360" y="3657600"/>
            <a:ext cx="1828800" cy="310896"/>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Cập nhật kiến thức</a:t>
            </a:r>
            <a:endParaRPr lang="en-US" sz="1150" dirty="0"/>
          </a:p>
        </p:txBody>
      </p:sp>
      <p:sp>
        <p:nvSpPr>
          <p:cNvPr id="15" name="Text 12"/>
          <p:cNvSpPr txBox="1"/>
          <p:nvPr/>
        </p:nvSpPr>
        <p:spPr>
          <a:xfrm>
            <a:off x="2423160" y="3657600"/>
            <a:ext cx="411480" cy="310896"/>
          </a:xfrm>
          <a:prstGeom prst="rect">
            <a:avLst/>
          </a:prstGeom>
          <a:noFill/>
          <a:ln/>
        </p:spPr>
        <p:txBody>
          <a:bodyPr wrap="square" lIns="0" tIns="0" rIns="0" bIns="0" rtlCol="0" anchor="ctr"/>
          <a:lstStyle/>
          <a:p>
            <a:pPr algn="r" indent="0" marL="0">
              <a:buNone/>
            </a:pPr>
            <a:r>
              <a:rPr lang="en-US" sz="1150" b="1" dirty="0">
                <a:solidFill>
                  <a:srgbClr val="5B6B7A"/>
                </a:solidFill>
                <a:latin typeface="Calibri" pitchFamily="34" charset="0"/>
                <a:ea typeface="Calibri" pitchFamily="34" charset="-122"/>
                <a:cs typeface="Calibri" pitchFamily="34" charset="-120"/>
              </a:rPr>
              <a:t>3</a:t>
            </a:r>
            <a:endParaRPr lang="en-US" sz="1150" dirty="0"/>
          </a:p>
        </p:txBody>
      </p:sp>
      <p:sp>
        <p:nvSpPr>
          <p:cNvPr id="16" name="Text 13"/>
          <p:cNvSpPr txBox="1"/>
          <p:nvPr/>
        </p:nvSpPr>
        <p:spPr>
          <a:xfrm>
            <a:off x="594360" y="4023360"/>
            <a:ext cx="1828800" cy="310896"/>
          </a:xfrm>
          <a:prstGeom prst="rect">
            <a:avLst/>
          </a:prstGeom>
          <a:noFill/>
          <a:ln/>
        </p:spPr>
        <p:txBody>
          <a:bodyPr wrap="square" lIns="0" tIns="0" rIns="0" bIns="0" rtlCol="0" anchor="ctr"/>
          <a:lstStyle/>
          <a:p>
            <a:pPr indent="0" marL="0">
              <a:buNone/>
            </a:pPr>
            <a:r>
              <a:rPr lang="en-US" sz="1150" dirty="0">
                <a:solidFill>
                  <a:srgbClr val="1B2B3A"/>
                </a:solidFill>
                <a:latin typeface="Calibri" pitchFamily="34" charset="0"/>
                <a:ea typeface="Calibri" pitchFamily="34" charset="-122"/>
                <a:cs typeface="Calibri" pitchFamily="34" charset="-120"/>
              </a:rPr>
              <a:t>Đơn phiên · sở thích</a:t>
            </a:r>
            <a:endParaRPr lang="en-US" sz="1150" dirty="0"/>
          </a:p>
        </p:txBody>
      </p:sp>
      <p:sp>
        <p:nvSpPr>
          <p:cNvPr id="17" name="Text 14"/>
          <p:cNvSpPr txBox="1"/>
          <p:nvPr/>
        </p:nvSpPr>
        <p:spPr>
          <a:xfrm>
            <a:off x="2423160" y="4023360"/>
            <a:ext cx="411480" cy="310896"/>
          </a:xfrm>
          <a:prstGeom prst="rect">
            <a:avLst/>
          </a:prstGeom>
          <a:noFill/>
          <a:ln/>
        </p:spPr>
        <p:txBody>
          <a:bodyPr wrap="square" lIns="0" tIns="0" rIns="0" bIns="0" rtlCol="0" anchor="ctr"/>
          <a:lstStyle/>
          <a:p>
            <a:pPr algn="r" indent="0" marL="0">
              <a:buNone/>
            </a:pPr>
            <a:r>
              <a:rPr lang="en-US" sz="1150" b="1" dirty="0">
                <a:solidFill>
                  <a:srgbClr val="5B6B7A"/>
                </a:solidFill>
                <a:latin typeface="Calibri" pitchFamily="34" charset="0"/>
                <a:ea typeface="Calibri" pitchFamily="34" charset="-122"/>
                <a:cs typeface="Calibri" pitchFamily="34" charset="-120"/>
              </a:rPr>
              <a:t>2</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291840" y="1188720"/>
          <a:ext cx="5394960" cy="914400"/>
        </p:xfrm>
        <a:graphic>
          <a:graphicData uri="http://schemas.openxmlformats.org/drawingml/2006/table">
            <a:tbl>
              <a:tblPr/>
              <a:tblGrid>
                <a:gridCol w="868680"/>
                <a:gridCol w="2148840"/>
                <a:gridCol w="640080"/>
                <a:gridCol w="1737360"/>
              </a:tblGrid>
              <a:tr h="56692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Kiểu lỗi</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Câu hỏi</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Đáp án</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Hệ trả lời</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566928">
                <a:tc>
                  <a:txBody>
                    <a:bodyPr/>
                    <a:lstStyle/>
                    <a:p>
                      <a:pPr indent="0" marL="0">
                        <a:buNone/>
                      </a:pPr>
                      <a:r>
                        <a:rPr lang="en-US" sz="900" b="1" dirty="0">
                          <a:solidFill>
                            <a:srgbClr val="1F6F8B"/>
                          </a:solidFill>
                          <a:latin typeface="Calibri" pitchFamily="34" charset="0"/>
                          <a:ea typeface="Calibri" pitchFamily="34" charset="-122"/>
                          <a:cs typeface="Calibri" pitchFamily="34" charset="-120"/>
                        </a:rPr>
                        <a:t>Đếm đa phiên</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What was the page count of the two novels I finished in Janua…</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The two novels were:  - The Nightingale by…</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66928">
                <a:tc>
                  <a:txBody>
                    <a:bodyPr/>
                    <a:lstStyle/>
                    <a:p>
                      <a:pPr indent="0" marL="0">
                        <a:buNone/>
                      </a:pPr>
                      <a:r>
                        <a:rPr lang="en-US" sz="900" b="1" dirty="0">
                          <a:solidFill>
                            <a:srgbClr val="1F6F8B"/>
                          </a:solidFill>
                          <a:latin typeface="Calibri" pitchFamily="34" charset="0"/>
                          <a:ea typeface="Calibri" pitchFamily="34" charset="-122"/>
                          <a:cs typeface="Calibri" pitchFamily="34" charset="-120"/>
                        </a:rPr>
                        <a:t>Đếm đa phiên</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How many hours of jogging and yoga did I do last week?</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0.5 hours</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Based on the memories, you did 0 hours of j…</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66928">
                <a:tc>
                  <a:txBody>
                    <a:bodyPr/>
                    <a:lstStyle/>
                    <a:p>
                      <a:pPr indent="0" marL="0">
                        <a:buNone/>
                      </a:pPr>
                      <a:r>
                        <a:rPr lang="en-US" sz="900" b="1" dirty="0">
                          <a:solidFill>
                            <a:srgbClr val="C8553D"/>
                          </a:solidFill>
                          <a:latin typeface="Calibri" pitchFamily="34" charset="0"/>
                          <a:ea typeface="Calibri" pitchFamily="34" charset="-122"/>
                          <a:cs typeface="Calibri" pitchFamily="34" charset="-120"/>
                        </a:rPr>
                        <a:t>Lượt trợ lý</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I wanted to follow up on our previous conversation about mind…</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Mindful.org.</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The website was likely UCLA Mindful (the UC…</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66928">
                <a:tc>
                  <a:txBody>
                    <a:bodyPr/>
                    <a:lstStyle/>
                    <a:p>
                      <a:pPr indent="0" marL="0">
                        <a:buNone/>
                      </a:pPr>
                      <a:r>
                        <a:rPr lang="en-US" sz="900" b="1" dirty="0">
                          <a:solidFill>
                            <a:srgbClr val="C8553D"/>
                          </a:solidFill>
                          <a:latin typeface="Calibri" pitchFamily="34" charset="0"/>
                          <a:ea typeface="Calibri" pitchFamily="34" charset="-122"/>
                          <a:cs typeface="Calibri" pitchFamily="34" charset="-120"/>
                        </a:rPr>
                        <a:t>Lượt trợ lý</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I'm looking back at our previous conversation about building…</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Absinthe</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The memories don’t specify the five-bottle…</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
        <p:nvSpPr>
          <p:cNvPr id="19" name="Shape 15"/>
          <p:cNvSpPr/>
          <p:nvPr/>
        </p:nvSpPr>
        <p:spPr>
          <a:xfrm>
            <a:off x="3291840" y="4160520"/>
            <a:ext cx="5394960" cy="685800"/>
          </a:xfrm>
          <a:prstGeom prst="rect">
            <a:avLst/>
          </a:prstGeom>
          <a:solidFill>
            <a:srgbClr val="E7F0F4"/>
          </a:solidFill>
          <a:ln w="9525">
            <a:solidFill>
              <a:srgbClr val="DCE3EA"/>
            </a:solidFill>
            <a:prstDash val="solid"/>
          </a:ln>
        </p:spPr>
      </p:sp>
      <p:sp>
        <p:nvSpPr>
          <p:cNvPr id="20" name="Text 16"/>
          <p:cNvSpPr txBox="1"/>
          <p:nvPr/>
        </p:nvSpPr>
        <p:spPr>
          <a:xfrm>
            <a:off x="3474720" y="4206240"/>
            <a:ext cx="5029200" cy="594360"/>
          </a:xfrm>
          <a:prstGeom prst="rect">
            <a:avLst/>
          </a:prstGeom>
          <a:noFill/>
          <a:ln/>
        </p:spPr>
        <p:txBody>
          <a:bodyPr wrap="square" lIns="0" tIns="0" rIns="0" bIns="0" rtlCol="0" anchor="ctr"/>
          <a:lstStyle/>
          <a:p>
            <a:pPr indent="0" marL="0">
              <a:buNone/>
            </a:pPr>
            <a:r>
              <a:rPr lang="en-US" sz="1050" b="1" dirty="0">
                <a:solidFill>
                  <a:srgbClr val="10243E"/>
                </a:solidFill>
                <a:latin typeface="Calibri" pitchFamily="34" charset="0"/>
                <a:ea typeface="Calibri" pitchFamily="34" charset="-122"/>
                <a:cs typeface="Calibri" pitchFamily="34" charset="-120"/>
              </a:rPr>
              <a:t>Bằng chứng: </a:t>
            </a:r>
            <a:pPr indent="0" marL="0">
              <a:buNone/>
            </a:pPr>
            <a:r>
              <a:rPr lang="en-US" sz="1050" dirty="0">
                <a:solidFill>
                  <a:srgbClr val="1B2B3A"/>
                </a:solidFill>
                <a:latin typeface="Calibri" pitchFamily="34" charset="0"/>
                <a:ea typeface="Calibri" pitchFamily="34" charset="-122"/>
                <a:cs typeface="Calibri" pitchFamily="34" charset="-120"/>
              </a:rPr>
              <a:t>6/10 câu sai loại lượt trợ lý, hệ trả lời thẳng là không tìm thấy thông tin trong bộ nhớ, khớp với cấu hình user_only.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TÁCH NGUỒN LỖI</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Lỗi không nằm ở khâu tìm kiếm</a:t>
            </a:r>
            <a:endParaRPr lang="en-US" sz="2600" dirty="0"/>
          </a:p>
        </p:txBody>
      </p:sp>
      <p:sp>
        <p:nvSpPr>
          <p:cNvPr id="5" name="Shape 2"/>
          <p:cNvSpPr/>
          <p:nvPr/>
        </p:nvSpPr>
        <p:spPr>
          <a:xfrm>
            <a:off x="365760" y="1188720"/>
            <a:ext cx="2651760" cy="2926080"/>
          </a:xfrm>
          <a:prstGeom prst="rect">
            <a:avLst/>
          </a:prstGeom>
          <a:solidFill>
            <a:srgbClr val="FFFFFF"/>
          </a:solidFill>
          <a:ln w="9525">
            <a:solidFill>
              <a:srgbClr val="DCE3EA"/>
            </a:solidFill>
            <a:prstDash val="solid"/>
          </a:ln>
        </p:spPr>
      </p:sp>
      <p:sp>
        <p:nvSpPr>
          <p:cNvPr id="6" name="Text 3"/>
          <p:cNvSpPr txBox="1"/>
          <p:nvPr/>
        </p:nvSpPr>
        <p:spPr>
          <a:xfrm>
            <a:off x="365760" y="1325880"/>
            <a:ext cx="2651760" cy="731520"/>
          </a:xfrm>
          <a:prstGeom prst="rect">
            <a:avLst/>
          </a:prstGeom>
          <a:noFill/>
          <a:ln/>
        </p:spPr>
        <p:txBody>
          <a:bodyPr wrap="square" lIns="0" tIns="0" rIns="0" bIns="0" rtlCol="0" anchor="ctr"/>
          <a:lstStyle/>
          <a:p>
            <a:pPr algn="ctr" indent="0" marL="0">
              <a:buNone/>
            </a:pPr>
            <a:r>
              <a:rPr lang="en-US" sz="4000" b="1" dirty="0">
                <a:solidFill>
                  <a:srgbClr val="1F6F8B"/>
                </a:solidFill>
                <a:latin typeface="Cambria" pitchFamily="34" charset="0"/>
                <a:ea typeface="Cambria" pitchFamily="34" charset="-122"/>
                <a:cs typeface="Cambria" pitchFamily="34" charset="-120"/>
              </a:rPr>
              <a:t>99,3%</a:t>
            </a:r>
            <a:endParaRPr lang="en-US" sz="4000" dirty="0"/>
          </a:p>
        </p:txBody>
      </p:sp>
      <p:sp>
        <p:nvSpPr>
          <p:cNvPr id="7" name="Text 4"/>
          <p:cNvSpPr txBox="1"/>
          <p:nvPr/>
        </p:nvSpPr>
        <p:spPr>
          <a:xfrm>
            <a:off x="548640" y="2057400"/>
            <a:ext cx="2286000" cy="548640"/>
          </a:xfrm>
          <a:prstGeom prst="rect">
            <a:avLst/>
          </a:prstGeom>
          <a:noFill/>
          <a:ln/>
        </p:spPr>
        <p:txBody>
          <a:bodyPr wrap="square" lIns="0" tIns="0" rIns="0" bIns="0" rtlCol="0" anchor="t"/>
          <a:lstStyle/>
          <a:p>
            <a:pPr algn="ctr" indent="0" marL="0">
              <a:buNone/>
            </a:pPr>
            <a:r>
              <a:rPr lang="en-US" sz="1200" dirty="0">
                <a:solidFill>
                  <a:srgbClr val="5B6B7A"/>
                </a:solidFill>
                <a:latin typeface="Calibri" pitchFamily="34" charset="0"/>
                <a:ea typeface="Calibri" pitchFamily="34" charset="-122"/>
                <a:cs typeface="Calibri" pitchFamily="34" charset="-120"/>
              </a:rPr>
              <a:t>truy xuất trúng phiên chứa bằng chứng (149/150 câu)</a:t>
            </a:r>
            <a:endParaRPr lang="en-US" sz="1200" dirty="0"/>
          </a:p>
        </p:txBody>
      </p:sp>
      <p:sp>
        <p:nvSpPr>
          <p:cNvPr id="8" name="Text 5"/>
          <p:cNvSpPr txBox="1"/>
          <p:nvPr/>
        </p:nvSpPr>
        <p:spPr>
          <a:xfrm>
            <a:off x="548640" y="2697480"/>
            <a:ext cx="2286000" cy="1325880"/>
          </a:xfrm>
          <a:prstGeom prst="rect">
            <a:avLst/>
          </a:prstGeom>
          <a:noFill/>
          <a:ln/>
        </p:spPr>
        <p:txBody>
          <a:bodyPr wrap="square" lIns="0" tIns="0" rIns="0" bIns="0" rtlCol="0" anchor="t"/>
          <a:lstStyle/>
          <a:p>
            <a:pPr indent="0" marL="0">
              <a:buNone/>
            </a:pPr>
            <a:r>
              <a:rPr lang="en-US" sz="1050" b="1" dirty="0">
                <a:solidFill>
                  <a:srgbClr val="10243E"/>
                </a:solidFill>
                <a:latin typeface="Calibri" pitchFamily="34" charset="0"/>
                <a:ea typeface="Calibri" pitchFamily="34" charset="-122"/>
                <a:cs typeface="Calibri" pitchFamily="34" charset="-120"/>
              </a:rPr>
              <a:t>Đo thế nào</a:t>
            </a:r>
            <a:endParaRPr lang="en-US" sz="1050" dirty="0"/>
          </a:p>
          <a:p>
            <a:pPr indent="0" marL="0">
              <a:buNone/>
            </a:pPr>
            <a:r>
              <a:rPr lang="en-US" sz="1050" dirty="0">
                <a:solidFill>
                  <a:srgbClr val="1B2B3A"/>
                </a:solidFill>
                <a:latin typeface="Calibri" pitchFamily="34" charset="0"/>
                <a:ea typeface="Calibri" pitchFamily="34" charset="-122"/>
                <a:cs typeface="Calibri" pitchFamily="34" charset="-120"/>
              </a:rPr>
              <a:t>Mỗi ký ức LightMem trả về đều mở đầu bằng mốc thời gian của phiên. Khớp mốc đó với haystack_dates để biết ký ức đến từ phiên nào, rồi so với answer_session_ids của bộ dữ liệu. Có 2 câu có phiên trùng mốc với phiên khác nên khớp chưa chắc chắn.</a:t>
            </a:r>
            <a:endParaRPr lang="en-US" sz="1050" dirty="0"/>
          </a:p>
        </p:txBody>
      </p:sp>
      <p:sp>
        <p:nvSpPr>
          <p:cNvPr id="9" name="Text 6"/>
          <p:cNvSpPr txBox="1"/>
          <p:nvPr/>
        </p:nvSpPr>
        <p:spPr>
          <a:xfrm>
            <a:off x="3291840" y="1188720"/>
            <a:ext cx="5394960" cy="27432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Trong 28 câu sai</a:t>
            </a:r>
            <a:endParaRPr lang="en-US" sz="1500" dirty="0"/>
          </a:p>
        </p:txBody>
      </p:sp>
      <p:sp>
        <p:nvSpPr>
          <p:cNvPr id="10" name="Shape 7"/>
          <p:cNvSpPr/>
          <p:nvPr/>
        </p:nvSpPr>
        <p:spPr>
          <a:xfrm>
            <a:off x="3291840" y="1554480"/>
            <a:ext cx="5394960" cy="1600200"/>
          </a:xfrm>
          <a:prstGeom prst="rect">
            <a:avLst/>
          </a:prstGeom>
          <a:solidFill>
            <a:srgbClr val="FBEAE5"/>
          </a:solidFill>
          <a:ln w="9525">
            <a:solidFill>
              <a:srgbClr val="DCE3EA"/>
            </a:solidFill>
            <a:prstDash val="solid"/>
          </a:ln>
        </p:spPr>
      </p:sp>
      <p:sp>
        <p:nvSpPr>
          <p:cNvPr id="11" name="Text 8"/>
          <p:cNvSpPr txBox="1"/>
          <p:nvPr/>
        </p:nvSpPr>
        <p:spPr>
          <a:xfrm>
            <a:off x="3429000" y="1691640"/>
            <a:ext cx="868680" cy="731520"/>
          </a:xfrm>
          <a:prstGeom prst="rect">
            <a:avLst/>
          </a:prstGeom>
          <a:noFill/>
          <a:ln/>
        </p:spPr>
        <p:txBody>
          <a:bodyPr wrap="square" lIns="0" tIns="0" rIns="0" bIns="0" rtlCol="0" anchor="ctr"/>
          <a:lstStyle/>
          <a:p>
            <a:pPr algn="ctr" indent="0" marL="0">
              <a:buNone/>
            </a:pPr>
            <a:r>
              <a:rPr lang="en-US" sz="3800" b="1" dirty="0">
                <a:solidFill>
                  <a:srgbClr val="C8553D"/>
                </a:solidFill>
                <a:latin typeface="Cambria" pitchFamily="34" charset="0"/>
                <a:ea typeface="Cambria" pitchFamily="34" charset="-122"/>
                <a:cs typeface="Cambria" pitchFamily="34" charset="-120"/>
              </a:rPr>
              <a:t>27</a:t>
            </a:r>
            <a:endParaRPr lang="en-US" sz="3800" dirty="0"/>
          </a:p>
        </p:txBody>
      </p:sp>
      <p:sp>
        <p:nvSpPr>
          <p:cNvPr id="12" name="Text 9"/>
          <p:cNvSpPr txBox="1"/>
          <p:nvPr/>
        </p:nvSpPr>
        <p:spPr>
          <a:xfrm>
            <a:off x="4389120" y="1682496"/>
            <a:ext cx="4160520" cy="384048"/>
          </a:xfrm>
          <a:prstGeom prst="rect">
            <a:avLst/>
          </a:prstGeom>
          <a:noFill/>
          <a:ln/>
        </p:spPr>
        <p:txBody>
          <a:bodyPr wrap="square" lIns="0" tIns="0" rIns="0" bIns="0" rtlCol="0" anchor="ctr"/>
          <a:lstStyle/>
          <a:p>
            <a:pPr indent="0" marL="0">
              <a:buNone/>
            </a:pPr>
            <a:r>
              <a:rPr lang="en-US" sz="1250" b="1" dirty="0">
                <a:solidFill>
                  <a:srgbClr val="10243E"/>
                </a:solidFill>
                <a:latin typeface="Calibri" pitchFamily="34" charset="0"/>
                <a:ea typeface="Calibri" pitchFamily="34" charset="-122"/>
                <a:cs typeface="Calibri" pitchFamily="34" charset="-120"/>
              </a:rPr>
              <a:t>đã có bằng chứng trong ký ức lấy về, vẫn trả lời sai</a:t>
            </a:r>
            <a:endParaRPr lang="en-US" sz="1250" dirty="0"/>
          </a:p>
        </p:txBody>
      </p:sp>
      <p:sp>
        <p:nvSpPr>
          <p:cNvPr id="13" name="Text 10"/>
          <p:cNvSpPr txBox="1"/>
          <p:nvPr/>
        </p:nvSpPr>
        <p:spPr>
          <a:xfrm>
            <a:off x="4389120" y="2066544"/>
            <a:ext cx="4160520" cy="978408"/>
          </a:xfrm>
          <a:prstGeom prst="rect">
            <a:avLst/>
          </a:prstGeom>
          <a:noFill/>
          <a:ln/>
        </p:spPr>
        <p:txBody>
          <a:bodyPr wrap="square" lIns="0" tIns="0" rIns="0" bIns="0" rtlCol="0" anchor="t"/>
          <a:lstStyle/>
          <a:p>
            <a:pPr indent="0" marL="0">
              <a:buNone/>
            </a:pPr>
            <a:r>
              <a:rPr lang="en-US" sz="1100" dirty="0">
                <a:solidFill>
                  <a:srgbClr val="1B2B3A"/>
                </a:solidFill>
                <a:latin typeface="Calibri" pitchFamily="34" charset="0"/>
                <a:ea typeface="Calibri" pitchFamily="34" charset="-122"/>
                <a:cs typeface="Calibri" pitchFamily="34" charset="-120"/>
              </a:rPr>
              <a:t>Lỗi nằm ở tầng trích xuất (nén làm mất chi tiết) hoặc tầng suy luận, không phải tầng tìm kiếm. Ví dụ rõ nhất: một câu tính khoảng ngày, hệ nêu đúng cả hai mốc 22/03 và 15/04/2023 nhưng tính ra 18 ngày thay vì 24 — ký ức đúng, phép trừ sai.</a:t>
            </a:r>
            <a:endParaRPr lang="en-US" sz="1100" dirty="0"/>
          </a:p>
        </p:txBody>
      </p:sp>
      <p:sp>
        <p:nvSpPr>
          <p:cNvPr id="14" name="Shape 11"/>
          <p:cNvSpPr/>
          <p:nvPr/>
        </p:nvSpPr>
        <p:spPr>
          <a:xfrm>
            <a:off x="3291840" y="3291840"/>
            <a:ext cx="5394960" cy="914400"/>
          </a:xfrm>
          <a:prstGeom prst="rect">
            <a:avLst/>
          </a:prstGeom>
          <a:solidFill>
            <a:srgbClr val="FFFFFF"/>
          </a:solidFill>
          <a:ln w="9525">
            <a:solidFill>
              <a:srgbClr val="DCE3EA"/>
            </a:solidFill>
            <a:prstDash val="solid"/>
          </a:ln>
        </p:spPr>
      </p:sp>
      <p:sp>
        <p:nvSpPr>
          <p:cNvPr id="15" name="Text 12"/>
          <p:cNvSpPr txBox="1"/>
          <p:nvPr/>
        </p:nvSpPr>
        <p:spPr>
          <a:xfrm>
            <a:off x="3429000" y="3429000"/>
            <a:ext cx="868680" cy="731520"/>
          </a:xfrm>
          <a:prstGeom prst="rect">
            <a:avLst/>
          </a:prstGeom>
          <a:noFill/>
          <a:ln/>
        </p:spPr>
        <p:txBody>
          <a:bodyPr wrap="square" lIns="0" tIns="0" rIns="0" bIns="0" rtlCol="0" anchor="ctr"/>
          <a:lstStyle/>
          <a:p>
            <a:pPr algn="ctr" indent="0" marL="0">
              <a:buNone/>
            </a:pPr>
            <a:r>
              <a:rPr lang="en-US" sz="3800" b="1" dirty="0">
                <a:solidFill>
                  <a:srgbClr val="5B6B7A"/>
                </a:solidFill>
                <a:latin typeface="Cambria" pitchFamily="34" charset="0"/>
                <a:ea typeface="Cambria" pitchFamily="34" charset="-122"/>
                <a:cs typeface="Cambria" pitchFamily="34" charset="-120"/>
              </a:rPr>
              <a:t>1</a:t>
            </a:r>
            <a:endParaRPr lang="en-US" sz="3800" dirty="0"/>
          </a:p>
        </p:txBody>
      </p:sp>
      <p:sp>
        <p:nvSpPr>
          <p:cNvPr id="16" name="Text 13"/>
          <p:cNvSpPr txBox="1"/>
          <p:nvPr/>
        </p:nvSpPr>
        <p:spPr>
          <a:xfrm>
            <a:off x="4389120" y="3419856"/>
            <a:ext cx="4160520" cy="384048"/>
          </a:xfrm>
          <a:prstGeom prst="rect">
            <a:avLst/>
          </a:prstGeom>
          <a:noFill/>
          <a:ln/>
        </p:spPr>
        <p:txBody>
          <a:bodyPr wrap="square" lIns="0" tIns="0" rIns="0" bIns="0" rtlCol="0" anchor="ctr"/>
          <a:lstStyle/>
          <a:p>
            <a:pPr indent="0" marL="0">
              <a:buNone/>
            </a:pPr>
            <a:r>
              <a:rPr lang="en-US" sz="1250" b="1" dirty="0">
                <a:solidFill>
                  <a:srgbClr val="10243E"/>
                </a:solidFill>
                <a:latin typeface="Calibri" pitchFamily="34" charset="0"/>
                <a:ea typeface="Calibri" pitchFamily="34" charset="-122"/>
                <a:cs typeface="Calibri" pitchFamily="34" charset="-120"/>
              </a:rPr>
              <a:t>không truy xuất được bằng chứng</a:t>
            </a:r>
            <a:endParaRPr lang="en-US" sz="1250" dirty="0"/>
          </a:p>
        </p:txBody>
      </p:sp>
      <p:sp>
        <p:nvSpPr>
          <p:cNvPr id="17" name="Text 14"/>
          <p:cNvSpPr txBox="1"/>
          <p:nvPr/>
        </p:nvSpPr>
        <p:spPr>
          <a:xfrm>
            <a:off x="4389120" y="3803904"/>
            <a:ext cx="4160520" cy="292608"/>
          </a:xfrm>
          <a:prstGeom prst="rect">
            <a:avLst/>
          </a:prstGeom>
          <a:noFill/>
          <a:ln/>
        </p:spPr>
        <p:txBody>
          <a:bodyPr wrap="square" lIns="0" tIns="0" rIns="0" bIns="0" rtlCol="0" anchor="t"/>
          <a:lstStyle/>
          <a:p>
            <a:pPr indent="0" marL="0">
              <a:buNone/>
            </a:pPr>
            <a:r>
              <a:rPr lang="en-US" sz="1100" dirty="0">
                <a:solidFill>
                  <a:srgbClr val="1B2B3A"/>
                </a:solidFill>
                <a:latin typeface="Calibri" pitchFamily="34" charset="0"/>
                <a:ea typeface="Calibri" pitchFamily="34" charset="-122"/>
                <a:cs typeface="Calibri" pitchFamily="34" charset="-120"/>
              </a:rPr>
              <a:t>Câu duy nhất thuộc loại lượt trợ lý, mà lời trợ lý thì không được lưu do cấu hình user_only.</a:t>
            </a:r>
            <a:endParaRPr lang="en-US" sz="1100" dirty="0"/>
          </a:p>
        </p:txBody>
      </p:sp>
      <p:sp>
        <p:nvSpPr>
          <p:cNvPr id="18" name="Shape 15"/>
          <p:cNvSpPr/>
          <p:nvPr/>
        </p:nvSpPr>
        <p:spPr>
          <a:xfrm>
            <a:off x="365760" y="4343400"/>
            <a:ext cx="8321040" cy="548640"/>
          </a:xfrm>
          <a:prstGeom prst="rect">
            <a:avLst/>
          </a:prstGeom>
          <a:solidFill>
            <a:srgbClr val="FDF3E1"/>
          </a:solidFill>
          <a:ln w="9525">
            <a:solidFill>
              <a:srgbClr val="DCE3EA"/>
            </a:solidFill>
            <a:prstDash val="solid"/>
          </a:ln>
        </p:spPr>
      </p:sp>
      <p:sp>
        <p:nvSpPr>
          <p:cNvPr id="19" name="Text 16"/>
          <p:cNvSpPr txBox="1"/>
          <p:nvPr/>
        </p:nvSpPr>
        <p:spPr>
          <a:xfrm>
            <a:off x="548640" y="4389120"/>
            <a:ext cx="7955280" cy="457200"/>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Ý nghĩa cho hệ của nhóm: </a:t>
            </a:r>
            <a:pPr indent="0" marL="0">
              <a:buNone/>
            </a:pPr>
            <a:r>
              <a:rPr lang="en-US" sz="1150" dirty="0">
                <a:solidFill>
                  <a:srgbClr val="1B2B3A"/>
                </a:solidFill>
                <a:latin typeface="Calibri" pitchFamily="34" charset="0"/>
                <a:ea typeface="Calibri" pitchFamily="34" charset="-122"/>
                <a:cs typeface="Calibri" pitchFamily="34" charset="-120"/>
              </a:rPr>
              <a:t>trên bộ dữ liệu này, cải thiện khâu tìm kiếm gần như không còn dư địa; điểm số phụ thuộc vào việc trích xuất giữ được bao nhiêu chi tiết và mô hình suy luận ra sao.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ĐỘ TIN CẬY CỦA PHÉP ĐO</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Model chấm đáng tin, nhưng hơi khắt khe</a:t>
            </a:r>
            <a:endParaRPr lang="en-US" sz="2600" dirty="0"/>
          </a:p>
        </p:txBody>
      </p:sp>
      <p:sp>
        <p:nvSpPr>
          <p:cNvPr id="5" name="Shape 2"/>
          <p:cNvSpPr/>
          <p:nvPr/>
        </p:nvSpPr>
        <p:spPr>
          <a:xfrm>
            <a:off x="365760" y="1188720"/>
            <a:ext cx="4069080" cy="1188720"/>
          </a:xfrm>
          <a:prstGeom prst="rect">
            <a:avLst/>
          </a:prstGeom>
          <a:solidFill>
            <a:srgbClr val="FFFFFF"/>
          </a:solidFill>
          <a:ln w="9525">
            <a:solidFill>
              <a:srgbClr val="DCE3EA"/>
            </a:solidFill>
            <a:prstDash val="solid"/>
          </a:ln>
        </p:spPr>
      </p:sp>
      <p:sp>
        <p:nvSpPr>
          <p:cNvPr id="6" name="Text 3"/>
          <p:cNvSpPr txBox="1"/>
          <p:nvPr/>
        </p:nvSpPr>
        <p:spPr>
          <a:xfrm>
            <a:off x="502920" y="1325880"/>
            <a:ext cx="1234440" cy="685800"/>
          </a:xfrm>
          <a:prstGeom prst="rect">
            <a:avLst/>
          </a:prstGeom>
          <a:noFill/>
          <a:ln/>
        </p:spPr>
        <p:txBody>
          <a:bodyPr wrap="square" lIns="0" tIns="0" rIns="0" bIns="0" rtlCol="0" anchor="ctr"/>
          <a:lstStyle/>
          <a:p>
            <a:pPr algn="ctr" indent="0" marL="0">
              <a:buNone/>
            </a:pPr>
            <a:r>
              <a:rPr lang="en-US" sz="3000" b="1" dirty="0">
                <a:solidFill>
                  <a:srgbClr val="1F6F8B"/>
                </a:solidFill>
                <a:latin typeface="Cambria" pitchFamily="34" charset="0"/>
                <a:ea typeface="Cambria" pitchFamily="34" charset="-122"/>
                <a:cs typeface="Cambria" pitchFamily="34" charset="-120"/>
              </a:rPr>
              <a:t>0/20</a:t>
            </a:r>
            <a:endParaRPr lang="en-US" sz="3000" dirty="0"/>
          </a:p>
        </p:txBody>
      </p:sp>
      <p:sp>
        <p:nvSpPr>
          <p:cNvPr id="7" name="Text 4"/>
          <p:cNvSpPr txBox="1"/>
          <p:nvPr/>
        </p:nvSpPr>
        <p:spPr>
          <a:xfrm>
            <a:off x="1828800" y="1298448"/>
            <a:ext cx="2468880" cy="365760"/>
          </a:xfrm>
          <a:prstGeom prst="rect">
            <a:avLst/>
          </a:prstGeom>
          <a:noFill/>
          <a:ln/>
        </p:spPr>
        <p:txBody>
          <a:bodyPr wrap="square" lIns="0" tIns="0" rIns="0" bIns="0" rtlCol="0" anchor="ctr"/>
          <a:lstStyle/>
          <a:p>
            <a:pPr indent="0" marL="0">
              <a:buNone/>
            </a:pPr>
            <a:r>
              <a:rPr lang="en-US" sz="1250" b="1" dirty="0">
                <a:solidFill>
                  <a:srgbClr val="10243E"/>
                </a:solidFill>
                <a:latin typeface="Calibri" pitchFamily="34" charset="0"/>
                <a:ea typeface="Calibri" pitchFamily="34" charset="-122"/>
                <a:cs typeface="Calibri" pitchFamily="34" charset="-120"/>
              </a:rPr>
              <a:t>câu chấm đúng bị sai</a:t>
            </a:r>
            <a:endParaRPr lang="en-US" sz="1250" dirty="0"/>
          </a:p>
        </p:txBody>
      </p:sp>
      <p:sp>
        <p:nvSpPr>
          <p:cNvPr id="8" name="Text 5"/>
          <p:cNvSpPr txBox="1"/>
          <p:nvPr/>
        </p:nvSpPr>
        <p:spPr>
          <a:xfrm>
            <a:off x="1828800" y="1664208"/>
            <a:ext cx="2468880" cy="777240"/>
          </a:xfrm>
          <a:prstGeom prst="rect">
            <a:avLst/>
          </a:prstGeom>
          <a:noFill/>
          <a:ln/>
        </p:spPr>
        <p:txBody>
          <a:bodyPr wrap="square" lIns="0" tIns="0" rIns="0" bIns="0" rtlCol="0" anchor="t"/>
          <a:lstStyle/>
          <a:p>
            <a:pPr indent="0" marL="0">
              <a:buNone/>
            </a:pPr>
            <a:r>
              <a:rPr lang="en-US" sz="1050" dirty="0">
                <a:solidFill>
                  <a:srgbClr val="1B2B3A"/>
                </a:solidFill>
                <a:latin typeface="Calibri" pitchFamily="34" charset="0"/>
                <a:ea typeface="Calibri" pitchFamily="34" charset="-122"/>
                <a:cs typeface="Calibri" pitchFamily="34" charset="-120"/>
              </a:rPr>
              <a:t>Soi ngẫu nhiên trong nhóm được chấm đúng. Không có câu nào được cho điểm oan.</a:t>
            </a:r>
            <a:endParaRPr lang="en-US" sz="1050" dirty="0"/>
          </a:p>
        </p:txBody>
      </p:sp>
      <p:sp>
        <p:nvSpPr>
          <p:cNvPr id="9" name="Shape 6"/>
          <p:cNvSpPr/>
          <p:nvPr/>
        </p:nvSpPr>
        <p:spPr>
          <a:xfrm>
            <a:off x="4617720" y="1188720"/>
            <a:ext cx="4069080" cy="1188720"/>
          </a:xfrm>
          <a:prstGeom prst="rect">
            <a:avLst/>
          </a:prstGeom>
          <a:solidFill>
            <a:srgbClr val="FFFFFF"/>
          </a:solidFill>
          <a:ln w="9525">
            <a:solidFill>
              <a:srgbClr val="DCE3EA"/>
            </a:solidFill>
            <a:prstDash val="solid"/>
          </a:ln>
        </p:spPr>
      </p:sp>
      <p:sp>
        <p:nvSpPr>
          <p:cNvPr id="10" name="Text 7"/>
          <p:cNvSpPr txBox="1"/>
          <p:nvPr/>
        </p:nvSpPr>
        <p:spPr>
          <a:xfrm>
            <a:off x="4754880" y="1325880"/>
            <a:ext cx="1234440" cy="685800"/>
          </a:xfrm>
          <a:prstGeom prst="rect">
            <a:avLst/>
          </a:prstGeom>
          <a:noFill/>
          <a:ln/>
        </p:spPr>
        <p:txBody>
          <a:bodyPr wrap="square" lIns="0" tIns="0" rIns="0" bIns="0" rtlCol="0" anchor="ctr"/>
          <a:lstStyle/>
          <a:p>
            <a:pPr algn="ctr" indent="0" marL="0">
              <a:buNone/>
            </a:pPr>
            <a:r>
              <a:rPr lang="en-US" sz="3000" b="1" dirty="0">
                <a:solidFill>
                  <a:srgbClr val="F2A541"/>
                </a:solidFill>
                <a:latin typeface="Cambria" pitchFamily="34" charset="0"/>
                <a:ea typeface="Cambria" pitchFamily="34" charset="-122"/>
                <a:cs typeface="Cambria" pitchFamily="34" charset="-120"/>
              </a:rPr>
              <a:t>2/28</a:t>
            </a:r>
            <a:endParaRPr lang="en-US" sz="3000" dirty="0"/>
          </a:p>
        </p:txBody>
      </p:sp>
      <p:sp>
        <p:nvSpPr>
          <p:cNvPr id="11" name="Text 8"/>
          <p:cNvSpPr txBox="1"/>
          <p:nvPr/>
        </p:nvSpPr>
        <p:spPr>
          <a:xfrm>
            <a:off x="6080760" y="1298448"/>
            <a:ext cx="2468880" cy="365760"/>
          </a:xfrm>
          <a:prstGeom prst="rect">
            <a:avLst/>
          </a:prstGeom>
          <a:noFill/>
          <a:ln/>
        </p:spPr>
        <p:txBody>
          <a:bodyPr wrap="square" lIns="0" tIns="0" rIns="0" bIns="0" rtlCol="0" anchor="ctr"/>
          <a:lstStyle/>
          <a:p>
            <a:pPr indent="0" marL="0">
              <a:buNone/>
            </a:pPr>
            <a:r>
              <a:rPr lang="en-US" sz="1250" b="1" dirty="0">
                <a:solidFill>
                  <a:srgbClr val="10243E"/>
                </a:solidFill>
                <a:latin typeface="Calibri" pitchFamily="34" charset="0"/>
                <a:ea typeface="Calibri" pitchFamily="34" charset="-122"/>
                <a:cs typeface="Calibri" pitchFamily="34" charset="-120"/>
              </a:rPr>
              <a:t>câu chấm sai đáng ngờ</a:t>
            </a:r>
            <a:endParaRPr lang="en-US" sz="1250" dirty="0"/>
          </a:p>
        </p:txBody>
      </p:sp>
      <p:sp>
        <p:nvSpPr>
          <p:cNvPr id="12" name="Text 9"/>
          <p:cNvSpPr txBox="1"/>
          <p:nvPr/>
        </p:nvSpPr>
        <p:spPr>
          <a:xfrm>
            <a:off x="6080760" y="1664208"/>
            <a:ext cx="2468880" cy="777240"/>
          </a:xfrm>
          <a:prstGeom prst="rect">
            <a:avLst/>
          </a:prstGeom>
          <a:noFill/>
          <a:ln/>
        </p:spPr>
        <p:txBody>
          <a:bodyPr wrap="square" lIns="0" tIns="0" rIns="0" bIns="0" rtlCol="0" anchor="t"/>
          <a:lstStyle/>
          <a:p>
            <a:pPr indent="0" marL="0">
              <a:buNone/>
            </a:pPr>
            <a:r>
              <a:rPr lang="en-US" sz="1050" dirty="0">
                <a:solidFill>
                  <a:srgbClr val="1B2B3A"/>
                </a:solidFill>
                <a:latin typeface="Calibri" pitchFamily="34" charset="0"/>
                <a:ea typeface="Calibri" pitchFamily="34" charset="-122"/>
                <a:cs typeface="Calibri" pitchFamily="34" charset="-120"/>
              </a:rPr>
              <a:t>Soi toàn bộ nhóm bị chấm sai. Hai câu dưới đây nhóm thấy nên tính đúng.</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2514600"/>
          <a:ext cx="8321040" cy="914400"/>
        </p:xfrm>
        <a:graphic>
          <a:graphicData uri="http://schemas.openxmlformats.org/drawingml/2006/table">
            <a:tbl>
              <a:tblPr/>
              <a:tblGrid>
                <a:gridCol w="2468880"/>
                <a:gridCol w="2743200"/>
                <a:gridCol w="3108960"/>
              </a:tblGrid>
              <a:tr h="65836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Đáp án gốc</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Hệ trả lời</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Vì sao nhóm thấy đáng ngờ</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658368">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Đáp án là một rubric: câu trả lời cần xét tới ảnh hưởng của con mèo Luna và việc nó rụng lông.</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Yes, it could be. Your cat sheds heavily, so the living room may contain cat hair and dander…</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Câu trả lời đã nhắc đúng việc mèo rụng lông, tức là đáp ứng rubric, nhưng vẫn bị chấm sai.</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658368">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19 days ago. 20 days (including the last day) is also acceptable.</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You launched your website 19 days before signing your first-client contract (February 10 to March 1, 2023). As of March 25, 2023, that…</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900" dirty="0">
                          <a:solidFill>
                            <a:srgbClr val="1B2B3A"/>
                          </a:solidFill>
                          <a:latin typeface="Calibri" pitchFamily="34" charset="0"/>
                          <a:ea typeface="Calibri" pitchFamily="34" charset="-122"/>
                          <a:cs typeface="Calibri" pitchFamily="34" charset="-120"/>
                        </a:rPr>
                        <a:t>Câu trả lời có nêu đúng con số 19 ngày. Nhưng nó nói thêm '43 days ago' ở cuối, nên có thể bị hiểu là đáp án cuối cùng là 43. Trường hợp này thật sự mập mờ.</a:t>
                      </a:r>
                      <a:endParaRPr lang="en-US" sz="9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
        <p:nvSpPr>
          <p:cNvPr id="14" name="Shape 10"/>
          <p:cNvSpPr/>
          <p:nvPr/>
        </p:nvSpPr>
        <p:spPr>
          <a:xfrm>
            <a:off x="365760" y="4590288"/>
            <a:ext cx="8321040" cy="438912"/>
          </a:xfrm>
          <a:prstGeom prst="rect">
            <a:avLst/>
          </a:prstGeom>
          <a:solidFill>
            <a:srgbClr val="E7F0F4"/>
          </a:solidFill>
          <a:ln w="9525">
            <a:solidFill>
              <a:srgbClr val="DCE3EA"/>
            </a:solidFill>
            <a:prstDash val="solid"/>
          </a:ln>
        </p:spPr>
      </p:sp>
      <p:sp>
        <p:nvSpPr>
          <p:cNvPr id="15" name="Text 11"/>
          <p:cNvSpPr txBox="1"/>
          <p:nvPr/>
        </p:nvSpPr>
        <p:spPr>
          <a:xfrm>
            <a:off x="548640" y="4608576"/>
            <a:ext cx="7955280" cy="402336"/>
          </a:xfrm>
          <a:prstGeom prst="rect">
            <a:avLst/>
          </a:prstGeom>
          <a:noFill/>
          <a:ln/>
        </p:spPr>
        <p:txBody>
          <a:bodyPr wrap="square" lIns="0" tIns="0" rIns="0" bIns="0" rtlCol="0" anchor="ctr"/>
          <a:lstStyle/>
          <a:p>
            <a:pPr indent="0" marL="0">
              <a:buNone/>
            </a:pPr>
            <a:r>
              <a:rPr lang="en-US" sz="1050" b="1" dirty="0">
                <a:solidFill>
                  <a:srgbClr val="10243E"/>
                </a:solidFill>
                <a:latin typeface="Calibri" pitchFamily="34" charset="0"/>
                <a:ea typeface="Calibri" pitchFamily="34" charset="-122"/>
                <a:cs typeface="Calibri" pitchFamily="34" charset="-120"/>
              </a:rPr>
              <a:t>Vì vậy: </a:t>
            </a:r>
            <a:pPr indent="0" marL="0">
              <a:buNone/>
            </a:pPr>
            <a:r>
              <a:rPr lang="en-US" sz="1050" dirty="0">
                <a:solidFill>
                  <a:srgbClr val="1B2B3A"/>
                </a:solidFill>
                <a:latin typeface="Calibri" pitchFamily="34" charset="0"/>
                <a:ea typeface="Calibri" pitchFamily="34" charset="-122"/>
                <a:cs typeface="Calibri" pitchFamily="34" charset="-120"/>
              </a:rPr>
              <a:t>giữ nguyên kế hoạch chấm 3 lần lấy trung bình, và dùng đúng một model chấm cho cả LightMem lẫn APEX-MEM để sai lệch này triệt tiêu khi so sánh.</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CHI PHÍ VÀ THỜI GIAN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Cả hai hệ đều tốn nhất ở bước dựng bộ nhớ</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108960"/>
                <a:gridCol w="2377440"/>
                <a:gridCol w="274320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Mỗi câu hỏi</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LightMem</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APEX-MEM</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384048">
                <a:tc>
                  <a:txBody>
                    <a:bodyPr/>
                    <a:lstStyle/>
                    <a:p>
                      <a:pPr indent="0" marL="0">
                        <a:buNone/>
                      </a:pPr>
                      <a:r>
                        <a:rPr lang="en-US" sz="1200" dirty="0">
                          <a:solidFill>
                            <a:srgbClr val="1B2B3A"/>
                          </a:solidFill>
                          <a:latin typeface="Calibri" pitchFamily="34" charset="0"/>
                          <a:ea typeface="Calibri" pitchFamily="34" charset="-122"/>
                          <a:cs typeface="Calibri" pitchFamily="34" charset="-120"/>
                        </a:rPr>
                        <a:t>Dựng bộ nhớ, trung vị</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33 phút</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7,1 phút</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84048">
                <a:tc>
                  <a:txBody>
                    <a:bodyPr/>
                    <a:lstStyle/>
                    <a:p>
                      <a:pPr indent="0" marL="0">
                        <a:buNone/>
                      </a:pPr>
                      <a:r>
                        <a:rPr lang="en-US" sz="1200" dirty="0">
                          <a:solidFill>
                            <a:srgbClr val="1B2B3A"/>
                          </a:solidFill>
                          <a:latin typeface="Calibri" pitchFamily="34" charset="0"/>
                          <a:ea typeface="Calibri" pitchFamily="34" charset="-122"/>
                          <a:cs typeface="Calibri" pitchFamily="34" charset="-120"/>
                        </a:rPr>
                        <a:t>Dựng bộ nhớ, p95</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57 phút</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23,1 phút</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84048">
                <a:tc>
                  <a:txBody>
                    <a:bodyPr/>
                    <a:lstStyle/>
                    <a:p>
                      <a:pPr indent="0" marL="0">
                        <a:buNone/>
                      </a:pPr>
                      <a:r>
                        <a:rPr lang="en-US" sz="1200" dirty="0">
                          <a:solidFill>
                            <a:srgbClr val="1B2B3A"/>
                          </a:solidFill>
                          <a:latin typeface="Calibri" pitchFamily="34" charset="0"/>
                          <a:ea typeface="Calibri" pitchFamily="34" charset="-122"/>
                          <a:cs typeface="Calibri" pitchFamily="34" charset="-120"/>
                        </a:rPr>
                        <a:t>Trả lời, trung vị</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3,3 giây</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33,2 giây</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84048">
                <a:tc>
                  <a:txBody>
                    <a:bodyPr/>
                    <a:lstStyle/>
                    <a:p>
                      <a:pPr indent="0" marL="0">
                        <a:buNone/>
                      </a:pPr>
                      <a:r>
                        <a:rPr lang="en-US" sz="1200" dirty="0">
                          <a:solidFill>
                            <a:srgbClr val="1B2B3A"/>
                          </a:solidFill>
                          <a:latin typeface="Calibri" pitchFamily="34" charset="0"/>
                          <a:ea typeface="Calibri" pitchFamily="34" charset="-122"/>
                          <a:cs typeface="Calibri" pitchFamily="34" charset="-120"/>
                        </a:rPr>
                        <a:t>Lời gọi LLM khi dựng</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5B6B7A"/>
                          </a:solidFill>
                          <a:latin typeface="Calibri" pitchFamily="34" charset="0"/>
                          <a:ea typeface="Calibri" pitchFamily="34" charset="-122"/>
                          <a:cs typeface="Calibri" pitchFamily="34" charset="-120"/>
                        </a:rPr>
                        <a:t>chưa ghi</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84048">
                <a:tc>
                  <a:txBody>
                    <a:bodyPr/>
                    <a:lstStyle/>
                    <a:p>
                      <a:pPr indent="0" marL="0">
                        <a:buNone/>
                      </a:pPr>
                      <a:r>
                        <a:rPr lang="en-US" sz="1200" dirty="0">
                          <a:solidFill>
                            <a:srgbClr val="1B2B3A"/>
                          </a:solidFill>
                          <a:latin typeface="Calibri" pitchFamily="34" charset="0"/>
                          <a:ea typeface="Calibri" pitchFamily="34" charset="-122"/>
                          <a:cs typeface="Calibri" pitchFamily="34" charset="-120"/>
                        </a:rPr>
                        <a:t>Token khi dựng</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5B6B7A"/>
                          </a:solidFill>
                          <a:latin typeface="Calibri" pitchFamily="34" charset="0"/>
                          <a:ea typeface="Calibri" pitchFamily="34" charset="-122"/>
                          <a:cs typeface="Calibri" pitchFamily="34" charset="-120"/>
                        </a:rPr>
                        <a:t>chưa ghi</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89.172 (88,1% tổng)</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384048">
                <a:tc>
                  <a:txBody>
                    <a:bodyPr/>
                    <a:lstStyle/>
                    <a:p>
                      <a:pPr indent="0" marL="0">
                        <a:buNone/>
                      </a:pPr>
                      <a:r>
                        <a:rPr lang="en-US" sz="1200" dirty="0">
                          <a:solidFill>
                            <a:srgbClr val="1B2B3A"/>
                          </a:solidFill>
                          <a:latin typeface="Calibri" pitchFamily="34" charset="0"/>
                          <a:ea typeface="Calibri" pitchFamily="34" charset="-122"/>
                          <a:cs typeface="Calibri" pitchFamily="34" charset="-120"/>
                        </a:rPr>
                        <a:t>Token khi trả lời</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5B6B7A"/>
                          </a:solidFill>
                          <a:latin typeface="Calibri" pitchFamily="34" charset="0"/>
                          <a:ea typeface="Calibri" pitchFamily="34" charset="-122"/>
                          <a:cs typeface="Calibri" pitchFamily="34" charset="-120"/>
                        </a:rPr>
                        <a:t>chưa ghi</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B2B3A"/>
                          </a:solidFill>
                          <a:latin typeface="Calibri" pitchFamily="34" charset="0"/>
                          <a:ea typeface="Calibri" pitchFamily="34" charset="-122"/>
                          <a:cs typeface="Calibri" pitchFamily="34" charset="-120"/>
                        </a:rPr>
                        <a:t>12.036</a:t>
                      </a:r>
                      <a:endParaRPr lang="en-US" sz="12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
        <p:nvSpPr>
          <p:cNvPr id="6" name="Text 2"/>
          <p:cNvSpPr txBox="1"/>
          <p:nvPr/>
        </p:nvSpPr>
        <p:spPr>
          <a:xfrm>
            <a:off x="457200" y="3977640"/>
            <a:ext cx="8229600" cy="1005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B3A"/>
                </a:solidFill>
                <a:latin typeface="Calibri" pitchFamily="34" charset="0"/>
                <a:ea typeface="Calibri" pitchFamily="34" charset="-122"/>
                <a:cs typeface="Calibri" pitchFamily="34" charset="-120"/>
              </a:rPr>
              <a:t>Thời gian đo khi chạy song song khác nhau (LightMem 5–9 luồng, APEX-MEM 2–8 luồng) và bị hạn mức tài khoản làm chậm: chỉ để tham khảo, không dùng để nói hệ nào nhanh hơn.</a:t>
            </a:r>
            <a:endParaRPr lang="en-US" sz="1050" dirty="0"/>
          </a:p>
          <a:p>
            <a:pPr marL="342900" indent="-342900">
              <a:spcAft>
                <a:spcPts val="500"/>
              </a:spcAft>
              <a:buSzPct val="100000"/>
              <a:buChar char="•"/>
            </a:pPr>
            <a:r>
              <a:rPr lang="en-US" sz="1050" dirty="0">
                <a:solidFill>
                  <a:srgbClr val="1B2B3A"/>
                </a:solidFill>
                <a:latin typeface="Calibri" pitchFamily="34" charset="0"/>
                <a:ea typeface="Calibri" pitchFamily="34" charset="-122"/>
                <a:cs typeface="Calibri" pitchFamily="34" charset="-120"/>
              </a:rPr>
              <a:t>LightMem chưa có số token: script không ghi lại, và 9router chèn thêm khoảng 2.500 token vào mỗi lời gọi nên số đếm qua router bị phình.</a:t>
            </a:r>
            <a:endParaRPr lang="en-US" sz="1050" dirty="0"/>
          </a:p>
          <a:p>
            <a:pPr marL="342900" indent="-342900">
              <a:spcAft>
                <a:spcPts val="500"/>
              </a:spcAft>
              <a:buSzPct val="100000"/>
              <a:buChar char="•"/>
            </a:pPr>
            <a:r>
              <a:rPr lang="en-US" sz="1050" dirty="0">
                <a:solidFill>
                  <a:srgbClr val="1B2B3A"/>
                </a:solidFill>
                <a:latin typeface="Calibri" pitchFamily="34" charset="0"/>
                <a:ea typeface="Calibri" pitchFamily="34" charset="-122"/>
                <a:cs typeface="Calibri" pitchFamily="34" charset="-120"/>
              </a:rPr>
              <a:t>APEX-MEM phục vụ đúng model: 3.998 lời gọi luna và 150 lời gọi terra (chấm), không có model nào bị đổi lén.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dirty="0">
                <a:solidFill>
                  <a:srgbClr val="1F6F8B"/>
                </a:solidFill>
                <a:latin typeface="Calibri" pitchFamily="34" charset="0"/>
                <a:ea typeface="Calibri" pitchFamily="34" charset="-122"/>
                <a:cs typeface="Calibri" pitchFamily="34" charset="-120"/>
              </a:rPr>
              <a:t>SỰ CỐ KỸ THUẬT</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0243E"/>
                </a:solidFill>
                <a:latin typeface="Cambria" pitchFamily="34" charset="0"/>
                <a:ea typeface="Cambria" pitchFamily="34" charset="-122"/>
                <a:cs typeface="Cambria" pitchFamily="34" charset="-120"/>
              </a:rPr>
              <a:t>Sự cố gặp phải và cách xử lý</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286000"/>
                <a:gridCol w="3108960"/>
                <a:gridCol w="283464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Sự cố</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Nguyên nhân</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Cách xử lý</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r>
              <a:tr h="502920">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Script gốc không chạy</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Dùng f-string kiểu Python 3.12, môi trường là 3.11</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Viết script bọc ngoài, không sửa mã gốc</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02920">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Lỗi “meta tensor” khi chạy song song</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Nhiều luồng cùng nạp model, đụng nhau</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Khóa phần nạp model; mỗi luồng nạp một lần</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02920">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Cạn RAM (pagefile)</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Nạp lại model cho từng câu, không giải phóng kịp</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Cache model theo luồng, dọn bộ nhớ sau mỗi câu</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02920">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Windows chặn Python</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Smart App Control chặn file chưa ký</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Bật/tắt lại Smart App Control</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02920">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Hết hạn mức (429), rồi token bị thu hồi (401)</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Tài khoản gói free; chạy 8 luồng cạn nhanh, sau đó 2 token OAuth bị vô hiệu</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Giảm số luồng; đăng nhập lại từ đầu; chờ hạn mức mở lại</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r h="502920">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9router tắt giữa chừng</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Chưa xác định chắc; nghi máy ngủ hoặc tiến trình bị đóng</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indent="0" marL="0">
                        <a:buNone/>
                      </a:pPr>
                      <a:r>
                        <a:rPr lang="en-US" sz="1100" dirty="0">
                          <a:solidFill>
                            <a:srgbClr val="1B2B3A"/>
                          </a:solidFill>
                          <a:latin typeface="Calibri" pitchFamily="34" charset="0"/>
                          <a:ea typeface="Calibri" pitchFamily="34" charset="-122"/>
                          <a:cs typeface="Calibri" pitchFamily="34" charset="-120"/>
                        </a:rPr>
                        <a:t>Chạy 9router trong terminal riêng; chạy lại lệnh cũ để tiếp tục</a:t>
                      </a:r>
                      <a:endParaRPr lang="en-US" sz="1100" dirty="0">
                        <a:latin typeface="Calibri" charset="0"/>
                        <a:ea typeface="Calibri" charset="0"/>
                        <a:cs typeface="Calibri" charset="0"/>
                      </a:endParaRPr>
                    </a:p>
                  </a:txBody>
                  <a:tcPr marL="91440" marR="91440" marT="45720" marB="45720"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243E"/>
        </a:solidFill>
      </p:bgPr>
    </p:bg>
    <p:spTree>
      <p:nvGrpSpPr>
        <p:cNvPr id="1" name=""/>
        <p:cNvGrpSpPr/>
        <p:nvPr/>
      </p:nvGrpSpPr>
      <p:grpSpPr>
        <a:xfrm>
          <a:off x="0" y="0"/>
          <a:ext cx="0" cy="0"/>
          <a:chOff x="0" y="0"/>
          <a:chExt cx="0" cy="0"/>
        </a:xfrm>
      </p:grpSpPr>
      <p:sp>
        <p:nvSpPr>
          <p:cNvPr id="2" name="Text 0"/>
          <p:cNvSpPr txBox="1"/>
          <p:nvPr/>
        </p:nvSpPr>
        <p:spPr>
          <a:xfrm>
            <a:off x="640080" y="411480"/>
            <a:ext cx="78638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Chưa có bằng chứng APEX-MEM hơn LightMem</a:t>
            </a:r>
            <a:endParaRPr lang="en-US" sz="2800" dirty="0"/>
          </a:p>
        </p:txBody>
      </p:sp>
      <p:sp>
        <p:nvSpPr>
          <p:cNvPr id="3" name="Text 1"/>
          <p:cNvSpPr txBox="1"/>
          <p:nvPr/>
        </p:nvSpPr>
        <p:spPr>
          <a:xfrm>
            <a:off x="640080" y="1097280"/>
            <a:ext cx="7863840" cy="320040"/>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Đã chạy đủ 150 câu dev</a:t>
            </a:r>
            <a:endParaRPr lang="en-US" sz="1400" dirty="0"/>
          </a:p>
        </p:txBody>
      </p:sp>
      <p:sp>
        <p:nvSpPr>
          <p:cNvPr id="4" name="Text 2"/>
          <p:cNvSpPr txBox="1"/>
          <p:nvPr/>
        </p:nvSpPr>
        <p:spPr>
          <a:xfrm>
            <a:off x="640080" y="1572768"/>
            <a:ext cx="3931920" cy="22402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6EEF7"/>
                </a:solidFill>
                <a:latin typeface="Calibri" pitchFamily="34" charset="0"/>
                <a:ea typeface="Calibri" pitchFamily="34" charset="-122"/>
                <a:cs typeface="Calibri" pitchFamily="34" charset="-120"/>
              </a:rPr>
              <a:t>Cả hai hệ chạy đủ 150 câu dev, cùng model trả lời, cùng model chấm, cùng prompt chấm.</a:t>
            </a:r>
            <a:endParaRPr lang="en-US" sz="1200" dirty="0"/>
          </a:p>
          <a:p>
            <a:pPr marL="342900" indent="-342900">
              <a:spcAft>
                <a:spcPts val="800"/>
              </a:spcAft>
              <a:buSzPct val="100000"/>
              <a:buChar char="•"/>
            </a:pPr>
            <a:r>
              <a:rPr lang="en-US" sz="1200" dirty="0">
                <a:solidFill>
                  <a:srgbClr val="E6EEF7"/>
                </a:solidFill>
                <a:latin typeface="Calibri" pitchFamily="34" charset="0"/>
                <a:ea typeface="Calibri" pitchFamily="34" charset="-122"/>
                <a:cs typeface="Calibri" pitchFamily="34" charset="-120"/>
              </a:rPr>
              <a:t>APEX-MEM 84,7%, LightMem 81,3%; McNemar p = 0,50, chưa khác biệt.</a:t>
            </a:r>
            <a:endParaRPr lang="en-US" sz="1200" dirty="0"/>
          </a:p>
          <a:p>
            <a:pPr marL="342900" indent="-342900">
              <a:spcAft>
                <a:spcPts val="800"/>
              </a:spcAft>
              <a:buSzPct val="100000"/>
              <a:buChar char="•"/>
            </a:pPr>
            <a:r>
              <a:rPr lang="en-US" sz="1200" dirty="0">
                <a:solidFill>
                  <a:srgbClr val="E6EEF7"/>
                </a:solidFill>
                <a:latin typeface="Calibri" pitchFamily="34" charset="0"/>
                <a:ea typeface="Calibri" pitchFamily="34" charset="-122"/>
                <a:cs typeface="Calibri" pitchFamily="34" charset="-120"/>
              </a:rPr>
              <a:t>Chênh lệch nằm ở loại lượt trợ lý (+7); năm loại còn lại LightMem hơn nhẹ.</a:t>
            </a:r>
            <a:endParaRPr lang="en-US" sz="1200" dirty="0"/>
          </a:p>
          <a:p>
            <a:pPr marL="342900" indent="-342900">
              <a:spcAft>
                <a:spcPts val="800"/>
              </a:spcAft>
              <a:buSzPct val="100000"/>
              <a:buChar char="•"/>
            </a:pPr>
            <a:r>
              <a:rPr lang="en-US" sz="1200" dirty="0">
                <a:solidFill>
                  <a:srgbClr val="E6EEF7"/>
                </a:solidFill>
                <a:latin typeface="Calibri" pitchFamily="34" charset="0"/>
                <a:ea typeface="Calibri" pitchFamily="34" charset="-122"/>
                <a:cs typeface="Calibri" pitchFamily="34" charset="-120"/>
              </a:rPr>
              <a:t>Nguyên nhân nghi là cấu hình: LightMem chỉ lưu lượt người dùng, APEX-MEM lưu cả hai.</a:t>
            </a:r>
            <a:endParaRPr lang="en-US" sz="1200" dirty="0"/>
          </a:p>
          <a:p>
            <a:pPr marL="342900" indent="-342900">
              <a:spcAft>
                <a:spcPts val="800"/>
              </a:spcAft>
              <a:buSzPct val="100000"/>
              <a:buChar char="•"/>
            </a:pPr>
            <a:r>
              <a:rPr lang="en-US" sz="1200" dirty="0">
                <a:solidFill>
                  <a:srgbClr val="E6EEF7"/>
                </a:solidFill>
                <a:latin typeface="Calibri" pitchFamily="34" charset="0"/>
                <a:ea typeface="Calibri" pitchFamily="34" charset="-122"/>
                <a:cs typeface="Calibri" pitchFamily="34" charset="-120"/>
              </a:rPr>
              <a:t>Cả hai hệ truy xuất gần như không sai; lỗi nằm ở trích xuất và suy luận.</a:t>
            </a:r>
            <a:endParaRPr lang="en-US" sz="1200" dirty="0"/>
          </a:p>
        </p:txBody>
      </p:sp>
      <p:sp>
        <p:nvSpPr>
          <p:cNvPr id="5" name="Text 3"/>
          <p:cNvSpPr txBox="1"/>
          <p:nvPr/>
        </p:nvSpPr>
        <p:spPr>
          <a:xfrm>
            <a:off x="4846320" y="1600200"/>
            <a:ext cx="3657600" cy="320040"/>
          </a:xfrm>
          <a:prstGeom prst="rect">
            <a:avLst/>
          </a:prstGeom>
          <a:noFill/>
          <a:ln/>
        </p:spPr>
        <p:txBody>
          <a:bodyPr wrap="square" lIns="0" tIns="0" rIns="0" bIns="0" rtlCol="0" anchor="ctr"/>
          <a:lstStyle/>
          <a:p>
            <a:pPr indent="0" marL="0">
              <a:buNone/>
            </a:pPr>
            <a:r>
              <a:rPr lang="en-US" sz="1600" b="1" dirty="0">
                <a:solidFill>
                  <a:srgbClr val="F2A541"/>
                </a:solidFill>
                <a:latin typeface="Cambria" pitchFamily="34" charset="0"/>
                <a:ea typeface="Cambria" pitchFamily="34" charset="-122"/>
                <a:cs typeface="Cambria" pitchFamily="34" charset="-120"/>
              </a:rPr>
              <a:t>Bước tiếp</a:t>
            </a:r>
            <a:endParaRPr lang="en-US" sz="1600" dirty="0"/>
          </a:p>
        </p:txBody>
      </p:sp>
      <p:sp>
        <p:nvSpPr>
          <p:cNvPr id="6" name="Text 4"/>
          <p:cNvSpPr txBox="1"/>
          <p:nvPr/>
        </p:nvSpPr>
        <p:spPr>
          <a:xfrm>
            <a:off x="4846320" y="1938528"/>
            <a:ext cx="3657600" cy="1874520"/>
          </a:xfrm>
          <a:prstGeom prst="rect">
            <a:avLst/>
          </a:prstGeom>
          <a:noFill/>
          <a:ln/>
        </p:spPr>
        <p:txBody>
          <a:bodyPr wrap="square" lIns="0" tIns="0" rIns="0" bIns="0" rtlCol="0" anchor="t"/>
          <a:lstStyle/>
          <a:p>
            <a:pPr indent="0" marL="0">
              <a:spcAft>
                <a:spcPts val="800"/>
              </a:spcAft>
              <a:buNone/>
            </a:pPr>
            <a:r>
              <a:rPr lang="en-US" sz="1150" dirty="0">
                <a:solidFill>
                  <a:srgbClr val="E6EEF7"/>
                </a:solidFill>
                <a:latin typeface="Calibri" pitchFamily="34" charset="0"/>
                <a:ea typeface="Calibri" pitchFamily="34" charset="-122"/>
                <a:cs typeface="Calibri" pitchFamily="34" charset="-120"/>
              </a:rPr>
              <a:t>1.  Chạy lại LightMem loại lượt trợ lý (17 câu) với messages_use = user_assistant để so công bằng.</a:t>
            </a:r>
            <a:endParaRPr lang="en-US" sz="1150" dirty="0"/>
          </a:p>
          <a:p>
            <a:pPr indent="0" marL="0">
              <a:spcAft>
                <a:spcPts val="800"/>
              </a:spcAft>
              <a:buNone/>
            </a:pPr>
            <a:r>
              <a:rPr lang="en-US" sz="1150" dirty="0">
                <a:solidFill>
                  <a:srgbClr val="E6EEF7"/>
                </a:solidFill>
                <a:latin typeface="Calibri" pitchFamily="34" charset="0"/>
                <a:ea typeface="Calibri" pitchFamily="34" charset="-122"/>
                <a:cs typeface="Calibri" pitchFamily="34" charset="-120"/>
              </a:rPr>
              <a:t>2.  Chấm 3 lần lấy trung bình cho cả hai hệ, đúng kế hoạch đánh giá.</a:t>
            </a:r>
            <a:endParaRPr lang="en-US" sz="1150" dirty="0"/>
          </a:p>
          <a:p>
            <a:pPr indent="0" marL="0">
              <a:spcAft>
                <a:spcPts val="800"/>
              </a:spcAft>
              <a:buNone/>
            </a:pPr>
            <a:r>
              <a:rPr lang="en-US" sz="1150" dirty="0">
                <a:solidFill>
                  <a:srgbClr val="E6EEF7"/>
                </a:solidFill>
                <a:latin typeface="Calibri" pitchFamily="34" charset="0"/>
                <a:ea typeface="Calibri" pitchFamily="34" charset="-122"/>
                <a:cs typeface="Calibri" pitchFamily="34" charset="-120"/>
              </a:rPr>
              <a:t>3.  Soi 35 câu hai hệ trả lời khác nhau để biết mỗi hệ mạnh ở đâu.</a:t>
            </a:r>
            <a:endParaRPr lang="en-US" sz="1150" dirty="0"/>
          </a:p>
          <a:p>
            <a:pPr indent="0" marL="0">
              <a:spcAft>
                <a:spcPts val="800"/>
              </a:spcAft>
              <a:buNone/>
            </a:pPr>
            <a:r>
              <a:rPr lang="en-US" sz="1150" dirty="0">
                <a:solidFill>
                  <a:srgbClr val="E6EEF7"/>
                </a:solidFill>
                <a:latin typeface="Calibri" pitchFamily="34" charset="0"/>
                <a:ea typeface="Calibri" pitchFamily="34" charset="-122"/>
                <a:cs typeface="Calibri" pitchFamily="34" charset="-120"/>
              </a:rPr>
              <a:t>4.  Chốt với anh: chạy cả 350 câu test hay một mẫu con có phân tầng, vì hạn mức tài khoản.</a:t>
            </a:r>
            <a:endParaRPr lang="en-US" sz="1150" dirty="0"/>
          </a:p>
        </p:txBody>
      </p:sp>
      <p:sp>
        <p:nvSpPr>
          <p:cNvPr id="7" name="Shape 5"/>
          <p:cNvSpPr/>
          <p:nvPr/>
        </p:nvSpPr>
        <p:spPr>
          <a:xfrm>
            <a:off x="640080" y="3886200"/>
            <a:ext cx="3657600" cy="777240"/>
          </a:xfrm>
          <a:prstGeom prst="rect">
            <a:avLst/>
          </a:prstGeom>
          <a:solidFill>
            <a:srgbClr val="1B3457"/>
          </a:solidFill>
          <a:ln w="9525">
            <a:solidFill>
              <a:srgbClr val="2C4A73"/>
            </a:solidFill>
            <a:prstDash val="solid"/>
          </a:ln>
        </p:spPr>
      </p:sp>
      <p:sp>
        <p:nvSpPr>
          <p:cNvPr id="8" name="Text 6"/>
          <p:cNvSpPr txBox="1"/>
          <p:nvPr/>
        </p:nvSpPr>
        <p:spPr>
          <a:xfrm>
            <a:off x="777240" y="3977640"/>
            <a:ext cx="2011680" cy="594360"/>
          </a:xfrm>
          <a:prstGeom prst="rect">
            <a:avLst/>
          </a:prstGeom>
          <a:noFill/>
          <a:ln/>
        </p:spPr>
        <p:txBody>
          <a:bodyPr wrap="square" lIns="0" tIns="0" rIns="0" bIns="0" rtlCol="0" anchor="ctr"/>
          <a:lstStyle/>
          <a:p>
            <a:pPr indent="0" marL="0">
              <a:buNone/>
            </a:pPr>
            <a:r>
              <a:rPr lang="en-US" sz="2100" b="1" dirty="0">
                <a:solidFill>
                  <a:srgbClr val="F2A541"/>
                </a:solidFill>
                <a:latin typeface="Cambria" pitchFamily="34" charset="0"/>
                <a:ea typeface="Cambria" pitchFamily="34" charset="-122"/>
                <a:cs typeface="Cambria" pitchFamily="34" charset="-120"/>
              </a:rPr>
              <a:t>84,7% · 81,3%</a:t>
            </a:r>
            <a:endParaRPr lang="en-US" sz="2100" dirty="0"/>
          </a:p>
        </p:txBody>
      </p:sp>
      <p:sp>
        <p:nvSpPr>
          <p:cNvPr id="9" name="Text 7"/>
          <p:cNvSpPr txBox="1"/>
          <p:nvPr/>
        </p:nvSpPr>
        <p:spPr>
          <a:xfrm>
            <a:off x="2834640" y="3977640"/>
            <a:ext cx="1371600" cy="594360"/>
          </a:xfrm>
          <a:prstGeom prst="rect">
            <a:avLst/>
          </a:prstGeom>
          <a:noFill/>
          <a:ln/>
        </p:spPr>
        <p:txBody>
          <a:bodyPr wrap="square" lIns="0" tIns="0" rIns="0" bIns="0" rtlCol="0" anchor="ctr"/>
          <a:lstStyle/>
          <a:p>
            <a:pPr indent="0" marL="0">
              <a:buNone/>
            </a:pPr>
            <a:r>
              <a:rPr lang="en-US" sz="1150" dirty="0">
                <a:solidFill>
                  <a:srgbClr val="B9C9DD"/>
                </a:solidFill>
                <a:latin typeface="Calibri" pitchFamily="34" charset="0"/>
                <a:ea typeface="Calibri" pitchFamily="34" charset="-122"/>
                <a:cs typeface="Calibri" pitchFamily="34" charset="-120"/>
              </a:rPr>
              <a:t>APEX-MEM · LightMem, gộp chung</a:t>
            </a:r>
            <a:endParaRPr lang="en-US" sz="1150" dirty="0"/>
          </a:p>
        </p:txBody>
      </p:sp>
      <p:sp>
        <p:nvSpPr>
          <p:cNvPr id="10" name="Shape 8"/>
          <p:cNvSpPr/>
          <p:nvPr/>
        </p:nvSpPr>
        <p:spPr>
          <a:xfrm>
            <a:off x="4846320" y="3886200"/>
            <a:ext cx="3657600" cy="777240"/>
          </a:xfrm>
          <a:prstGeom prst="rect">
            <a:avLst/>
          </a:prstGeom>
          <a:solidFill>
            <a:srgbClr val="1B3457"/>
          </a:solidFill>
          <a:ln w="9525">
            <a:solidFill>
              <a:srgbClr val="2C4A73"/>
            </a:solidFill>
            <a:prstDash val="solid"/>
          </a:ln>
        </p:spPr>
      </p:sp>
      <p:sp>
        <p:nvSpPr>
          <p:cNvPr id="11" name="Text 9"/>
          <p:cNvSpPr txBox="1"/>
          <p:nvPr/>
        </p:nvSpPr>
        <p:spPr>
          <a:xfrm>
            <a:off x="4983480" y="3977640"/>
            <a:ext cx="2011680" cy="594360"/>
          </a:xfrm>
          <a:prstGeom prst="rect">
            <a:avLst/>
          </a:prstGeom>
          <a:noFill/>
          <a:ln/>
        </p:spPr>
        <p:txBody>
          <a:bodyPr wrap="square" lIns="0" tIns="0" rIns="0" bIns="0" rtlCol="0" anchor="ctr"/>
          <a:lstStyle/>
          <a:p>
            <a:pPr indent="0" marL="0">
              <a:buNone/>
            </a:pPr>
            <a:r>
              <a:rPr lang="en-US" sz="2100" b="1" dirty="0">
                <a:solidFill>
                  <a:srgbClr val="F2A541"/>
                </a:solidFill>
                <a:latin typeface="Cambria" pitchFamily="34" charset="0"/>
                <a:ea typeface="Cambria" pitchFamily="34" charset="-122"/>
                <a:cs typeface="Cambria" pitchFamily="34" charset="-120"/>
              </a:rPr>
              <a:t>p = 0,50</a:t>
            </a:r>
            <a:endParaRPr lang="en-US" sz="2100" dirty="0"/>
          </a:p>
        </p:txBody>
      </p:sp>
      <p:sp>
        <p:nvSpPr>
          <p:cNvPr id="12" name="Text 10"/>
          <p:cNvSpPr txBox="1"/>
          <p:nvPr/>
        </p:nvSpPr>
        <p:spPr>
          <a:xfrm>
            <a:off x="7040880" y="3977640"/>
            <a:ext cx="1371600" cy="594360"/>
          </a:xfrm>
          <a:prstGeom prst="rect">
            <a:avLst/>
          </a:prstGeom>
          <a:noFill/>
          <a:ln/>
        </p:spPr>
        <p:txBody>
          <a:bodyPr wrap="square" lIns="0" tIns="0" rIns="0" bIns="0" rtlCol="0" anchor="ctr"/>
          <a:lstStyle/>
          <a:p>
            <a:pPr indent="0" marL="0">
              <a:buNone/>
            </a:pPr>
            <a:r>
              <a:rPr lang="en-US" sz="1150" dirty="0">
                <a:solidFill>
                  <a:srgbClr val="B9C9DD"/>
                </a:solidFill>
                <a:latin typeface="Calibri" pitchFamily="34" charset="0"/>
                <a:ea typeface="Calibri" pitchFamily="34" charset="-122"/>
                <a:cs typeface="Calibri" pitchFamily="34" charset="-120"/>
              </a:rPr>
              <a:t>McNemar, chưa khác biệt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LightMem và APEX-MEM trên LongMemEval-S</dc:title>
  <dc:subject>PptxGenJS Presentation</dc:subject>
  <dc:creator>PptxGenJS</dc:creator>
  <cp:lastModifiedBy>PptxGenJS</cp:lastModifiedBy>
  <cp:revision>1</cp:revision>
  <dcterms:created xsi:type="dcterms:W3CDTF">2026-10-02T03:57:20Z</dcterms:created>
  <dcterms:modified xsi:type="dcterms:W3CDTF">2026-10-02T03:57:20Z</dcterms:modified>
</cp:coreProperties>
</file>